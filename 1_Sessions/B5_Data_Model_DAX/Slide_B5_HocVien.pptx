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8" r:id="rId1"/>
  </p:sldMasterIdLst>
  <p:notesMasterIdLst>
    <p:notesMasterId r:id="rId41"/>
  </p:notesMasterIdLst>
  <p:sldIdLst>
    <p:sldId id="302" r:id="rId2"/>
    <p:sldId id="303" r:id="rId3"/>
    <p:sldId id="304" r:id="rId4"/>
    <p:sldId id="305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25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337" r:id="rId37"/>
    <p:sldId id="338" r:id="rId38"/>
    <p:sldId id="339" r:id="rId39"/>
    <p:sldId id="34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711" autoAdjust="0"/>
  </p:normalViewPr>
  <p:slideViewPr>
    <p:cSldViewPr snapToGrid="0">
      <p:cViewPr varScale="1">
        <p:scale>
          <a:sx n="118" d="100"/>
          <a:sy n="118" d="100"/>
        </p:scale>
        <p:origin x="192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han Pham Le" userId="6366da15f1f739f9" providerId="LiveId" clId="{B7E72FC1-F79A-4602-B51C-6ED1DC3BF548}"/>
    <pc:docChg chg="undo custSel modSld">
      <pc:chgData name="Nhan Pham Le" userId="6366da15f1f739f9" providerId="LiveId" clId="{B7E72FC1-F79A-4602-B51C-6ED1DC3BF548}" dt="2026-10-14T14:22:14.244" v="180" actId="113"/>
      <pc:docMkLst>
        <pc:docMk/>
      </pc:docMkLst>
      <pc:sldChg chg="modSp mod">
        <pc:chgData name="Nhan Pham Le" userId="6366da15f1f739f9" providerId="LiveId" clId="{B7E72FC1-F79A-4602-B51C-6ED1DC3BF548}" dt="2026-09-27T06:10:51.550" v="155" actId="20577"/>
        <pc:sldMkLst>
          <pc:docMk/>
          <pc:sldMk cId="2243051540" sldId="302"/>
        </pc:sldMkLst>
        <pc:spChg chg="mod">
          <ac:chgData name="Nhan Pham Le" userId="6366da15f1f739f9" providerId="LiveId" clId="{B7E72FC1-F79A-4602-B51C-6ED1DC3BF548}" dt="2026-09-27T06:10:51.550" v="155" actId="20577"/>
          <ac:spMkLst>
            <pc:docMk/>
            <pc:sldMk cId="2243051540" sldId="302"/>
            <ac:spMk id="15" creationId="{00000000-0000-0000-0000-000000000000}"/>
          </ac:spMkLst>
        </pc:spChg>
      </pc:sldChg>
      <pc:sldChg chg="modSp mod">
        <pc:chgData name="Nhan Pham Le" userId="6366da15f1f739f9" providerId="LiveId" clId="{B7E72FC1-F79A-4602-B51C-6ED1DC3BF548}" dt="2026-10-14T13:18:22.114" v="174" actId="14734"/>
        <pc:sldMkLst>
          <pc:docMk/>
          <pc:sldMk cId="0" sldId="308"/>
        </pc:sldMkLst>
        <pc:graphicFrameChg chg="modGraphic">
          <ac:chgData name="Nhan Pham Le" userId="6366da15f1f739f9" providerId="LiveId" clId="{B7E72FC1-F79A-4602-B51C-6ED1DC3BF548}" dt="2026-10-14T13:18:22.114" v="174" actId="14734"/>
          <ac:graphicFrameMkLst>
            <pc:docMk/>
            <pc:sldMk cId="0" sldId="308"/>
            <ac:graphicFrameMk id="4" creationId="{00000000-0000-0000-0000-000000000000}"/>
          </ac:graphicFrameMkLst>
        </pc:graphicFrameChg>
      </pc:sldChg>
      <pc:sldChg chg="modSp mod">
        <pc:chgData name="Nhan Pham Le" userId="6366da15f1f739f9" providerId="LiveId" clId="{B7E72FC1-F79A-4602-B51C-6ED1DC3BF548}" dt="2026-10-14T13:43:31.640" v="175" actId="113"/>
        <pc:sldMkLst>
          <pc:docMk/>
          <pc:sldMk cId="0" sldId="316"/>
        </pc:sldMkLst>
        <pc:graphicFrameChg chg="modGraphic">
          <ac:chgData name="Nhan Pham Le" userId="6366da15f1f739f9" providerId="LiveId" clId="{B7E72FC1-F79A-4602-B51C-6ED1DC3BF548}" dt="2026-10-14T13:43:31.640" v="175" actId="113"/>
          <ac:graphicFrameMkLst>
            <pc:docMk/>
            <pc:sldMk cId="0" sldId="316"/>
            <ac:graphicFrameMk id="4" creationId="{00000000-0000-0000-0000-000000000000}"/>
          </ac:graphicFrameMkLst>
        </pc:graphicFrameChg>
      </pc:sldChg>
      <pc:sldChg chg="modSp mod">
        <pc:chgData name="Nhan Pham Le" userId="6366da15f1f739f9" providerId="LiveId" clId="{B7E72FC1-F79A-4602-B51C-6ED1DC3BF548}" dt="2026-10-14T13:59:30.745" v="179" actId="20577"/>
        <pc:sldMkLst>
          <pc:docMk/>
          <pc:sldMk cId="0" sldId="318"/>
        </pc:sldMkLst>
        <pc:spChg chg="mod">
          <ac:chgData name="Nhan Pham Le" userId="6366da15f1f739f9" providerId="LiveId" clId="{B7E72FC1-F79A-4602-B51C-6ED1DC3BF548}" dt="2026-10-14T13:56:52.330" v="177" actId="1076"/>
          <ac:spMkLst>
            <pc:docMk/>
            <pc:sldMk cId="0" sldId="318"/>
            <ac:spMk id="7" creationId="{00000000-0000-0000-0000-000000000000}"/>
          </ac:spMkLst>
        </pc:spChg>
        <pc:graphicFrameChg chg="modGraphic">
          <ac:chgData name="Nhan Pham Le" userId="6366da15f1f739f9" providerId="LiveId" clId="{B7E72FC1-F79A-4602-B51C-6ED1DC3BF548}" dt="2026-10-14T13:59:30.745" v="179" actId="20577"/>
          <ac:graphicFrameMkLst>
            <pc:docMk/>
            <pc:sldMk cId="0" sldId="318"/>
            <ac:graphicFrameMk id="5" creationId="{00000000-0000-0000-0000-000000000000}"/>
          </ac:graphicFrameMkLst>
        </pc:graphicFrameChg>
      </pc:sldChg>
      <pc:sldChg chg="modSp mod">
        <pc:chgData name="Nhan Pham Le" userId="6366da15f1f739f9" providerId="LiveId" clId="{B7E72FC1-F79A-4602-B51C-6ED1DC3BF548}" dt="2026-10-14T14:22:14.244" v="180" actId="113"/>
        <pc:sldMkLst>
          <pc:docMk/>
          <pc:sldMk cId="0" sldId="326"/>
        </pc:sldMkLst>
        <pc:spChg chg="mod">
          <ac:chgData name="Nhan Pham Le" userId="6366da15f1f739f9" providerId="LiveId" clId="{B7E72FC1-F79A-4602-B51C-6ED1DC3BF548}" dt="2026-10-14T14:22:14.244" v="180" actId="113"/>
          <ac:spMkLst>
            <pc:docMk/>
            <pc:sldMk cId="0" sldId="326"/>
            <ac:spMk id="13" creationId="{00000000-0000-0000-0000-000000000000}"/>
          </ac:spMkLst>
        </pc:spChg>
      </pc:sldChg>
      <pc:sldChg chg="modNotesTx">
        <pc:chgData name="Nhan Pham Le" userId="6366da15f1f739f9" providerId="LiveId" clId="{B7E72FC1-F79A-4602-B51C-6ED1DC3BF548}" dt="2026-10-14T06:07:30.444" v="172" actId="20577"/>
        <pc:sldMkLst>
          <pc:docMk/>
          <pc:sldMk cId="0" sldId="32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E4C46-C12C-FA42-B2D3-1CBB24092E48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47CC85-BE76-EA4B-8DBD-E5CC9E8FE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028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F2664-F3C6-6151-5EEA-86A461E82C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2560" y="2011680"/>
            <a:ext cx="10302240" cy="1737360"/>
          </a:xfrm>
        </p:spPr>
        <p:txBody>
          <a:bodyPr anchor="b"/>
          <a:lstStyle>
            <a:lvl1pPr algn="l">
              <a:defRPr sz="48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5D9FC-D4AA-338A-F692-F1B120AC9F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32560" y="3931920"/>
            <a:ext cx="10302240" cy="1097280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585858"/>
                </a:solidFill>
              </a:defRPr>
            </a:lvl1pPr>
            <a:lvl2pPr marL="457200" indent="0" algn="ctr">
              <a:buNone/>
              <a:defRPr sz="2000">
                <a:solidFill>
                  <a:srgbClr val="585858"/>
                </a:solidFill>
              </a:defRPr>
            </a:lvl2pPr>
            <a:lvl3pPr marL="914400" indent="0" algn="ctr">
              <a:buNone/>
              <a:defRPr sz="1800">
                <a:solidFill>
                  <a:srgbClr val="585858"/>
                </a:solidFill>
              </a:defRPr>
            </a:lvl3pPr>
            <a:lvl4pPr marL="1371600" indent="0" algn="ctr">
              <a:buNone/>
              <a:defRPr sz="1600">
                <a:solidFill>
                  <a:srgbClr val="585858"/>
                </a:solidFill>
              </a:defRPr>
            </a:lvl4pPr>
            <a:lvl5pPr marL="1828800" indent="0" algn="ctr">
              <a:buNone/>
              <a:defRPr sz="1600">
                <a:solidFill>
                  <a:srgbClr val="585858"/>
                </a:solidFill>
              </a:defRPr>
            </a:lvl5pPr>
            <a:lvl6pPr marL="2286000" indent="0" algn="ctr">
              <a:buNone/>
              <a:defRPr sz="1600">
                <a:solidFill>
                  <a:srgbClr val="585858"/>
                </a:solidFill>
              </a:defRPr>
            </a:lvl6pPr>
            <a:lvl7pPr marL="2743200" indent="0" algn="ctr">
              <a:buNone/>
              <a:defRPr sz="1600">
                <a:solidFill>
                  <a:srgbClr val="585858"/>
                </a:solidFill>
              </a:defRPr>
            </a:lvl7pPr>
            <a:lvl8pPr marL="3200400" indent="0" algn="ctr">
              <a:buNone/>
              <a:defRPr sz="1600">
                <a:solidFill>
                  <a:srgbClr val="585858"/>
                </a:solidFill>
              </a:defRPr>
            </a:lvl8pPr>
            <a:lvl9pPr marL="3657600" indent="0" algn="ctr">
              <a:buNone/>
              <a:defRPr sz="1600">
                <a:solidFill>
                  <a:srgbClr val="585858"/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E1E18-61FE-3D83-17A2-F3939106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0BF97-2C91-ED2E-CD8F-3CAC10D59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FBB26-71FB-8170-009A-EF8735C76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  <p:sp>
        <p:nvSpPr>
          <p:cNvPr id="30" name="MCI Wordmark"/>
          <p:cNvSpPr txBox="1"/>
          <p:nvPr userDrawn="1"/>
        </p:nvSpPr>
        <p:spPr>
          <a:xfrm>
            <a:off x="1432560" y="548640"/>
            <a:ext cx="2743200" cy="548640"/>
          </a:xfrm>
          <a:prstGeom prst="rect">
            <a:avLst/>
          </a:prstGeom>
          <a:noFill/>
        </p:spPr>
        <p:txBody>
          <a:bodyPr wrap="none" lIns="91440" anchor="t"/>
          <a:lstStyle/>
          <a:p>
            <a:r>
              <a:rPr lang="en-US" sz="2800" b="1">
                <a:solidFill>
                  <a:srgbClr val="203864"/>
                </a:solidFill>
                <a:latin typeface="Arial"/>
              </a:rPr>
              <a:t>MCI</a:t>
            </a:r>
          </a:p>
        </p:txBody>
      </p:sp>
    </p:spTree>
    <p:extLst>
      <p:ext uri="{BB962C8B-B14F-4D97-AF65-F5344CB8AC3E}">
        <p14:creationId xmlns:p14="http://schemas.microsoft.com/office/powerpoint/2010/main" val="2868496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17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99C69-77BA-2FF0-04BC-65E5F21C4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47FBA-36F6-5941-AE5A-3C28ABD979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32560" y="1825625"/>
            <a:ext cx="507646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C48E-6F94-484B-3886-58203F542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58334" y="1825625"/>
            <a:ext cx="507646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01DA5-559C-410C-9CC7-09338379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F1E9D-60B2-BB85-7303-C28EBFC26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712A5-3FB3-1E06-8027-6B8BD1AA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>
  <p:cSld name="Section Header">
    <p:bg>
      <p:bgPr>
        <a:solidFill>
          <a:srgbClr val="20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CI wordmark"/>
          <p:cNvSpPr txBox="1"/>
          <p:nvPr userDrawn="1"/>
        </p:nvSpPr>
        <p:spPr>
          <a:xfrm>
            <a:off x="914400" y="640080"/>
            <a:ext cx="6400800" cy="457200"/>
          </a:xfrm>
          <a:prstGeom prst="rect">
            <a:avLst/>
          </a:prstGeom>
          <a:noFill/>
        </p:spPr>
        <p:txBody>
          <a:bodyPr wrap="none" lIns="0" rIns="0" anchor="ctr"/>
          <a:lstStyle/>
          <a:p>
            <a:r>
              <a:rPr lang="en-US" sz="2400" b="1">
                <a:solidFill>
                  <a:srgbClr val="FFFFFF"/>
                </a:solidFill>
              </a:rPr>
              <a:t>MCI</a:t>
            </a:r>
            <a:r>
              <a:rPr lang="en-US" sz="1200" spc="200">
                <a:solidFill>
                  <a:srgbClr val="FFFFFF"/>
                </a:solidFill>
              </a:rPr>
              <a:t>   MAGIC CODE INSTITUTE</a:t>
            </a:r>
          </a:p>
        </p:txBody>
      </p:sp>
      <p:sp>
        <p:nvSpPr>
          <p:cNvPr id="8" name="Gold rule"/>
          <p:cNvSpPr/>
          <p:nvPr userDrawn="1"/>
        </p:nvSpPr>
        <p:spPr>
          <a:xfrm>
            <a:off x="914400" y="4480560"/>
            <a:ext cx="109728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286000"/>
            <a:ext cx="10363200" cy="2011680"/>
          </a:xfrm>
        </p:spPr>
        <p:txBody>
          <a:bodyPr lIns="0" anchor="b">
            <a:normAutofit/>
          </a:bodyPr>
          <a:lstStyle>
            <a:lvl1pPr algn="l"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4709160"/>
            <a:ext cx="10363200" cy="914400"/>
          </a:xfrm>
        </p:spPr>
        <p:txBody>
          <a:bodyPr lIns="0">
            <a:normAutofit/>
          </a:bodyPr>
          <a:lstStyle>
            <a:lvl1pPr marL="0" indent="0">
              <a:buNone/>
              <a:defRPr sz="2000">
                <a:solidFill>
                  <a:srgbClr val="D9DEE8"/>
                </a:solidFill>
              </a:defRPr>
            </a:lvl1pPr>
          </a:lstStyle>
          <a:p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384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EF857-DF32-3922-EA31-5B12F1BF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679F92-7EED-D73E-34B9-2B5BEA02D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4116" y="1681163"/>
            <a:ext cx="505313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62207B-D76F-1445-6E60-70B87DB80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34116" y="2505075"/>
            <a:ext cx="5053136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A2C473-0CB1-0F03-79FD-FCFC188E51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8334" y="1681163"/>
            <a:ext cx="507802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AADC17-123C-1B98-9C55-4D7D49845E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58334" y="2505075"/>
            <a:ext cx="507802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65B6DB-77BD-9C6E-5E6D-A7BE7833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E678BE-8847-6D2F-3F45-91CA985AB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D1A3EE-6065-DD56-6A88-F914D5B4C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45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3570-678E-8041-1DC8-86B01C4F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9A16AD-B058-70BE-DBC1-78AA99184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D8CAC-8260-A67D-8732-DD7230794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877EE-C1CB-3D64-07B4-8AA21534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5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BE4EAE-A436-DD75-26A9-7E4EF0EA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4AE991-C68F-060D-534A-2D1CFE379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77B5-CCC9-8A85-1F45-60EE63654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55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3B96-0970-502F-414D-7E067632F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116" y="457200"/>
            <a:ext cx="385245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5074C-7090-612E-5DF9-E393D6B4F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389" y="987425"/>
            <a:ext cx="6046967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13B6C-C8CA-B03D-EAFC-66D24F36F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4116" y="2057400"/>
            <a:ext cx="385245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0F8C85-7E3A-1BF3-57B7-67DC5129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59792-564A-D064-DC38-377FE5F36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02A526-D348-A6A7-D6D8-765874AB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445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2A28-28CD-FDCB-9BDE-BBD7761D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116" y="457200"/>
            <a:ext cx="385245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202B5F-EA9B-1AF8-17E8-85154BC8C38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689389" y="987425"/>
            <a:ext cx="6046967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D4558-CC71-6A22-1E4F-81F961813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4116" y="2057400"/>
            <a:ext cx="385245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5ABD8-1DA1-C358-4422-ED8A78AC2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6271F-39F3-E81F-443B-21DC458C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728C95-36D3-1FDC-12F9-75C4D3BE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57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C102-A4A5-EF09-43CF-6253ED77A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E998EF-69FA-C77A-8A76-22992DE77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466E2-7B90-931F-632B-D59F99017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200D8-8910-5148-4843-3D52384BF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2BED4-5DB4-45F1-5ACC-643FFD82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418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FF3541-96FF-94D7-F45B-F634CD3B44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59240" y="365125"/>
            <a:ext cx="257556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2BC46-4E1A-B46B-F1C8-4E24A201B3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432560" y="365125"/>
            <a:ext cx="7577372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3504C-0F86-E102-3E0C-290A4BB0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90F48-5867-0DF6-F507-5379E890B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3CD6-4795-CA01-149F-B154B451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4304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MCI Rail"/>
          <p:cNvSpPr/>
          <p:nvPr userDrawn="1"/>
        </p:nvSpPr>
        <p:spPr>
          <a:xfrm>
            <a:off x="0" y="0"/>
            <a:ext cx="975360" cy="6858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73FA29-7399-D724-95CF-8F2F56D52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2560" y="365760"/>
            <a:ext cx="10302240" cy="1005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F95C9-A218-9682-28A0-7A7C95276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2560" y="1554480"/>
            <a:ext cx="1030224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F865D-4C91-A852-2C9F-A2DE3730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2560" y="6309360"/>
            <a:ext cx="27432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6B6F76"/>
                </a:solidFill>
              </a:defRPr>
            </a:lvl1pPr>
          </a:lstStyle>
          <a:p>
            <a:fld id="{2B9EE3C0-7C20-5445-A788-9AB5D82D90FB}" type="datetimeFigureOut">
              <a:rPr lang="en-US" smtClean="0"/>
              <a:t>14/10/2026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018BC-A677-96B0-5B2E-4AEDE18B0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58640" y="6309360"/>
            <a:ext cx="618744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B6F76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E26B6-86C7-AF0E-2F2F-E4F6A0757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7520" y="6309360"/>
            <a:ext cx="109728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6B6F76"/>
                </a:solidFill>
              </a:defRPr>
            </a:lvl1pPr>
          </a:lstStyle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804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696" r:id="rId2"/>
    <p:sldLayoutId id="2147483700" r:id="rId3"/>
    <p:sldLayoutId id="2147483697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"/>
          <p:cNvSpPr txBox="1"/>
          <p:nvPr/>
        </p:nvSpPr>
        <p:spPr>
          <a:xfrm>
            <a:off x="1524000" y="1554480"/>
            <a:ext cx="10119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>
              <a:buNone/>
            </a:pPr>
            <a:r>
              <a:rPr lang="vi-VN" sz="1400" b="1" spc="200">
                <a:solidFill>
                  <a:srgbClr val="585858"/>
                </a:solidFill>
              </a:rPr>
              <a:t>CONSULTING &amp; ANALYTICS</a:t>
            </a:r>
            <a:endParaRPr lang="vi-VN" sz="1400"/>
          </a:p>
        </p:txBody>
      </p:sp>
      <p:sp>
        <p:nvSpPr>
          <p:cNvPr id="12" name="ctrTitle 12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vi-VN"/>
              <a:t>Excel for Business Intelligence Analyst</a:t>
            </a:r>
          </a:p>
        </p:txBody>
      </p:sp>
      <p:sp>
        <p:nvSpPr>
          <p:cNvPr id="13" name="subTitle 1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vi-VN"/>
              <a:t>Buổi 5: Mô hình dữ liệu &amp; DAX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1524000" y="5669280"/>
            <a:ext cx="10119360" cy="0"/>
          </a:xfrm>
          <a:prstGeom prst="line">
            <a:avLst/>
          </a:prstGeom>
          <a:ln w="12700">
            <a:solidFill>
              <a:srgbClr val="D9DEE8"/>
            </a:solidFill>
          </a:ln>
        </p:spPr>
      </p:cxnSp>
      <p:sp>
        <p:nvSpPr>
          <p:cNvPr id="15" name="TextBox"/>
          <p:cNvSpPr txBox="1"/>
          <p:nvPr/>
        </p:nvSpPr>
        <p:spPr>
          <a:xfrm>
            <a:off x="1524000" y="5760720"/>
            <a:ext cx="10119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vi-VN" sz="1400">
                <a:solidFill>
                  <a:srgbClr val="585858"/>
                </a:solidFill>
              </a:rPr>
              <a:t>Bắt buộc máy Windows có Power Pivot (Data → Manage Data Model)</a:t>
            </a:r>
            <a:endParaRPr lang="vi-VN" sz="1400"/>
          </a:p>
          <a:p>
            <a:pPr marL="0" indent="0">
              <a:buNone/>
            </a:pPr>
            <a:r>
              <a:rPr lang="vi-VN" sz="1400">
                <a:solidFill>
                  <a:srgbClr val="585858"/>
                </a:solidFill>
              </a:rPr>
              <a:t>Mở sẵn: file khởi đầu B4_MCI_Mart_Answer.xlsx (đáp án Buổi 4)</a:t>
            </a:r>
            <a:endParaRPr lang="vi-VN" sz="1400"/>
          </a:p>
        </p:txBody>
      </p:sp>
    </p:spTree>
    <p:extLst>
      <p:ext uri="{BB962C8B-B14F-4D97-AF65-F5344CB8AC3E}">
        <p14:creationId xmlns:p14="http://schemas.microsoft.com/office/powerpoint/2010/main" val="2243051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Câu hỏi mở buổi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0 · MỞ ĐẦU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600200"/>
            <a:ext cx="1012240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>
                <a:solidFill>
                  <a:srgbClr val="203864"/>
                </a:solidFill>
                <a:latin typeface="Arial"/>
              </a:rPr>
              <a:t>"Doanh thu tháng này đạt bao nhiêu % mục tiêu, và vì sao mỗi báo cáo cũ lại ra một con số khác nhau?"</a:t>
            </a:r>
          </a:p>
        </p:txBody>
      </p:sp>
      <p:sp>
        <p:nvSpPr>
          <p:cNvPr id="5" name="Tier chip"/>
          <p:cNvSpPr/>
          <p:nvPr/>
        </p:nvSpPr>
        <p:spPr>
          <a:xfrm>
            <a:off x="1527048" y="3017520"/>
            <a:ext cx="26517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Tầng 3: Diagnostic</a:t>
            </a:r>
          </a:p>
        </p:txBody>
      </p:sp>
      <p:sp>
        <p:nvSpPr>
          <p:cNvPr id="6" name="Stat A"/>
          <p:cNvSpPr/>
          <p:nvPr/>
        </p:nvSpPr>
        <p:spPr>
          <a:xfrm>
            <a:off x="1527048" y="3657600"/>
            <a:ext cx="4206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1709928" y="3749039"/>
            <a:ext cx="3840479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Báo cáo A · Gross Margin % Quý 1/2025</a:t>
            </a:r>
          </a:p>
          <a:p>
            <a:pPr>
              <a:spcBef>
                <a:spcPts val="200"/>
              </a:spcBef>
            </a:pPr>
            <a:r>
              <a:rPr sz="3400" b="1">
                <a:solidFill>
                  <a:srgbClr val="203864"/>
                </a:solidFill>
                <a:latin typeface="Arial"/>
              </a:rPr>
              <a:t>34,18%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tổng lợi nhuận ÷ tổng doanh thu</a:t>
            </a:r>
          </a:p>
        </p:txBody>
      </p:sp>
      <p:sp>
        <p:nvSpPr>
          <p:cNvPr id="8" name="Not equal"/>
          <p:cNvSpPr txBox="1"/>
          <p:nvPr/>
        </p:nvSpPr>
        <p:spPr>
          <a:xfrm>
            <a:off x="5824728" y="3657600"/>
            <a:ext cx="91440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800" b="1">
                <a:solidFill>
                  <a:srgbClr val="9C0006"/>
                </a:solidFill>
                <a:latin typeface="Arial"/>
              </a:rPr>
              <a:t>≠</a:t>
            </a:r>
          </a:p>
        </p:txBody>
      </p:sp>
      <p:sp>
        <p:nvSpPr>
          <p:cNvPr id="9" name="Stat B"/>
          <p:cNvSpPr/>
          <p:nvPr/>
        </p:nvSpPr>
        <p:spPr>
          <a:xfrm>
            <a:off x="6830568" y="3657600"/>
            <a:ext cx="4206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7013448" y="3749039"/>
            <a:ext cx="3840479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Báo cáo B · Gross Margin % Quý 1/2025</a:t>
            </a:r>
          </a:p>
          <a:p>
            <a:pPr>
              <a:spcBef>
                <a:spcPts val="200"/>
              </a:spcBef>
            </a:pPr>
            <a:r>
              <a:rPr sz="3400" b="1">
                <a:solidFill>
                  <a:srgbClr val="9C0006"/>
                </a:solidFill>
                <a:latin typeface="Arial"/>
              </a:rPr>
              <a:t>33,77%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trung bình biên lợi nhuận từng dòng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1527048" y="55321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Cùng một dữ liệu. Không ai bịa số, chỉ là hai công thức khác nhau.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Recap Buổi 4 &amp; file khởi đầu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0 · MỞ ĐẦU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600200"/>
            <a:ext cx="64922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•  Viên gạch B4: </a:t>
            </a:r>
            <a:r>
              <a:rPr sz="1600" b="0">
                <a:solidFill>
                  <a:srgbClr val="1B2230"/>
                </a:solidFill>
                <a:latin typeface="Arial"/>
              </a:rPr>
              <a:t>6 bảng sạch trong Data Model, Sales 30.247 dòng (4.436.849.500), Product 40, Store 12, Customer 1.500, Target 144, Calendar 731. Refresh tự cập nhật.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•  Bài về nhà B4: </a:t>
            </a:r>
            <a:r>
              <a:rPr sz="1600" b="0">
                <a:solidFill>
                  <a:srgbClr val="1B2230"/>
                </a:solidFill>
                <a:latin typeface="Arial"/>
              </a:rPr>
              <a:t>đối soát trước khi tính % target, ST07 tháng 4 thiếu file bổ sung chỉ đạt 54,3%, đủ file đạt 97,4%; cả chuỗi 103,1%.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•  File khởi đầu hôm nay </a:t>
            </a:r>
            <a:r>
              <a:rPr sz="1600" b="0">
                <a:solidFill>
                  <a:srgbClr val="1B2230"/>
                </a:solidFill>
                <a:latin typeface="Arial"/>
              </a:rPr>
              <a:t>= đáp án B4 (B4_MCI_Mart_Answer.xlsx). Lưu thành B5_&lt;HoTen&gt;.xlsx. KHÔNG bấm Refresh All.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•  Giảng viên làm mẫu trên 2 file gọn: </a:t>
            </a:r>
            <a:r>
              <a:rPr sz="1600" b="0">
                <a:solidFill>
                  <a:srgbClr val="1B2230"/>
                </a:solidFill>
                <a:latin typeface="Arial"/>
              </a:rPr>
              <a:t>Demo/B5_Demo_Model.xlsx (Phần 1–2, chưa nối) · Demo/B5_Demo_DAX.xlsx (Phần 3–7, đã nối); mỗi file có bản _HocVien.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•  Cuối buổi: </a:t>
            </a:r>
            <a:r>
              <a:rPr sz="1600" b="0">
                <a:solidFill>
                  <a:srgbClr val="1B2230"/>
                </a:solidFill>
                <a:latin typeface="Arial"/>
              </a:rPr>
              <a:t>đối soát với KPI_SUMIFS (Thực hành 2), đáp án ở sheet DoiSoat_B2 của Practice/B5_MCI_Mart_Answer.xlsx; file này là file khởi đầu Buổi 6.</a:t>
            </a:r>
          </a:p>
        </p:txBody>
      </p:sp>
      <p:sp>
        <p:nvSpPr>
          <p:cNvPr id="5" name="Brick B4"/>
          <p:cNvSpPr/>
          <p:nvPr/>
        </p:nvSpPr>
        <p:spPr>
          <a:xfrm>
            <a:off x="8293608" y="4206240"/>
            <a:ext cx="3355848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8385048" y="4206240"/>
            <a:ext cx="317296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✓  B4 · Pipeline Power Query</a:t>
            </a:r>
          </a:p>
        </p:txBody>
      </p:sp>
      <p:sp>
        <p:nvSpPr>
          <p:cNvPr id="7" name="Brick B5"/>
          <p:cNvSpPr/>
          <p:nvPr/>
        </p:nvSpPr>
        <p:spPr>
          <a:xfrm>
            <a:off x="8293608" y="3017520"/>
            <a:ext cx="3355848" cy="914400"/>
          </a:xfrm>
          <a:prstGeom prst="rect">
            <a:avLst/>
          </a:prstGeom>
          <a:solidFill>
            <a:srgbClr val="FFFFFF"/>
          </a:solidFill>
          <a:ln w="285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8385048" y="3017520"/>
            <a:ext cx="317296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B5 · Star schema + DAX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Demo: ../B4_Power_Query/Practice/B4_MCI_Mart_Answer.xlsx (sheet Kiem_tra_B4) · ../B4_Power_Query/Homework/B4_BTVN_MCI_Mart_T4_2025_Answer.xlsx (sheet KetQua_T4)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Data Model: nhiều bảng, một mô hình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View · Diagram View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DATA MODEL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1877568"/>
        </p:xfrm>
        <a:graphic>
          <a:graphicData uri="http://schemas.openxmlformats.org/drawingml/2006/table">
            <a:tbl>
              <a:tblPr firstRow="1"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6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Data → Manage Data Model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Mở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cửa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sổ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Power Pivot,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nơi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chứa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Data Model,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tách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riêng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khỏi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worksheet (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hoặc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Power Pivot → Manage)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Data View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Mỗi bảng một tab; xem dữ liệu, thêm calculated column; dòng Record ghi số dòng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Diagram View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Mỗi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là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một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hộp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; relationship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là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đường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nối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giữa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các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hộp</a:t>
                      </a:r>
                      <a:endParaRPr sz="14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Screenshot S05a_data_view" descr="S05a_data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3344445"/>
            <a:ext cx="4965192" cy="1860748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6" name="Screenshot S05b_diagram_roi" descr="S05b_diagram_ro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344445"/>
            <a:ext cx="4965192" cy="1860748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TIP callout"/>
          <p:cNvSpPr/>
          <p:nvPr/>
        </p:nvSpPr>
        <p:spPr>
          <a:xfrm>
            <a:off x="1527048" y="5303520"/>
            <a:ext cx="6309360" cy="8686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1636776" y="541324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9" name="TIP text"/>
          <p:cNvSpPr txBox="1"/>
          <p:nvPr/>
        </p:nvSpPr>
        <p:spPr>
          <a:xfrm>
            <a:off x="2212848" y="5394959"/>
            <a:ext cx="55138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Không thấy Manage Data Model: bật add-in Power Pivot (File → Options → COM Add-ins).</a:t>
            </a:r>
          </a:p>
        </p:txBody>
      </p:sp>
      <p:sp>
        <p:nvSpPr>
          <p:cNvPr id="10" name="PRO TIP callout"/>
          <p:cNvSpPr/>
          <p:nvPr/>
        </p:nvSpPr>
        <p:spPr>
          <a:xfrm>
            <a:off x="8001000" y="5303520"/>
            <a:ext cx="3648456" cy="8686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 TIP chip"/>
          <p:cNvSpPr/>
          <p:nvPr/>
        </p:nvSpPr>
        <p:spPr>
          <a:xfrm>
            <a:off x="8110727" y="541324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2" name="PRO TIP text"/>
          <p:cNvSpPr txBox="1"/>
          <p:nvPr/>
        </p:nvSpPr>
        <p:spPr>
          <a:xfrm>
            <a:off x="9208008" y="5394959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Diagram View: kéo lookup bao quanh fact.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 dirty="0" err="1">
                <a:solidFill>
                  <a:srgbClr val="6B6F76"/>
                </a:solidFill>
                <a:latin typeface="Arial"/>
              </a:rPr>
              <a:t>Ảnh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: Demo/B5_Demo_Model.xlsx, Data → Manage Data Model (Data View, Diagram View)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Normalization · Fact vs Lookup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DATA MODEL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dirty="0">
                <a:solidFill>
                  <a:srgbClr val="203864"/>
                </a:solidFill>
                <a:latin typeface="Arial"/>
              </a:rPr>
              <a:t>Normalization: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mỗi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tin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lưu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đúng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MỘT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chỗ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tên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ngành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nằm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ở Product,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lặp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lại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trên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từng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bán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hàng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0574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203864"/>
                </a:solidFill>
                <a:latin typeface="Arial"/>
              </a:rPr>
              <a:t>Fact: ghi sự kiện, có số để cộng</a:t>
            </a:r>
          </a:p>
        </p:txBody>
      </p:sp>
      <p:sp>
        <p:nvSpPr>
          <p:cNvPr id="6" name="Fact Sales"/>
          <p:cNvSpPr/>
          <p:nvPr/>
        </p:nvSpPr>
        <p:spPr>
          <a:xfrm>
            <a:off x="1527048" y="2468880"/>
            <a:ext cx="4480560" cy="105156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1618488" y="2514600"/>
            <a:ext cx="4297680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rial"/>
              </a:rPr>
              <a:t>Sales · 30.247 </a:t>
            </a:r>
            <a:r>
              <a:rPr sz="1500" b="1" dirty="0" err="1">
                <a:solidFill>
                  <a:srgbClr val="FFFFFF"/>
                </a:solidFill>
                <a:latin typeface="Arial"/>
              </a:rPr>
              <a:t>dòng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ctr">
              <a:spcBef>
                <a:spcPts val="200"/>
              </a:spcBef>
            </a:pPr>
            <a:r>
              <a:rPr sz="1200" b="0" dirty="0">
                <a:solidFill>
                  <a:srgbClr val="E3ECF7"/>
                </a:solidFill>
                <a:latin typeface="Arial"/>
              </a:rPr>
              <a:t>grain: 1 </a:t>
            </a:r>
            <a:r>
              <a:rPr sz="1200" b="0" dirty="0" err="1">
                <a:solidFill>
                  <a:srgbClr val="E3ECF7"/>
                </a:solidFill>
                <a:latin typeface="Arial"/>
              </a:rPr>
              <a:t>sản</a:t>
            </a:r>
            <a:r>
              <a:rPr sz="1200" b="0" dirty="0">
                <a:solidFill>
                  <a:srgbClr val="E3ECF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E3ECF7"/>
                </a:solidFill>
                <a:latin typeface="Arial"/>
              </a:rPr>
              <a:t>phẩm</a:t>
            </a:r>
            <a:r>
              <a:rPr sz="1200" b="0" dirty="0">
                <a:solidFill>
                  <a:srgbClr val="E3ECF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E3ECF7"/>
                </a:solidFill>
                <a:latin typeface="Arial"/>
              </a:rPr>
              <a:t>trong</a:t>
            </a:r>
            <a:r>
              <a:rPr sz="1200" b="0" dirty="0">
                <a:solidFill>
                  <a:srgbClr val="E3ECF7"/>
                </a:solidFill>
                <a:latin typeface="Arial"/>
              </a:rPr>
              <a:t> 1 </a:t>
            </a:r>
            <a:r>
              <a:rPr sz="1200" b="0" dirty="0" err="1">
                <a:solidFill>
                  <a:srgbClr val="E3ECF7"/>
                </a:solidFill>
                <a:latin typeface="Arial"/>
              </a:rPr>
              <a:t>đơn</a:t>
            </a:r>
            <a:endParaRPr sz="1200" b="0" dirty="0">
              <a:solidFill>
                <a:srgbClr val="E3ECF7"/>
              </a:solidFill>
              <a:latin typeface="Arial"/>
            </a:endParaRPr>
          </a:p>
        </p:txBody>
      </p:sp>
      <p:sp>
        <p:nvSpPr>
          <p:cNvPr id="8" name="Fact Target"/>
          <p:cNvSpPr/>
          <p:nvPr/>
        </p:nvSpPr>
        <p:spPr>
          <a:xfrm>
            <a:off x="1527048" y="3657600"/>
            <a:ext cx="4480560" cy="105156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618488" y="3703320"/>
            <a:ext cx="4297680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Target · 144 dòng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3ECF7"/>
                </a:solidFill>
                <a:latin typeface="Arial"/>
              </a:rPr>
              <a:t>grain: tháng × cửa hàng, fact thứ hai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373368" y="2057400"/>
            <a:ext cx="52760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 dirty="0">
                <a:solidFill>
                  <a:srgbClr val="203864"/>
                </a:solidFill>
                <a:latin typeface="Arial"/>
              </a:rPr>
              <a:t>Lookup: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mô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tả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,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mỗi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đối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tượng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một</a:t>
            </a:r>
            <a:r>
              <a:rPr sz="15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203864"/>
                </a:solidFill>
                <a:latin typeface="Arial"/>
              </a:rPr>
              <a:t>dòng</a:t>
            </a:r>
            <a:endParaRPr sz="1500" b="1" dirty="0">
              <a:solidFill>
                <a:srgbClr val="203864"/>
              </a:solidFill>
              <a:latin typeface="Arial"/>
            </a:endParaRPr>
          </a:p>
        </p:txBody>
      </p:sp>
      <p:sp>
        <p:nvSpPr>
          <p:cNvPr id="11" name="Lookup Product"/>
          <p:cNvSpPr/>
          <p:nvPr/>
        </p:nvSpPr>
        <p:spPr>
          <a:xfrm>
            <a:off x="6373368" y="2468880"/>
            <a:ext cx="257860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6464807" y="2514600"/>
            <a:ext cx="2395727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203864"/>
                </a:solidFill>
                <a:latin typeface="Arial"/>
              </a:rPr>
              <a:t>Product · 40</a:t>
            </a:r>
          </a:p>
          <a:p>
            <a:pPr algn="ctr">
              <a:spcBef>
                <a:spcPts val="200"/>
              </a:spcBef>
            </a:pPr>
            <a:r>
              <a:rPr sz="1200" b="0" dirty="0" err="1">
                <a:solidFill>
                  <a:srgbClr val="585858"/>
                </a:solidFill>
                <a:latin typeface="Arial"/>
              </a:rPr>
              <a:t>sản</a:t>
            </a:r>
            <a:r>
              <a:rPr sz="12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85858"/>
                </a:solidFill>
                <a:latin typeface="Arial"/>
              </a:rPr>
              <a:t>phẩm</a:t>
            </a:r>
            <a:endParaRPr sz="1200" b="0" dirty="0">
              <a:solidFill>
                <a:srgbClr val="585858"/>
              </a:solidFill>
              <a:latin typeface="Arial"/>
            </a:endParaRPr>
          </a:p>
        </p:txBody>
      </p:sp>
      <p:sp>
        <p:nvSpPr>
          <p:cNvPr id="13" name="Lookup Store"/>
          <p:cNvSpPr/>
          <p:nvPr/>
        </p:nvSpPr>
        <p:spPr>
          <a:xfrm>
            <a:off x="9070848" y="2468880"/>
            <a:ext cx="257860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"/>
          <p:cNvSpPr txBox="1"/>
          <p:nvPr/>
        </p:nvSpPr>
        <p:spPr>
          <a:xfrm>
            <a:off x="9162288" y="2514600"/>
            <a:ext cx="2395727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203864"/>
                </a:solidFill>
                <a:latin typeface="Arial"/>
              </a:rPr>
              <a:t>Store · 12</a:t>
            </a:r>
          </a:p>
          <a:p>
            <a:pPr algn="ctr">
              <a:spcBef>
                <a:spcPts val="200"/>
              </a:spcBef>
            </a:pPr>
            <a:r>
              <a:rPr sz="1200" b="0" dirty="0" err="1">
                <a:solidFill>
                  <a:srgbClr val="585858"/>
                </a:solidFill>
                <a:latin typeface="Arial"/>
              </a:rPr>
              <a:t>cửa</a:t>
            </a:r>
            <a:r>
              <a:rPr sz="12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85858"/>
                </a:solidFill>
                <a:latin typeface="Arial"/>
              </a:rPr>
              <a:t>hàng</a:t>
            </a:r>
            <a:endParaRPr sz="1200" b="0" dirty="0">
              <a:solidFill>
                <a:srgbClr val="585858"/>
              </a:solidFill>
              <a:latin typeface="Arial"/>
            </a:endParaRPr>
          </a:p>
        </p:txBody>
      </p:sp>
      <p:sp>
        <p:nvSpPr>
          <p:cNvPr id="15" name="Lookup Customer"/>
          <p:cNvSpPr/>
          <p:nvPr/>
        </p:nvSpPr>
        <p:spPr>
          <a:xfrm>
            <a:off x="6373368" y="3657600"/>
            <a:ext cx="257860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"/>
          <p:cNvSpPr txBox="1"/>
          <p:nvPr/>
        </p:nvSpPr>
        <p:spPr>
          <a:xfrm>
            <a:off x="6464807" y="3703320"/>
            <a:ext cx="2395727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203864"/>
                </a:solidFill>
                <a:latin typeface="Arial"/>
              </a:rPr>
              <a:t>Customer · 1.500</a:t>
            </a:r>
          </a:p>
          <a:p>
            <a:pPr algn="ctr">
              <a:spcBef>
                <a:spcPts val="200"/>
              </a:spcBef>
            </a:pPr>
            <a:r>
              <a:rPr sz="1200" b="0" dirty="0" err="1">
                <a:solidFill>
                  <a:srgbClr val="585858"/>
                </a:solidFill>
                <a:latin typeface="Arial"/>
              </a:rPr>
              <a:t>khách</a:t>
            </a:r>
            <a:r>
              <a:rPr sz="12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85858"/>
                </a:solidFill>
                <a:latin typeface="Arial"/>
              </a:rPr>
              <a:t>hàng</a:t>
            </a:r>
            <a:endParaRPr sz="1200" b="0" dirty="0">
              <a:solidFill>
                <a:srgbClr val="585858"/>
              </a:solidFill>
              <a:latin typeface="Arial"/>
            </a:endParaRPr>
          </a:p>
        </p:txBody>
      </p:sp>
      <p:sp>
        <p:nvSpPr>
          <p:cNvPr id="17" name="Lookup Calendar"/>
          <p:cNvSpPr/>
          <p:nvPr/>
        </p:nvSpPr>
        <p:spPr>
          <a:xfrm>
            <a:off x="9070848" y="3657600"/>
            <a:ext cx="257860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"/>
          <p:cNvSpPr txBox="1"/>
          <p:nvPr/>
        </p:nvSpPr>
        <p:spPr>
          <a:xfrm>
            <a:off x="9162288" y="3703320"/>
            <a:ext cx="2395727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203864"/>
                </a:solidFill>
                <a:latin typeface="Arial"/>
              </a:rPr>
              <a:t>Calendar · 731</a:t>
            </a:r>
          </a:p>
          <a:p>
            <a:pPr algn="ctr">
              <a:spcBef>
                <a:spcPts val="200"/>
              </a:spcBef>
            </a:pPr>
            <a:r>
              <a:rPr sz="1200" b="0" dirty="0" err="1">
                <a:solidFill>
                  <a:srgbClr val="585858"/>
                </a:solidFill>
                <a:latin typeface="Arial"/>
              </a:rPr>
              <a:t>ngày</a:t>
            </a:r>
            <a:endParaRPr sz="1200" b="0" dirty="0">
              <a:solidFill>
                <a:srgbClr val="585858"/>
              </a:solidFill>
              <a:latin typeface="Arial"/>
            </a:endParaRPr>
          </a:p>
        </p:txBody>
      </p:sp>
      <p:sp>
        <p:nvSpPr>
          <p:cNvPr id="19" name="TIP callout"/>
          <p:cNvSpPr/>
          <p:nvPr/>
        </p:nvSpPr>
        <p:spPr>
          <a:xfrm>
            <a:off x="1527048" y="5074920"/>
            <a:ext cx="10122408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"/>
          <p:cNvSpPr txBox="1"/>
          <p:nvPr/>
        </p:nvSpPr>
        <p:spPr>
          <a:xfrm>
            <a:off x="1636776" y="518464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21" name="TIP text"/>
          <p:cNvSpPr txBox="1"/>
          <p:nvPr/>
        </p:nvSpPr>
        <p:spPr>
          <a:xfrm>
            <a:off x="2212848" y="5166359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1B2230"/>
                </a:solidFill>
                <a:latin typeface="Arial"/>
              </a:rPr>
              <a:t>Bảng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fact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dài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số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(Quantity, Revenue).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Bảng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lookup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ngắn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chủ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yếu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chữ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 Target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fact: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ghi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một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con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số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kế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hoạch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nhưng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sản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phẩm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22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Số dòng: Data Model của file khởi đầu (Power Pivot → Data View)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Primary key · Foreign key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DATA MODEL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573407"/>
              </p:ext>
            </p:extLst>
          </p:nvPr>
        </p:nvGraphicFramePr>
        <p:xfrm>
          <a:off x="1527048" y="1417320"/>
          <a:ext cx="10122408" cy="25146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1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Bảng lookup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Primary key (duy nhất)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rgbClr val="FFFFFF"/>
                          </a:solidFill>
                          <a:latin typeface="Arial"/>
                        </a:rPr>
                        <a:t>Foreign key ở 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bảng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Arial"/>
                        </a:rPr>
                        <a:t> fact (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lặp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lại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rgbClr val="1B2230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Product_Code</a:t>
                      </a:r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: 40 </a:t>
                      </a:r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mã</a:t>
                      </a:r>
                      <a:endParaRPr sz="15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Sales[</a:t>
                      </a:r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Product_Code</a:t>
                      </a:r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230"/>
                          </a:solidFill>
                          <a:latin typeface="Arial"/>
                        </a:rPr>
                        <a:t>Store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230"/>
                          </a:solidFill>
                          <a:latin typeface="Arial"/>
                        </a:rPr>
                        <a:t>Store_Code: 12 mã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230"/>
                          </a:solidFill>
                          <a:latin typeface="Arial"/>
                        </a:rPr>
                        <a:t>Sales[Store_Code] · Target[Store_Code]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230"/>
                          </a:solidFill>
                          <a:latin typeface="Arial"/>
                        </a:rPr>
                        <a:t>Customer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230"/>
                          </a:solidFill>
                          <a:latin typeface="Arial"/>
                        </a:rPr>
                        <a:t>Customer_ID: 1.500 mã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Sales[</a:t>
                      </a:r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Customer_ID</a:t>
                      </a:r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230"/>
                          </a:solidFill>
                          <a:latin typeface="Arial"/>
                        </a:rPr>
                        <a:t>Calendar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230"/>
                          </a:solidFill>
                          <a:latin typeface="Arial"/>
                        </a:rPr>
                        <a:t>Date: 731 ngày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Sales[</a:t>
                      </a:r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Order_Date</a:t>
                      </a:r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] · Target[</a:t>
                      </a:r>
                      <a:r>
                        <a:rPr sz="15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Ngay_Dau_Thang</a:t>
                      </a:r>
                      <a:r>
                        <a:rPr sz="1500" b="0" dirty="0">
                          <a:solidFill>
                            <a:srgbClr val="1B2230"/>
                          </a:solidFill>
                          <a:latin typeface="Arial"/>
                        </a:rPr>
                        <a:t>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tat card"/>
          <p:cNvSpPr/>
          <p:nvPr/>
        </p:nvSpPr>
        <p:spPr>
          <a:xfrm>
            <a:off x="1527048" y="4160520"/>
            <a:ext cx="49651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1709928" y="4251959"/>
            <a:ext cx="4599431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 err="1">
                <a:solidFill>
                  <a:srgbClr val="585858"/>
                </a:solidFill>
                <a:latin typeface="Arial"/>
              </a:rPr>
              <a:t>Khóa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chính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phải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DUY NHẤT</a:t>
            </a:r>
          </a:p>
          <a:p>
            <a:pPr>
              <a:spcBef>
                <a:spcPts val="200"/>
              </a:spcBef>
            </a:pPr>
            <a:r>
              <a:rPr sz="2200" b="1" dirty="0">
                <a:solidFill>
                  <a:srgbClr val="9C0006"/>
                </a:solidFill>
                <a:latin typeface="Arial"/>
              </a:rPr>
              <a:t>P021 (B2) · P015 (B4)</a:t>
            </a:r>
          </a:p>
          <a:p>
            <a:pPr>
              <a:spcBef>
                <a:spcPts val="200"/>
              </a:spcBef>
            </a:pPr>
            <a:r>
              <a:rPr sz="1400" b="0" dirty="0" err="1">
                <a:solidFill>
                  <a:srgbClr val="1B2230"/>
                </a:solidFill>
                <a:latin typeface="Arial"/>
              </a:rPr>
              <a:t>trùng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thì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tạo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được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quan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hệ</a:t>
            </a:r>
            <a:endParaRPr sz="1400" b="0" dirty="0">
              <a:solidFill>
                <a:srgbClr val="1B2230"/>
              </a:solidFill>
              <a:latin typeface="Arial"/>
            </a:endParaRPr>
          </a:p>
        </p:txBody>
      </p:sp>
      <p:sp>
        <p:nvSpPr>
          <p:cNvPr id="7" name="Stat card"/>
          <p:cNvSpPr/>
          <p:nvPr/>
        </p:nvSpPr>
        <p:spPr>
          <a:xfrm>
            <a:off x="6684264" y="4160520"/>
            <a:ext cx="49651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6867144" y="4251959"/>
            <a:ext cx="4599431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 err="1">
                <a:solidFill>
                  <a:srgbClr val="585858"/>
                </a:solidFill>
                <a:latin typeface="Arial"/>
              </a:rPr>
              <a:t>Khóa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ngoại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có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trong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lookup</a:t>
            </a:r>
          </a:p>
          <a:p>
            <a:pPr>
              <a:spcBef>
                <a:spcPts val="200"/>
              </a:spcBef>
            </a:pPr>
            <a:r>
              <a:rPr sz="2600" b="1" dirty="0">
                <a:solidFill>
                  <a:srgbClr val="2E7D32"/>
                </a:solidFill>
                <a:latin typeface="Arial"/>
              </a:rPr>
              <a:t>0 </a:t>
            </a:r>
            <a:r>
              <a:rPr sz="2600" b="1" dirty="0" err="1">
                <a:solidFill>
                  <a:srgbClr val="2E7D32"/>
                </a:solidFill>
                <a:latin typeface="Arial"/>
              </a:rPr>
              <a:t>dòng</a:t>
            </a:r>
            <a:endParaRPr sz="2600" b="1" dirty="0">
              <a:solidFill>
                <a:srgbClr val="2E7D32"/>
              </a:solidFill>
              <a:latin typeface="Arial"/>
            </a:endParaRPr>
          </a:p>
          <a:p>
            <a:pPr>
              <a:spcBef>
                <a:spcPts val="200"/>
              </a:spcBef>
            </a:pPr>
            <a:r>
              <a:rPr sz="1400" b="0" dirty="0" err="1">
                <a:solidFill>
                  <a:srgbClr val="1B2230"/>
                </a:solidFill>
                <a:latin typeface="Arial"/>
              </a:rPr>
              <a:t>đã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kiểm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bằng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Left Anti ở B4</a:t>
            </a:r>
          </a:p>
        </p:txBody>
      </p:sp>
      <p:sp>
        <p:nvSpPr>
          <p:cNvPr id="9" name="TIP callout"/>
          <p:cNvSpPr/>
          <p:nvPr/>
        </p:nvSpPr>
        <p:spPr>
          <a:xfrm>
            <a:off x="1527048" y="5486400"/>
            <a:ext cx="10122408" cy="685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1636776" y="559612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1" name="TIP text"/>
          <p:cNvSpPr txBox="1"/>
          <p:nvPr/>
        </p:nvSpPr>
        <p:spPr>
          <a:xfrm>
            <a:off x="2212848" y="5577840"/>
            <a:ext cx="9326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Ngay_Dau_Thang (B4 thêm vào Target) là cái móc để Target nối vào Calendar.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Relationships vs Merged tables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DATA MODEL</a:t>
            </a:r>
          </a:p>
        </p:txBody>
      </p:sp>
      <p:sp>
        <p:nvSpPr>
          <p:cNvPr id="4" name="Card Merge"/>
          <p:cNvSpPr/>
          <p:nvPr/>
        </p:nvSpPr>
        <p:spPr>
          <a:xfrm>
            <a:off x="1527048" y="1463040"/>
            <a:ext cx="496519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1691639" y="1572768"/>
            <a:ext cx="4636007" cy="1883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dirty="0">
                <a:solidFill>
                  <a:srgbClr val="203864"/>
                </a:solidFill>
                <a:latin typeface="Arial"/>
              </a:rPr>
              <a:t>Merge (</a:t>
            </a:r>
            <a:r>
              <a:rPr sz="1600" b="1" dirty="0" err="1">
                <a:solidFill>
                  <a:srgbClr val="203864"/>
                </a:solidFill>
                <a:latin typeface="Arial"/>
              </a:rPr>
              <a:t>Buổi</a:t>
            </a:r>
            <a:r>
              <a:rPr sz="1600" b="1" dirty="0">
                <a:solidFill>
                  <a:srgbClr val="203864"/>
                </a:solidFill>
                <a:latin typeface="Arial"/>
              </a:rPr>
              <a:t> 4)</a:t>
            </a:r>
          </a:p>
          <a:p>
            <a:pPr>
              <a:spcBef>
                <a:spcPts val="500"/>
              </a:spcBef>
            </a:pPr>
            <a:r>
              <a:rPr sz="1500" b="0" dirty="0" err="1">
                <a:solidFill>
                  <a:srgbClr val="1B2230"/>
                </a:solidFill>
                <a:latin typeface="Arial"/>
              </a:rPr>
              <a:t>Kéo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của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lookup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vào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bảng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fact →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một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bảng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to,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thông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tin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lặp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lại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trên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mọi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.</a:t>
            </a:r>
          </a:p>
          <a:p>
            <a:pPr>
              <a:spcBef>
                <a:spcPts val="500"/>
              </a:spcBef>
            </a:pPr>
            <a:r>
              <a:rPr sz="1500" b="0" dirty="0">
                <a:solidFill>
                  <a:srgbClr val="1B2230"/>
                </a:solidFill>
                <a:latin typeface="Arial"/>
              </a:rPr>
              <a:t>Lookup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trùng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khóa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→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số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phình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ra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(28.328 → 29.408),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báo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1B2230"/>
                </a:solidFill>
                <a:latin typeface="Arial"/>
              </a:rPr>
              <a:t>lỗi</a:t>
            </a:r>
            <a:r>
              <a:rPr sz="15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6" name="Card Relationship"/>
          <p:cNvSpPr/>
          <p:nvPr/>
        </p:nvSpPr>
        <p:spPr>
          <a:xfrm>
            <a:off x="6684264" y="1463040"/>
            <a:ext cx="496519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6848855" y="1572768"/>
            <a:ext cx="4636007" cy="1883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2E7D32"/>
                </a:solidFill>
                <a:latin typeface="Arial"/>
              </a:rPr>
              <a:t>Relationship</a:t>
            </a:r>
          </a:p>
          <a:p>
            <a:pPr>
              <a:spcBef>
                <a:spcPts val="5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Giữ các bảng riêng, nối bằng khóa; Pivot lấy cột từ bảng nào cũng được.</a:t>
            </a:r>
          </a:p>
          <a:p>
            <a:pPr>
              <a:spcBef>
                <a:spcPts val="5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Mỗi thông tin một chỗ → mô hình hình ngôi sao (star schema).</a:t>
            </a:r>
          </a:p>
        </p:txBody>
      </p:sp>
      <p:sp>
        <p:nvSpPr>
          <p:cNvPr id="8" name="Stat card"/>
          <p:cNvSpPr/>
          <p:nvPr/>
        </p:nvSpPr>
        <p:spPr>
          <a:xfrm>
            <a:off x="1527048" y="3749039"/>
            <a:ext cx="496519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709928" y="3840479"/>
            <a:ext cx="4599431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>
                <a:solidFill>
                  <a:srgbClr val="585858"/>
                </a:solidFill>
                <a:latin typeface="Arial"/>
              </a:rPr>
              <a:t>Merge Product, Store, Customer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vào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Sales</a:t>
            </a:r>
          </a:p>
          <a:p>
            <a:pPr>
              <a:spcBef>
                <a:spcPts val="200"/>
              </a:spcBef>
            </a:pPr>
            <a:r>
              <a:rPr sz="3000" b="1" dirty="0">
                <a:solidFill>
                  <a:srgbClr val="9C0006"/>
                </a:solidFill>
                <a:latin typeface="Arial"/>
              </a:rPr>
              <a:t>453.705 ô</a:t>
            </a:r>
          </a:p>
          <a:p>
            <a:pPr>
              <a:spcBef>
                <a:spcPts val="200"/>
              </a:spcBef>
            </a:pPr>
            <a:r>
              <a:rPr sz="1400" b="0" dirty="0">
                <a:solidFill>
                  <a:srgbClr val="1B2230"/>
                </a:solidFill>
                <a:latin typeface="Arial"/>
              </a:rPr>
              <a:t>30.247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× 15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mô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tả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lặp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lại</a:t>
            </a:r>
            <a:endParaRPr sz="1400" b="0" dirty="0">
              <a:solidFill>
                <a:srgbClr val="1B2230"/>
              </a:solidFill>
              <a:latin typeface="Arial"/>
            </a:endParaRPr>
          </a:p>
        </p:txBody>
      </p:sp>
      <p:sp>
        <p:nvSpPr>
          <p:cNvPr id="10" name="Stat card"/>
          <p:cNvSpPr/>
          <p:nvPr/>
        </p:nvSpPr>
        <p:spPr>
          <a:xfrm>
            <a:off x="6684264" y="3749039"/>
            <a:ext cx="496519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6867144" y="3840479"/>
            <a:ext cx="4599431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 err="1">
                <a:solidFill>
                  <a:srgbClr val="585858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lookup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riêng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+ relationship</a:t>
            </a:r>
          </a:p>
          <a:p>
            <a:pPr>
              <a:spcBef>
                <a:spcPts val="200"/>
              </a:spcBef>
            </a:pPr>
            <a:r>
              <a:rPr sz="3000" b="1" dirty="0">
                <a:solidFill>
                  <a:srgbClr val="2E7D32"/>
                </a:solidFill>
                <a:latin typeface="Arial"/>
              </a:rPr>
              <a:t>9.220 ô</a:t>
            </a:r>
          </a:p>
          <a:p>
            <a:pPr>
              <a:spcBef>
                <a:spcPts val="200"/>
              </a:spcBef>
            </a:pPr>
            <a:r>
              <a:rPr sz="1400" b="0" dirty="0">
                <a:solidFill>
                  <a:srgbClr val="1B2230"/>
                </a:solidFill>
                <a:latin typeface="Arial"/>
              </a:rPr>
              <a:t>Product 40×4 · Store 12×5 · Customer 1.500×6</a:t>
            </a:r>
          </a:p>
        </p:txBody>
      </p:sp>
      <p:sp>
        <p:nvSpPr>
          <p:cNvPr id="12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4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>
                <a:solidFill>
                  <a:srgbClr val="1B2230"/>
                </a:solidFill>
                <a:latin typeface="Arial"/>
              </a:rPr>
              <a:t>Star schema: fact ở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giữa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lookup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xung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quanh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mình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dựng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ở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Phần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2.</a:t>
            </a:r>
          </a:p>
        </p:txBody>
      </p:sp>
      <p:sp>
        <p:nvSpPr>
          <p:cNvPr id="15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Số ô tính từ Data Model của file khởi đầu (build_b5_meta.json)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Relationship: nối bảng bằng khóa, không bằng công thức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Tạo và quản lý Relationship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2 · RELATIONSHIP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1755648"/>
        </p:xfrm>
        <a:graphic>
          <a:graphicData uri="http://schemas.openxmlformats.org/drawingml/2006/table">
            <a:tbl>
              <a:tblPr firstRow="1"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6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Kéo thả trong Diagram View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Kéo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cột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khóa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ngoại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của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fact,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thả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lên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khóa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chính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của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lookup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Design → Create Relationship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Hộp thoại chọn bảng và cột hai bên, khi sơ đồ quá rối để kéo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Design → Manage Relationships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Xem,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sửa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xóa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từng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relationship (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ngoài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Excel: Data → Relationships)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Screenshot S10a_create_relationship" descr="S10a_create_relation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24" y="3291840"/>
            <a:ext cx="2557688" cy="19659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6" name="Screenshot S10b_diagram_sales" descr="S10b_diagram_sa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844" y="3291840"/>
            <a:ext cx="5245936" cy="19659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TIP callout"/>
          <p:cNvSpPr/>
          <p:nvPr/>
        </p:nvSpPr>
        <p:spPr>
          <a:xfrm>
            <a:off x="1527048" y="5349240"/>
            <a:ext cx="10122408" cy="8229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1636776" y="545896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9" name="TIP text"/>
          <p:cNvSpPr txBox="1"/>
          <p:nvPr/>
        </p:nvSpPr>
        <p:spPr>
          <a:xfrm>
            <a:off x="2212848" y="5440679"/>
            <a:ext cx="9326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>
                <a:solidFill>
                  <a:srgbClr val="1B2230"/>
                </a:solidFill>
                <a:latin typeface="Arial"/>
              </a:rPr>
              <a:t>Hai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phải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CÙNG KIỂU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dữ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liệu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(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Order_Date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và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Date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đều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Date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nhờ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Using Locale ở B4). Báo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trùng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giá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trị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=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khóa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lookup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bị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trùng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→ Remove Duplicates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trong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Power Query.</a:t>
            </a:r>
          </a:p>
        </p:txBody>
      </p:sp>
      <p:sp>
        <p:nvSpPr>
          <p:cNvPr id="10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Demo/B5_Demo_Model.xlsx, Power Pivot → Diagram View; Design → Create Relationship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Cardinality 1-* · Filter direction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2 · RELATIONSHIP</a:t>
            </a:r>
          </a:p>
        </p:txBody>
      </p:sp>
      <p:sp>
        <p:nvSpPr>
          <p:cNvPr id="4" name="Diagram Store"/>
          <p:cNvSpPr/>
          <p:nvPr/>
        </p:nvSpPr>
        <p:spPr>
          <a:xfrm>
            <a:off x="2075688" y="16002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2167128" y="16459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203864"/>
                </a:solidFill>
                <a:latin typeface="Arial"/>
              </a:rPr>
              <a:t>Store · 12 dòng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585858"/>
                </a:solidFill>
                <a:latin typeface="Arial"/>
              </a:rPr>
              <a:t>Region = Nam</a:t>
            </a:r>
          </a:p>
        </p:txBody>
      </p:sp>
      <p:sp>
        <p:nvSpPr>
          <p:cNvPr id="6" name="Diagram Sales"/>
          <p:cNvSpPr/>
          <p:nvPr/>
        </p:nvSpPr>
        <p:spPr>
          <a:xfrm>
            <a:off x="2075688" y="3977639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2167128" y="4023359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Sales · 30.247 dòng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3ECF7"/>
                </a:solidFill>
                <a:latin typeface="Arial"/>
              </a:rPr>
              <a:t>chỉ còn dòng cửa hàng miền Nam</a:t>
            </a:r>
          </a:p>
        </p:txBody>
      </p:sp>
      <p:cxnSp>
        <p:nvCxnSpPr>
          <p:cNvPr id="8" name="Filter arrow"/>
          <p:cNvCxnSpPr/>
          <p:nvPr/>
        </p:nvCxnSpPr>
        <p:spPr>
          <a:xfrm>
            <a:off x="3447288" y="2560320"/>
            <a:ext cx="0" cy="1371600"/>
          </a:xfrm>
          <a:prstGeom prst="line">
            <a:avLst/>
          </a:prstGeom>
          <a:ln w="38100">
            <a:solidFill>
              <a:srgbClr val="3398D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rd one"/>
          <p:cNvSpPr txBox="1"/>
          <p:nvPr/>
        </p:nvSpPr>
        <p:spPr>
          <a:xfrm>
            <a:off x="3630168" y="26060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03864"/>
                </a:solidFill>
                <a:latin typeface="Arial"/>
              </a:rPr>
              <a:t>1</a:t>
            </a:r>
          </a:p>
        </p:txBody>
      </p:sp>
      <p:sp>
        <p:nvSpPr>
          <p:cNvPr id="10" name="Card many"/>
          <p:cNvSpPr txBox="1"/>
          <p:nvPr/>
        </p:nvSpPr>
        <p:spPr>
          <a:xfrm>
            <a:off x="3630168" y="35204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203864"/>
                </a:solidFill>
                <a:latin typeface="Arial"/>
              </a:rPr>
              <a:t>*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5486400" y="1554480"/>
            <a:ext cx="6163056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dirty="0">
                <a:solidFill>
                  <a:srgbClr val="C00000"/>
                </a:solidFill>
                <a:latin typeface="Arial"/>
              </a:rPr>
              <a:t>Cardinality: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mức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độ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duy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nhất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của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khóa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ở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hai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đầu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1 (lookup,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duy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nhất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) – * (fact,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lặp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lại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). Data Model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chỉ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nhận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1-1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và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1-*;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khóa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trùng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ở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cả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hai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đầu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(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nhiều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–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nhiều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)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tạo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được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  <a:p>
            <a:pPr>
              <a:spcBef>
                <a:spcPts val="1400"/>
              </a:spcBef>
            </a:pPr>
            <a:r>
              <a:rPr sz="1600" b="1" dirty="0">
                <a:solidFill>
                  <a:srgbClr val="C00000"/>
                </a:solidFill>
                <a:latin typeface="Arial"/>
              </a:rPr>
              <a:t>Filter direction: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chảy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TỪ LOOKUP XUỐNG FACT.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Chọn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Region = Nam ở Store → Sales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chỉ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còn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của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cửa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hàng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miền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Nam.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Chiều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ngược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lại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  <a:p>
            <a:pPr>
              <a:spcBef>
                <a:spcPts val="1400"/>
              </a:spcBef>
            </a:pPr>
            <a:r>
              <a:rPr sz="1600" b="1" dirty="0">
                <a:solidFill>
                  <a:srgbClr val="203864"/>
                </a:solidFill>
                <a:latin typeface="Arial"/>
              </a:rPr>
              <a:t>Quy </a:t>
            </a:r>
            <a:r>
              <a:rPr sz="1600" b="1" dirty="0" err="1">
                <a:solidFill>
                  <a:srgbClr val="203864"/>
                </a:solidFill>
                <a:latin typeface="Arial"/>
              </a:rPr>
              <a:t>tắc</a:t>
            </a:r>
            <a:r>
              <a:rPr sz="1600" b="1" dirty="0">
                <a:solidFill>
                  <a:srgbClr val="203864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03864"/>
                </a:solidFill>
                <a:latin typeface="Arial"/>
              </a:rPr>
              <a:t>vàng</a:t>
            </a:r>
            <a:r>
              <a:rPr sz="1600" b="1" dirty="0">
                <a:solidFill>
                  <a:srgbClr val="203864"/>
                </a:solidFill>
                <a:latin typeface="Arial"/>
              </a:rPr>
              <a:t>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bao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giờ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nối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thẳng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hai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bảng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fact. Sales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và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Target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gặp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nhau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qua lookup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chung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12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4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Bộ lọc chảy như nước, từ trên xuống: lookup ở trên, fact ở dưới.</a:t>
            </a:r>
          </a:p>
        </p:txBody>
      </p:sp>
      <p:sp>
        <p:nvSpPr>
          <p:cNvPr id="15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Sơ đồ khái niệm: bộ lọc từ Store chảy xuống Sales qua relationship Store_Code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Fact </a:t>
            </a:r>
            <a:r>
              <a:rPr dirty="0" err="1"/>
              <a:t>thứ</a:t>
            </a:r>
            <a:r>
              <a:rPr dirty="0"/>
              <a:t> </a:t>
            </a:r>
            <a:r>
              <a:rPr dirty="0" err="1"/>
              <a:t>hai</a:t>
            </a:r>
            <a:r>
              <a:rPr dirty="0"/>
              <a:t>: Target </a:t>
            </a:r>
            <a:r>
              <a:rPr dirty="0" err="1"/>
              <a:t>lọc</a:t>
            </a:r>
            <a:r>
              <a:rPr dirty="0"/>
              <a:t> qua lookup </a:t>
            </a:r>
            <a:r>
              <a:rPr dirty="0" err="1"/>
              <a:t>chung</a:t>
            </a:r>
            <a:endParaRPr dirty="0"/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2 · RELATIONSHIP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C00000"/>
                </a:solidFill>
                <a:latin typeface="Arial"/>
              </a:rPr>
              <a:t>Insert → PivotTable ▾ → From Data Model  ·  relationship cho Target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Pivot đọc thẳng Data Model. Target chỉ lọc được qua lookup CHUNG với Sales: Target[Store_Code] → Store · Target[Ngay_Dau_Thang] → Calendar.</a:t>
            </a:r>
          </a:p>
        </p:txBody>
      </p:sp>
      <p:pic>
        <p:nvPicPr>
          <p:cNvPr id="6" name="Screenshot S12a_target_lap" descr="S12a_target_l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875588"/>
            <a:ext cx="4343400" cy="1975503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7" name="Screenshot S12b_diagram_hai_fact" descr="S12b_diagram_hai_f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2722860"/>
            <a:ext cx="3291840" cy="22809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Stat card"/>
          <p:cNvSpPr/>
          <p:nvPr/>
        </p:nvSpPr>
        <p:spPr>
          <a:xfrm>
            <a:off x="9436608" y="2560320"/>
            <a:ext cx="221284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9619488" y="2651760"/>
            <a:ext cx="1847088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Chưa nối · mọi ngành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9C0006"/>
                </a:solidFill>
                <a:latin typeface="Arial"/>
              </a:rPr>
              <a:t>3.665 tr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= target cả năm</a:t>
            </a:r>
          </a:p>
        </p:txBody>
      </p:sp>
      <p:sp>
        <p:nvSpPr>
          <p:cNvPr id="10" name="Stat card"/>
          <p:cNvSpPr/>
          <p:nvPr/>
        </p:nvSpPr>
        <p:spPr>
          <a:xfrm>
            <a:off x="9436608" y="3931920"/>
            <a:ext cx="221284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9619488" y="4023359"/>
            <a:ext cx="1847088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Đã nối · theo miền</a:t>
            </a:r>
          </a:p>
          <a:p>
            <a:pPr>
              <a:spcBef>
                <a:spcPts val="200"/>
              </a:spcBef>
            </a:pPr>
            <a:r>
              <a:rPr sz="1600" b="1">
                <a:solidFill>
                  <a:srgbClr val="2E7D32"/>
                </a:solidFill>
                <a:latin typeface="Arial"/>
              </a:rPr>
              <a:t>1.227 · 1.685 · 753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triệu (Bắc · Nam · Trung)</a:t>
            </a:r>
          </a:p>
        </p:txBody>
      </p:sp>
      <p:sp>
        <p:nvSpPr>
          <p:cNvPr id="12" name="TIP callout"/>
          <p:cNvSpPr/>
          <p:nvPr/>
        </p:nvSpPr>
        <p:spPr>
          <a:xfrm>
            <a:off x="1527048" y="5303520"/>
            <a:ext cx="10122408" cy="8686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636776" y="541324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4" name="TIP text"/>
          <p:cNvSpPr txBox="1"/>
          <p:nvPr/>
        </p:nvSpPr>
        <p:spPr>
          <a:xfrm>
            <a:off x="2212848" y="5394959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Cùng một con số ở MỌI dòng = trường ở Rows không lọc được bảng của trường ở Values. Kiểm tra Diagram View. Target không có cột sản phẩm: ngành hàng lặp lại là ĐÚNG.</a:t>
            </a:r>
          </a:p>
        </p:txBody>
      </p:sp>
      <p:sp>
        <p:nvSpPr>
          <p:cNvPr id="15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Demo/B5_Demo_Model.xlsx, sheet PV_Grain (Insert → PivotTable → From Data Model); Power Pivot → Diagram 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Nghỉ 10 phút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Trước khi quay lại: mở Diagram View, kiểm tra đủ 6 relationship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Calculated Column và Measure: tính từng dòng hay tính từng 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Calculated Column · RELATED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COLUMN VS MEASURE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982092"/>
              </p:ext>
            </p:extLst>
          </p:nvPr>
        </p:nvGraphicFramePr>
        <p:xfrm>
          <a:off x="1527048" y="1417320"/>
          <a:ext cx="10122408" cy="1508760"/>
        </p:xfrm>
        <a:graphic>
          <a:graphicData uri="http://schemas.openxmlformats.org/drawingml/2006/table">
            <a:tbl>
              <a:tblPr firstRow="1"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6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Calculated Column</a:t>
                      </a:r>
                      <a:r>
                        <a:rPr sz="1400" b="0">
                          <a:solidFill>
                            <a:srgbClr val="585858"/>
                          </a:solidFill>
                          <a:latin typeface="Arial"/>
                        </a:rPr>
                        <a:t> (Data View → Add Column)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Công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thức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tính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cho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TỪNG DÒNG,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kết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quả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LƯU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thành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một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cột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của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endParaRPr sz="14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RELATED(&lt;</a:t>
                      </a:r>
                      <a:r>
                        <a:rPr sz="1400" b="1" dirty="0" err="1">
                          <a:solidFill>
                            <a:srgbClr val="C00000"/>
                          </a:solidFill>
                          <a:latin typeface="Arial"/>
                        </a:rPr>
                        <a:t>cột</a:t>
                      </a:r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 ở </a:t>
                      </a:r>
                      <a:r>
                        <a:rPr sz="1400" b="1" dirty="0" err="1">
                          <a:solidFill>
                            <a:srgbClr val="C00000"/>
                          </a:solidFill>
                          <a:latin typeface="Arial"/>
                        </a:rPr>
                        <a:t>bảng</a:t>
                      </a:r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 lookup&gt;)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Lấy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giá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trị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từ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lookup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theo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400" b="1" dirty="0">
                          <a:solidFill>
                            <a:srgbClr val="1B2230"/>
                          </a:solidFill>
                          <a:latin typeface="Arial"/>
                        </a:rPr>
                        <a:t>relationship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, XLOOKUP </a:t>
                      </a:r>
                      <a:r>
                        <a:rPr sz="14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của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 Data Model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Formula bar"/>
          <p:cNvSpPr/>
          <p:nvPr/>
        </p:nvSpPr>
        <p:spPr>
          <a:xfrm>
            <a:off x="1527048" y="3063240"/>
            <a:ext cx="1012240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1618488" y="306324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i="1">
                <a:solidFill>
                  <a:srgbClr val="6B6F76"/>
                </a:solidFill>
                <a:latin typeface="Arial"/>
              </a:rPr>
              <a:t>fx</a:t>
            </a:r>
          </a:p>
        </p:txBody>
      </p:sp>
      <p:sp>
        <p:nvSpPr>
          <p:cNvPr id="7" name="Formula"/>
          <p:cNvSpPr txBox="1"/>
          <p:nvPr/>
        </p:nvSpPr>
        <p:spPr>
          <a:xfrm>
            <a:off x="2075688" y="3063240"/>
            <a:ext cx="9482328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= Sales[Quantity] * RELATED(Product[Unit_Cost])        → đổi tên cột: COGS</a:t>
            </a:r>
          </a:p>
        </p:txBody>
      </p:sp>
      <p:pic>
        <p:nvPicPr>
          <p:cNvPr id="8" name="Screenshot S15_cot_cogs" descr="S15_cot_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3672118"/>
            <a:ext cx="6309360" cy="1571164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9" name="TIP callout"/>
          <p:cNvSpPr/>
          <p:nvPr/>
        </p:nvSpPr>
        <p:spPr>
          <a:xfrm>
            <a:off x="8001000" y="3611880"/>
            <a:ext cx="3648456" cy="16916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8110727" y="372160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1" name="TIP text"/>
          <p:cNvSpPr txBox="1"/>
          <p:nvPr/>
        </p:nvSpPr>
        <p:spPr>
          <a:xfrm>
            <a:off x="8686800" y="3703320"/>
            <a:ext cx="2852928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Không có địa chỉ ô kiểu A1: công thức viết theo tên cột, áp cho cả cột. Đổi tên: double-click tiêu đề.</a:t>
            </a:r>
          </a:p>
        </p:txBody>
      </p:sp>
      <p:sp>
        <p:nvSpPr>
          <p:cNvPr id="12" name="PRO 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 TIP chip"/>
          <p:cNvSpPr/>
          <p:nvPr/>
        </p:nvSpPr>
        <p:spPr>
          <a:xfrm>
            <a:off x="1636776" y="550468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4" name="PRO TIP text"/>
          <p:cNvSpPr txBox="1"/>
          <p:nvPr/>
        </p:nvSpPr>
        <p:spPr>
          <a:xfrm>
            <a:off x="2734056" y="5486400"/>
            <a:ext cx="8805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RELATED chỉ chạy khi ĐÃ CÓ relationship, và đi từ fact sang lookup (phía "nhiều" sang phía "một").</a:t>
            </a:r>
          </a:p>
        </p:txBody>
      </p:sp>
      <p:sp>
        <p:nvSpPr>
          <p:cNvPr id="15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Demo/B5_Demo_DAX.xlsx, Power Pivot → Data View, bảng Sales, cột COGS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Vì sao KPI tỷ lệ phải là measure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COLUMN VS MEASURE</a:t>
            </a:r>
          </a:p>
        </p:txBody>
      </p:sp>
      <p:sp>
        <p:nvSpPr>
          <p:cNvPr id="4" name="Formula bar"/>
          <p:cNvSpPr/>
          <p:nvPr/>
        </p:nvSpPr>
        <p:spPr>
          <a:xfrm>
            <a:off x="1527048" y="1417320"/>
            <a:ext cx="1012240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1618488" y="141732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i="1">
                <a:solidFill>
                  <a:srgbClr val="6B6F76"/>
                </a:solidFill>
                <a:latin typeface="Arial"/>
              </a:rPr>
              <a:t>fx</a:t>
            </a:r>
          </a:p>
        </p:txBody>
      </p:sp>
      <p:sp>
        <p:nvSpPr>
          <p:cNvPr id="6" name="Formula"/>
          <p:cNvSpPr txBox="1"/>
          <p:nvPr/>
        </p:nvSpPr>
        <p:spPr>
          <a:xfrm>
            <a:off x="2075688" y="1417320"/>
            <a:ext cx="9482328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GM_Dong = DIVIDE(Sales[Revenue] - Sales[COGS], Sales[Revenue])      (calculated column, thêm tạm)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1527048" y="1965960"/>
          <a:ext cx="6309360" cy="2097024"/>
        </p:xfrm>
        <a:graphic>
          <a:graphicData uri="http://schemas.openxmlformats.org/drawingml/2006/table">
            <a:tbl>
              <a:tblPr firstRow="1"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Calculated Column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Tính theo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từng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dòng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(row context)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từng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ô Pivot (filter context)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Lưu trong mô hình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có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: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tốn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bộ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nhớ</a:t>
                      </a:r>
                      <a:endParaRPr sz="13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không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: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tính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khi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cần</a:t>
                      </a:r>
                      <a:endParaRPr sz="13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Dùng ở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Rows, Columns, Filters, Slicer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chỉ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ở Values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Hợp với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thuộc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tính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của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một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dòng</a:t>
                      </a:r>
                      <a:endParaRPr sz="13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KPI,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tổng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, TỶ LỆ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tat card"/>
          <p:cNvSpPr/>
          <p:nvPr/>
        </p:nvSpPr>
        <p:spPr>
          <a:xfrm>
            <a:off x="1527048" y="4206240"/>
            <a:ext cx="201168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709928" y="4297679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>
                <a:solidFill>
                  <a:srgbClr val="585858"/>
                </a:solidFill>
                <a:latin typeface="Arial"/>
              </a:rPr>
              <a:t>Average of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GM_Dong</a:t>
            </a:r>
            <a:endParaRPr sz="1400" b="0" dirty="0">
              <a:solidFill>
                <a:srgbClr val="585858"/>
              </a:solidFill>
              <a:latin typeface="Arial"/>
            </a:endParaRP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9C0006"/>
                </a:solidFill>
                <a:latin typeface="Arial"/>
              </a:rPr>
              <a:t>33,77%</a:t>
            </a:r>
          </a:p>
          <a:p>
            <a:pPr>
              <a:spcBef>
                <a:spcPts val="200"/>
              </a:spcBef>
            </a:pPr>
            <a:r>
              <a:rPr sz="1400" b="0" dirty="0" err="1">
                <a:solidFill>
                  <a:srgbClr val="1B2230"/>
                </a:solidFill>
                <a:latin typeface="Arial"/>
              </a:rPr>
              <a:t>trung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bình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của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tỷ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lệ</a:t>
            </a:r>
            <a:endParaRPr sz="1400" b="0" dirty="0">
              <a:solidFill>
                <a:srgbClr val="1B2230"/>
              </a:solidFill>
              <a:latin typeface="Arial"/>
            </a:endParaRPr>
          </a:p>
        </p:txBody>
      </p:sp>
      <p:sp>
        <p:nvSpPr>
          <p:cNvPr id="10" name="Stat card"/>
          <p:cNvSpPr/>
          <p:nvPr/>
        </p:nvSpPr>
        <p:spPr>
          <a:xfrm>
            <a:off x="3675887" y="4206240"/>
            <a:ext cx="201168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3858768" y="4297679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>
                <a:solidFill>
                  <a:srgbClr val="585858"/>
                </a:solidFill>
                <a:latin typeface="Arial"/>
              </a:rPr>
              <a:t>Sum of </a:t>
            </a:r>
            <a:r>
              <a:rPr sz="1400" b="0" dirty="0" err="1">
                <a:solidFill>
                  <a:srgbClr val="585858"/>
                </a:solidFill>
                <a:latin typeface="Arial"/>
              </a:rPr>
              <a:t>GM_Dong</a:t>
            </a:r>
            <a:endParaRPr sz="1400" b="0" dirty="0">
              <a:solidFill>
                <a:srgbClr val="585858"/>
              </a:solidFill>
              <a:latin typeface="Arial"/>
            </a:endParaRPr>
          </a:p>
          <a:p>
            <a:pPr>
              <a:spcBef>
                <a:spcPts val="200"/>
              </a:spcBef>
            </a:pPr>
            <a:r>
              <a:rPr sz="2200" b="1" dirty="0">
                <a:solidFill>
                  <a:srgbClr val="9C0006"/>
                </a:solidFill>
                <a:latin typeface="Arial"/>
              </a:rPr>
              <a:t>208.904%</a:t>
            </a:r>
          </a:p>
          <a:p>
            <a:pPr>
              <a:spcBef>
                <a:spcPts val="200"/>
              </a:spcBef>
            </a:pPr>
            <a:r>
              <a:rPr sz="1400" b="0" dirty="0" err="1">
                <a:solidFill>
                  <a:srgbClr val="1B2230"/>
                </a:solidFill>
                <a:latin typeface="Arial"/>
              </a:rPr>
              <a:t>vô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nghĩa</a:t>
            </a:r>
            <a:endParaRPr sz="1400" b="0" dirty="0">
              <a:solidFill>
                <a:srgbClr val="1B2230"/>
              </a:solidFill>
              <a:latin typeface="Arial"/>
            </a:endParaRPr>
          </a:p>
        </p:txBody>
      </p:sp>
      <p:sp>
        <p:nvSpPr>
          <p:cNvPr id="12" name="Stat card"/>
          <p:cNvSpPr/>
          <p:nvPr/>
        </p:nvSpPr>
        <p:spPr>
          <a:xfrm>
            <a:off x="5824728" y="4206240"/>
            <a:ext cx="201168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6007608" y="4297679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dirty="0" err="1">
                <a:solidFill>
                  <a:srgbClr val="585858"/>
                </a:solidFill>
                <a:latin typeface="Arial"/>
              </a:rPr>
              <a:t>Đúng</a:t>
            </a:r>
            <a:r>
              <a:rPr sz="1400" b="0" dirty="0">
                <a:solidFill>
                  <a:srgbClr val="585858"/>
                </a:solidFill>
                <a:latin typeface="Arial"/>
              </a:rPr>
              <a:t> (B2, ô E30)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2E7D32"/>
                </a:solidFill>
                <a:latin typeface="Arial"/>
              </a:rPr>
              <a:t>34,18%</a:t>
            </a:r>
          </a:p>
          <a:p>
            <a:pPr>
              <a:spcBef>
                <a:spcPts val="200"/>
              </a:spcBef>
            </a:pPr>
            <a:r>
              <a:rPr sz="1400" b="0" dirty="0" err="1">
                <a:solidFill>
                  <a:srgbClr val="1B2230"/>
                </a:solidFill>
                <a:latin typeface="Arial"/>
              </a:rPr>
              <a:t>tổng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LN ÷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tổng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DT</a:t>
            </a:r>
          </a:p>
        </p:txBody>
      </p:sp>
      <p:pic>
        <p:nvPicPr>
          <p:cNvPr id="14" name="Screenshot S16_gm_dong" descr="S16_gm_d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815764"/>
            <a:ext cx="3648456" cy="1820831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5" name="TIP callout"/>
          <p:cNvSpPr/>
          <p:nvPr/>
        </p:nvSpPr>
        <p:spPr>
          <a:xfrm>
            <a:off x="1527048" y="5513832"/>
            <a:ext cx="10122408" cy="67665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"/>
          <p:cNvSpPr txBox="1"/>
          <p:nvPr/>
        </p:nvSpPr>
        <p:spPr>
          <a:xfrm>
            <a:off x="1636776" y="562356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7" name="TIP text"/>
          <p:cNvSpPr txBox="1"/>
          <p:nvPr/>
        </p:nvSpPr>
        <p:spPr>
          <a:xfrm>
            <a:off x="2212848" y="5605272"/>
            <a:ext cx="93268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>
                <a:solidFill>
                  <a:srgbClr val="1B2230"/>
                </a:solidFill>
                <a:latin typeface="Arial"/>
              </a:rPr>
              <a:t>Pivot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đặt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ở sheet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PV_Loc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, ô A3 (Existing Worksheet). File demo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sẵn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sheet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này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; file B5_&lt;HoTen&gt;.xlsx: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bấm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dấu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+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cạnh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tab sheet,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đặt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tên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PV_Loc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18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 dirty="0" err="1">
                <a:solidFill>
                  <a:srgbClr val="6B6F76"/>
                </a:solidFill>
                <a:latin typeface="Arial"/>
              </a:rPr>
              <a:t>Ảnh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: Demo/B5_Demo_DAX.xlsx, sheet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PV_Loc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(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cột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GM_Dong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thêm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tạm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xóa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sau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demo).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Đối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B6F76"/>
                </a:solidFill>
                <a:latin typeface="Arial"/>
              </a:rPr>
              <a:t>chiếu</a:t>
            </a:r>
            <a:r>
              <a:rPr sz="1200" b="0" dirty="0">
                <a:solidFill>
                  <a:srgbClr val="6B6F76"/>
                </a:solidFill>
                <a:latin typeface="Arial"/>
              </a:rPr>
              <a:t>: sheet KPI_SUMIFS, ô E30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Implicit vs Explicit measure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COLUMN VS MEASURE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1828800"/>
        </p:xfrm>
        <a:graphic>
          <a:graphicData uri="http://schemas.openxmlformats.org/drawingml/2006/table">
            <a:tbl>
              <a:tblPr firstRow="1"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6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C00000"/>
                          </a:solidFill>
                          <a:latin typeface="Arial"/>
                        </a:rPr>
                        <a:t>Implicit 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Tick cột số vào Values → "Sum of …" tự tạo: không tên, không định dạng, KHÔNG dùng lại được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00000"/>
                          </a:solidFill>
                          <a:latin typeface="Arial"/>
                        </a:rPr>
                        <a:t>Power Pivot → Measures → New Measure…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Explicit measure: tự đặt tên, viết DAX, chọn định dạng; dùng lại trong measure khác và CUBEVALUE (B6)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C00000"/>
                          </a:solidFill>
                          <a:latin typeface="Arial"/>
                        </a:rPr>
                        <a:t>DIVIDE(</a:t>
                      </a:r>
                      <a:r>
                        <a:rPr sz="1300" b="1" dirty="0" err="1">
                          <a:solidFill>
                            <a:srgbClr val="C00000"/>
                          </a:solidFill>
                          <a:latin typeface="Arial"/>
                        </a:rPr>
                        <a:t>tử</a:t>
                      </a:r>
                      <a:r>
                        <a:rPr sz="1300" b="1" dirty="0">
                          <a:solidFill>
                            <a:srgbClr val="C00000"/>
                          </a:solidFill>
                          <a:latin typeface="Arial"/>
                        </a:rPr>
                        <a:t>, </a:t>
                      </a:r>
                      <a:r>
                        <a:rPr sz="1300" b="1" dirty="0" err="1">
                          <a:solidFill>
                            <a:srgbClr val="C00000"/>
                          </a:solidFill>
                          <a:latin typeface="Arial"/>
                        </a:rPr>
                        <a:t>mẫu</a:t>
                      </a:r>
                      <a:r>
                        <a:rPr sz="1300" b="1" dirty="0">
                          <a:solidFill>
                            <a:srgbClr val="C00000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Phép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chia an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toàn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: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mẫu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bằng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0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hoặc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trống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→ ô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trống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thay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vì</a:t>
                      </a:r>
                      <a:r>
                        <a:rPr sz="1300" b="0" dirty="0">
                          <a:solidFill>
                            <a:srgbClr val="1B2230"/>
                          </a:solidFill>
                          <a:latin typeface="Arial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B2230"/>
                          </a:solidFill>
                          <a:latin typeface="Arial"/>
                        </a:rPr>
                        <a:t>lỗi</a:t>
                      </a:r>
                      <a:endParaRPr sz="1300" b="0" dirty="0">
                        <a:solidFill>
                          <a:srgbClr val="1B2230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Measu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133977"/>
              </p:ext>
            </p:extLst>
          </p:nvPr>
        </p:nvGraphicFramePr>
        <p:xfrm>
          <a:off x="1527048" y="3337560"/>
          <a:ext cx="6309360" cy="153619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 (bảng Sales)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DAX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230"/>
                          </a:solidFill>
                          <a:latin typeface="Arial"/>
                        </a:rPr>
                        <a:t>Total Revenue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B2230"/>
                          </a:solidFill>
                          <a:latin typeface="Arial"/>
                        </a:rPr>
                        <a:t>SUM(Sales[Revenue])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230"/>
                          </a:solidFill>
                          <a:latin typeface="Arial"/>
                        </a:rPr>
                        <a:t>Total COGS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230"/>
                          </a:solidFill>
                          <a:latin typeface="Arial"/>
                        </a:rPr>
                        <a:t>SUM(Sales[COGS])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230"/>
                          </a:solidFill>
                          <a:latin typeface="Arial"/>
                        </a:rPr>
                        <a:t>Gross Margin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B2230"/>
                          </a:solidFill>
                          <a:latin typeface="Arial"/>
                        </a:rPr>
                        <a:t>DIVIDE([Total Revenue] - [Total COGS], [Total Revenue])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Screenshot S17_measure_dialog" descr="S17_measure_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030" y="3337560"/>
            <a:ext cx="2260396" cy="192024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9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Cột luôn kèm tên bảng: Sales[Revenue]. Measure ghi trần: [Total Revenue]. Quý 1/2025: 941.454.000 · 619.663.000 · 34,2%.</a:t>
            </a:r>
          </a:p>
        </p:txBody>
      </p:sp>
      <p:sp>
        <p:nvSpPr>
          <p:cNvPr id="10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Demo/B5_Demo_DAX.xlsx, Power Pivot → Measures → New Measure (Gross Margin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Filter context: ô này đang bị lọc bởi những gì?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 context: Chuỗi C lần 3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4 · FILTER CONTEXT</a:t>
            </a:r>
          </a:p>
        </p:txBody>
      </p:sp>
      <p:sp>
        <p:nvSpPr>
          <p:cNvPr id="4" name="Spine cell"/>
          <p:cNvSpPr/>
          <p:nvPr/>
        </p:nvSpPr>
        <p:spPr>
          <a:xfrm>
            <a:off x="1527048" y="1554480"/>
            <a:ext cx="2103120" cy="109728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1527048" y="155448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90.210.000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E3ECF7"/>
                </a:solidFill>
                <a:latin typeface="Arial"/>
              </a:rPr>
              <a:t>một ô Pivot</a:t>
            </a:r>
          </a:p>
        </p:txBody>
      </p:sp>
      <p:sp>
        <p:nvSpPr>
          <p:cNvPr id="6" name="Filter 1"/>
          <p:cNvSpPr/>
          <p:nvPr/>
        </p:nvSpPr>
        <p:spPr>
          <a:xfrm>
            <a:off x="4041648" y="1417320"/>
            <a:ext cx="237744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dirty="0">
                <a:solidFill>
                  <a:srgbClr val="203864"/>
                </a:solidFill>
                <a:latin typeface="Arial"/>
              </a:rPr>
              <a:t>Store[Region] = Bắc</a:t>
            </a:r>
          </a:p>
        </p:txBody>
      </p:sp>
      <p:sp>
        <p:nvSpPr>
          <p:cNvPr id="7" name="Filter 2"/>
          <p:cNvSpPr/>
          <p:nvPr/>
        </p:nvSpPr>
        <p:spPr>
          <a:xfrm>
            <a:off x="4041648" y="1792224"/>
            <a:ext cx="237744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dirty="0">
                <a:solidFill>
                  <a:srgbClr val="203864"/>
                </a:solidFill>
                <a:latin typeface="Arial"/>
              </a:rPr>
              <a:t>Calendar[Nam] = 2025</a:t>
            </a:r>
          </a:p>
        </p:txBody>
      </p:sp>
      <p:sp>
        <p:nvSpPr>
          <p:cNvPr id="8" name="Filter 3"/>
          <p:cNvSpPr/>
          <p:nvPr/>
        </p:nvSpPr>
        <p:spPr>
          <a:xfrm>
            <a:off x="4041648" y="2167128"/>
            <a:ext cx="237744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dirty="0">
                <a:solidFill>
                  <a:srgbClr val="203864"/>
                </a:solidFill>
                <a:latin typeface="Arial"/>
              </a:rPr>
              <a:t>Calendar[Quy] = 1</a:t>
            </a:r>
          </a:p>
        </p:txBody>
      </p:sp>
      <p:sp>
        <p:nvSpPr>
          <p:cNvPr id="9" name="Filter 4"/>
          <p:cNvSpPr/>
          <p:nvPr/>
        </p:nvSpPr>
        <p:spPr>
          <a:xfrm>
            <a:off x="4041648" y="2542032"/>
            <a:ext cx="237744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dirty="0">
                <a:solidFill>
                  <a:srgbClr val="203864"/>
                </a:solidFill>
                <a:latin typeface="Arial"/>
              </a:rPr>
              <a:t>Calendar[Thang] = 3</a:t>
            </a:r>
          </a:p>
        </p:txBody>
      </p:sp>
      <p:sp>
        <p:nvSpPr>
          <p:cNvPr id="10" name="Spine sum"/>
          <p:cNvSpPr/>
          <p:nvPr/>
        </p:nvSpPr>
        <p:spPr>
          <a:xfrm>
            <a:off x="6830568" y="1691640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6830568" y="16916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SUM(Sales[Revenue])</a:t>
            </a:r>
          </a:p>
        </p:txBody>
      </p:sp>
      <p:cxnSp>
        <p:nvCxnSpPr>
          <p:cNvPr id="12" name="Arrow 1"/>
          <p:cNvCxnSpPr/>
          <p:nvPr/>
        </p:nvCxnSpPr>
        <p:spPr>
          <a:xfrm flipH="1">
            <a:off x="3675887" y="2103120"/>
            <a:ext cx="320041" cy="0"/>
          </a:xfrm>
          <a:prstGeom prst="line">
            <a:avLst/>
          </a:prstGeom>
          <a:ln w="28575">
            <a:solidFill>
              <a:srgbClr val="3398D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Arrow 2"/>
          <p:cNvCxnSpPr/>
          <p:nvPr/>
        </p:nvCxnSpPr>
        <p:spPr>
          <a:xfrm flipH="1">
            <a:off x="6464808" y="2103120"/>
            <a:ext cx="320040" cy="0"/>
          </a:xfrm>
          <a:prstGeom prst="line">
            <a:avLst/>
          </a:prstGeom>
          <a:ln w="28575">
            <a:solidFill>
              <a:srgbClr val="3398D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hree times"/>
          <p:cNvGraphicFramePr>
            <a:graphicFrameLocks noGrp="1"/>
          </p:cNvGraphicFramePr>
          <p:nvPr/>
        </p:nvGraphicFramePr>
        <p:xfrm>
          <a:off x="1527048" y="2926080"/>
          <a:ext cx="4663440" cy="1536192"/>
        </p:xfrm>
        <a:graphic>
          <a:graphicData uri="http://schemas.openxmlformats.org/drawingml/2006/table">
            <a:tbl>
              <a:tblPr firstRow="1"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Buổi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Cùng một ý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B2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tiêu chí SUMIFS (KPI_SUMIFS!D6)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B3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tọa độ ô Pivot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230"/>
                          </a:solidFill>
                          <a:latin typeface="Arial"/>
                        </a:rPr>
                        <a:t>B5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filter context của 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"/>
          <p:cNvSpPr txBox="1"/>
          <p:nvPr/>
        </p:nvSpPr>
        <p:spPr>
          <a:xfrm>
            <a:off x="1527048" y="4617720"/>
            <a:ext cx="4663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dirty="0">
                <a:solidFill>
                  <a:srgbClr val="203864"/>
                </a:solidFill>
                <a:latin typeface="Arial"/>
              </a:rPr>
              <a:t>1.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Đọc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tọa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độ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ô: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hàng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, Filters, Slicer</a:t>
            </a:r>
          </a:p>
          <a:p>
            <a:pPr>
              <a:spcBef>
                <a:spcPts val="400"/>
              </a:spcBef>
            </a:pPr>
            <a:r>
              <a:rPr sz="1400" b="1" dirty="0">
                <a:solidFill>
                  <a:srgbClr val="203864"/>
                </a:solidFill>
                <a:latin typeface="Arial"/>
              </a:rPr>
              <a:t>2.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Bộ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lọc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chảy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theo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relationship, lookup → Sales</a:t>
            </a:r>
          </a:p>
          <a:p>
            <a:pPr>
              <a:spcBef>
                <a:spcPts val="400"/>
              </a:spcBef>
            </a:pPr>
            <a:r>
              <a:rPr sz="1400" b="1" dirty="0">
                <a:solidFill>
                  <a:srgbClr val="203864"/>
                </a:solidFill>
                <a:latin typeface="Arial"/>
              </a:rPr>
              <a:t>3.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Tính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công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thức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trên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các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còn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lại</a:t>
            </a:r>
            <a:endParaRPr sz="1400" b="0" dirty="0">
              <a:solidFill>
                <a:srgbClr val="1B2230"/>
              </a:solidFill>
              <a:latin typeface="Arial"/>
            </a:endParaRPr>
          </a:p>
        </p:txBody>
      </p:sp>
      <p:pic>
        <p:nvPicPr>
          <p:cNvPr id="16" name="Screenshot S19_pivot_mien_thang" descr="S19_pivot_mien_th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451489"/>
            <a:ext cx="5276088" cy="2103861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7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PV_Loc (trên lớp: Demo/B5_Demo_DAX.xlsx). Đối chiếu: sheet KPI_SUMIFS, ô D6 và E9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Lọc bằng cột của lookup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4 · FILTER CONTEXT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C00000"/>
                </a:solidFill>
                <a:latin typeface="Arial"/>
              </a:rPr>
              <a:t>Hide from Client Tools  (Power Pivot: chuột phải tiêu đề cột)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585858"/>
                </a:solidFill>
                <a:latin typeface="Arial"/>
              </a:rPr>
              <a:t>Ẩn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khỏi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danh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sách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trường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của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Pivot,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để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người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dùng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kéo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nhầm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của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bảng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fact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vào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Rows / Columns.</a:t>
            </a:r>
          </a:p>
        </p:txBody>
      </p:sp>
      <p:pic>
        <p:nvPicPr>
          <p:cNvPr id="6" name="Screenshot S20_lookup_vs_fact" descr="S20_lookup_vs_f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727" y="2468880"/>
            <a:ext cx="5534002" cy="260604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Rule card"/>
          <p:cNvSpPr/>
          <p:nvPr/>
        </p:nvSpPr>
        <p:spPr>
          <a:xfrm>
            <a:off x="8001000" y="2468880"/>
            <a:ext cx="3648456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8165592" y="2578608"/>
            <a:ext cx="3319272" cy="238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203864"/>
                </a:solidFill>
                <a:latin typeface="Arial"/>
              </a:rPr>
              <a:t>Quy tắc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Rows, Columns, Filters, Slicer: lấy cột của LOOKUP (Calendar, Store, Product, Customer).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1B2230"/>
                </a:solidFill>
                <a:latin typeface="Arial"/>
              </a:rPr>
              <a:t>Sales[Thang] </a:t>
            </a:r>
            <a:r>
              <a:rPr sz="1400" b="0">
                <a:solidFill>
                  <a:srgbClr val="1B2230"/>
                </a:solidFill>
                <a:latin typeface="Arial"/>
              </a:rPr>
              <a:t>chỉ lọc được Sales, không chảy sang Target.</a:t>
            </a:r>
          </a:p>
        </p:txBody>
      </p:sp>
      <p:sp>
        <p:nvSpPr>
          <p:cNvPr id="9" name="TIP callout"/>
          <p:cNvSpPr/>
          <p:nvPr/>
        </p:nvSpPr>
        <p:spPr>
          <a:xfrm>
            <a:off x="1527048" y="5212080"/>
            <a:ext cx="10122408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1636776" y="532180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1" name="TIP text"/>
          <p:cNvSpPr txBox="1"/>
          <p:nvPr/>
        </p:nvSpPr>
        <p:spPr>
          <a:xfrm>
            <a:off x="2212848" y="530352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1B2230"/>
                </a:solidFill>
                <a:latin typeface="Arial"/>
              </a:rPr>
              <a:t>Ẩn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: Sales[Nam], [Thang], 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Order_Date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], 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Store_Code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], 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Product_Code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], 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Customer_ID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 · Target[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Store_Code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], [Thang], [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Ngay_Dau_Thang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].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ẩn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chuyển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màu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xám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trong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Data View.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Demo/B5_Demo_DAX.xlsx, sheet PV_Lookup_vs_Fact (tạo trong demo)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CALCULATE và ALL: đổi bộ lọc có chủ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CALCULATE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CALCULATE &amp; ALL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C00000"/>
                </a:solidFill>
                <a:latin typeface="Arial"/>
              </a:rPr>
              <a:t>CALCULATE(&lt;biểu thức&gt;, &lt;bộ lọc 1&gt;, &lt;bộ lọc 2&gt;, …)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585858"/>
                </a:solidFill>
                <a:latin typeface="Arial"/>
              </a:rPr>
              <a:t>Tính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biểu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thức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dưới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mình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đặt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;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trong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CALCULATE GHI ĐÈ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cùng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của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ô Pivot,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các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khác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giữ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nguyên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.</a:t>
            </a:r>
          </a:p>
        </p:txBody>
      </p:sp>
      <p:sp>
        <p:nvSpPr>
          <p:cNvPr id="6" name="Formula bar"/>
          <p:cNvSpPr/>
          <p:nvPr/>
        </p:nvSpPr>
        <p:spPr>
          <a:xfrm>
            <a:off x="1527048" y="2560320"/>
            <a:ext cx="1012240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1618488" y="256032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 i="1">
                <a:solidFill>
                  <a:srgbClr val="6B6F76"/>
                </a:solidFill>
                <a:latin typeface="Arial"/>
              </a:rPr>
              <a:t>fx</a:t>
            </a:r>
          </a:p>
        </p:txBody>
      </p:sp>
      <p:sp>
        <p:nvSpPr>
          <p:cNvPr id="8" name="Formula"/>
          <p:cNvSpPr txBox="1"/>
          <p:nvPr/>
        </p:nvSpPr>
        <p:spPr>
          <a:xfrm>
            <a:off x="2075688" y="2560320"/>
            <a:ext cx="9482328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 dirty="0">
                <a:solidFill>
                  <a:srgbClr val="1B2230"/>
                </a:solidFill>
                <a:latin typeface="Arial"/>
              </a:rPr>
              <a:t>Revenue Mien Nam := CALCULATE([Total Revenue], Store[Region] = "Nam")</a:t>
            </a:r>
          </a:p>
        </p:txBody>
      </p:sp>
      <p:pic>
        <p:nvPicPr>
          <p:cNvPr id="9" name="Screenshot S22_calculate" descr="S22_calcu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1131" y="3154680"/>
            <a:ext cx="4781193" cy="21031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" name="Stat card"/>
          <p:cNvSpPr/>
          <p:nvPr/>
        </p:nvSpPr>
        <p:spPr>
          <a:xfrm>
            <a:off x="8001000" y="3154680"/>
            <a:ext cx="364845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8183879" y="3246120"/>
            <a:ext cx="3282696" cy="19202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Revenue Mien Nam ở dòng Bắc, Trung, Nam</a:t>
            </a:r>
          </a:p>
          <a:p>
            <a:pPr>
              <a:spcBef>
                <a:spcPts val="200"/>
              </a:spcBef>
            </a:pPr>
            <a:r>
              <a:rPr sz="2600" b="1">
                <a:solidFill>
                  <a:srgbClr val="203864"/>
                </a:solidFill>
                <a:latin typeface="Arial"/>
              </a:rPr>
              <a:t>427.663.000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Region bị thay bằng Nam; bộ lọc Quý 1 vẫn giữ</a:t>
            </a:r>
          </a:p>
        </p:txBody>
      </p:sp>
      <p:sp>
        <p:nvSpPr>
          <p:cNvPr id="12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4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Demo xong, xóa measure này: Power Pivot → Measures → Manage Measures → Delete.</a:t>
            </a:r>
          </a:p>
        </p:txBody>
      </p:sp>
      <p:sp>
        <p:nvSpPr>
          <p:cNvPr id="15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PV_Loc (trên lớp: Demo/B5_Demo_DAX.xlsx)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ALL → % of Total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CALCULATE &amp; ALL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C00000"/>
                </a:solidFill>
                <a:latin typeface="Arial"/>
              </a:rPr>
              <a:t>ALL(&lt;bảng hoặc cột&gt;)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585858"/>
                </a:solidFill>
                <a:latin typeface="Arial"/>
              </a:rPr>
              <a:t>Bỏ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mọi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bộ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trên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bảng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(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hoặc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cột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)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đó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: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dùng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trong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CALCULATE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để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lấy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"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mẫu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số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585858"/>
                </a:solidFill>
                <a:latin typeface="Arial"/>
              </a:rPr>
              <a:t>chung</a:t>
            </a:r>
            <a:r>
              <a:rPr sz="1600" b="0" dirty="0">
                <a:solidFill>
                  <a:srgbClr val="585858"/>
                </a:solidFill>
                <a:latin typeface="Arial"/>
              </a:rPr>
              <a:t>".</a:t>
            </a:r>
          </a:p>
        </p:txBody>
      </p:sp>
      <p:graphicFrame>
        <p:nvGraphicFramePr>
          <p:cNvPr id="6" name="Measures"/>
          <p:cNvGraphicFramePr>
            <a:graphicFrameLocks noGrp="1"/>
          </p:cNvGraphicFramePr>
          <p:nvPr/>
        </p:nvGraphicFramePr>
        <p:xfrm>
          <a:off x="1527048" y="2423160"/>
          <a:ext cx="10122408" cy="1234440"/>
        </p:xfrm>
        <a:graphic>
          <a:graphicData uri="http://schemas.openxmlformats.org/drawingml/2006/table">
            <a:tbl>
              <a:tblPr firstRow="1"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9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DAX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230"/>
                          </a:solidFill>
                          <a:latin typeface="Arial"/>
                        </a:rPr>
                        <a:t>Revenue All Stores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CALCULATE([Total Revenue], ALL(Store))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B2230"/>
                          </a:solidFill>
                          <a:latin typeface="Arial"/>
                        </a:rPr>
                        <a:t>% Revenue Share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DIVIDE([Total Revenue], [Revenue All Stores])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Screenshot S23_pct_of_total" descr="S23_pct_of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3749039"/>
            <a:ext cx="3429986" cy="15087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Share Bắc"/>
          <p:cNvSpPr/>
          <p:nvPr/>
        </p:nvSpPr>
        <p:spPr>
          <a:xfrm>
            <a:off x="8001000" y="3749039"/>
            <a:ext cx="117043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8183879" y="3840479"/>
            <a:ext cx="804672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Bắc</a:t>
            </a:r>
          </a:p>
          <a:p>
            <a:pPr>
              <a:spcBef>
                <a:spcPts val="200"/>
              </a:spcBef>
            </a:pPr>
            <a:r>
              <a:rPr sz="1800" b="1">
                <a:solidFill>
                  <a:srgbClr val="203864"/>
                </a:solidFill>
                <a:latin typeface="Arial"/>
              </a:rPr>
              <a:t>34,4%</a:t>
            </a:r>
          </a:p>
        </p:txBody>
      </p:sp>
      <p:sp>
        <p:nvSpPr>
          <p:cNvPr id="10" name="Share Nam"/>
          <p:cNvSpPr/>
          <p:nvPr/>
        </p:nvSpPr>
        <p:spPr>
          <a:xfrm>
            <a:off x="9244584" y="3749039"/>
            <a:ext cx="117043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9427463" y="3840479"/>
            <a:ext cx="804672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Nam</a:t>
            </a:r>
          </a:p>
          <a:p>
            <a:pPr>
              <a:spcBef>
                <a:spcPts val="200"/>
              </a:spcBef>
            </a:pPr>
            <a:r>
              <a:rPr sz="1800" b="1">
                <a:solidFill>
                  <a:srgbClr val="203864"/>
                </a:solidFill>
                <a:latin typeface="Arial"/>
              </a:rPr>
              <a:t>45,4%</a:t>
            </a:r>
          </a:p>
        </p:txBody>
      </p:sp>
      <p:sp>
        <p:nvSpPr>
          <p:cNvPr id="12" name="Share Trung"/>
          <p:cNvSpPr/>
          <p:nvPr/>
        </p:nvSpPr>
        <p:spPr>
          <a:xfrm>
            <a:off x="10488168" y="3749039"/>
            <a:ext cx="117043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0671048" y="3840479"/>
            <a:ext cx="804672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Trung</a:t>
            </a:r>
          </a:p>
          <a:p>
            <a:pPr>
              <a:spcBef>
                <a:spcPts val="200"/>
              </a:spcBef>
            </a:pPr>
            <a:r>
              <a:rPr sz="1800" b="1">
                <a:solidFill>
                  <a:srgbClr val="203864"/>
                </a:solidFill>
                <a:latin typeface="Arial"/>
              </a:rPr>
              <a:t>20,2%</a:t>
            </a:r>
          </a:p>
        </p:txBody>
      </p:sp>
      <p:sp>
        <p:nvSpPr>
          <p:cNvPr id="14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6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Đúng Pct_Share của Buổi 1. B1 khóa mẫu số bằng $B$5; DAX khóa bằng ALL. ALL(Store) bỏ lọc miền, cửa hàng, loại cửa hàng; bộ lọc Calendar vẫn giữ. Tỷ trọng theo ngành: ALL(Product).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PV_Loc (trên lớp: Demo/B5_Demo_DAX.xlsx)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 cho Target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CALCULATE &amp; ALL</a:t>
            </a:r>
          </a:p>
        </p:txBody>
      </p:sp>
      <p:graphicFrame>
        <p:nvGraphicFramePr>
          <p:cNvPr id="4" name="Measures"/>
          <p:cNvGraphicFramePr>
            <a:graphicFrameLocks noGrp="1"/>
          </p:cNvGraphicFramePr>
          <p:nvPr/>
        </p:nvGraphicFramePr>
        <p:xfrm>
          <a:off x="1527048" y="1417320"/>
          <a:ext cx="10122408" cy="1645920"/>
        </p:xfrm>
        <a:graphic>
          <a:graphicData uri="http://schemas.openxmlformats.org/drawingml/2006/table">
            <a:tbl>
              <a:tblPr firstRow="1"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9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DAX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B2230"/>
                          </a:solidFill>
                          <a:latin typeface="Arial"/>
                        </a:rPr>
                        <a:t>Total Target  (</a:t>
                      </a:r>
                      <a:r>
                        <a:rPr sz="1400" b="1" dirty="0" err="1">
                          <a:solidFill>
                            <a:srgbClr val="1B2230"/>
                          </a:solidFill>
                          <a:latin typeface="Arial"/>
                        </a:rPr>
                        <a:t>bảng</a:t>
                      </a:r>
                      <a:r>
                        <a:rPr sz="1400" b="1" dirty="0">
                          <a:solidFill>
                            <a:srgbClr val="1B2230"/>
                          </a:solidFill>
                          <a:latin typeface="Arial"/>
                        </a:rPr>
                        <a:t> Target)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SUM(Target[Target])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B2230"/>
                          </a:solidFill>
                          <a:latin typeface="Arial"/>
                        </a:rPr>
                        <a:t>Revenue vs Target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DIVIDE([Total Revenue], [Total Target])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230"/>
                          </a:solidFill>
                          <a:latin typeface="Arial"/>
                        </a:rPr>
                        <a:t>Variance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C00000"/>
                          </a:solidFill>
                          <a:latin typeface="Arial"/>
                        </a:rPr>
                        <a:t>IF(ISBLANK([Total Revenue]), BLANK(), </a:t>
                      </a:r>
                      <a:r>
                        <a:rPr sz="1400" b="0" dirty="0">
                          <a:solidFill>
                            <a:srgbClr val="1B2230"/>
                          </a:solidFill>
                          <a:latin typeface="Arial"/>
                        </a:rPr>
                        <a:t>[Total Revenue] - [Total Target])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Screenshot S24_target_thang" descr="S24_target_th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426" y="3200400"/>
            <a:ext cx="3900604" cy="205740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6" name="Month T1"/>
          <p:cNvSpPr/>
          <p:nvPr/>
        </p:nvSpPr>
        <p:spPr>
          <a:xfrm>
            <a:off x="8001000" y="3200400"/>
            <a:ext cx="1792224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8183879" y="3291840"/>
            <a:ext cx="1426464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T1/2025</a:t>
            </a:r>
          </a:p>
          <a:p>
            <a:pPr>
              <a:spcBef>
                <a:spcPts val="200"/>
              </a:spcBef>
            </a:pPr>
            <a:r>
              <a:rPr sz="2000" b="1">
                <a:solidFill>
                  <a:srgbClr val="2E7D32"/>
                </a:solidFill>
                <a:latin typeface="Arial"/>
              </a:rPr>
              <a:t>120,6%</a:t>
            </a:r>
          </a:p>
        </p:txBody>
      </p:sp>
      <p:sp>
        <p:nvSpPr>
          <p:cNvPr id="8" name="Month T2"/>
          <p:cNvSpPr/>
          <p:nvPr/>
        </p:nvSpPr>
        <p:spPr>
          <a:xfrm>
            <a:off x="9857232" y="3200400"/>
            <a:ext cx="1792224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0040111" y="3291840"/>
            <a:ext cx="1426464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T2/2025</a:t>
            </a:r>
          </a:p>
          <a:p>
            <a:pPr>
              <a:spcBef>
                <a:spcPts val="200"/>
              </a:spcBef>
            </a:pPr>
            <a:r>
              <a:rPr sz="2000" b="1">
                <a:solidFill>
                  <a:srgbClr val="9C0006"/>
                </a:solidFill>
                <a:latin typeface="Arial"/>
              </a:rPr>
              <a:t>82,5%</a:t>
            </a:r>
          </a:p>
        </p:txBody>
      </p:sp>
      <p:sp>
        <p:nvSpPr>
          <p:cNvPr id="10" name="Month T3"/>
          <p:cNvSpPr/>
          <p:nvPr/>
        </p:nvSpPr>
        <p:spPr>
          <a:xfrm>
            <a:off x="8001000" y="4251960"/>
            <a:ext cx="1792224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8183879" y="4343400"/>
            <a:ext cx="1426464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T3/2025</a:t>
            </a:r>
          </a:p>
          <a:p>
            <a:pPr>
              <a:spcBef>
                <a:spcPts val="200"/>
              </a:spcBef>
            </a:pPr>
            <a:r>
              <a:rPr sz="2000" b="1">
                <a:solidFill>
                  <a:srgbClr val="9C0006"/>
                </a:solidFill>
                <a:latin typeface="Arial"/>
              </a:rPr>
              <a:t>94,6%</a:t>
            </a:r>
          </a:p>
        </p:txBody>
      </p:sp>
      <p:sp>
        <p:nvSpPr>
          <p:cNvPr id="12" name="Month T4"/>
          <p:cNvSpPr/>
          <p:nvPr/>
        </p:nvSpPr>
        <p:spPr>
          <a:xfrm>
            <a:off x="9857232" y="4251960"/>
            <a:ext cx="1792224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10040111" y="4343400"/>
            <a:ext cx="1426464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T4/2025</a:t>
            </a:r>
          </a:p>
          <a:p>
            <a:pPr>
              <a:spcBef>
                <a:spcPts val="200"/>
              </a:spcBef>
            </a:pPr>
            <a:r>
              <a:rPr sz="2000" b="1">
                <a:solidFill>
                  <a:srgbClr val="2E7D32"/>
                </a:solidFill>
                <a:latin typeface="Arial"/>
              </a:rPr>
              <a:t>103,1%</a:t>
            </a:r>
          </a:p>
        </p:txBody>
      </p:sp>
      <p:sp>
        <p:nvSpPr>
          <p:cNvPr id="14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6" name="TIP text"/>
          <p:cNvSpPr txBox="1"/>
          <p:nvPr/>
        </p:nvSpPr>
        <p:spPr>
          <a:xfrm>
            <a:off x="2212848" y="5486400"/>
            <a:ext cx="9326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IF(ISBLANK…): Variance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tháng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5 = −288.000.000, "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hụt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288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triệu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"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chỉ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vì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chưa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có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dữ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liệu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 T1 + T2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gộp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: 103,2% (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lệch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mùa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Tết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).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Dòng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Grand Total 33,8% = 4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tháng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÷ target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cả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năm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: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đọc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PV_Target (trên lớp: Demo/B5_Demo_DAX.xlsx)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không lọc theo ngành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CALCULATE &amp; ALL</a:t>
            </a:r>
          </a:p>
        </p:txBody>
      </p:sp>
      <p:sp>
        <p:nvSpPr>
          <p:cNvPr id="4" name="Card category"/>
          <p:cNvSpPr/>
          <p:nvPr/>
        </p:nvSpPr>
        <p:spPr>
          <a:xfrm>
            <a:off x="1527048" y="1463040"/>
            <a:ext cx="42062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1691639" y="1572768"/>
            <a:ext cx="3877055" cy="3575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 dirty="0">
                <a:solidFill>
                  <a:srgbClr val="9C0006"/>
                </a:solidFill>
                <a:latin typeface="Arial"/>
              </a:rPr>
              <a:t>Rows = Product[Category] · Quý 1</a:t>
            </a:r>
          </a:p>
          <a:p>
            <a:pPr>
              <a:spcBef>
                <a:spcPts val="500"/>
              </a:spcBef>
            </a:pPr>
            <a:r>
              <a:rPr sz="1400" b="0" dirty="0">
                <a:solidFill>
                  <a:srgbClr val="1B2230"/>
                </a:solidFill>
                <a:latin typeface="Arial"/>
              </a:rPr>
              <a:t>Bánh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kẹo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36,2% · Gia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dụng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21,7% ·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Thực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phẩm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khô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18,0% ·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Đồ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uống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11,8% ·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Chăm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sóc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cá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nhân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11,2% ·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Sữa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1,8%</a:t>
            </a:r>
          </a:p>
          <a:p>
            <a:pPr>
              <a:spcBef>
                <a:spcPts val="500"/>
              </a:spcBef>
            </a:pPr>
            <a:r>
              <a:rPr sz="1400" b="1" dirty="0">
                <a:solidFill>
                  <a:srgbClr val="9C0006"/>
                </a:solidFill>
                <a:latin typeface="Arial"/>
              </a:rPr>
              <a:t>= </a:t>
            </a:r>
            <a:r>
              <a:rPr sz="1400" b="1" dirty="0" err="1">
                <a:solidFill>
                  <a:srgbClr val="9C0006"/>
                </a:solidFill>
                <a:latin typeface="Arial"/>
              </a:rPr>
              <a:t>doanh</a:t>
            </a:r>
            <a:r>
              <a:rPr sz="1400" b="1" dirty="0">
                <a:solidFill>
                  <a:srgbClr val="9C0006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9C0006"/>
                </a:solidFill>
                <a:latin typeface="Arial"/>
              </a:rPr>
              <a:t>thu</a:t>
            </a:r>
            <a:r>
              <a:rPr sz="1400" b="1" dirty="0">
                <a:solidFill>
                  <a:srgbClr val="9C0006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9C0006"/>
                </a:solidFill>
                <a:latin typeface="Arial"/>
              </a:rPr>
              <a:t>ngành</a:t>
            </a:r>
            <a:r>
              <a:rPr sz="1400" b="1" dirty="0">
                <a:solidFill>
                  <a:srgbClr val="9C0006"/>
                </a:solidFill>
                <a:latin typeface="Arial"/>
              </a:rPr>
              <a:t> ÷ target CẢ CHUỖI (936.000.000) → </a:t>
            </a:r>
            <a:r>
              <a:rPr sz="1400" b="1" dirty="0" err="1">
                <a:solidFill>
                  <a:srgbClr val="9C0006"/>
                </a:solidFill>
                <a:latin typeface="Arial"/>
              </a:rPr>
              <a:t>vô</a:t>
            </a:r>
            <a:r>
              <a:rPr sz="1400" b="1" dirty="0">
                <a:solidFill>
                  <a:srgbClr val="9C0006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9C0006"/>
                </a:solidFill>
                <a:latin typeface="Arial"/>
              </a:rPr>
              <a:t>nghĩa</a:t>
            </a:r>
            <a:endParaRPr sz="1400" b="1" dirty="0">
              <a:solidFill>
                <a:srgbClr val="9C0006"/>
              </a:solidFill>
              <a:latin typeface="Arial"/>
            </a:endParaRPr>
          </a:p>
          <a:p>
            <a:pPr>
              <a:spcBef>
                <a:spcPts val="500"/>
              </a:spcBef>
            </a:pPr>
            <a:r>
              <a:rPr sz="1400" b="0" dirty="0">
                <a:solidFill>
                  <a:srgbClr val="1B2230"/>
                </a:solidFill>
                <a:latin typeface="Arial"/>
              </a:rPr>
              <a:t>Measure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báo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lỗi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người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dùng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phải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biết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giới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B2230"/>
                </a:solidFill>
                <a:latin typeface="Arial"/>
              </a:rPr>
              <a:t>hạn</a:t>
            </a:r>
            <a:r>
              <a:rPr sz="1400" b="0" dirty="0">
                <a:solidFill>
                  <a:srgbClr val="1B2230"/>
                </a:solidFill>
                <a:latin typeface="Arial"/>
              </a:rPr>
              <a:t>.</a:t>
            </a:r>
          </a:p>
        </p:txBody>
      </p:sp>
      <p:pic>
        <p:nvPicPr>
          <p:cNvPr id="6" name="Screenshot S25_store_thang" descr="S25_store_th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2355670"/>
            <a:ext cx="3611880" cy="200950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Stat card"/>
          <p:cNvSpPr/>
          <p:nvPr/>
        </p:nvSpPr>
        <p:spPr>
          <a:xfrm>
            <a:off x="9665208" y="1463040"/>
            <a:ext cx="198424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9848088" y="1554480"/>
            <a:ext cx="1618488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ST07 · T3/2025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9C0006"/>
                </a:solidFill>
                <a:latin typeface="Arial"/>
              </a:rPr>
              <a:t>44,9%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8.539.000 / 19.000.000</a:t>
            </a:r>
          </a:p>
        </p:txBody>
      </p:sp>
      <p:sp>
        <p:nvSpPr>
          <p:cNvPr id="9" name="Stat card"/>
          <p:cNvSpPr/>
          <p:nvPr/>
        </p:nvSpPr>
        <p:spPr>
          <a:xfrm>
            <a:off x="9665208" y="3429000"/>
            <a:ext cx="198424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9848088" y="3520440"/>
            <a:ext cx="1618488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ST07 · T4/2025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2E7D32"/>
                </a:solidFill>
                <a:latin typeface="Arial"/>
              </a:rPr>
              <a:t>97,4%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hồi phục sau cải tạo</a:t>
            </a:r>
          </a:p>
        </p:txBody>
      </p:sp>
      <p:sp>
        <p:nvSpPr>
          <p:cNvPr id="11" name="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3" name="TIP text"/>
          <p:cNvSpPr txBox="1"/>
          <p:nvPr/>
        </p:nvSpPr>
        <p:spPr>
          <a:xfrm>
            <a:off x="2212848" y="5486400"/>
            <a:ext cx="93268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 dirty="0">
                <a:solidFill>
                  <a:srgbClr val="1B2230"/>
                </a:solidFill>
                <a:latin typeface="Arial"/>
              </a:rPr>
              <a:t>KPI dictionary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ghi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rõ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: Revenue vs Target %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lọc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B2230"/>
                </a:solidFill>
                <a:latin typeface="Arial"/>
              </a:rPr>
              <a:t>theo</a:t>
            </a:r>
            <a:r>
              <a:rPr sz="1600" b="0" dirty="0">
                <a:solidFill>
                  <a:srgbClr val="1B2230"/>
                </a:solidFill>
                <a:latin typeface="Arial"/>
              </a:rPr>
              <a:t> store, region, month, </a:t>
            </a:r>
            <a:r>
              <a:rPr sz="1600" b="1" dirty="0">
                <a:solidFill>
                  <a:srgbClr val="1B2230"/>
                </a:solidFill>
                <a:latin typeface="Arial"/>
              </a:rPr>
              <a:t>KHÔNG </a:t>
            </a:r>
            <a:r>
              <a:rPr sz="1600" b="1" dirty="0" err="1">
                <a:solidFill>
                  <a:srgbClr val="1B2230"/>
                </a:solidFill>
                <a:latin typeface="Arial"/>
              </a:rPr>
              <a:t>theo</a:t>
            </a:r>
            <a:r>
              <a:rPr sz="1600" b="1" dirty="0">
                <a:solidFill>
                  <a:srgbClr val="1B2230"/>
                </a:solidFill>
                <a:latin typeface="Arial"/>
              </a:rPr>
              <a:t> product/category.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PV_Target_CuaHang (trên lớp: sheet PV_Target, Demo/B5_Demo_DAX.xlsx)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Time intelligence: lũy kế và so với cùng kỳ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YTD · cùng kỳ năm trước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6 · TIME INTELLIGENCE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6309360" cy="1755648"/>
        </p:xfrm>
        <a:graphic>
          <a:graphicData uri="http://schemas.openxmlformats.org/drawingml/2006/table">
            <a:tbl>
              <a:tblPr firstRow="1"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Arial"/>
                        </a:rPr>
                        <a:t>Design → Mark as Date Table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230"/>
                          </a:solidFill>
                          <a:latin typeface="Arial"/>
                        </a:rPr>
                        <a:t>Khai báo Calendar là bảng lịch: mỗi ngày một dòng, liên tục (731 ngày ✔)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Arial"/>
                        </a:rPr>
                        <a:t>DATESYTD(Calendar[Date])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230"/>
                          </a:solidFill>
                          <a:latin typeface="Arial"/>
                        </a:rPr>
                        <a:t>Từ đầu năm tới ngày cuối của ô → lũy kế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  <a:latin typeface="Arial"/>
                        </a:rPr>
                        <a:t>DATEADD(Calendar[Date], -1, YEAR)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230"/>
                          </a:solidFill>
                          <a:latin typeface="Arial"/>
                        </a:rPr>
                        <a:t>Lùi các ngày của ô một năm → cùng kỳ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Screenshot S27a_mark_date_table" descr="S27a_mark_date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985" y="1417320"/>
            <a:ext cx="1854485" cy="17373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graphicFrame>
        <p:nvGraphicFramePr>
          <p:cNvPr id="6" name="Measures"/>
          <p:cNvGraphicFramePr>
            <a:graphicFrameLocks noGrp="1"/>
          </p:cNvGraphicFramePr>
          <p:nvPr/>
        </p:nvGraphicFramePr>
        <p:xfrm>
          <a:off x="1527048" y="3291840"/>
          <a:ext cx="6309360" cy="1755648"/>
        </p:xfrm>
        <a:graphic>
          <a:graphicData uri="http://schemas.openxmlformats.org/drawingml/2006/table">
            <a:tbl>
              <a:tblPr first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DAX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B2230"/>
                          </a:solidFill>
                          <a:latin typeface="Arial"/>
                        </a:rPr>
                        <a:t>Revenue YTD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CALCULATE([Total Revenue], DATESYTD(Calendar[Date]))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Revenue LY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B2230"/>
                          </a:solidFill>
                          <a:latin typeface="Arial"/>
                        </a:rPr>
                        <a:t>CALCULATE([Total Revenue], DATEADD(Calendar[Date], -1, YEAR))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Revenue YoY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B2230"/>
                          </a:solidFill>
                          <a:latin typeface="Arial"/>
                        </a:rPr>
                        <a:t>IF(ISBLANK([Total Revenue]), BLANK(), DIVIDE([Total Revenue] - [Revenue LY], [Revenue LY]))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Screenshot S27b_yoy_ytd" descr="S27b_yoy_y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672556"/>
            <a:ext cx="3648456" cy="1067367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TIP callout"/>
          <p:cNvSpPr/>
          <p:nvPr/>
        </p:nvSpPr>
        <p:spPr>
          <a:xfrm>
            <a:off x="1527048" y="5257800"/>
            <a:ext cx="5120640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636776" y="536752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0" name="TIP text"/>
          <p:cNvSpPr txBox="1"/>
          <p:nvPr/>
        </p:nvSpPr>
        <p:spPr>
          <a:xfrm>
            <a:off x="2212848" y="5349240"/>
            <a:ext cx="43251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YoY T1 +42,8% · T2 −0,9% · T3 +13,7% · T4 +24,0%; YTD T4 +21,0%. Không chặn ô trống: T5 = −100%.</a:t>
            </a:r>
          </a:p>
        </p:txBody>
      </p:sp>
      <p:sp>
        <p:nvSpPr>
          <p:cNvPr id="11" name="PRO TIP callout"/>
          <p:cNvSpPr/>
          <p:nvPr/>
        </p:nvSpPr>
        <p:spPr>
          <a:xfrm>
            <a:off x="6784848" y="5257800"/>
            <a:ext cx="4864608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 TIP chip"/>
          <p:cNvSpPr/>
          <p:nvPr/>
        </p:nvSpPr>
        <p:spPr>
          <a:xfrm>
            <a:off x="6894576" y="536752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3" name="PRO TIP text"/>
          <p:cNvSpPr txBox="1"/>
          <p:nvPr/>
        </p:nvSpPr>
        <p:spPr>
          <a:xfrm>
            <a:off x="7991856" y="5349240"/>
            <a:ext cx="3547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SAMEPERIODLASTYEAR cho cùng kết quả với DATEADD lùi 1 năm.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Demo/B5_Demo_DAX.xlsx (Design → Mark as Date Table); bản sao Practice/B5_MCI_Mart_Answer.xlsx, sheet PV_YoY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Like-for-like: ST12 và ô YoY trống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6 · TIME INTELLIGENCE</a:t>
            </a:r>
          </a:p>
        </p:txBody>
      </p:sp>
      <p:pic>
        <p:nvPicPr>
          <p:cNvPr id="4" name="Screenshot S28_yoy_cua_hang" descr="S28_yoy_cua_h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584" y="1463040"/>
            <a:ext cx="6154287" cy="32461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5" name="Stat card"/>
          <p:cNvSpPr/>
          <p:nvPr/>
        </p:nvSpPr>
        <p:spPr>
          <a:xfrm>
            <a:off x="8001000" y="1463040"/>
            <a:ext cx="36484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8183879" y="1554480"/>
            <a:ext cx="328269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ST12 khai trương 01/06/2024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203864"/>
                </a:solidFill>
                <a:latin typeface="Arial"/>
              </a:rPr>
              <a:t>79.399.000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T1–T4/2025 · không có kỳ gốc</a:t>
            </a:r>
          </a:p>
        </p:txBody>
      </p:sp>
      <p:sp>
        <p:nvSpPr>
          <p:cNvPr id="7" name="Stat card"/>
          <p:cNvSpPr/>
          <p:nvPr/>
        </p:nvSpPr>
        <p:spPr>
          <a:xfrm>
            <a:off x="8001000" y="2560320"/>
            <a:ext cx="36484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8183879" y="2651760"/>
            <a:ext cx="328269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YTD T4 · cả chuỗi 12 cửa hàng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9C0006"/>
                </a:solidFill>
                <a:latin typeface="Arial"/>
              </a:rPr>
              <a:t>+21,0%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gồm cả ST12</a:t>
            </a:r>
          </a:p>
        </p:txBody>
      </p:sp>
      <p:sp>
        <p:nvSpPr>
          <p:cNvPr id="9" name="Stat card"/>
          <p:cNvSpPr/>
          <p:nvPr/>
        </p:nvSpPr>
        <p:spPr>
          <a:xfrm>
            <a:off x="8001000" y="3657600"/>
            <a:ext cx="36484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8183879" y="3749039"/>
            <a:ext cx="328269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YTD T4 · like-for-like 11 cửa hàng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2E7D32"/>
                </a:solidFill>
                <a:latin typeface="Arial"/>
              </a:rPr>
              <a:t>+13,3%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chỉ cửa hàng có đủ hai kỳ</a:t>
            </a:r>
          </a:p>
        </p:txBody>
      </p:sp>
      <p:sp>
        <p:nvSpPr>
          <p:cNvPr id="11" name="TIP callout"/>
          <p:cNvSpPr/>
          <p:nvPr/>
        </p:nvSpPr>
        <p:spPr>
          <a:xfrm>
            <a:off x="1527048" y="4800600"/>
            <a:ext cx="10122408" cy="6583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1636776" y="4910328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3" name="TIP text"/>
          <p:cNvSpPr txBox="1"/>
          <p:nvPr/>
        </p:nvSpPr>
        <p:spPr>
          <a:xfrm>
            <a:off x="2212848" y="4892040"/>
            <a:ext cx="93268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D2: thấy ô trống, hỏi vì sao; thấy tổng đẹp, hỏi tổng gồm những gì. ST10 +37,9% · ST07 −3,2% · ST04 −1,5%.</a:t>
            </a:r>
          </a:p>
        </p:txBody>
      </p:sp>
      <p:sp>
        <p:nvSpPr>
          <p:cNvPr id="14" name="PRO TIP callout"/>
          <p:cNvSpPr/>
          <p:nvPr/>
        </p:nvSpPr>
        <p:spPr>
          <a:xfrm>
            <a:off x="1527048" y="5504688"/>
            <a:ext cx="10122408" cy="6583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RO TIP chip"/>
          <p:cNvSpPr/>
          <p:nvPr/>
        </p:nvSpPr>
        <p:spPr>
          <a:xfrm>
            <a:off x="1636776" y="5614416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6" name="PRO TIP text"/>
          <p:cNvSpPr txBox="1"/>
          <p:nvPr/>
        </p:nvSpPr>
        <p:spPr>
          <a:xfrm>
            <a:off x="2734056" y="5596127"/>
            <a:ext cx="880567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Bài về nhà: like-for-like thành measure, không cần lọc tay: Revenue LFL := CALCULATE([Total Revenue], Store[Open_Date] &lt; DATE(2024,1,1))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Practice/B5_MCI_Mart_Answer.xlsx, sheet PV_YoY (trên lớp: Demo/B5_Demo_DAX.xlsx)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KPI dictionary: một định nghĩa, mọi báo cáo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dictionary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7 · KPI DICTIONARY</a:t>
            </a:r>
          </a:p>
        </p:txBody>
      </p:sp>
      <p:graphicFrame>
        <p:nvGraphicFramePr>
          <p:cNvPr id="4" name="KPI dictionary"/>
          <p:cNvGraphicFramePr>
            <a:graphicFrameLocks noGrp="1"/>
          </p:cNvGraphicFramePr>
          <p:nvPr/>
        </p:nvGraphicFramePr>
        <p:xfrm>
          <a:off x="1527048" y="1325880"/>
          <a:ext cx="10122407" cy="2755392"/>
        </p:xfrm>
        <a:graphic>
          <a:graphicData uri="http://schemas.openxmlformats.org/drawingml/2006/table">
            <a:tbl>
              <a:tblPr first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27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Measure (DAX)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Total Revenue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SUM(Sales[Revenue])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region, store, category,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= Total Target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Total Orders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DISTINCTCOUNT(Sales[Order_ID])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region, store,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1.000 đơn/tháng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Avg Order Value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DIVIDE([Total Revenue], [Total Orders])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region, store,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300.000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Gross Margin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DIVIDE([Total Revenue] - [Total COGS], [Total Revenue])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category, region,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Finance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Revenue YoY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IF(ISBLANK([Total Revenue]), BLANK(), DIVIDE([Total Revenue] - [Revenue LY], [Revenue LY]))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region, category,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Finance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Active Customers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DISTINCTCOUNT(Sales[Customer_ID])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region, segment, month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700 KH/tháng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230"/>
                          </a:solidFill>
                          <a:latin typeface="Arial"/>
                        </a:rPr>
                        <a:t>Revenue vs Target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DIVIDE([Total Revenue], [Total Target])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C0006"/>
                          </a:solidFill>
                          <a:latin typeface="Arial"/>
                        </a:rPr>
                        <a:t>store, region, month: KHÔNG category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emantic layer"/>
          <p:cNvSpPr txBox="1"/>
          <p:nvPr/>
        </p:nvSpPr>
        <p:spPr>
          <a:xfrm>
            <a:off x="1527048" y="4187952"/>
            <a:ext cx="10122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>
                <a:solidFill>
                  <a:srgbClr val="203864"/>
                </a:solidFill>
                <a:latin typeface="Arial"/>
              </a:rPr>
              <a:t>•  Measure = semantic layer: </a:t>
            </a:r>
            <a:r>
              <a:rPr sz="1300" b="0">
                <a:solidFill>
                  <a:srgbClr val="1B2230"/>
                </a:solidFill>
                <a:latin typeface="Arial"/>
              </a:rPr>
              <a:t>KPI định nghĩa một lần trong mô hình; mọi Pivot, mọi dashboard (Buổi 6) chỉ gọi tên measure.</a:t>
            </a:r>
          </a:p>
          <a:p>
            <a:pPr>
              <a:spcBef>
                <a:spcPts val="200"/>
              </a:spcBef>
            </a:pPr>
            <a:r>
              <a:rPr sz="1300" b="1">
                <a:solidFill>
                  <a:srgbClr val="203864"/>
                </a:solidFill>
                <a:latin typeface="Arial"/>
              </a:rPr>
              <a:t>•  Ô Description </a:t>
            </a:r>
            <a:r>
              <a:rPr sz="1300" b="0">
                <a:solidFill>
                  <a:srgbClr val="1B2230"/>
                </a:solidFill>
                <a:latin typeface="Arial"/>
              </a:rPr>
              <a:t>của hộp Measure: ghi định nghĩa và giới hạn ngay trong mô hình.</a:t>
            </a:r>
          </a:p>
        </p:txBody>
      </p:sp>
      <p:pic>
        <p:nvPicPr>
          <p:cNvPr id="6" name="Screenshot S30_gm_theo_nam" descr="S30_gm_theo_n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5025368"/>
            <a:ext cx="3017520" cy="784904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Card D2"/>
          <p:cNvSpPr/>
          <p:nvPr/>
        </p:nvSpPr>
        <p:spPr>
          <a:xfrm>
            <a:off x="4681728" y="4709160"/>
            <a:ext cx="696772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4846320" y="4818888"/>
            <a:ext cx="6638544" cy="1197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D2: kiểm giả định (câu chuyện #5)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B2230"/>
                </a:solidFill>
                <a:latin typeface="Arial"/>
              </a:rPr>
              <a:t>GM% 2024: 31,2% → 2025: 34,1%. Giá vốn chỉ có MỘT bảng (Product[Unit_Cost]) cho cả hai năm, giá bán 2025 cao hơn 2024 khoảng 3,9% → ghi vào cột "Giới hạn".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Course Plan, Phụ lục C · Ảnh: bản sao Practice/B5_MCI_Mart_Answer.xlsx, sheet PV_GM_Nam (trên lớp: sheet PV_YoY, Demo/B5_Demo_DAX.xlsx)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1: Hoàn thành bộ 6 KPI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8 · THỰC HÀNH</a:t>
            </a:r>
          </a:p>
        </p:txBody>
      </p:sp>
      <p:sp>
        <p:nvSpPr>
          <p:cNvPr id="4" name="Time chip"/>
          <p:cNvSpPr/>
          <p:nvPr/>
        </p:nvSpPr>
        <p:spPr>
          <a:xfrm>
            <a:off x="1527048" y="1417320"/>
            <a:ext cx="1399032" cy="36576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10 phút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1920240"/>
            <a:ext cx="48463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1. </a:t>
            </a:r>
            <a:r>
              <a:rPr sz="1400" b="0">
                <a:solidFill>
                  <a:srgbClr val="1B2230"/>
                </a:solidFill>
                <a:latin typeface="Arial"/>
              </a:rPr>
              <a:t>Viết 3 measure (bảng Sales): Total Orders = DISTINCTCOUNT(Sales[Order_ID]) · Avg Order Value = DIVIDE([Total Revenue], [Total Orders]) · Active Customers = DISTINCTCOUNT(Sales[Customer_ID]).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3864"/>
                </a:solidFill>
                <a:latin typeface="Arial"/>
              </a:rPr>
              <a:t>2. </a:t>
            </a:r>
            <a:r>
              <a:rPr sz="1400" b="0">
                <a:solidFill>
                  <a:srgbClr val="1B2230"/>
                </a:solidFill>
                <a:latin typeface="Arial"/>
              </a:rPr>
              <a:t>Sheet mới PV_KPI_Thang (From Data Model): Filters Calendar[Nam] = 2025 · Rows Calendar[Thang] (lọc 1–4) · Values: 6 KPI.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3864"/>
                </a:solidFill>
                <a:latin typeface="Arial"/>
              </a:rPr>
              <a:t>3. </a:t>
            </a:r>
            <a:r>
              <a:rPr sz="1400" b="0">
                <a:solidFill>
                  <a:srgbClr val="1B2230"/>
                </a:solidFill>
                <a:latin typeface="Arial"/>
              </a:rPr>
              <a:t>Kiểm tay AOV: lọc Product[Category] = Bánh kẹo, Calendar[Quy] = 1 → đọc dòng Grand Total: Total Revenue ÷ Total Orders = AOV?</a:t>
            </a:r>
          </a:p>
        </p:txBody>
      </p:sp>
      <p:graphicFrame>
        <p:nvGraphicFramePr>
          <p:cNvPr id="6" name="Check table"/>
          <p:cNvGraphicFramePr>
            <a:graphicFrameLocks noGrp="1"/>
          </p:cNvGraphicFramePr>
          <p:nvPr/>
        </p:nvGraphicFramePr>
        <p:xfrm>
          <a:off x="6556248" y="1417320"/>
          <a:ext cx="5093208" cy="2057400"/>
        </p:xfrm>
        <a:graphic>
          <a:graphicData uri="http://schemas.openxmlformats.org/drawingml/2006/table">
            <a:tbl>
              <a:tblPr firstRow="1"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Orders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AOV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YoY 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425.850.000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304.614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+42,8%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245.996.000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823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298.902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−0,9%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269.608.000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292.100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296.965.000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966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307.417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230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AOV check"/>
          <p:cNvSpPr/>
          <p:nvPr/>
        </p:nvSpPr>
        <p:spPr>
          <a:xfrm>
            <a:off x="6556248" y="3657600"/>
            <a:ext cx="5093208" cy="1600200"/>
          </a:xfrm>
          <a:prstGeom prst="roundRect">
            <a:avLst>
              <a:gd name="adj" fmla="val 5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6739128" y="3749039"/>
            <a:ext cx="4727448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203864"/>
                </a:solidFill>
                <a:latin typeface="Arial"/>
              </a:rPr>
              <a:t>Kiểm tay: Bánh kẹo, Quý 1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338.733.000 ÷ 1.739 đơn = </a:t>
            </a:r>
            <a:r>
              <a:rPr sz="1500" b="1">
                <a:solidFill>
                  <a:srgbClr val="2E7D32"/>
                </a:solidFill>
                <a:latin typeface="Arial"/>
              </a:rPr>
              <a:t>194.786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585858"/>
                </a:solidFill>
                <a:latin typeface="Arial"/>
              </a:rPr>
              <a:t>AVERAGE(Sales[Revenue]) = 153.830: trung bình một DÒNG, không phải một ĐƠN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Kiểm tra: Filters Calendar[Nam] = 2025, Rows Calendar[Thang] 1–4 · KH = Active Customers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2: Đối soát với KPI_SUMIFS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8 · THỰC HÀNH</a:t>
            </a:r>
          </a:p>
        </p:txBody>
      </p:sp>
      <p:sp>
        <p:nvSpPr>
          <p:cNvPr id="4" name="Time chip"/>
          <p:cNvSpPr/>
          <p:nvPr/>
        </p:nvSpPr>
        <p:spPr>
          <a:xfrm>
            <a:off x="1527048" y="1417320"/>
            <a:ext cx="1399032" cy="36576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10 phút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1920240"/>
            <a:ext cx="6309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1. </a:t>
            </a:r>
            <a:r>
              <a:rPr sz="1400" b="0">
                <a:solidFill>
                  <a:srgbClr val="1B2230"/>
                </a:solidFill>
                <a:latin typeface="Arial"/>
              </a:rPr>
              <a:t>Sheet mới PV_DoiSoat_B2 (From Data Model): Filters Nam = 2025, Quy = 1 · Rows Store[Region] · Columns Calendar[Thang] · Values: Total Revenue, Total Orders, Avg Order Value, Gross Margin %.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3864"/>
                </a:solidFill>
                <a:latin typeface="Arial"/>
              </a:rPr>
              <a:t>2. </a:t>
            </a:r>
            <a:r>
              <a:rPr sz="1400" b="0">
                <a:solidFill>
                  <a:srgbClr val="1B2230"/>
                </a:solidFill>
                <a:latin typeface="Arial"/>
              </a:rPr>
              <a:t>GETPIVOTDATA (gõ =, bấm ô Pivot) trừ ô KPI_SUMIFS: Bắc × 3 (D6) · Doanh thu Quý 1 (E9) · Số đơn (E16) · GM% (E30) → phải bằng 0.</a:t>
            </a:r>
          </a:p>
        </p:txBody>
      </p:sp>
      <p:sp>
        <p:nvSpPr>
          <p:cNvPr id="6" name="Checkbox 1"/>
          <p:cNvSpPr/>
          <p:nvPr/>
        </p:nvSpPr>
        <p:spPr>
          <a:xfrm>
            <a:off x="1527048" y="4279392"/>
            <a:ext cx="27432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1984248" y="4160520"/>
            <a:ext cx="58521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Diagram View: hình ngôi sao, 6 bảng, 6 relationship; Sales và Target gặp nhau qua Store, Calendar</a:t>
            </a:r>
          </a:p>
        </p:txBody>
      </p:sp>
      <p:sp>
        <p:nvSpPr>
          <p:cNvPr id="8" name="Checkbox 2"/>
          <p:cNvSpPr/>
          <p:nvPr/>
        </p:nvSpPr>
        <p:spPr>
          <a:xfrm>
            <a:off x="1527048" y="4846320"/>
            <a:ext cx="27432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1984248" y="4727448"/>
            <a:ext cx="58521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6 KPI + Total Target, Revenue vs Target %, Variance là explicit measure, có định dạng</a:t>
            </a:r>
          </a:p>
        </p:txBody>
      </p:sp>
      <p:sp>
        <p:nvSpPr>
          <p:cNvPr id="10" name="Checkbox 3"/>
          <p:cNvSpPr/>
          <p:nvPr/>
        </p:nvSpPr>
        <p:spPr>
          <a:xfrm>
            <a:off x="1527048" y="5413248"/>
            <a:ext cx="27432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1984248" y="5294376"/>
            <a:ext cx="58521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Đối soát với KPI_SUMIFS: chênh lệch 0</a:t>
            </a:r>
          </a:p>
        </p:txBody>
      </p:sp>
      <p:sp>
        <p:nvSpPr>
          <p:cNvPr id="12" name="Check box"/>
          <p:cNvSpPr/>
          <p:nvPr/>
        </p:nvSpPr>
        <p:spPr>
          <a:xfrm>
            <a:off x="8110727" y="1417320"/>
            <a:ext cx="3538728" cy="461772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8293608" y="1554480"/>
            <a:ext cx="3172968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Kiểm tra: Quý 1/2025</a:t>
            </a:r>
          </a:p>
          <a:p>
            <a:pPr>
              <a:spcBef>
                <a:spcPts val="800"/>
              </a:spcBef>
            </a:pPr>
            <a:r>
              <a:rPr sz="2400" b="1">
                <a:solidFill>
                  <a:srgbClr val="203864"/>
                </a:solidFill>
                <a:latin typeface="Arial"/>
              </a:rPr>
              <a:t>941.454.000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3.144 đơn · AOV 299.445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Gross Margin 34,18%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Bắc × 3: 90.210.000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2E7D32"/>
                </a:solidFill>
                <a:latin typeface="Arial"/>
              </a:rPr>
              <a:t>Khớp = B2 và B5 cùng nói một sự thật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Làm mẫu: Practice/B5_MCI_Mart_Answer.xlsx, sheet PV_DoiSoat_B2 (ô J11, N14) · đủ 64 ô Miền × Tháng × 4 KPI: sheet DoiSoat_B2 cùng file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Excel Quiz Challenge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câu hỏi nhanh · câu 3–4 là tình huống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1: Measure vs Column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KPI Gross Margin % nên viết thế nào trong Data Model?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Calculated column GM từng dòng, rồi lấy Average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Calculated column GM từng dòng, rồi lấy Sum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Measure: DIVIDE(tổng doanh thu − tổng giá vốn, tổng doanh thu)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Implicit measure Average of Revenue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2: Hai bảng fact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Sales và Target đều có cột Store_Code. Nối thế nào để phân tích doanh thu so với target theo cửa hàng?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Relationship thẳng giữa Sales[Store_Code] và Target[Store_Code]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Nối cả hai vào lookup chung Store (và Calendar), lọc qua lookup</a:t>
            </a:r>
          </a:p>
        </p:txBody>
      </p:sp>
      <p:sp>
        <p:nvSpPr>
          <p:cNvPr id="13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Merge Target vào Sales bằng Power Query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Không nối được, phải dùng SUMIFS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3: Tình huống: Con số lặp lại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>
                <a:solidFill>
                  <a:srgbClr val="1B2230"/>
                </a:solidFill>
                <a:latin typeface="Arial"/>
              </a:rPr>
              <a:t>Pivot Quý 1/2025: Rows = Product[Category], Values = Total Target. Sáu dòng đều ra 936.000.000. Vì sao?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Thiếu Mark as Date Table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Measure Total Target viết sai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Target có grain tháng × cửa hàng, không có chiều sản phẩm; Product không lọc được Target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Phải Refresh All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4: Tình huống: Tổng lệch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>
                <a:solidFill>
                  <a:srgbClr val="1B2230"/>
                </a:solidFill>
                <a:latin typeface="Arial"/>
              </a:rPr>
              <a:t>Active Customers Quý 1 theo miền: 492 + 657 + 307 = 1.456. Nhưng Grand Total ghi 1.208. Kết luận nào đúng?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Pivot bị lỗi, phải Refresh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Thiếu relationship Sales – Customer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Không lỗi: khách mua ở nhiều miền chỉ đếm một lần ở dòng tổng; DISTINCTCOUNT không cộng dồn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Phải đổi sang SUM(Sales[Customer_ID])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Tổng kết &amp; insight của bạn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Điểm chính cần nhớ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011680"/>
            <a:ext cx="484632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(1) Star schema: fact ở giữa, lookup xung quanh, 1-*; bộ lọc chảy lookup → fact. Hai fact gặp nhau qua lookup chung.</a:t>
            </a:r>
          </a:p>
          <a:p>
            <a:pPr>
              <a:spcBef>
                <a:spcPts val="9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(2) Calculated column tính từng dòng; MEASURE tính từng ô. Tỷ lệ và đếm phân biệt luôn là measure.</a:t>
            </a:r>
          </a:p>
          <a:p>
            <a:pPr>
              <a:spcBef>
                <a:spcPts val="9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(3) Filter context = tọa độ của ô. CALCULATE đổi bộ lọc; ALL bỏ bộ lọc.</a:t>
            </a:r>
          </a:p>
          <a:p>
            <a:pPr>
              <a:spcBef>
                <a:spcPts val="9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(4) Time intelligence cần Calendar liên tục; hàng/cột lấy từ Calendar, không lấy từ fact.</a:t>
            </a:r>
          </a:p>
          <a:p>
            <a:pPr>
              <a:spcBef>
                <a:spcPts val="9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(5) KPI dictionary: mỗi KPI một measure, một định nghĩa, kèm giới hạn, đối soát trước khi dùng.</a:t>
            </a:r>
          </a:p>
        </p:txBody>
      </p:sp>
      <p:sp>
        <p:nvSpPr>
          <p:cNvPr id="6" name="Insight box"/>
          <p:cNvSpPr/>
          <p:nvPr/>
        </p:nvSpPr>
        <p:spPr>
          <a:xfrm>
            <a:off x="6373368" y="1508760"/>
            <a:ext cx="5276088" cy="347472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6556248" y="1645920"/>
            <a:ext cx="49103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Insight của bạn (1 câu)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6556248" y="2148840"/>
            <a:ext cx="491032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900" b="0">
                <a:solidFill>
                  <a:srgbClr val="1B2230"/>
                </a:solidFill>
                <a:latin typeface="Arial"/>
              </a:rPr>
              <a:t>"Theo Revenue vs Target %, ___ (con số), nguyên nhân khả dĩ là ___, nên ___ (hàm ý)."</a:t>
            </a:r>
          </a:p>
        </p:txBody>
      </p:sp>
      <p:sp>
        <p:nvSpPr>
          <p:cNvPr id="9" name="Tag Con số"/>
          <p:cNvSpPr/>
          <p:nvPr/>
        </p:nvSpPr>
        <p:spPr>
          <a:xfrm>
            <a:off x="6556248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Con số</a:t>
            </a:r>
          </a:p>
        </p:txBody>
      </p:sp>
      <p:sp>
        <p:nvSpPr>
          <p:cNvPr id="10" name="Tag Nguyên nhân"/>
          <p:cNvSpPr/>
          <p:nvPr/>
        </p:nvSpPr>
        <p:spPr>
          <a:xfrm>
            <a:off x="8238744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Nguyên nhân</a:t>
            </a:r>
          </a:p>
        </p:txBody>
      </p:sp>
      <p:sp>
        <p:nvSpPr>
          <p:cNvPr id="11" name="Tag Hàm ý"/>
          <p:cNvSpPr/>
          <p:nvPr/>
        </p:nvSpPr>
        <p:spPr>
          <a:xfrm>
            <a:off x="9921240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Hàm ý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6373368" y="5120640"/>
            <a:ext cx="5276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Gợi ý: so tháng 1 với tháng 2, rồi mở Calendar xem Tết rơi vào ngày nào.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Buổi sau: Dashboard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vert="vert270"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03864"/>
                </a:solidFill>
                <a:latin typeface="Arial"/>
              </a:rPr>
              <a:t>"Giám đốc bán hàng có 5 giây. Họ cần thấy gì đầu tiên?"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33172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1B2230"/>
                </a:solidFill>
                <a:latin typeface="Arial"/>
              </a:rPr>
              <a:t>Hôm nay số đã đúng và thống nhất. </a:t>
            </a:r>
            <a:r>
              <a:rPr sz="1500" b="0">
                <a:solidFill>
                  <a:srgbClr val="1B2230"/>
                </a:solidFill>
                <a:latin typeface="Arial"/>
              </a:rPr>
              <a:t>Buổi 6: trình bày cho người ra quyết định, KPI card bằng CUBEVALUE đọc thẳng các measure hôm nay.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1527048" y="3291840"/>
            <a:ext cx="64008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Về nhà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1B2230"/>
                </a:solidFill>
                <a:latin typeface="Arial"/>
              </a:rPr>
              <a:t>Bài tập về nhà (bắt buộc): </a:t>
            </a:r>
            <a:r>
              <a:rPr sz="1400" b="0">
                <a:solidFill>
                  <a:srgbClr val="1B2230"/>
                </a:solidFill>
                <a:latin typeface="Arial"/>
              </a:rPr>
              <a:t>B5_BTVN_MCI_Mart_KPI_T1_T4_2025.xlsx: báo cáo tháng 1–4 của phòng Kinh doanh lệch số Tài chính: đối soát, tìm 4 lỗi, sửa mô hình và measure, KPI dictionary, 3 câu hỏi cho Sales Director, 1 câu insight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1B2230"/>
                </a:solidFill>
                <a:latin typeface="Arial"/>
              </a:rPr>
              <a:t>Tập trước capstone: </a:t>
            </a:r>
            <a:r>
              <a:rPr sz="1400" b="0">
                <a:solidFill>
                  <a:srgbClr val="1B2230"/>
                </a:solidFill>
                <a:latin typeface="Arial"/>
              </a:rPr>
              <a:t>C3 Mô hình · C4 KPI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Nộp trước Buổi 6 tại hocvien.mcivietnam.com · đọc handout B5 · tick "Checklist trước Buổi 6"</a:t>
            </a:r>
          </a:p>
        </p:txBody>
      </p:sp>
      <p:sp>
        <p:nvSpPr>
          <p:cNvPr id="7" name="Brick B5"/>
          <p:cNvSpPr/>
          <p:nvPr/>
        </p:nvSpPr>
        <p:spPr>
          <a:xfrm>
            <a:off x="8293608" y="4206240"/>
            <a:ext cx="3355848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8385048" y="4206240"/>
            <a:ext cx="317296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✓  B5 · Star schema + DAX</a:t>
            </a:r>
          </a:p>
        </p:txBody>
      </p:sp>
      <p:sp>
        <p:nvSpPr>
          <p:cNvPr id="9" name="Brick B6"/>
          <p:cNvSpPr/>
          <p:nvPr/>
        </p:nvSpPr>
        <p:spPr>
          <a:xfrm>
            <a:off x="8293608" y="3017520"/>
            <a:ext cx="3355848" cy="914400"/>
          </a:xfrm>
          <a:prstGeom prst="rect">
            <a:avLst/>
          </a:prstGeom>
          <a:solidFill>
            <a:srgbClr val="FFFFFF"/>
          </a:solidFill>
          <a:ln w="285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8385048" y="3017520"/>
            <a:ext cx="317296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B6 · Dashboard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293608" y="5212080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0">
                <a:solidFill>
                  <a:srgbClr val="585858"/>
                </a:solidFill>
                <a:latin typeface="Arial"/>
              </a:rPr>
              <a:t>File đáp án B5 (Practice/B5_MCI_Mart_Answer.xlsx) là file khởi đầu Buổi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90271072606]">
  <a:themeElements>
    <a:clrScheme name="MCI Excel BI">
      <a:dk1>
        <a:srgbClr val="1B2230"/>
      </a:dk1>
      <a:lt1>
        <a:srgbClr val="FFFFFF"/>
      </a:lt1>
      <a:dk2>
        <a:srgbClr val="203864"/>
      </a:dk2>
      <a:lt2>
        <a:srgbClr val="F3F5F9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E87BA4"/>
      </a:accent5>
      <a:accent6>
        <a:srgbClr val="4A3AA7"/>
      </a:accent6>
      <a:hlink>
        <a:srgbClr val="1F6FB2"/>
      </a:hlink>
      <a:folHlink>
        <a:srgbClr val="4A3AA7"/>
      </a:folHlink>
    </a:clrScheme>
    <a:fontScheme name="MCI Excel BI">
      <a:majorFont>
        <a:latin typeface="Arial" panose="020B06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B06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CE0948F-3C23-C840-978A-6EB6AAFD5E15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0c363d-f4d0-4e96-80cc-6a7c60642f0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13060</Words>
  <Application>Microsoft Office PowerPoint</Application>
  <PresentationFormat>Widescreen</PresentationFormat>
  <Paragraphs>723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Aptos</vt:lpstr>
      <vt:lpstr>Arial</vt:lpstr>
      <vt:lpstr>Office Theme [1790271072606]</vt:lpstr>
      <vt:lpstr>Excel for Business Intelligence Analyst</vt:lpstr>
      <vt:lpstr>Câu hỏi mở buổi</vt:lpstr>
      <vt:lpstr>Recap Buổi 4 &amp; file khởi đầu</vt:lpstr>
      <vt:lpstr>1. Data Model: nhiều bảng, một mô hình</vt:lpstr>
      <vt:lpstr>Data View · Diagram View</vt:lpstr>
      <vt:lpstr>Normalization · Fact vs Lookup</vt:lpstr>
      <vt:lpstr>Primary key · Foreign key</vt:lpstr>
      <vt:lpstr>Relationships vs Merged tables</vt:lpstr>
      <vt:lpstr>2. Relationship: nối bảng bằng khóa, không bằng công thức</vt:lpstr>
      <vt:lpstr>Tạo và quản lý Relationship</vt:lpstr>
      <vt:lpstr>Cardinality 1-* · Filter direction</vt:lpstr>
      <vt:lpstr>Fact thứ hai: Target lọc qua lookup chung</vt:lpstr>
      <vt:lpstr>Nghỉ 10 phút</vt:lpstr>
      <vt:lpstr>3. Calculated Column và Measure: tính từng dòng hay tính từng ô</vt:lpstr>
      <vt:lpstr>Calculated Column · RELATED</vt:lpstr>
      <vt:lpstr>Vì sao KPI tỷ lệ phải là measure</vt:lpstr>
      <vt:lpstr>Implicit vs Explicit measure</vt:lpstr>
      <vt:lpstr>4. Filter context: ô này đang bị lọc bởi những gì?</vt:lpstr>
      <vt:lpstr>Filter context: Chuỗi C lần 3</vt:lpstr>
      <vt:lpstr>Lọc bằng cột của lookup</vt:lpstr>
      <vt:lpstr>5. CALCULATE và ALL: đổi bộ lọc có chủ đích</vt:lpstr>
      <vt:lpstr>CALCULATE</vt:lpstr>
      <vt:lpstr>ALL → % of Total</vt:lpstr>
      <vt:lpstr>Measure cho Target</vt:lpstr>
      <vt:lpstr>Target không lọc theo ngành</vt:lpstr>
      <vt:lpstr>6. Time intelligence: lũy kế và so với cùng kỳ</vt:lpstr>
      <vt:lpstr>YTD · cùng kỳ năm trước</vt:lpstr>
      <vt:lpstr>Like-for-like: ST12 và ô YoY trống</vt:lpstr>
      <vt:lpstr>7. KPI dictionary: một định nghĩa, mọi báo cáo</vt:lpstr>
      <vt:lpstr>KPI dictionary</vt:lpstr>
      <vt:lpstr>Thực hành 1: Hoàn thành bộ 6 KPI</vt:lpstr>
      <vt:lpstr>Thực hành 2: Đối soát với KPI_SUMIFS</vt:lpstr>
      <vt:lpstr>Excel Quiz Challenge</vt:lpstr>
      <vt:lpstr>Question 1: Measure vs Column</vt:lpstr>
      <vt:lpstr>Question 2: Hai bảng fact</vt:lpstr>
      <vt:lpstr>Question 3: Tình huống: Con số lặp lại</vt:lpstr>
      <vt:lpstr>Question 4: Tình huống: Tổng lệch</vt:lpstr>
      <vt:lpstr>Tổng kết &amp; insight của bạn</vt:lpstr>
      <vt:lpstr>Buổi sau: 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Nhan Le</dc:creator>
  <cp:lastModifiedBy>Leo Pham</cp:lastModifiedBy>
  <cp:revision>1</cp:revision>
  <dcterms:created xsi:type="dcterms:W3CDTF">2026-09-24T17:25:29Z</dcterms:created>
  <dcterms:modified xsi:type="dcterms:W3CDTF">2026-10-14T14:45:21Z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2026-09-24T17:26:47Z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4d9052f2-e654-41cc-b328-7191ea09daba</vt:lpwstr>
  </property>
  <property fmtid="{D5CDD505-2E9C-101B-9397-08002B2CF9AE}" pid="7" name="MSIP_Label_defa4170-0d19-0005-0004-bc88714345d2_ActionId">
    <vt:lpwstr>c1eb70c7-4859-476b-af0b-43240bcea39d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