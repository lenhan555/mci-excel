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8" r:id="rId1"/>
  </p:sldMasterIdLst>
  <p:notesMasterIdLst>
    <p:notesMasterId r:id="rId41"/>
  </p:notesMasterIdLst>
  <p:sldIdLst>
    <p:sldId id="302" r:id="rId2"/>
    <p:sldId id="303" r:id="rId3"/>
    <p:sldId id="304" r:id="rId4"/>
    <p:sldId id="305" r:id="rId5"/>
    <p:sldId id="306" r:id="rId6"/>
    <p:sldId id="307" r:id="rId7"/>
    <p:sldId id="308" r:id="rId8"/>
    <p:sldId id="309" r:id="rId9"/>
    <p:sldId id="310" r:id="rId10"/>
    <p:sldId id="311" r:id="rId11"/>
    <p:sldId id="312" r:id="rId12"/>
    <p:sldId id="313" r:id="rId13"/>
    <p:sldId id="314" r:id="rId14"/>
    <p:sldId id="315" r:id="rId15"/>
    <p:sldId id="316" r:id="rId16"/>
    <p:sldId id="317" r:id="rId17"/>
    <p:sldId id="318" r:id="rId18"/>
    <p:sldId id="319" r:id="rId19"/>
    <p:sldId id="320" r:id="rId20"/>
    <p:sldId id="321" r:id="rId21"/>
    <p:sldId id="322" r:id="rId22"/>
    <p:sldId id="323" r:id="rId23"/>
    <p:sldId id="324" r:id="rId24"/>
    <p:sldId id="325" r:id="rId25"/>
    <p:sldId id="326" r:id="rId26"/>
    <p:sldId id="327" r:id="rId27"/>
    <p:sldId id="328" r:id="rId28"/>
    <p:sldId id="329" r:id="rId29"/>
    <p:sldId id="330" r:id="rId30"/>
    <p:sldId id="331" r:id="rId31"/>
    <p:sldId id="332" r:id="rId32"/>
    <p:sldId id="333" r:id="rId33"/>
    <p:sldId id="334" r:id="rId34"/>
    <p:sldId id="335" r:id="rId35"/>
    <p:sldId id="336" r:id="rId36"/>
    <p:sldId id="337" r:id="rId37"/>
    <p:sldId id="338" r:id="rId38"/>
    <p:sldId id="339" r:id="rId39"/>
    <p:sldId id="340"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711" autoAdjust="0"/>
  </p:normalViewPr>
  <p:slideViewPr>
    <p:cSldViewPr snapToGrid="0">
      <p:cViewPr varScale="1">
        <p:scale>
          <a:sx n="118" d="100"/>
          <a:sy n="118" d="100"/>
        </p:scale>
        <p:origin x="192" y="96"/>
      </p:cViewPr>
      <p:guideLst/>
    </p:cSldViewPr>
  </p:slideViewPr>
  <p:notesTextViewPr>
    <p:cViewPr>
      <p:scale>
        <a:sx n="3" d="2"/>
        <a:sy n="3" d="2"/>
      </p:scale>
      <p:origin x="-6" y="-18"/>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han Pham Le" userId="6366da15f1f739f9" providerId="LiveId" clId="{B7E72FC1-F79A-4602-B51C-6ED1DC3BF548}"/>
    <pc:docChg chg="undo custSel modSld">
      <pc:chgData name="Nhan Pham Le" userId="6366da15f1f739f9" providerId="LiveId" clId="{B7E72FC1-F79A-4602-B51C-6ED1DC3BF548}" dt="2026-10-14T14:22:14.244" v="180" actId="113"/>
      <pc:docMkLst>
        <pc:docMk/>
      </pc:docMkLst>
      <pc:sldChg chg="modSp mod">
        <pc:chgData name="Nhan Pham Le" userId="6366da15f1f739f9" providerId="LiveId" clId="{B7E72FC1-F79A-4602-B51C-6ED1DC3BF548}" dt="2026-09-27T06:10:51.550" v="155" actId="20577"/>
        <pc:sldMkLst>
          <pc:docMk/>
          <pc:sldMk cId="2243051540" sldId="302"/>
        </pc:sldMkLst>
        <pc:spChg chg="mod">
          <ac:chgData name="Nhan Pham Le" userId="6366da15f1f739f9" providerId="LiveId" clId="{B7E72FC1-F79A-4602-B51C-6ED1DC3BF548}" dt="2026-09-27T06:10:51.550" v="155" actId="20577"/>
          <ac:spMkLst>
            <pc:docMk/>
            <pc:sldMk cId="2243051540" sldId="302"/>
            <ac:spMk id="15" creationId="{00000000-0000-0000-0000-000000000000}"/>
          </ac:spMkLst>
        </pc:spChg>
      </pc:sldChg>
      <pc:sldChg chg="modSp mod">
        <pc:chgData name="Nhan Pham Le" userId="6366da15f1f739f9" providerId="LiveId" clId="{B7E72FC1-F79A-4602-B51C-6ED1DC3BF548}" dt="2026-10-14T13:18:22.114" v="174" actId="14734"/>
        <pc:sldMkLst>
          <pc:docMk/>
          <pc:sldMk cId="0" sldId="308"/>
        </pc:sldMkLst>
        <pc:graphicFrameChg chg="modGraphic">
          <ac:chgData name="Nhan Pham Le" userId="6366da15f1f739f9" providerId="LiveId" clId="{B7E72FC1-F79A-4602-B51C-6ED1DC3BF548}" dt="2026-10-14T13:18:22.114" v="174" actId="14734"/>
          <ac:graphicFrameMkLst>
            <pc:docMk/>
            <pc:sldMk cId="0" sldId="308"/>
            <ac:graphicFrameMk id="4" creationId="{00000000-0000-0000-0000-000000000000}"/>
          </ac:graphicFrameMkLst>
        </pc:graphicFrameChg>
      </pc:sldChg>
      <pc:sldChg chg="modSp mod">
        <pc:chgData name="Nhan Pham Le" userId="6366da15f1f739f9" providerId="LiveId" clId="{B7E72FC1-F79A-4602-B51C-6ED1DC3BF548}" dt="2026-10-14T13:43:31.640" v="175" actId="113"/>
        <pc:sldMkLst>
          <pc:docMk/>
          <pc:sldMk cId="0" sldId="316"/>
        </pc:sldMkLst>
        <pc:graphicFrameChg chg="modGraphic">
          <ac:chgData name="Nhan Pham Le" userId="6366da15f1f739f9" providerId="LiveId" clId="{B7E72FC1-F79A-4602-B51C-6ED1DC3BF548}" dt="2026-10-14T13:43:31.640" v="175" actId="113"/>
          <ac:graphicFrameMkLst>
            <pc:docMk/>
            <pc:sldMk cId="0" sldId="316"/>
            <ac:graphicFrameMk id="4" creationId="{00000000-0000-0000-0000-000000000000}"/>
          </ac:graphicFrameMkLst>
        </pc:graphicFrameChg>
      </pc:sldChg>
      <pc:sldChg chg="modSp mod">
        <pc:chgData name="Nhan Pham Le" userId="6366da15f1f739f9" providerId="LiveId" clId="{B7E72FC1-F79A-4602-B51C-6ED1DC3BF548}" dt="2026-10-14T13:59:30.745" v="179" actId="20577"/>
        <pc:sldMkLst>
          <pc:docMk/>
          <pc:sldMk cId="0" sldId="318"/>
        </pc:sldMkLst>
        <pc:spChg chg="mod">
          <ac:chgData name="Nhan Pham Le" userId="6366da15f1f739f9" providerId="LiveId" clId="{B7E72FC1-F79A-4602-B51C-6ED1DC3BF548}" dt="2026-10-14T13:56:52.330" v="177" actId="1076"/>
          <ac:spMkLst>
            <pc:docMk/>
            <pc:sldMk cId="0" sldId="318"/>
            <ac:spMk id="7" creationId="{00000000-0000-0000-0000-000000000000}"/>
          </ac:spMkLst>
        </pc:spChg>
        <pc:graphicFrameChg chg="modGraphic">
          <ac:chgData name="Nhan Pham Le" userId="6366da15f1f739f9" providerId="LiveId" clId="{B7E72FC1-F79A-4602-B51C-6ED1DC3BF548}" dt="2026-10-14T13:59:30.745" v="179" actId="20577"/>
          <ac:graphicFrameMkLst>
            <pc:docMk/>
            <pc:sldMk cId="0" sldId="318"/>
            <ac:graphicFrameMk id="5" creationId="{00000000-0000-0000-0000-000000000000}"/>
          </ac:graphicFrameMkLst>
        </pc:graphicFrameChg>
      </pc:sldChg>
      <pc:sldChg chg="modSp mod">
        <pc:chgData name="Nhan Pham Le" userId="6366da15f1f739f9" providerId="LiveId" clId="{B7E72FC1-F79A-4602-B51C-6ED1DC3BF548}" dt="2026-10-14T14:22:14.244" v="180" actId="113"/>
        <pc:sldMkLst>
          <pc:docMk/>
          <pc:sldMk cId="0" sldId="326"/>
        </pc:sldMkLst>
        <pc:spChg chg="mod">
          <ac:chgData name="Nhan Pham Le" userId="6366da15f1f739f9" providerId="LiveId" clId="{B7E72FC1-F79A-4602-B51C-6ED1DC3BF548}" dt="2026-10-14T14:22:14.244" v="180" actId="113"/>
          <ac:spMkLst>
            <pc:docMk/>
            <pc:sldMk cId="0" sldId="326"/>
            <ac:spMk id="13" creationId="{00000000-0000-0000-0000-000000000000}"/>
          </ac:spMkLst>
        </pc:spChg>
      </pc:sldChg>
      <pc:sldChg chg="modNotesTx">
        <pc:chgData name="Nhan Pham Le" userId="6366da15f1f739f9" providerId="LiveId" clId="{B7E72FC1-F79A-4602-B51C-6ED1DC3BF548}" dt="2026-10-14T06:07:30.444" v="172" actId="20577"/>
        <pc:sldMkLst>
          <pc:docMk/>
          <pc:sldMk cId="0" sldId="32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EE4C46-C12C-FA42-B2D3-1CBB24092E48}" type="datetimeFigureOut">
              <a:rPr lang="en-US" smtClean="0"/>
              <a:t>14/10/2026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47CC85-BE76-EA4B-8DBD-E5CC9E8FEA7A}" type="slidenum">
              <a:rPr lang="en-US" smtClean="0"/>
              <a:t>‹#›</a:t>
            </a:fld>
            <a:endParaRPr lang="en-US"/>
          </a:p>
        </p:txBody>
      </p:sp>
    </p:spTree>
    <p:extLst>
      <p:ext uri="{BB962C8B-B14F-4D97-AF65-F5344CB8AC3E}">
        <p14:creationId xmlns:p14="http://schemas.microsoft.com/office/powerpoint/2010/main" val="10910283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0,5 phút.</a:t>
            </a:r>
          </a:p>
          <a:p>
            <a:r>
              <a:t>LỜI GIẢNG</a:t>
            </a:r>
          </a:p>
          <a:p>
            <a:r>
              <a:t>Chào cả lớp, chào mừng đến Buổi 5. Buổi trước các bạn đã có sáu bảng sạch, tự cập nhật bằng một nút Refresh. Hôm nay mình nối sáu bảng đó thành một mô hình, và viết công thức KPI một lần để mọi báo cáo dùng chung.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2 phút.</a:t>
            </a:r>
          </a:p>
          <a:p>
            <a:r>
              <a:t>LỜI GIẢNG</a:t>
            </a:r>
          </a:p>
          <a:p>
            <a:r>
              <a:t>Câu hỏi hôm nay có hai nửa. Nửa đầu dễ: tháng này đạt bao nhiêu phần trăm mục tiêu. Nửa sau mới là chuyện thật ở công ty: vì sao mỗi báo cáo lại ra một con số khác nhau?</a:t>
            </a:r>
          </a:p>
          <a:p>
            <a:r>
              <a:t>Ví dụ trên slide. Cùng dữ liệu Quý 1, báo cáo A ghi biên lợi nhuận gộp 34,18%, báo cáo B ghi 33,77%. Không ai bịa số. Báo cáo A lấy tổng lợi nhuận chia tổng doanh thu, đúng như bảng KPI_SUMIFS các bạn làm ở Buổi 2. Báo cáo B tính biên lợi nhuận cho từng dòng rồi lấy trung bình. Hai công thức, hai con số, và cuộc họp mất nửa tiếng để cãi xem số nào đúng.</a:t>
            </a:r>
          </a:p>
          <a:p>
            <a:r>
              <a:t>Đây là câu hỏi Tầng 3, vì sao. Cuối buổi các bạn sẽ có câu trả lời cho cả hai nửa: một mô hình dữ liệu, và mỗi KPI chỉ có một định nghĩa duy nhất.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2,5 phút.</a:t>
            </a:r>
          </a:p>
          <a:p>
            <a:r>
              <a:t>LỜI GIẢNG</a:t>
            </a:r>
          </a:p>
          <a:p>
            <a:r>
              <a:t>(→ mở ../B4_Power_Query/Practice/B4_MCI_Mart_Answer.xlsx, sheet Kiem_tra_B4) Nhắc nhanh buổi trước: sáu bảng sạch, Sales ba mươi nghìn hai trăm bốn mươi bảy dòng, mười dòng đối soát đều tick xanh.</a:t>
            </a:r>
          </a:p>
          <a:p>
            <a:r>
              <a:t>Bài về nhà: tháng 4, mỗi cửa hàng một file. Bạn nào đối soát với số liệu hệ thống thì phát hiện ST07 thiếu nửa tháng, chưa thêm file bổ sung, ST07 chỉ đạt 54,3% target; thêm vào thì lên 97,4%. (→ nếu còn thời gian: mở ../B4_Power_Query/Homework/B4_BTVN_MCI_Mart_T4_2025_Answer.xlsx, sheet KetQua_T4) Đối soát trước, kết luận sau, hôm nay mình còn dùng thói quen đó nhiều lần.</a:t>
            </a:r>
          </a:p>
          <a:p>
            <a:r>
              <a:t>File khởi đầu hôm nay là chính file đáp án Buổi 4. Các bạn lưu thành B5_&lt;HoTen&gt;.xlsx. Một lưu ý quan trọng: hôm nay không bấm Refresh All. Dữ liệu đã nằm sẵn trong Data Model; tham số thư mục trong file đang trỏ tới máy khác, bấm Refresh chỉ ra lỗi.</a:t>
            </a:r>
          </a:p>
          <a:p>
            <a:r>
              <a:t>Để màn hình chiếu gọn, mình làm mẫu trên hai file demo trong thư mục Demo của buổi, thay cho file khởi đầu có hơn hai mươi sheet của Buổi 2 đến Buổi 4. File thứ nhất, Demo/B5_Demo_Model.xlsx: đúng sáu bảng của Data Model, chưa nối gì, giống file của các bạn lúc này; mình dùng nó cho Phần 1 và Phần 2. File thứ hai, Demo/B5_Demo_DAX.xlsx: cùng sáu bảng đó nhưng đã nối xong, đúng trạng thái sau Phần 2; mình chuyển sang nó từ Phần 3. Các bạn làm theo trên file B5_&lt;HoTen&gt;.xlsx của mình. Mỗi file demo có bản _HocVien với sheet Huong_dan ghi từng bước theo slide; bạn nào lỡ một bước ở phần nối bảng thì mở Demo/B5_Demo_DAX_HocVien.xlsx và làm tiếp trên đó tới hết buổi.</a:t>
            </a:r>
          </a:p>
          <a:p>
            <a:r>
              <a:t>Để các bạn biết đích đến của buổi: cuối giờ mình đối soát bảng KPI của Buổi 2 ngay trong file này (Thực hành 2). Mình sẽ làm mẫu trên Pivot PV_DoiSoat_B2 của file đáp án Practice/B5_MCI_Mart_Answer.xlsx; bảng đối soát đủ 64 ô nằm ngay trong file đó, sheet DoiSoat_B2. Đó là file đáp án của hôm nay, và cũng là file khởi đầu của Buổi 6.</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1: mở Data Model ra xem, và hiểu vì sao mình giữ các bảng riêng thay vì gộp thành một bảng khổng lồ.</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5,5 phút.</a:t>
            </a:r>
          </a:p>
          <a:p>
            <a:r>
              <a:t>LỜI GIẢNG</a:t>
            </a:r>
          </a:p>
          <a:p>
            <a:r>
              <a:t>(→ mở Demo/B5_Demo_Model.xlsx: Data → Manage Data Model) File demo thứ nhất, sáu bảng chưa nối, giống file các bạn đang mở. Đây là cửa sổ Power Pivot, một cửa sổ riêng. Mọi thứ Buổi 4 nạp vào Data Model nằm ở đây. (→ chỉ các tab dưới cùng) Sáu tab, sáu bảng: Product, Store, Customer, Target, Calendar, và Sales ở cuối. (→ bấm tab Sales, chỉ dòng Record ở dưới cùng: 1 of 30,247) Sales: ba mươi nghìn hai trăm bốn mươi bảy dòng, đúng con số đối soát cuối Buổi 4.</a:t>
            </a:r>
          </a:p>
          <a:p>
            <a:r>
              <a:t>Đây là Data View: xem dữ liệu theo dạng bảng. Nó giống worksheet nhưng không sửa được từng ô; dữ liệu đến từ Power Query, muốn sửa thì sửa ở query.</a:t>
            </a:r>
          </a:p>
          <a:p>
            <a:r>
              <a:t>(→ Home → Diagram View) Còn đây là Diagram View. Mỗi bảng là một hộp, liệt kê tên cột. Câu hỏi cho lớp: nhìn sơ đồ này, các bạn thấy thiếu gì? (→ chờ) Thiếu đường nối. Sáu bảng đứng rời nhau, đúng giới hạn mình nói ở cuối Buổi 4. Nối chúng lại là việc của Phần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Buổi 2 các bạn đã gặp chữ grain: một dòng của bảng là một cái gì. Hôm nay mình chia bảng thành hai loại theo vai trò.</a:t>
            </a:r>
          </a:p>
          <a:p>
            <a:r>
              <a:t>Bảng fact ghi sự kiện: mỗi lần bán một sản phẩm là một dòng Sales. Bảng fact dài, và có cột số để cộng, Quantity, Revenue. Bảng lookup mô tả đối tượng: mỗi sản phẩm một dòng, mỗi cửa hàng một dòng, mỗi ngày một dòng. Bảng lookup ngắn, chủ yếu là chữ.</a:t>
            </a:r>
          </a:p>
          <a:p>
            <a:r>
              <a:t>Nguyên tắc normalization: mỗi thông tin chỉ lưu một chỗ. Tên ngành "Bánh kẹo" nằm một lần ở bảng Product, không lặp lại trên hàng nghìn dòng bán hàng.</a:t>
            </a:r>
          </a:p>
          <a:p>
            <a:r>
              <a:t>Câu hỏi cho lớp: bảng Target là fact hay lookup? (→ chờ) Target ghi một con số, doanh thu kế hoạch, cho mỗi cửa hàng mỗi tháng. Nó là fact: fact thứ hai, với grain khác hẳn Sales. Sales chi tiết tới từng dòng đơn; Target chỉ tới tháng và cửa hàng, không có sản phẩm. Nhớ chi tiết này, Phần 2 nó sẽ gây ra một con số rất lạ.</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4 phút.</a:t>
            </a:r>
          </a:p>
          <a:p>
            <a:r>
              <a:t>LỜI GIẢNG</a:t>
            </a:r>
          </a:p>
          <a:p>
            <a:r>
              <a:t>Muốn nối bảng thì cần khóa. Ở bảng lookup, cột khóa gọi là primary key, khóa chính: mỗi giá trị chỉ xuất hiện một lần. Bốn mươi sản phẩm, bốn mươi mã. Ở bảng fact, cùng cột đó gọi là foreign key, khóa ngoại: một mã sản phẩm xuất hiện ở hàng trăm dòng bán hàng.</a:t>
            </a:r>
          </a:p>
          <a:p>
            <a:r>
              <a:t>Các bạn đã gặp khóa ba lần rồi. Buổi 2, XLOOKUP sai vì P021 trùng. Buổi 4, Merge làm Sales phình ra vì P015 trùng. Hôm nay quy tắc vẫn vậy, chỉ chặt hơn: khóa chính trùng thì Data Model không cho tạo quan hệ.</a:t>
            </a:r>
          </a:p>
          <a:p>
            <a:r>
              <a:t>Để ý dòng Calendar: khóa chính là Date, mỗi ngày một dòng. Sales nối vào bằng Order_Date, còn Target nối vào bằng Ngay_Dau_Thang, cái cột ngày đầu tháng các bạn thêm ở Buổi 4. Hôm nay nó phát huy tác dụng.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Câu hỏi cho lớp: Buổi 4 mình đã biết Merge. Sao không Merge hết Product, Store, Customer vào Sales cho xong? (→ chờ)</a:t>
            </a:r>
          </a:p>
          <a:p>
            <a:r>
              <a:t>Làm được, nhưng tốn. Merge cả ba lookup thì mỗi dòng trong ba mươi nghìn dòng Sales phải mang thêm mười lăm cột mô tả: tên sản phẩm, ngành, tên cửa hàng, miền, phân khúc khách… Cộng lại hơn bốn trăm năm mươi nghìn ô, toàn là thông tin lặp. Giữ các bảng riêng thì chỉ cần hơn chín nghìn ô. Và nhớ cái bẫy Buổi 4: lookup trùng một khóa, Merge làm số dòng phình từ 28.328 lên 29.408 mà không báo lỗi nào.</a:t>
            </a:r>
          </a:p>
          <a:p>
            <a:r>
              <a:t>Relationship làm điều ngược lại: không chép gì cả. Mỗi bảng ở yên chỗ của nó, chỉ nối với nhau bằng khóa. Pivot muốn lấy "ngành hàng" thì đi theo đường nối sang bảng Product. Hình dạng của mô hình này có tên riêng: star schema, hình ngôi sao, fact ở giữa, lookup xung quanh. Mình dựng nó ngay bây giờ.</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2: tạo relationship, và đưa fact thứ hai, Target, vào mô hình.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5,5 phút.</a:t>
            </a:r>
          </a:p>
          <a:p>
            <a:r>
              <a:t>LỜI GIẢNG</a:t>
            </a:r>
          </a:p>
          <a:p>
            <a:r>
              <a:t>(→ Diagram View: kéo cột Product_Code trong hộp Sales, thả lên Product_Code trong hộp Product) Kéo từ bảng fact, thả lên bảng lookup. Một đường nối xuất hiện. (→ làm tương tự: Sales[Store_Code] → Store[Store_Code], Sales[Customer_ID] → Customer[Customer_ID])</a:t>
            </a:r>
          </a:p>
          <a:p>
            <a:r>
              <a:t>Cái thứ tư mình làm bằng hộp thoại, để các bạn biết cách thứ hai. (→ Design → Create Relationship: bảng Sales, cột Order_Date; bảng Calendar, cột Date → OK) Cách này hữu ích khi sơ đồ có nhiều bảng, kéo thả dễ nhầm.</a:t>
            </a:r>
          </a:p>
          <a:p>
            <a:r>
              <a:t>(→ kéo hộp Sales vào giữa, bốn lookup xung quanh) Nhìn kỹ một đường nối: đầu phía Product có số 1, đầu phía Sales có dấu sao. Câu hỏi cho lớp: số 1 và dấu sao nói gì? (→ chờ) Một sản phẩm, xuất hiện ở nhiều dòng bán hàng. Một – nhiều. Slide sau mình nói kỹ.</a:t>
            </a:r>
          </a:p>
          <a:p>
            <a:r>
              <a:t>(→ Design → Manage Relationships) Đây là danh sách mọi quan hệ, bốn dòng. Muốn sửa hay xóa thì vào đây.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3,5 phút.</a:t>
            </a:r>
          </a:p>
          <a:p>
            <a:r>
              <a:t>LỜI GIẢNG</a:t>
            </a:r>
          </a:p>
          <a:p>
            <a:r>
              <a:t>Cardinality nghe khó nhưng ý đơn giản: ở mỗi đầu đường nối, khóa duy nhất hay lặp lại. Đầu lookup duy nhất, số 1. Đầu fact lặp lại, dấu sao. Quan hệ chuẩn trong Data Model là một – nhiều.</a:t>
            </a:r>
          </a:p>
          <a:p>
            <a:r>
              <a:t>Quan trọng hơn là hướng lọc. Bộ lọc chảy như nước, từ trên xuống: từ lookup xuống fact. Các bạn chọn miền Nam ở bảng Store, bộ lọc chảy theo đường nối xuống Sales, Sales chỉ còn các dòng của cửa hàng miền Nam. Chiều ngược lại thì không: lọc bảng Sales không làm bảng Store ngắn đi.</a:t>
            </a:r>
          </a:p>
          <a:p>
            <a:r>
              <a:t>Và một quy tắc vàng: không nối thẳng hai bảng fact với nhau. Sales và Target đều có Store_Code, nhưng chúng gặp nhau qua bảng Store, lookup chung. Slide sau sẽ cho thấy vì sao quy tắc này quan trọng.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5,5 </a:t>
            </a:r>
            <a:r>
              <a:rPr dirty="0" err="1"/>
              <a:t>phút</a:t>
            </a:r>
            <a:r>
              <a:rPr dirty="0"/>
              <a:t>.</a:t>
            </a:r>
          </a:p>
          <a:p>
            <a:r>
              <a:rPr dirty="0"/>
              <a:t>LỜI GIẢNG</a:t>
            </a:r>
          </a:p>
          <a:p>
            <a:r>
              <a:rPr dirty="0" err="1"/>
              <a:t>Giờ</a:t>
            </a:r>
            <a:r>
              <a:rPr dirty="0"/>
              <a:t> </a:t>
            </a:r>
            <a:r>
              <a:rPr dirty="0" err="1"/>
              <a:t>đưa</a:t>
            </a:r>
            <a:r>
              <a:rPr dirty="0"/>
              <a:t> Target </a:t>
            </a:r>
            <a:r>
              <a:rPr dirty="0" err="1"/>
              <a:t>vào</a:t>
            </a:r>
            <a:r>
              <a:rPr dirty="0"/>
              <a:t> </a:t>
            </a:r>
            <a:r>
              <a:rPr dirty="0" err="1"/>
              <a:t>báo</a:t>
            </a:r>
            <a:r>
              <a:rPr dirty="0"/>
              <a:t> </a:t>
            </a:r>
            <a:r>
              <a:rPr dirty="0" err="1"/>
              <a:t>cáo</a:t>
            </a:r>
            <a:r>
              <a:rPr dirty="0"/>
              <a:t>. </a:t>
            </a:r>
            <a:r>
              <a:rPr dirty="0" err="1"/>
              <a:t>Mình</a:t>
            </a:r>
            <a:r>
              <a:rPr dirty="0"/>
              <a:t> </a:t>
            </a:r>
            <a:r>
              <a:rPr dirty="0" err="1"/>
              <a:t>cố</a:t>
            </a:r>
            <a:r>
              <a:rPr dirty="0"/>
              <a:t> ý </a:t>
            </a:r>
            <a:r>
              <a:rPr dirty="0" err="1"/>
              <a:t>làm</a:t>
            </a:r>
            <a:r>
              <a:rPr dirty="0"/>
              <a:t> "</a:t>
            </a:r>
            <a:r>
              <a:rPr dirty="0" err="1"/>
              <a:t>sai</a:t>
            </a:r>
            <a:r>
              <a:rPr dirty="0"/>
              <a:t>" </a:t>
            </a:r>
            <a:r>
              <a:rPr dirty="0" err="1"/>
              <a:t>trước</a:t>
            </a:r>
            <a:r>
              <a:rPr dirty="0"/>
              <a:t>. (→ Insert → PivotTable ▾ → From Data Model → New Worksheet; </a:t>
            </a:r>
            <a:r>
              <a:rPr dirty="0" err="1"/>
              <a:t>đổi</a:t>
            </a:r>
            <a:r>
              <a:rPr dirty="0"/>
              <a:t> </a:t>
            </a:r>
            <a:r>
              <a:rPr dirty="0" err="1"/>
              <a:t>tên</a:t>
            </a:r>
            <a:r>
              <a:rPr dirty="0"/>
              <a:t> sheet </a:t>
            </a:r>
            <a:r>
              <a:rPr dirty="0" err="1"/>
              <a:t>thành</a:t>
            </a:r>
            <a:r>
              <a:rPr dirty="0"/>
              <a:t> </a:t>
            </a:r>
            <a:r>
              <a:rPr dirty="0" err="1"/>
              <a:t>PV_Grain</a:t>
            </a:r>
            <a:r>
              <a:rPr dirty="0"/>
              <a:t>) PivotTable From Data Model </a:t>
            </a:r>
            <a:r>
              <a:rPr dirty="0" err="1"/>
              <a:t>đọc</a:t>
            </a:r>
            <a:r>
              <a:rPr dirty="0"/>
              <a:t> </a:t>
            </a:r>
            <a:r>
              <a:rPr dirty="0" err="1"/>
              <a:t>thẳng</a:t>
            </a:r>
            <a:r>
              <a:rPr dirty="0"/>
              <a:t> </a:t>
            </a:r>
            <a:r>
              <a:rPr dirty="0" err="1"/>
              <a:t>mô</a:t>
            </a:r>
            <a:r>
              <a:rPr dirty="0"/>
              <a:t> </a:t>
            </a:r>
            <a:r>
              <a:rPr dirty="0" err="1"/>
              <a:t>hình</a:t>
            </a:r>
            <a:r>
              <a:rPr dirty="0"/>
              <a:t>, </a:t>
            </a:r>
            <a:r>
              <a:rPr dirty="0" err="1"/>
              <a:t>nên</a:t>
            </a:r>
            <a:r>
              <a:rPr dirty="0"/>
              <a:t> </a:t>
            </a:r>
            <a:r>
              <a:rPr dirty="0" err="1"/>
              <a:t>danh</a:t>
            </a:r>
            <a:r>
              <a:rPr dirty="0"/>
              <a:t> </a:t>
            </a:r>
            <a:r>
              <a:rPr dirty="0" err="1"/>
              <a:t>sách</a:t>
            </a:r>
            <a:r>
              <a:rPr dirty="0"/>
              <a:t> </a:t>
            </a:r>
            <a:r>
              <a:rPr dirty="0" err="1"/>
              <a:t>trường</a:t>
            </a:r>
            <a:r>
              <a:rPr dirty="0"/>
              <a:t> </a:t>
            </a:r>
            <a:r>
              <a:rPr dirty="0" err="1"/>
              <a:t>có</a:t>
            </a:r>
            <a:r>
              <a:rPr dirty="0"/>
              <a:t> </a:t>
            </a:r>
            <a:r>
              <a:rPr dirty="0" err="1"/>
              <a:t>đủ</a:t>
            </a:r>
            <a:r>
              <a:rPr dirty="0"/>
              <a:t> </a:t>
            </a:r>
            <a:r>
              <a:rPr dirty="0" err="1"/>
              <a:t>sáu</a:t>
            </a:r>
            <a:r>
              <a:rPr dirty="0"/>
              <a:t> </a:t>
            </a:r>
            <a:r>
              <a:rPr dirty="0" err="1"/>
              <a:t>bảng</a:t>
            </a:r>
            <a:r>
              <a:rPr dirty="0"/>
              <a:t>. (→ Rows: Product → Category; Values: tick Target → Target)</a:t>
            </a:r>
          </a:p>
          <a:p>
            <a:r>
              <a:rPr dirty="0" err="1"/>
              <a:t>Câu</a:t>
            </a:r>
            <a:r>
              <a:rPr dirty="0"/>
              <a:t> </a:t>
            </a:r>
            <a:r>
              <a:rPr dirty="0" err="1"/>
              <a:t>hỏi</a:t>
            </a:r>
            <a:r>
              <a:rPr dirty="0"/>
              <a:t> </a:t>
            </a:r>
            <a:r>
              <a:rPr dirty="0" err="1"/>
              <a:t>cho</a:t>
            </a:r>
            <a:r>
              <a:rPr dirty="0"/>
              <a:t> </a:t>
            </a:r>
            <a:r>
              <a:rPr dirty="0" err="1"/>
              <a:t>lớp</a:t>
            </a:r>
            <a:r>
              <a:rPr dirty="0"/>
              <a:t>: </a:t>
            </a:r>
            <a:r>
              <a:rPr dirty="0" err="1"/>
              <a:t>sáu</a:t>
            </a:r>
            <a:r>
              <a:rPr dirty="0"/>
              <a:t> </a:t>
            </a:r>
            <a:r>
              <a:rPr dirty="0" err="1"/>
              <a:t>ngành</a:t>
            </a:r>
            <a:r>
              <a:rPr dirty="0"/>
              <a:t> </a:t>
            </a:r>
            <a:r>
              <a:rPr dirty="0" err="1"/>
              <a:t>hàng</a:t>
            </a:r>
            <a:r>
              <a:rPr dirty="0"/>
              <a:t>, </a:t>
            </a:r>
            <a:r>
              <a:rPr dirty="0" err="1"/>
              <a:t>sáu</a:t>
            </a:r>
            <a:r>
              <a:rPr dirty="0"/>
              <a:t> </a:t>
            </a:r>
            <a:r>
              <a:rPr dirty="0" err="1"/>
              <a:t>dòng</a:t>
            </a:r>
            <a:r>
              <a:rPr dirty="0"/>
              <a:t>, </a:t>
            </a:r>
            <a:r>
              <a:rPr dirty="0" err="1"/>
              <a:t>mà</a:t>
            </a:r>
            <a:r>
              <a:rPr dirty="0"/>
              <a:t> </a:t>
            </a:r>
            <a:r>
              <a:rPr dirty="0" err="1"/>
              <a:t>dòng</a:t>
            </a:r>
            <a:r>
              <a:rPr dirty="0"/>
              <a:t> </a:t>
            </a:r>
            <a:r>
              <a:rPr dirty="0" err="1"/>
              <a:t>nào</a:t>
            </a:r>
            <a:r>
              <a:rPr dirty="0"/>
              <a:t> </a:t>
            </a:r>
            <a:r>
              <a:rPr dirty="0" err="1"/>
              <a:t>cũng</a:t>
            </a:r>
            <a:r>
              <a:rPr dirty="0"/>
              <a:t> 3.665.000.000. </a:t>
            </a:r>
            <a:r>
              <a:rPr dirty="0" err="1"/>
              <a:t>Vì</a:t>
            </a:r>
            <a:r>
              <a:rPr dirty="0"/>
              <a:t> </a:t>
            </a:r>
            <a:r>
              <a:rPr dirty="0" err="1"/>
              <a:t>sao</a:t>
            </a:r>
            <a:r>
              <a:rPr dirty="0"/>
              <a:t>? (→ </a:t>
            </a:r>
            <a:r>
              <a:rPr dirty="0" err="1"/>
              <a:t>chờ</a:t>
            </a:r>
            <a:r>
              <a:rPr dirty="0"/>
              <a:t>) Thanh </a:t>
            </a:r>
            <a:r>
              <a:rPr dirty="0" err="1"/>
              <a:t>vàng</a:t>
            </a:r>
            <a:r>
              <a:rPr dirty="0"/>
              <a:t> </a:t>
            </a:r>
            <a:r>
              <a:rPr dirty="0" err="1"/>
              <a:t>phía</a:t>
            </a:r>
            <a:r>
              <a:rPr dirty="0"/>
              <a:t> </a:t>
            </a:r>
            <a:r>
              <a:rPr dirty="0" err="1"/>
              <a:t>trên</a:t>
            </a:r>
            <a:r>
              <a:rPr dirty="0"/>
              <a:t> </a:t>
            </a:r>
            <a:r>
              <a:rPr dirty="0" err="1"/>
              <a:t>danh</a:t>
            </a:r>
            <a:r>
              <a:rPr dirty="0"/>
              <a:t> </a:t>
            </a:r>
            <a:r>
              <a:rPr dirty="0" err="1"/>
              <a:t>sách</a:t>
            </a:r>
            <a:r>
              <a:rPr dirty="0"/>
              <a:t> </a:t>
            </a:r>
            <a:r>
              <a:rPr dirty="0" err="1"/>
              <a:t>trường</a:t>
            </a:r>
            <a:r>
              <a:rPr dirty="0"/>
              <a:t> </a:t>
            </a:r>
            <a:r>
              <a:rPr dirty="0" err="1"/>
              <a:t>gợi</a:t>
            </a:r>
            <a:r>
              <a:rPr dirty="0"/>
              <a:t> ý: </a:t>
            </a:r>
            <a:r>
              <a:rPr dirty="0" err="1"/>
              <a:t>thiếu</a:t>
            </a:r>
            <a:r>
              <a:rPr dirty="0"/>
              <a:t> relationship. Target </a:t>
            </a:r>
            <a:r>
              <a:rPr dirty="0" err="1"/>
              <a:t>chưa</a:t>
            </a:r>
            <a:r>
              <a:rPr dirty="0"/>
              <a:t> </a:t>
            </a:r>
            <a:r>
              <a:rPr dirty="0" err="1"/>
              <a:t>nối</a:t>
            </a:r>
            <a:r>
              <a:rPr dirty="0"/>
              <a:t> </a:t>
            </a:r>
            <a:r>
              <a:rPr dirty="0" err="1"/>
              <a:t>với</a:t>
            </a:r>
            <a:r>
              <a:rPr dirty="0"/>
              <a:t> </a:t>
            </a:r>
            <a:r>
              <a:rPr dirty="0" err="1"/>
              <a:t>bảng</a:t>
            </a:r>
            <a:r>
              <a:rPr dirty="0"/>
              <a:t> </a:t>
            </a:r>
            <a:r>
              <a:rPr dirty="0" err="1"/>
              <a:t>nào</a:t>
            </a:r>
            <a:r>
              <a:rPr dirty="0"/>
              <a:t>. </a:t>
            </a:r>
            <a:r>
              <a:rPr dirty="0" err="1"/>
              <a:t>Nhưng</a:t>
            </a:r>
            <a:r>
              <a:rPr dirty="0"/>
              <a:t> </a:t>
            </a:r>
            <a:r>
              <a:rPr dirty="0" err="1"/>
              <a:t>sâu</a:t>
            </a:r>
            <a:r>
              <a:rPr dirty="0"/>
              <a:t> </a:t>
            </a:r>
            <a:r>
              <a:rPr dirty="0" err="1"/>
              <a:t>hơn</a:t>
            </a:r>
            <a:r>
              <a:rPr dirty="0"/>
              <a:t>: </a:t>
            </a:r>
            <a:r>
              <a:rPr dirty="0" err="1"/>
              <a:t>bảng</a:t>
            </a:r>
            <a:r>
              <a:rPr dirty="0"/>
              <a:t> Target </a:t>
            </a:r>
            <a:r>
              <a:rPr dirty="0" err="1"/>
              <a:t>không</a:t>
            </a:r>
            <a:r>
              <a:rPr dirty="0"/>
              <a:t> </a:t>
            </a:r>
            <a:r>
              <a:rPr dirty="0" err="1"/>
              <a:t>có</a:t>
            </a:r>
            <a:r>
              <a:rPr dirty="0"/>
              <a:t> </a:t>
            </a:r>
            <a:r>
              <a:rPr dirty="0" err="1"/>
              <a:t>cột</a:t>
            </a:r>
            <a:r>
              <a:rPr dirty="0"/>
              <a:t> </a:t>
            </a:r>
            <a:r>
              <a:rPr dirty="0" err="1"/>
              <a:t>sản</a:t>
            </a:r>
            <a:r>
              <a:rPr dirty="0"/>
              <a:t> </a:t>
            </a:r>
            <a:r>
              <a:rPr dirty="0" err="1"/>
              <a:t>phẩm</a:t>
            </a:r>
            <a:r>
              <a:rPr dirty="0"/>
              <a:t>, </a:t>
            </a:r>
            <a:r>
              <a:rPr dirty="0" err="1"/>
              <a:t>kế</a:t>
            </a:r>
            <a:r>
              <a:rPr dirty="0"/>
              <a:t> </a:t>
            </a:r>
            <a:r>
              <a:rPr dirty="0" err="1"/>
              <a:t>hoạch</a:t>
            </a:r>
            <a:r>
              <a:rPr dirty="0"/>
              <a:t> </a:t>
            </a:r>
            <a:r>
              <a:rPr dirty="0" err="1"/>
              <a:t>chỉ</a:t>
            </a:r>
            <a:r>
              <a:rPr dirty="0"/>
              <a:t> </a:t>
            </a:r>
            <a:r>
              <a:rPr dirty="0" err="1"/>
              <a:t>lập</a:t>
            </a:r>
            <a:r>
              <a:rPr dirty="0"/>
              <a:t> </a:t>
            </a:r>
            <a:r>
              <a:rPr dirty="0" err="1"/>
              <a:t>tới</a:t>
            </a:r>
            <a:r>
              <a:rPr dirty="0"/>
              <a:t> </a:t>
            </a:r>
            <a:r>
              <a:rPr dirty="0" err="1"/>
              <a:t>cửa</a:t>
            </a:r>
            <a:r>
              <a:rPr dirty="0"/>
              <a:t> </a:t>
            </a:r>
            <a:r>
              <a:rPr dirty="0" err="1"/>
              <a:t>hàng</a:t>
            </a:r>
            <a:r>
              <a:rPr dirty="0"/>
              <a:t> </a:t>
            </a:r>
            <a:r>
              <a:rPr dirty="0" err="1"/>
              <a:t>và</a:t>
            </a:r>
            <a:r>
              <a:rPr dirty="0"/>
              <a:t> </a:t>
            </a:r>
            <a:r>
              <a:rPr dirty="0" err="1"/>
              <a:t>tháng</a:t>
            </a:r>
            <a:r>
              <a:rPr dirty="0"/>
              <a:t>. </a:t>
            </a:r>
            <a:r>
              <a:rPr dirty="0" err="1"/>
              <a:t>Nên</a:t>
            </a:r>
            <a:r>
              <a:rPr dirty="0"/>
              <a:t> </a:t>
            </a:r>
            <a:r>
              <a:rPr dirty="0" err="1"/>
              <a:t>dù</a:t>
            </a:r>
            <a:r>
              <a:rPr dirty="0"/>
              <a:t> </a:t>
            </a:r>
            <a:r>
              <a:rPr dirty="0" err="1"/>
              <a:t>nối</a:t>
            </a:r>
            <a:r>
              <a:rPr dirty="0"/>
              <a:t> </a:t>
            </a:r>
            <a:r>
              <a:rPr dirty="0" err="1"/>
              <a:t>thế</a:t>
            </a:r>
            <a:r>
              <a:rPr dirty="0"/>
              <a:t> </a:t>
            </a:r>
            <a:r>
              <a:rPr dirty="0" err="1"/>
              <a:t>nào</a:t>
            </a:r>
            <a:r>
              <a:rPr dirty="0"/>
              <a:t>, </a:t>
            </a:r>
            <a:r>
              <a:rPr dirty="0" err="1"/>
              <a:t>ngành</a:t>
            </a:r>
            <a:r>
              <a:rPr dirty="0"/>
              <a:t> </a:t>
            </a:r>
            <a:r>
              <a:rPr dirty="0" err="1"/>
              <a:t>hàng</a:t>
            </a:r>
            <a:r>
              <a:rPr dirty="0"/>
              <a:t> </a:t>
            </a:r>
            <a:r>
              <a:rPr dirty="0" err="1"/>
              <a:t>cũng</a:t>
            </a:r>
            <a:r>
              <a:rPr dirty="0"/>
              <a:t> </a:t>
            </a:r>
            <a:r>
              <a:rPr dirty="0" err="1"/>
              <a:t>không</a:t>
            </a:r>
            <a:r>
              <a:rPr dirty="0"/>
              <a:t> </a:t>
            </a:r>
            <a:r>
              <a:rPr dirty="0" err="1"/>
              <a:t>lọc</a:t>
            </a:r>
            <a:r>
              <a:rPr dirty="0"/>
              <a:t> </a:t>
            </a:r>
            <a:r>
              <a:rPr dirty="0" err="1"/>
              <a:t>được</a:t>
            </a:r>
            <a:r>
              <a:rPr dirty="0"/>
              <a:t> Target. Pivot </a:t>
            </a:r>
            <a:r>
              <a:rPr dirty="0" err="1"/>
              <a:t>không</a:t>
            </a:r>
            <a:r>
              <a:rPr dirty="0"/>
              <a:t> </a:t>
            </a:r>
            <a:r>
              <a:rPr dirty="0" err="1"/>
              <a:t>biết</a:t>
            </a:r>
            <a:r>
              <a:rPr dirty="0"/>
              <a:t> chia, </a:t>
            </a:r>
            <a:r>
              <a:rPr dirty="0" err="1"/>
              <a:t>nên</a:t>
            </a:r>
            <a:r>
              <a:rPr dirty="0"/>
              <a:t> </a:t>
            </a:r>
            <a:r>
              <a:rPr dirty="0" err="1"/>
              <a:t>đưa</a:t>
            </a:r>
            <a:r>
              <a:rPr dirty="0"/>
              <a:t> </a:t>
            </a:r>
            <a:r>
              <a:rPr dirty="0" err="1"/>
              <a:t>cả</a:t>
            </a:r>
            <a:r>
              <a:rPr dirty="0"/>
              <a:t> </a:t>
            </a:r>
            <a:r>
              <a:rPr dirty="0" err="1"/>
              <a:t>tổng</a:t>
            </a:r>
            <a:r>
              <a:rPr dirty="0"/>
              <a:t> </a:t>
            </a:r>
            <a:r>
              <a:rPr dirty="0" err="1"/>
              <a:t>vào</a:t>
            </a:r>
            <a:r>
              <a:rPr dirty="0"/>
              <a:t> </a:t>
            </a:r>
            <a:r>
              <a:rPr dirty="0" err="1"/>
              <a:t>mọi</a:t>
            </a:r>
            <a:r>
              <a:rPr dirty="0"/>
              <a:t> </a:t>
            </a:r>
            <a:r>
              <a:rPr dirty="0" err="1"/>
              <a:t>dòng</a:t>
            </a:r>
            <a:r>
              <a:rPr dirty="0"/>
              <a:t>.</a:t>
            </a:r>
          </a:p>
          <a:p>
            <a:r>
              <a:rPr dirty="0" err="1"/>
              <a:t>Nối</a:t>
            </a:r>
            <a:r>
              <a:rPr dirty="0"/>
              <a:t> Target </a:t>
            </a:r>
            <a:r>
              <a:rPr dirty="0" err="1"/>
              <a:t>vào</a:t>
            </a:r>
            <a:r>
              <a:rPr dirty="0"/>
              <a:t> </a:t>
            </a:r>
            <a:r>
              <a:rPr dirty="0" err="1"/>
              <a:t>hai</a:t>
            </a:r>
            <a:r>
              <a:rPr dirty="0"/>
              <a:t> lookup </a:t>
            </a:r>
            <a:r>
              <a:rPr dirty="0" err="1"/>
              <a:t>nó</a:t>
            </a:r>
            <a:r>
              <a:rPr dirty="0"/>
              <a:t> </a:t>
            </a:r>
            <a:r>
              <a:rPr dirty="0" err="1"/>
              <a:t>có</a:t>
            </a:r>
            <a:r>
              <a:rPr dirty="0"/>
              <a:t> </a:t>
            </a:r>
            <a:r>
              <a:rPr dirty="0" err="1"/>
              <a:t>chung</a:t>
            </a:r>
            <a:r>
              <a:rPr dirty="0"/>
              <a:t> </a:t>
            </a:r>
            <a:r>
              <a:rPr dirty="0" err="1"/>
              <a:t>với</a:t>
            </a:r>
            <a:r>
              <a:rPr dirty="0"/>
              <a:t> Sales. (→ Diagram View: </a:t>
            </a:r>
            <a:r>
              <a:rPr dirty="0" err="1"/>
              <a:t>kéo</a:t>
            </a:r>
            <a:r>
              <a:rPr dirty="0"/>
              <a:t> Target[</a:t>
            </a:r>
            <a:r>
              <a:rPr dirty="0" err="1"/>
              <a:t>Store_Code</a:t>
            </a:r>
            <a:r>
              <a:rPr dirty="0"/>
              <a:t>] </a:t>
            </a:r>
            <a:r>
              <a:rPr dirty="0" err="1"/>
              <a:t>thả</a:t>
            </a:r>
            <a:r>
              <a:rPr dirty="0"/>
              <a:t> </a:t>
            </a:r>
            <a:r>
              <a:rPr dirty="0" err="1"/>
              <a:t>lên</a:t>
            </a:r>
            <a:r>
              <a:rPr dirty="0"/>
              <a:t> Store[</a:t>
            </a:r>
            <a:r>
              <a:rPr dirty="0" err="1"/>
              <a:t>Store_Code</a:t>
            </a:r>
            <a:r>
              <a:rPr dirty="0"/>
              <a:t>]; Design → Create Relationship: Target / </a:t>
            </a:r>
            <a:r>
              <a:rPr dirty="0" err="1"/>
              <a:t>Ngay_Dau_Thang</a:t>
            </a:r>
            <a:r>
              <a:rPr dirty="0"/>
              <a:t>, Calendar / Date → OK) </a:t>
            </a:r>
            <a:r>
              <a:rPr dirty="0" err="1"/>
              <a:t>Cột</a:t>
            </a:r>
            <a:r>
              <a:rPr dirty="0"/>
              <a:t> </a:t>
            </a:r>
            <a:r>
              <a:rPr dirty="0" err="1"/>
              <a:t>Ngay_Dau_Thang</a:t>
            </a:r>
            <a:r>
              <a:rPr dirty="0"/>
              <a:t> </a:t>
            </a:r>
            <a:r>
              <a:rPr dirty="0" err="1"/>
              <a:t>của</a:t>
            </a:r>
            <a:r>
              <a:rPr dirty="0"/>
              <a:t> </a:t>
            </a:r>
            <a:r>
              <a:rPr dirty="0" err="1"/>
              <a:t>Buổi</a:t>
            </a:r>
            <a:r>
              <a:rPr dirty="0"/>
              <a:t> 4 </a:t>
            </a:r>
            <a:r>
              <a:rPr dirty="0" err="1"/>
              <a:t>chính</a:t>
            </a:r>
            <a:r>
              <a:rPr dirty="0"/>
              <a:t> </a:t>
            </a:r>
            <a:r>
              <a:rPr dirty="0" err="1"/>
              <a:t>là</a:t>
            </a:r>
            <a:r>
              <a:rPr dirty="0"/>
              <a:t> </a:t>
            </a:r>
            <a:r>
              <a:rPr dirty="0" err="1"/>
              <a:t>cái</a:t>
            </a:r>
            <a:r>
              <a:rPr dirty="0"/>
              <a:t> </a:t>
            </a:r>
            <a:r>
              <a:rPr dirty="0" err="1"/>
              <a:t>móc</a:t>
            </a:r>
            <a:r>
              <a:rPr dirty="0"/>
              <a:t> </a:t>
            </a:r>
            <a:r>
              <a:rPr dirty="0" err="1"/>
              <a:t>để</a:t>
            </a:r>
            <a:r>
              <a:rPr dirty="0"/>
              <a:t> Target </a:t>
            </a:r>
            <a:r>
              <a:rPr dirty="0" err="1"/>
              <a:t>nối</a:t>
            </a:r>
            <a:r>
              <a:rPr dirty="0"/>
              <a:t> </a:t>
            </a:r>
            <a:r>
              <a:rPr dirty="0" err="1"/>
              <a:t>vào</a:t>
            </a:r>
            <a:r>
              <a:rPr dirty="0"/>
              <a:t> </a:t>
            </a:r>
            <a:r>
              <a:rPr dirty="0" err="1"/>
              <a:t>lịch</a:t>
            </a:r>
            <a:r>
              <a:rPr dirty="0"/>
              <a:t>.</a:t>
            </a:r>
          </a:p>
          <a:p>
            <a:r>
              <a:rPr dirty="0"/>
              <a:t>(→ quay </a:t>
            </a:r>
            <a:r>
              <a:rPr dirty="0" err="1"/>
              <a:t>lại</a:t>
            </a:r>
            <a:r>
              <a:rPr dirty="0"/>
              <a:t> </a:t>
            </a:r>
            <a:r>
              <a:rPr dirty="0" err="1"/>
              <a:t>PV_Grain</a:t>
            </a:r>
            <a:r>
              <a:rPr dirty="0"/>
              <a:t>: </a:t>
            </a:r>
            <a:r>
              <a:rPr dirty="0" err="1"/>
              <a:t>bỏ</a:t>
            </a:r>
            <a:r>
              <a:rPr dirty="0"/>
              <a:t> Category </a:t>
            </a:r>
            <a:r>
              <a:rPr dirty="0" err="1"/>
              <a:t>khỏi</a:t>
            </a:r>
            <a:r>
              <a:rPr dirty="0"/>
              <a:t> Rows, </a:t>
            </a:r>
            <a:r>
              <a:rPr dirty="0" err="1"/>
              <a:t>kéo</a:t>
            </a:r>
            <a:r>
              <a:rPr dirty="0"/>
              <a:t> Store → Region </a:t>
            </a:r>
            <a:r>
              <a:rPr dirty="0" err="1"/>
              <a:t>vào</a:t>
            </a:r>
            <a:r>
              <a:rPr dirty="0"/>
              <a:t> Rows) </a:t>
            </a:r>
            <a:r>
              <a:rPr dirty="0" err="1"/>
              <a:t>Giờ</a:t>
            </a:r>
            <a:r>
              <a:rPr dirty="0"/>
              <a:t> chia </a:t>
            </a:r>
            <a:r>
              <a:rPr dirty="0" err="1"/>
              <a:t>đúng</a:t>
            </a:r>
            <a:r>
              <a:rPr dirty="0"/>
              <a:t>: Bắc 1 </a:t>
            </a:r>
            <a:r>
              <a:rPr dirty="0" err="1"/>
              <a:t>tỷ</a:t>
            </a:r>
            <a:r>
              <a:rPr dirty="0"/>
              <a:t> 227 </a:t>
            </a:r>
            <a:r>
              <a:rPr dirty="0" err="1"/>
              <a:t>triệu</a:t>
            </a:r>
            <a:r>
              <a:rPr dirty="0"/>
              <a:t>, Nam 1 </a:t>
            </a:r>
            <a:r>
              <a:rPr dirty="0" err="1"/>
              <a:t>tỷ</a:t>
            </a:r>
            <a:r>
              <a:rPr dirty="0"/>
              <a:t> 685 </a:t>
            </a:r>
            <a:r>
              <a:rPr dirty="0" err="1"/>
              <a:t>triệu</a:t>
            </a:r>
            <a:r>
              <a:rPr dirty="0"/>
              <a:t>, Trung 753 </a:t>
            </a:r>
            <a:r>
              <a:rPr dirty="0" err="1"/>
              <a:t>triệu</a:t>
            </a:r>
            <a:r>
              <a:rPr dirty="0"/>
              <a:t>. (→ </a:t>
            </a:r>
            <a:r>
              <a:rPr dirty="0" err="1"/>
              <a:t>kéo</a:t>
            </a:r>
            <a:r>
              <a:rPr dirty="0"/>
              <a:t> Category </a:t>
            </a:r>
            <a:r>
              <a:rPr dirty="0" err="1"/>
              <a:t>trở</a:t>
            </a:r>
            <a:r>
              <a:rPr dirty="0"/>
              <a:t> </a:t>
            </a:r>
            <a:r>
              <a:rPr dirty="0" err="1"/>
              <a:t>lại</a:t>
            </a:r>
            <a:r>
              <a:rPr dirty="0"/>
              <a:t> Rows, </a:t>
            </a:r>
            <a:r>
              <a:rPr dirty="0" err="1"/>
              <a:t>dưới</a:t>
            </a:r>
            <a:r>
              <a:rPr dirty="0"/>
              <a:t> Region) </a:t>
            </a:r>
            <a:r>
              <a:rPr dirty="0" err="1"/>
              <a:t>Còn</a:t>
            </a:r>
            <a:r>
              <a:rPr dirty="0"/>
              <a:t> </a:t>
            </a:r>
            <a:r>
              <a:rPr dirty="0" err="1"/>
              <a:t>ngành</a:t>
            </a:r>
            <a:r>
              <a:rPr dirty="0"/>
              <a:t> </a:t>
            </a:r>
            <a:r>
              <a:rPr dirty="0" err="1"/>
              <a:t>hàng</a:t>
            </a:r>
            <a:r>
              <a:rPr dirty="0"/>
              <a:t> </a:t>
            </a:r>
            <a:r>
              <a:rPr dirty="0" err="1"/>
              <a:t>thì</a:t>
            </a:r>
            <a:r>
              <a:rPr dirty="0"/>
              <a:t> </a:t>
            </a:r>
            <a:r>
              <a:rPr dirty="0" err="1"/>
              <a:t>vẫn</a:t>
            </a:r>
            <a:r>
              <a:rPr dirty="0"/>
              <a:t> </a:t>
            </a:r>
            <a:r>
              <a:rPr dirty="0" err="1"/>
              <a:t>lặp</a:t>
            </a:r>
            <a:r>
              <a:rPr dirty="0"/>
              <a:t> </a:t>
            </a:r>
            <a:r>
              <a:rPr dirty="0" err="1"/>
              <a:t>lại</a:t>
            </a:r>
            <a:r>
              <a:rPr dirty="0"/>
              <a:t>, </a:t>
            </a:r>
            <a:r>
              <a:rPr dirty="0" err="1"/>
              <a:t>và</a:t>
            </a:r>
            <a:r>
              <a:rPr dirty="0"/>
              <a:t> </a:t>
            </a:r>
            <a:r>
              <a:rPr dirty="0" err="1"/>
              <a:t>đó</a:t>
            </a:r>
            <a:r>
              <a:rPr dirty="0"/>
              <a:t> </a:t>
            </a:r>
            <a:r>
              <a:rPr dirty="0" err="1"/>
              <a:t>là</a:t>
            </a:r>
            <a:r>
              <a:rPr dirty="0"/>
              <a:t> </a:t>
            </a:r>
            <a:r>
              <a:rPr dirty="0" err="1"/>
              <a:t>đúng</a:t>
            </a:r>
            <a:r>
              <a:rPr dirty="0"/>
              <a:t>. Target </a:t>
            </a:r>
            <a:r>
              <a:rPr dirty="0" err="1"/>
              <a:t>chỉ</a:t>
            </a:r>
            <a:r>
              <a:rPr dirty="0"/>
              <a:t> </a:t>
            </a:r>
            <a:r>
              <a:rPr dirty="0" err="1"/>
              <a:t>lọc</a:t>
            </a:r>
            <a:r>
              <a:rPr dirty="0"/>
              <a:t> </a:t>
            </a:r>
            <a:r>
              <a:rPr dirty="0" err="1"/>
              <a:t>được</a:t>
            </a:r>
            <a:r>
              <a:rPr dirty="0"/>
              <a:t> </a:t>
            </a:r>
            <a:r>
              <a:rPr dirty="0" err="1"/>
              <a:t>theo</a:t>
            </a:r>
            <a:r>
              <a:rPr dirty="0"/>
              <a:t> </a:t>
            </a:r>
            <a:r>
              <a:rPr dirty="0" err="1"/>
              <a:t>những</a:t>
            </a:r>
            <a:r>
              <a:rPr dirty="0"/>
              <a:t> </a:t>
            </a:r>
            <a:r>
              <a:rPr dirty="0" err="1"/>
              <a:t>chiều</a:t>
            </a:r>
            <a:r>
              <a:rPr dirty="0"/>
              <a:t> </a:t>
            </a:r>
            <a:r>
              <a:rPr dirty="0" err="1"/>
              <a:t>mà</a:t>
            </a:r>
            <a:r>
              <a:rPr dirty="0"/>
              <a:t> Target </a:t>
            </a:r>
            <a:r>
              <a:rPr dirty="0" err="1"/>
              <a:t>có</a:t>
            </a:r>
            <a:r>
              <a:rPr dirty="0"/>
              <a:t>: </a:t>
            </a:r>
            <a:r>
              <a:rPr dirty="0" err="1"/>
              <a:t>cửa</a:t>
            </a:r>
            <a:r>
              <a:rPr dirty="0"/>
              <a:t> </a:t>
            </a:r>
            <a:r>
              <a:rPr dirty="0" err="1"/>
              <a:t>hàng</a:t>
            </a:r>
            <a:r>
              <a:rPr dirty="0"/>
              <a:t>, </a:t>
            </a:r>
            <a:r>
              <a:rPr dirty="0" err="1"/>
              <a:t>miền</a:t>
            </a:r>
            <a:r>
              <a:rPr dirty="0"/>
              <a:t>, </a:t>
            </a:r>
            <a:r>
              <a:rPr dirty="0" err="1"/>
              <a:t>tháng</a:t>
            </a:r>
            <a:r>
              <a:rPr dirty="0"/>
              <a:t>. (→ Diagram View: </a:t>
            </a:r>
            <a:r>
              <a:rPr dirty="0" err="1"/>
              <a:t>chỉ</a:t>
            </a:r>
            <a:r>
              <a:rPr dirty="0"/>
              <a:t> </a:t>
            </a:r>
            <a:r>
              <a:rPr dirty="0" err="1"/>
              <a:t>hình</a:t>
            </a:r>
            <a:r>
              <a:rPr dirty="0"/>
              <a:t> </a:t>
            </a:r>
            <a:r>
              <a:rPr dirty="0" err="1"/>
              <a:t>ngôi</a:t>
            </a:r>
            <a:r>
              <a:rPr dirty="0"/>
              <a:t> </a:t>
            </a:r>
            <a:r>
              <a:rPr dirty="0" err="1"/>
              <a:t>sao</a:t>
            </a:r>
            <a:r>
              <a:rPr dirty="0"/>
              <a:t> </a:t>
            </a:r>
            <a:r>
              <a:rPr dirty="0" err="1"/>
              <a:t>có</a:t>
            </a:r>
            <a:r>
              <a:rPr dirty="0"/>
              <a:t> </a:t>
            </a:r>
            <a:r>
              <a:rPr dirty="0" err="1"/>
              <a:t>hai</a:t>
            </a:r>
            <a:r>
              <a:rPr dirty="0"/>
              <a:t> </a:t>
            </a:r>
            <a:r>
              <a:rPr dirty="0" err="1"/>
              <a:t>bảng</a:t>
            </a:r>
            <a:r>
              <a:rPr dirty="0"/>
              <a:t> ở </a:t>
            </a:r>
            <a:r>
              <a:rPr dirty="0" err="1"/>
              <a:t>giữa</a:t>
            </a:r>
            <a:r>
              <a:rPr dirty="0"/>
              <a:t>) </a:t>
            </a:r>
            <a:r>
              <a:rPr dirty="0" err="1"/>
              <a:t>Đây</a:t>
            </a:r>
            <a:r>
              <a:rPr dirty="0"/>
              <a:t> </a:t>
            </a:r>
            <a:r>
              <a:rPr dirty="0" err="1"/>
              <a:t>là</a:t>
            </a:r>
            <a:r>
              <a:rPr dirty="0"/>
              <a:t> brick output </a:t>
            </a:r>
            <a:r>
              <a:rPr dirty="0" err="1"/>
              <a:t>thứ</a:t>
            </a:r>
            <a:r>
              <a:rPr dirty="0"/>
              <a:t> </a:t>
            </a:r>
            <a:r>
              <a:rPr dirty="0" err="1"/>
              <a:t>nhất</a:t>
            </a:r>
            <a:r>
              <a:rPr dirty="0"/>
              <a:t> </a:t>
            </a:r>
            <a:r>
              <a:rPr dirty="0" err="1"/>
              <a:t>hôm</a:t>
            </a:r>
            <a:r>
              <a:rPr dirty="0"/>
              <a:t> nay: </a:t>
            </a:r>
            <a:r>
              <a:rPr dirty="0" err="1"/>
              <a:t>một</a:t>
            </a:r>
            <a:r>
              <a:rPr dirty="0"/>
              <a:t> </a:t>
            </a:r>
            <a:r>
              <a:rPr dirty="0" err="1"/>
              <a:t>mô</a:t>
            </a:r>
            <a:r>
              <a:rPr dirty="0"/>
              <a:t> </a:t>
            </a:r>
            <a:r>
              <a:rPr dirty="0" err="1"/>
              <a:t>hình</a:t>
            </a:r>
            <a:r>
              <a:rPr dirty="0"/>
              <a:t> </a:t>
            </a:r>
            <a:r>
              <a:rPr dirty="0" err="1"/>
              <a:t>ngôi</a:t>
            </a:r>
            <a:r>
              <a:rPr dirty="0"/>
              <a:t> </a:t>
            </a:r>
            <a:r>
              <a:rPr dirty="0" err="1"/>
              <a:t>sao</a:t>
            </a:r>
            <a:r>
              <a:rPr dirty="0"/>
              <a:t> </a:t>
            </a:r>
            <a:r>
              <a:rPr dirty="0" err="1"/>
              <a:t>với</a:t>
            </a:r>
            <a:r>
              <a:rPr dirty="0"/>
              <a:t> </a:t>
            </a:r>
            <a:r>
              <a:rPr dirty="0" err="1"/>
              <a:t>hai</a:t>
            </a:r>
            <a:r>
              <a:rPr dirty="0"/>
              <a:t> </a:t>
            </a:r>
            <a:r>
              <a:rPr dirty="0" err="1"/>
              <a:t>bảng</a:t>
            </a:r>
            <a:r>
              <a:rPr dirty="0"/>
              <a:t> fact, </a:t>
            </a:r>
            <a:r>
              <a:rPr dirty="0" err="1"/>
              <a:t>gặp</a:t>
            </a:r>
            <a:r>
              <a:rPr dirty="0"/>
              <a:t> </a:t>
            </a:r>
            <a:r>
              <a:rPr dirty="0" err="1"/>
              <a:t>nhau</a:t>
            </a:r>
            <a:r>
              <a:rPr dirty="0"/>
              <a:t> qua Store </a:t>
            </a:r>
            <a:r>
              <a:rPr dirty="0" err="1"/>
              <a:t>và</a:t>
            </a:r>
            <a:r>
              <a:rPr dirty="0"/>
              <a:t> Calendar.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10 phút.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3: hai cách viết công thức trong Data Model, và vì sao KPI phải chọn đúng cách.</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5 </a:t>
            </a:r>
            <a:r>
              <a:rPr dirty="0" err="1"/>
              <a:t>phút</a:t>
            </a:r>
            <a:r>
              <a:rPr dirty="0"/>
              <a:t>.</a:t>
            </a:r>
          </a:p>
          <a:p>
            <a:r>
              <a:rPr dirty="0"/>
              <a:t>LỜI GIẢNG</a:t>
            </a:r>
          </a:p>
          <a:p>
            <a:r>
              <a:rPr dirty="0"/>
              <a:t>(→ </a:t>
            </a:r>
            <a:r>
              <a:rPr dirty="0" err="1"/>
              <a:t>mở</a:t>
            </a:r>
            <a:r>
              <a:rPr dirty="0"/>
              <a:t> Demo/B5_Demo_DAX.xlsx: </a:t>
            </a:r>
            <a:r>
              <a:rPr dirty="0" err="1"/>
              <a:t>mô</a:t>
            </a:r>
            <a:r>
              <a:rPr dirty="0"/>
              <a:t> </a:t>
            </a:r>
            <a:r>
              <a:rPr dirty="0" err="1"/>
              <a:t>hình</a:t>
            </a:r>
            <a:r>
              <a:rPr dirty="0"/>
              <a:t> </a:t>
            </a:r>
            <a:r>
              <a:rPr dirty="0" err="1"/>
              <a:t>đã</a:t>
            </a:r>
            <a:r>
              <a:rPr dirty="0"/>
              <a:t> </a:t>
            </a:r>
            <a:r>
              <a:rPr dirty="0" err="1"/>
              <a:t>nối</a:t>
            </a:r>
            <a:r>
              <a:rPr dirty="0"/>
              <a:t> </a:t>
            </a:r>
            <a:r>
              <a:rPr dirty="0" err="1"/>
              <a:t>đủ</a:t>
            </a:r>
            <a:r>
              <a:rPr dirty="0"/>
              <a:t> 6 relationship, </a:t>
            </a:r>
            <a:r>
              <a:rPr dirty="0" err="1"/>
              <a:t>giống</a:t>
            </a:r>
            <a:r>
              <a:rPr dirty="0"/>
              <a:t> </a:t>
            </a:r>
            <a:r>
              <a:rPr dirty="0" err="1"/>
              <a:t>cuối</a:t>
            </a:r>
            <a:r>
              <a:rPr dirty="0"/>
              <a:t> Slide 12; </a:t>
            </a:r>
            <a:r>
              <a:rPr dirty="0" err="1"/>
              <a:t>học</a:t>
            </a:r>
            <a:r>
              <a:rPr dirty="0"/>
              <a:t> </a:t>
            </a:r>
            <a:r>
              <a:rPr dirty="0" err="1"/>
              <a:t>viên</a:t>
            </a:r>
            <a:r>
              <a:rPr dirty="0"/>
              <a:t> </a:t>
            </a:r>
            <a:r>
              <a:rPr dirty="0" err="1"/>
              <a:t>nào</a:t>
            </a:r>
            <a:r>
              <a:rPr dirty="0"/>
              <a:t> </a:t>
            </a:r>
            <a:r>
              <a:rPr dirty="0" err="1"/>
              <a:t>chưa</a:t>
            </a:r>
            <a:r>
              <a:rPr dirty="0"/>
              <a:t> </a:t>
            </a:r>
            <a:r>
              <a:rPr dirty="0" err="1"/>
              <a:t>kịp</a:t>
            </a:r>
            <a:r>
              <a:rPr dirty="0"/>
              <a:t> </a:t>
            </a:r>
            <a:r>
              <a:rPr dirty="0" err="1"/>
              <a:t>nối</a:t>
            </a:r>
            <a:r>
              <a:rPr dirty="0"/>
              <a:t> </a:t>
            </a:r>
            <a:r>
              <a:rPr dirty="0" err="1"/>
              <a:t>thì</a:t>
            </a:r>
            <a:r>
              <a:rPr dirty="0"/>
              <a:t> </a:t>
            </a:r>
            <a:r>
              <a:rPr dirty="0" err="1"/>
              <a:t>mở</a:t>
            </a:r>
            <a:r>
              <a:rPr dirty="0"/>
              <a:t> Demo/B5_Demo_DAX_HocVien.xlsx </a:t>
            </a:r>
            <a:r>
              <a:rPr dirty="0" err="1"/>
              <a:t>làm</a:t>
            </a:r>
            <a:r>
              <a:rPr dirty="0"/>
              <a:t> </a:t>
            </a:r>
            <a:r>
              <a:rPr dirty="0" err="1"/>
              <a:t>tiếp</a:t>
            </a:r>
            <a:r>
              <a:rPr dirty="0"/>
              <a:t>) </a:t>
            </a:r>
            <a:r>
              <a:rPr dirty="0" err="1"/>
              <a:t>Từ</a:t>
            </a:r>
            <a:r>
              <a:rPr dirty="0"/>
              <a:t> </a:t>
            </a:r>
            <a:r>
              <a:rPr dirty="0" err="1"/>
              <a:t>phần</a:t>
            </a:r>
            <a:r>
              <a:rPr dirty="0"/>
              <a:t> </a:t>
            </a:r>
            <a:r>
              <a:rPr dirty="0" err="1"/>
              <a:t>này</a:t>
            </a:r>
            <a:r>
              <a:rPr dirty="0"/>
              <a:t> </a:t>
            </a:r>
            <a:r>
              <a:rPr dirty="0" err="1"/>
              <a:t>mình</a:t>
            </a:r>
            <a:r>
              <a:rPr dirty="0"/>
              <a:t> </a:t>
            </a:r>
            <a:r>
              <a:rPr dirty="0" err="1"/>
              <a:t>đổi</a:t>
            </a:r>
            <a:r>
              <a:rPr dirty="0"/>
              <a:t> sang file demo </a:t>
            </a:r>
            <a:r>
              <a:rPr dirty="0" err="1"/>
              <a:t>thứ</a:t>
            </a:r>
            <a:r>
              <a:rPr dirty="0"/>
              <a:t> </a:t>
            </a:r>
            <a:r>
              <a:rPr dirty="0" err="1"/>
              <a:t>hai</a:t>
            </a:r>
            <a:r>
              <a:rPr dirty="0"/>
              <a:t> </a:t>
            </a:r>
            <a:r>
              <a:rPr dirty="0" err="1"/>
              <a:t>đã</a:t>
            </a:r>
            <a:r>
              <a:rPr dirty="0"/>
              <a:t> </a:t>
            </a:r>
            <a:r>
              <a:rPr dirty="0" err="1"/>
              <a:t>nói</a:t>
            </a:r>
            <a:r>
              <a:rPr dirty="0"/>
              <a:t> ở </a:t>
            </a:r>
            <a:r>
              <a:rPr dirty="0" err="1"/>
              <a:t>đầu</a:t>
            </a:r>
            <a:r>
              <a:rPr dirty="0"/>
              <a:t> </a:t>
            </a:r>
            <a:r>
              <a:rPr dirty="0" err="1"/>
              <a:t>buổi</a:t>
            </a:r>
            <a:r>
              <a:rPr dirty="0"/>
              <a:t>: </a:t>
            </a:r>
            <a:r>
              <a:rPr dirty="0" err="1"/>
              <a:t>cùng</a:t>
            </a:r>
            <a:r>
              <a:rPr dirty="0"/>
              <a:t> </a:t>
            </a:r>
            <a:r>
              <a:rPr dirty="0" err="1"/>
              <a:t>sáu</a:t>
            </a:r>
            <a:r>
              <a:rPr dirty="0"/>
              <a:t> </a:t>
            </a:r>
            <a:r>
              <a:rPr dirty="0" err="1"/>
              <a:t>bảng</a:t>
            </a:r>
            <a:r>
              <a:rPr dirty="0"/>
              <a:t>, </a:t>
            </a:r>
            <a:r>
              <a:rPr dirty="0" err="1"/>
              <a:t>đã</a:t>
            </a:r>
            <a:r>
              <a:rPr dirty="0"/>
              <a:t> </a:t>
            </a:r>
            <a:r>
              <a:rPr dirty="0" err="1"/>
              <a:t>nối</a:t>
            </a:r>
            <a:r>
              <a:rPr dirty="0"/>
              <a:t> </a:t>
            </a:r>
            <a:r>
              <a:rPr dirty="0" err="1"/>
              <a:t>đủ</a:t>
            </a:r>
            <a:r>
              <a:rPr dirty="0"/>
              <a:t> </a:t>
            </a:r>
            <a:r>
              <a:rPr dirty="0" err="1"/>
              <a:t>sáu</a:t>
            </a:r>
            <a:r>
              <a:rPr dirty="0"/>
              <a:t> relationship </a:t>
            </a:r>
            <a:r>
              <a:rPr dirty="0" err="1"/>
              <a:t>như</a:t>
            </a:r>
            <a:r>
              <a:rPr dirty="0"/>
              <a:t> </a:t>
            </a:r>
            <a:r>
              <a:rPr dirty="0" err="1"/>
              <a:t>các</a:t>
            </a:r>
            <a:r>
              <a:rPr dirty="0"/>
              <a:t> </a:t>
            </a:r>
            <a:r>
              <a:rPr dirty="0" err="1"/>
              <a:t>bạn</a:t>
            </a:r>
            <a:r>
              <a:rPr dirty="0"/>
              <a:t> </a:t>
            </a:r>
            <a:r>
              <a:rPr dirty="0" err="1"/>
              <a:t>vừa</a:t>
            </a:r>
            <a:r>
              <a:rPr dirty="0"/>
              <a:t> </a:t>
            </a:r>
            <a:r>
              <a:rPr dirty="0" err="1"/>
              <a:t>làm</a:t>
            </a:r>
            <a:r>
              <a:rPr dirty="0"/>
              <a:t>, </a:t>
            </a:r>
            <a:r>
              <a:rPr dirty="0" err="1"/>
              <a:t>và</a:t>
            </a:r>
            <a:r>
              <a:rPr dirty="0"/>
              <a:t> </a:t>
            </a:r>
            <a:r>
              <a:rPr dirty="0" err="1"/>
              <a:t>có</a:t>
            </a:r>
            <a:r>
              <a:rPr dirty="0"/>
              <a:t> </a:t>
            </a:r>
            <a:r>
              <a:rPr dirty="0" err="1"/>
              <a:t>sẵn</a:t>
            </a:r>
            <a:r>
              <a:rPr dirty="0"/>
              <a:t> </a:t>
            </a:r>
            <a:r>
              <a:rPr dirty="0" err="1"/>
              <a:t>một</a:t>
            </a:r>
            <a:r>
              <a:rPr dirty="0"/>
              <a:t> sheet </a:t>
            </a:r>
            <a:r>
              <a:rPr dirty="0" err="1"/>
              <a:t>trống</a:t>
            </a:r>
            <a:r>
              <a:rPr dirty="0"/>
              <a:t> </a:t>
            </a:r>
            <a:r>
              <a:rPr dirty="0" err="1"/>
              <a:t>tên</a:t>
            </a:r>
            <a:r>
              <a:rPr dirty="0"/>
              <a:t> </a:t>
            </a:r>
            <a:r>
              <a:rPr dirty="0" err="1"/>
              <a:t>PV_Loc</a:t>
            </a:r>
            <a:r>
              <a:rPr dirty="0"/>
              <a:t> </a:t>
            </a:r>
            <a:r>
              <a:rPr dirty="0" err="1"/>
              <a:t>cho</a:t>
            </a:r>
            <a:r>
              <a:rPr dirty="0"/>
              <a:t> </a:t>
            </a:r>
            <a:r>
              <a:rPr dirty="0" err="1"/>
              <a:t>các</a:t>
            </a:r>
            <a:r>
              <a:rPr dirty="0"/>
              <a:t> Pivot </a:t>
            </a:r>
            <a:r>
              <a:rPr dirty="0" err="1"/>
              <a:t>sắp</a:t>
            </a:r>
            <a:r>
              <a:rPr dirty="0"/>
              <a:t> </a:t>
            </a:r>
            <a:r>
              <a:rPr dirty="0" err="1"/>
              <a:t>tới</a:t>
            </a:r>
            <a:r>
              <a:rPr dirty="0"/>
              <a:t>. </a:t>
            </a:r>
            <a:r>
              <a:rPr dirty="0" err="1"/>
              <a:t>Bạn</a:t>
            </a:r>
            <a:r>
              <a:rPr dirty="0"/>
              <a:t> </a:t>
            </a:r>
            <a:r>
              <a:rPr dirty="0" err="1"/>
              <a:t>nào</a:t>
            </a:r>
            <a:r>
              <a:rPr dirty="0"/>
              <a:t> </a:t>
            </a:r>
            <a:r>
              <a:rPr dirty="0" err="1"/>
              <a:t>chưa</a:t>
            </a:r>
            <a:r>
              <a:rPr dirty="0"/>
              <a:t> </a:t>
            </a:r>
            <a:r>
              <a:rPr dirty="0" err="1"/>
              <a:t>nối</a:t>
            </a:r>
            <a:r>
              <a:rPr dirty="0"/>
              <a:t> </a:t>
            </a:r>
            <a:r>
              <a:rPr dirty="0" err="1"/>
              <a:t>xong</a:t>
            </a:r>
            <a:r>
              <a:rPr dirty="0"/>
              <a:t> </a:t>
            </a:r>
            <a:r>
              <a:rPr dirty="0" err="1"/>
              <a:t>thì</a:t>
            </a:r>
            <a:r>
              <a:rPr dirty="0"/>
              <a:t> </a:t>
            </a:r>
            <a:r>
              <a:rPr dirty="0" err="1"/>
              <a:t>mở</a:t>
            </a:r>
            <a:r>
              <a:rPr dirty="0"/>
              <a:t> </a:t>
            </a:r>
            <a:r>
              <a:rPr dirty="0" err="1"/>
              <a:t>bản</a:t>
            </a:r>
            <a:r>
              <a:rPr dirty="0"/>
              <a:t> _HocVien </a:t>
            </a:r>
            <a:r>
              <a:rPr dirty="0" err="1"/>
              <a:t>của</a:t>
            </a:r>
            <a:r>
              <a:rPr dirty="0"/>
              <a:t> file </a:t>
            </a:r>
            <a:r>
              <a:rPr dirty="0" err="1"/>
              <a:t>này</a:t>
            </a:r>
            <a:r>
              <a:rPr dirty="0"/>
              <a:t> </a:t>
            </a:r>
            <a:r>
              <a:rPr dirty="0" err="1"/>
              <a:t>và</a:t>
            </a:r>
            <a:r>
              <a:rPr dirty="0"/>
              <a:t> </a:t>
            </a:r>
            <a:r>
              <a:rPr dirty="0" err="1"/>
              <a:t>làm</a:t>
            </a:r>
            <a:r>
              <a:rPr dirty="0"/>
              <a:t> </a:t>
            </a:r>
            <a:r>
              <a:rPr dirty="0" err="1"/>
              <a:t>tiếp</a:t>
            </a:r>
            <a:r>
              <a:rPr dirty="0"/>
              <a:t> </a:t>
            </a:r>
            <a:r>
              <a:rPr dirty="0" err="1"/>
              <a:t>trên</a:t>
            </a:r>
            <a:r>
              <a:rPr dirty="0"/>
              <a:t> </a:t>
            </a:r>
            <a:r>
              <a:rPr dirty="0" err="1"/>
              <a:t>đó</a:t>
            </a:r>
            <a:r>
              <a:rPr dirty="0"/>
              <a:t>. </a:t>
            </a:r>
            <a:r>
              <a:rPr dirty="0" err="1"/>
              <a:t>Buổi</a:t>
            </a:r>
            <a:r>
              <a:rPr dirty="0"/>
              <a:t> 2 </a:t>
            </a:r>
            <a:r>
              <a:rPr dirty="0" err="1"/>
              <a:t>các</a:t>
            </a:r>
            <a:r>
              <a:rPr dirty="0"/>
              <a:t> </a:t>
            </a:r>
            <a:r>
              <a:rPr dirty="0" err="1"/>
              <a:t>bạn</a:t>
            </a:r>
            <a:r>
              <a:rPr dirty="0"/>
              <a:t> </a:t>
            </a:r>
            <a:r>
              <a:rPr dirty="0" err="1"/>
              <a:t>tính</a:t>
            </a:r>
            <a:r>
              <a:rPr dirty="0"/>
              <a:t> </a:t>
            </a:r>
            <a:r>
              <a:rPr dirty="0" err="1"/>
              <a:t>giá</a:t>
            </a:r>
            <a:r>
              <a:rPr dirty="0"/>
              <a:t> </a:t>
            </a:r>
            <a:r>
              <a:rPr dirty="0" err="1"/>
              <a:t>vốn</a:t>
            </a:r>
            <a:r>
              <a:rPr dirty="0"/>
              <a:t> </a:t>
            </a:r>
            <a:r>
              <a:rPr dirty="0" err="1"/>
              <a:t>bằng</a:t>
            </a:r>
            <a:r>
              <a:rPr dirty="0"/>
              <a:t> </a:t>
            </a:r>
            <a:r>
              <a:rPr dirty="0" err="1"/>
              <a:t>cách</a:t>
            </a:r>
            <a:r>
              <a:rPr dirty="0"/>
              <a:t> XLOOKUP </a:t>
            </a:r>
            <a:r>
              <a:rPr dirty="0" err="1"/>
              <a:t>Unit_Cost</a:t>
            </a:r>
            <a:r>
              <a:rPr dirty="0"/>
              <a:t> </a:t>
            </a:r>
            <a:r>
              <a:rPr dirty="0" err="1"/>
              <a:t>từ</a:t>
            </a:r>
            <a:r>
              <a:rPr dirty="0"/>
              <a:t> </a:t>
            </a:r>
            <a:r>
              <a:rPr dirty="0" err="1"/>
              <a:t>bảng</a:t>
            </a:r>
            <a:r>
              <a:rPr dirty="0"/>
              <a:t> Product </a:t>
            </a:r>
            <a:r>
              <a:rPr dirty="0" err="1"/>
              <a:t>về</a:t>
            </a:r>
            <a:r>
              <a:rPr dirty="0"/>
              <a:t> </a:t>
            </a:r>
            <a:r>
              <a:rPr dirty="0" err="1"/>
              <a:t>bảng</a:t>
            </a:r>
            <a:r>
              <a:rPr dirty="0"/>
              <a:t> Sales, </a:t>
            </a:r>
            <a:r>
              <a:rPr dirty="0" err="1"/>
              <a:t>rồi</a:t>
            </a:r>
            <a:r>
              <a:rPr dirty="0"/>
              <a:t> </a:t>
            </a:r>
            <a:r>
              <a:rPr dirty="0" err="1"/>
              <a:t>nhân</a:t>
            </a:r>
            <a:r>
              <a:rPr dirty="0"/>
              <a:t> </a:t>
            </a:r>
            <a:r>
              <a:rPr dirty="0" err="1"/>
              <a:t>với</a:t>
            </a:r>
            <a:r>
              <a:rPr dirty="0"/>
              <a:t> Quantity. Trong Data Model, </a:t>
            </a:r>
            <a:r>
              <a:rPr dirty="0" err="1"/>
              <a:t>việc</a:t>
            </a:r>
            <a:r>
              <a:rPr dirty="0"/>
              <a:t> </a:t>
            </a:r>
            <a:r>
              <a:rPr dirty="0" err="1"/>
              <a:t>đó</a:t>
            </a:r>
            <a:r>
              <a:rPr dirty="0"/>
              <a:t> </a:t>
            </a:r>
            <a:r>
              <a:rPr dirty="0" err="1"/>
              <a:t>gọn</a:t>
            </a:r>
            <a:r>
              <a:rPr dirty="0"/>
              <a:t> </a:t>
            </a:r>
            <a:r>
              <a:rPr dirty="0" err="1"/>
              <a:t>hơn</a:t>
            </a:r>
            <a:r>
              <a:rPr dirty="0"/>
              <a:t> </a:t>
            </a:r>
            <a:r>
              <a:rPr dirty="0" err="1"/>
              <a:t>nhiều</a:t>
            </a:r>
            <a:r>
              <a:rPr dirty="0"/>
              <a:t>.</a:t>
            </a:r>
          </a:p>
          <a:p>
            <a:r>
              <a:rPr dirty="0"/>
              <a:t>(→ Data View, tab Sales, </a:t>
            </a:r>
            <a:r>
              <a:rPr dirty="0" err="1"/>
              <a:t>bấm</a:t>
            </a:r>
            <a:r>
              <a:rPr dirty="0"/>
              <a:t> </a:t>
            </a:r>
            <a:r>
              <a:rPr dirty="0" err="1"/>
              <a:t>vào</a:t>
            </a:r>
            <a:r>
              <a:rPr dirty="0"/>
              <a:t> ô </a:t>
            </a:r>
            <a:r>
              <a:rPr dirty="0" err="1"/>
              <a:t>đầu</a:t>
            </a:r>
            <a:r>
              <a:rPr dirty="0"/>
              <a:t> </a:t>
            </a:r>
            <a:r>
              <a:rPr dirty="0" err="1"/>
              <a:t>tiên</a:t>
            </a:r>
            <a:r>
              <a:rPr dirty="0"/>
              <a:t> </a:t>
            </a:r>
            <a:r>
              <a:rPr dirty="0" err="1"/>
              <a:t>của</a:t>
            </a:r>
            <a:r>
              <a:rPr dirty="0"/>
              <a:t> </a:t>
            </a:r>
            <a:r>
              <a:rPr dirty="0" err="1"/>
              <a:t>cột</a:t>
            </a:r>
            <a:r>
              <a:rPr dirty="0"/>
              <a:t> Add Column; </a:t>
            </a:r>
            <a:r>
              <a:rPr dirty="0" err="1"/>
              <a:t>gõ</a:t>
            </a:r>
            <a:r>
              <a:rPr dirty="0"/>
              <a:t> </a:t>
            </a:r>
            <a:r>
              <a:rPr dirty="0" err="1"/>
              <a:t>trên</a:t>
            </a:r>
            <a:r>
              <a:rPr dirty="0"/>
              <a:t> </a:t>
            </a:r>
            <a:r>
              <a:rPr dirty="0" err="1"/>
              <a:t>thanh</a:t>
            </a:r>
            <a:r>
              <a:rPr dirty="0"/>
              <a:t> </a:t>
            </a:r>
            <a:r>
              <a:rPr dirty="0" err="1"/>
              <a:t>công</a:t>
            </a:r>
            <a:r>
              <a:rPr dirty="0"/>
              <a:t> </a:t>
            </a:r>
            <a:r>
              <a:rPr dirty="0" err="1"/>
              <a:t>thức</a:t>
            </a:r>
            <a:r>
              <a:rPr dirty="0"/>
              <a:t> =Sales[Quantity]*RELATED(Product[</a:t>
            </a:r>
            <a:r>
              <a:rPr dirty="0" err="1"/>
              <a:t>Unit_Cost</a:t>
            </a:r>
            <a:r>
              <a:rPr dirty="0"/>
              <a:t>]) → Enter) RELATED </a:t>
            </a:r>
            <a:r>
              <a:rPr dirty="0" err="1"/>
              <a:t>đi</a:t>
            </a:r>
            <a:r>
              <a:rPr dirty="0"/>
              <a:t> </a:t>
            </a:r>
            <a:r>
              <a:rPr dirty="0" err="1"/>
              <a:t>theo</a:t>
            </a:r>
            <a:r>
              <a:rPr dirty="0"/>
              <a:t> </a:t>
            </a:r>
            <a:r>
              <a:rPr dirty="0" err="1"/>
              <a:t>đường</a:t>
            </a:r>
            <a:r>
              <a:rPr dirty="0"/>
              <a:t> </a:t>
            </a:r>
            <a:r>
              <a:rPr dirty="0" err="1"/>
              <a:t>nối</a:t>
            </a:r>
            <a:r>
              <a:rPr dirty="0"/>
              <a:t> sang </a:t>
            </a:r>
            <a:r>
              <a:rPr dirty="0" err="1"/>
              <a:t>bảng</a:t>
            </a:r>
            <a:r>
              <a:rPr dirty="0"/>
              <a:t> Product, </a:t>
            </a:r>
            <a:r>
              <a:rPr dirty="0" err="1"/>
              <a:t>lấy</a:t>
            </a:r>
            <a:r>
              <a:rPr dirty="0"/>
              <a:t> </a:t>
            </a:r>
            <a:r>
              <a:rPr dirty="0" err="1"/>
              <a:t>Unit_Cost</a:t>
            </a:r>
            <a:r>
              <a:rPr dirty="0"/>
              <a:t> </a:t>
            </a:r>
            <a:r>
              <a:rPr dirty="0" err="1"/>
              <a:t>của</a:t>
            </a:r>
            <a:r>
              <a:rPr dirty="0"/>
              <a:t> </a:t>
            </a:r>
            <a:r>
              <a:rPr dirty="0" err="1"/>
              <a:t>đúng</a:t>
            </a:r>
            <a:r>
              <a:rPr dirty="0"/>
              <a:t> </a:t>
            </a:r>
            <a:r>
              <a:rPr dirty="0" err="1"/>
              <a:t>sản</a:t>
            </a:r>
            <a:r>
              <a:rPr dirty="0"/>
              <a:t> </a:t>
            </a:r>
            <a:r>
              <a:rPr dirty="0" err="1"/>
              <a:t>phẩm</a:t>
            </a:r>
            <a:r>
              <a:rPr dirty="0"/>
              <a:t> </a:t>
            </a:r>
            <a:r>
              <a:rPr dirty="0" err="1"/>
              <a:t>trên</a:t>
            </a:r>
            <a:r>
              <a:rPr dirty="0"/>
              <a:t> </a:t>
            </a:r>
            <a:r>
              <a:rPr dirty="0" err="1"/>
              <a:t>dòng</a:t>
            </a:r>
            <a:r>
              <a:rPr dirty="0"/>
              <a:t> </a:t>
            </a:r>
            <a:r>
              <a:rPr dirty="0" err="1"/>
              <a:t>đó</a:t>
            </a:r>
            <a:r>
              <a:rPr dirty="0"/>
              <a:t>. </a:t>
            </a:r>
            <a:r>
              <a:rPr dirty="0" err="1"/>
              <a:t>Không</a:t>
            </a:r>
            <a:r>
              <a:rPr dirty="0"/>
              <a:t> </a:t>
            </a:r>
            <a:r>
              <a:rPr dirty="0" err="1"/>
              <a:t>cần</a:t>
            </a:r>
            <a:r>
              <a:rPr dirty="0"/>
              <a:t> XLOOKUP, </a:t>
            </a:r>
            <a:r>
              <a:rPr dirty="0" err="1"/>
              <a:t>không</a:t>
            </a:r>
            <a:r>
              <a:rPr dirty="0"/>
              <a:t> </a:t>
            </a:r>
            <a:r>
              <a:rPr dirty="0" err="1"/>
              <a:t>cần</a:t>
            </a:r>
            <a:r>
              <a:rPr dirty="0"/>
              <a:t> </a:t>
            </a:r>
            <a:r>
              <a:rPr dirty="0" err="1"/>
              <a:t>khóa</a:t>
            </a:r>
            <a:r>
              <a:rPr dirty="0"/>
              <a:t> </a:t>
            </a:r>
            <a:r>
              <a:rPr dirty="0" err="1"/>
              <a:t>tuyệt</a:t>
            </a:r>
            <a:r>
              <a:rPr dirty="0"/>
              <a:t> </a:t>
            </a:r>
            <a:r>
              <a:rPr dirty="0" err="1"/>
              <a:t>đối</a:t>
            </a:r>
            <a:r>
              <a:rPr dirty="0"/>
              <a:t>, </a:t>
            </a:r>
            <a:r>
              <a:rPr dirty="0" err="1"/>
              <a:t>vì</a:t>
            </a:r>
            <a:r>
              <a:rPr dirty="0"/>
              <a:t> relationship </a:t>
            </a:r>
            <a:r>
              <a:rPr dirty="0" err="1"/>
              <a:t>đã</a:t>
            </a:r>
            <a:r>
              <a:rPr dirty="0"/>
              <a:t> </a:t>
            </a:r>
            <a:r>
              <a:rPr dirty="0" err="1"/>
              <a:t>làm</a:t>
            </a:r>
            <a:r>
              <a:rPr dirty="0"/>
              <a:t> </a:t>
            </a:r>
            <a:r>
              <a:rPr dirty="0" err="1"/>
              <a:t>việc</a:t>
            </a:r>
            <a:r>
              <a:rPr dirty="0"/>
              <a:t> </a:t>
            </a:r>
            <a:r>
              <a:rPr dirty="0" err="1"/>
              <a:t>nối</a:t>
            </a:r>
            <a:r>
              <a:rPr dirty="0"/>
              <a:t>. (→ double-click </a:t>
            </a:r>
            <a:r>
              <a:rPr dirty="0" err="1"/>
              <a:t>tiêu</a:t>
            </a:r>
            <a:r>
              <a:rPr dirty="0"/>
              <a:t> </a:t>
            </a:r>
            <a:r>
              <a:rPr dirty="0" err="1"/>
              <a:t>đề</a:t>
            </a:r>
            <a:r>
              <a:rPr dirty="0"/>
              <a:t> </a:t>
            </a:r>
            <a:r>
              <a:rPr dirty="0" err="1"/>
              <a:t>cột</a:t>
            </a:r>
            <a:r>
              <a:rPr dirty="0"/>
              <a:t>, </a:t>
            </a:r>
            <a:r>
              <a:rPr dirty="0" err="1"/>
              <a:t>đổi</a:t>
            </a:r>
            <a:r>
              <a:rPr dirty="0"/>
              <a:t> </a:t>
            </a:r>
            <a:r>
              <a:rPr dirty="0" err="1"/>
              <a:t>tên</a:t>
            </a:r>
            <a:r>
              <a:rPr dirty="0"/>
              <a:t> </a:t>
            </a:r>
            <a:r>
              <a:rPr dirty="0" err="1"/>
              <a:t>thành</a:t>
            </a:r>
            <a:r>
              <a:rPr dirty="0"/>
              <a:t> COGS)</a:t>
            </a:r>
          </a:p>
          <a:p>
            <a:r>
              <a:rPr dirty="0" err="1"/>
              <a:t>Đây</a:t>
            </a:r>
            <a:r>
              <a:rPr dirty="0"/>
              <a:t> </a:t>
            </a:r>
            <a:r>
              <a:rPr dirty="0" err="1"/>
              <a:t>là</a:t>
            </a:r>
            <a:r>
              <a:rPr dirty="0"/>
              <a:t> calculated column: </a:t>
            </a:r>
            <a:r>
              <a:rPr dirty="0" err="1"/>
              <a:t>tính</a:t>
            </a:r>
            <a:r>
              <a:rPr dirty="0"/>
              <a:t> </a:t>
            </a:r>
            <a:r>
              <a:rPr dirty="0" err="1"/>
              <a:t>một</a:t>
            </a:r>
            <a:r>
              <a:rPr dirty="0"/>
              <a:t> </a:t>
            </a:r>
            <a:r>
              <a:rPr dirty="0" err="1"/>
              <a:t>lần</a:t>
            </a:r>
            <a:r>
              <a:rPr dirty="0"/>
              <a:t> </a:t>
            </a:r>
            <a:r>
              <a:rPr dirty="0" err="1"/>
              <a:t>cho</a:t>
            </a:r>
            <a:r>
              <a:rPr dirty="0"/>
              <a:t> </a:t>
            </a:r>
            <a:r>
              <a:rPr dirty="0" err="1"/>
              <a:t>từng</a:t>
            </a:r>
            <a:r>
              <a:rPr dirty="0"/>
              <a:t> </a:t>
            </a:r>
            <a:r>
              <a:rPr dirty="0" err="1"/>
              <a:t>dòng</a:t>
            </a:r>
            <a:r>
              <a:rPr dirty="0"/>
              <a:t>, </a:t>
            </a:r>
            <a:r>
              <a:rPr dirty="0" err="1"/>
              <a:t>kết</a:t>
            </a:r>
            <a:r>
              <a:rPr dirty="0"/>
              <a:t> </a:t>
            </a:r>
            <a:r>
              <a:rPr dirty="0" err="1"/>
              <a:t>quả</a:t>
            </a:r>
            <a:r>
              <a:rPr dirty="0"/>
              <a:t> </a:t>
            </a:r>
            <a:r>
              <a:rPr dirty="0" err="1"/>
              <a:t>nằm</a:t>
            </a:r>
            <a:r>
              <a:rPr dirty="0"/>
              <a:t> </a:t>
            </a:r>
            <a:r>
              <a:rPr dirty="0" err="1"/>
              <a:t>trong</a:t>
            </a:r>
            <a:r>
              <a:rPr dirty="0"/>
              <a:t> </a:t>
            </a:r>
            <a:r>
              <a:rPr dirty="0" err="1"/>
              <a:t>bảng</a:t>
            </a:r>
            <a:r>
              <a:rPr dirty="0"/>
              <a:t> </a:t>
            </a:r>
            <a:r>
              <a:rPr dirty="0" err="1"/>
              <a:t>như</a:t>
            </a:r>
            <a:r>
              <a:rPr dirty="0"/>
              <a:t> </a:t>
            </a:r>
            <a:r>
              <a:rPr dirty="0" err="1"/>
              <a:t>một</a:t>
            </a:r>
            <a:r>
              <a:rPr dirty="0"/>
              <a:t> </a:t>
            </a:r>
            <a:r>
              <a:rPr dirty="0" err="1"/>
              <a:t>cột</a:t>
            </a:r>
            <a:r>
              <a:rPr dirty="0"/>
              <a:t> </a:t>
            </a:r>
            <a:r>
              <a:rPr dirty="0" err="1"/>
              <a:t>thật</a:t>
            </a:r>
            <a:r>
              <a:rPr dirty="0"/>
              <a:t>. Ba </a:t>
            </a:r>
            <a:r>
              <a:rPr dirty="0" err="1"/>
              <a:t>mươi</a:t>
            </a:r>
            <a:r>
              <a:rPr dirty="0"/>
              <a:t> </a:t>
            </a:r>
            <a:r>
              <a:rPr dirty="0" err="1"/>
              <a:t>nghìn</a:t>
            </a:r>
            <a:r>
              <a:rPr dirty="0"/>
              <a:t> </a:t>
            </a:r>
            <a:r>
              <a:rPr dirty="0" err="1"/>
              <a:t>dòng</a:t>
            </a:r>
            <a:r>
              <a:rPr dirty="0"/>
              <a:t>, </a:t>
            </a:r>
            <a:r>
              <a:rPr dirty="0" err="1"/>
              <a:t>ba</a:t>
            </a:r>
            <a:r>
              <a:rPr dirty="0"/>
              <a:t> </a:t>
            </a:r>
            <a:r>
              <a:rPr dirty="0" err="1"/>
              <a:t>mươi</a:t>
            </a:r>
            <a:r>
              <a:rPr dirty="0"/>
              <a:t> </a:t>
            </a:r>
            <a:r>
              <a:rPr dirty="0" err="1"/>
              <a:t>nghìn</a:t>
            </a:r>
            <a:r>
              <a:rPr dirty="0"/>
              <a:t> </a:t>
            </a:r>
            <a:r>
              <a:rPr dirty="0" err="1"/>
              <a:t>giá</a:t>
            </a:r>
            <a:r>
              <a:rPr dirty="0"/>
              <a:t> </a:t>
            </a:r>
            <a:r>
              <a:rPr dirty="0" err="1"/>
              <a:t>trị</a:t>
            </a:r>
            <a:r>
              <a:rPr dirty="0"/>
              <a:t> COGS. </a:t>
            </a:r>
            <a:r>
              <a:rPr dirty="0" err="1"/>
              <a:t>Cột</a:t>
            </a:r>
            <a:r>
              <a:rPr dirty="0"/>
              <a:t> </a:t>
            </a:r>
            <a:r>
              <a:rPr dirty="0" err="1"/>
              <a:t>kiểu</a:t>
            </a:r>
            <a:r>
              <a:rPr dirty="0"/>
              <a:t> </a:t>
            </a:r>
            <a:r>
              <a:rPr dirty="0" err="1"/>
              <a:t>này</a:t>
            </a:r>
            <a:r>
              <a:rPr dirty="0"/>
              <a:t> </a:t>
            </a:r>
            <a:r>
              <a:rPr dirty="0" err="1"/>
              <a:t>hợp</a:t>
            </a:r>
            <a:r>
              <a:rPr dirty="0"/>
              <a:t> </a:t>
            </a:r>
            <a:r>
              <a:rPr dirty="0" err="1"/>
              <a:t>với</a:t>
            </a:r>
            <a:r>
              <a:rPr dirty="0"/>
              <a:t> </a:t>
            </a:r>
            <a:r>
              <a:rPr dirty="0" err="1"/>
              <a:t>thuộc</a:t>
            </a:r>
            <a:r>
              <a:rPr dirty="0"/>
              <a:t> </a:t>
            </a:r>
            <a:r>
              <a:rPr dirty="0" err="1"/>
              <a:t>tính</a:t>
            </a:r>
            <a:r>
              <a:rPr dirty="0"/>
              <a:t> </a:t>
            </a:r>
            <a:r>
              <a:rPr dirty="0" err="1"/>
              <a:t>của</a:t>
            </a:r>
            <a:r>
              <a:rPr dirty="0"/>
              <a:t> </a:t>
            </a:r>
            <a:r>
              <a:rPr dirty="0" err="1"/>
              <a:t>từng</a:t>
            </a:r>
            <a:r>
              <a:rPr dirty="0"/>
              <a:t> </a:t>
            </a:r>
            <a:r>
              <a:rPr dirty="0" err="1"/>
              <a:t>dòng</a:t>
            </a:r>
            <a:r>
              <a:rPr dirty="0"/>
              <a:t>: </a:t>
            </a:r>
            <a:r>
              <a:rPr dirty="0" err="1"/>
              <a:t>giá</a:t>
            </a:r>
            <a:r>
              <a:rPr dirty="0"/>
              <a:t> </a:t>
            </a:r>
            <a:r>
              <a:rPr dirty="0" err="1"/>
              <a:t>vốn</a:t>
            </a:r>
            <a:r>
              <a:rPr dirty="0"/>
              <a:t> </a:t>
            </a:r>
            <a:r>
              <a:rPr dirty="0" err="1"/>
              <a:t>của</a:t>
            </a:r>
            <a:r>
              <a:rPr dirty="0"/>
              <a:t> </a:t>
            </a:r>
            <a:r>
              <a:rPr dirty="0" err="1"/>
              <a:t>dòng</a:t>
            </a:r>
            <a:r>
              <a:rPr dirty="0"/>
              <a:t> </a:t>
            </a:r>
            <a:r>
              <a:rPr dirty="0" err="1"/>
              <a:t>đó</a:t>
            </a:r>
            <a:r>
              <a:rPr dirty="0"/>
              <a:t>, </a:t>
            </a:r>
            <a:r>
              <a:rPr dirty="0" err="1"/>
              <a:t>nhóm</a:t>
            </a:r>
            <a:r>
              <a:rPr dirty="0"/>
              <a:t> </a:t>
            </a:r>
            <a:r>
              <a:rPr dirty="0" err="1"/>
              <a:t>của</a:t>
            </a:r>
            <a:r>
              <a:rPr dirty="0"/>
              <a:t> </a:t>
            </a:r>
            <a:r>
              <a:rPr dirty="0" err="1"/>
              <a:t>dòng</a:t>
            </a:r>
            <a:r>
              <a:rPr dirty="0"/>
              <a:t> </a:t>
            </a:r>
            <a:r>
              <a:rPr dirty="0" err="1"/>
              <a:t>đó</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4 </a:t>
            </a:r>
            <a:r>
              <a:rPr dirty="0" err="1"/>
              <a:t>phút</a:t>
            </a:r>
            <a:r>
              <a:rPr dirty="0"/>
              <a:t>.</a:t>
            </a:r>
          </a:p>
          <a:p>
            <a:r>
              <a:rPr dirty="0"/>
              <a:t>LỜI GIẢNG</a:t>
            </a:r>
          </a:p>
          <a:p>
            <a:r>
              <a:rPr dirty="0"/>
              <a:t>(→ Data View, Sales: Add Column =DIVIDE(Sales[Revenue]-Sales[COGS],Sales[Revenue]), </a:t>
            </a:r>
            <a:r>
              <a:rPr dirty="0" err="1"/>
              <a:t>đổi</a:t>
            </a:r>
            <a:r>
              <a:rPr dirty="0"/>
              <a:t> </a:t>
            </a:r>
            <a:r>
              <a:rPr dirty="0" err="1"/>
              <a:t>tên</a:t>
            </a:r>
            <a:r>
              <a:rPr dirty="0"/>
              <a:t> </a:t>
            </a:r>
            <a:r>
              <a:rPr dirty="0" err="1"/>
              <a:t>GM_Dong</a:t>
            </a:r>
            <a:r>
              <a:rPr dirty="0"/>
              <a:t>; </a:t>
            </a:r>
            <a:r>
              <a:rPr dirty="0" err="1"/>
              <a:t>mở</a:t>
            </a:r>
            <a:r>
              <a:rPr dirty="0"/>
              <a:t> sheet </a:t>
            </a:r>
            <a:r>
              <a:rPr dirty="0" err="1"/>
              <a:t>PV_Loc</a:t>
            </a:r>
            <a:r>
              <a:rPr dirty="0"/>
              <a:t> (</a:t>
            </a:r>
            <a:r>
              <a:rPr dirty="0" err="1"/>
              <a:t>có</a:t>
            </a:r>
            <a:r>
              <a:rPr dirty="0"/>
              <a:t> </a:t>
            </a:r>
            <a:r>
              <a:rPr dirty="0" err="1"/>
              <a:t>sẵn</a:t>
            </a:r>
            <a:r>
              <a:rPr dirty="0"/>
              <a:t> </a:t>
            </a:r>
            <a:r>
              <a:rPr dirty="0" err="1"/>
              <a:t>trong</a:t>
            </a:r>
            <a:r>
              <a:rPr dirty="0"/>
              <a:t> file demo, </a:t>
            </a:r>
            <a:r>
              <a:rPr dirty="0" err="1"/>
              <a:t>đang</a:t>
            </a:r>
            <a:r>
              <a:rPr dirty="0"/>
              <a:t> </a:t>
            </a:r>
            <a:r>
              <a:rPr dirty="0" err="1"/>
              <a:t>trống</a:t>
            </a:r>
            <a:r>
              <a:rPr dirty="0"/>
              <a:t>), </a:t>
            </a:r>
            <a:r>
              <a:rPr dirty="0" err="1"/>
              <a:t>bấm</a:t>
            </a:r>
            <a:r>
              <a:rPr dirty="0"/>
              <a:t> ô A3; Insert → PivotTable ▾ → From Data Model → Existing Worksheet, Location </a:t>
            </a:r>
            <a:r>
              <a:rPr dirty="0" err="1"/>
              <a:t>PV_Loc</a:t>
            </a:r>
            <a:r>
              <a:rPr dirty="0"/>
              <a:t>!$A$3; Filters: Calendar → Nam = 2025, Calendar → Quy = 1; Values: </a:t>
            </a:r>
            <a:r>
              <a:rPr dirty="0" err="1"/>
              <a:t>GM_Dong</a:t>
            </a:r>
            <a:r>
              <a:rPr dirty="0"/>
              <a:t>, </a:t>
            </a:r>
            <a:r>
              <a:rPr dirty="0" err="1"/>
              <a:t>đổi</a:t>
            </a:r>
            <a:r>
              <a:rPr dirty="0"/>
              <a:t> sang Average, </a:t>
            </a:r>
            <a:r>
              <a:rPr dirty="0" err="1"/>
              <a:t>định</a:t>
            </a:r>
            <a:r>
              <a:rPr dirty="0"/>
              <a:t> </a:t>
            </a:r>
            <a:r>
              <a:rPr dirty="0" err="1"/>
              <a:t>dạng</a:t>
            </a:r>
            <a:r>
              <a:rPr dirty="0"/>
              <a:t> %) </a:t>
            </a:r>
            <a:r>
              <a:rPr dirty="0" err="1"/>
              <a:t>Trên</a:t>
            </a:r>
            <a:r>
              <a:rPr dirty="0"/>
              <a:t> file B5_&lt;HoTen&gt;.xlsx </a:t>
            </a:r>
            <a:r>
              <a:rPr dirty="0" err="1"/>
              <a:t>của</a:t>
            </a:r>
            <a:r>
              <a:rPr dirty="0"/>
              <a:t> </a:t>
            </a:r>
            <a:r>
              <a:rPr dirty="0" err="1"/>
              <a:t>các</a:t>
            </a:r>
            <a:r>
              <a:rPr dirty="0"/>
              <a:t> </a:t>
            </a:r>
            <a:r>
              <a:rPr dirty="0" err="1"/>
              <a:t>bạn</a:t>
            </a:r>
            <a:r>
              <a:rPr dirty="0"/>
              <a:t> </a:t>
            </a:r>
            <a:r>
              <a:rPr dirty="0" err="1"/>
              <a:t>chưa</a:t>
            </a:r>
            <a:r>
              <a:rPr dirty="0"/>
              <a:t> </a:t>
            </a:r>
            <a:r>
              <a:rPr dirty="0" err="1"/>
              <a:t>có</a:t>
            </a:r>
            <a:r>
              <a:rPr dirty="0"/>
              <a:t> sheet </a:t>
            </a:r>
            <a:r>
              <a:rPr dirty="0" err="1"/>
              <a:t>PV_Loc</a:t>
            </a:r>
            <a:r>
              <a:rPr dirty="0"/>
              <a:t>: </a:t>
            </a:r>
            <a:r>
              <a:rPr dirty="0" err="1"/>
              <a:t>bấm</a:t>
            </a:r>
            <a:r>
              <a:rPr dirty="0"/>
              <a:t> </a:t>
            </a:r>
            <a:r>
              <a:rPr dirty="0" err="1"/>
              <a:t>dấu</a:t>
            </a:r>
            <a:r>
              <a:rPr dirty="0"/>
              <a:t> + </a:t>
            </a:r>
            <a:r>
              <a:rPr dirty="0" err="1"/>
              <a:t>cạnh</a:t>
            </a:r>
            <a:r>
              <a:rPr dirty="0"/>
              <a:t> </a:t>
            </a:r>
            <a:r>
              <a:rPr dirty="0" err="1"/>
              <a:t>các</a:t>
            </a:r>
            <a:r>
              <a:rPr dirty="0"/>
              <a:t> tab sheet </a:t>
            </a:r>
            <a:r>
              <a:rPr dirty="0" err="1"/>
              <a:t>để</a:t>
            </a:r>
            <a:r>
              <a:rPr dirty="0"/>
              <a:t> </a:t>
            </a:r>
            <a:r>
              <a:rPr dirty="0" err="1"/>
              <a:t>thêm</a:t>
            </a:r>
            <a:r>
              <a:rPr dirty="0"/>
              <a:t> sheet </a:t>
            </a:r>
            <a:r>
              <a:rPr dirty="0" err="1"/>
              <a:t>mới</a:t>
            </a:r>
            <a:r>
              <a:rPr dirty="0"/>
              <a:t>, </a:t>
            </a:r>
            <a:r>
              <a:rPr dirty="0" err="1"/>
              <a:t>đổi</a:t>
            </a:r>
            <a:r>
              <a:rPr dirty="0"/>
              <a:t> </a:t>
            </a:r>
            <a:r>
              <a:rPr dirty="0" err="1"/>
              <a:t>tên</a:t>
            </a:r>
            <a:r>
              <a:rPr dirty="0"/>
              <a:t> </a:t>
            </a:r>
            <a:r>
              <a:rPr dirty="0" err="1"/>
              <a:t>thành</a:t>
            </a:r>
            <a:r>
              <a:rPr dirty="0"/>
              <a:t> </a:t>
            </a:r>
            <a:r>
              <a:rPr dirty="0" err="1"/>
              <a:t>PV_Loc</a:t>
            </a:r>
            <a:r>
              <a:rPr dirty="0"/>
              <a:t>, </a:t>
            </a:r>
            <a:r>
              <a:rPr dirty="0" err="1"/>
              <a:t>rồi</a:t>
            </a:r>
            <a:r>
              <a:rPr dirty="0"/>
              <a:t> </a:t>
            </a:r>
            <a:r>
              <a:rPr dirty="0" err="1"/>
              <a:t>chèn</a:t>
            </a:r>
            <a:r>
              <a:rPr dirty="0"/>
              <a:t> Pivot </a:t>
            </a:r>
            <a:r>
              <a:rPr dirty="0" err="1"/>
              <a:t>vào</a:t>
            </a:r>
            <a:r>
              <a:rPr dirty="0"/>
              <a:t> ô A3 </a:t>
            </a:r>
            <a:r>
              <a:rPr dirty="0" err="1"/>
              <a:t>như</a:t>
            </a:r>
            <a:r>
              <a:rPr dirty="0"/>
              <a:t> </a:t>
            </a:r>
            <a:r>
              <a:rPr dirty="0" err="1"/>
              <a:t>mình</a:t>
            </a:r>
            <a:r>
              <a:rPr dirty="0"/>
              <a:t>. </a:t>
            </a:r>
            <a:r>
              <a:rPr dirty="0" err="1"/>
              <a:t>Mình</a:t>
            </a:r>
            <a:r>
              <a:rPr dirty="0"/>
              <a:t> </a:t>
            </a:r>
            <a:r>
              <a:rPr dirty="0" err="1"/>
              <a:t>thử</a:t>
            </a:r>
            <a:r>
              <a:rPr dirty="0"/>
              <a:t> </a:t>
            </a:r>
            <a:r>
              <a:rPr dirty="0" err="1"/>
              <a:t>tính</a:t>
            </a:r>
            <a:r>
              <a:rPr dirty="0"/>
              <a:t> </a:t>
            </a:r>
            <a:r>
              <a:rPr dirty="0" err="1"/>
              <a:t>biên</a:t>
            </a:r>
            <a:r>
              <a:rPr dirty="0"/>
              <a:t> </a:t>
            </a:r>
            <a:r>
              <a:rPr dirty="0" err="1"/>
              <a:t>lợi</a:t>
            </a:r>
            <a:r>
              <a:rPr dirty="0"/>
              <a:t> </a:t>
            </a:r>
            <a:r>
              <a:rPr dirty="0" err="1"/>
              <a:t>nhuận</a:t>
            </a:r>
            <a:r>
              <a:rPr dirty="0"/>
              <a:t> </a:t>
            </a:r>
            <a:r>
              <a:rPr dirty="0" err="1"/>
              <a:t>bằng</a:t>
            </a:r>
            <a:r>
              <a:rPr dirty="0"/>
              <a:t> calculated column: </a:t>
            </a:r>
            <a:r>
              <a:rPr dirty="0" err="1"/>
              <a:t>biên</a:t>
            </a:r>
            <a:r>
              <a:rPr dirty="0"/>
              <a:t> </a:t>
            </a:r>
            <a:r>
              <a:rPr dirty="0" err="1"/>
              <a:t>của</a:t>
            </a:r>
            <a:r>
              <a:rPr dirty="0"/>
              <a:t> </a:t>
            </a:r>
            <a:r>
              <a:rPr dirty="0" err="1"/>
              <a:t>từng</a:t>
            </a:r>
            <a:r>
              <a:rPr dirty="0"/>
              <a:t> </a:t>
            </a:r>
            <a:r>
              <a:rPr dirty="0" err="1"/>
              <a:t>dòng</a:t>
            </a:r>
            <a:r>
              <a:rPr dirty="0"/>
              <a:t>, </a:t>
            </a:r>
            <a:r>
              <a:rPr dirty="0" err="1"/>
              <a:t>rồi</a:t>
            </a:r>
            <a:r>
              <a:rPr dirty="0"/>
              <a:t> </a:t>
            </a:r>
            <a:r>
              <a:rPr dirty="0" err="1"/>
              <a:t>để</a:t>
            </a:r>
            <a:r>
              <a:rPr dirty="0"/>
              <a:t> Pivot </a:t>
            </a:r>
            <a:r>
              <a:rPr dirty="0" err="1"/>
              <a:t>lấy</a:t>
            </a:r>
            <a:r>
              <a:rPr dirty="0"/>
              <a:t> </a:t>
            </a:r>
            <a:r>
              <a:rPr dirty="0" err="1"/>
              <a:t>trung</a:t>
            </a:r>
            <a:r>
              <a:rPr dirty="0"/>
              <a:t> </a:t>
            </a:r>
            <a:r>
              <a:rPr dirty="0" err="1"/>
              <a:t>bình</a:t>
            </a:r>
            <a:r>
              <a:rPr dirty="0"/>
              <a:t>. Ra 33,77%. (→ </a:t>
            </a:r>
            <a:r>
              <a:rPr dirty="0" err="1"/>
              <a:t>kéo</a:t>
            </a:r>
            <a:r>
              <a:rPr dirty="0"/>
              <a:t> </a:t>
            </a:r>
            <a:r>
              <a:rPr dirty="0" err="1"/>
              <a:t>GM_Dong</a:t>
            </a:r>
            <a:r>
              <a:rPr dirty="0"/>
              <a:t> </a:t>
            </a:r>
            <a:r>
              <a:rPr dirty="0" err="1"/>
              <a:t>lần</a:t>
            </a:r>
            <a:r>
              <a:rPr dirty="0"/>
              <a:t> </a:t>
            </a:r>
            <a:r>
              <a:rPr dirty="0" err="1"/>
              <a:t>nữa</a:t>
            </a:r>
            <a:r>
              <a:rPr dirty="0"/>
              <a:t> </a:t>
            </a:r>
            <a:r>
              <a:rPr dirty="0" err="1"/>
              <a:t>vào</a:t>
            </a:r>
            <a:r>
              <a:rPr dirty="0"/>
              <a:t> Values, </a:t>
            </a:r>
            <a:r>
              <a:rPr dirty="0" err="1"/>
              <a:t>để</a:t>
            </a:r>
            <a:r>
              <a:rPr dirty="0"/>
              <a:t> Sum) </a:t>
            </a:r>
            <a:r>
              <a:rPr dirty="0" err="1"/>
              <a:t>Còn</a:t>
            </a:r>
            <a:r>
              <a:rPr dirty="0"/>
              <a:t> </a:t>
            </a:r>
            <a:r>
              <a:rPr dirty="0" err="1"/>
              <a:t>nếu</a:t>
            </a:r>
            <a:r>
              <a:rPr dirty="0"/>
              <a:t> Pivot </a:t>
            </a:r>
            <a:r>
              <a:rPr dirty="0" err="1"/>
              <a:t>cộng</a:t>
            </a:r>
            <a:r>
              <a:rPr dirty="0"/>
              <a:t> </a:t>
            </a:r>
            <a:r>
              <a:rPr dirty="0" err="1"/>
              <a:t>lại</a:t>
            </a:r>
            <a:r>
              <a:rPr dirty="0"/>
              <a:t> </a:t>
            </a:r>
            <a:r>
              <a:rPr dirty="0" err="1"/>
              <a:t>thì</a:t>
            </a:r>
            <a:r>
              <a:rPr dirty="0"/>
              <a:t> </a:t>
            </a:r>
            <a:r>
              <a:rPr dirty="0" err="1"/>
              <a:t>ra</a:t>
            </a:r>
            <a:r>
              <a:rPr dirty="0"/>
              <a:t> </a:t>
            </a:r>
            <a:r>
              <a:rPr dirty="0" err="1"/>
              <a:t>hai</a:t>
            </a:r>
            <a:r>
              <a:rPr dirty="0"/>
              <a:t> </a:t>
            </a:r>
            <a:r>
              <a:rPr dirty="0" err="1"/>
              <a:t>trăm</a:t>
            </a:r>
            <a:r>
              <a:rPr dirty="0"/>
              <a:t> </a:t>
            </a:r>
            <a:r>
              <a:rPr dirty="0" err="1"/>
              <a:t>nghìn</a:t>
            </a:r>
            <a:r>
              <a:rPr dirty="0"/>
              <a:t> </a:t>
            </a:r>
            <a:r>
              <a:rPr dirty="0" err="1"/>
              <a:t>phần</a:t>
            </a:r>
            <a:r>
              <a:rPr dirty="0"/>
              <a:t> </a:t>
            </a:r>
            <a:r>
              <a:rPr dirty="0" err="1"/>
              <a:t>trăm</a:t>
            </a:r>
            <a:r>
              <a:rPr dirty="0"/>
              <a:t>, </a:t>
            </a:r>
            <a:r>
              <a:rPr dirty="0" err="1"/>
              <a:t>vô</a:t>
            </a:r>
            <a:r>
              <a:rPr dirty="0"/>
              <a:t> </a:t>
            </a:r>
            <a:r>
              <a:rPr dirty="0" err="1"/>
              <a:t>nghĩa</a:t>
            </a:r>
            <a:r>
              <a:rPr dirty="0"/>
              <a:t>.</a:t>
            </a:r>
          </a:p>
          <a:p>
            <a:r>
              <a:rPr dirty="0"/>
              <a:t>(→ </a:t>
            </a:r>
            <a:r>
              <a:rPr dirty="0" err="1"/>
              <a:t>mở</a:t>
            </a:r>
            <a:r>
              <a:rPr dirty="0"/>
              <a:t> sheet KPI_SUMIFS </a:t>
            </a:r>
            <a:r>
              <a:rPr dirty="0" err="1"/>
              <a:t>trong</a:t>
            </a:r>
            <a:r>
              <a:rPr dirty="0"/>
              <a:t> file </a:t>
            </a:r>
            <a:r>
              <a:rPr dirty="0" err="1"/>
              <a:t>đang</a:t>
            </a:r>
            <a:r>
              <a:rPr dirty="0"/>
              <a:t> </a:t>
            </a:r>
            <a:r>
              <a:rPr dirty="0" err="1"/>
              <a:t>mở</a:t>
            </a:r>
            <a:r>
              <a:rPr dirty="0"/>
              <a:t>, </a:t>
            </a:r>
            <a:r>
              <a:rPr dirty="0" err="1"/>
              <a:t>chỉ</a:t>
            </a:r>
            <a:r>
              <a:rPr dirty="0"/>
              <a:t> ô E30) </a:t>
            </a:r>
            <a:r>
              <a:rPr dirty="0" err="1"/>
              <a:t>Số</a:t>
            </a:r>
            <a:r>
              <a:rPr dirty="0"/>
              <a:t> </a:t>
            </a:r>
            <a:r>
              <a:rPr dirty="0" err="1"/>
              <a:t>đúng</a:t>
            </a:r>
            <a:r>
              <a:rPr dirty="0"/>
              <a:t> </a:t>
            </a:r>
            <a:r>
              <a:rPr dirty="0" err="1"/>
              <a:t>của</a:t>
            </a:r>
            <a:r>
              <a:rPr dirty="0"/>
              <a:t> </a:t>
            </a:r>
            <a:r>
              <a:rPr dirty="0" err="1"/>
              <a:t>Buổi</a:t>
            </a:r>
            <a:r>
              <a:rPr dirty="0"/>
              <a:t> 2 </a:t>
            </a:r>
            <a:r>
              <a:rPr dirty="0" err="1"/>
              <a:t>là</a:t>
            </a:r>
            <a:r>
              <a:rPr dirty="0"/>
              <a:t> 34,18%: </a:t>
            </a:r>
            <a:r>
              <a:rPr dirty="0" err="1"/>
              <a:t>tổng</a:t>
            </a:r>
            <a:r>
              <a:rPr dirty="0"/>
              <a:t> </a:t>
            </a:r>
            <a:r>
              <a:rPr dirty="0" err="1"/>
              <a:t>lợi</a:t>
            </a:r>
            <a:r>
              <a:rPr dirty="0"/>
              <a:t> </a:t>
            </a:r>
            <a:r>
              <a:rPr dirty="0" err="1"/>
              <a:t>nhuận</a:t>
            </a:r>
            <a:r>
              <a:rPr dirty="0"/>
              <a:t> chia </a:t>
            </a:r>
            <a:r>
              <a:rPr dirty="0" err="1"/>
              <a:t>tổng</a:t>
            </a:r>
            <a:r>
              <a:rPr dirty="0"/>
              <a:t> </a:t>
            </a:r>
            <a:r>
              <a:rPr dirty="0" err="1"/>
              <a:t>doanh</a:t>
            </a:r>
            <a:r>
              <a:rPr dirty="0"/>
              <a:t> </a:t>
            </a:r>
            <a:r>
              <a:rPr dirty="0" err="1"/>
              <a:t>thu</a:t>
            </a:r>
            <a:r>
              <a:rPr dirty="0"/>
              <a:t>. </a:t>
            </a:r>
            <a:r>
              <a:rPr dirty="0" err="1"/>
              <a:t>Vậy</a:t>
            </a:r>
            <a:r>
              <a:rPr dirty="0"/>
              <a:t> 33,77% ở slide </a:t>
            </a:r>
            <a:r>
              <a:rPr dirty="0" err="1"/>
              <a:t>mở</a:t>
            </a:r>
            <a:r>
              <a:rPr dirty="0"/>
              <a:t> </a:t>
            </a:r>
            <a:r>
              <a:rPr dirty="0" err="1"/>
              <a:t>đầu</a:t>
            </a:r>
            <a:r>
              <a:rPr dirty="0"/>
              <a:t> </a:t>
            </a:r>
            <a:r>
              <a:rPr dirty="0" err="1"/>
              <a:t>từ</a:t>
            </a:r>
            <a:r>
              <a:rPr dirty="0"/>
              <a:t> </a:t>
            </a:r>
            <a:r>
              <a:rPr dirty="0" err="1"/>
              <a:t>đâu</a:t>
            </a:r>
            <a:r>
              <a:rPr dirty="0"/>
              <a:t> </a:t>
            </a:r>
            <a:r>
              <a:rPr dirty="0" err="1"/>
              <a:t>ra</a:t>
            </a:r>
            <a:r>
              <a:rPr dirty="0"/>
              <a:t>, </a:t>
            </a:r>
            <a:r>
              <a:rPr dirty="0" err="1"/>
              <a:t>chính</a:t>
            </a:r>
            <a:r>
              <a:rPr dirty="0"/>
              <a:t> </a:t>
            </a:r>
            <a:r>
              <a:rPr dirty="0" err="1"/>
              <a:t>là</a:t>
            </a:r>
            <a:r>
              <a:rPr dirty="0"/>
              <a:t> </a:t>
            </a:r>
            <a:r>
              <a:rPr dirty="0" err="1"/>
              <a:t>trung</a:t>
            </a:r>
            <a:r>
              <a:rPr dirty="0"/>
              <a:t> </a:t>
            </a:r>
            <a:r>
              <a:rPr dirty="0" err="1"/>
              <a:t>bình</a:t>
            </a:r>
            <a:r>
              <a:rPr dirty="0"/>
              <a:t> </a:t>
            </a:r>
            <a:r>
              <a:rPr dirty="0" err="1"/>
              <a:t>của</a:t>
            </a:r>
            <a:r>
              <a:rPr dirty="0"/>
              <a:t> </a:t>
            </a:r>
            <a:r>
              <a:rPr dirty="0" err="1"/>
              <a:t>các</a:t>
            </a:r>
            <a:r>
              <a:rPr dirty="0"/>
              <a:t> </a:t>
            </a:r>
            <a:r>
              <a:rPr dirty="0" err="1"/>
              <a:t>tỷ</a:t>
            </a:r>
            <a:r>
              <a:rPr dirty="0"/>
              <a:t> </a:t>
            </a:r>
            <a:r>
              <a:rPr dirty="0" err="1"/>
              <a:t>lệ</a:t>
            </a:r>
            <a:r>
              <a:rPr dirty="0"/>
              <a:t>, </a:t>
            </a:r>
            <a:r>
              <a:rPr dirty="0" err="1"/>
              <a:t>cái</a:t>
            </a:r>
            <a:r>
              <a:rPr dirty="0"/>
              <a:t> </a:t>
            </a:r>
            <a:r>
              <a:rPr dirty="0" err="1"/>
              <a:t>bẫy</a:t>
            </a:r>
            <a:r>
              <a:rPr dirty="0"/>
              <a:t> "</a:t>
            </a:r>
            <a:r>
              <a:rPr dirty="0" err="1"/>
              <a:t>trung</a:t>
            </a:r>
            <a:r>
              <a:rPr dirty="0"/>
              <a:t> </a:t>
            </a:r>
            <a:r>
              <a:rPr dirty="0" err="1"/>
              <a:t>bình</a:t>
            </a:r>
            <a:r>
              <a:rPr dirty="0"/>
              <a:t> </a:t>
            </a:r>
            <a:r>
              <a:rPr dirty="0" err="1"/>
              <a:t>của</a:t>
            </a:r>
            <a:r>
              <a:rPr dirty="0"/>
              <a:t> </a:t>
            </a:r>
            <a:r>
              <a:rPr dirty="0" err="1"/>
              <a:t>trung</a:t>
            </a:r>
            <a:r>
              <a:rPr dirty="0"/>
              <a:t> </a:t>
            </a:r>
            <a:r>
              <a:rPr dirty="0" err="1"/>
              <a:t>bình</a:t>
            </a:r>
            <a:r>
              <a:rPr dirty="0"/>
              <a:t>" </a:t>
            </a:r>
            <a:r>
              <a:rPr dirty="0" err="1"/>
              <a:t>Buổi</a:t>
            </a:r>
            <a:r>
              <a:rPr dirty="0"/>
              <a:t> 2 </a:t>
            </a:r>
            <a:r>
              <a:rPr dirty="0" err="1"/>
              <a:t>đã</a:t>
            </a:r>
            <a:r>
              <a:rPr dirty="0"/>
              <a:t> </a:t>
            </a:r>
            <a:r>
              <a:rPr dirty="0" err="1"/>
              <a:t>gặp</a:t>
            </a:r>
            <a:r>
              <a:rPr dirty="0"/>
              <a:t>. </a:t>
            </a:r>
            <a:r>
              <a:rPr dirty="0" err="1"/>
              <a:t>Một</a:t>
            </a:r>
            <a:r>
              <a:rPr dirty="0"/>
              <a:t> </a:t>
            </a:r>
            <a:r>
              <a:rPr dirty="0" err="1"/>
              <a:t>dòng</a:t>
            </a:r>
            <a:r>
              <a:rPr dirty="0"/>
              <a:t> </a:t>
            </a:r>
            <a:r>
              <a:rPr dirty="0" err="1"/>
              <a:t>bán</a:t>
            </a:r>
            <a:r>
              <a:rPr dirty="0"/>
              <a:t> chai </a:t>
            </a:r>
            <a:r>
              <a:rPr dirty="0" err="1"/>
              <a:t>trà</a:t>
            </a:r>
            <a:r>
              <a:rPr dirty="0"/>
              <a:t> </a:t>
            </a:r>
            <a:r>
              <a:rPr dirty="0" err="1"/>
              <a:t>xanh</a:t>
            </a:r>
            <a:r>
              <a:rPr dirty="0"/>
              <a:t> </a:t>
            </a:r>
            <a:r>
              <a:rPr dirty="0" err="1"/>
              <a:t>mười</a:t>
            </a:r>
            <a:r>
              <a:rPr dirty="0"/>
              <a:t> </a:t>
            </a:r>
            <a:r>
              <a:rPr dirty="0" err="1"/>
              <a:t>nghìn</a:t>
            </a:r>
            <a:r>
              <a:rPr dirty="0"/>
              <a:t> </a:t>
            </a:r>
            <a:r>
              <a:rPr dirty="0" err="1"/>
              <a:t>đồng</a:t>
            </a:r>
            <a:r>
              <a:rPr dirty="0"/>
              <a:t> </a:t>
            </a:r>
            <a:r>
              <a:rPr dirty="0" err="1"/>
              <a:t>có</a:t>
            </a:r>
            <a:r>
              <a:rPr dirty="0"/>
              <a:t> </a:t>
            </a:r>
            <a:r>
              <a:rPr dirty="0" err="1"/>
              <a:t>trọng</a:t>
            </a:r>
            <a:r>
              <a:rPr dirty="0"/>
              <a:t> </a:t>
            </a:r>
            <a:r>
              <a:rPr dirty="0" err="1"/>
              <a:t>số</a:t>
            </a:r>
            <a:r>
              <a:rPr dirty="0"/>
              <a:t> </a:t>
            </a:r>
            <a:r>
              <a:rPr dirty="0" err="1"/>
              <a:t>ngang</a:t>
            </a:r>
            <a:r>
              <a:rPr dirty="0"/>
              <a:t> </a:t>
            </a:r>
            <a:r>
              <a:rPr dirty="0" err="1"/>
              <a:t>với</a:t>
            </a:r>
            <a:r>
              <a:rPr dirty="0"/>
              <a:t> </a:t>
            </a:r>
            <a:r>
              <a:rPr dirty="0" err="1"/>
              <a:t>một</a:t>
            </a:r>
            <a:r>
              <a:rPr dirty="0"/>
              <a:t> </a:t>
            </a:r>
            <a:r>
              <a:rPr dirty="0" err="1"/>
              <a:t>dòng</a:t>
            </a:r>
            <a:r>
              <a:rPr dirty="0"/>
              <a:t> </a:t>
            </a:r>
            <a:r>
              <a:rPr dirty="0" err="1"/>
              <a:t>bán</a:t>
            </a:r>
            <a:r>
              <a:rPr dirty="0"/>
              <a:t> </a:t>
            </a:r>
            <a:r>
              <a:rPr dirty="0" err="1"/>
              <a:t>hộp</a:t>
            </a:r>
            <a:r>
              <a:rPr dirty="0"/>
              <a:t> </a:t>
            </a:r>
            <a:r>
              <a:rPr dirty="0" err="1"/>
              <a:t>quà</a:t>
            </a:r>
            <a:r>
              <a:rPr dirty="0"/>
              <a:t> </a:t>
            </a:r>
            <a:r>
              <a:rPr dirty="0" err="1"/>
              <a:t>Tết</a:t>
            </a:r>
            <a:r>
              <a:rPr dirty="0"/>
              <a:t> </a:t>
            </a:r>
            <a:r>
              <a:rPr dirty="0" err="1"/>
              <a:t>sáu</a:t>
            </a:r>
            <a:r>
              <a:rPr dirty="0"/>
              <a:t> </a:t>
            </a:r>
            <a:r>
              <a:rPr dirty="0" err="1"/>
              <a:t>trăm</a:t>
            </a:r>
            <a:r>
              <a:rPr dirty="0"/>
              <a:t> </a:t>
            </a:r>
            <a:r>
              <a:rPr dirty="0" err="1"/>
              <a:t>năm</a:t>
            </a:r>
            <a:r>
              <a:rPr dirty="0"/>
              <a:t> </a:t>
            </a:r>
            <a:r>
              <a:rPr dirty="0" err="1"/>
              <a:t>mươi</a:t>
            </a:r>
            <a:r>
              <a:rPr dirty="0"/>
              <a:t> </a:t>
            </a:r>
            <a:r>
              <a:rPr dirty="0" err="1"/>
              <a:t>nghìn</a:t>
            </a:r>
            <a:r>
              <a:rPr dirty="0"/>
              <a:t> </a:t>
            </a:r>
            <a:r>
              <a:rPr dirty="0" err="1"/>
              <a:t>đồng</a:t>
            </a:r>
            <a:r>
              <a:rPr dirty="0"/>
              <a:t>.</a:t>
            </a:r>
          </a:p>
          <a:p>
            <a:r>
              <a:rPr dirty="0"/>
              <a:t>Quy </a:t>
            </a:r>
            <a:r>
              <a:rPr dirty="0" err="1"/>
              <a:t>tắc</a:t>
            </a:r>
            <a:r>
              <a:rPr dirty="0"/>
              <a:t>: KPI </a:t>
            </a:r>
            <a:r>
              <a:rPr dirty="0" err="1"/>
              <a:t>dạng</a:t>
            </a:r>
            <a:r>
              <a:rPr dirty="0"/>
              <a:t> </a:t>
            </a:r>
            <a:r>
              <a:rPr dirty="0" err="1"/>
              <a:t>tỷ</a:t>
            </a:r>
            <a:r>
              <a:rPr dirty="0"/>
              <a:t> </a:t>
            </a:r>
            <a:r>
              <a:rPr dirty="0" err="1"/>
              <a:t>lệ</a:t>
            </a:r>
            <a:r>
              <a:rPr dirty="0"/>
              <a:t> </a:t>
            </a:r>
            <a:r>
              <a:rPr dirty="0" err="1"/>
              <a:t>luôn</a:t>
            </a:r>
            <a:r>
              <a:rPr dirty="0"/>
              <a:t> </a:t>
            </a:r>
            <a:r>
              <a:rPr dirty="0" err="1"/>
              <a:t>là</a:t>
            </a:r>
            <a:r>
              <a:rPr dirty="0"/>
              <a:t> measure, </a:t>
            </a:r>
            <a:r>
              <a:rPr dirty="0" err="1"/>
              <a:t>tính</a:t>
            </a:r>
            <a:r>
              <a:rPr dirty="0"/>
              <a:t> </a:t>
            </a:r>
            <a:r>
              <a:rPr dirty="0" err="1"/>
              <a:t>tổng</a:t>
            </a:r>
            <a:r>
              <a:rPr dirty="0"/>
              <a:t> </a:t>
            </a:r>
            <a:r>
              <a:rPr dirty="0" err="1"/>
              <a:t>trước</a:t>
            </a:r>
            <a:r>
              <a:rPr dirty="0"/>
              <a:t>, chia </a:t>
            </a:r>
            <a:r>
              <a:rPr dirty="0" err="1"/>
              <a:t>sau</a:t>
            </a:r>
            <a:r>
              <a:rPr dirty="0"/>
              <a:t>, </a:t>
            </a:r>
            <a:r>
              <a:rPr dirty="0" err="1"/>
              <a:t>cho</a:t>
            </a:r>
            <a:r>
              <a:rPr dirty="0"/>
              <a:t> </a:t>
            </a:r>
            <a:r>
              <a:rPr dirty="0" err="1"/>
              <a:t>từng</a:t>
            </a:r>
            <a:r>
              <a:rPr dirty="0"/>
              <a:t> ô Pivot. (→ Data View: </a:t>
            </a:r>
            <a:r>
              <a:rPr dirty="0" err="1"/>
              <a:t>chuột</a:t>
            </a:r>
            <a:r>
              <a:rPr dirty="0"/>
              <a:t> </a:t>
            </a:r>
            <a:r>
              <a:rPr dirty="0" err="1"/>
              <a:t>phải</a:t>
            </a:r>
            <a:r>
              <a:rPr dirty="0"/>
              <a:t> </a:t>
            </a:r>
            <a:r>
              <a:rPr dirty="0" err="1"/>
              <a:t>tiêu</a:t>
            </a:r>
            <a:r>
              <a:rPr dirty="0"/>
              <a:t> </a:t>
            </a:r>
            <a:r>
              <a:rPr dirty="0" err="1"/>
              <a:t>đề</a:t>
            </a:r>
            <a:r>
              <a:rPr dirty="0"/>
              <a:t> </a:t>
            </a:r>
            <a:r>
              <a:rPr dirty="0" err="1"/>
              <a:t>GM_Dong</a:t>
            </a:r>
            <a:r>
              <a:rPr dirty="0"/>
              <a:t> → Delete Columns; </a:t>
            </a:r>
            <a:r>
              <a:rPr dirty="0" err="1"/>
              <a:t>giữ</a:t>
            </a:r>
            <a:r>
              <a:rPr dirty="0"/>
              <a:t> </a:t>
            </a:r>
            <a:r>
              <a:rPr dirty="0" err="1"/>
              <a:t>lại</a:t>
            </a:r>
            <a:r>
              <a:rPr dirty="0"/>
              <a:t> sheet </a:t>
            </a:r>
            <a:r>
              <a:rPr dirty="0" err="1"/>
              <a:t>PV_Loc</a:t>
            </a:r>
            <a:r>
              <a:rPr dirty="0"/>
              <a:t>) </a:t>
            </a:r>
            <a:r>
              <a:rPr dirty="0" err="1"/>
              <a:t>Xóa</a:t>
            </a:r>
            <a:r>
              <a:rPr dirty="0"/>
              <a:t> </a:t>
            </a:r>
            <a:r>
              <a:rPr dirty="0" err="1"/>
              <a:t>cột</a:t>
            </a:r>
            <a:r>
              <a:rPr dirty="0"/>
              <a:t> </a:t>
            </a:r>
            <a:r>
              <a:rPr dirty="0" err="1"/>
              <a:t>tạm</a:t>
            </a:r>
            <a:r>
              <a:rPr dirty="0"/>
              <a:t> </a:t>
            </a:r>
            <a:r>
              <a:rPr dirty="0" err="1"/>
              <a:t>này</a:t>
            </a:r>
            <a:r>
              <a:rPr dirty="0"/>
              <a:t> </a:t>
            </a:r>
            <a:r>
              <a:rPr dirty="0" err="1"/>
              <a:t>đi</a:t>
            </a:r>
            <a:r>
              <a:rPr dirty="0"/>
              <a:t>. </a:t>
            </a:r>
            <a:r>
              <a:rPr dirty="0" err="1"/>
              <a:t>Bảng</a:t>
            </a:r>
            <a:r>
              <a:rPr dirty="0"/>
              <a:t> so </a:t>
            </a:r>
            <a:r>
              <a:rPr dirty="0" err="1"/>
              <a:t>sánh</a:t>
            </a:r>
            <a:r>
              <a:rPr dirty="0"/>
              <a:t> </a:t>
            </a:r>
            <a:r>
              <a:rPr dirty="0" err="1"/>
              <a:t>trên</a:t>
            </a:r>
            <a:r>
              <a:rPr dirty="0"/>
              <a:t> slide </a:t>
            </a:r>
            <a:r>
              <a:rPr dirty="0" err="1"/>
              <a:t>là</a:t>
            </a:r>
            <a:r>
              <a:rPr dirty="0"/>
              <a:t> </a:t>
            </a:r>
            <a:r>
              <a:rPr dirty="0" err="1"/>
              <a:t>thứ</a:t>
            </a:r>
            <a:r>
              <a:rPr dirty="0"/>
              <a:t> </a:t>
            </a:r>
            <a:r>
              <a:rPr dirty="0" err="1"/>
              <a:t>các</a:t>
            </a:r>
            <a:r>
              <a:rPr dirty="0"/>
              <a:t> </a:t>
            </a:r>
            <a:r>
              <a:rPr dirty="0" err="1"/>
              <a:t>bạn</a:t>
            </a:r>
            <a:r>
              <a:rPr dirty="0"/>
              <a:t> </a:t>
            </a:r>
            <a:r>
              <a:rPr dirty="0" err="1"/>
              <a:t>cần</a:t>
            </a:r>
            <a:r>
              <a:rPr dirty="0"/>
              <a:t> </a:t>
            </a:r>
            <a:r>
              <a:rPr dirty="0" err="1"/>
              <a:t>nhớ</a:t>
            </a:r>
            <a:r>
              <a:rPr dirty="0"/>
              <a:t>: </a:t>
            </a:r>
            <a:r>
              <a:rPr dirty="0" err="1"/>
              <a:t>cột</a:t>
            </a:r>
            <a:r>
              <a:rPr dirty="0"/>
              <a:t> </a:t>
            </a:r>
            <a:r>
              <a:rPr dirty="0" err="1"/>
              <a:t>tính</a:t>
            </a:r>
            <a:r>
              <a:rPr dirty="0"/>
              <a:t> </a:t>
            </a:r>
            <a:r>
              <a:rPr dirty="0" err="1"/>
              <a:t>từng</a:t>
            </a:r>
            <a:r>
              <a:rPr dirty="0"/>
              <a:t> </a:t>
            </a:r>
            <a:r>
              <a:rPr dirty="0" err="1"/>
              <a:t>dòng</a:t>
            </a:r>
            <a:r>
              <a:rPr dirty="0"/>
              <a:t> </a:t>
            </a:r>
            <a:r>
              <a:rPr dirty="0" err="1"/>
              <a:t>và</a:t>
            </a:r>
            <a:r>
              <a:rPr dirty="0"/>
              <a:t> </a:t>
            </a:r>
            <a:r>
              <a:rPr dirty="0" err="1"/>
              <a:t>nằm</a:t>
            </a:r>
            <a:r>
              <a:rPr dirty="0"/>
              <a:t> ở </a:t>
            </a:r>
            <a:r>
              <a:rPr dirty="0" err="1"/>
              <a:t>hàng</a:t>
            </a:r>
            <a:r>
              <a:rPr dirty="0"/>
              <a:t>, </a:t>
            </a:r>
            <a:r>
              <a:rPr dirty="0" err="1"/>
              <a:t>cột</a:t>
            </a:r>
            <a:r>
              <a:rPr dirty="0"/>
              <a:t>; measure </a:t>
            </a:r>
            <a:r>
              <a:rPr dirty="0" err="1"/>
              <a:t>tính</a:t>
            </a:r>
            <a:r>
              <a:rPr dirty="0"/>
              <a:t> </a:t>
            </a:r>
            <a:r>
              <a:rPr dirty="0" err="1"/>
              <a:t>từng</a:t>
            </a:r>
            <a:r>
              <a:rPr dirty="0"/>
              <a:t> ô </a:t>
            </a:r>
            <a:r>
              <a:rPr dirty="0" err="1"/>
              <a:t>và</a:t>
            </a:r>
            <a:r>
              <a:rPr dirty="0"/>
              <a:t> </a:t>
            </a:r>
            <a:r>
              <a:rPr dirty="0" err="1"/>
              <a:t>nằm</a:t>
            </a:r>
            <a:r>
              <a:rPr dirty="0"/>
              <a:t> ở Values.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5,5 </a:t>
            </a:r>
            <a:r>
              <a:rPr dirty="0" err="1"/>
              <a:t>phút</a:t>
            </a:r>
            <a:r>
              <a:rPr dirty="0"/>
              <a:t>.</a:t>
            </a:r>
          </a:p>
          <a:p>
            <a:r>
              <a:rPr dirty="0"/>
              <a:t>LỜI GIẢNG</a:t>
            </a:r>
          </a:p>
          <a:p>
            <a:r>
              <a:rPr dirty="0"/>
              <a:t>(→ </a:t>
            </a:r>
            <a:r>
              <a:rPr dirty="0" err="1"/>
              <a:t>trên</a:t>
            </a:r>
            <a:r>
              <a:rPr dirty="0"/>
              <a:t> </a:t>
            </a:r>
            <a:r>
              <a:rPr dirty="0" err="1"/>
              <a:t>PV_Loc</a:t>
            </a:r>
            <a:r>
              <a:rPr dirty="0"/>
              <a:t>, </a:t>
            </a:r>
            <a:r>
              <a:rPr dirty="0" err="1"/>
              <a:t>hai</a:t>
            </a:r>
            <a:r>
              <a:rPr dirty="0"/>
              <a:t> </a:t>
            </a:r>
            <a:r>
              <a:rPr dirty="0" err="1"/>
              <a:t>trường</a:t>
            </a:r>
            <a:r>
              <a:rPr dirty="0"/>
              <a:t> </a:t>
            </a:r>
            <a:r>
              <a:rPr dirty="0" err="1"/>
              <a:t>GM_Dong</a:t>
            </a:r>
            <a:r>
              <a:rPr dirty="0"/>
              <a:t> </a:t>
            </a:r>
            <a:r>
              <a:rPr dirty="0" err="1"/>
              <a:t>đã</a:t>
            </a:r>
            <a:r>
              <a:rPr dirty="0"/>
              <a:t> </a:t>
            </a:r>
            <a:r>
              <a:rPr dirty="0" err="1"/>
              <a:t>tự</a:t>
            </a:r>
            <a:r>
              <a:rPr dirty="0"/>
              <a:t> </a:t>
            </a:r>
            <a:r>
              <a:rPr dirty="0" err="1"/>
              <a:t>biến</a:t>
            </a:r>
            <a:r>
              <a:rPr dirty="0"/>
              <a:t> </a:t>
            </a:r>
            <a:r>
              <a:rPr dirty="0" err="1"/>
              <a:t>mất</a:t>
            </a:r>
            <a:r>
              <a:rPr dirty="0"/>
              <a:t> </a:t>
            </a:r>
            <a:r>
              <a:rPr dirty="0" err="1"/>
              <a:t>khi</a:t>
            </a:r>
            <a:r>
              <a:rPr dirty="0"/>
              <a:t> </a:t>
            </a:r>
            <a:r>
              <a:rPr dirty="0" err="1"/>
              <a:t>xóa</a:t>
            </a:r>
            <a:r>
              <a:rPr dirty="0"/>
              <a:t> </a:t>
            </a:r>
            <a:r>
              <a:rPr dirty="0" err="1"/>
              <a:t>cột</a:t>
            </a:r>
            <a:r>
              <a:rPr dirty="0"/>
              <a:t>: tick Sales → Revenue) Tick </a:t>
            </a:r>
            <a:r>
              <a:rPr dirty="0" err="1"/>
              <a:t>cột</a:t>
            </a:r>
            <a:r>
              <a:rPr dirty="0"/>
              <a:t> Revenue, Pivot </a:t>
            </a:r>
            <a:r>
              <a:rPr dirty="0" err="1"/>
              <a:t>tự</a:t>
            </a:r>
            <a:r>
              <a:rPr dirty="0"/>
              <a:t> </a:t>
            </a:r>
            <a:r>
              <a:rPr dirty="0" err="1"/>
              <a:t>hiện</a:t>
            </a:r>
            <a:r>
              <a:rPr dirty="0"/>
              <a:t> "Sum of Revenue". </a:t>
            </a:r>
            <a:r>
              <a:rPr dirty="0" err="1"/>
              <a:t>Đây</a:t>
            </a:r>
            <a:r>
              <a:rPr dirty="0"/>
              <a:t> </a:t>
            </a:r>
            <a:r>
              <a:rPr dirty="0" err="1"/>
              <a:t>là</a:t>
            </a:r>
            <a:r>
              <a:rPr dirty="0"/>
              <a:t> implicit measure, measure </a:t>
            </a:r>
            <a:r>
              <a:rPr dirty="0" err="1"/>
              <a:t>ngầm</a:t>
            </a:r>
            <a:r>
              <a:rPr dirty="0"/>
              <a:t>. </a:t>
            </a:r>
            <a:r>
              <a:rPr dirty="0" err="1"/>
              <a:t>Tiện</a:t>
            </a:r>
            <a:r>
              <a:rPr dirty="0"/>
              <a:t>, </a:t>
            </a:r>
            <a:r>
              <a:rPr dirty="0" err="1"/>
              <a:t>nhưng</a:t>
            </a:r>
            <a:r>
              <a:rPr dirty="0"/>
              <a:t> </a:t>
            </a:r>
            <a:r>
              <a:rPr dirty="0" err="1"/>
              <a:t>không</a:t>
            </a:r>
            <a:r>
              <a:rPr dirty="0"/>
              <a:t> </a:t>
            </a:r>
            <a:r>
              <a:rPr dirty="0" err="1"/>
              <a:t>tên</a:t>
            </a:r>
            <a:r>
              <a:rPr dirty="0"/>
              <a:t>, </a:t>
            </a:r>
            <a:r>
              <a:rPr dirty="0" err="1"/>
              <a:t>không</a:t>
            </a:r>
            <a:r>
              <a:rPr dirty="0"/>
              <a:t> </a:t>
            </a:r>
            <a:r>
              <a:rPr dirty="0" err="1"/>
              <a:t>định</a:t>
            </a:r>
            <a:r>
              <a:rPr dirty="0"/>
              <a:t> </a:t>
            </a:r>
            <a:r>
              <a:rPr dirty="0" err="1"/>
              <a:t>dạng</a:t>
            </a:r>
            <a:r>
              <a:rPr dirty="0"/>
              <a:t>, </a:t>
            </a:r>
            <a:r>
              <a:rPr dirty="0" err="1"/>
              <a:t>và</a:t>
            </a:r>
            <a:r>
              <a:rPr dirty="0"/>
              <a:t> </a:t>
            </a:r>
            <a:r>
              <a:rPr dirty="0" err="1"/>
              <a:t>không</a:t>
            </a:r>
            <a:r>
              <a:rPr dirty="0"/>
              <a:t> </a:t>
            </a:r>
            <a:r>
              <a:rPr dirty="0" err="1"/>
              <a:t>dùng</a:t>
            </a:r>
            <a:r>
              <a:rPr dirty="0"/>
              <a:t> </a:t>
            </a:r>
            <a:r>
              <a:rPr dirty="0" err="1"/>
              <a:t>lại</a:t>
            </a:r>
            <a:r>
              <a:rPr dirty="0"/>
              <a:t> </a:t>
            </a:r>
            <a:r>
              <a:rPr dirty="0" err="1"/>
              <a:t>được</a:t>
            </a:r>
            <a:r>
              <a:rPr dirty="0"/>
              <a:t> </a:t>
            </a:r>
            <a:r>
              <a:rPr dirty="0" err="1"/>
              <a:t>trong</a:t>
            </a:r>
            <a:r>
              <a:rPr dirty="0"/>
              <a:t> </a:t>
            </a:r>
            <a:r>
              <a:rPr dirty="0" err="1"/>
              <a:t>công</a:t>
            </a:r>
            <a:r>
              <a:rPr dirty="0"/>
              <a:t> </a:t>
            </a:r>
            <a:r>
              <a:rPr dirty="0" err="1"/>
              <a:t>thức</a:t>
            </a:r>
            <a:r>
              <a:rPr dirty="0"/>
              <a:t> </a:t>
            </a:r>
            <a:r>
              <a:rPr dirty="0" err="1"/>
              <a:t>khác</a:t>
            </a:r>
            <a:r>
              <a:rPr dirty="0"/>
              <a:t>. (→ </a:t>
            </a:r>
            <a:r>
              <a:rPr dirty="0" err="1"/>
              <a:t>bỏ</a:t>
            </a:r>
            <a:r>
              <a:rPr dirty="0"/>
              <a:t> tick Revenue)</a:t>
            </a:r>
          </a:p>
          <a:p>
            <a:r>
              <a:rPr dirty="0" err="1"/>
              <a:t>Mình</a:t>
            </a:r>
            <a:r>
              <a:rPr dirty="0"/>
              <a:t> </a:t>
            </a:r>
            <a:r>
              <a:rPr dirty="0" err="1"/>
              <a:t>viết</a:t>
            </a:r>
            <a:r>
              <a:rPr dirty="0"/>
              <a:t> explicit measure. (→ Power Pivot → Measures → New Measure…; Table name: Sales; Measure name: Total Revenue; Formula: =SUM(Sales[Revenue]); </a:t>
            </a:r>
            <a:r>
              <a:rPr dirty="0" err="1"/>
              <a:t>bấm</a:t>
            </a:r>
            <a:r>
              <a:rPr dirty="0"/>
              <a:t> Check formula; Category: Number, tick Use 1000 separator, Decimal places 0 → OK) </a:t>
            </a:r>
            <a:r>
              <a:rPr dirty="0" err="1"/>
              <a:t>Có</a:t>
            </a:r>
            <a:r>
              <a:rPr dirty="0"/>
              <a:t> </a:t>
            </a:r>
            <a:r>
              <a:rPr dirty="0" err="1"/>
              <a:t>tên</a:t>
            </a:r>
            <a:r>
              <a:rPr dirty="0"/>
              <a:t> </a:t>
            </a:r>
            <a:r>
              <a:rPr dirty="0" err="1"/>
              <a:t>rõ</a:t>
            </a:r>
            <a:r>
              <a:rPr dirty="0"/>
              <a:t> </a:t>
            </a:r>
            <a:r>
              <a:rPr dirty="0" err="1"/>
              <a:t>ràng</a:t>
            </a:r>
            <a:r>
              <a:rPr dirty="0"/>
              <a:t>, </a:t>
            </a:r>
            <a:r>
              <a:rPr dirty="0" err="1"/>
              <a:t>có</a:t>
            </a:r>
            <a:r>
              <a:rPr dirty="0"/>
              <a:t> </a:t>
            </a:r>
            <a:r>
              <a:rPr dirty="0" err="1"/>
              <a:t>định</a:t>
            </a:r>
            <a:r>
              <a:rPr dirty="0"/>
              <a:t> </a:t>
            </a:r>
            <a:r>
              <a:rPr dirty="0" err="1"/>
              <a:t>dạng</a:t>
            </a:r>
            <a:r>
              <a:rPr dirty="0"/>
              <a:t>. </a:t>
            </a:r>
            <a:r>
              <a:rPr dirty="0" err="1"/>
              <a:t>Nó</a:t>
            </a:r>
            <a:r>
              <a:rPr dirty="0"/>
              <a:t> </a:t>
            </a:r>
            <a:r>
              <a:rPr dirty="0" err="1"/>
              <a:t>xuất</a:t>
            </a:r>
            <a:r>
              <a:rPr dirty="0"/>
              <a:t> </a:t>
            </a:r>
            <a:r>
              <a:rPr dirty="0" err="1"/>
              <a:t>hiện</a:t>
            </a:r>
            <a:r>
              <a:rPr dirty="0"/>
              <a:t> </a:t>
            </a:r>
            <a:r>
              <a:rPr dirty="0" err="1"/>
              <a:t>trong</a:t>
            </a:r>
            <a:r>
              <a:rPr dirty="0"/>
              <a:t> </a:t>
            </a:r>
            <a:r>
              <a:rPr dirty="0" err="1"/>
              <a:t>danh</a:t>
            </a:r>
            <a:r>
              <a:rPr dirty="0"/>
              <a:t> </a:t>
            </a:r>
            <a:r>
              <a:rPr dirty="0" err="1"/>
              <a:t>sách</a:t>
            </a:r>
            <a:r>
              <a:rPr dirty="0"/>
              <a:t> </a:t>
            </a:r>
            <a:r>
              <a:rPr dirty="0" err="1"/>
              <a:t>trường</a:t>
            </a:r>
            <a:r>
              <a:rPr dirty="0"/>
              <a:t> </a:t>
            </a:r>
            <a:r>
              <a:rPr dirty="0" err="1"/>
              <a:t>với</a:t>
            </a:r>
            <a:r>
              <a:rPr dirty="0"/>
              <a:t> </a:t>
            </a:r>
            <a:r>
              <a:rPr dirty="0" err="1"/>
              <a:t>biểu</a:t>
            </a:r>
            <a:r>
              <a:rPr dirty="0"/>
              <a:t> </a:t>
            </a:r>
            <a:r>
              <a:rPr dirty="0" err="1"/>
              <a:t>tượng</a:t>
            </a:r>
            <a:r>
              <a:rPr dirty="0"/>
              <a:t> </a:t>
            </a:r>
            <a:r>
              <a:rPr dirty="0" err="1"/>
              <a:t>fx</a:t>
            </a:r>
            <a:r>
              <a:rPr dirty="0"/>
              <a:t>. (→ tick Total Revenue </a:t>
            </a:r>
            <a:r>
              <a:rPr dirty="0" err="1"/>
              <a:t>vào</a:t>
            </a:r>
            <a:r>
              <a:rPr dirty="0"/>
              <a:t> Values) 941.454.000, </a:t>
            </a:r>
            <a:r>
              <a:rPr dirty="0" err="1"/>
              <a:t>khớp</a:t>
            </a:r>
            <a:r>
              <a:rPr dirty="0"/>
              <a:t> Quý 1.</a:t>
            </a:r>
          </a:p>
          <a:p>
            <a:r>
              <a:rPr dirty="0"/>
              <a:t>(→ New Measure: Total COGS = SUM(Sales[COGS]), </a:t>
            </a:r>
            <a:r>
              <a:rPr dirty="0" err="1"/>
              <a:t>định</a:t>
            </a:r>
            <a:r>
              <a:rPr dirty="0"/>
              <a:t> </a:t>
            </a:r>
            <a:r>
              <a:rPr dirty="0" err="1"/>
              <a:t>dạng</a:t>
            </a:r>
            <a:r>
              <a:rPr dirty="0"/>
              <a:t> </a:t>
            </a:r>
            <a:r>
              <a:rPr dirty="0" err="1"/>
              <a:t>như</a:t>
            </a:r>
            <a:r>
              <a:rPr dirty="0"/>
              <a:t> </a:t>
            </a:r>
            <a:r>
              <a:rPr dirty="0" err="1"/>
              <a:t>trên</a:t>
            </a:r>
            <a:r>
              <a:rPr dirty="0"/>
              <a:t>) </a:t>
            </a:r>
            <a:r>
              <a:rPr dirty="0" err="1"/>
              <a:t>Tổng</a:t>
            </a:r>
            <a:r>
              <a:rPr dirty="0"/>
              <a:t> </a:t>
            </a:r>
            <a:r>
              <a:rPr dirty="0" err="1"/>
              <a:t>giá</a:t>
            </a:r>
            <a:r>
              <a:rPr dirty="0"/>
              <a:t> </a:t>
            </a:r>
            <a:r>
              <a:rPr dirty="0" err="1"/>
              <a:t>vốn</a:t>
            </a:r>
            <a:r>
              <a:rPr dirty="0"/>
              <a:t>. (→ New Measure: Gross Margin % = DIVIDE([Total Revenue]-[Total COGS],[Total Revenue]), Category: Number, Format: Percentage, Decimal places 1 → OK; tick </a:t>
            </a:r>
            <a:r>
              <a:rPr dirty="0" err="1"/>
              <a:t>vào</a:t>
            </a:r>
            <a:r>
              <a:rPr dirty="0"/>
              <a:t> Values) </a:t>
            </a:r>
            <a:r>
              <a:rPr dirty="0" err="1"/>
              <a:t>Và</a:t>
            </a:r>
            <a:r>
              <a:rPr dirty="0"/>
              <a:t> </a:t>
            </a:r>
            <a:r>
              <a:rPr dirty="0" err="1"/>
              <a:t>đây</a:t>
            </a:r>
            <a:r>
              <a:rPr dirty="0"/>
              <a:t> </a:t>
            </a:r>
            <a:r>
              <a:rPr dirty="0" err="1"/>
              <a:t>là</a:t>
            </a:r>
            <a:r>
              <a:rPr dirty="0"/>
              <a:t> </a:t>
            </a:r>
            <a:r>
              <a:rPr dirty="0" err="1"/>
              <a:t>điều</a:t>
            </a:r>
            <a:r>
              <a:rPr dirty="0"/>
              <a:t> hay </a:t>
            </a:r>
            <a:r>
              <a:rPr dirty="0" err="1"/>
              <a:t>nhất</a:t>
            </a:r>
            <a:r>
              <a:rPr dirty="0"/>
              <a:t>: measure </a:t>
            </a:r>
            <a:r>
              <a:rPr dirty="0" err="1"/>
              <a:t>gọi</a:t>
            </a:r>
            <a:r>
              <a:rPr dirty="0"/>
              <a:t> </a:t>
            </a:r>
            <a:r>
              <a:rPr dirty="0" err="1"/>
              <a:t>lại</a:t>
            </a:r>
            <a:r>
              <a:rPr dirty="0"/>
              <a:t> measure. Gross Margin % </a:t>
            </a:r>
            <a:r>
              <a:rPr dirty="0" err="1"/>
              <a:t>không</a:t>
            </a:r>
            <a:r>
              <a:rPr dirty="0"/>
              <a:t> </a:t>
            </a:r>
            <a:r>
              <a:rPr dirty="0" err="1"/>
              <a:t>cần</a:t>
            </a:r>
            <a:r>
              <a:rPr dirty="0"/>
              <a:t> </a:t>
            </a:r>
            <a:r>
              <a:rPr dirty="0" err="1"/>
              <a:t>biết</a:t>
            </a:r>
            <a:r>
              <a:rPr dirty="0"/>
              <a:t> </a:t>
            </a:r>
            <a:r>
              <a:rPr dirty="0" err="1"/>
              <a:t>doanh</a:t>
            </a:r>
            <a:r>
              <a:rPr dirty="0"/>
              <a:t> </a:t>
            </a:r>
            <a:r>
              <a:rPr dirty="0" err="1"/>
              <a:t>thu</a:t>
            </a:r>
            <a:r>
              <a:rPr dirty="0"/>
              <a:t> </a:t>
            </a:r>
            <a:r>
              <a:rPr dirty="0" err="1"/>
              <a:t>tính</a:t>
            </a:r>
            <a:r>
              <a:rPr dirty="0"/>
              <a:t> </a:t>
            </a:r>
            <a:r>
              <a:rPr dirty="0" err="1"/>
              <a:t>thế</a:t>
            </a:r>
            <a:r>
              <a:rPr dirty="0"/>
              <a:t> </a:t>
            </a:r>
            <a:r>
              <a:rPr dirty="0" err="1"/>
              <a:t>nào</a:t>
            </a:r>
            <a:r>
              <a:rPr dirty="0"/>
              <a:t>, </a:t>
            </a:r>
            <a:r>
              <a:rPr dirty="0" err="1"/>
              <a:t>nó</a:t>
            </a:r>
            <a:r>
              <a:rPr dirty="0"/>
              <a:t> </a:t>
            </a:r>
            <a:r>
              <a:rPr dirty="0" err="1"/>
              <a:t>dùng</a:t>
            </a:r>
            <a:r>
              <a:rPr dirty="0"/>
              <a:t> Total Revenue. Ra 34,2%, </a:t>
            </a:r>
            <a:r>
              <a:rPr dirty="0" err="1"/>
              <a:t>khớp</a:t>
            </a:r>
            <a:r>
              <a:rPr dirty="0"/>
              <a:t> KPI_SUMIFS. </a:t>
            </a:r>
            <a:r>
              <a:rPr dirty="0" err="1"/>
              <a:t>Từ</a:t>
            </a:r>
            <a:r>
              <a:rPr dirty="0"/>
              <a:t> </a:t>
            </a:r>
            <a:r>
              <a:rPr dirty="0" err="1"/>
              <a:t>giờ</a:t>
            </a:r>
            <a:r>
              <a:rPr dirty="0"/>
              <a:t> ai </a:t>
            </a:r>
            <a:r>
              <a:rPr dirty="0" err="1"/>
              <a:t>cần</a:t>
            </a:r>
            <a:r>
              <a:rPr dirty="0"/>
              <a:t> </a:t>
            </a:r>
            <a:r>
              <a:rPr dirty="0" err="1"/>
              <a:t>biên</a:t>
            </a:r>
            <a:r>
              <a:rPr dirty="0"/>
              <a:t> </a:t>
            </a:r>
            <a:r>
              <a:rPr dirty="0" err="1"/>
              <a:t>lợi</a:t>
            </a:r>
            <a:r>
              <a:rPr dirty="0"/>
              <a:t> </a:t>
            </a:r>
            <a:r>
              <a:rPr dirty="0" err="1"/>
              <a:t>nhuận</a:t>
            </a:r>
            <a:r>
              <a:rPr dirty="0"/>
              <a:t> </a:t>
            </a:r>
            <a:r>
              <a:rPr dirty="0" err="1"/>
              <a:t>chỉ</a:t>
            </a:r>
            <a:r>
              <a:rPr dirty="0"/>
              <a:t> </a:t>
            </a:r>
            <a:r>
              <a:rPr dirty="0" err="1"/>
              <a:t>kéo</a:t>
            </a:r>
            <a:r>
              <a:rPr dirty="0"/>
              <a:t> measure </a:t>
            </a:r>
            <a:r>
              <a:rPr dirty="0" err="1"/>
              <a:t>này</a:t>
            </a:r>
            <a:r>
              <a:rPr dirty="0"/>
              <a:t> </a:t>
            </a:r>
            <a:r>
              <a:rPr dirty="0" err="1"/>
              <a:t>vào</a:t>
            </a:r>
            <a:r>
              <a:rPr dirty="0"/>
              <a:t>; </a:t>
            </a:r>
            <a:r>
              <a:rPr dirty="0" err="1"/>
              <a:t>không</a:t>
            </a:r>
            <a:r>
              <a:rPr dirty="0"/>
              <a:t> ai </a:t>
            </a:r>
            <a:r>
              <a:rPr dirty="0" err="1"/>
              <a:t>phải</a:t>
            </a:r>
            <a:r>
              <a:rPr dirty="0"/>
              <a:t> </a:t>
            </a:r>
            <a:r>
              <a:rPr dirty="0" err="1"/>
              <a:t>tự</a:t>
            </a:r>
            <a:r>
              <a:rPr dirty="0"/>
              <a:t> </a:t>
            </a:r>
            <a:r>
              <a:rPr dirty="0" err="1"/>
              <a:t>nghĩ</a:t>
            </a:r>
            <a:r>
              <a:rPr dirty="0"/>
              <a:t> </a:t>
            </a:r>
            <a:r>
              <a:rPr dirty="0" err="1"/>
              <a:t>công</a:t>
            </a:r>
            <a:r>
              <a:rPr dirty="0"/>
              <a:t> </a:t>
            </a:r>
            <a:r>
              <a:rPr dirty="0" err="1"/>
              <a:t>thức</a:t>
            </a:r>
            <a:r>
              <a:rPr dirty="0"/>
              <a:t> </a:t>
            </a:r>
            <a:r>
              <a:rPr dirty="0" err="1"/>
              <a:t>nữa</a:t>
            </a:r>
            <a:r>
              <a:rPr dirty="0"/>
              <a:t>.</a:t>
            </a:r>
          </a:p>
          <a:p>
            <a:r>
              <a:rPr dirty="0"/>
              <a:t>DIVIDE </a:t>
            </a:r>
            <a:r>
              <a:rPr dirty="0" err="1"/>
              <a:t>thay</a:t>
            </a:r>
            <a:r>
              <a:rPr dirty="0"/>
              <a:t> </a:t>
            </a:r>
            <a:r>
              <a:rPr dirty="0" err="1"/>
              <a:t>cho</a:t>
            </a:r>
            <a:r>
              <a:rPr dirty="0"/>
              <a:t> </a:t>
            </a:r>
            <a:r>
              <a:rPr dirty="0" err="1"/>
              <a:t>dấu</a:t>
            </a:r>
            <a:r>
              <a:rPr dirty="0"/>
              <a:t> </a:t>
            </a:r>
            <a:r>
              <a:rPr dirty="0" err="1"/>
              <a:t>gạch</a:t>
            </a:r>
            <a:r>
              <a:rPr dirty="0"/>
              <a:t> </a:t>
            </a:r>
            <a:r>
              <a:rPr dirty="0" err="1"/>
              <a:t>chéo</a:t>
            </a:r>
            <a:r>
              <a:rPr dirty="0"/>
              <a:t>: </a:t>
            </a:r>
            <a:r>
              <a:rPr dirty="0" err="1"/>
              <a:t>nếu</a:t>
            </a:r>
            <a:r>
              <a:rPr dirty="0"/>
              <a:t> ô </a:t>
            </a:r>
            <a:r>
              <a:rPr dirty="0" err="1"/>
              <a:t>nào</a:t>
            </a:r>
            <a:r>
              <a:rPr dirty="0"/>
              <a:t> </a:t>
            </a:r>
            <a:r>
              <a:rPr dirty="0" err="1"/>
              <a:t>doanh</a:t>
            </a:r>
            <a:r>
              <a:rPr dirty="0"/>
              <a:t> </a:t>
            </a:r>
            <a:r>
              <a:rPr dirty="0" err="1"/>
              <a:t>thu</a:t>
            </a:r>
            <a:r>
              <a:rPr dirty="0"/>
              <a:t> </a:t>
            </a:r>
            <a:r>
              <a:rPr dirty="0" err="1"/>
              <a:t>bằng</a:t>
            </a:r>
            <a:r>
              <a:rPr dirty="0"/>
              <a:t> 0, DIVIDE </a:t>
            </a:r>
            <a:r>
              <a:rPr dirty="0" err="1"/>
              <a:t>trả</a:t>
            </a:r>
            <a:r>
              <a:rPr dirty="0"/>
              <a:t> </a:t>
            </a:r>
            <a:r>
              <a:rPr dirty="0" err="1"/>
              <a:t>về</a:t>
            </a:r>
            <a:r>
              <a:rPr dirty="0"/>
              <a:t> ô </a:t>
            </a:r>
            <a:r>
              <a:rPr dirty="0" err="1"/>
              <a:t>trống</a:t>
            </a:r>
            <a:r>
              <a:rPr dirty="0"/>
              <a:t> </a:t>
            </a:r>
            <a:r>
              <a:rPr dirty="0" err="1"/>
              <a:t>thay</a:t>
            </a:r>
            <a:r>
              <a:rPr dirty="0"/>
              <a:t> </a:t>
            </a:r>
            <a:r>
              <a:rPr dirty="0" err="1"/>
              <a:t>vì</a:t>
            </a:r>
            <a:r>
              <a:rPr dirty="0"/>
              <a:t> </a:t>
            </a:r>
            <a:r>
              <a:rPr dirty="0" err="1"/>
              <a:t>lỗi</a:t>
            </a:r>
            <a:r>
              <a:rPr dirty="0"/>
              <a:t> chia </a:t>
            </a:r>
            <a:r>
              <a:rPr dirty="0" err="1"/>
              <a:t>cho</a:t>
            </a:r>
            <a:r>
              <a:rPr dirty="0"/>
              <a:t> 0.</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4: khái niệm khó nhất khóa học, lần thứ ba mình gặp nó, và lần này gọi đúng tên.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7 phút.</a:t>
            </a:r>
          </a:p>
          <a:p>
            <a:r>
              <a:t>LỜI GIẢNG</a:t>
            </a:r>
          </a:p>
          <a:p>
            <a:r>
              <a:t>(→ trên PV_Loc: bỏ Gross Margin % và Total COGS khỏi Values, giữ Total Revenue; Rows: Store → Region; Columns: Calendar → Thang) Pivot quen thuộc: miền theo tháng, Quý 1/2025. (→ bấm ô Bắc × 3) Ô này: 90.210.000.</a:t>
            </a:r>
          </a:p>
          <a:p>
            <a:r>
              <a:t>(→ hiện hình xương sống) Các bạn đã gặp hình này hai lần. Buổi 2, nó là SUMIFS với hai tiêu chí: miền bằng Bắc, tháng bằng 3. (→ mở sheet KPI_SUMIFS trong file đang mở, chỉ ô D6) Đúng 90.210.000. Buổi 3, nó là tọa độ của một ô Pivot. Hôm nay nó có tên chính thức trong DAX: filter context, ngữ cảnh lọc.</a:t>
            </a:r>
          </a:p>
          <a:p>
            <a:r>
              <a:t>Câu hỏi cho lớp: ô 90.210.000 đang bị lọc bởi những gì? (→ chờ) Bốn bộ lọc: Region bằng Bắc từ hàng, Thang bằng 3 từ cột, Nam bằng 2025 và Quy bằng 1 từ vùng Filters. Measure tính ô này qua ba bước. Một: đọc tọa độ. Hai: bộ lọc chảy theo đường nối, Region = Bắc chảy từ Store xuống Sales, tháng và năm chảy từ Calendar xuống Sales. Ba: cộng Revenue của những dòng còn lại.</a:t>
            </a:r>
          </a:p>
          <a:p>
            <a:r>
              <a:t>Câu hỏi tiếp: còn ô Grand Total góc dưới bên phải thì sao? (→ chờ) Không có miền, không có tháng, chỉ còn Nam = 2025 và Quy = 1. Nên nó là cả Quý 1: 941.454.000, khớp ô E9 của KPI_SUMIFS. Cùng một công thức SUM(Sales[Revenue]), mỗi ô ra một số khác nhau, vì mỗi ô có ngữ cảnh lọc riêng. Đó là toàn bộ bí mật của measure.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7,5 phút.</a:t>
            </a:r>
          </a:p>
          <a:p>
            <a:r>
              <a:t>LỜI GIẢNG</a:t>
            </a:r>
          </a:p>
          <a:p>
            <a:r>
              <a:t>Một cái bẫy rất hay gặp. Bảng Sales có sẵn cột Nam và Thang từ Buổi 4. Calendar cũng có Nam và Thang. Dùng cột nào cũng được chứ?</a:t>
            </a:r>
          </a:p>
          <a:p>
            <a:r>
              <a:t>(→ Insert → PivotTable ▾ → From Data Model → New Worksheet, đổi tên sheet PV_Lookup_vs_Fact; Filters: Calendar → Nam = 2025; Rows: Calendar → Thang; Values: Total Revenue, Target → Target) Pivot bên trái lấy tháng từ Calendar: tháng 1 doanh thu 425 triệu 850, target 353 triệu; tháng 2 doanh thu 246 triệu, target 298 triệu. Từ tháng 5 trở đi chỉ có target, vì dữ liệu bán hàng mới tới tháng 4.</a:t>
            </a:r>
          </a:p>
          <a:p>
            <a:r>
              <a:t>(→ chép Pivot sang bên phải: chọn cả Pivot, Ctrl+C, dán ở cột G; trong Pivot mới: bỏ Calendar[Thang] và Total Revenue, kéo Sales → Thang vào Rows; giữ Sum of Target) Pivot bên phải lấy tháng từ bảng Sales. Cột target, 3.665.000.000 ở mọi dòng, tháng nào cũng bằng cả năm.</a:t>
            </a:r>
          </a:p>
          <a:p>
            <a:r>
              <a:t>Câu hỏi cho lớp: vì sao? (→ chờ) Nhớ hướng lọc: bộ lọc chảy từ lookup xuống fact. Thang của Calendar chảy xuống được cả Sales lẫn Target. Thang của Sales thì nằm ở đáy một bảng fact, nó lọc được chính Sales, nhưng không chảy sang Target, vì hai fact không nối thẳng với nhau.</a:t>
            </a:r>
          </a:p>
          <a:p>
            <a:r>
              <a:t>Quy tắc: hàng, cột, bộ lọc, slicer luôn lấy cột của bảng lookup. (→ xóa Pivot bên phải: chọn cả Pivot → Delete) Và để không ai kéo nhầm, mình giấu các cột khóa và cột ngày của bảng fact đi. (→ Power Pivot, Data View, bảng Sales: giữ Ctrl chọn tiêu đề Nam, Thang, Order_Date, Store_Code, Product_Code, Customer_ID → chuột phải → Hide from Client Tools; làm tương tự cho Target: Store_Code, Thang, Ngay_Dau_Thang) Cột chuyển màu xám trong Data View, và biến mất khỏi danh sách trường của Pivot.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5: nếu filter context là bộ lọc Pivot đặt lên mỗi ô, thì CALCULATE là cách mình đổi bộ lọc đó.</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5,5 phút.</a:t>
            </a:r>
          </a:p>
          <a:p>
            <a:r>
              <a:t>LỜI GIẢNG</a:t>
            </a:r>
          </a:p>
          <a:p>
            <a:r>
              <a:t>(→ trên PV_Loc: bỏ Calendar[Thang] khỏi Columns) Pivot còn ba miền, Quý 1. (→ New Measure: Revenue Mien Nam = CALCULATE([Total Revenue], Store[Region]="Nam"), định dạng số → OK; tick vào Values)</a:t>
            </a:r>
          </a:p>
          <a:p>
            <a:r>
              <a:t>Câu hỏi cho lớp: dòng Bắc, cột Revenue Mien Nam ra 427.663.000, bằng đúng doanh thu miền Nam. Pivot có sai không? (→ chờ) Không sai. Ô đó có ngữ cảnh lọc Region = Bắc từ hàng. Nhưng CALCULATE nói: "bỏ bộ lọc Region đang có, thay bằng Region = Nam". Bộ lọc của CALCULATE thắng. Còn bộ lọc Nam = 2025, Quý 1 ở vùng Filters thì CALCULATE không đụng tới, nên vẫn là Quý 1.</a:t>
            </a:r>
          </a:p>
          <a:p>
            <a:r>
              <a:t>CALCULATE là hàm quan trọng nhất của DAX: giữ nguyên bộ lọc này, thay bộ lọc kia. Hai slide tới đều dựa vào nó. (→ Power Pivot → Measures → Manage Measures → chọn Revenue Mien Nam → Delete) Measure này chỉ để minh họa, mình xóa đi.</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5 phút.</a:t>
            </a:r>
          </a:p>
          <a:p>
            <a:r>
              <a:t>LỜI GIẢNG</a:t>
            </a:r>
          </a:p>
          <a:p>
            <a:r>
              <a:t>Buổi 1 các bạn tính phần trăm đóng góp của từng miền: doanh thu miền chia ô tổng, và phải khóa ô tổng bằng dấu đô-la để kéo công thức không bị trượt. Trong DAX, "khóa mẫu số" làm bằng ALL.</a:t>
            </a:r>
          </a:p>
          <a:p>
            <a:r>
              <a:t>(→ New Measure: Revenue All Stores = CALCULATE([Total Revenue], ALL(Store)), định dạng như Total Revenue: Category Number, tick Use 1000 separator, Decimal places 0 → OK; tick vào Values) Mọi dòng đều 941.454.000. ALL(Store) xóa bộ lọc miền khỏi ô, nên mẫu số luôn là tổng các cửa hàng. Bộ lọc Quý 1 thì vẫn còn.</a:t>
            </a:r>
          </a:p>
          <a:p>
            <a:r>
              <a:t>(→ New Measure: % Revenue Share = DIVIDE([Total Revenue], [Revenue All Stores]), Format Percentage → OK; tick vào Values) Bắc 34,4%, Nam 45,4%, Trung 20,2%. Câu hỏi cho lớp: các bạn đã thấy ba con số này ở đâu? (→ chờ) Buổi 1, cột Pct_Share. Cùng một sự thật, giờ là một measure: đặt nó vào Pivot theo cửa hàng hay theo loại cửa hàng, nó tự tính lại, không cần dấu đô-la nào. ALL(Store) chỉ bỏ bộ lọc của bảng Store; muốn tỷ trọng theo ngành hàng thì mẫu số phải bỏ lọc bảng Product, tức là đổi ALL(Store) thành ALL(Product).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6 </a:t>
            </a:r>
            <a:r>
              <a:rPr dirty="0" err="1"/>
              <a:t>phút</a:t>
            </a:r>
            <a:r>
              <a:rPr dirty="0"/>
              <a:t>.</a:t>
            </a:r>
          </a:p>
          <a:p>
            <a:r>
              <a:rPr dirty="0"/>
              <a:t>LỜI GIẢNG</a:t>
            </a:r>
          </a:p>
          <a:p>
            <a:r>
              <a:rPr dirty="0" err="1"/>
              <a:t>Giờ</a:t>
            </a:r>
            <a:r>
              <a:rPr dirty="0"/>
              <a:t> </a:t>
            </a:r>
            <a:r>
              <a:rPr dirty="0" err="1"/>
              <a:t>trả</a:t>
            </a:r>
            <a:r>
              <a:rPr dirty="0"/>
              <a:t> </a:t>
            </a:r>
            <a:r>
              <a:rPr dirty="0" err="1"/>
              <a:t>lời</a:t>
            </a:r>
            <a:r>
              <a:rPr dirty="0"/>
              <a:t> </a:t>
            </a:r>
            <a:r>
              <a:rPr dirty="0" err="1"/>
              <a:t>nửa</a:t>
            </a:r>
            <a:r>
              <a:rPr dirty="0"/>
              <a:t> </a:t>
            </a:r>
            <a:r>
              <a:rPr dirty="0" err="1"/>
              <a:t>đầu</a:t>
            </a:r>
            <a:r>
              <a:rPr dirty="0"/>
              <a:t> </a:t>
            </a:r>
            <a:r>
              <a:rPr dirty="0" err="1"/>
              <a:t>câu</a:t>
            </a:r>
            <a:r>
              <a:rPr dirty="0"/>
              <a:t> </a:t>
            </a:r>
            <a:r>
              <a:rPr dirty="0" err="1"/>
              <a:t>hỏi</a:t>
            </a:r>
            <a:r>
              <a:rPr dirty="0"/>
              <a:t> </a:t>
            </a:r>
            <a:r>
              <a:rPr dirty="0" err="1"/>
              <a:t>mở</a:t>
            </a:r>
            <a:r>
              <a:rPr dirty="0"/>
              <a:t> </a:t>
            </a:r>
            <a:r>
              <a:rPr dirty="0" err="1"/>
              <a:t>buổi</a:t>
            </a:r>
            <a:r>
              <a:rPr dirty="0"/>
              <a:t>. (→ New Measure, Table name: Target: Total Target = SUM(Target[Target]), </a:t>
            </a:r>
            <a:r>
              <a:rPr dirty="0" err="1"/>
              <a:t>định</a:t>
            </a:r>
            <a:r>
              <a:rPr dirty="0"/>
              <a:t> </a:t>
            </a:r>
            <a:r>
              <a:rPr dirty="0" err="1"/>
              <a:t>dạng</a:t>
            </a:r>
            <a:r>
              <a:rPr dirty="0"/>
              <a:t> </a:t>
            </a:r>
            <a:r>
              <a:rPr dirty="0" err="1"/>
              <a:t>số</a:t>
            </a:r>
            <a:r>
              <a:rPr dirty="0"/>
              <a:t> </a:t>
            </a:r>
            <a:r>
              <a:rPr dirty="0" err="1"/>
              <a:t>như</a:t>
            </a:r>
            <a:r>
              <a:rPr dirty="0"/>
              <a:t> Total Revenue (Number, Use 1000 separator, 0 </a:t>
            </a:r>
            <a:r>
              <a:rPr dirty="0" err="1"/>
              <a:t>chữ</a:t>
            </a:r>
            <a:r>
              <a:rPr dirty="0"/>
              <a:t> </a:t>
            </a:r>
            <a:r>
              <a:rPr dirty="0" err="1"/>
              <a:t>số</a:t>
            </a:r>
            <a:r>
              <a:rPr dirty="0"/>
              <a:t> </a:t>
            </a:r>
            <a:r>
              <a:rPr dirty="0" err="1"/>
              <a:t>thập</a:t>
            </a:r>
            <a:r>
              <a:rPr dirty="0"/>
              <a:t> </a:t>
            </a:r>
            <a:r>
              <a:rPr dirty="0" err="1"/>
              <a:t>phân</a:t>
            </a:r>
            <a:r>
              <a:rPr dirty="0"/>
              <a:t>) → OK) Measure target </a:t>
            </a:r>
            <a:r>
              <a:rPr dirty="0" err="1"/>
              <a:t>nằm</a:t>
            </a:r>
            <a:r>
              <a:rPr dirty="0"/>
              <a:t> ở </a:t>
            </a:r>
            <a:r>
              <a:rPr dirty="0" err="1"/>
              <a:t>bảng</a:t>
            </a:r>
            <a:r>
              <a:rPr dirty="0"/>
              <a:t> Target </a:t>
            </a:r>
            <a:r>
              <a:rPr dirty="0" err="1"/>
              <a:t>cho</a:t>
            </a:r>
            <a:r>
              <a:rPr dirty="0"/>
              <a:t> </a:t>
            </a:r>
            <a:r>
              <a:rPr dirty="0" err="1"/>
              <a:t>dễ</a:t>
            </a:r>
            <a:r>
              <a:rPr dirty="0"/>
              <a:t> </a:t>
            </a:r>
            <a:r>
              <a:rPr dirty="0" err="1"/>
              <a:t>tìm</a:t>
            </a:r>
            <a:r>
              <a:rPr dirty="0"/>
              <a:t>. (→ New Measure, Table name: Sales: Revenue vs Target % = DIVIDE([Total Revenue],[Total Target]), Format Percentage → OK)</a:t>
            </a:r>
          </a:p>
          <a:p>
            <a:r>
              <a:rPr dirty="0"/>
              <a:t>(→ Insert → PivotTable ▾ → From Data Model → New Worksheet, </a:t>
            </a:r>
            <a:r>
              <a:rPr dirty="0" err="1"/>
              <a:t>đổi</a:t>
            </a:r>
            <a:r>
              <a:rPr dirty="0"/>
              <a:t> </a:t>
            </a:r>
            <a:r>
              <a:rPr dirty="0" err="1"/>
              <a:t>tên</a:t>
            </a:r>
            <a:r>
              <a:rPr dirty="0"/>
              <a:t> </a:t>
            </a:r>
            <a:r>
              <a:rPr dirty="0" err="1"/>
              <a:t>PV_Target</a:t>
            </a:r>
            <a:r>
              <a:rPr dirty="0"/>
              <a:t>; Filters: Calendar → Nam = 2025; Rows: Calendar → Thang; Values: Total Revenue, Total Target, Revenue vs Target %) </a:t>
            </a:r>
            <a:r>
              <a:rPr dirty="0" err="1"/>
              <a:t>Tháng</a:t>
            </a:r>
            <a:r>
              <a:rPr dirty="0"/>
              <a:t> 1: 120,6%. </a:t>
            </a:r>
            <a:r>
              <a:rPr dirty="0" err="1"/>
              <a:t>Tháng</a:t>
            </a:r>
            <a:r>
              <a:rPr dirty="0"/>
              <a:t> 2: 82,5%. </a:t>
            </a:r>
            <a:r>
              <a:rPr dirty="0" err="1"/>
              <a:t>Tháng</a:t>
            </a:r>
            <a:r>
              <a:rPr dirty="0"/>
              <a:t> 3: 94,6%. </a:t>
            </a:r>
            <a:r>
              <a:rPr dirty="0" err="1"/>
              <a:t>Tháng</a:t>
            </a:r>
            <a:r>
              <a:rPr dirty="0"/>
              <a:t> 4: 103,1%.</a:t>
            </a:r>
          </a:p>
          <a:p>
            <a:r>
              <a:rPr dirty="0" err="1"/>
              <a:t>Thêm</a:t>
            </a:r>
            <a:r>
              <a:rPr dirty="0"/>
              <a:t> </a:t>
            </a:r>
            <a:r>
              <a:rPr dirty="0" err="1"/>
              <a:t>chênh</a:t>
            </a:r>
            <a:r>
              <a:rPr dirty="0"/>
              <a:t> </a:t>
            </a:r>
            <a:r>
              <a:rPr dirty="0" err="1"/>
              <a:t>lệch</a:t>
            </a:r>
            <a:r>
              <a:rPr dirty="0"/>
              <a:t> </a:t>
            </a:r>
            <a:r>
              <a:rPr dirty="0" err="1"/>
              <a:t>tuyệt</a:t>
            </a:r>
            <a:r>
              <a:rPr dirty="0"/>
              <a:t> </a:t>
            </a:r>
            <a:r>
              <a:rPr dirty="0" err="1"/>
              <a:t>đối</a:t>
            </a:r>
            <a:r>
              <a:rPr dirty="0"/>
              <a:t>. (→ New Measure: Variance = [Total Revenue]-[Total Target], </a:t>
            </a:r>
            <a:r>
              <a:rPr dirty="0" err="1"/>
              <a:t>định</a:t>
            </a:r>
            <a:r>
              <a:rPr dirty="0"/>
              <a:t> </a:t>
            </a:r>
            <a:r>
              <a:rPr dirty="0" err="1"/>
              <a:t>dạng</a:t>
            </a:r>
            <a:r>
              <a:rPr dirty="0"/>
              <a:t> </a:t>
            </a:r>
            <a:r>
              <a:rPr dirty="0" err="1"/>
              <a:t>số</a:t>
            </a:r>
            <a:r>
              <a:rPr dirty="0"/>
              <a:t> </a:t>
            </a:r>
            <a:r>
              <a:rPr dirty="0" err="1"/>
              <a:t>như</a:t>
            </a:r>
            <a:r>
              <a:rPr dirty="0"/>
              <a:t> Total Revenue → OK; tick </a:t>
            </a:r>
            <a:r>
              <a:rPr dirty="0" err="1"/>
              <a:t>vào</a:t>
            </a:r>
            <a:r>
              <a:rPr dirty="0"/>
              <a:t> Values) </a:t>
            </a:r>
            <a:r>
              <a:rPr dirty="0" err="1"/>
              <a:t>Tháng</a:t>
            </a:r>
            <a:r>
              <a:rPr dirty="0"/>
              <a:t> 1 </a:t>
            </a:r>
            <a:r>
              <a:rPr dirty="0" err="1"/>
              <a:t>vượt</a:t>
            </a:r>
            <a:r>
              <a:rPr dirty="0"/>
              <a:t> 72 </a:t>
            </a:r>
            <a:r>
              <a:rPr dirty="0" err="1"/>
              <a:t>triệu</a:t>
            </a:r>
            <a:r>
              <a:rPr dirty="0"/>
              <a:t> 850. </a:t>
            </a:r>
            <a:r>
              <a:rPr dirty="0" err="1"/>
              <a:t>Nhưng</a:t>
            </a:r>
            <a:r>
              <a:rPr dirty="0"/>
              <a:t> </a:t>
            </a:r>
            <a:r>
              <a:rPr dirty="0" err="1"/>
              <a:t>nhìn</a:t>
            </a:r>
            <a:r>
              <a:rPr dirty="0"/>
              <a:t> </a:t>
            </a:r>
            <a:r>
              <a:rPr dirty="0" err="1"/>
              <a:t>tháng</a:t>
            </a:r>
            <a:r>
              <a:rPr dirty="0"/>
              <a:t> 5: </a:t>
            </a:r>
            <a:r>
              <a:rPr dirty="0" err="1"/>
              <a:t>âm</a:t>
            </a:r>
            <a:r>
              <a:rPr dirty="0"/>
              <a:t> 288 </a:t>
            </a:r>
            <a:r>
              <a:rPr dirty="0" err="1"/>
              <a:t>triệu</a:t>
            </a:r>
            <a:r>
              <a:rPr dirty="0"/>
              <a:t>. </a:t>
            </a:r>
            <a:r>
              <a:rPr dirty="0" err="1"/>
              <a:t>Câu</a:t>
            </a:r>
            <a:r>
              <a:rPr dirty="0"/>
              <a:t> </a:t>
            </a:r>
            <a:r>
              <a:rPr dirty="0" err="1"/>
              <a:t>hỏi</a:t>
            </a:r>
            <a:r>
              <a:rPr dirty="0"/>
              <a:t> </a:t>
            </a:r>
            <a:r>
              <a:rPr dirty="0" err="1"/>
              <a:t>cho</a:t>
            </a:r>
            <a:r>
              <a:rPr dirty="0"/>
              <a:t> </a:t>
            </a:r>
            <a:r>
              <a:rPr dirty="0" err="1"/>
              <a:t>lớp</a:t>
            </a:r>
            <a:r>
              <a:rPr dirty="0"/>
              <a:t>: </a:t>
            </a:r>
            <a:r>
              <a:rPr dirty="0" err="1"/>
              <a:t>tháng</a:t>
            </a:r>
            <a:r>
              <a:rPr dirty="0"/>
              <a:t> 5 </a:t>
            </a:r>
            <a:r>
              <a:rPr dirty="0" err="1"/>
              <a:t>bán</a:t>
            </a:r>
            <a:r>
              <a:rPr dirty="0"/>
              <a:t> </a:t>
            </a:r>
            <a:r>
              <a:rPr dirty="0" err="1"/>
              <a:t>kém</a:t>
            </a:r>
            <a:r>
              <a:rPr dirty="0"/>
              <a:t> </a:t>
            </a:r>
            <a:r>
              <a:rPr dirty="0" err="1"/>
              <a:t>đến</a:t>
            </a:r>
            <a:r>
              <a:rPr dirty="0"/>
              <a:t> </a:t>
            </a:r>
            <a:r>
              <a:rPr dirty="0" err="1"/>
              <a:t>vậy</a:t>
            </a:r>
            <a:r>
              <a:rPr dirty="0"/>
              <a:t> </a:t>
            </a:r>
            <a:r>
              <a:rPr dirty="0" err="1"/>
              <a:t>sao</a:t>
            </a:r>
            <a:r>
              <a:rPr dirty="0"/>
              <a:t>? (→ </a:t>
            </a:r>
            <a:r>
              <a:rPr dirty="0" err="1"/>
              <a:t>chờ</a:t>
            </a:r>
            <a:r>
              <a:rPr dirty="0"/>
              <a:t>) </a:t>
            </a:r>
            <a:r>
              <a:rPr dirty="0" err="1"/>
              <a:t>Tháng</a:t>
            </a:r>
            <a:r>
              <a:rPr dirty="0"/>
              <a:t> 5 </a:t>
            </a:r>
            <a:r>
              <a:rPr dirty="0" err="1"/>
              <a:t>chưa</a:t>
            </a:r>
            <a:r>
              <a:rPr dirty="0"/>
              <a:t> </a:t>
            </a:r>
            <a:r>
              <a:rPr dirty="0" err="1"/>
              <a:t>có</a:t>
            </a:r>
            <a:r>
              <a:rPr dirty="0"/>
              <a:t> </a:t>
            </a:r>
            <a:r>
              <a:rPr dirty="0" err="1"/>
              <a:t>dữ</a:t>
            </a:r>
            <a:r>
              <a:rPr dirty="0"/>
              <a:t> </a:t>
            </a:r>
            <a:r>
              <a:rPr dirty="0" err="1"/>
              <a:t>liệu</a:t>
            </a:r>
            <a:r>
              <a:rPr dirty="0"/>
              <a:t>. Doanh </a:t>
            </a:r>
            <a:r>
              <a:rPr dirty="0" err="1"/>
              <a:t>thu</a:t>
            </a:r>
            <a:r>
              <a:rPr dirty="0"/>
              <a:t> </a:t>
            </a:r>
            <a:r>
              <a:rPr dirty="0" err="1"/>
              <a:t>trống</a:t>
            </a:r>
            <a:r>
              <a:rPr dirty="0"/>
              <a:t>, </a:t>
            </a:r>
            <a:r>
              <a:rPr dirty="0" err="1"/>
              <a:t>trừ</a:t>
            </a:r>
            <a:r>
              <a:rPr dirty="0"/>
              <a:t> </a:t>
            </a:r>
            <a:r>
              <a:rPr dirty="0" err="1"/>
              <a:t>đi</a:t>
            </a:r>
            <a:r>
              <a:rPr dirty="0"/>
              <a:t> target </a:t>
            </a:r>
            <a:r>
              <a:rPr dirty="0" err="1"/>
              <a:t>thì</a:t>
            </a:r>
            <a:r>
              <a:rPr dirty="0"/>
              <a:t> </a:t>
            </a:r>
            <a:r>
              <a:rPr dirty="0" err="1"/>
              <a:t>ra</a:t>
            </a:r>
            <a:r>
              <a:rPr dirty="0"/>
              <a:t> </a:t>
            </a:r>
            <a:r>
              <a:rPr dirty="0" err="1"/>
              <a:t>số</a:t>
            </a:r>
            <a:r>
              <a:rPr dirty="0"/>
              <a:t> </a:t>
            </a:r>
            <a:r>
              <a:rPr dirty="0" err="1"/>
              <a:t>âm</a:t>
            </a:r>
            <a:r>
              <a:rPr dirty="0"/>
              <a:t>. </a:t>
            </a:r>
            <a:r>
              <a:rPr dirty="0" err="1"/>
              <a:t>Một</a:t>
            </a:r>
            <a:r>
              <a:rPr dirty="0"/>
              <a:t> con </a:t>
            </a:r>
            <a:r>
              <a:rPr dirty="0" err="1"/>
              <a:t>số</a:t>
            </a:r>
            <a:r>
              <a:rPr dirty="0"/>
              <a:t> </a:t>
            </a:r>
            <a:r>
              <a:rPr dirty="0" err="1"/>
              <a:t>như</a:t>
            </a:r>
            <a:r>
              <a:rPr dirty="0"/>
              <a:t> </a:t>
            </a:r>
            <a:r>
              <a:rPr dirty="0" err="1"/>
              <a:t>vậy</a:t>
            </a:r>
            <a:r>
              <a:rPr dirty="0"/>
              <a:t> </a:t>
            </a:r>
            <a:r>
              <a:rPr dirty="0" err="1"/>
              <a:t>mà</a:t>
            </a:r>
            <a:r>
              <a:rPr dirty="0"/>
              <a:t> </a:t>
            </a:r>
            <a:r>
              <a:rPr dirty="0" err="1"/>
              <a:t>lên</a:t>
            </a:r>
            <a:r>
              <a:rPr dirty="0"/>
              <a:t> </a:t>
            </a:r>
            <a:r>
              <a:rPr dirty="0" err="1"/>
              <a:t>báo</a:t>
            </a:r>
            <a:r>
              <a:rPr dirty="0"/>
              <a:t> </a:t>
            </a:r>
            <a:r>
              <a:rPr dirty="0" err="1"/>
              <a:t>cáo</a:t>
            </a:r>
            <a:r>
              <a:rPr dirty="0"/>
              <a:t> </a:t>
            </a:r>
            <a:r>
              <a:rPr dirty="0" err="1"/>
              <a:t>thì</a:t>
            </a:r>
            <a:r>
              <a:rPr dirty="0"/>
              <a:t> </a:t>
            </a:r>
            <a:r>
              <a:rPr dirty="0" err="1"/>
              <a:t>cả</a:t>
            </a:r>
            <a:r>
              <a:rPr dirty="0"/>
              <a:t> </a:t>
            </a:r>
            <a:r>
              <a:rPr dirty="0" err="1"/>
              <a:t>phòng</a:t>
            </a:r>
            <a:r>
              <a:rPr dirty="0"/>
              <a:t> </a:t>
            </a:r>
            <a:r>
              <a:rPr dirty="0" err="1"/>
              <a:t>kinh</a:t>
            </a:r>
            <a:r>
              <a:rPr dirty="0"/>
              <a:t> </a:t>
            </a:r>
            <a:r>
              <a:rPr dirty="0" err="1"/>
              <a:t>doanh</a:t>
            </a:r>
            <a:r>
              <a:rPr dirty="0"/>
              <a:t> </a:t>
            </a:r>
            <a:r>
              <a:rPr dirty="0" err="1"/>
              <a:t>bị</a:t>
            </a:r>
            <a:r>
              <a:rPr dirty="0"/>
              <a:t> </a:t>
            </a:r>
            <a:r>
              <a:rPr dirty="0" err="1"/>
              <a:t>gọi</a:t>
            </a:r>
            <a:r>
              <a:rPr dirty="0"/>
              <a:t> </a:t>
            </a:r>
            <a:r>
              <a:rPr dirty="0" err="1"/>
              <a:t>lên</a:t>
            </a:r>
            <a:r>
              <a:rPr dirty="0"/>
              <a:t>. (→ Manage Measures → Edit Variance: =IF(ISBLANK([Total Revenue]), BLANK(), [Total Revenue]-[Total Target]) → OK) </a:t>
            </a:r>
            <a:r>
              <a:rPr dirty="0" err="1"/>
              <a:t>Chưa</a:t>
            </a:r>
            <a:r>
              <a:rPr dirty="0"/>
              <a:t> </a:t>
            </a:r>
            <a:r>
              <a:rPr dirty="0" err="1"/>
              <a:t>có</a:t>
            </a:r>
            <a:r>
              <a:rPr dirty="0"/>
              <a:t> </a:t>
            </a:r>
            <a:r>
              <a:rPr dirty="0" err="1"/>
              <a:t>doanh</a:t>
            </a:r>
            <a:r>
              <a:rPr dirty="0"/>
              <a:t> </a:t>
            </a:r>
            <a:r>
              <a:rPr dirty="0" err="1"/>
              <a:t>thu</a:t>
            </a:r>
            <a:r>
              <a:rPr dirty="0"/>
              <a:t> </a:t>
            </a:r>
            <a:r>
              <a:rPr dirty="0" err="1"/>
              <a:t>thì</a:t>
            </a:r>
            <a:r>
              <a:rPr dirty="0"/>
              <a:t> </a:t>
            </a:r>
            <a:r>
              <a:rPr dirty="0" err="1"/>
              <a:t>để</a:t>
            </a:r>
            <a:r>
              <a:rPr dirty="0"/>
              <a:t> </a:t>
            </a:r>
            <a:r>
              <a:rPr dirty="0" err="1"/>
              <a:t>trống</a:t>
            </a:r>
            <a:r>
              <a:rPr dirty="0"/>
              <a:t>. </a:t>
            </a:r>
            <a:r>
              <a:rPr dirty="0" err="1"/>
              <a:t>Tháng</a:t>
            </a:r>
            <a:r>
              <a:rPr dirty="0"/>
              <a:t> 5 </a:t>
            </a:r>
            <a:r>
              <a:rPr dirty="0" err="1"/>
              <a:t>trở</a:t>
            </a:r>
            <a:r>
              <a:rPr dirty="0"/>
              <a:t> </a:t>
            </a:r>
            <a:r>
              <a:rPr dirty="0" err="1"/>
              <a:t>đi</a:t>
            </a:r>
            <a:r>
              <a:rPr dirty="0"/>
              <a:t> </a:t>
            </a:r>
            <a:r>
              <a:rPr dirty="0" err="1"/>
              <a:t>giờ</a:t>
            </a:r>
            <a:r>
              <a:rPr dirty="0"/>
              <a:t> </a:t>
            </a:r>
            <a:r>
              <a:rPr dirty="0" err="1"/>
              <a:t>chỉ</a:t>
            </a:r>
            <a:r>
              <a:rPr dirty="0"/>
              <a:t> </a:t>
            </a:r>
            <a:r>
              <a:rPr dirty="0" err="1"/>
              <a:t>còn</a:t>
            </a:r>
            <a:r>
              <a:rPr dirty="0"/>
              <a:t> target. </a:t>
            </a:r>
            <a:r>
              <a:rPr dirty="0" err="1"/>
              <a:t>Dòng</a:t>
            </a:r>
            <a:r>
              <a:rPr dirty="0"/>
              <a:t> Grand Total ở </a:t>
            </a:r>
            <a:r>
              <a:rPr dirty="0" err="1"/>
              <a:t>đáy</a:t>
            </a:r>
            <a:r>
              <a:rPr dirty="0"/>
              <a:t> </a:t>
            </a:r>
            <a:r>
              <a:rPr dirty="0" err="1"/>
              <a:t>thì</a:t>
            </a:r>
            <a:r>
              <a:rPr dirty="0"/>
              <a:t> </a:t>
            </a:r>
            <a:r>
              <a:rPr dirty="0" err="1"/>
              <a:t>đừng</a:t>
            </a:r>
            <a:r>
              <a:rPr dirty="0"/>
              <a:t> </a:t>
            </a:r>
            <a:r>
              <a:rPr dirty="0" err="1"/>
              <a:t>đọc</a:t>
            </a:r>
            <a:r>
              <a:rPr dirty="0"/>
              <a:t>: 33,8% </a:t>
            </a:r>
            <a:r>
              <a:rPr dirty="0" err="1"/>
              <a:t>và</a:t>
            </a:r>
            <a:r>
              <a:rPr dirty="0"/>
              <a:t> </a:t>
            </a:r>
            <a:r>
              <a:rPr dirty="0" err="1"/>
              <a:t>âm</a:t>
            </a:r>
            <a:r>
              <a:rPr dirty="0"/>
              <a:t> 2 </a:t>
            </a:r>
            <a:r>
              <a:rPr dirty="0" err="1"/>
              <a:t>tỷ</a:t>
            </a:r>
            <a:r>
              <a:rPr dirty="0"/>
              <a:t> 426 </a:t>
            </a:r>
            <a:r>
              <a:rPr dirty="0" err="1"/>
              <a:t>triệu</a:t>
            </a:r>
            <a:r>
              <a:rPr dirty="0"/>
              <a:t> </a:t>
            </a:r>
            <a:r>
              <a:rPr dirty="0" err="1"/>
              <a:t>là</a:t>
            </a:r>
            <a:r>
              <a:rPr dirty="0"/>
              <a:t> </a:t>
            </a:r>
            <a:r>
              <a:rPr dirty="0" err="1"/>
              <a:t>doanh</a:t>
            </a:r>
            <a:r>
              <a:rPr dirty="0"/>
              <a:t> </a:t>
            </a:r>
            <a:r>
              <a:rPr dirty="0" err="1"/>
              <a:t>thu</a:t>
            </a:r>
            <a:r>
              <a:rPr dirty="0"/>
              <a:t> 4 </a:t>
            </a:r>
            <a:r>
              <a:rPr dirty="0" err="1"/>
              <a:t>tháng</a:t>
            </a:r>
            <a:r>
              <a:rPr dirty="0"/>
              <a:t> </a:t>
            </a:r>
            <a:r>
              <a:rPr dirty="0" err="1"/>
              <a:t>đem</a:t>
            </a:r>
            <a:r>
              <a:rPr dirty="0"/>
              <a:t> so </a:t>
            </a:r>
            <a:r>
              <a:rPr dirty="0" err="1"/>
              <a:t>với</a:t>
            </a:r>
            <a:r>
              <a:rPr dirty="0"/>
              <a:t> target </a:t>
            </a:r>
            <a:r>
              <a:rPr dirty="0" err="1"/>
              <a:t>cả</a:t>
            </a:r>
            <a:r>
              <a:rPr dirty="0"/>
              <a:t> </a:t>
            </a:r>
            <a:r>
              <a:rPr dirty="0" err="1"/>
              <a:t>năm</a:t>
            </a:r>
            <a:r>
              <a:rPr dirty="0"/>
              <a:t>, </a:t>
            </a:r>
            <a:r>
              <a:rPr dirty="0" err="1"/>
              <a:t>hai</a:t>
            </a:r>
            <a:r>
              <a:rPr dirty="0"/>
              <a:t> </a:t>
            </a:r>
            <a:r>
              <a:rPr dirty="0" err="1"/>
              <a:t>kỳ</a:t>
            </a:r>
            <a:r>
              <a:rPr dirty="0"/>
              <a:t> </a:t>
            </a:r>
            <a:r>
              <a:rPr dirty="0" err="1"/>
              <a:t>không</a:t>
            </a:r>
            <a:r>
              <a:rPr dirty="0"/>
              <a:t> </a:t>
            </a:r>
            <a:r>
              <a:rPr dirty="0" err="1"/>
              <a:t>cùng</a:t>
            </a:r>
            <a:r>
              <a:rPr dirty="0"/>
              <a:t> </a:t>
            </a:r>
            <a:r>
              <a:rPr dirty="0" err="1"/>
              <a:t>độ</a:t>
            </a:r>
            <a:r>
              <a:rPr dirty="0"/>
              <a:t> </a:t>
            </a:r>
            <a:r>
              <a:rPr dirty="0" err="1"/>
              <a:t>dài</a:t>
            </a:r>
            <a:r>
              <a:rPr dirty="0"/>
              <a:t>.</a:t>
            </a:r>
          </a:p>
          <a:p>
            <a:r>
              <a:rPr dirty="0" err="1"/>
              <a:t>Còn</a:t>
            </a:r>
            <a:r>
              <a:rPr dirty="0"/>
              <a:t> </a:t>
            </a:r>
            <a:r>
              <a:rPr dirty="0" err="1"/>
              <a:t>một</a:t>
            </a:r>
            <a:r>
              <a:rPr dirty="0"/>
              <a:t> </a:t>
            </a:r>
            <a:r>
              <a:rPr dirty="0" err="1"/>
              <a:t>chuyện</a:t>
            </a:r>
            <a:r>
              <a:rPr dirty="0"/>
              <a:t> </a:t>
            </a:r>
            <a:r>
              <a:rPr dirty="0" err="1"/>
              <a:t>lạ</a:t>
            </a:r>
            <a:r>
              <a:rPr dirty="0"/>
              <a:t>: </a:t>
            </a:r>
            <a:r>
              <a:rPr dirty="0" err="1"/>
              <a:t>tháng</a:t>
            </a:r>
            <a:r>
              <a:rPr dirty="0"/>
              <a:t> 1 </a:t>
            </a:r>
            <a:r>
              <a:rPr dirty="0" err="1"/>
              <a:t>vượt</a:t>
            </a:r>
            <a:r>
              <a:rPr dirty="0"/>
              <a:t> </a:t>
            </a:r>
            <a:r>
              <a:rPr dirty="0" err="1"/>
              <a:t>khoảng</a:t>
            </a:r>
            <a:r>
              <a:rPr dirty="0"/>
              <a:t> 21%, </a:t>
            </a:r>
            <a:r>
              <a:rPr dirty="0" err="1"/>
              <a:t>tháng</a:t>
            </a:r>
            <a:r>
              <a:rPr dirty="0"/>
              <a:t> 2 </a:t>
            </a:r>
            <a:r>
              <a:rPr dirty="0" err="1"/>
              <a:t>hụt</a:t>
            </a:r>
            <a:r>
              <a:rPr dirty="0"/>
              <a:t> </a:t>
            </a:r>
            <a:r>
              <a:rPr dirty="0" err="1"/>
              <a:t>khoảng</a:t>
            </a:r>
            <a:r>
              <a:rPr dirty="0"/>
              <a:t> 17%. (→ </a:t>
            </a:r>
            <a:r>
              <a:rPr dirty="0" err="1"/>
              <a:t>chờ</a:t>
            </a:r>
            <a:r>
              <a:rPr dirty="0"/>
              <a:t> </a:t>
            </a:r>
            <a:r>
              <a:rPr dirty="0" err="1"/>
              <a:t>một</a:t>
            </a:r>
            <a:r>
              <a:rPr dirty="0"/>
              <a:t> </a:t>
            </a:r>
            <a:r>
              <a:rPr dirty="0" err="1"/>
              <a:t>nhịp</a:t>
            </a:r>
            <a:r>
              <a:rPr dirty="0"/>
              <a:t>) </a:t>
            </a:r>
            <a:r>
              <a:rPr dirty="0" err="1"/>
              <a:t>Buổi</a:t>
            </a:r>
            <a:r>
              <a:rPr dirty="0"/>
              <a:t> 4 </a:t>
            </a:r>
            <a:r>
              <a:rPr dirty="0" err="1"/>
              <a:t>các</a:t>
            </a:r>
            <a:r>
              <a:rPr dirty="0"/>
              <a:t> </a:t>
            </a:r>
            <a:r>
              <a:rPr dirty="0" err="1"/>
              <a:t>bạn</a:t>
            </a:r>
            <a:r>
              <a:rPr dirty="0"/>
              <a:t> </a:t>
            </a:r>
            <a:r>
              <a:rPr dirty="0" err="1"/>
              <a:t>đã</a:t>
            </a:r>
            <a:r>
              <a:rPr dirty="0"/>
              <a:t> </a:t>
            </a:r>
            <a:r>
              <a:rPr dirty="0" err="1"/>
              <a:t>thấy</a:t>
            </a:r>
            <a:r>
              <a:rPr dirty="0"/>
              <a:t> </a:t>
            </a:r>
            <a:r>
              <a:rPr dirty="0" err="1"/>
              <a:t>trong</a:t>
            </a:r>
            <a:r>
              <a:rPr dirty="0"/>
              <a:t> Calendar: </a:t>
            </a:r>
            <a:r>
              <a:rPr dirty="0" err="1"/>
              <a:t>Tết</a:t>
            </a:r>
            <a:r>
              <a:rPr dirty="0"/>
              <a:t> 2025 </a:t>
            </a:r>
            <a:r>
              <a:rPr dirty="0" err="1"/>
              <a:t>rơi</a:t>
            </a:r>
            <a:r>
              <a:rPr dirty="0"/>
              <a:t> </a:t>
            </a:r>
            <a:r>
              <a:rPr dirty="0" err="1"/>
              <a:t>vào</a:t>
            </a:r>
            <a:r>
              <a:rPr dirty="0"/>
              <a:t> 29/01, </a:t>
            </a:r>
            <a:r>
              <a:rPr dirty="0" err="1"/>
              <a:t>Tết</a:t>
            </a:r>
            <a:r>
              <a:rPr dirty="0"/>
              <a:t> 2024 </a:t>
            </a:r>
            <a:r>
              <a:rPr dirty="0" err="1"/>
              <a:t>rơi</a:t>
            </a:r>
            <a:r>
              <a:rPr dirty="0"/>
              <a:t> </a:t>
            </a:r>
            <a:r>
              <a:rPr dirty="0" err="1"/>
              <a:t>vào</a:t>
            </a:r>
            <a:r>
              <a:rPr dirty="0"/>
              <a:t> 10/02. </a:t>
            </a:r>
            <a:r>
              <a:rPr dirty="0" err="1"/>
              <a:t>Năm</a:t>
            </a:r>
            <a:r>
              <a:rPr dirty="0"/>
              <a:t> nay </a:t>
            </a:r>
            <a:r>
              <a:rPr dirty="0" err="1"/>
              <a:t>cả</a:t>
            </a:r>
            <a:r>
              <a:rPr dirty="0"/>
              <a:t> </a:t>
            </a:r>
            <a:r>
              <a:rPr dirty="0" err="1"/>
              <a:t>mùa</a:t>
            </a:r>
            <a:r>
              <a:rPr dirty="0"/>
              <a:t> </a:t>
            </a:r>
            <a:r>
              <a:rPr dirty="0" err="1"/>
              <a:t>mua</a:t>
            </a:r>
            <a:r>
              <a:rPr dirty="0"/>
              <a:t> </a:t>
            </a:r>
            <a:r>
              <a:rPr dirty="0" err="1"/>
              <a:t>sắm</a:t>
            </a:r>
            <a:r>
              <a:rPr dirty="0"/>
              <a:t> </a:t>
            </a:r>
            <a:r>
              <a:rPr dirty="0" err="1"/>
              <a:t>trước</a:t>
            </a:r>
            <a:r>
              <a:rPr dirty="0"/>
              <a:t> </a:t>
            </a:r>
            <a:r>
              <a:rPr dirty="0" err="1"/>
              <a:t>Tết</a:t>
            </a:r>
            <a:r>
              <a:rPr dirty="0"/>
              <a:t> </a:t>
            </a:r>
            <a:r>
              <a:rPr dirty="0" err="1"/>
              <a:t>nằm</a:t>
            </a:r>
            <a:r>
              <a:rPr dirty="0"/>
              <a:t> </a:t>
            </a:r>
            <a:r>
              <a:rPr dirty="0" err="1"/>
              <a:t>trọn</a:t>
            </a:r>
            <a:r>
              <a:rPr dirty="0"/>
              <a:t> </a:t>
            </a:r>
            <a:r>
              <a:rPr dirty="0" err="1"/>
              <a:t>trong</a:t>
            </a:r>
            <a:r>
              <a:rPr dirty="0"/>
              <a:t> </a:t>
            </a:r>
            <a:r>
              <a:rPr dirty="0" err="1"/>
              <a:t>tháng</a:t>
            </a:r>
            <a:r>
              <a:rPr dirty="0"/>
              <a:t> 1, </a:t>
            </a:r>
            <a:r>
              <a:rPr dirty="0" err="1"/>
              <a:t>còn</a:t>
            </a:r>
            <a:r>
              <a:rPr dirty="0"/>
              <a:t> </a:t>
            </a:r>
            <a:r>
              <a:rPr dirty="0" err="1"/>
              <a:t>kỳ</a:t>
            </a:r>
            <a:r>
              <a:rPr dirty="0"/>
              <a:t> </a:t>
            </a:r>
            <a:r>
              <a:rPr dirty="0" err="1"/>
              <a:t>nghỉ</a:t>
            </a:r>
            <a:r>
              <a:rPr dirty="0"/>
              <a:t> </a:t>
            </a:r>
            <a:r>
              <a:rPr dirty="0" err="1"/>
              <a:t>Tết</a:t>
            </a:r>
            <a:r>
              <a:rPr dirty="0"/>
              <a:t> </a:t>
            </a:r>
            <a:r>
              <a:rPr dirty="0" err="1"/>
              <a:t>kéo</a:t>
            </a:r>
            <a:r>
              <a:rPr dirty="0"/>
              <a:t> </a:t>
            </a:r>
            <a:r>
              <a:rPr dirty="0" err="1"/>
              <a:t>tháng</a:t>
            </a:r>
            <a:r>
              <a:rPr dirty="0"/>
              <a:t> 2 </a:t>
            </a:r>
            <a:r>
              <a:rPr dirty="0" err="1"/>
              <a:t>xuống</a:t>
            </a:r>
            <a:r>
              <a:rPr dirty="0"/>
              <a:t>. </a:t>
            </a:r>
            <a:r>
              <a:rPr dirty="0" err="1"/>
              <a:t>Năm</a:t>
            </a:r>
            <a:r>
              <a:rPr dirty="0"/>
              <a:t> </a:t>
            </a:r>
            <a:r>
              <a:rPr dirty="0" err="1"/>
              <a:t>ngoái</a:t>
            </a:r>
            <a:r>
              <a:rPr dirty="0"/>
              <a:t> </a:t>
            </a:r>
            <a:r>
              <a:rPr dirty="0" err="1"/>
              <a:t>mùa</a:t>
            </a:r>
            <a:r>
              <a:rPr dirty="0"/>
              <a:t> </a:t>
            </a:r>
            <a:r>
              <a:rPr dirty="0" err="1"/>
              <a:t>mua</a:t>
            </a:r>
            <a:r>
              <a:rPr dirty="0"/>
              <a:t> </a:t>
            </a:r>
            <a:r>
              <a:rPr dirty="0" err="1"/>
              <a:t>sắm</a:t>
            </a:r>
            <a:r>
              <a:rPr dirty="0"/>
              <a:t> </a:t>
            </a:r>
            <a:r>
              <a:rPr dirty="0" err="1"/>
              <a:t>trải</a:t>
            </a:r>
            <a:r>
              <a:rPr dirty="0"/>
              <a:t> qua </a:t>
            </a:r>
            <a:r>
              <a:rPr dirty="0" err="1"/>
              <a:t>cả</a:t>
            </a:r>
            <a:r>
              <a:rPr dirty="0"/>
              <a:t> </a:t>
            </a:r>
            <a:r>
              <a:rPr dirty="0" err="1"/>
              <a:t>cuối</a:t>
            </a:r>
            <a:r>
              <a:rPr dirty="0"/>
              <a:t> </a:t>
            </a:r>
            <a:r>
              <a:rPr dirty="0" err="1"/>
              <a:t>tháng</a:t>
            </a:r>
            <a:r>
              <a:rPr dirty="0"/>
              <a:t> 1 </a:t>
            </a:r>
            <a:r>
              <a:rPr dirty="0" err="1"/>
              <a:t>lẫn</a:t>
            </a:r>
            <a:r>
              <a:rPr dirty="0"/>
              <a:t> </a:t>
            </a:r>
            <a:r>
              <a:rPr dirty="0" err="1"/>
              <a:t>đầu</a:t>
            </a:r>
            <a:r>
              <a:rPr dirty="0"/>
              <a:t> </a:t>
            </a:r>
            <a:r>
              <a:rPr dirty="0" err="1"/>
              <a:t>tháng</a:t>
            </a:r>
            <a:r>
              <a:rPr dirty="0"/>
              <a:t> 2. Target </a:t>
            </a:r>
            <a:r>
              <a:rPr dirty="0" err="1"/>
              <a:t>lại</a:t>
            </a:r>
            <a:r>
              <a:rPr dirty="0"/>
              <a:t> </a:t>
            </a:r>
            <a:r>
              <a:rPr dirty="0" err="1"/>
              <a:t>được</a:t>
            </a:r>
            <a:r>
              <a:rPr dirty="0"/>
              <a:t> </a:t>
            </a:r>
            <a:r>
              <a:rPr dirty="0" err="1"/>
              <a:t>lập</a:t>
            </a:r>
            <a:r>
              <a:rPr dirty="0"/>
              <a:t> </a:t>
            </a:r>
            <a:r>
              <a:rPr dirty="0" err="1"/>
              <a:t>bằng</a:t>
            </a:r>
            <a:r>
              <a:rPr dirty="0"/>
              <a:t> </a:t>
            </a:r>
            <a:r>
              <a:rPr dirty="0" err="1"/>
              <a:t>doanh</a:t>
            </a:r>
            <a:r>
              <a:rPr dirty="0"/>
              <a:t> </a:t>
            </a:r>
            <a:r>
              <a:rPr dirty="0" err="1"/>
              <a:t>thu</a:t>
            </a:r>
            <a:r>
              <a:rPr dirty="0"/>
              <a:t> </a:t>
            </a:r>
            <a:r>
              <a:rPr dirty="0" err="1"/>
              <a:t>cùng</a:t>
            </a:r>
            <a:r>
              <a:rPr dirty="0"/>
              <a:t> </a:t>
            </a:r>
            <a:r>
              <a:rPr dirty="0" err="1"/>
              <a:t>tháng</a:t>
            </a:r>
            <a:r>
              <a:rPr dirty="0"/>
              <a:t> </a:t>
            </a:r>
            <a:r>
              <a:rPr dirty="0" err="1"/>
              <a:t>dương</a:t>
            </a:r>
            <a:r>
              <a:rPr dirty="0"/>
              <a:t> </a:t>
            </a:r>
            <a:r>
              <a:rPr dirty="0" err="1"/>
              <a:t>lịch</a:t>
            </a:r>
            <a:r>
              <a:rPr dirty="0"/>
              <a:t> </a:t>
            </a:r>
            <a:r>
              <a:rPr dirty="0" err="1"/>
              <a:t>năm</a:t>
            </a:r>
            <a:r>
              <a:rPr dirty="0"/>
              <a:t> </a:t>
            </a:r>
            <a:r>
              <a:rPr dirty="0" err="1"/>
              <a:t>trước</a:t>
            </a:r>
            <a:r>
              <a:rPr dirty="0"/>
              <a:t> </a:t>
            </a:r>
            <a:r>
              <a:rPr dirty="0" err="1"/>
              <a:t>nhân</a:t>
            </a:r>
            <a:r>
              <a:rPr dirty="0"/>
              <a:t> 110% (ST12 </a:t>
            </a:r>
            <a:r>
              <a:rPr dirty="0" err="1"/>
              <a:t>chưa</a:t>
            </a:r>
            <a:r>
              <a:rPr dirty="0"/>
              <a:t> </a:t>
            </a:r>
            <a:r>
              <a:rPr dirty="0" err="1"/>
              <a:t>có</a:t>
            </a:r>
            <a:r>
              <a:rPr dirty="0"/>
              <a:t> </a:t>
            </a:r>
            <a:r>
              <a:rPr dirty="0" err="1"/>
              <a:t>năm</a:t>
            </a:r>
            <a:r>
              <a:rPr dirty="0"/>
              <a:t> 2024 </a:t>
            </a:r>
            <a:r>
              <a:rPr dirty="0" err="1"/>
              <a:t>nên</a:t>
            </a:r>
            <a:r>
              <a:rPr dirty="0"/>
              <a:t> target </a:t>
            </a:r>
            <a:r>
              <a:rPr dirty="0" err="1"/>
              <a:t>đặt</a:t>
            </a:r>
            <a:r>
              <a:rPr dirty="0"/>
              <a:t> </a:t>
            </a:r>
            <a:r>
              <a:rPr dirty="0" err="1"/>
              <a:t>cố</a:t>
            </a:r>
            <a:r>
              <a:rPr dirty="0"/>
              <a:t> </a:t>
            </a:r>
            <a:r>
              <a:rPr dirty="0" err="1"/>
              <a:t>định</a:t>
            </a:r>
            <a:r>
              <a:rPr dirty="0"/>
              <a:t> 25 </a:t>
            </a:r>
            <a:r>
              <a:rPr dirty="0" err="1"/>
              <a:t>triệu</a:t>
            </a:r>
            <a:r>
              <a:rPr dirty="0"/>
              <a:t>), </a:t>
            </a:r>
            <a:r>
              <a:rPr dirty="0" err="1"/>
              <a:t>nên</a:t>
            </a:r>
            <a:r>
              <a:rPr dirty="0"/>
              <a:t> </a:t>
            </a:r>
            <a:r>
              <a:rPr dirty="0" err="1"/>
              <a:t>tháng</a:t>
            </a:r>
            <a:r>
              <a:rPr dirty="0"/>
              <a:t> 1 </a:t>
            </a:r>
            <a:r>
              <a:rPr dirty="0" err="1"/>
              <a:t>bị</a:t>
            </a:r>
            <a:r>
              <a:rPr dirty="0"/>
              <a:t> </a:t>
            </a:r>
            <a:r>
              <a:rPr dirty="0" err="1"/>
              <a:t>đặt</a:t>
            </a:r>
            <a:r>
              <a:rPr dirty="0"/>
              <a:t> </a:t>
            </a:r>
            <a:r>
              <a:rPr dirty="0" err="1"/>
              <a:t>thấp</a:t>
            </a:r>
            <a:r>
              <a:rPr dirty="0"/>
              <a:t>, </a:t>
            </a:r>
            <a:r>
              <a:rPr dirty="0" err="1"/>
              <a:t>tháng</a:t>
            </a:r>
            <a:r>
              <a:rPr dirty="0"/>
              <a:t> 2 </a:t>
            </a:r>
            <a:r>
              <a:rPr dirty="0" err="1"/>
              <a:t>bị</a:t>
            </a:r>
            <a:r>
              <a:rPr dirty="0"/>
              <a:t> </a:t>
            </a:r>
            <a:r>
              <a:rPr dirty="0" err="1"/>
              <a:t>đặt</a:t>
            </a:r>
            <a:r>
              <a:rPr dirty="0"/>
              <a:t> </a:t>
            </a:r>
            <a:r>
              <a:rPr dirty="0" err="1"/>
              <a:t>cao</a:t>
            </a:r>
            <a:r>
              <a:rPr dirty="0"/>
              <a:t>. </a:t>
            </a:r>
            <a:r>
              <a:rPr dirty="0" err="1"/>
              <a:t>Gộp</a:t>
            </a:r>
            <a:r>
              <a:rPr dirty="0"/>
              <a:t> </a:t>
            </a:r>
            <a:r>
              <a:rPr dirty="0" err="1"/>
              <a:t>hai</a:t>
            </a:r>
            <a:r>
              <a:rPr dirty="0"/>
              <a:t> </a:t>
            </a:r>
            <a:r>
              <a:rPr dirty="0" err="1"/>
              <a:t>tháng</a:t>
            </a:r>
            <a:r>
              <a:rPr dirty="0"/>
              <a:t> </a:t>
            </a:r>
            <a:r>
              <a:rPr dirty="0" err="1"/>
              <a:t>lại</a:t>
            </a:r>
            <a:r>
              <a:rPr dirty="0"/>
              <a:t> </a:t>
            </a:r>
            <a:r>
              <a:rPr dirty="0" err="1"/>
              <a:t>thì</a:t>
            </a:r>
            <a:r>
              <a:rPr dirty="0"/>
              <a:t> </a:t>
            </a:r>
            <a:r>
              <a:rPr dirty="0" err="1"/>
              <a:t>đạt</a:t>
            </a:r>
            <a:r>
              <a:rPr dirty="0"/>
              <a:t> 103,2%. </a:t>
            </a:r>
            <a:r>
              <a:rPr dirty="0" err="1"/>
              <a:t>Tháng</a:t>
            </a:r>
            <a:r>
              <a:rPr dirty="0"/>
              <a:t> 2 </a:t>
            </a:r>
            <a:r>
              <a:rPr dirty="0" err="1"/>
              <a:t>không</a:t>
            </a:r>
            <a:r>
              <a:rPr dirty="0"/>
              <a:t> </a:t>
            </a:r>
            <a:r>
              <a:rPr dirty="0" err="1"/>
              <a:t>bán</a:t>
            </a:r>
            <a:r>
              <a:rPr dirty="0"/>
              <a:t> </a:t>
            </a:r>
            <a:r>
              <a:rPr dirty="0" err="1"/>
              <a:t>kém</a:t>
            </a:r>
            <a:r>
              <a:rPr dirty="0"/>
              <a:t>, target </a:t>
            </a:r>
            <a:r>
              <a:rPr dirty="0" err="1"/>
              <a:t>lệch</a:t>
            </a:r>
            <a:r>
              <a:rPr dirty="0"/>
              <a:t> </a:t>
            </a:r>
            <a:r>
              <a:rPr dirty="0" err="1"/>
              <a:t>mùa</a:t>
            </a:r>
            <a:r>
              <a:rPr dirty="0"/>
              <a:t> </a:t>
            </a:r>
            <a:r>
              <a:rPr dirty="0" err="1"/>
              <a:t>Tết</a:t>
            </a:r>
            <a:r>
              <a:rPr dirty="0"/>
              <a:t>. </a:t>
            </a:r>
            <a:r>
              <a:rPr dirty="0" err="1"/>
              <a:t>Đây</a:t>
            </a:r>
            <a:r>
              <a:rPr dirty="0"/>
              <a:t> </a:t>
            </a:r>
            <a:r>
              <a:rPr dirty="0" err="1"/>
              <a:t>là</a:t>
            </a:r>
            <a:r>
              <a:rPr dirty="0"/>
              <a:t> </a:t>
            </a:r>
            <a:r>
              <a:rPr dirty="0" err="1"/>
              <a:t>câu</a:t>
            </a:r>
            <a:r>
              <a:rPr dirty="0"/>
              <a:t> </a:t>
            </a:r>
            <a:r>
              <a:rPr dirty="0" err="1"/>
              <a:t>trả</a:t>
            </a:r>
            <a:r>
              <a:rPr dirty="0"/>
              <a:t> </a:t>
            </a:r>
            <a:r>
              <a:rPr dirty="0" err="1"/>
              <a:t>lời</a:t>
            </a:r>
            <a:r>
              <a:rPr dirty="0"/>
              <a:t> </a:t>
            </a:r>
            <a:r>
              <a:rPr dirty="0" err="1"/>
              <a:t>Tầng</a:t>
            </a:r>
            <a:r>
              <a:rPr dirty="0"/>
              <a:t> 3 </a:t>
            </a:r>
            <a:r>
              <a:rPr dirty="0" err="1"/>
              <a:t>cho</a:t>
            </a:r>
            <a:r>
              <a:rPr dirty="0"/>
              <a:t> </a:t>
            </a:r>
            <a:r>
              <a:rPr dirty="0" err="1"/>
              <a:t>chữ</a:t>
            </a:r>
            <a:r>
              <a:rPr dirty="0"/>
              <a:t> "</a:t>
            </a:r>
            <a:r>
              <a:rPr dirty="0" err="1"/>
              <a:t>vì</a:t>
            </a:r>
            <a:r>
              <a:rPr dirty="0"/>
              <a:t> </a:t>
            </a:r>
            <a:r>
              <a:rPr dirty="0" err="1"/>
              <a:t>sao</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3 phút.</a:t>
            </a:r>
          </a:p>
          <a:p>
            <a:r>
              <a:t>LỜI GIẢNG</a:t>
            </a:r>
          </a:p>
          <a:p>
            <a:r>
              <a:t>(→ trên PV_Target: Rows đổi thành Product → Category; Filters thêm Calendar → Quy = 1) Theo ngành, Quý 1: Bánh kẹo đạt 36%, Sữa đạt chưa tới 2%. Câu hỏi cho lớp: ngành Sữa thảm hại vậy sao? (→ chờ) Không. Target không có ngành, nên mẫu số ở mọi dòng là target của cả chuỗi. Con số này không có nghĩa gì. Measure không báo lỗi, người dùng phải biết giới hạn của nó, và mình ghi giới hạn đó vào KPI dictionary ở Phần 7.</a:t>
            </a:r>
          </a:p>
          <a:p>
            <a:r>
              <a:t>(→ bỏ Quy khỏi Filters; Rows: Store → Store_Code; Columns: Calendar → Thang; Values chỉ giữ Revenue vs Target %; Row Labels/Column Labels lọc tháng 1–4) Theo cửa hàng và tháng thì có nghĩa. (→ bấm ô ST07 × 3) ST07 tháng 3: 44,9%. Buổi 3 các bạn đã dùng Show Details để thấy cửa hàng Nha Trang cải tạo từ 10 đến 31/03. Tháng 4 lên lại 97,4%, đúng con số bài về nhà Buổi 4. Một câu chuyện, ba buổi, ba công cụ, cùng một kết luận.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6: hai câu hỏi sếp nào cũng hỏi, từ đầu năm tới giờ bao nhiêu, và so với năm ngoái thế nào.</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8 </a:t>
            </a:r>
            <a:r>
              <a:rPr dirty="0" err="1"/>
              <a:t>phút</a:t>
            </a:r>
            <a:r>
              <a:rPr dirty="0"/>
              <a:t>.</a:t>
            </a:r>
          </a:p>
          <a:p>
            <a:r>
              <a:rPr dirty="0"/>
              <a:t>LỜI GIẢNG</a:t>
            </a:r>
          </a:p>
          <a:p>
            <a:r>
              <a:rPr dirty="0" err="1"/>
              <a:t>Trước</a:t>
            </a:r>
            <a:r>
              <a:rPr dirty="0"/>
              <a:t> </a:t>
            </a:r>
            <a:r>
              <a:rPr dirty="0" err="1"/>
              <a:t>hết</a:t>
            </a:r>
            <a:r>
              <a:rPr dirty="0"/>
              <a:t>, </a:t>
            </a:r>
            <a:r>
              <a:rPr dirty="0" err="1"/>
              <a:t>cho</a:t>
            </a:r>
            <a:r>
              <a:rPr dirty="0"/>
              <a:t> </a:t>
            </a:r>
            <a:r>
              <a:rPr dirty="0" err="1"/>
              <a:t>mô</a:t>
            </a:r>
            <a:r>
              <a:rPr dirty="0"/>
              <a:t> </a:t>
            </a:r>
            <a:r>
              <a:rPr dirty="0" err="1"/>
              <a:t>hình</a:t>
            </a:r>
            <a:r>
              <a:rPr dirty="0"/>
              <a:t> </a:t>
            </a:r>
            <a:r>
              <a:rPr dirty="0" err="1"/>
              <a:t>biết</a:t>
            </a:r>
            <a:r>
              <a:rPr dirty="0"/>
              <a:t> </a:t>
            </a:r>
            <a:r>
              <a:rPr dirty="0" err="1"/>
              <a:t>đâu</a:t>
            </a:r>
            <a:r>
              <a:rPr dirty="0"/>
              <a:t> </a:t>
            </a:r>
            <a:r>
              <a:rPr dirty="0" err="1"/>
              <a:t>là</a:t>
            </a:r>
            <a:r>
              <a:rPr dirty="0"/>
              <a:t> </a:t>
            </a:r>
            <a:r>
              <a:rPr dirty="0" err="1"/>
              <a:t>bảng</a:t>
            </a:r>
            <a:r>
              <a:rPr dirty="0"/>
              <a:t> </a:t>
            </a:r>
            <a:r>
              <a:rPr dirty="0" err="1"/>
              <a:t>lịch</a:t>
            </a:r>
            <a:r>
              <a:rPr dirty="0"/>
              <a:t>. (→ </a:t>
            </a:r>
            <a:r>
              <a:rPr dirty="0" err="1"/>
              <a:t>cửa</a:t>
            </a:r>
            <a:r>
              <a:rPr dirty="0"/>
              <a:t> </a:t>
            </a:r>
            <a:r>
              <a:rPr dirty="0" err="1"/>
              <a:t>sổ</a:t>
            </a:r>
            <a:r>
              <a:rPr dirty="0"/>
              <a:t> Power Pivot, tab Calendar → Design → Mark as Date Table → Date column: Date → OK) </a:t>
            </a:r>
            <a:r>
              <a:rPr dirty="0" err="1"/>
              <a:t>Điều</a:t>
            </a:r>
            <a:r>
              <a:rPr dirty="0"/>
              <a:t> </a:t>
            </a:r>
            <a:r>
              <a:rPr dirty="0" err="1"/>
              <a:t>kiện</a:t>
            </a:r>
            <a:r>
              <a:rPr dirty="0"/>
              <a:t>: </a:t>
            </a:r>
            <a:r>
              <a:rPr dirty="0" err="1"/>
              <a:t>mỗi</a:t>
            </a:r>
            <a:r>
              <a:rPr dirty="0"/>
              <a:t> </a:t>
            </a:r>
            <a:r>
              <a:rPr dirty="0" err="1"/>
              <a:t>ngày</a:t>
            </a:r>
            <a:r>
              <a:rPr dirty="0"/>
              <a:t> </a:t>
            </a:r>
            <a:r>
              <a:rPr dirty="0" err="1"/>
              <a:t>đúng</a:t>
            </a:r>
            <a:r>
              <a:rPr dirty="0"/>
              <a:t> </a:t>
            </a:r>
            <a:r>
              <a:rPr dirty="0" err="1"/>
              <a:t>một</a:t>
            </a:r>
            <a:r>
              <a:rPr dirty="0"/>
              <a:t> </a:t>
            </a:r>
            <a:r>
              <a:rPr dirty="0" err="1"/>
              <a:t>dòng</a:t>
            </a:r>
            <a:r>
              <a:rPr dirty="0"/>
              <a:t>, </a:t>
            </a:r>
            <a:r>
              <a:rPr dirty="0" err="1"/>
              <a:t>không</a:t>
            </a:r>
            <a:r>
              <a:rPr dirty="0"/>
              <a:t> </a:t>
            </a:r>
            <a:r>
              <a:rPr dirty="0" err="1"/>
              <a:t>bỏ</a:t>
            </a:r>
            <a:r>
              <a:rPr dirty="0"/>
              <a:t> </a:t>
            </a:r>
            <a:r>
              <a:rPr dirty="0" err="1"/>
              <a:t>sót</a:t>
            </a:r>
            <a:r>
              <a:rPr dirty="0"/>
              <a:t> </a:t>
            </a:r>
            <a:r>
              <a:rPr dirty="0" err="1"/>
              <a:t>ngày</a:t>
            </a:r>
            <a:r>
              <a:rPr dirty="0"/>
              <a:t> </a:t>
            </a:r>
            <a:r>
              <a:rPr dirty="0" err="1"/>
              <a:t>nào</a:t>
            </a:r>
            <a:r>
              <a:rPr dirty="0"/>
              <a:t>. Calendar </a:t>
            </a:r>
            <a:r>
              <a:rPr dirty="0" err="1"/>
              <a:t>Buổi</a:t>
            </a:r>
            <a:r>
              <a:rPr dirty="0"/>
              <a:t> 4 </a:t>
            </a:r>
            <a:r>
              <a:rPr dirty="0" err="1"/>
              <a:t>dựng</a:t>
            </a:r>
            <a:r>
              <a:rPr dirty="0"/>
              <a:t> </a:t>
            </a:r>
            <a:r>
              <a:rPr dirty="0" err="1"/>
              <a:t>từ</a:t>
            </a:r>
            <a:r>
              <a:rPr dirty="0"/>
              <a:t> 01/01/2024 </a:t>
            </a:r>
            <a:r>
              <a:rPr dirty="0" err="1"/>
              <a:t>đến</a:t>
            </a:r>
            <a:r>
              <a:rPr dirty="0"/>
              <a:t> 31/12/2025, </a:t>
            </a:r>
            <a:r>
              <a:rPr dirty="0" err="1"/>
              <a:t>bảy</a:t>
            </a:r>
            <a:r>
              <a:rPr dirty="0"/>
              <a:t> </a:t>
            </a:r>
            <a:r>
              <a:rPr dirty="0" err="1"/>
              <a:t>trăm</a:t>
            </a:r>
            <a:r>
              <a:rPr dirty="0"/>
              <a:t> </a:t>
            </a:r>
            <a:r>
              <a:rPr dirty="0" err="1"/>
              <a:t>ba</a:t>
            </a:r>
            <a:r>
              <a:rPr dirty="0"/>
              <a:t> </a:t>
            </a:r>
            <a:r>
              <a:rPr dirty="0" err="1"/>
              <a:t>mươi</a:t>
            </a:r>
            <a:r>
              <a:rPr dirty="0"/>
              <a:t> </a:t>
            </a:r>
            <a:r>
              <a:rPr dirty="0" err="1"/>
              <a:t>mốt</a:t>
            </a:r>
            <a:r>
              <a:rPr dirty="0"/>
              <a:t> </a:t>
            </a:r>
            <a:r>
              <a:rPr dirty="0" err="1"/>
              <a:t>ngày</a:t>
            </a:r>
            <a:r>
              <a:rPr dirty="0"/>
              <a:t> </a:t>
            </a:r>
            <a:r>
              <a:rPr dirty="0" err="1"/>
              <a:t>liên</a:t>
            </a:r>
            <a:r>
              <a:rPr dirty="0"/>
              <a:t> </a:t>
            </a:r>
            <a:r>
              <a:rPr dirty="0" err="1"/>
              <a:t>tục</a:t>
            </a:r>
            <a:r>
              <a:rPr dirty="0"/>
              <a:t>, </a:t>
            </a:r>
            <a:r>
              <a:rPr dirty="0" err="1"/>
              <a:t>đạt</a:t>
            </a:r>
            <a:r>
              <a:rPr dirty="0"/>
              <a:t>.</a:t>
            </a:r>
            <a:r>
              <a:rPr lang="en-US" dirty="0"/>
              <a:t> 	</a:t>
            </a:r>
            <a:endParaRPr dirty="0"/>
          </a:p>
          <a:p>
            <a:r>
              <a:rPr dirty="0"/>
              <a:t>(→ New Measure: Revenue YTD = CALCULATE([Total Revenue], DATESYTD(Calendar[Date])), </a:t>
            </a:r>
            <a:r>
              <a:rPr dirty="0" err="1"/>
              <a:t>định</a:t>
            </a:r>
            <a:r>
              <a:rPr dirty="0"/>
              <a:t> </a:t>
            </a:r>
            <a:r>
              <a:rPr dirty="0" err="1"/>
              <a:t>dạng</a:t>
            </a:r>
            <a:r>
              <a:rPr dirty="0"/>
              <a:t> </a:t>
            </a:r>
            <a:r>
              <a:rPr dirty="0" err="1"/>
              <a:t>số</a:t>
            </a:r>
            <a:r>
              <a:rPr dirty="0"/>
              <a:t> </a:t>
            </a:r>
            <a:r>
              <a:rPr dirty="0" err="1"/>
              <a:t>như</a:t>
            </a:r>
            <a:r>
              <a:rPr dirty="0"/>
              <a:t> Total Revenue → OK) </a:t>
            </a:r>
            <a:r>
              <a:rPr dirty="0" err="1"/>
              <a:t>Lại</a:t>
            </a:r>
            <a:r>
              <a:rPr dirty="0"/>
              <a:t> </a:t>
            </a:r>
            <a:r>
              <a:rPr dirty="0" err="1"/>
              <a:t>là</a:t>
            </a:r>
            <a:r>
              <a:rPr dirty="0"/>
              <a:t> CALCULATE: </a:t>
            </a:r>
            <a:r>
              <a:rPr dirty="0" err="1"/>
              <a:t>giữ</a:t>
            </a:r>
            <a:r>
              <a:rPr dirty="0"/>
              <a:t> </a:t>
            </a:r>
            <a:r>
              <a:rPr dirty="0" err="1"/>
              <a:t>năm</a:t>
            </a:r>
            <a:r>
              <a:rPr dirty="0"/>
              <a:t> </a:t>
            </a:r>
            <a:r>
              <a:rPr dirty="0" err="1"/>
              <a:t>của</a:t>
            </a:r>
            <a:r>
              <a:rPr dirty="0"/>
              <a:t> ô, </a:t>
            </a:r>
            <a:r>
              <a:rPr dirty="0" err="1"/>
              <a:t>nhưng</a:t>
            </a:r>
            <a:r>
              <a:rPr dirty="0"/>
              <a:t> </a:t>
            </a:r>
            <a:r>
              <a:rPr dirty="0" err="1"/>
              <a:t>thay</a:t>
            </a:r>
            <a:r>
              <a:rPr dirty="0"/>
              <a:t> </a:t>
            </a:r>
            <a:r>
              <a:rPr dirty="0" err="1"/>
              <a:t>bộ</a:t>
            </a:r>
            <a:r>
              <a:rPr dirty="0"/>
              <a:t> </a:t>
            </a:r>
            <a:r>
              <a:rPr dirty="0" err="1"/>
              <a:t>lọc</a:t>
            </a:r>
            <a:r>
              <a:rPr dirty="0"/>
              <a:t> </a:t>
            </a:r>
            <a:r>
              <a:rPr dirty="0" err="1"/>
              <a:t>ngày</a:t>
            </a:r>
            <a:r>
              <a:rPr dirty="0"/>
              <a:t> </a:t>
            </a:r>
            <a:r>
              <a:rPr dirty="0" err="1"/>
              <a:t>bằng</a:t>
            </a:r>
            <a:r>
              <a:rPr dirty="0"/>
              <a:t> "</a:t>
            </a:r>
            <a:r>
              <a:rPr dirty="0" err="1"/>
              <a:t>từ</a:t>
            </a:r>
            <a:r>
              <a:rPr dirty="0"/>
              <a:t> 1/1 </a:t>
            </a:r>
            <a:r>
              <a:rPr dirty="0" err="1"/>
              <a:t>tới</a:t>
            </a:r>
            <a:r>
              <a:rPr dirty="0"/>
              <a:t> </a:t>
            </a:r>
            <a:r>
              <a:rPr dirty="0" err="1"/>
              <a:t>ngày</a:t>
            </a:r>
            <a:r>
              <a:rPr dirty="0"/>
              <a:t> </a:t>
            </a:r>
            <a:r>
              <a:rPr dirty="0" err="1"/>
              <a:t>cuối</a:t>
            </a:r>
            <a:r>
              <a:rPr dirty="0"/>
              <a:t> </a:t>
            </a:r>
            <a:r>
              <a:rPr dirty="0" err="1"/>
              <a:t>của</a:t>
            </a:r>
            <a:r>
              <a:rPr dirty="0"/>
              <a:t> ô". (→ New Measure: Revenue LY = CALCULATE([Total Revenue], DATEADD(Calendar[Date], -1, YEAR)), </a:t>
            </a:r>
            <a:r>
              <a:rPr dirty="0" err="1"/>
              <a:t>định</a:t>
            </a:r>
            <a:r>
              <a:rPr dirty="0"/>
              <a:t> </a:t>
            </a:r>
            <a:r>
              <a:rPr dirty="0" err="1"/>
              <a:t>dạng</a:t>
            </a:r>
            <a:r>
              <a:rPr dirty="0"/>
              <a:t> </a:t>
            </a:r>
            <a:r>
              <a:rPr dirty="0" err="1"/>
              <a:t>số</a:t>
            </a:r>
            <a:r>
              <a:rPr dirty="0"/>
              <a:t> </a:t>
            </a:r>
            <a:r>
              <a:rPr dirty="0" err="1"/>
              <a:t>như</a:t>
            </a:r>
            <a:r>
              <a:rPr dirty="0"/>
              <a:t> Total Revenue → OK) </a:t>
            </a:r>
            <a:r>
              <a:rPr dirty="0" err="1"/>
              <a:t>Và</a:t>
            </a:r>
            <a:r>
              <a:rPr dirty="0"/>
              <a:t> </a:t>
            </a:r>
            <a:r>
              <a:rPr dirty="0" err="1"/>
              <a:t>cùng</a:t>
            </a:r>
            <a:r>
              <a:rPr dirty="0"/>
              <a:t> </a:t>
            </a:r>
            <a:r>
              <a:rPr dirty="0" err="1"/>
              <a:t>kỳ</a:t>
            </a:r>
            <a:r>
              <a:rPr dirty="0"/>
              <a:t> </a:t>
            </a:r>
            <a:r>
              <a:rPr dirty="0" err="1"/>
              <a:t>năm</a:t>
            </a:r>
            <a:r>
              <a:rPr dirty="0"/>
              <a:t> </a:t>
            </a:r>
            <a:r>
              <a:rPr dirty="0" err="1"/>
              <a:t>trước</a:t>
            </a:r>
            <a:r>
              <a:rPr dirty="0"/>
              <a:t>: </a:t>
            </a:r>
            <a:r>
              <a:rPr dirty="0" err="1"/>
              <a:t>dịch</a:t>
            </a:r>
            <a:r>
              <a:rPr dirty="0"/>
              <a:t> </a:t>
            </a:r>
            <a:r>
              <a:rPr dirty="0" err="1"/>
              <a:t>các</a:t>
            </a:r>
            <a:r>
              <a:rPr dirty="0"/>
              <a:t> </a:t>
            </a:r>
            <a:r>
              <a:rPr dirty="0" err="1"/>
              <a:t>ngày</a:t>
            </a:r>
            <a:r>
              <a:rPr dirty="0"/>
              <a:t> </a:t>
            </a:r>
            <a:r>
              <a:rPr dirty="0" err="1"/>
              <a:t>của</a:t>
            </a:r>
            <a:r>
              <a:rPr dirty="0"/>
              <a:t> ô </a:t>
            </a:r>
            <a:r>
              <a:rPr dirty="0" err="1"/>
              <a:t>lùi</a:t>
            </a:r>
            <a:r>
              <a:rPr dirty="0"/>
              <a:t> </a:t>
            </a:r>
            <a:r>
              <a:rPr dirty="0" err="1"/>
              <a:t>một</a:t>
            </a:r>
            <a:r>
              <a:rPr dirty="0"/>
              <a:t> </a:t>
            </a:r>
            <a:r>
              <a:rPr dirty="0" err="1"/>
              <a:t>năm</a:t>
            </a:r>
            <a:r>
              <a:rPr dirty="0"/>
              <a:t>.</a:t>
            </a:r>
          </a:p>
          <a:p>
            <a:r>
              <a:rPr dirty="0"/>
              <a:t>(→ Insert → PivotTable ▾ → From Data Model → New Worksheet, </a:t>
            </a:r>
            <a:r>
              <a:rPr dirty="0" err="1"/>
              <a:t>đổi</a:t>
            </a:r>
            <a:r>
              <a:rPr dirty="0"/>
              <a:t> </a:t>
            </a:r>
            <a:r>
              <a:rPr dirty="0" err="1"/>
              <a:t>tên</a:t>
            </a:r>
            <a:r>
              <a:rPr dirty="0"/>
              <a:t> </a:t>
            </a:r>
            <a:r>
              <a:rPr dirty="0" err="1"/>
              <a:t>PV_YoY</a:t>
            </a:r>
            <a:r>
              <a:rPr dirty="0"/>
              <a:t>; Filters: Calendar → Nam = 2025; Rows: Calendar → Thang; Values: Total Revenue, Revenue LY, Revenue YTD) </a:t>
            </a:r>
            <a:r>
              <a:rPr dirty="0" err="1"/>
              <a:t>Tháng</a:t>
            </a:r>
            <a:r>
              <a:rPr dirty="0"/>
              <a:t> 1/2025: 425 </a:t>
            </a:r>
            <a:r>
              <a:rPr dirty="0" err="1"/>
              <a:t>triệu</a:t>
            </a:r>
            <a:r>
              <a:rPr dirty="0"/>
              <a:t> 850; </a:t>
            </a:r>
            <a:r>
              <a:rPr dirty="0" err="1"/>
              <a:t>cùng</a:t>
            </a:r>
            <a:r>
              <a:rPr dirty="0"/>
              <a:t> </a:t>
            </a:r>
            <a:r>
              <a:rPr dirty="0" err="1"/>
              <a:t>kỳ</a:t>
            </a:r>
            <a:r>
              <a:rPr dirty="0"/>
              <a:t> </a:t>
            </a:r>
            <a:r>
              <a:rPr dirty="0" err="1"/>
              <a:t>năm</a:t>
            </a:r>
            <a:r>
              <a:rPr dirty="0"/>
              <a:t> </a:t>
            </a:r>
            <a:r>
              <a:rPr dirty="0" err="1"/>
              <a:t>trước</a:t>
            </a:r>
            <a:r>
              <a:rPr dirty="0"/>
              <a:t> 298 </a:t>
            </a:r>
            <a:r>
              <a:rPr dirty="0" err="1"/>
              <a:t>triệu</a:t>
            </a:r>
            <a:r>
              <a:rPr dirty="0"/>
              <a:t> 203. </a:t>
            </a:r>
            <a:r>
              <a:rPr dirty="0" err="1"/>
              <a:t>Lũy</a:t>
            </a:r>
            <a:r>
              <a:rPr dirty="0"/>
              <a:t> </a:t>
            </a:r>
            <a:r>
              <a:rPr dirty="0" err="1"/>
              <a:t>kế</a:t>
            </a:r>
            <a:r>
              <a:rPr dirty="0"/>
              <a:t> </a:t>
            </a:r>
            <a:r>
              <a:rPr dirty="0" err="1"/>
              <a:t>tới</a:t>
            </a:r>
            <a:r>
              <a:rPr dirty="0"/>
              <a:t> </a:t>
            </a:r>
            <a:r>
              <a:rPr dirty="0" err="1"/>
              <a:t>tháng</a:t>
            </a:r>
            <a:r>
              <a:rPr dirty="0"/>
              <a:t> 4: 1 </a:t>
            </a:r>
            <a:r>
              <a:rPr dirty="0" err="1"/>
              <a:t>tỷ</a:t>
            </a:r>
            <a:r>
              <a:rPr dirty="0"/>
              <a:t> 238 </a:t>
            </a:r>
            <a:r>
              <a:rPr dirty="0" err="1"/>
              <a:t>triệu</a:t>
            </a:r>
            <a:r>
              <a:rPr dirty="0"/>
              <a:t>.</a:t>
            </a:r>
          </a:p>
          <a:p>
            <a:r>
              <a:rPr dirty="0"/>
              <a:t>(→ New Measure: Revenue YoY % = DIVIDE([Total Revenue]-[Revenue LY],[Revenue LY]), Format Percentage → OK; tick </a:t>
            </a:r>
            <a:r>
              <a:rPr dirty="0" err="1"/>
              <a:t>vào</a:t>
            </a:r>
            <a:r>
              <a:rPr dirty="0"/>
              <a:t> Values) </a:t>
            </a:r>
            <a:r>
              <a:rPr dirty="0" err="1"/>
              <a:t>Tháng</a:t>
            </a:r>
            <a:r>
              <a:rPr dirty="0"/>
              <a:t> 1 </a:t>
            </a:r>
            <a:r>
              <a:rPr dirty="0" err="1"/>
              <a:t>tăng</a:t>
            </a:r>
            <a:r>
              <a:rPr dirty="0"/>
              <a:t> 42,8%, </a:t>
            </a:r>
            <a:r>
              <a:rPr dirty="0" err="1"/>
              <a:t>tháng</a:t>
            </a:r>
            <a:r>
              <a:rPr dirty="0"/>
              <a:t> 2 </a:t>
            </a:r>
            <a:r>
              <a:rPr dirty="0" err="1"/>
              <a:t>giảm</a:t>
            </a:r>
            <a:r>
              <a:rPr dirty="0"/>
              <a:t> 0,9%. </a:t>
            </a:r>
            <a:r>
              <a:rPr dirty="0" err="1"/>
              <a:t>Câu</a:t>
            </a:r>
            <a:r>
              <a:rPr dirty="0"/>
              <a:t> </a:t>
            </a:r>
            <a:r>
              <a:rPr dirty="0" err="1"/>
              <a:t>hỏi</a:t>
            </a:r>
            <a:r>
              <a:rPr dirty="0"/>
              <a:t> </a:t>
            </a:r>
            <a:r>
              <a:rPr dirty="0" err="1"/>
              <a:t>cho</a:t>
            </a:r>
            <a:r>
              <a:rPr dirty="0"/>
              <a:t> </a:t>
            </a:r>
            <a:r>
              <a:rPr dirty="0" err="1"/>
              <a:t>lớp</a:t>
            </a:r>
            <a:r>
              <a:rPr dirty="0"/>
              <a:t>: </a:t>
            </a:r>
            <a:r>
              <a:rPr dirty="0" err="1"/>
              <a:t>tháng</a:t>
            </a:r>
            <a:r>
              <a:rPr dirty="0"/>
              <a:t> 1 </a:t>
            </a:r>
            <a:r>
              <a:rPr dirty="0" err="1"/>
              <a:t>tăng</a:t>
            </a:r>
            <a:r>
              <a:rPr dirty="0"/>
              <a:t> </a:t>
            </a:r>
            <a:r>
              <a:rPr dirty="0" err="1"/>
              <a:t>gần</a:t>
            </a:r>
            <a:r>
              <a:rPr dirty="0"/>
              <a:t> 43% so </a:t>
            </a:r>
            <a:r>
              <a:rPr dirty="0" err="1"/>
              <a:t>với</a:t>
            </a:r>
            <a:r>
              <a:rPr dirty="0"/>
              <a:t> </a:t>
            </a:r>
            <a:r>
              <a:rPr dirty="0" err="1"/>
              <a:t>năm</a:t>
            </a:r>
            <a:r>
              <a:rPr dirty="0"/>
              <a:t> </a:t>
            </a:r>
            <a:r>
              <a:rPr dirty="0" err="1"/>
              <a:t>ngoái</a:t>
            </a:r>
            <a:r>
              <a:rPr dirty="0"/>
              <a:t>, </a:t>
            </a:r>
            <a:r>
              <a:rPr dirty="0" err="1"/>
              <a:t>có</a:t>
            </a:r>
            <a:r>
              <a:rPr dirty="0"/>
              <a:t> </a:t>
            </a:r>
            <a:r>
              <a:rPr dirty="0" err="1"/>
              <a:t>đáng</a:t>
            </a:r>
            <a:r>
              <a:rPr dirty="0"/>
              <a:t> </a:t>
            </a:r>
            <a:r>
              <a:rPr dirty="0" err="1"/>
              <a:t>mở</a:t>
            </a:r>
            <a:r>
              <a:rPr dirty="0"/>
              <a:t> </a:t>
            </a:r>
            <a:r>
              <a:rPr dirty="0" err="1"/>
              <a:t>tiệc</a:t>
            </a:r>
            <a:r>
              <a:rPr dirty="0"/>
              <a:t> </a:t>
            </a:r>
            <a:r>
              <a:rPr dirty="0" err="1"/>
              <a:t>không</a:t>
            </a:r>
            <a:r>
              <a:rPr dirty="0"/>
              <a:t>? (→ </a:t>
            </a:r>
            <a:r>
              <a:rPr dirty="0" err="1"/>
              <a:t>chờ</a:t>
            </a:r>
            <a:r>
              <a:rPr dirty="0"/>
              <a:t>) </a:t>
            </a:r>
            <a:r>
              <a:rPr dirty="0" err="1"/>
              <a:t>Cũng</a:t>
            </a:r>
            <a:r>
              <a:rPr dirty="0"/>
              <a:t> </a:t>
            </a:r>
            <a:r>
              <a:rPr dirty="0" err="1"/>
              <a:t>là</a:t>
            </a:r>
            <a:r>
              <a:rPr dirty="0"/>
              <a:t> </a:t>
            </a:r>
            <a:r>
              <a:rPr dirty="0" err="1"/>
              <a:t>Tết</a:t>
            </a:r>
            <a:r>
              <a:rPr dirty="0"/>
              <a:t>: </a:t>
            </a:r>
            <a:r>
              <a:rPr dirty="0" err="1"/>
              <a:t>tháng</a:t>
            </a:r>
            <a:r>
              <a:rPr dirty="0"/>
              <a:t> 1 </a:t>
            </a:r>
            <a:r>
              <a:rPr dirty="0" err="1"/>
              <a:t>năm</a:t>
            </a:r>
            <a:r>
              <a:rPr dirty="0"/>
              <a:t> nay </a:t>
            </a:r>
            <a:r>
              <a:rPr dirty="0" err="1"/>
              <a:t>có</a:t>
            </a:r>
            <a:r>
              <a:rPr dirty="0"/>
              <a:t> </a:t>
            </a:r>
            <a:r>
              <a:rPr dirty="0" err="1"/>
              <a:t>Tết</a:t>
            </a:r>
            <a:r>
              <a:rPr dirty="0"/>
              <a:t>, </a:t>
            </a:r>
            <a:r>
              <a:rPr dirty="0" err="1"/>
              <a:t>tháng</a:t>
            </a:r>
            <a:r>
              <a:rPr dirty="0"/>
              <a:t> 1 </a:t>
            </a:r>
            <a:r>
              <a:rPr dirty="0" err="1"/>
              <a:t>năm</a:t>
            </a:r>
            <a:r>
              <a:rPr dirty="0"/>
              <a:t> </a:t>
            </a:r>
            <a:r>
              <a:rPr dirty="0" err="1"/>
              <a:t>ngoái</a:t>
            </a:r>
            <a:r>
              <a:rPr dirty="0"/>
              <a:t> </a:t>
            </a:r>
            <a:r>
              <a:rPr dirty="0" err="1"/>
              <a:t>thì</a:t>
            </a:r>
            <a:r>
              <a:rPr dirty="0"/>
              <a:t> </a:t>
            </a:r>
            <a:r>
              <a:rPr dirty="0" err="1"/>
              <a:t>không</a:t>
            </a:r>
            <a:r>
              <a:rPr dirty="0"/>
              <a:t>. So </a:t>
            </a:r>
            <a:r>
              <a:rPr dirty="0" err="1"/>
              <a:t>tháng</a:t>
            </a:r>
            <a:r>
              <a:rPr dirty="0"/>
              <a:t> 1 </a:t>
            </a:r>
            <a:r>
              <a:rPr dirty="0" err="1"/>
              <a:t>với</a:t>
            </a:r>
            <a:r>
              <a:rPr dirty="0"/>
              <a:t> </a:t>
            </a:r>
            <a:r>
              <a:rPr dirty="0" err="1"/>
              <a:t>tháng</a:t>
            </a:r>
            <a:r>
              <a:rPr dirty="0"/>
              <a:t> 1 </a:t>
            </a:r>
            <a:r>
              <a:rPr dirty="0" err="1"/>
              <a:t>là</a:t>
            </a:r>
            <a:r>
              <a:rPr dirty="0"/>
              <a:t> so </a:t>
            </a:r>
            <a:r>
              <a:rPr dirty="0" err="1"/>
              <a:t>hai</a:t>
            </a:r>
            <a:r>
              <a:rPr dirty="0"/>
              <a:t> </a:t>
            </a:r>
            <a:r>
              <a:rPr dirty="0" err="1"/>
              <a:t>thứ</a:t>
            </a:r>
            <a:r>
              <a:rPr dirty="0"/>
              <a:t> </a:t>
            </a:r>
            <a:r>
              <a:rPr dirty="0" err="1"/>
              <a:t>khác</a:t>
            </a:r>
            <a:r>
              <a:rPr dirty="0"/>
              <a:t> </a:t>
            </a:r>
            <a:r>
              <a:rPr dirty="0" err="1"/>
              <a:t>nhau</a:t>
            </a:r>
            <a:r>
              <a:rPr dirty="0"/>
              <a:t>. </a:t>
            </a:r>
            <a:r>
              <a:rPr dirty="0" err="1"/>
              <a:t>Gộp</a:t>
            </a:r>
            <a:r>
              <a:rPr dirty="0"/>
              <a:t> </a:t>
            </a:r>
            <a:r>
              <a:rPr dirty="0" err="1"/>
              <a:t>lũy</a:t>
            </a:r>
            <a:r>
              <a:rPr dirty="0"/>
              <a:t> </a:t>
            </a:r>
            <a:r>
              <a:rPr dirty="0" err="1"/>
              <a:t>kế</a:t>
            </a:r>
            <a:r>
              <a:rPr dirty="0"/>
              <a:t> </a:t>
            </a:r>
            <a:r>
              <a:rPr dirty="0" err="1"/>
              <a:t>tới</a:t>
            </a:r>
            <a:r>
              <a:rPr dirty="0"/>
              <a:t> </a:t>
            </a:r>
            <a:r>
              <a:rPr dirty="0" err="1"/>
              <a:t>tháng</a:t>
            </a:r>
            <a:r>
              <a:rPr dirty="0"/>
              <a:t> 4 </a:t>
            </a:r>
            <a:r>
              <a:rPr dirty="0" err="1"/>
              <a:t>cho</a:t>
            </a:r>
            <a:r>
              <a:rPr dirty="0"/>
              <a:t> </a:t>
            </a:r>
            <a:r>
              <a:rPr dirty="0" err="1"/>
              <a:t>bức</a:t>
            </a:r>
            <a:r>
              <a:rPr dirty="0"/>
              <a:t> </a:t>
            </a:r>
            <a:r>
              <a:rPr dirty="0" err="1"/>
              <a:t>tranh</a:t>
            </a:r>
            <a:r>
              <a:rPr dirty="0"/>
              <a:t> </a:t>
            </a:r>
            <a:r>
              <a:rPr dirty="0" err="1"/>
              <a:t>công</a:t>
            </a:r>
            <a:r>
              <a:rPr dirty="0"/>
              <a:t> </a:t>
            </a:r>
            <a:r>
              <a:rPr dirty="0" err="1"/>
              <a:t>bằng</a:t>
            </a:r>
            <a:r>
              <a:rPr dirty="0"/>
              <a:t> </a:t>
            </a:r>
            <a:r>
              <a:rPr dirty="0" err="1"/>
              <a:t>hơn</a:t>
            </a:r>
            <a:r>
              <a:rPr dirty="0"/>
              <a:t>: </a:t>
            </a:r>
            <a:r>
              <a:rPr dirty="0" err="1"/>
              <a:t>tăng</a:t>
            </a:r>
            <a:r>
              <a:rPr dirty="0"/>
              <a:t> 21%.</a:t>
            </a:r>
          </a:p>
          <a:p>
            <a:r>
              <a:rPr dirty="0" err="1"/>
              <a:t>Kéo</a:t>
            </a:r>
            <a:r>
              <a:rPr dirty="0"/>
              <a:t> </a:t>
            </a:r>
            <a:r>
              <a:rPr dirty="0" err="1"/>
              <a:t>xuống</a:t>
            </a:r>
            <a:r>
              <a:rPr dirty="0"/>
              <a:t> </a:t>
            </a:r>
            <a:r>
              <a:rPr dirty="0" err="1"/>
              <a:t>tháng</a:t>
            </a:r>
            <a:r>
              <a:rPr dirty="0"/>
              <a:t> 5: YoY </a:t>
            </a:r>
            <a:r>
              <a:rPr dirty="0" err="1"/>
              <a:t>âm</a:t>
            </a:r>
            <a:r>
              <a:rPr dirty="0"/>
              <a:t> 100%. </a:t>
            </a:r>
            <a:r>
              <a:rPr dirty="0" err="1"/>
              <a:t>Cùng</a:t>
            </a:r>
            <a:r>
              <a:rPr dirty="0"/>
              <a:t> </a:t>
            </a:r>
            <a:r>
              <a:rPr dirty="0" err="1"/>
              <a:t>cái</a:t>
            </a:r>
            <a:r>
              <a:rPr dirty="0"/>
              <a:t> </a:t>
            </a:r>
            <a:r>
              <a:rPr dirty="0" err="1"/>
              <a:t>bẫy</a:t>
            </a:r>
            <a:r>
              <a:rPr dirty="0"/>
              <a:t> </a:t>
            </a:r>
            <a:r>
              <a:rPr dirty="0" err="1"/>
              <a:t>với</a:t>
            </a:r>
            <a:r>
              <a:rPr dirty="0"/>
              <a:t> Variance, </a:t>
            </a:r>
            <a:r>
              <a:rPr dirty="0" err="1"/>
              <a:t>chưa</a:t>
            </a:r>
            <a:r>
              <a:rPr dirty="0"/>
              <a:t> </a:t>
            </a:r>
            <a:r>
              <a:rPr dirty="0" err="1"/>
              <a:t>có</a:t>
            </a:r>
            <a:r>
              <a:rPr dirty="0"/>
              <a:t> </a:t>
            </a:r>
            <a:r>
              <a:rPr dirty="0" err="1"/>
              <a:t>doanh</a:t>
            </a:r>
            <a:r>
              <a:rPr dirty="0"/>
              <a:t> </a:t>
            </a:r>
            <a:r>
              <a:rPr dirty="0" err="1"/>
              <a:t>thu</a:t>
            </a:r>
            <a:r>
              <a:rPr dirty="0"/>
              <a:t>, </a:t>
            </a:r>
            <a:r>
              <a:rPr dirty="0" err="1"/>
              <a:t>trừ</a:t>
            </a:r>
            <a:r>
              <a:rPr dirty="0"/>
              <a:t> </a:t>
            </a:r>
            <a:r>
              <a:rPr dirty="0" err="1"/>
              <a:t>năm</a:t>
            </a:r>
            <a:r>
              <a:rPr dirty="0"/>
              <a:t> </a:t>
            </a:r>
            <a:r>
              <a:rPr dirty="0" err="1"/>
              <a:t>ngoái</a:t>
            </a:r>
            <a:r>
              <a:rPr dirty="0"/>
              <a:t> </a:t>
            </a:r>
            <a:r>
              <a:rPr dirty="0" err="1"/>
              <a:t>thì</a:t>
            </a:r>
            <a:r>
              <a:rPr dirty="0"/>
              <a:t> </a:t>
            </a:r>
            <a:r>
              <a:rPr dirty="0" err="1"/>
              <a:t>ra</a:t>
            </a:r>
            <a:r>
              <a:rPr dirty="0"/>
              <a:t> </a:t>
            </a:r>
            <a:r>
              <a:rPr dirty="0" err="1"/>
              <a:t>âm</a:t>
            </a:r>
            <a:r>
              <a:rPr dirty="0"/>
              <a:t> </a:t>
            </a:r>
            <a:r>
              <a:rPr dirty="0" err="1"/>
              <a:t>hết</a:t>
            </a:r>
            <a:r>
              <a:rPr dirty="0"/>
              <a:t>. (→ Edit Revenue YoY %: =IF(ISBLANK([Total Revenue]), BLANK(), DIVIDE([Total Revenue]-[Revenue LY],[Revenue LY])) → OK; Row Labels </a:t>
            </a:r>
            <a:r>
              <a:rPr dirty="0" err="1"/>
              <a:t>lọc</a:t>
            </a:r>
            <a:r>
              <a:rPr dirty="0"/>
              <a:t> </a:t>
            </a:r>
            <a:r>
              <a:rPr dirty="0" err="1"/>
              <a:t>tháng</a:t>
            </a:r>
            <a:r>
              <a:rPr dirty="0"/>
              <a:t> 1–4) </a:t>
            </a:r>
            <a:r>
              <a:rPr dirty="0" err="1"/>
              <a:t>Chặn</a:t>
            </a:r>
            <a:r>
              <a:rPr dirty="0"/>
              <a:t> ô </a:t>
            </a:r>
            <a:r>
              <a:rPr dirty="0" err="1"/>
              <a:t>trống</a:t>
            </a:r>
            <a:r>
              <a:rPr dirty="0"/>
              <a:t>, </a:t>
            </a:r>
            <a:r>
              <a:rPr dirty="0" err="1"/>
              <a:t>rồi</a:t>
            </a:r>
            <a:r>
              <a:rPr dirty="0"/>
              <a:t> </a:t>
            </a:r>
            <a:r>
              <a:rPr dirty="0" err="1"/>
              <a:t>lọc</a:t>
            </a:r>
            <a:r>
              <a:rPr dirty="0"/>
              <a:t> </a:t>
            </a:r>
            <a:r>
              <a:rPr dirty="0" err="1"/>
              <a:t>bảng</a:t>
            </a:r>
            <a:r>
              <a:rPr dirty="0"/>
              <a:t> </a:t>
            </a:r>
            <a:r>
              <a:rPr dirty="0" err="1"/>
              <a:t>về</a:t>
            </a:r>
            <a:r>
              <a:rPr dirty="0"/>
              <a:t> </a:t>
            </a:r>
            <a:r>
              <a:rPr dirty="0" err="1"/>
              <a:t>bốn</a:t>
            </a:r>
            <a:r>
              <a:rPr dirty="0"/>
              <a:t> </a:t>
            </a:r>
            <a:r>
              <a:rPr dirty="0" err="1"/>
              <a:t>tháng</a:t>
            </a:r>
            <a:r>
              <a:rPr dirty="0"/>
              <a:t> </a:t>
            </a:r>
            <a:r>
              <a:rPr dirty="0" err="1"/>
              <a:t>có</a:t>
            </a:r>
            <a:r>
              <a:rPr dirty="0"/>
              <a:t> </a:t>
            </a:r>
            <a:r>
              <a:rPr dirty="0" err="1"/>
              <a:t>dữ</a:t>
            </a:r>
            <a:r>
              <a:rPr dirty="0"/>
              <a:t> </a:t>
            </a:r>
            <a:r>
              <a:rPr dirty="0" err="1"/>
              <a:t>liệu</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6,5 </a:t>
            </a:r>
            <a:r>
              <a:rPr dirty="0" err="1"/>
              <a:t>phút</a:t>
            </a:r>
            <a:r>
              <a:rPr dirty="0"/>
              <a:t>.</a:t>
            </a:r>
          </a:p>
          <a:p>
            <a:r>
              <a:rPr dirty="0"/>
              <a:t>LỜI GIẢNG</a:t>
            </a:r>
          </a:p>
          <a:p>
            <a:r>
              <a:rPr dirty="0"/>
              <a:t>(→ </a:t>
            </a:r>
            <a:r>
              <a:rPr dirty="0" err="1"/>
              <a:t>trên</a:t>
            </a:r>
            <a:r>
              <a:rPr dirty="0"/>
              <a:t> </a:t>
            </a:r>
            <a:r>
              <a:rPr dirty="0" err="1"/>
              <a:t>PV_YoY</a:t>
            </a:r>
            <a:r>
              <a:rPr dirty="0"/>
              <a:t>: Rows </a:t>
            </a:r>
            <a:r>
              <a:rPr dirty="0" err="1"/>
              <a:t>đổi</a:t>
            </a:r>
            <a:r>
              <a:rPr dirty="0"/>
              <a:t> </a:t>
            </a:r>
            <a:r>
              <a:rPr dirty="0" err="1"/>
              <a:t>thành</a:t>
            </a:r>
            <a:r>
              <a:rPr dirty="0"/>
              <a:t> Store → </a:t>
            </a:r>
            <a:r>
              <a:rPr dirty="0" err="1"/>
              <a:t>Store_Code</a:t>
            </a:r>
            <a:r>
              <a:rPr dirty="0"/>
              <a:t>; Filters: Calendar → Thang </a:t>
            </a:r>
            <a:r>
              <a:rPr dirty="0" err="1"/>
              <a:t>chọn</a:t>
            </a:r>
            <a:r>
              <a:rPr dirty="0"/>
              <a:t> 1, 2, 3, 4; Values: Total Revenue, Revenue LY, Revenue YoY %) YoY </a:t>
            </a:r>
            <a:r>
              <a:rPr dirty="0" err="1"/>
              <a:t>bốn</a:t>
            </a:r>
            <a:r>
              <a:rPr dirty="0"/>
              <a:t> </a:t>
            </a:r>
            <a:r>
              <a:rPr dirty="0" err="1"/>
              <a:t>tháng</a:t>
            </a:r>
            <a:r>
              <a:rPr dirty="0"/>
              <a:t> </a:t>
            </a:r>
            <a:r>
              <a:rPr dirty="0" err="1"/>
              <a:t>đầu</a:t>
            </a:r>
            <a:r>
              <a:rPr dirty="0"/>
              <a:t> </a:t>
            </a:r>
            <a:r>
              <a:rPr dirty="0" err="1"/>
              <a:t>năm</a:t>
            </a:r>
            <a:r>
              <a:rPr dirty="0"/>
              <a:t>, </a:t>
            </a:r>
            <a:r>
              <a:rPr dirty="0" err="1"/>
              <a:t>theo</a:t>
            </a:r>
            <a:r>
              <a:rPr dirty="0"/>
              <a:t> </a:t>
            </a:r>
            <a:r>
              <a:rPr dirty="0" err="1"/>
              <a:t>cửa</a:t>
            </a:r>
            <a:r>
              <a:rPr dirty="0"/>
              <a:t> </a:t>
            </a:r>
            <a:r>
              <a:rPr dirty="0" err="1"/>
              <a:t>hàng</a:t>
            </a:r>
            <a:r>
              <a:rPr dirty="0"/>
              <a:t>. ST10 </a:t>
            </a:r>
            <a:r>
              <a:rPr dirty="0" err="1"/>
              <a:t>tăng</a:t>
            </a:r>
            <a:r>
              <a:rPr dirty="0"/>
              <a:t> </a:t>
            </a:r>
            <a:r>
              <a:rPr dirty="0" err="1"/>
              <a:t>mạnh</a:t>
            </a:r>
            <a:r>
              <a:rPr dirty="0"/>
              <a:t> </a:t>
            </a:r>
            <a:r>
              <a:rPr dirty="0" err="1"/>
              <a:t>nhất</a:t>
            </a:r>
            <a:r>
              <a:rPr dirty="0"/>
              <a:t>, </a:t>
            </a:r>
            <a:r>
              <a:rPr dirty="0" err="1"/>
              <a:t>gần</a:t>
            </a:r>
            <a:r>
              <a:rPr dirty="0"/>
              <a:t> 38%. ST07 </a:t>
            </a:r>
            <a:r>
              <a:rPr dirty="0" err="1"/>
              <a:t>giảm</a:t>
            </a:r>
            <a:r>
              <a:rPr dirty="0"/>
              <a:t> 3%, </a:t>
            </a:r>
            <a:r>
              <a:rPr dirty="0" err="1"/>
              <a:t>tháng</a:t>
            </a:r>
            <a:r>
              <a:rPr dirty="0"/>
              <a:t> </a:t>
            </a:r>
            <a:r>
              <a:rPr dirty="0" err="1"/>
              <a:t>cải</a:t>
            </a:r>
            <a:r>
              <a:rPr dirty="0"/>
              <a:t> </a:t>
            </a:r>
            <a:r>
              <a:rPr dirty="0" err="1"/>
              <a:t>tạo</a:t>
            </a:r>
            <a:r>
              <a:rPr dirty="0"/>
              <a:t> </a:t>
            </a:r>
            <a:r>
              <a:rPr dirty="0" err="1"/>
              <a:t>kéo</a:t>
            </a:r>
            <a:r>
              <a:rPr dirty="0"/>
              <a:t> </a:t>
            </a:r>
            <a:r>
              <a:rPr dirty="0" err="1"/>
              <a:t>xuống</a:t>
            </a:r>
            <a:r>
              <a:rPr dirty="0"/>
              <a:t>. </a:t>
            </a:r>
            <a:r>
              <a:rPr dirty="0" err="1"/>
              <a:t>Và</a:t>
            </a:r>
            <a:r>
              <a:rPr dirty="0"/>
              <a:t> ST12: </a:t>
            </a:r>
            <a:r>
              <a:rPr dirty="0" err="1"/>
              <a:t>hai</a:t>
            </a:r>
            <a:r>
              <a:rPr dirty="0"/>
              <a:t> ô </a:t>
            </a:r>
            <a:r>
              <a:rPr dirty="0" err="1"/>
              <a:t>trống</a:t>
            </a:r>
            <a:r>
              <a:rPr dirty="0"/>
              <a:t>.</a:t>
            </a:r>
          </a:p>
          <a:p>
            <a:r>
              <a:rPr dirty="0" err="1"/>
              <a:t>Câu</a:t>
            </a:r>
            <a:r>
              <a:rPr dirty="0"/>
              <a:t> </a:t>
            </a:r>
            <a:r>
              <a:rPr dirty="0" err="1"/>
              <a:t>hỏi</a:t>
            </a:r>
            <a:r>
              <a:rPr dirty="0"/>
              <a:t> </a:t>
            </a:r>
            <a:r>
              <a:rPr dirty="0" err="1"/>
              <a:t>cho</a:t>
            </a:r>
            <a:r>
              <a:rPr dirty="0"/>
              <a:t> </a:t>
            </a:r>
            <a:r>
              <a:rPr dirty="0" err="1"/>
              <a:t>lớp</a:t>
            </a:r>
            <a:r>
              <a:rPr dirty="0"/>
              <a:t>: ST12 </a:t>
            </a:r>
            <a:r>
              <a:rPr dirty="0" err="1"/>
              <a:t>mất</a:t>
            </a:r>
            <a:r>
              <a:rPr dirty="0"/>
              <a:t> </a:t>
            </a:r>
            <a:r>
              <a:rPr dirty="0" err="1"/>
              <a:t>dữ</a:t>
            </a:r>
            <a:r>
              <a:rPr dirty="0"/>
              <a:t> </a:t>
            </a:r>
            <a:r>
              <a:rPr dirty="0" err="1"/>
              <a:t>liệu</a:t>
            </a:r>
            <a:r>
              <a:rPr dirty="0"/>
              <a:t> </a:t>
            </a:r>
            <a:r>
              <a:rPr dirty="0" err="1"/>
              <a:t>năm</a:t>
            </a:r>
            <a:r>
              <a:rPr dirty="0"/>
              <a:t> </a:t>
            </a:r>
            <a:r>
              <a:rPr dirty="0" err="1"/>
              <a:t>ngoái</a:t>
            </a:r>
            <a:r>
              <a:rPr dirty="0"/>
              <a:t> à? (→ </a:t>
            </a:r>
            <a:r>
              <a:rPr dirty="0" err="1"/>
              <a:t>chờ</a:t>
            </a:r>
            <a:r>
              <a:rPr dirty="0"/>
              <a:t>) </a:t>
            </a:r>
            <a:r>
              <a:rPr dirty="0" err="1"/>
              <a:t>Buổi</a:t>
            </a:r>
            <a:r>
              <a:rPr dirty="0"/>
              <a:t> 4 </a:t>
            </a:r>
            <a:r>
              <a:rPr dirty="0" err="1"/>
              <a:t>các</a:t>
            </a:r>
            <a:r>
              <a:rPr dirty="0"/>
              <a:t> </a:t>
            </a:r>
            <a:r>
              <a:rPr dirty="0" err="1"/>
              <a:t>bạn</a:t>
            </a:r>
            <a:r>
              <a:rPr dirty="0"/>
              <a:t> </a:t>
            </a:r>
            <a:r>
              <a:rPr dirty="0" err="1"/>
              <a:t>đã</a:t>
            </a:r>
            <a:r>
              <a:rPr dirty="0"/>
              <a:t> </a:t>
            </a:r>
            <a:r>
              <a:rPr dirty="0" err="1"/>
              <a:t>có</a:t>
            </a:r>
            <a:r>
              <a:rPr dirty="0"/>
              <a:t> </a:t>
            </a:r>
            <a:r>
              <a:rPr dirty="0" err="1"/>
              <a:t>câu</a:t>
            </a:r>
            <a:r>
              <a:rPr dirty="0"/>
              <a:t> </a:t>
            </a:r>
            <a:r>
              <a:rPr dirty="0" err="1"/>
              <a:t>trả</a:t>
            </a:r>
            <a:r>
              <a:rPr dirty="0"/>
              <a:t> </a:t>
            </a:r>
            <a:r>
              <a:rPr dirty="0" err="1"/>
              <a:t>lời</a:t>
            </a:r>
            <a:r>
              <a:rPr dirty="0"/>
              <a:t>: ST12 </a:t>
            </a:r>
            <a:r>
              <a:rPr dirty="0" err="1"/>
              <a:t>khai</a:t>
            </a:r>
            <a:r>
              <a:rPr dirty="0"/>
              <a:t> </a:t>
            </a:r>
            <a:r>
              <a:rPr dirty="0" err="1"/>
              <a:t>trương</a:t>
            </a:r>
            <a:r>
              <a:rPr dirty="0"/>
              <a:t> 01/06/2024. </a:t>
            </a:r>
            <a:r>
              <a:rPr dirty="0" err="1"/>
              <a:t>Bốn</a:t>
            </a:r>
            <a:r>
              <a:rPr dirty="0"/>
              <a:t> </a:t>
            </a:r>
            <a:r>
              <a:rPr dirty="0" err="1"/>
              <a:t>tháng</a:t>
            </a:r>
            <a:r>
              <a:rPr dirty="0"/>
              <a:t> </a:t>
            </a:r>
            <a:r>
              <a:rPr dirty="0" err="1"/>
              <a:t>đầu</a:t>
            </a:r>
            <a:r>
              <a:rPr dirty="0"/>
              <a:t> </a:t>
            </a:r>
            <a:r>
              <a:rPr dirty="0" err="1"/>
              <a:t>năm</a:t>
            </a:r>
            <a:r>
              <a:rPr dirty="0"/>
              <a:t> 2024 </a:t>
            </a:r>
            <a:r>
              <a:rPr dirty="0" err="1"/>
              <a:t>nó</a:t>
            </a:r>
            <a:r>
              <a:rPr dirty="0"/>
              <a:t> </a:t>
            </a:r>
            <a:r>
              <a:rPr dirty="0" err="1"/>
              <a:t>chưa</a:t>
            </a:r>
            <a:r>
              <a:rPr dirty="0"/>
              <a:t> </a:t>
            </a:r>
            <a:r>
              <a:rPr dirty="0" err="1"/>
              <a:t>tồn</a:t>
            </a:r>
            <a:r>
              <a:rPr dirty="0"/>
              <a:t> </a:t>
            </a:r>
            <a:r>
              <a:rPr dirty="0" err="1"/>
              <a:t>tại</a:t>
            </a:r>
            <a:r>
              <a:rPr dirty="0"/>
              <a:t>. Revenue LY </a:t>
            </a:r>
            <a:r>
              <a:rPr dirty="0" err="1"/>
              <a:t>trống</a:t>
            </a:r>
            <a:r>
              <a:rPr dirty="0"/>
              <a:t>, DIVIDE </a:t>
            </a:r>
            <a:r>
              <a:rPr dirty="0" err="1"/>
              <a:t>gặp</a:t>
            </a:r>
            <a:r>
              <a:rPr dirty="0"/>
              <a:t> </a:t>
            </a:r>
            <a:r>
              <a:rPr dirty="0" err="1"/>
              <a:t>mẫu</a:t>
            </a:r>
            <a:r>
              <a:rPr dirty="0"/>
              <a:t> </a:t>
            </a:r>
            <a:r>
              <a:rPr dirty="0" err="1"/>
              <a:t>số</a:t>
            </a:r>
            <a:r>
              <a:rPr dirty="0"/>
              <a:t> </a:t>
            </a:r>
            <a:r>
              <a:rPr dirty="0" err="1"/>
              <a:t>trống</a:t>
            </a:r>
            <a:r>
              <a:rPr dirty="0"/>
              <a:t> </a:t>
            </a:r>
            <a:r>
              <a:rPr dirty="0" err="1"/>
              <a:t>thì</a:t>
            </a:r>
            <a:r>
              <a:rPr dirty="0"/>
              <a:t> </a:t>
            </a:r>
            <a:r>
              <a:rPr dirty="0" err="1"/>
              <a:t>trả</a:t>
            </a:r>
            <a:r>
              <a:rPr dirty="0"/>
              <a:t> </a:t>
            </a:r>
            <a:r>
              <a:rPr dirty="0" err="1"/>
              <a:t>về</a:t>
            </a:r>
            <a:r>
              <a:rPr dirty="0"/>
              <a:t> </a:t>
            </a:r>
            <a:r>
              <a:rPr dirty="0" err="1"/>
              <a:t>trống</a:t>
            </a:r>
            <a:r>
              <a:rPr dirty="0"/>
              <a:t>, </a:t>
            </a:r>
            <a:r>
              <a:rPr dirty="0" err="1"/>
              <a:t>không</a:t>
            </a:r>
            <a:r>
              <a:rPr dirty="0"/>
              <a:t> </a:t>
            </a:r>
            <a:r>
              <a:rPr dirty="0" err="1"/>
              <a:t>phải</a:t>
            </a:r>
            <a:r>
              <a:rPr dirty="0"/>
              <a:t> </a:t>
            </a:r>
            <a:r>
              <a:rPr dirty="0" err="1"/>
              <a:t>lỗi</a:t>
            </a:r>
            <a:r>
              <a:rPr dirty="0"/>
              <a:t>, </a:t>
            </a:r>
            <a:r>
              <a:rPr dirty="0" err="1"/>
              <a:t>mà</a:t>
            </a:r>
            <a:r>
              <a:rPr dirty="0"/>
              <a:t> </a:t>
            </a:r>
            <a:r>
              <a:rPr dirty="0" err="1"/>
              <a:t>là</a:t>
            </a:r>
            <a:r>
              <a:rPr dirty="0"/>
              <a:t> </a:t>
            </a:r>
            <a:r>
              <a:rPr dirty="0" err="1"/>
              <a:t>sự</a:t>
            </a:r>
            <a:r>
              <a:rPr dirty="0"/>
              <a:t> </a:t>
            </a:r>
            <a:r>
              <a:rPr dirty="0" err="1"/>
              <a:t>thật</a:t>
            </a:r>
            <a:r>
              <a:rPr dirty="0"/>
              <a:t>.</a:t>
            </a:r>
          </a:p>
          <a:p>
            <a:r>
              <a:rPr dirty="0" err="1"/>
              <a:t>Nhưng</a:t>
            </a:r>
            <a:r>
              <a:rPr dirty="0"/>
              <a:t> </a:t>
            </a:r>
            <a:r>
              <a:rPr dirty="0" err="1"/>
              <a:t>chuyện</a:t>
            </a:r>
            <a:r>
              <a:rPr dirty="0"/>
              <a:t> </a:t>
            </a:r>
            <a:r>
              <a:rPr dirty="0" err="1"/>
              <a:t>chưa</a:t>
            </a:r>
            <a:r>
              <a:rPr dirty="0"/>
              <a:t> </a:t>
            </a:r>
            <a:r>
              <a:rPr dirty="0" err="1"/>
              <a:t>hết</a:t>
            </a:r>
            <a:r>
              <a:rPr dirty="0"/>
              <a:t>. </a:t>
            </a:r>
            <a:r>
              <a:rPr dirty="0" err="1"/>
              <a:t>Dòng</a:t>
            </a:r>
            <a:r>
              <a:rPr dirty="0"/>
              <a:t> </a:t>
            </a:r>
            <a:r>
              <a:rPr dirty="0" err="1"/>
              <a:t>tổng</a:t>
            </a:r>
            <a:r>
              <a:rPr dirty="0"/>
              <a:t> </a:t>
            </a:r>
            <a:r>
              <a:rPr dirty="0" err="1"/>
              <a:t>ghi</a:t>
            </a:r>
            <a:r>
              <a:rPr dirty="0"/>
              <a:t> </a:t>
            </a:r>
            <a:r>
              <a:rPr dirty="0" err="1"/>
              <a:t>tăng</a:t>
            </a:r>
            <a:r>
              <a:rPr dirty="0"/>
              <a:t> 21%. Trong </a:t>
            </a:r>
            <a:r>
              <a:rPr dirty="0" err="1"/>
              <a:t>đó</a:t>
            </a:r>
            <a:r>
              <a:rPr dirty="0"/>
              <a:t> </a:t>
            </a:r>
            <a:r>
              <a:rPr dirty="0" err="1"/>
              <a:t>có</a:t>
            </a:r>
            <a:r>
              <a:rPr dirty="0"/>
              <a:t> 79 </a:t>
            </a:r>
            <a:r>
              <a:rPr dirty="0" err="1"/>
              <a:t>triệu</a:t>
            </a:r>
            <a:r>
              <a:rPr dirty="0"/>
              <a:t> </a:t>
            </a:r>
            <a:r>
              <a:rPr dirty="0" err="1"/>
              <a:t>của</a:t>
            </a:r>
            <a:r>
              <a:rPr dirty="0"/>
              <a:t> ST12, </a:t>
            </a:r>
            <a:r>
              <a:rPr dirty="0" err="1"/>
              <a:t>doanh</a:t>
            </a:r>
            <a:r>
              <a:rPr dirty="0"/>
              <a:t> </a:t>
            </a:r>
            <a:r>
              <a:rPr dirty="0" err="1"/>
              <a:t>thu</a:t>
            </a:r>
            <a:r>
              <a:rPr dirty="0"/>
              <a:t> </a:t>
            </a:r>
            <a:r>
              <a:rPr dirty="0" err="1"/>
              <a:t>năm</a:t>
            </a:r>
            <a:r>
              <a:rPr dirty="0"/>
              <a:t> nay </a:t>
            </a:r>
            <a:r>
              <a:rPr dirty="0" err="1"/>
              <a:t>không</a:t>
            </a:r>
            <a:r>
              <a:rPr dirty="0"/>
              <a:t> </a:t>
            </a:r>
            <a:r>
              <a:rPr dirty="0" err="1"/>
              <a:t>có</a:t>
            </a:r>
            <a:r>
              <a:rPr dirty="0"/>
              <a:t> </a:t>
            </a:r>
            <a:r>
              <a:rPr dirty="0" err="1"/>
              <a:t>kỳ</a:t>
            </a:r>
            <a:r>
              <a:rPr dirty="0"/>
              <a:t> </a:t>
            </a:r>
            <a:r>
              <a:rPr dirty="0" err="1"/>
              <a:t>gốc</a:t>
            </a:r>
            <a:r>
              <a:rPr dirty="0"/>
              <a:t>. </a:t>
            </a:r>
            <a:r>
              <a:rPr dirty="0" err="1"/>
              <a:t>Cộng</a:t>
            </a:r>
            <a:r>
              <a:rPr dirty="0"/>
              <a:t> </a:t>
            </a:r>
            <a:r>
              <a:rPr dirty="0" err="1"/>
              <a:t>nó</a:t>
            </a:r>
            <a:r>
              <a:rPr dirty="0"/>
              <a:t> </a:t>
            </a:r>
            <a:r>
              <a:rPr dirty="0" err="1"/>
              <a:t>vào</a:t>
            </a:r>
            <a:r>
              <a:rPr dirty="0"/>
              <a:t> </a:t>
            </a:r>
            <a:r>
              <a:rPr dirty="0" err="1"/>
              <a:t>là</a:t>
            </a:r>
            <a:r>
              <a:rPr dirty="0"/>
              <a:t> so </a:t>
            </a:r>
            <a:r>
              <a:rPr dirty="0" err="1"/>
              <a:t>một</a:t>
            </a:r>
            <a:r>
              <a:rPr dirty="0"/>
              <a:t> </a:t>
            </a:r>
            <a:r>
              <a:rPr dirty="0" err="1"/>
              <a:t>chuỗi</a:t>
            </a:r>
            <a:r>
              <a:rPr dirty="0"/>
              <a:t> </a:t>
            </a:r>
            <a:r>
              <a:rPr dirty="0" err="1"/>
              <a:t>mười</a:t>
            </a:r>
            <a:r>
              <a:rPr dirty="0"/>
              <a:t> </a:t>
            </a:r>
            <a:r>
              <a:rPr dirty="0" err="1"/>
              <a:t>hai</a:t>
            </a:r>
            <a:r>
              <a:rPr dirty="0"/>
              <a:t> </a:t>
            </a:r>
            <a:r>
              <a:rPr dirty="0" err="1"/>
              <a:t>cửa</a:t>
            </a:r>
            <a:r>
              <a:rPr dirty="0"/>
              <a:t> </a:t>
            </a:r>
            <a:r>
              <a:rPr dirty="0" err="1"/>
              <a:t>hàng</a:t>
            </a:r>
            <a:r>
              <a:rPr dirty="0"/>
              <a:t> </a:t>
            </a:r>
            <a:r>
              <a:rPr dirty="0" err="1"/>
              <a:t>với</a:t>
            </a:r>
            <a:r>
              <a:rPr dirty="0"/>
              <a:t> </a:t>
            </a:r>
            <a:r>
              <a:rPr dirty="0" err="1"/>
              <a:t>một</a:t>
            </a:r>
            <a:r>
              <a:rPr dirty="0"/>
              <a:t> </a:t>
            </a:r>
            <a:r>
              <a:rPr dirty="0" err="1"/>
              <a:t>chuỗi</a:t>
            </a:r>
            <a:r>
              <a:rPr dirty="0"/>
              <a:t> </a:t>
            </a:r>
            <a:r>
              <a:rPr dirty="0" err="1"/>
              <a:t>mười</a:t>
            </a:r>
            <a:r>
              <a:rPr dirty="0"/>
              <a:t> </a:t>
            </a:r>
            <a:r>
              <a:rPr dirty="0" err="1"/>
              <a:t>một</a:t>
            </a:r>
            <a:r>
              <a:rPr dirty="0"/>
              <a:t> </a:t>
            </a:r>
            <a:r>
              <a:rPr dirty="0" err="1"/>
              <a:t>cửa</a:t>
            </a:r>
            <a:r>
              <a:rPr dirty="0"/>
              <a:t> </a:t>
            </a:r>
            <a:r>
              <a:rPr dirty="0" err="1"/>
              <a:t>hàng</a:t>
            </a:r>
            <a:r>
              <a:rPr dirty="0"/>
              <a:t>. (→ </a:t>
            </a:r>
            <a:r>
              <a:rPr dirty="0" err="1"/>
              <a:t>bấm</a:t>
            </a:r>
            <a:r>
              <a:rPr dirty="0"/>
              <a:t> </a:t>
            </a:r>
            <a:r>
              <a:rPr dirty="0" err="1"/>
              <a:t>nút</a:t>
            </a:r>
            <a:r>
              <a:rPr dirty="0"/>
              <a:t> </a:t>
            </a:r>
            <a:r>
              <a:rPr dirty="0" err="1"/>
              <a:t>lọc</a:t>
            </a:r>
            <a:r>
              <a:rPr dirty="0"/>
              <a:t> ở ô </a:t>
            </a:r>
            <a:r>
              <a:rPr dirty="0" err="1"/>
              <a:t>Store_Code</a:t>
            </a:r>
            <a:r>
              <a:rPr dirty="0"/>
              <a:t> (Row Labels) </a:t>
            </a:r>
            <a:r>
              <a:rPr dirty="0" err="1"/>
              <a:t>của</a:t>
            </a:r>
            <a:r>
              <a:rPr dirty="0"/>
              <a:t> Pivot, </a:t>
            </a:r>
            <a:r>
              <a:rPr dirty="0" err="1"/>
              <a:t>bỏ</a:t>
            </a:r>
            <a:r>
              <a:rPr dirty="0"/>
              <a:t> tick ST12 → OK; </a:t>
            </a:r>
            <a:r>
              <a:rPr dirty="0" err="1"/>
              <a:t>đọc</a:t>
            </a:r>
            <a:r>
              <a:rPr dirty="0"/>
              <a:t> </a:t>
            </a:r>
            <a:r>
              <a:rPr dirty="0" err="1"/>
              <a:t>dòng</a:t>
            </a:r>
            <a:r>
              <a:rPr dirty="0"/>
              <a:t> Grand Total) So like-for-like, </a:t>
            </a:r>
            <a:r>
              <a:rPr dirty="0" err="1"/>
              <a:t>chỉ</a:t>
            </a:r>
            <a:r>
              <a:rPr dirty="0"/>
              <a:t> </a:t>
            </a:r>
            <a:r>
              <a:rPr dirty="0" err="1"/>
              <a:t>các</a:t>
            </a:r>
            <a:r>
              <a:rPr dirty="0"/>
              <a:t> </a:t>
            </a:r>
            <a:r>
              <a:rPr dirty="0" err="1"/>
              <a:t>cửa</a:t>
            </a:r>
            <a:r>
              <a:rPr dirty="0"/>
              <a:t> </a:t>
            </a:r>
            <a:r>
              <a:rPr dirty="0" err="1"/>
              <a:t>hàng</a:t>
            </a:r>
            <a:r>
              <a:rPr dirty="0"/>
              <a:t> </a:t>
            </a:r>
            <a:r>
              <a:rPr dirty="0" err="1"/>
              <a:t>có</a:t>
            </a:r>
            <a:r>
              <a:rPr dirty="0"/>
              <a:t> </a:t>
            </a:r>
            <a:r>
              <a:rPr dirty="0" err="1"/>
              <a:t>đủ</a:t>
            </a:r>
            <a:r>
              <a:rPr dirty="0"/>
              <a:t> </a:t>
            </a:r>
            <a:r>
              <a:rPr dirty="0" err="1"/>
              <a:t>hai</a:t>
            </a:r>
            <a:r>
              <a:rPr dirty="0"/>
              <a:t> </a:t>
            </a:r>
            <a:r>
              <a:rPr dirty="0" err="1"/>
              <a:t>kỳ</a:t>
            </a:r>
            <a:r>
              <a:rPr dirty="0"/>
              <a:t>: </a:t>
            </a:r>
            <a:r>
              <a:rPr dirty="0" err="1"/>
              <a:t>tăng</a:t>
            </a:r>
            <a:r>
              <a:rPr dirty="0"/>
              <a:t> 13,3%. </a:t>
            </a:r>
            <a:r>
              <a:rPr dirty="0" err="1"/>
              <a:t>Khác</a:t>
            </a:r>
            <a:r>
              <a:rPr dirty="0"/>
              <a:t> 21% </a:t>
            </a:r>
            <a:r>
              <a:rPr dirty="0" err="1"/>
              <a:t>rất</a:t>
            </a:r>
            <a:r>
              <a:rPr dirty="0"/>
              <a:t> </a:t>
            </a:r>
            <a:r>
              <a:rPr dirty="0" err="1"/>
              <a:t>nhiều</a:t>
            </a:r>
            <a:r>
              <a:rPr dirty="0"/>
              <a:t>.</a:t>
            </a:r>
          </a:p>
          <a:p>
            <a:r>
              <a:rPr dirty="0" err="1"/>
              <a:t>Đây</a:t>
            </a:r>
            <a:r>
              <a:rPr dirty="0"/>
              <a:t> </a:t>
            </a:r>
            <a:r>
              <a:rPr dirty="0" err="1"/>
              <a:t>là</a:t>
            </a:r>
            <a:r>
              <a:rPr dirty="0"/>
              <a:t> </a:t>
            </a:r>
            <a:r>
              <a:rPr dirty="0" err="1"/>
              <a:t>kỹ</a:t>
            </a:r>
            <a:r>
              <a:rPr dirty="0"/>
              <a:t> </a:t>
            </a:r>
            <a:r>
              <a:rPr dirty="0" err="1"/>
              <a:t>năng</a:t>
            </a:r>
            <a:r>
              <a:rPr dirty="0"/>
              <a:t> D2: </a:t>
            </a:r>
            <a:r>
              <a:rPr dirty="0" err="1"/>
              <a:t>thấy</a:t>
            </a:r>
            <a:r>
              <a:rPr dirty="0"/>
              <a:t> ô </a:t>
            </a:r>
            <a:r>
              <a:rPr dirty="0" err="1"/>
              <a:t>trống</a:t>
            </a:r>
            <a:r>
              <a:rPr dirty="0"/>
              <a:t>, </a:t>
            </a:r>
            <a:r>
              <a:rPr dirty="0" err="1"/>
              <a:t>hỏi</a:t>
            </a:r>
            <a:r>
              <a:rPr dirty="0"/>
              <a:t> </a:t>
            </a:r>
            <a:r>
              <a:rPr dirty="0" err="1"/>
              <a:t>vì</a:t>
            </a:r>
            <a:r>
              <a:rPr dirty="0"/>
              <a:t> </a:t>
            </a:r>
            <a:r>
              <a:rPr dirty="0" err="1"/>
              <a:t>sao</a:t>
            </a:r>
            <a:r>
              <a:rPr dirty="0"/>
              <a:t> </a:t>
            </a:r>
            <a:r>
              <a:rPr dirty="0" err="1"/>
              <a:t>trước</a:t>
            </a:r>
            <a:r>
              <a:rPr dirty="0"/>
              <a:t> </a:t>
            </a:r>
            <a:r>
              <a:rPr dirty="0" err="1"/>
              <a:t>khi</a:t>
            </a:r>
            <a:r>
              <a:rPr dirty="0"/>
              <a:t> </a:t>
            </a:r>
            <a:r>
              <a:rPr dirty="0" err="1"/>
              <a:t>kết</a:t>
            </a:r>
            <a:r>
              <a:rPr dirty="0"/>
              <a:t> </a:t>
            </a:r>
            <a:r>
              <a:rPr dirty="0" err="1"/>
              <a:t>luận</a:t>
            </a:r>
            <a:r>
              <a:rPr dirty="0"/>
              <a:t>; </a:t>
            </a:r>
            <a:r>
              <a:rPr dirty="0" err="1"/>
              <a:t>thấy</a:t>
            </a:r>
            <a:r>
              <a:rPr dirty="0"/>
              <a:t> </a:t>
            </a:r>
            <a:r>
              <a:rPr dirty="0" err="1"/>
              <a:t>tổng</a:t>
            </a:r>
            <a:r>
              <a:rPr dirty="0"/>
              <a:t> </a:t>
            </a:r>
            <a:r>
              <a:rPr dirty="0" err="1"/>
              <a:t>đẹp</a:t>
            </a:r>
            <a:r>
              <a:rPr dirty="0"/>
              <a:t>, </a:t>
            </a:r>
            <a:r>
              <a:rPr dirty="0" err="1"/>
              <a:t>hỏi</a:t>
            </a:r>
            <a:r>
              <a:rPr dirty="0"/>
              <a:t> </a:t>
            </a:r>
            <a:r>
              <a:rPr dirty="0" err="1"/>
              <a:t>tổng</a:t>
            </a:r>
            <a:r>
              <a:rPr dirty="0"/>
              <a:t> </a:t>
            </a:r>
            <a:r>
              <a:rPr dirty="0" err="1"/>
              <a:t>đó</a:t>
            </a:r>
            <a:r>
              <a:rPr dirty="0"/>
              <a:t> </a:t>
            </a:r>
            <a:r>
              <a:rPr dirty="0" err="1"/>
              <a:t>gồm</a:t>
            </a:r>
            <a:r>
              <a:rPr dirty="0"/>
              <a:t> </a:t>
            </a:r>
            <a:r>
              <a:rPr dirty="0" err="1"/>
              <a:t>những</a:t>
            </a:r>
            <a:r>
              <a:rPr dirty="0"/>
              <a:t> </a:t>
            </a:r>
            <a:r>
              <a:rPr dirty="0" err="1"/>
              <a:t>gì</a:t>
            </a:r>
            <a:r>
              <a:rPr dirty="0"/>
              <a:t>. (→ </a:t>
            </a:r>
            <a:r>
              <a:rPr dirty="0" err="1"/>
              <a:t>bấm</a:t>
            </a:r>
            <a:r>
              <a:rPr dirty="0"/>
              <a:t> </a:t>
            </a:r>
            <a:r>
              <a:rPr dirty="0" err="1"/>
              <a:t>lại</a:t>
            </a:r>
            <a:r>
              <a:rPr dirty="0"/>
              <a:t> </a:t>
            </a:r>
            <a:r>
              <a:rPr dirty="0" err="1"/>
              <a:t>nút</a:t>
            </a:r>
            <a:r>
              <a:rPr dirty="0"/>
              <a:t> </a:t>
            </a:r>
            <a:r>
              <a:rPr dirty="0" err="1"/>
              <a:t>lọc</a:t>
            </a:r>
            <a:r>
              <a:rPr dirty="0"/>
              <a:t> </a:t>
            </a:r>
            <a:r>
              <a:rPr dirty="0" err="1"/>
              <a:t>Store_Code</a:t>
            </a:r>
            <a:r>
              <a:rPr dirty="0"/>
              <a:t> → tick (Select All) → OK) </a:t>
            </a:r>
            <a:r>
              <a:rPr dirty="0" err="1"/>
              <a:t>Lọc</a:t>
            </a:r>
            <a:r>
              <a:rPr dirty="0"/>
              <a:t> </a:t>
            </a:r>
            <a:r>
              <a:rPr dirty="0" err="1"/>
              <a:t>tay</a:t>
            </a:r>
            <a:r>
              <a:rPr dirty="0"/>
              <a:t> </a:t>
            </a:r>
            <a:r>
              <a:rPr dirty="0" err="1"/>
              <a:t>như</a:t>
            </a:r>
            <a:r>
              <a:rPr dirty="0"/>
              <a:t> </a:t>
            </a:r>
            <a:r>
              <a:rPr dirty="0" err="1"/>
              <a:t>vừa</a:t>
            </a:r>
            <a:r>
              <a:rPr dirty="0"/>
              <a:t> </a:t>
            </a:r>
            <a:r>
              <a:rPr dirty="0" err="1"/>
              <a:t>rồi</a:t>
            </a:r>
            <a:r>
              <a:rPr dirty="0"/>
              <a:t> </a:t>
            </a:r>
            <a:r>
              <a:rPr dirty="0" err="1"/>
              <a:t>thì</a:t>
            </a:r>
            <a:r>
              <a:rPr dirty="0"/>
              <a:t> </a:t>
            </a:r>
            <a:r>
              <a:rPr dirty="0" err="1"/>
              <a:t>mỗi</a:t>
            </a:r>
            <a:r>
              <a:rPr dirty="0"/>
              <a:t> </a:t>
            </a:r>
            <a:r>
              <a:rPr dirty="0" err="1"/>
              <a:t>lần</a:t>
            </a:r>
            <a:r>
              <a:rPr dirty="0"/>
              <a:t> </a:t>
            </a:r>
            <a:r>
              <a:rPr dirty="0" err="1"/>
              <a:t>mở</a:t>
            </a:r>
            <a:r>
              <a:rPr dirty="0"/>
              <a:t> </a:t>
            </a:r>
            <a:r>
              <a:rPr dirty="0" err="1"/>
              <a:t>báo</a:t>
            </a:r>
            <a:r>
              <a:rPr dirty="0"/>
              <a:t> </a:t>
            </a:r>
            <a:r>
              <a:rPr dirty="0" err="1"/>
              <a:t>cáo</a:t>
            </a:r>
            <a:r>
              <a:rPr dirty="0"/>
              <a:t> </a:t>
            </a:r>
            <a:r>
              <a:rPr dirty="0" err="1"/>
              <a:t>lại</a:t>
            </a:r>
            <a:r>
              <a:rPr dirty="0"/>
              <a:t> </a:t>
            </a:r>
            <a:r>
              <a:rPr dirty="0" err="1"/>
              <a:t>phải</a:t>
            </a:r>
            <a:r>
              <a:rPr dirty="0"/>
              <a:t> </a:t>
            </a:r>
            <a:r>
              <a:rPr dirty="0" err="1"/>
              <a:t>nhớ</a:t>
            </a:r>
            <a:r>
              <a:rPr dirty="0"/>
              <a:t> </a:t>
            </a:r>
            <a:r>
              <a:rPr dirty="0" err="1"/>
              <a:t>bỏ</a:t>
            </a:r>
            <a:r>
              <a:rPr dirty="0"/>
              <a:t> ST12. Trong </a:t>
            </a:r>
            <a:r>
              <a:rPr dirty="0" err="1"/>
              <a:t>bài</a:t>
            </a:r>
            <a:r>
              <a:rPr dirty="0"/>
              <a:t> </a:t>
            </a:r>
            <a:r>
              <a:rPr dirty="0" err="1"/>
              <a:t>về</a:t>
            </a:r>
            <a:r>
              <a:rPr dirty="0"/>
              <a:t> </a:t>
            </a:r>
            <a:r>
              <a:rPr dirty="0" err="1"/>
              <a:t>nhà</a:t>
            </a:r>
            <a:r>
              <a:rPr dirty="0"/>
              <a:t>, </a:t>
            </a:r>
            <a:r>
              <a:rPr dirty="0" err="1"/>
              <a:t>các</a:t>
            </a:r>
            <a:r>
              <a:rPr dirty="0"/>
              <a:t> </a:t>
            </a:r>
            <a:r>
              <a:rPr dirty="0" err="1"/>
              <a:t>bạn</a:t>
            </a:r>
            <a:r>
              <a:rPr dirty="0"/>
              <a:t> </a:t>
            </a:r>
            <a:r>
              <a:rPr dirty="0" err="1"/>
              <a:t>biến</a:t>
            </a:r>
            <a:r>
              <a:rPr dirty="0"/>
              <a:t> </a:t>
            </a:r>
            <a:r>
              <a:rPr dirty="0" err="1"/>
              <a:t>nó</a:t>
            </a:r>
            <a:r>
              <a:rPr dirty="0"/>
              <a:t> </a:t>
            </a:r>
            <a:r>
              <a:rPr dirty="0" err="1"/>
              <a:t>thành</a:t>
            </a:r>
            <a:r>
              <a:rPr dirty="0"/>
              <a:t> measure: CALCULATE([Total Revenue], Store[</a:t>
            </a:r>
            <a:r>
              <a:rPr dirty="0" err="1"/>
              <a:t>Open_Date</a:t>
            </a:r>
            <a:r>
              <a:rPr dirty="0"/>
              <a:t>] &lt; DATE(2024,1,1)), </a:t>
            </a:r>
            <a:r>
              <a:rPr dirty="0" err="1"/>
              <a:t>chỉ</a:t>
            </a:r>
            <a:r>
              <a:rPr dirty="0"/>
              <a:t> </a:t>
            </a:r>
            <a:r>
              <a:rPr dirty="0" err="1"/>
              <a:t>cộng</a:t>
            </a:r>
            <a:r>
              <a:rPr dirty="0"/>
              <a:t> </a:t>
            </a:r>
            <a:r>
              <a:rPr dirty="0" err="1"/>
              <a:t>các</a:t>
            </a:r>
            <a:r>
              <a:rPr dirty="0"/>
              <a:t> </a:t>
            </a:r>
            <a:r>
              <a:rPr dirty="0" err="1"/>
              <a:t>cửa</a:t>
            </a:r>
            <a:r>
              <a:rPr dirty="0"/>
              <a:t> </a:t>
            </a:r>
            <a:r>
              <a:rPr dirty="0" err="1"/>
              <a:t>hàng</a:t>
            </a:r>
            <a:r>
              <a:rPr dirty="0"/>
              <a:t> </a:t>
            </a:r>
            <a:r>
              <a:rPr dirty="0" err="1"/>
              <a:t>mở</a:t>
            </a:r>
            <a:r>
              <a:rPr dirty="0"/>
              <a:t> </a:t>
            </a:r>
            <a:r>
              <a:rPr dirty="0" err="1"/>
              <a:t>trước</a:t>
            </a:r>
            <a:r>
              <a:rPr dirty="0"/>
              <a:t> </a:t>
            </a:r>
            <a:r>
              <a:rPr dirty="0" err="1"/>
              <a:t>năm</a:t>
            </a:r>
            <a:r>
              <a:rPr dirty="0"/>
              <a:t> 2024. Công </a:t>
            </a:r>
            <a:r>
              <a:rPr dirty="0" err="1"/>
              <a:t>thức</a:t>
            </a:r>
            <a:r>
              <a:rPr dirty="0"/>
              <a:t> </a:t>
            </a:r>
            <a:r>
              <a:rPr dirty="0" err="1"/>
              <a:t>nằm</a:t>
            </a:r>
            <a:r>
              <a:rPr dirty="0"/>
              <a:t> ở PRO TIP </a:t>
            </a:r>
            <a:r>
              <a:rPr dirty="0" err="1"/>
              <a:t>trên</a:t>
            </a:r>
            <a:r>
              <a:rPr dirty="0"/>
              <a:t> slide.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0,5 phút.</a:t>
            </a:r>
          </a:p>
          <a:p>
            <a:r>
              <a:t>LỜI GIẢNG</a:t>
            </a:r>
          </a:p>
          <a:p>
            <a:r>
              <a:t>Phần 7: quay lại nửa sau câu hỏi mở buổi, vì sao mỗi báo cáo một số.</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9,5 </a:t>
            </a:r>
            <a:r>
              <a:rPr dirty="0" err="1"/>
              <a:t>phút</a:t>
            </a:r>
            <a:r>
              <a:rPr dirty="0"/>
              <a:t>.</a:t>
            </a:r>
          </a:p>
          <a:p>
            <a:r>
              <a:rPr dirty="0"/>
              <a:t>LỜI GIẢNG</a:t>
            </a:r>
          </a:p>
          <a:p>
            <a:r>
              <a:rPr dirty="0"/>
              <a:t>Quay </a:t>
            </a:r>
            <a:r>
              <a:rPr dirty="0" err="1"/>
              <a:t>lại</a:t>
            </a:r>
            <a:r>
              <a:rPr dirty="0"/>
              <a:t> </a:t>
            </a:r>
            <a:r>
              <a:rPr dirty="0" err="1"/>
              <a:t>hai</a:t>
            </a:r>
            <a:r>
              <a:rPr dirty="0"/>
              <a:t> con </a:t>
            </a:r>
            <a:r>
              <a:rPr dirty="0" err="1"/>
              <a:t>số</a:t>
            </a:r>
            <a:r>
              <a:rPr dirty="0"/>
              <a:t> </a:t>
            </a:r>
            <a:r>
              <a:rPr dirty="0" err="1"/>
              <a:t>đầu</a:t>
            </a:r>
            <a:r>
              <a:rPr dirty="0"/>
              <a:t> </a:t>
            </a:r>
            <a:r>
              <a:rPr dirty="0" err="1"/>
              <a:t>buổi</a:t>
            </a:r>
            <a:r>
              <a:rPr dirty="0"/>
              <a:t>: 34,18% </a:t>
            </a:r>
            <a:r>
              <a:rPr dirty="0" err="1"/>
              <a:t>và</a:t>
            </a:r>
            <a:r>
              <a:rPr dirty="0"/>
              <a:t> 33,77%. Hai </a:t>
            </a:r>
            <a:r>
              <a:rPr dirty="0" err="1"/>
              <a:t>báo</a:t>
            </a:r>
            <a:r>
              <a:rPr dirty="0"/>
              <a:t> </a:t>
            </a:r>
            <a:r>
              <a:rPr dirty="0" err="1"/>
              <a:t>cáo</a:t>
            </a:r>
            <a:r>
              <a:rPr dirty="0"/>
              <a:t> </a:t>
            </a:r>
            <a:r>
              <a:rPr dirty="0" err="1"/>
              <a:t>khác</a:t>
            </a:r>
            <a:r>
              <a:rPr dirty="0"/>
              <a:t> </a:t>
            </a:r>
            <a:r>
              <a:rPr dirty="0" err="1"/>
              <a:t>nhau</a:t>
            </a:r>
            <a:r>
              <a:rPr dirty="0"/>
              <a:t> </a:t>
            </a:r>
            <a:r>
              <a:rPr dirty="0" err="1"/>
              <a:t>vì</a:t>
            </a:r>
            <a:r>
              <a:rPr dirty="0"/>
              <a:t> </a:t>
            </a:r>
            <a:r>
              <a:rPr dirty="0" err="1"/>
              <a:t>mỗi</a:t>
            </a:r>
            <a:r>
              <a:rPr dirty="0"/>
              <a:t> </a:t>
            </a:r>
            <a:r>
              <a:rPr dirty="0" err="1"/>
              <a:t>người</a:t>
            </a:r>
            <a:r>
              <a:rPr dirty="0"/>
              <a:t> </a:t>
            </a:r>
            <a:r>
              <a:rPr dirty="0" err="1"/>
              <a:t>tự</a:t>
            </a:r>
            <a:r>
              <a:rPr dirty="0"/>
              <a:t> </a:t>
            </a:r>
            <a:r>
              <a:rPr dirty="0" err="1"/>
              <a:t>viết</a:t>
            </a:r>
            <a:r>
              <a:rPr dirty="0"/>
              <a:t> </a:t>
            </a:r>
            <a:r>
              <a:rPr dirty="0" err="1"/>
              <a:t>công</a:t>
            </a:r>
            <a:r>
              <a:rPr dirty="0"/>
              <a:t> </a:t>
            </a:r>
            <a:r>
              <a:rPr dirty="0" err="1"/>
              <a:t>thức</a:t>
            </a:r>
            <a:r>
              <a:rPr dirty="0"/>
              <a:t>. </a:t>
            </a:r>
            <a:r>
              <a:rPr dirty="0" err="1"/>
              <a:t>Cách</a:t>
            </a:r>
            <a:r>
              <a:rPr dirty="0"/>
              <a:t> </a:t>
            </a:r>
            <a:r>
              <a:rPr dirty="0" err="1"/>
              <a:t>chữa</a:t>
            </a:r>
            <a:r>
              <a:rPr dirty="0"/>
              <a:t> </a:t>
            </a:r>
            <a:r>
              <a:rPr dirty="0" err="1"/>
              <a:t>không</a:t>
            </a:r>
            <a:r>
              <a:rPr dirty="0"/>
              <a:t> </a:t>
            </a:r>
            <a:r>
              <a:rPr dirty="0" err="1"/>
              <a:t>phải</a:t>
            </a:r>
            <a:r>
              <a:rPr dirty="0"/>
              <a:t> </a:t>
            </a:r>
            <a:r>
              <a:rPr dirty="0" err="1"/>
              <a:t>là</a:t>
            </a:r>
            <a:r>
              <a:rPr dirty="0"/>
              <a:t> </a:t>
            </a:r>
            <a:r>
              <a:rPr dirty="0" err="1"/>
              <a:t>họp</a:t>
            </a:r>
            <a:r>
              <a:rPr dirty="0"/>
              <a:t> </a:t>
            </a:r>
            <a:r>
              <a:rPr dirty="0" err="1"/>
              <a:t>để</a:t>
            </a:r>
            <a:r>
              <a:rPr dirty="0"/>
              <a:t> </a:t>
            </a:r>
            <a:r>
              <a:rPr dirty="0" err="1"/>
              <a:t>chọn</a:t>
            </a:r>
            <a:r>
              <a:rPr dirty="0"/>
              <a:t> </a:t>
            </a:r>
            <a:r>
              <a:rPr dirty="0" err="1"/>
              <a:t>một</a:t>
            </a:r>
            <a:r>
              <a:rPr dirty="0"/>
              <a:t> </a:t>
            </a:r>
            <a:r>
              <a:rPr dirty="0" err="1"/>
              <a:t>công</a:t>
            </a:r>
            <a:r>
              <a:rPr dirty="0"/>
              <a:t> </a:t>
            </a:r>
            <a:r>
              <a:rPr dirty="0" err="1"/>
              <a:t>thức</a:t>
            </a:r>
            <a:r>
              <a:rPr dirty="0"/>
              <a:t>, </a:t>
            </a:r>
            <a:r>
              <a:rPr dirty="0" err="1"/>
              <a:t>mà</a:t>
            </a:r>
            <a:r>
              <a:rPr dirty="0"/>
              <a:t> </a:t>
            </a:r>
            <a:r>
              <a:rPr dirty="0" err="1"/>
              <a:t>là</a:t>
            </a:r>
            <a:r>
              <a:rPr dirty="0"/>
              <a:t> </a:t>
            </a:r>
            <a:r>
              <a:rPr dirty="0" err="1"/>
              <a:t>đặt</a:t>
            </a:r>
            <a:r>
              <a:rPr dirty="0"/>
              <a:t> </a:t>
            </a:r>
            <a:r>
              <a:rPr dirty="0" err="1"/>
              <a:t>công</a:t>
            </a:r>
            <a:r>
              <a:rPr dirty="0"/>
              <a:t> </a:t>
            </a:r>
            <a:r>
              <a:rPr dirty="0" err="1"/>
              <a:t>thức</a:t>
            </a:r>
            <a:r>
              <a:rPr dirty="0"/>
              <a:t> </a:t>
            </a:r>
            <a:r>
              <a:rPr dirty="0" err="1"/>
              <a:t>vào</a:t>
            </a:r>
            <a:r>
              <a:rPr dirty="0"/>
              <a:t> </a:t>
            </a:r>
            <a:r>
              <a:rPr dirty="0" err="1"/>
              <a:t>một</a:t>
            </a:r>
            <a:r>
              <a:rPr dirty="0"/>
              <a:t> </a:t>
            </a:r>
            <a:r>
              <a:rPr dirty="0" err="1"/>
              <a:t>chỗ</a:t>
            </a:r>
            <a:r>
              <a:rPr dirty="0"/>
              <a:t> </a:t>
            </a:r>
            <a:r>
              <a:rPr dirty="0" err="1"/>
              <a:t>duy</a:t>
            </a:r>
            <a:r>
              <a:rPr dirty="0"/>
              <a:t> </a:t>
            </a:r>
            <a:r>
              <a:rPr dirty="0" err="1"/>
              <a:t>nhất</a:t>
            </a:r>
            <a:r>
              <a:rPr dirty="0"/>
              <a:t>: measure </a:t>
            </a:r>
            <a:r>
              <a:rPr dirty="0" err="1"/>
              <a:t>trong</a:t>
            </a:r>
            <a:r>
              <a:rPr dirty="0"/>
              <a:t> Data Model. </a:t>
            </a:r>
            <a:r>
              <a:rPr dirty="0" err="1"/>
              <a:t>Từ</a:t>
            </a:r>
            <a:r>
              <a:rPr dirty="0"/>
              <a:t> nay ai </a:t>
            </a:r>
            <a:r>
              <a:rPr dirty="0" err="1"/>
              <a:t>cần</a:t>
            </a:r>
            <a:r>
              <a:rPr dirty="0"/>
              <a:t> </a:t>
            </a:r>
            <a:r>
              <a:rPr dirty="0" err="1"/>
              <a:t>biên</a:t>
            </a:r>
            <a:r>
              <a:rPr dirty="0"/>
              <a:t> </a:t>
            </a:r>
            <a:r>
              <a:rPr dirty="0" err="1"/>
              <a:t>lợi</a:t>
            </a:r>
            <a:r>
              <a:rPr dirty="0"/>
              <a:t> </a:t>
            </a:r>
            <a:r>
              <a:rPr dirty="0" err="1"/>
              <a:t>nhuận</a:t>
            </a:r>
            <a:r>
              <a:rPr dirty="0"/>
              <a:t> </a:t>
            </a:r>
            <a:r>
              <a:rPr dirty="0" err="1"/>
              <a:t>đều</a:t>
            </a:r>
            <a:r>
              <a:rPr dirty="0"/>
              <a:t> </a:t>
            </a:r>
            <a:r>
              <a:rPr dirty="0" err="1"/>
              <a:t>kéo</a:t>
            </a:r>
            <a:r>
              <a:rPr dirty="0"/>
              <a:t> measure Gross Margin %; </a:t>
            </a:r>
            <a:r>
              <a:rPr dirty="0" err="1"/>
              <a:t>không</a:t>
            </a:r>
            <a:r>
              <a:rPr dirty="0"/>
              <a:t> ai </a:t>
            </a:r>
            <a:r>
              <a:rPr dirty="0" err="1"/>
              <a:t>có</a:t>
            </a:r>
            <a:r>
              <a:rPr dirty="0"/>
              <a:t> </a:t>
            </a:r>
            <a:r>
              <a:rPr dirty="0" err="1"/>
              <a:t>cơ</a:t>
            </a:r>
            <a:r>
              <a:rPr dirty="0"/>
              <a:t> </a:t>
            </a:r>
            <a:r>
              <a:rPr dirty="0" err="1"/>
              <a:t>hội</a:t>
            </a:r>
            <a:r>
              <a:rPr dirty="0"/>
              <a:t> </a:t>
            </a:r>
            <a:r>
              <a:rPr dirty="0" err="1"/>
              <a:t>tính</a:t>
            </a:r>
            <a:r>
              <a:rPr dirty="0"/>
              <a:t> </a:t>
            </a:r>
            <a:r>
              <a:rPr dirty="0" err="1"/>
              <a:t>trung</a:t>
            </a:r>
            <a:r>
              <a:rPr dirty="0"/>
              <a:t> </a:t>
            </a:r>
            <a:r>
              <a:rPr dirty="0" err="1"/>
              <a:t>bình</a:t>
            </a:r>
            <a:r>
              <a:rPr dirty="0"/>
              <a:t> </a:t>
            </a:r>
            <a:r>
              <a:rPr dirty="0" err="1"/>
              <a:t>của</a:t>
            </a:r>
            <a:r>
              <a:rPr dirty="0"/>
              <a:t> </a:t>
            </a:r>
            <a:r>
              <a:rPr dirty="0" err="1"/>
              <a:t>trung</a:t>
            </a:r>
            <a:r>
              <a:rPr dirty="0"/>
              <a:t> </a:t>
            </a:r>
            <a:r>
              <a:rPr dirty="0" err="1"/>
              <a:t>bình</a:t>
            </a:r>
            <a:r>
              <a:rPr dirty="0"/>
              <a:t> </a:t>
            </a:r>
            <a:r>
              <a:rPr dirty="0" err="1"/>
              <a:t>nữa</a:t>
            </a:r>
            <a:r>
              <a:rPr dirty="0"/>
              <a:t>.</a:t>
            </a:r>
          </a:p>
          <a:p>
            <a:r>
              <a:rPr dirty="0" err="1"/>
              <a:t>Bảng</a:t>
            </a:r>
            <a:r>
              <a:rPr dirty="0"/>
              <a:t> </a:t>
            </a:r>
            <a:r>
              <a:rPr dirty="0" err="1"/>
              <a:t>trên</a:t>
            </a:r>
            <a:r>
              <a:rPr dirty="0"/>
              <a:t> slide </a:t>
            </a:r>
            <a:r>
              <a:rPr dirty="0" err="1"/>
              <a:t>gọi</a:t>
            </a:r>
            <a:r>
              <a:rPr dirty="0"/>
              <a:t> </a:t>
            </a:r>
            <a:r>
              <a:rPr dirty="0" err="1"/>
              <a:t>là</a:t>
            </a:r>
            <a:r>
              <a:rPr dirty="0"/>
              <a:t> KPI dictionary, </a:t>
            </a:r>
            <a:r>
              <a:rPr dirty="0" err="1"/>
              <a:t>từ</a:t>
            </a:r>
            <a:r>
              <a:rPr dirty="0"/>
              <a:t> </a:t>
            </a:r>
            <a:r>
              <a:rPr dirty="0" err="1"/>
              <a:t>điển</a:t>
            </a:r>
            <a:r>
              <a:rPr dirty="0"/>
              <a:t> KPI. Các </a:t>
            </a:r>
            <a:r>
              <a:rPr dirty="0" err="1"/>
              <a:t>bạn</a:t>
            </a:r>
            <a:r>
              <a:rPr dirty="0"/>
              <a:t> </a:t>
            </a:r>
            <a:r>
              <a:rPr dirty="0" err="1"/>
              <a:t>đã</a:t>
            </a:r>
            <a:r>
              <a:rPr dirty="0"/>
              <a:t> </a:t>
            </a:r>
            <a:r>
              <a:rPr dirty="0" err="1"/>
              <a:t>làm</a:t>
            </a:r>
            <a:r>
              <a:rPr dirty="0"/>
              <a:t> KPI Definition Card ở </a:t>
            </a:r>
            <a:r>
              <a:rPr dirty="0" err="1"/>
              <a:t>Buổi</a:t>
            </a:r>
            <a:r>
              <a:rPr dirty="0"/>
              <a:t> 2; </a:t>
            </a:r>
            <a:r>
              <a:rPr dirty="0" err="1"/>
              <a:t>giờ</a:t>
            </a:r>
            <a:r>
              <a:rPr dirty="0"/>
              <a:t> </a:t>
            </a:r>
            <a:r>
              <a:rPr dirty="0" err="1"/>
              <a:t>mỗi</a:t>
            </a:r>
            <a:r>
              <a:rPr dirty="0"/>
              <a:t> card </a:t>
            </a:r>
            <a:r>
              <a:rPr dirty="0" err="1"/>
              <a:t>có</a:t>
            </a:r>
            <a:r>
              <a:rPr dirty="0"/>
              <a:t> </a:t>
            </a:r>
            <a:r>
              <a:rPr dirty="0" err="1"/>
              <a:t>thêm</a:t>
            </a:r>
            <a:r>
              <a:rPr dirty="0"/>
              <a:t> </a:t>
            </a:r>
            <a:r>
              <a:rPr dirty="0" err="1"/>
              <a:t>một</a:t>
            </a:r>
            <a:r>
              <a:rPr dirty="0"/>
              <a:t> </a:t>
            </a:r>
            <a:r>
              <a:rPr dirty="0" err="1"/>
              <a:t>dòng</a:t>
            </a:r>
            <a:r>
              <a:rPr dirty="0"/>
              <a:t> </a:t>
            </a:r>
            <a:r>
              <a:rPr dirty="0" err="1"/>
              <a:t>quan</a:t>
            </a:r>
            <a:r>
              <a:rPr dirty="0"/>
              <a:t> </a:t>
            </a:r>
            <a:r>
              <a:rPr dirty="0" err="1"/>
              <a:t>trọng</a:t>
            </a:r>
            <a:r>
              <a:rPr dirty="0"/>
              <a:t> </a:t>
            </a:r>
            <a:r>
              <a:rPr dirty="0" err="1"/>
              <a:t>nhất</a:t>
            </a:r>
            <a:r>
              <a:rPr dirty="0"/>
              <a:t>: measure </a:t>
            </a:r>
            <a:r>
              <a:rPr dirty="0" err="1"/>
              <a:t>nào</a:t>
            </a:r>
            <a:r>
              <a:rPr dirty="0"/>
              <a:t> </a:t>
            </a:r>
            <a:r>
              <a:rPr dirty="0" err="1"/>
              <a:t>thực</a:t>
            </a:r>
            <a:r>
              <a:rPr dirty="0"/>
              <a:t> </a:t>
            </a:r>
            <a:r>
              <a:rPr dirty="0" err="1"/>
              <a:t>hiện</a:t>
            </a:r>
            <a:r>
              <a:rPr dirty="0"/>
              <a:t> </a:t>
            </a:r>
            <a:r>
              <a:rPr dirty="0" err="1"/>
              <a:t>định</a:t>
            </a:r>
            <a:r>
              <a:rPr dirty="0"/>
              <a:t> </a:t>
            </a:r>
            <a:r>
              <a:rPr dirty="0" err="1"/>
              <a:t>nghĩa</a:t>
            </a:r>
            <a:r>
              <a:rPr dirty="0"/>
              <a:t> </a:t>
            </a:r>
            <a:r>
              <a:rPr dirty="0" err="1"/>
              <a:t>đó</a:t>
            </a:r>
            <a:r>
              <a:rPr dirty="0"/>
              <a:t>. </a:t>
            </a:r>
            <a:r>
              <a:rPr dirty="0" err="1"/>
              <a:t>Để</a:t>
            </a:r>
            <a:r>
              <a:rPr dirty="0"/>
              <a:t> ý </a:t>
            </a:r>
            <a:r>
              <a:rPr dirty="0" err="1"/>
              <a:t>cột</a:t>
            </a:r>
            <a:r>
              <a:rPr dirty="0"/>
              <a:t> Dimensions: Revenue vs Target % </a:t>
            </a:r>
            <a:r>
              <a:rPr dirty="0" err="1"/>
              <a:t>ghi</a:t>
            </a:r>
            <a:r>
              <a:rPr dirty="0"/>
              <a:t> </a:t>
            </a:r>
            <a:r>
              <a:rPr dirty="0" err="1"/>
              <a:t>rõ</a:t>
            </a:r>
            <a:r>
              <a:rPr dirty="0"/>
              <a:t> </a:t>
            </a:r>
            <a:r>
              <a:rPr dirty="0" err="1"/>
              <a:t>không</a:t>
            </a:r>
            <a:r>
              <a:rPr dirty="0"/>
              <a:t> </a:t>
            </a:r>
            <a:r>
              <a:rPr dirty="0" err="1"/>
              <a:t>theo</a:t>
            </a:r>
            <a:r>
              <a:rPr dirty="0"/>
              <a:t> </a:t>
            </a:r>
            <a:r>
              <a:rPr dirty="0" err="1"/>
              <a:t>ngành</a:t>
            </a:r>
            <a:r>
              <a:rPr dirty="0"/>
              <a:t>, </a:t>
            </a:r>
            <a:r>
              <a:rPr dirty="0" err="1"/>
              <a:t>bài</a:t>
            </a:r>
            <a:r>
              <a:rPr dirty="0"/>
              <a:t> </a:t>
            </a:r>
            <a:r>
              <a:rPr dirty="0" err="1"/>
              <a:t>học</a:t>
            </a:r>
            <a:r>
              <a:rPr dirty="0"/>
              <a:t> </a:t>
            </a:r>
            <a:r>
              <a:rPr dirty="0" err="1"/>
              <a:t>của</a:t>
            </a:r>
            <a:r>
              <a:rPr dirty="0"/>
              <a:t> Slide 25. (→ Manage Measures → Edit Gross Margin % → ô Description </a:t>
            </a:r>
            <a:r>
              <a:rPr dirty="0" err="1"/>
              <a:t>gõ</a:t>
            </a:r>
            <a:r>
              <a:rPr dirty="0"/>
              <a:t>: "(Doanh </a:t>
            </a:r>
            <a:r>
              <a:rPr dirty="0" err="1"/>
              <a:t>thu</a:t>
            </a:r>
            <a:r>
              <a:rPr dirty="0"/>
              <a:t> − </a:t>
            </a:r>
            <a:r>
              <a:rPr dirty="0" err="1"/>
              <a:t>giá</a:t>
            </a:r>
            <a:r>
              <a:rPr dirty="0"/>
              <a:t> </a:t>
            </a:r>
            <a:r>
              <a:rPr dirty="0" err="1"/>
              <a:t>vốn</a:t>
            </a:r>
            <a:r>
              <a:rPr dirty="0"/>
              <a:t>) ÷ </a:t>
            </a:r>
            <a:r>
              <a:rPr dirty="0" err="1"/>
              <a:t>doanh</a:t>
            </a:r>
            <a:r>
              <a:rPr dirty="0"/>
              <a:t> </a:t>
            </a:r>
            <a:r>
              <a:rPr dirty="0" err="1"/>
              <a:t>thu</a:t>
            </a:r>
            <a:r>
              <a:rPr dirty="0"/>
              <a:t>. </a:t>
            </a:r>
            <a:r>
              <a:rPr dirty="0" err="1"/>
              <a:t>Giá</a:t>
            </a:r>
            <a:r>
              <a:rPr dirty="0"/>
              <a:t> </a:t>
            </a:r>
            <a:r>
              <a:rPr dirty="0" err="1"/>
              <a:t>vốn</a:t>
            </a:r>
            <a:r>
              <a:rPr dirty="0"/>
              <a:t>: </a:t>
            </a:r>
            <a:r>
              <a:rPr dirty="0" err="1"/>
              <a:t>một</a:t>
            </a:r>
            <a:r>
              <a:rPr dirty="0"/>
              <a:t> </a:t>
            </a:r>
            <a:r>
              <a:rPr dirty="0" err="1"/>
              <a:t>bảng</a:t>
            </a:r>
            <a:r>
              <a:rPr dirty="0"/>
              <a:t> Product[</a:t>
            </a:r>
            <a:r>
              <a:rPr dirty="0" err="1"/>
              <a:t>Unit_Cost</a:t>
            </a:r>
            <a:r>
              <a:rPr dirty="0"/>
              <a:t>] </a:t>
            </a:r>
            <a:r>
              <a:rPr dirty="0" err="1"/>
              <a:t>cho</a:t>
            </a:r>
            <a:r>
              <a:rPr dirty="0"/>
              <a:t> </a:t>
            </a:r>
            <a:r>
              <a:rPr dirty="0" err="1"/>
              <a:t>mọi</a:t>
            </a:r>
            <a:r>
              <a:rPr dirty="0"/>
              <a:t> </a:t>
            </a:r>
            <a:r>
              <a:rPr dirty="0" err="1"/>
              <a:t>năm</a:t>
            </a:r>
            <a:r>
              <a:rPr dirty="0"/>
              <a:t>." → OK) Định </a:t>
            </a:r>
            <a:r>
              <a:rPr dirty="0" err="1"/>
              <a:t>nghĩa</a:t>
            </a:r>
            <a:r>
              <a:rPr dirty="0"/>
              <a:t> </a:t>
            </a:r>
            <a:r>
              <a:rPr dirty="0" err="1"/>
              <a:t>và</a:t>
            </a:r>
            <a:r>
              <a:rPr dirty="0"/>
              <a:t> </a:t>
            </a:r>
            <a:r>
              <a:rPr dirty="0" err="1"/>
              <a:t>giới</a:t>
            </a:r>
            <a:r>
              <a:rPr dirty="0"/>
              <a:t> </a:t>
            </a:r>
            <a:r>
              <a:rPr dirty="0" err="1"/>
              <a:t>hạn</a:t>
            </a:r>
            <a:r>
              <a:rPr dirty="0"/>
              <a:t> </a:t>
            </a:r>
            <a:r>
              <a:rPr dirty="0" err="1"/>
              <a:t>nằm</a:t>
            </a:r>
            <a:r>
              <a:rPr dirty="0"/>
              <a:t> </a:t>
            </a:r>
            <a:r>
              <a:rPr dirty="0" err="1"/>
              <a:t>ngay</a:t>
            </a:r>
            <a:r>
              <a:rPr dirty="0"/>
              <a:t> </a:t>
            </a:r>
            <a:r>
              <a:rPr dirty="0" err="1"/>
              <a:t>trong</a:t>
            </a:r>
            <a:r>
              <a:rPr dirty="0"/>
              <a:t> </a:t>
            </a:r>
            <a:r>
              <a:rPr dirty="0" err="1"/>
              <a:t>mô</a:t>
            </a:r>
            <a:r>
              <a:rPr dirty="0"/>
              <a:t> </a:t>
            </a:r>
            <a:r>
              <a:rPr dirty="0" err="1"/>
              <a:t>hình</a:t>
            </a:r>
            <a:r>
              <a:rPr dirty="0"/>
              <a:t>.</a:t>
            </a:r>
          </a:p>
          <a:p>
            <a:r>
              <a:rPr dirty="0"/>
              <a:t>Nói </a:t>
            </a:r>
            <a:r>
              <a:rPr dirty="0" err="1"/>
              <a:t>đến</a:t>
            </a:r>
            <a:r>
              <a:rPr dirty="0"/>
              <a:t> </a:t>
            </a:r>
            <a:r>
              <a:rPr dirty="0" err="1"/>
              <a:t>giới</a:t>
            </a:r>
            <a:r>
              <a:rPr dirty="0"/>
              <a:t> </a:t>
            </a:r>
            <a:r>
              <a:rPr dirty="0" err="1"/>
              <a:t>hạn</a:t>
            </a:r>
            <a:r>
              <a:rPr dirty="0"/>
              <a:t>. (→ </a:t>
            </a:r>
            <a:r>
              <a:rPr dirty="0" err="1"/>
              <a:t>PV_YoY</a:t>
            </a:r>
            <a:r>
              <a:rPr dirty="0"/>
              <a:t>: </a:t>
            </a:r>
            <a:r>
              <a:rPr dirty="0" err="1"/>
              <a:t>xóa</a:t>
            </a:r>
            <a:r>
              <a:rPr dirty="0"/>
              <a:t> </a:t>
            </a:r>
            <a:r>
              <a:rPr dirty="0" err="1"/>
              <a:t>mọi</a:t>
            </a:r>
            <a:r>
              <a:rPr dirty="0"/>
              <a:t> </a:t>
            </a:r>
            <a:r>
              <a:rPr dirty="0" err="1"/>
              <a:t>bộ</a:t>
            </a:r>
            <a:r>
              <a:rPr dirty="0"/>
              <a:t> </a:t>
            </a:r>
            <a:r>
              <a:rPr dirty="0" err="1"/>
              <a:t>lọc</a:t>
            </a:r>
            <a:r>
              <a:rPr dirty="0"/>
              <a:t> ở </a:t>
            </a:r>
            <a:r>
              <a:rPr dirty="0" err="1"/>
              <a:t>vùng</a:t>
            </a:r>
            <a:r>
              <a:rPr dirty="0"/>
              <a:t> Filters (Nam, Thang); Rows: Calendar → Nam; Values </a:t>
            </a:r>
            <a:r>
              <a:rPr dirty="0" err="1"/>
              <a:t>chỉ</a:t>
            </a:r>
            <a:r>
              <a:rPr dirty="0"/>
              <a:t> </a:t>
            </a:r>
            <a:r>
              <a:rPr dirty="0" err="1"/>
              <a:t>giữ</a:t>
            </a:r>
            <a:r>
              <a:rPr dirty="0"/>
              <a:t> Gross Margin %) </a:t>
            </a:r>
            <a:r>
              <a:rPr dirty="0" err="1"/>
              <a:t>Biên</a:t>
            </a:r>
            <a:r>
              <a:rPr dirty="0"/>
              <a:t> </a:t>
            </a:r>
            <a:r>
              <a:rPr dirty="0" err="1"/>
              <a:t>lợi</a:t>
            </a:r>
            <a:r>
              <a:rPr dirty="0"/>
              <a:t> </a:t>
            </a:r>
            <a:r>
              <a:rPr dirty="0" err="1"/>
              <a:t>nhuận</a:t>
            </a:r>
            <a:r>
              <a:rPr dirty="0"/>
              <a:t> </a:t>
            </a:r>
            <a:r>
              <a:rPr dirty="0" err="1"/>
              <a:t>gộp</a:t>
            </a:r>
            <a:r>
              <a:rPr dirty="0"/>
              <a:t> </a:t>
            </a:r>
            <a:r>
              <a:rPr dirty="0" err="1"/>
              <a:t>năm</a:t>
            </a:r>
            <a:r>
              <a:rPr dirty="0"/>
              <a:t> 2024: 31,2%. </a:t>
            </a:r>
            <a:r>
              <a:rPr dirty="0" err="1"/>
              <a:t>Năm</a:t>
            </a:r>
            <a:r>
              <a:rPr dirty="0"/>
              <a:t> 2025: 34,1%. </a:t>
            </a:r>
            <a:r>
              <a:rPr dirty="0" err="1"/>
              <a:t>Câu</a:t>
            </a:r>
            <a:r>
              <a:rPr dirty="0"/>
              <a:t> </a:t>
            </a:r>
            <a:r>
              <a:rPr dirty="0" err="1"/>
              <a:t>hỏi</a:t>
            </a:r>
            <a:r>
              <a:rPr dirty="0"/>
              <a:t> </a:t>
            </a:r>
            <a:r>
              <a:rPr dirty="0" err="1"/>
              <a:t>cho</a:t>
            </a:r>
            <a:r>
              <a:rPr dirty="0"/>
              <a:t> </a:t>
            </a:r>
            <a:r>
              <a:rPr dirty="0" err="1"/>
              <a:t>lớp</a:t>
            </a:r>
            <a:r>
              <a:rPr dirty="0"/>
              <a:t>: </a:t>
            </a:r>
            <a:r>
              <a:rPr dirty="0" err="1"/>
              <a:t>biên</a:t>
            </a:r>
            <a:r>
              <a:rPr dirty="0"/>
              <a:t> </a:t>
            </a:r>
            <a:r>
              <a:rPr dirty="0" err="1"/>
              <a:t>lợi</a:t>
            </a:r>
            <a:r>
              <a:rPr dirty="0"/>
              <a:t> </a:t>
            </a:r>
            <a:r>
              <a:rPr dirty="0" err="1"/>
              <a:t>nhuận</a:t>
            </a:r>
            <a:r>
              <a:rPr dirty="0"/>
              <a:t> </a:t>
            </a:r>
            <a:r>
              <a:rPr dirty="0" err="1"/>
              <a:t>tăng</a:t>
            </a:r>
            <a:r>
              <a:rPr dirty="0"/>
              <a:t> </a:t>
            </a:r>
            <a:r>
              <a:rPr dirty="0" err="1"/>
              <a:t>gần</a:t>
            </a:r>
            <a:r>
              <a:rPr dirty="0"/>
              <a:t> 3 </a:t>
            </a:r>
            <a:r>
              <a:rPr dirty="0" err="1"/>
              <a:t>điểm</a:t>
            </a:r>
            <a:r>
              <a:rPr dirty="0"/>
              <a:t>, </a:t>
            </a:r>
            <a:r>
              <a:rPr dirty="0" err="1"/>
              <a:t>báo</a:t>
            </a:r>
            <a:r>
              <a:rPr dirty="0"/>
              <a:t> </a:t>
            </a:r>
            <a:r>
              <a:rPr dirty="0" err="1"/>
              <a:t>cáo</a:t>
            </a:r>
            <a:r>
              <a:rPr dirty="0"/>
              <a:t> </a:t>
            </a:r>
            <a:r>
              <a:rPr dirty="0" err="1"/>
              <a:t>lên</a:t>
            </a:r>
            <a:r>
              <a:rPr dirty="0"/>
              <a:t> ban </a:t>
            </a:r>
            <a:r>
              <a:rPr dirty="0" err="1"/>
              <a:t>giám</a:t>
            </a:r>
            <a:r>
              <a:rPr dirty="0"/>
              <a:t> </a:t>
            </a:r>
            <a:r>
              <a:rPr dirty="0" err="1"/>
              <a:t>đốc</a:t>
            </a:r>
            <a:r>
              <a:rPr dirty="0"/>
              <a:t> </a:t>
            </a:r>
            <a:r>
              <a:rPr dirty="0" err="1"/>
              <a:t>được</a:t>
            </a:r>
            <a:r>
              <a:rPr dirty="0"/>
              <a:t> </a:t>
            </a:r>
            <a:r>
              <a:rPr dirty="0" err="1"/>
              <a:t>chưa</a:t>
            </a:r>
            <a:r>
              <a:rPr dirty="0"/>
              <a:t>? (→ </a:t>
            </a:r>
            <a:r>
              <a:rPr dirty="0" err="1"/>
              <a:t>chờ</a:t>
            </a:r>
            <a:r>
              <a:rPr dirty="0"/>
              <a:t>) </a:t>
            </a:r>
            <a:r>
              <a:rPr dirty="0" err="1"/>
              <a:t>Khoan</a:t>
            </a:r>
            <a:r>
              <a:rPr dirty="0"/>
              <a:t>. </a:t>
            </a:r>
            <a:r>
              <a:rPr dirty="0" err="1"/>
              <a:t>Kiểm</a:t>
            </a:r>
            <a:r>
              <a:rPr dirty="0"/>
              <a:t> </a:t>
            </a:r>
            <a:r>
              <a:rPr dirty="0" err="1"/>
              <a:t>tra</a:t>
            </a:r>
            <a:r>
              <a:rPr dirty="0"/>
              <a:t> </a:t>
            </a:r>
            <a:r>
              <a:rPr dirty="0" err="1"/>
              <a:t>giả</a:t>
            </a:r>
            <a:r>
              <a:rPr dirty="0"/>
              <a:t> </a:t>
            </a:r>
            <a:r>
              <a:rPr dirty="0" err="1"/>
              <a:t>định</a:t>
            </a:r>
            <a:r>
              <a:rPr dirty="0"/>
              <a:t> </a:t>
            </a:r>
            <a:r>
              <a:rPr dirty="0" err="1"/>
              <a:t>trước</a:t>
            </a:r>
            <a:r>
              <a:rPr dirty="0"/>
              <a:t>. </a:t>
            </a:r>
            <a:r>
              <a:rPr dirty="0" err="1"/>
              <a:t>Giá</a:t>
            </a:r>
            <a:r>
              <a:rPr dirty="0"/>
              <a:t> </a:t>
            </a:r>
            <a:r>
              <a:rPr dirty="0" err="1"/>
              <a:t>vốn</a:t>
            </a:r>
            <a:r>
              <a:rPr dirty="0"/>
              <a:t> </a:t>
            </a:r>
            <a:r>
              <a:rPr dirty="0" err="1"/>
              <a:t>lấy</a:t>
            </a:r>
            <a:r>
              <a:rPr dirty="0"/>
              <a:t> </a:t>
            </a:r>
            <a:r>
              <a:rPr dirty="0" err="1"/>
              <a:t>từ</a:t>
            </a:r>
            <a:r>
              <a:rPr dirty="0"/>
              <a:t> </a:t>
            </a:r>
            <a:r>
              <a:rPr dirty="0" err="1"/>
              <a:t>đâu</a:t>
            </a:r>
            <a:r>
              <a:rPr dirty="0"/>
              <a:t>? </a:t>
            </a:r>
            <a:r>
              <a:rPr dirty="0" err="1"/>
              <a:t>Từ</a:t>
            </a:r>
            <a:r>
              <a:rPr dirty="0"/>
              <a:t> </a:t>
            </a:r>
            <a:r>
              <a:rPr dirty="0" err="1"/>
              <a:t>một</a:t>
            </a:r>
            <a:r>
              <a:rPr dirty="0"/>
              <a:t> </a:t>
            </a:r>
            <a:r>
              <a:rPr dirty="0" err="1"/>
              <a:t>bảng</a:t>
            </a:r>
            <a:r>
              <a:rPr dirty="0"/>
              <a:t> Product </a:t>
            </a:r>
            <a:r>
              <a:rPr dirty="0" err="1"/>
              <a:t>duy</a:t>
            </a:r>
            <a:r>
              <a:rPr dirty="0"/>
              <a:t> </a:t>
            </a:r>
            <a:r>
              <a:rPr dirty="0" err="1"/>
              <a:t>nhất</a:t>
            </a:r>
            <a:r>
              <a:rPr dirty="0"/>
              <a:t>, </a:t>
            </a:r>
            <a:r>
              <a:rPr dirty="0" err="1"/>
              <a:t>giá</a:t>
            </a:r>
            <a:r>
              <a:rPr dirty="0"/>
              <a:t> </a:t>
            </a:r>
            <a:r>
              <a:rPr dirty="0" err="1"/>
              <a:t>vốn</a:t>
            </a:r>
            <a:r>
              <a:rPr dirty="0"/>
              <a:t> </a:t>
            </a:r>
            <a:r>
              <a:rPr dirty="0" err="1"/>
              <a:t>hiện</a:t>
            </a:r>
            <a:r>
              <a:rPr dirty="0"/>
              <a:t> </a:t>
            </a:r>
            <a:r>
              <a:rPr dirty="0" err="1"/>
              <a:t>tại</a:t>
            </a:r>
            <a:r>
              <a:rPr dirty="0"/>
              <a:t>, </a:t>
            </a:r>
            <a:r>
              <a:rPr dirty="0" err="1"/>
              <a:t>áp</a:t>
            </a:r>
            <a:r>
              <a:rPr dirty="0"/>
              <a:t> </a:t>
            </a:r>
            <a:r>
              <a:rPr dirty="0" err="1"/>
              <a:t>cho</a:t>
            </a:r>
            <a:r>
              <a:rPr dirty="0"/>
              <a:t> </a:t>
            </a:r>
            <a:r>
              <a:rPr dirty="0" err="1"/>
              <a:t>cả</a:t>
            </a:r>
            <a:r>
              <a:rPr dirty="0"/>
              <a:t> </a:t>
            </a:r>
            <a:r>
              <a:rPr dirty="0" err="1"/>
              <a:t>hai</a:t>
            </a:r>
            <a:r>
              <a:rPr dirty="0"/>
              <a:t> </a:t>
            </a:r>
            <a:r>
              <a:rPr dirty="0" err="1"/>
              <a:t>năm</a:t>
            </a:r>
            <a:r>
              <a:rPr dirty="0"/>
              <a:t>. Trong </a:t>
            </a:r>
            <a:r>
              <a:rPr dirty="0" err="1"/>
              <a:t>khi</a:t>
            </a:r>
            <a:r>
              <a:rPr dirty="0"/>
              <a:t> </a:t>
            </a:r>
            <a:r>
              <a:rPr dirty="0" err="1"/>
              <a:t>giá</a:t>
            </a:r>
            <a:r>
              <a:rPr dirty="0"/>
              <a:t> </a:t>
            </a:r>
            <a:r>
              <a:rPr dirty="0" err="1"/>
              <a:t>bán</a:t>
            </a:r>
            <a:r>
              <a:rPr dirty="0"/>
              <a:t> </a:t>
            </a:r>
            <a:r>
              <a:rPr dirty="0" err="1"/>
              <a:t>năm</a:t>
            </a:r>
            <a:r>
              <a:rPr dirty="0"/>
              <a:t> 2024 </a:t>
            </a:r>
            <a:r>
              <a:rPr dirty="0" err="1"/>
              <a:t>thấp</a:t>
            </a:r>
            <a:r>
              <a:rPr dirty="0"/>
              <a:t> </a:t>
            </a:r>
            <a:r>
              <a:rPr dirty="0" err="1"/>
              <a:t>hơn</a:t>
            </a:r>
            <a:r>
              <a:rPr dirty="0"/>
              <a:t> </a:t>
            </a:r>
            <a:r>
              <a:rPr dirty="0" err="1"/>
              <a:t>năm</a:t>
            </a:r>
            <a:r>
              <a:rPr dirty="0"/>
              <a:t> nay </a:t>
            </a:r>
            <a:r>
              <a:rPr dirty="0" err="1"/>
              <a:t>khoảng</a:t>
            </a:r>
            <a:r>
              <a:rPr dirty="0"/>
              <a:t> 4%. </a:t>
            </a:r>
            <a:r>
              <a:rPr dirty="0" err="1"/>
              <a:t>Lấy</a:t>
            </a:r>
            <a:r>
              <a:rPr dirty="0"/>
              <a:t> </a:t>
            </a:r>
            <a:r>
              <a:rPr dirty="0" err="1"/>
              <a:t>giá</a:t>
            </a:r>
            <a:r>
              <a:rPr dirty="0"/>
              <a:t> </a:t>
            </a:r>
            <a:r>
              <a:rPr dirty="0" err="1"/>
              <a:t>vốn</a:t>
            </a:r>
            <a:r>
              <a:rPr dirty="0"/>
              <a:t> </a:t>
            </a:r>
            <a:r>
              <a:rPr dirty="0" err="1"/>
              <a:t>năm</a:t>
            </a:r>
            <a:r>
              <a:rPr dirty="0"/>
              <a:t> nay </a:t>
            </a:r>
            <a:r>
              <a:rPr dirty="0" err="1"/>
              <a:t>trừ</a:t>
            </a:r>
            <a:r>
              <a:rPr dirty="0"/>
              <a:t> </a:t>
            </a:r>
            <a:r>
              <a:rPr dirty="0" err="1"/>
              <a:t>vào</a:t>
            </a:r>
            <a:r>
              <a:rPr dirty="0"/>
              <a:t> </a:t>
            </a:r>
            <a:r>
              <a:rPr dirty="0" err="1"/>
              <a:t>giá</a:t>
            </a:r>
            <a:r>
              <a:rPr dirty="0"/>
              <a:t> </a:t>
            </a:r>
            <a:r>
              <a:rPr dirty="0" err="1"/>
              <a:t>bán</a:t>
            </a:r>
            <a:r>
              <a:rPr dirty="0"/>
              <a:t> </a:t>
            </a:r>
            <a:r>
              <a:rPr dirty="0" err="1"/>
              <a:t>năm</a:t>
            </a:r>
            <a:r>
              <a:rPr dirty="0"/>
              <a:t> </a:t>
            </a:r>
            <a:r>
              <a:rPr dirty="0" err="1"/>
              <a:t>ngoái</a:t>
            </a:r>
            <a:r>
              <a:rPr dirty="0"/>
              <a:t> </a:t>
            </a:r>
            <a:r>
              <a:rPr dirty="0" err="1"/>
              <a:t>thì</a:t>
            </a:r>
            <a:r>
              <a:rPr dirty="0"/>
              <a:t> </a:t>
            </a:r>
            <a:r>
              <a:rPr dirty="0" err="1"/>
              <a:t>biên</a:t>
            </a:r>
            <a:r>
              <a:rPr dirty="0"/>
              <a:t> </a:t>
            </a:r>
            <a:r>
              <a:rPr dirty="0" err="1"/>
              <a:t>năm</a:t>
            </a:r>
            <a:r>
              <a:rPr dirty="0"/>
              <a:t> </a:t>
            </a:r>
            <a:r>
              <a:rPr dirty="0" err="1"/>
              <a:t>ngoái</a:t>
            </a:r>
            <a:r>
              <a:rPr dirty="0"/>
              <a:t> </a:t>
            </a:r>
            <a:r>
              <a:rPr dirty="0" err="1"/>
              <a:t>tất</a:t>
            </a:r>
            <a:r>
              <a:rPr dirty="0"/>
              <a:t> </a:t>
            </a:r>
            <a:r>
              <a:rPr dirty="0" err="1"/>
              <a:t>nhiên</a:t>
            </a:r>
            <a:r>
              <a:rPr dirty="0"/>
              <a:t> </a:t>
            </a:r>
            <a:r>
              <a:rPr dirty="0" err="1"/>
              <a:t>thấp</a:t>
            </a:r>
            <a:r>
              <a:rPr dirty="0"/>
              <a:t>. </a:t>
            </a:r>
            <a:r>
              <a:rPr dirty="0" err="1"/>
              <a:t>Phần</a:t>
            </a:r>
            <a:r>
              <a:rPr dirty="0"/>
              <a:t> "</a:t>
            </a:r>
            <a:r>
              <a:rPr dirty="0" err="1"/>
              <a:t>tăng</a:t>
            </a:r>
            <a:r>
              <a:rPr dirty="0"/>
              <a:t>" </a:t>
            </a:r>
            <a:r>
              <a:rPr dirty="0" err="1"/>
              <a:t>này</a:t>
            </a:r>
            <a:r>
              <a:rPr dirty="0"/>
              <a:t> </a:t>
            </a:r>
            <a:r>
              <a:rPr dirty="0" err="1"/>
              <a:t>phần</a:t>
            </a:r>
            <a:r>
              <a:rPr dirty="0"/>
              <a:t> </a:t>
            </a:r>
            <a:r>
              <a:rPr dirty="0" err="1"/>
              <a:t>lớn</a:t>
            </a:r>
            <a:r>
              <a:rPr dirty="0"/>
              <a:t> </a:t>
            </a:r>
            <a:r>
              <a:rPr dirty="0" err="1"/>
              <a:t>là</a:t>
            </a:r>
            <a:r>
              <a:rPr dirty="0"/>
              <a:t> do </a:t>
            </a:r>
            <a:r>
              <a:rPr dirty="0" err="1"/>
              <a:t>cách</a:t>
            </a:r>
            <a:r>
              <a:rPr dirty="0"/>
              <a:t> </a:t>
            </a:r>
            <a:r>
              <a:rPr dirty="0" err="1"/>
              <a:t>dữ</a:t>
            </a:r>
            <a:r>
              <a:rPr dirty="0"/>
              <a:t> </a:t>
            </a:r>
            <a:r>
              <a:rPr dirty="0" err="1"/>
              <a:t>liệu</a:t>
            </a:r>
            <a:r>
              <a:rPr dirty="0"/>
              <a:t> </a:t>
            </a:r>
            <a:r>
              <a:rPr dirty="0" err="1"/>
              <a:t>được</a:t>
            </a:r>
            <a:r>
              <a:rPr dirty="0"/>
              <a:t> </a:t>
            </a:r>
            <a:r>
              <a:rPr dirty="0" err="1"/>
              <a:t>lưu</a:t>
            </a:r>
            <a:r>
              <a:rPr dirty="0"/>
              <a:t>, </a:t>
            </a:r>
            <a:r>
              <a:rPr dirty="0" err="1"/>
              <a:t>không</a:t>
            </a:r>
            <a:r>
              <a:rPr dirty="0"/>
              <a:t> </a:t>
            </a:r>
            <a:r>
              <a:rPr dirty="0" err="1"/>
              <a:t>phải</a:t>
            </a:r>
            <a:r>
              <a:rPr dirty="0"/>
              <a:t> do </a:t>
            </a:r>
            <a:r>
              <a:rPr dirty="0" err="1"/>
              <a:t>kinh</a:t>
            </a:r>
            <a:r>
              <a:rPr dirty="0"/>
              <a:t> </a:t>
            </a:r>
            <a:r>
              <a:rPr dirty="0" err="1"/>
              <a:t>doanh</a:t>
            </a:r>
            <a:r>
              <a:rPr dirty="0"/>
              <a:t> </a:t>
            </a:r>
            <a:r>
              <a:rPr dirty="0" err="1"/>
              <a:t>tốt</a:t>
            </a:r>
            <a:r>
              <a:rPr dirty="0"/>
              <a:t> </a:t>
            </a:r>
            <a:r>
              <a:rPr dirty="0" err="1"/>
              <a:t>hơn</a:t>
            </a:r>
            <a:r>
              <a:rPr dirty="0"/>
              <a:t>. </a:t>
            </a:r>
            <a:r>
              <a:rPr dirty="0" err="1"/>
              <a:t>Đó</a:t>
            </a:r>
            <a:r>
              <a:rPr dirty="0"/>
              <a:t> </a:t>
            </a:r>
            <a:r>
              <a:rPr dirty="0" err="1"/>
              <a:t>chính</a:t>
            </a:r>
            <a:r>
              <a:rPr dirty="0"/>
              <a:t> </a:t>
            </a:r>
            <a:r>
              <a:rPr dirty="0" err="1"/>
              <a:t>là</a:t>
            </a:r>
            <a:r>
              <a:rPr dirty="0"/>
              <a:t> </a:t>
            </a:r>
            <a:r>
              <a:rPr dirty="0" err="1"/>
              <a:t>thứ</a:t>
            </a:r>
            <a:r>
              <a:rPr dirty="0"/>
              <a:t> </a:t>
            </a:r>
            <a:r>
              <a:rPr dirty="0" err="1"/>
              <a:t>phải</a:t>
            </a:r>
            <a:r>
              <a:rPr dirty="0"/>
              <a:t> </a:t>
            </a:r>
            <a:r>
              <a:rPr dirty="0" err="1"/>
              <a:t>ghi</a:t>
            </a:r>
            <a:r>
              <a:rPr dirty="0"/>
              <a:t> </a:t>
            </a:r>
            <a:r>
              <a:rPr dirty="0" err="1"/>
              <a:t>vào</a:t>
            </a:r>
            <a:r>
              <a:rPr dirty="0"/>
              <a:t> </a:t>
            </a:r>
            <a:r>
              <a:rPr dirty="0" err="1"/>
              <a:t>cột</a:t>
            </a:r>
            <a:r>
              <a:rPr dirty="0"/>
              <a:t> "</a:t>
            </a:r>
            <a:r>
              <a:rPr dirty="0" err="1"/>
              <a:t>Giới</a:t>
            </a:r>
            <a:r>
              <a:rPr dirty="0"/>
              <a:t> </a:t>
            </a:r>
            <a:r>
              <a:rPr dirty="0" err="1"/>
              <a:t>hạn</a:t>
            </a:r>
            <a:r>
              <a:rPr dirty="0"/>
              <a:t>" </a:t>
            </a:r>
            <a:r>
              <a:rPr dirty="0" err="1"/>
              <a:t>của</a:t>
            </a:r>
            <a:r>
              <a:rPr dirty="0"/>
              <a:t> KPI card. </a:t>
            </a:r>
            <a:r>
              <a:rPr dirty="0" err="1"/>
              <a:t>Đây</a:t>
            </a:r>
            <a:r>
              <a:rPr dirty="0"/>
              <a:t> </a:t>
            </a:r>
            <a:r>
              <a:rPr dirty="0" err="1"/>
              <a:t>là</a:t>
            </a:r>
            <a:r>
              <a:rPr dirty="0"/>
              <a:t> </a:t>
            </a:r>
            <a:r>
              <a:rPr dirty="0" err="1"/>
              <a:t>kỹ</a:t>
            </a:r>
            <a:r>
              <a:rPr dirty="0"/>
              <a:t> </a:t>
            </a:r>
            <a:r>
              <a:rPr dirty="0" err="1"/>
              <a:t>năng</a:t>
            </a:r>
            <a:r>
              <a:rPr dirty="0"/>
              <a:t> D2 ở </a:t>
            </a:r>
            <a:r>
              <a:rPr dirty="0" err="1"/>
              <a:t>mức</a:t>
            </a:r>
            <a:r>
              <a:rPr dirty="0"/>
              <a:t> Competent: </a:t>
            </a:r>
            <a:r>
              <a:rPr dirty="0" err="1"/>
              <a:t>kiểm</a:t>
            </a:r>
            <a:r>
              <a:rPr dirty="0"/>
              <a:t> </a:t>
            </a:r>
            <a:r>
              <a:rPr dirty="0" err="1"/>
              <a:t>giả</a:t>
            </a:r>
            <a:r>
              <a:rPr dirty="0"/>
              <a:t> </a:t>
            </a:r>
            <a:r>
              <a:rPr dirty="0" err="1"/>
              <a:t>định</a:t>
            </a:r>
            <a:r>
              <a:rPr dirty="0"/>
              <a:t> </a:t>
            </a:r>
            <a:r>
              <a:rPr dirty="0" err="1"/>
              <a:t>trước</a:t>
            </a:r>
            <a:r>
              <a:rPr dirty="0"/>
              <a:t> </a:t>
            </a:r>
            <a:r>
              <a:rPr dirty="0" err="1"/>
              <a:t>khi</a:t>
            </a:r>
            <a:r>
              <a:rPr dirty="0"/>
              <a:t> </a:t>
            </a:r>
            <a:r>
              <a:rPr dirty="0" err="1"/>
              <a:t>kết</a:t>
            </a:r>
            <a:r>
              <a:rPr dirty="0"/>
              <a:t> </a:t>
            </a:r>
            <a:r>
              <a:rPr dirty="0" err="1"/>
              <a:t>luận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10 phút.</a:t>
            </a:r>
          </a:p>
          <a:p>
            <a:r>
              <a:t>LỜI GIẢNG (giao bài)</a:t>
            </a:r>
          </a:p>
          <a:p>
            <a:r>
              <a:t>(→ học viên tự làm 10 phút) Bốn KPI đã có: doanh thu, biên lợi nhuận, YoY, và % target. Các bạn tự viết ba measure còn lại, công thức trên slide. Rồi dựng một Pivot KPI theo tháng và so với bảng kiểm tra.</a:t>
            </a:r>
          </a:p>
          <a:p>
            <a:r>
              <a:t>Bước 3 là bài kiểm tra quan trọng: lọc riêng ngành Bánh kẹo, Quý 1, rồi đọc dòng Grand Total. Lấy Total Revenue chia Total Orders bằng máy tính, có ra đúng Avg Order Value không?</a:t>
            </a:r>
          </a:p>
          <a:p>
            <a:r>
              <a:t>GHI CHÚ GIẢNG VIÊN</a:t>
            </a:r>
          </a:p>
          <a:p>
            <a:r>
              <a:t>Bảng kiểm tra trên slide lấy từ Practice/B5_MCI_Mart_Answer.xlsx, sheet PV_KPI_Thang. Chữa bài thì mở sheet này trên máy giảng viên.</a:t>
            </a:r>
          </a:p>
          <a:p>
            <a:r>
              <a:t>Đếm số đơn bằng DISTINCTCOUNT, không phải COUNTROWS: một đơn có nhiều dòng (Line_No). COUNTROWS cho Quý 1 ra 6.187 (số dòng), không phải 3.144 đơn.</a:t>
            </a:r>
          </a:p>
          <a:p>
            <a:r>
              <a:t>Bánh kẹo, Quý 1: 1.739 đơn có mua bánh kẹo; AOV 194.786 = giá trị phần bánh kẹo trong mỗi đơn đó. Học viên dùng AVERAGE(Sales[Revenue]) sẽ ra 153.830, trung bình một dòng, không phải một đơn.</a:t>
            </a:r>
          </a:p>
          <a:p>
            <a:r>
              <a:t>Active Customers không cộng dồn: Quý 1 theo miền 492 + 657 + 307 = 1.456, nhưng Grand Total là 1.208, khách mua ở nhiều miền chỉ đếm một lần. Câu 4 của quiz dùng chi tiết này.</a:t>
            </a:r>
          </a:p>
          <a:p>
            <a:r>
              <a:t>Revenue YoY % trống ở mọi dòng: Rows đang dùng Sales[Thang] (chưa ẩn cột ở Slide 20), hoặc chưa Mark as Date Table.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10 phút.</a:t>
            </a:r>
          </a:p>
          <a:p>
            <a:r>
              <a:t>LỜI GIẢNG</a:t>
            </a:r>
          </a:p>
          <a:p>
            <a:r>
              <a:t>(→ đi vòng lớp) Đây là khoảnh khắc chốt buổi hôm nay. Bảng KPI_SUMIFS các bạn làm ở Buổi 2 bằng bốn khối SUMIFS và công thức chia. Hôm nay cùng bảng đó ra từ Data Model, bằng bốn measure. Hai cách làm khác hẳn nhau, số có khớp không?</a:t>
            </a:r>
          </a:p>
          <a:p>
            <a:r>
              <a:t>(→ trên máy giảng viên: mở Practice/B5_MCI_Mart_Answer.xlsx, sheet PV_DoiSoat_B2: Pivot Miền × Tháng dựng sẵn ở A8:Q14, đúng bước 1 trên slide) Mình làm mẫu hai ô trên file đáp án. (→ ô S11 gõ =, bấm ô J11 (Bắc × tháng 3, Total Revenue), gõ -KPI_SUMIFS!D6 → Enter; sheet KPI_SUMIFS nằm trong file đang mở) Bằng 0. (→ ô S14 gõ =, bấm ô N14 (Grand Total, Total Revenue Quý 1), gõ -KPI_SUMIFS!E9 → Enter) Bằng 0. Hai ô còn lại các bạn tự làm trên file của mình: số đơn Quý 1 trừ ô E16, biên lợi nhuận Quý 1 trừ ô E30. Bạn nào có số khác 0 thì kiểm tra lại vùng Filters: phải là Nam 2025 và Quý 1, lấy từ Calendar.</a:t>
            </a:r>
          </a:p>
          <a:p>
            <a:r>
              <a:t>Khớp nghĩa là Buổi 2 và Buổi 5 cùng nói một sự thật. Từ nay các bạn có một nguồn duy nhất: mọi báo cáo mới chỉ cần kéo measure vào. (→ trong cùng file, mở sheet DoiSoat_B2) Sheet này đối soát đủ 64 ô, bốn KPI, ba miền và dòng tổng, ba tháng và Quý 1. Đây cũng là file khởi đầu Buổi 6. (→ đóng file, không lưu: hai ô S11, S14 vừa gõ không được nằm lại trong file khởi đầu Buổi 6)</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Thời</a:t>
            </a:r>
            <a:r>
              <a:rPr dirty="0"/>
              <a:t> </a:t>
            </a:r>
            <a:r>
              <a:rPr dirty="0" err="1"/>
              <a:t>lượng</a:t>
            </a:r>
            <a:r>
              <a:rPr dirty="0"/>
              <a:t>: 0,2 </a:t>
            </a:r>
            <a:r>
              <a:rPr dirty="0" err="1"/>
              <a:t>phút</a:t>
            </a:r>
            <a:r>
              <a:rPr dirty="0"/>
              <a:t>.</a:t>
            </a:r>
          </a:p>
          <a:p>
            <a:r>
              <a:rPr dirty="0"/>
              <a:t>LỜI GIẢNG</a:t>
            </a:r>
          </a:p>
          <a:p>
            <a:r>
              <a:rPr dirty="0" err="1"/>
              <a:t>Bốn</a:t>
            </a:r>
            <a:r>
              <a:rPr dirty="0"/>
              <a:t> </a:t>
            </a:r>
            <a:r>
              <a:rPr dirty="0" err="1"/>
              <a:t>câu</a:t>
            </a:r>
            <a:r>
              <a:rPr dirty="0"/>
              <a:t> </a:t>
            </a:r>
            <a:r>
              <a:rPr dirty="0" err="1"/>
              <a:t>hỏi</a:t>
            </a:r>
            <a:r>
              <a:rPr dirty="0"/>
              <a:t> </a:t>
            </a:r>
            <a:r>
              <a:rPr dirty="0" err="1"/>
              <a:t>nhanh</a:t>
            </a:r>
            <a:r>
              <a:rPr dirty="0"/>
              <a:t>. </a:t>
            </a:r>
            <a:r>
              <a:rPr dirty="0" err="1"/>
              <a:t>Câu</a:t>
            </a:r>
            <a:r>
              <a:rPr dirty="0"/>
              <a:t> 3 </a:t>
            </a:r>
            <a:r>
              <a:rPr dirty="0" err="1"/>
              <a:t>và</a:t>
            </a:r>
            <a:r>
              <a:rPr dirty="0"/>
              <a:t> 4 </a:t>
            </a:r>
            <a:r>
              <a:rPr dirty="0" err="1"/>
              <a:t>là</a:t>
            </a:r>
            <a:r>
              <a:rPr dirty="0"/>
              <a:t> </a:t>
            </a:r>
            <a:r>
              <a:rPr dirty="0" err="1"/>
              <a:t>hai</a:t>
            </a:r>
            <a:r>
              <a:rPr dirty="0"/>
              <a:t> con </a:t>
            </a:r>
            <a:r>
              <a:rPr dirty="0" err="1"/>
              <a:t>số</a:t>
            </a:r>
            <a:r>
              <a:rPr dirty="0"/>
              <a:t> </a:t>
            </a:r>
            <a:r>
              <a:rPr dirty="0" err="1"/>
              <a:t>lạ</a:t>
            </a:r>
            <a:r>
              <a:rPr dirty="0"/>
              <a:t> </a:t>
            </a:r>
            <a:r>
              <a:rPr dirty="0" err="1"/>
              <a:t>các</a:t>
            </a:r>
            <a:r>
              <a:rPr dirty="0"/>
              <a:t> </a:t>
            </a:r>
            <a:r>
              <a:rPr dirty="0" err="1"/>
              <a:t>bạn</a:t>
            </a:r>
            <a:r>
              <a:rPr dirty="0"/>
              <a:t> </a:t>
            </a:r>
            <a:r>
              <a:rPr dirty="0" err="1"/>
              <a:t>sẽ</a:t>
            </a:r>
            <a:r>
              <a:rPr dirty="0"/>
              <a:t> </a:t>
            </a:r>
            <a:r>
              <a:rPr dirty="0" err="1"/>
              <a:t>gặp</a:t>
            </a:r>
            <a:r>
              <a:rPr dirty="0"/>
              <a:t> </a:t>
            </a:r>
            <a:r>
              <a:rPr dirty="0" err="1"/>
              <a:t>ngoài</a:t>
            </a:r>
            <a:r>
              <a:rPr dirty="0"/>
              <a:t> </a:t>
            </a:r>
            <a:r>
              <a:rPr dirty="0" err="1"/>
              <a:t>đời</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35 giây. Đáp án: C.</a:t>
            </a:r>
          </a:p>
          <a:p>
            <a:r>
              <a:t>LỜI GIẢNG</a:t>
            </a:r>
          </a:p>
          <a:p>
            <a:r>
              <a:t>C. Tỷ lệ phải tính tổng trước, chia sau, cho từng ô Pivot, đó là measure. Average của cột GM từng dòng ra 33,77% thay vì 34,18%; Sum thì vô nghĩa.</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35 giây. Đáp án: B.</a:t>
            </a:r>
          </a:p>
          <a:p>
            <a:r>
              <a:t>LỜI GIẢNG</a:t>
            </a:r>
          </a:p>
          <a:p>
            <a:r>
              <a:t>B. Hai fact không nối thẳng với nhau, Store_Code lặp lại ở cả hai bảng, quan hệ đó là nhiều–nhiều. Cả hai nối vào Store và Calendar; bộ lọc từ hai lookup chung chảy xuống cả hai fact.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35 giây. Đáp án: C.</a:t>
            </a:r>
          </a:p>
          <a:p>
            <a:r>
              <a:t>LỜI GIẢNG</a:t>
            </a:r>
          </a:p>
          <a:p>
            <a:r>
              <a:t>C. Cùng một con số ở mọi dòng nghĩa là trường ở Rows không lọc được bảng ở Values. Với Target, đó là thiết kế: kế hoạch không lập theo ngành. Ghi giới hạn này vào KPI dictionary và đừng đặt ngành hàng cạnh Revenue vs Target %.</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35 giây. Đáp án: C.</a:t>
            </a:r>
          </a:p>
          <a:p>
            <a:r>
              <a:t>LỜI GIẢNG</a:t>
            </a:r>
          </a:p>
          <a:p>
            <a:r>
              <a:t>C. Dòng tổng có ngữ cảnh lọc riêng, "cả ba miền", và đếm khách không trùng trên cả ba miền. Đếm phân biệt, giống tỷ lệ, không cộng dồn được. Đây là lý do mọi KPI phải là measure: Pivot cộng các dòng thì sai, measure tính lại cho ô tổng thì đúng.</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1,7 phút.</a:t>
            </a:r>
          </a:p>
          <a:p>
            <a:r>
              <a:t>LỜI GIẢNG</a:t>
            </a:r>
          </a:p>
          <a:p>
            <a:r>
              <a:t>Năm điều cần nhớ (→ đọc lướt 5 ý trên slide). Viết câu insight trong một phút. (→ chờ, gọi 1–2 bạn đọc)</a:t>
            </a:r>
          </a:p>
          <a:p>
            <a:r>
              <a:t>Câu mẫu: "Tháng 1/2025 đạt 120,6% target nhưng tháng 2 chỉ 82,5%; gộp hai tháng đạt 103,2%. Nguyên nhân khả dĩ: Tết 2025 rơi vào 29/01 còn Tết 2024 rơi vào 10/02, trong khi target lập theo cùng tháng dương lịch năm trước nhân 110%, mua sắm Tết dồn sang tháng 1. Nên đánh giá tháng 1 và 2 gộp, không kết luận tháng 2 bán kém." Câu này đi từ con số, qua nguyên nhân đã kiểm chứng, tới hàm ý. Bước tiếp theo, nên lập target thế nào, là câu hỏi Tầng 4 của Buổi 6.</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Thời lượng: 0,8 phút.</a:t>
            </a:r>
          </a:p>
          <a:p>
            <a:r>
              <a:t>LỜI GIẢNG</a:t>
            </a:r>
          </a:p>
          <a:p>
            <a:r>
              <a:t>Hôm nay các bạn đã nối sáu bảng thành một mô hình ngôi sao, viết bộ KPI một lần, và chứng minh nó khớp từng đồng với Buổi 2. Năng lực D2, đối soát, kiểm giả định, giờ ở mức Competent.</a:t>
            </a:r>
          </a:p>
          <a:p>
            <a:r>
              <a:t>Bài về nhà là chính câu hỏi mở buổi, ở ngoài đời: phòng Kinh doanh gửi một báo cáo, số lệch với Tài chính. Các bạn đối soát, tìm ra bốn lý do khiến báo cáo đó sai, sửa mô hình và measure, rồi viết KPI dictionary. Đây cũng là hai tiêu chí C3 Mô hình và C4 KPI của bài capstone Buổi 7, cộng lại 35% số điểm, làm tốt bài này là các bạn đã tập trước phần đó.</a:t>
            </a:r>
          </a:p>
          <a:p>
            <a:r>
              <a:t>Số đã đúng. Nhưng một bảng Pivot dày đặc phần trăm không phải thứ giám đốc muốn đọc. Buổi 6 mình biến các measure hôm nay thành một dashboard một trang, mỗi con số trên đó vẫn đến từ đúng các measure này. Cảm ơn cả lớp, hẹn gặp lại!</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F2664-F3C6-6151-5EEA-86A461E82C44}"/>
              </a:ext>
            </a:extLst>
          </p:cNvPr>
          <p:cNvSpPr>
            <a:spLocks noGrp="1"/>
          </p:cNvSpPr>
          <p:nvPr>
            <p:ph type="ctrTitle"/>
          </p:nvPr>
        </p:nvSpPr>
        <p:spPr>
          <a:xfrm>
            <a:off x="1432560" y="2011680"/>
            <a:ext cx="10302240" cy="1737360"/>
          </a:xfrm>
        </p:spPr>
        <p:txBody>
          <a:bodyPr anchor="b"/>
          <a:lstStyle>
            <a:lvl1pPr algn="l">
              <a:defRPr sz="4800" b="1"/>
            </a:lvl1pPr>
          </a:lstStyle>
          <a:p>
            <a:r>
              <a:rPr lang="en-GB"/>
              <a:t>Click to edit Master title style</a:t>
            </a:r>
            <a:endParaRPr lang="en-US"/>
          </a:p>
        </p:txBody>
      </p:sp>
      <p:sp>
        <p:nvSpPr>
          <p:cNvPr id="3" name="Subtitle 2">
            <a:extLst>
              <a:ext uri="{FF2B5EF4-FFF2-40B4-BE49-F238E27FC236}">
                <a16:creationId xmlns:a16="http://schemas.microsoft.com/office/drawing/2014/main" id="{55A5D9FC-D4AA-338A-F692-F1B120AC9F9B}"/>
              </a:ext>
            </a:extLst>
          </p:cNvPr>
          <p:cNvSpPr>
            <a:spLocks noGrp="1"/>
          </p:cNvSpPr>
          <p:nvPr>
            <p:ph type="subTitle" idx="1"/>
          </p:nvPr>
        </p:nvSpPr>
        <p:spPr>
          <a:xfrm>
            <a:off x="1432560" y="3931920"/>
            <a:ext cx="10302240" cy="1097280"/>
          </a:xfrm>
        </p:spPr>
        <p:txBody>
          <a:bodyPr/>
          <a:lstStyle>
            <a:lvl1pPr marL="0" indent="0" algn="l">
              <a:buNone/>
              <a:defRPr sz="2400">
                <a:solidFill>
                  <a:srgbClr val="585858"/>
                </a:solidFill>
              </a:defRPr>
            </a:lvl1pPr>
            <a:lvl2pPr marL="457200" indent="0" algn="ctr">
              <a:buNone/>
              <a:defRPr sz="2000">
                <a:solidFill>
                  <a:srgbClr val="585858"/>
                </a:solidFill>
              </a:defRPr>
            </a:lvl2pPr>
            <a:lvl3pPr marL="914400" indent="0" algn="ctr">
              <a:buNone/>
              <a:defRPr sz="1800">
                <a:solidFill>
                  <a:srgbClr val="585858"/>
                </a:solidFill>
              </a:defRPr>
            </a:lvl3pPr>
            <a:lvl4pPr marL="1371600" indent="0" algn="ctr">
              <a:buNone/>
              <a:defRPr sz="1600">
                <a:solidFill>
                  <a:srgbClr val="585858"/>
                </a:solidFill>
              </a:defRPr>
            </a:lvl4pPr>
            <a:lvl5pPr marL="1828800" indent="0" algn="ctr">
              <a:buNone/>
              <a:defRPr sz="1600">
                <a:solidFill>
                  <a:srgbClr val="585858"/>
                </a:solidFill>
              </a:defRPr>
            </a:lvl5pPr>
            <a:lvl6pPr marL="2286000" indent="0" algn="ctr">
              <a:buNone/>
              <a:defRPr sz="1600">
                <a:solidFill>
                  <a:srgbClr val="585858"/>
                </a:solidFill>
              </a:defRPr>
            </a:lvl6pPr>
            <a:lvl7pPr marL="2743200" indent="0" algn="ctr">
              <a:buNone/>
              <a:defRPr sz="1600">
                <a:solidFill>
                  <a:srgbClr val="585858"/>
                </a:solidFill>
              </a:defRPr>
            </a:lvl7pPr>
            <a:lvl8pPr marL="3200400" indent="0" algn="ctr">
              <a:buNone/>
              <a:defRPr sz="1600">
                <a:solidFill>
                  <a:srgbClr val="585858"/>
                </a:solidFill>
              </a:defRPr>
            </a:lvl8pPr>
            <a:lvl9pPr marL="3657600" indent="0" algn="ctr">
              <a:buNone/>
              <a:defRPr sz="1600">
                <a:solidFill>
                  <a:srgbClr val="585858"/>
                </a:solidFill>
              </a:defRPr>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00E1E18-61FE-3D83-17A2-F39391068259}"/>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5" name="Footer Placeholder 4">
            <a:extLst>
              <a:ext uri="{FF2B5EF4-FFF2-40B4-BE49-F238E27FC236}">
                <a16:creationId xmlns:a16="http://schemas.microsoft.com/office/drawing/2014/main" id="{0AB0BF97-2C91-ED2E-CD8F-3CAC10D59F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FBB26-71FB-8170-009A-EF8735C76EBF}"/>
              </a:ext>
            </a:extLst>
          </p:cNvPr>
          <p:cNvSpPr>
            <a:spLocks noGrp="1"/>
          </p:cNvSpPr>
          <p:nvPr>
            <p:ph type="sldNum" sz="quarter" idx="12"/>
          </p:nvPr>
        </p:nvSpPr>
        <p:spPr/>
        <p:txBody>
          <a:bodyPr/>
          <a:lstStyle/>
          <a:p>
            <a:fld id="{7A9419BB-C971-F34B-8B82-C5E9A3ED8678}" type="slidenum">
              <a:rPr lang="en-US" smtClean="0"/>
              <a:t>‹#›</a:t>
            </a:fld>
            <a:endParaRPr lang="en-US"/>
          </a:p>
        </p:txBody>
      </p:sp>
      <p:sp>
        <p:nvSpPr>
          <p:cNvPr id="30" name="MCI Wordmark"/>
          <p:cNvSpPr txBox="1"/>
          <p:nvPr userDrawn="1"/>
        </p:nvSpPr>
        <p:spPr>
          <a:xfrm>
            <a:off x="1432560" y="548640"/>
            <a:ext cx="2743200" cy="548640"/>
          </a:xfrm>
          <a:prstGeom prst="rect">
            <a:avLst/>
          </a:prstGeom>
          <a:noFill/>
        </p:spPr>
        <p:txBody>
          <a:bodyPr wrap="none" lIns="91440" anchor="t"/>
          <a:lstStyle/>
          <a:p>
            <a:r>
              <a:rPr lang="en-US" sz="2800" b="1">
                <a:solidFill>
                  <a:srgbClr val="203864"/>
                </a:solidFill>
                <a:latin typeface="Arial"/>
              </a:rPr>
              <a:t>MCI</a:t>
            </a:r>
          </a:p>
        </p:txBody>
      </p:sp>
    </p:spTree>
    <p:extLst>
      <p:ext uri="{BB962C8B-B14F-4D97-AF65-F5344CB8AC3E}">
        <p14:creationId xmlns:p14="http://schemas.microsoft.com/office/powerpoint/2010/main" val="28684961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2B9EE3C0-7C20-5445-A788-9AB5D82D90FB}" type="datetimeFigureOut">
              <a:rPr lang="en-US" smtClean="0"/>
              <a:t>14/10/2026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2595178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99C69-77BA-2FF0-04BC-65E5F21C4106}"/>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A047FBA-36F6-5941-AE5A-3C28ABD9791D}"/>
              </a:ext>
            </a:extLst>
          </p:cNvPr>
          <p:cNvSpPr>
            <a:spLocks noGrp="1"/>
          </p:cNvSpPr>
          <p:nvPr>
            <p:ph sz="half" idx="1"/>
          </p:nvPr>
        </p:nvSpPr>
        <p:spPr>
          <a:xfrm>
            <a:off x="1432560"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363C48E-6F94-484B-3886-58203F5425D9}"/>
              </a:ext>
            </a:extLst>
          </p:cNvPr>
          <p:cNvSpPr>
            <a:spLocks noGrp="1"/>
          </p:cNvSpPr>
          <p:nvPr>
            <p:ph sz="half" idx="2"/>
          </p:nvPr>
        </p:nvSpPr>
        <p:spPr>
          <a:xfrm>
            <a:off x="6658334" y="1825625"/>
            <a:ext cx="5076466"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AA01DA5-559C-410C-9CC7-0933837962D9}"/>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6" name="Footer Placeholder 5">
            <a:extLst>
              <a:ext uri="{FF2B5EF4-FFF2-40B4-BE49-F238E27FC236}">
                <a16:creationId xmlns:a16="http://schemas.microsoft.com/office/drawing/2014/main" id="{D24F1E9D-60B2-BB85-7303-C28EBFC26C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8712A5-3FB3-1E06-8027-6B8BD1AA8F2A}"/>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9126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cSld name="Section Header">
    <p:bg>
      <p:bgPr>
        <a:solidFill>
          <a:srgbClr val="203864"/>
        </a:solidFill>
        <a:effectLst/>
      </p:bgPr>
    </p:bg>
    <p:spTree>
      <p:nvGrpSpPr>
        <p:cNvPr id="1" name=""/>
        <p:cNvGrpSpPr/>
        <p:nvPr/>
      </p:nvGrpSpPr>
      <p:grpSpPr>
        <a:xfrm>
          <a:off x="0" y="0"/>
          <a:ext cx="0" cy="0"/>
          <a:chOff x="0" y="0"/>
          <a:chExt cx="0" cy="0"/>
        </a:xfrm>
      </p:grpSpPr>
      <p:sp>
        <p:nvSpPr>
          <p:cNvPr id="7" name="MCI wordmark"/>
          <p:cNvSpPr txBox="1"/>
          <p:nvPr userDrawn="1"/>
        </p:nvSpPr>
        <p:spPr>
          <a:xfrm>
            <a:off x="914400" y="640080"/>
            <a:ext cx="6400800" cy="457200"/>
          </a:xfrm>
          <a:prstGeom prst="rect">
            <a:avLst/>
          </a:prstGeom>
          <a:noFill/>
        </p:spPr>
        <p:txBody>
          <a:bodyPr wrap="none" lIns="0" rIns="0" anchor="ctr"/>
          <a:lstStyle/>
          <a:p>
            <a:r>
              <a:rPr lang="en-US" sz="2400" b="1">
                <a:solidFill>
                  <a:srgbClr val="FFFFFF"/>
                </a:solidFill>
              </a:rPr>
              <a:t>MCI</a:t>
            </a:r>
            <a:r>
              <a:rPr lang="en-US" sz="1200" spc="200">
                <a:solidFill>
                  <a:srgbClr val="FFFFFF"/>
                </a:solidFill>
              </a:rPr>
              <a:t>   MAGIC CODE INSTITUTE</a:t>
            </a:r>
          </a:p>
        </p:txBody>
      </p:sp>
      <p:sp>
        <p:nvSpPr>
          <p:cNvPr id="8" name="Gold rule"/>
          <p:cNvSpPr/>
          <p:nvPr userDrawn="1"/>
        </p:nvSpPr>
        <p:spPr>
          <a:xfrm>
            <a:off x="914400" y="4480560"/>
            <a:ext cx="1097280" cy="54864"/>
          </a:xfrm>
          <a:prstGeom prst="rect">
            <a:avLst/>
          </a:prstGeom>
          <a:solidFill>
            <a:srgbClr val="FFC000"/>
          </a:solidFill>
          <a:ln>
            <a:noFill/>
          </a:ln>
        </p:spPr>
        <p:txBody>
          <a:bodyPr/>
          <a:lstStyle/>
          <a:p>
            <a:endParaRPr lang="en-US"/>
          </a:p>
        </p:txBody>
      </p:sp>
      <p:sp>
        <p:nvSpPr>
          <p:cNvPr id="2" name="Title 1"/>
          <p:cNvSpPr>
            <a:spLocks noGrp="1"/>
          </p:cNvSpPr>
          <p:nvPr>
            <p:ph type="title"/>
          </p:nvPr>
        </p:nvSpPr>
        <p:spPr>
          <a:xfrm>
            <a:off x="914400" y="2286000"/>
            <a:ext cx="10363200" cy="2011680"/>
          </a:xfrm>
        </p:spPr>
        <p:txBody>
          <a:bodyPr lIns="0" anchor="b">
            <a:normAutofit/>
          </a:bodyPr>
          <a:lstStyle>
            <a:lvl1pPr algn="l">
              <a:defRPr sz="3200" b="1">
                <a:solidFill>
                  <a:srgbClr val="FFFFFF"/>
                </a:solidFill>
              </a:defRPr>
            </a:lvl1pPr>
          </a:lstStyle>
          <a:p>
            <a:r>
              <a:rPr lang="en-GB"/>
              <a:t>Click to edit Master title style</a:t>
            </a:r>
          </a:p>
        </p:txBody>
      </p:sp>
      <p:sp>
        <p:nvSpPr>
          <p:cNvPr id="3" name="Text Placeholder 2"/>
          <p:cNvSpPr>
            <a:spLocks noGrp="1"/>
          </p:cNvSpPr>
          <p:nvPr>
            <p:ph type="body" idx="1"/>
          </p:nvPr>
        </p:nvSpPr>
        <p:spPr>
          <a:xfrm>
            <a:off x="914400" y="4709160"/>
            <a:ext cx="10363200" cy="914400"/>
          </a:xfrm>
        </p:spPr>
        <p:txBody>
          <a:bodyPr lIns="0">
            <a:normAutofit/>
          </a:bodyPr>
          <a:lstStyle>
            <a:lvl1pPr marL="0" indent="0">
              <a:buNone/>
              <a:defRPr sz="2000">
                <a:solidFill>
                  <a:srgbClr val="D9DEE8"/>
                </a:solidFill>
              </a:defRPr>
            </a:lvl1pPr>
          </a:lstStyle>
          <a:p>
            <a:r>
              <a:rPr lang="en-GB"/>
              <a:t>Click to edit Master text styles</a:t>
            </a:r>
          </a:p>
        </p:txBody>
      </p:sp>
    </p:spTree>
    <p:extLst>
      <p:ext uri="{BB962C8B-B14F-4D97-AF65-F5344CB8AC3E}">
        <p14:creationId xmlns:p14="http://schemas.microsoft.com/office/powerpoint/2010/main" val="13138492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EF857-DF32-3922-EA31-5B12F1BF389B}"/>
              </a:ext>
            </a:extLst>
          </p:cNvPr>
          <p:cNvSpPr>
            <a:spLocks noGrp="1"/>
          </p:cNvSpPr>
          <p:nvPr>
            <p:ph type="title"/>
          </p:nvPr>
        </p:nvSpPr>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4679F92-7EED-D73E-34B9-2B5BEA02D8D5}"/>
              </a:ext>
            </a:extLst>
          </p:cNvPr>
          <p:cNvSpPr>
            <a:spLocks noGrp="1"/>
          </p:cNvSpPr>
          <p:nvPr>
            <p:ph type="body" idx="1"/>
          </p:nvPr>
        </p:nvSpPr>
        <p:spPr>
          <a:xfrm>
            <a:off x="1434116" y="1681163"/>
            <a:ext cx="505313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62207B-D76F-1445-6E60-70B87DB80392}"/>
              </a:ext>
            </a:extLst>
          </p:cNvPr>
          <p:cNvSpPr>
            <a:spLocks noGrp="1"/>
          </p:cNvSpPr>
          <p:nvPr>
            <p:ph sz="half" idx="2"/>
          </p:nvPr>
        </p:nvSpPr>
        <p:spPr>
          <a:xfrm>
            <a:off x="1434116" y="2505075"/>
            <a:ext cx="5053136"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8CA2C473-0CB1-0F03-79FD-FCFC188E51A4}"/>
              </a:ext>
            </a:extLst>
          </p:cNvPr>
          <p:cNvSpPr>
            <a:spLocks noGrp="1"/>
          </p:cNvSpPr>
          <p:nvPr>
            <p:ph type="body" sz="quarter" idx="3"/>
          </p:nvPr>
        </p:nvSpPr>
        <p:spPr>
          <a:xfrm>
            <a:off x="6658334" y="1681163"/>
            <a:ext cx="507802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BAADC17-123C-1B98-9C55-4D7D49845E27}"/>
              </a:ext>
            </a:extLst>
          </p:cNvPr>
          <p:cNvSpPr>
            <a:spLocks noGrp="1"/>
          </p:cNvSpPr>
          <p:nvPr>
            <p:ph sz="quarter" idx="4"/>
          </p:nvPr>
        </p:nvSpPr>
        <p:spPr>
          <a:xfrm>
            <a:off x="6658334" y="2505075"/>
            <a:ext cx="5078022"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D65B6DB-77BD-9C6E-5E6D-A7BE78333BB6}"/>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8" name="Footer Placeholder 7">
            <a:extLst>
              <a:ext uri="{FF2B5EF4-FFF2-40B4-BE49-F238E27FC236}">
                <a16:creationId xmlns:a16="http://schemas.microsoft.com/office/drawing/2014/main" id="{20E678BE-8847-6D2F-3F45-91CA985AB5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5D1A3EE-6065-DD56-6A88-F914D5B4C1CD}"/>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101045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D3570-678E-8041-1DC8-86B01C4FBAB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59A16AD-B058-70BE-DBC1-78AA9918405A}"/>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4" name="Footer Placeholder 3">
            <a:extLst>
              <a:ext uri="{FF2B5EF4-FFF2-40B4-BE49-F238E27FC236}">
                <a16:creationId xmlns:a16="http://schemas.microsoft.com/office/drawing/2014/main" id="{1B6D8CAC-8260-A67D-8732-DD723079489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AC877EE-C1CB-3D64-07B4-8AA215343EB2}"/>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3319456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DBE4EAE-A436-DD75-26A9-7E4EF0EABAB8}"/>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3" name="Footer Placeholder 2">
            <a:extLst>
              <a:ext uri="{FF2B5EF4-FFF2-40B4-BE49-F238E27FC236}">
                <a16:creationId xmlns:a16="http://schemas.microsoft.com/office/drawing/2014/main" id="{F04AE991-C68F-060D-534A-2D1CFE37960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EA977B5-CCC9-8A85-1F45-60EE63654905}"/>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26975575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23B96-0970-502F-414D-7E067632F191}"/>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FA5074C-7090-612E-5DF9-E393D6B4F569}"/>
              </a:ext>
            </a:extLst>
          </p:cNvPr>
          <p:cNvSpPr>
            <a:spLocks noGrp="1"/>
          </p:cNvSpPr>
          <p:nvPr>
            <p:ph idx="1"/>
          </p:nvPr>
        </p:nvSpPr>
        <p:spPr>
          <a:xfrm>
            <a:off x="5689389" y="987425"/>
            <a:ext cx="6046967"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E913B6C-C8CA-B03D-EAFC-66D24F36F00D}"/>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0F8C85-7E3A-1BF3-57B7-67DC51295901}"/>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6" name="Footer Placeholder 5">
            <a:extLst>
              <a:ext uri="{FF2B5EF4-FFF2-40B4-BE49-F238E27FC236}">
                <a16:creationId xmlns:a16="http://schemas.microsoft.com/office/drawing/2014/main" id="{C1759792-564A-D064-DC38-377FE5F36A9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02A526-D348-A6A7-D6D8-765874ABCCF7}"/>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467445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02A28-28CD-FDCB-9BDE-BBD7761D9F80}"/>
              </a:ext>
            </a:extLst>
          </p:cNvPr>
          <p:cNvSpPr>
            <a:spLocks noGrp="1"/>
          </p:cNvSpPr>
          <p:nvPr>
            <p:ph type="title"/>
          </p:nvPr>
        </p:nvSpPr>
        <p:spPr>
          <a:xfrm>
            <a:off x="1434116" y="457200"/>
            <a:ext cx="3852452"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3202B5F-EA9B-1AF8-17E8-85154BC8C380}"/>
              </a:ext>
            </a:extLst>
          </p:cNvPr>
          <p:cNvSpPr>
            <a:spLocks noGrp="1" noChangeAspect="1"/>
          </p:cNvSpPr>
          <p:nvPr>
            <p:ph type="pic" idx="1"/>
          </p:nvPr>
        </p:nvSpPr>
        <p:spPr>
          <a:xfrm>
            <a:off x="5689389" y="987425"/>
            <a:ext cx="6046967"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85D4558-CC71-6A22-1E4F-81F961813C80}"/>
              </a:ext>
            </a:extLst>
          </p:cNvPr>
          <p:cNvSpPr>
            <a:spLocks noGrp="1"/>
          </p:cNvSpPr>
          <p:nvPr>
            <p:ph type="body" sz="half" idx="2"/>
          </p:nvPr>
        </p:nvSpPr>
        <p:spPr>
          <a:xfrm>
            <a:off x="1434116" y="2057400"/>
            <a:ext cx="3852452"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1F5ABD8-1DA1-C358-4422-ED8A78AC2C6E}"/>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6" name="Footer Placeholder 5">
            <a:extLst>
              <a:ext uri="{FF2B5EF4-FFF2-40B4-BE49-F238E27FC236}">
                <a16:creationId xmlns:a16="http://schemas.microsoft.com/office/drawing/2014/main" id="{8E16271F-39F3-E81F-443B-21DC458CD81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728C95-36D3-1FDC-12F9-75C4D3BE95B3}"/>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916574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4C102-A4A5-EF09-43CF-6253ED77AAC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7E998EF-69FA-C77A-8A76-22992DE77A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4B466E2-7B90-931F-632B-D59F99017C24}"/>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5" name="Footer Placeholder 4">
            <a:extLst>
              <a:ext uri="{FF2B5EF4-FFF2-40B4-BE49-F238E27FC236}">
                <a16:creationId xmlns:a16="http://schemas.microsoft.com/office/drawing/2014/main" id="{3A3200D8-8910-5148-4843-3D52384BF0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22BED4-5DB4-45F1-5ACC-643FFD821F64}"/>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1507418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1FF3541-96FF-94D7-F45B-F634CD3B44BF}"/>
              </a:ext>
            </a:extLst>
          </p:cNvPr>
          <p:cNvSpPr>
            <a:spLocks noGrp="1"/>
          </p:cNvSpPr>
          <p:nvPr>
            <p:ph type="title" orient="vert"/>
          </p:nvPr>
        </p:nvSpPr>
        <p:spPr>
          <a:xfrm>
            <a:off x="9159240" y="365125"/>
            <a:ext cx="257556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5A22BC46-4E1A-B46B-F1C8-4E24A201B337}"/>
              </a:ext>
            </a:extLst>
          </p:cNvPr>
          <p:cNvSpPr>
            <a:spLocks noGrp="1"/>
          </p:cNvSpPr>
          <p:nvPr>
            <p:ph type="body" orient="vert" idx="1"/>
          </p:nvPr>
        </p:nvSpPr>
        <p:spPr>
          <a:xfrm>
            <a:off x="1432560" y="365125"/>
            <a:ext cx="7577372"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E63504C-0F86-E102-3E0C-290A4BB0A6D4}"/>
              </a:ext>
            </a:extLst>
          </p:cNvPr>
          <p:cNvSpPr>
            <a:spLocks noGrp="1"/>
          </p:cNvSpPr>
          <p:nvPr>
            <p:ph type="dt" sz="half" idx="10"/>
          </p:nvPr>
        </p:nvSpPr>
        <p:spPr/>
        <p:txBody>
          <a:bodyPr/>
          <a:lstStyle/>
          <a:p>
            <a:fld id="{2B9EE3C0-7C20-5445-A788-9AB5D82D90FB}" type="datetimeFigureOut">
              <a:rPr lang="en-US" smtClean="0"/>
              <a:t>14/10/2026</a:t>
            </a:fld>
            <a:endParaRPr lang="en-US"/>
          </a:p>
        </p:txBody>
      </p:sp>
      <p:sp>
        <p:nvSpPr>
          <p:cNvPr id="5" name="Footer Placeholder 4">
            <a:extLst>
              <a:ext uri="{FF2B5EF4-FFF2-40B4-BE49-F238E27FC236}">
                <a16:creationId xmlns:a16="http://schemas.microsoft.com/office/drawing/2014/main" id="{12A90F48-5867-0DF6-F507-5379E890B3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D93CD6-4795-CA01-149F-B154B4516B3C}"/>
              </a:ext>
            </a:extLst>
          </p:cNvPr>
          <p:cNvSpPr>
            <a:spLocks noGrp="1"/>
          </p:cNvSpPr>
          <p:nvPr>
            <p:ph type="sldNum" sz="quarter" idx="12"/>
          </p:nvPr>
        </p:nvSpPr>
        <p:spPr/>
        <p:txBody>
          <a:bodyPr/>
          <a:lstStyle/>
          <a:p>
            <a:fld id="{7A9419BB-C971-F34B-8B82-C5E9A3ED8678}" type="slidenum">
              <a:rPr lang="en-US" smtClean="0"/>
              <a:t>‹#›</a:t>
            </a:fld>
            <a:endParaRPr lang="en-US"/>
          </a:p>
        </p:txBody>
      </p:sp>
    </p:spTree>
    <p:extLst>
      <p:ext uri="{BB962C8B-B14F-4D97-AF65-F5344CB8AC3E}">
        <p14:creationId xmlns:p14="http://schemas.microsoft.com/office/powerpoint/2010/main" val="9684304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MCI Rail"/>
          <p:cNvSpPr/>
          <p:nvPr userDrawn="1"/>
        </p:nvSpPr>
        <p:spPr>
          <a:xfrm>
            <a:off x="0" y="0"/>
            <a:ext cx="975360" cy="6858000"/>
          </a:xfrm>
          <a:prstGeom prst="rect">
            <a:avLst/>
          </a:prstGeom>
          <a:solidFill>
            <a:srgbClr val="203864"/>
          </a:solidFill>
          <a:ln>
            <a:noFill/>
          </a:ln>
        </p:spPr>
        <p:txBody>
          <a:bodyPr/>
          <a:lstStyle/>
          <a:p>
            <a:endParaRPr lang="en-US"/>
          </a:p>
        </p:txBody>
      </p:sp>
      <p:sp>
        <p:nvSpPr>
          <p:cNvPr id="2" name="Title Placeholder 1">
            <a:extLst>
              <a:ext uri="{FF2B5EF4-FFF2-40B4-BE49-F238E27FC236}">
                <a16:creationId xmlns:a16="http://schemas.microsoft.com/office/drawing/2014/main" id="{5773FA29-7399-D724-95CF-8F2F56D526D4}"/>
              </a:ext>
            </a:extLst>
          </p:cNvPr>
          <p:cNvSpPr>
            <a:spLocks noGrp="1"/>
          </p:cNvSpPr>
          <p:nvPr>
            <p:ph type="title"/>
          </p:nvPr>
        </p:nvSpPr>
        <p:spPr>
          <a:xfrm>
            <a:off x="1432560" y="365760"/>
            <a:ext cx="10302240" cy="1005840"/>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AA5F95C9-A218-9682-28A0-7A7C952763F2}"/>
              </a:ext>
            </a:extLst>
          </p:cNvPr>
          <p:cNvSpPr>
            <a:spLocks noGrp="1"/>
          </p:cNvSpPr>
          <p:nvPr>
            <p:ph type="body" idx="1"/>
          </p:nvPr>
        </p:nvSpPr>
        <p:spPr>
          <a:xfrm>
            <a:off x="1432560" y="1554480"/>
            <a:ext cx="10302240" cy="4572000"/>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29F865D-4C91-A852-2C9F-A2DE37302B15}"/>
              </a:ext>
            </a:extLst>
          </p:cNvPr>
          <p:cNvSpPr>
            <a:spLocks noGrp="1"/>
          </p:cNvSpPr>
          <p:nvPr>
            <p:ph type="dt" sz="half" idx="2"/>
          </p:nvPr>
        </p:nvSpPr>
        <p:spPr>
          <a:xfrm>
            <a:off x="1432560" y="6309360"/>
            <a:ext cx="2743200" cy="320040"/>
          </a:xfrm>
          <a:prstGeom prst="rect">
            <a:avLst/>
          </a:prstGeom>
        </p:spPr>
        <p:txBody>
          <a:bodyPr vert="horz" lIns="91440" tIns="45720" rIns="91440" bIns="45720" rtlCol="0" anchor="ctr"/>
          <a:lstStyle>
            <a:lvl1pPr algn="l">
              <a:defRPr sz="1200">
                <a:solidFill>
                  <a:srgbClr val="6B6F76"/>
                </a:solidFill>
              </a:defRPr>
            </a:lvl1pPr>
          </a:lstStyle>
          <a:p>
            <a:fld id="{2B9EE3C0-7C20-5445-A788-9AB5D82D90FB}" type="datetimeFigureOut">
              <a:rPr lang="en-US" smtClean="0"/>
              <a:t>14/10/2026</a:t>
            </a:fld>
            <a:endParaRPr lang="en-US"/>
          </a:p>
        </p:txBody>
      </p:sp>
      <p:sp>
        <p:nvSpPr>
          <p:cNvPr id="5" name="Footer Placeholder 4">
            <a:extLst>
              <a:ext uri="{FF2B5EF4-FFF2-40B4-BE49-F238E27FC236}">
                <a16:creationId xmlns:a16="http://schemas.microsoft.com/office/drawing/2014/main" id="{D75018BC-A677-96B0-5B2E-4AEDE18B0ABF}"/>
              </a:ext>
            </a:extLst>
          </p:cNvPr>
          <p:cNvSpPr>
            <a:spLocks noGrp="1"/>
          </p:cNvSpPr>
          <p:nvPr>
            <p:ph type="ftr" sz="quarter" idx="3"/>
          </p:nvPr>
        </p:nvSpPr>
        <p:spPr>
          <a:xfrm>
            <a:off x="4358640" y="6309360"/>
            <a:ext cx="6187440" cy="320040"/>
          </a:xfrm>
          <a:prstGeom prst="rect">
            <a:avLst/>
          </a:prstGeom>
        </p:spPr>
        <p:txBody>
          <a:bodyPr vert="horz" lIns="91440" tIns="45720" rIns="91440" bIns="45720" rtlCol="0" anchor="ctr"/>
          <a:lstStyle>
            <a:lvl1pPr algn="ctr">
              <a:defRPr sz="1200">
                <a:solidFill>
                  <a:srgbClr val="6B6F76"/>
                </a:solidFill>
              </a:defRPr>
            </a:lvl1pPr>
          </a:lstStyle>
          <a:p>
            <a:endParaRPr lang="en-US"/>
          </a:p>
        </p:txBody>
      </p:sp>
      <p:sp>
        <p:nvSpPr>
          <p:cNvPr id="6" name="Slide Number Placeholder 5">
            <a:extLst>
              <a:ext uri="{FF2B5EF4-FFF2-40B4-BE49-F238E27FC236}">
                <a16:creationId xmlns:a16="http://schemas.microsoft.com/office/drawing/2014/main" id="{E03E26B6-86C7-AF0E-2F2F-E4F6A075784B}"/>
              </a:ext>
            </a:extLst>
          </p:cNvPr>
          <p:cNvSpPr>
            <a:spLocks noGrp="1"/>
          </p:cNvSpPr>
          <p:nvPr>
            <p:ph type="sldNum" sz="quarter" idx="4"/>
          </p:nvPr>
        </p:nvSpPr>
        <p:spPr>
          <a:xfrm>
            <a:off x="10637520" y="6309360"/>
            <a:ext cx="1097280" cy="320040"/>
          </a:xfrm>
          <a:prstGeom prst="rect">
            <a:avLst/>
          </a:prstGeom>
        </p:spPr>
        <p:txBody>
          <a:bodyPr vert="horz" lIns="91440" tIns="45720" rIns="91440" bIns="45720" rtlCol="0" anchor="ctr"/>
          <a:lstStyle>
            <a:lvl1pPr algn="r">
              <a:defRPr sz="1200">
                <a:solidFill>
                  <a:srgbClr val="6B6F76"/>
                </a:solidFill>
              </a:defRPr>
            </a:lvl1pPr>
          </a:lstStyle>
          <a:p>
            <a:fld id="{7A9419BB-C971-F34B-8B82-C5E9A3ED8678}" type="slidenum">
              <a:rPr lang="en-US" smtClean="0"/>
              <a:t>‹#›</a:t>
            </a:fld>
            <a:endParaRPr lang="en-US"/>
          </a:p>
        </p:txBody>
      </p:sp>
    </p:spTree>
    <p:extLst>
      <p:ext uri="{BB962C8B-B14F-4D97-AF65-F5344CB8AC3E}">
        <p14:creationId xmlns:p14="http://schemas.microsoft.com/office/powerpoint/2010/main" val="2916804908"/>
      </p:ext>
    </p:extLst>
  </p:cSld>
  <p:clrMap bg1="lt1" tx1="dk1" bg2="lt2" tx2="dk2" accent1="accent1" accent2="accent2" accent3="accent3" accent4="accent4" accent5="accent5" accent6="accent6" hlink="hlink" folHlink="folHlink"/>
  <p:sldLayoutIdLst>
    <p:sldLayoutId id="2147483699" r:id="rId1"/>
    <p:sldLayoutId id="2147483696" r:id="rId2"/>
    <p:sldLayoutId id="2147483700" r:id="rId3"/>
    <p:sldLayoutId id="2147483697"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000" b="1" kern="120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p:cNvSpPr txBox="1"/>
          <p:nvPr/>
        </p:nvSpPr>
        <p:spPr>
          <a:xfrm>
            <a:off x="1524000" y="1554480"/>
            <a:ext cx="10119360" cy="320040"/>
          </a:xfrm>
          <a:prstGeom prst="rect">
            <a:avLst/>
          </a:prstGeom>
          <a:noFill/>
          <a:ln>
            <a:noFill/>
          </a:ln>
        </p:spPr>
        <p:txBody>
          <a:bodyPr wrap="square" lIns="0" tIns="0" rIns="0" bIns="0" rtlCol="0" anchor="b">
            <a:noAutofit/>
          </a:bodyPr>
          <a:lstStyle/>
          <a:p>
            <a:pPr marL="0" indent="0">
              <a:buNone/>
            </a:pPr>
            <a:r>
              <a:rPr lang="vi-VN" sz="1400" b="1" spc="200">
                <a:solidFill>
                  <a:srgbClr val="585858"/>
                </a:solidFill>
              </a:rPr>
              <a:t>CONSULTING &amp; ANALYTICS</a:t>
            </a:r>
            <a:endParaRPr lang="vi-VN" sz="1400"/>
          </a:p>
        </p:txBody>
      </p:sp>
      <p:sp>
        <p:nvSpPr>
          <p:cNvPr id="12" name="ctrTitle 12"/>
          <p:cNvSpPr>
            <a:spLocks noGrp="1"/>
          </p:cNvSpPr>
          <p:nvPr>
            <p:ph type="ctrTitle"/>
          </p:nvPr>
        </p:nvSpPr>
        <p:spPr/>
        <p:txBody>
          <a:bodyPr>
            <a:normAutofit/>
          </a:bodyPr>
          <a:lstStyle/>
          <a:p>
            <a:r>
              <a:rPr lang="vi-VN"/>
              <a:t>Excel for Business Intelligence Analyst</a:t>
            </a:r>
          </a:p>
        </p:txBody>
      </p:sp>
      <p:sp>
        <p:nvSpPr>
          <p:cNvPr id="13" name="subTitle 13"/>
          <p:cNvSpPr>
            <a:spLocks noGrp="1"/>
          </p:cNvSpPr>
          <p:nvPr>
            <p:ph type="subTitle" idx="1"/>
          </p:nvPr>
        </p:nvSpPr>
        <p:spPr/>
        <p:txBody>
          <a:bodyPr>
            <a:normAutofit/>
          </a:bodyPr>
          <a:lstStyle/>
          <a:p>
            <a:r>
              <a:rPr lang="vi-VN"/>
              <a:t>Buổi 5: Mô hình dữ liệu &amp; DAX</a:t>
            </a:r>
          </a:p>
        </p:txBody>
      </p:sp>
      <p:cxnSp>
        <p:nvCxnSpPr>
          <p:cNvPr id="14" name="Line 14"/>
          <p:cNvCxnSpPr/>
          <p:nvPr/>
        </p:nvCxnSpPr>
        <p:spPr>
          <a:xfrm>
            <a:off x="1524000" y="5669280"/>
            <a:ext cx="10119360" cy="0"/>
          </a:xfrm>
          <a:prstGeom prst="line">
            <a:avLst/>
          </a:prstGeom>
          <a:ln w="12700">
            <a:solidFill>
              <a:srgbClr val="D9DEE8"/>
            </a:solidFill>
          </a:ln>
        </p:spPr>
      </p:cxnSp>
      <p:sp>
        <p:nvSpPr>
          <p:cNvPr id="15" name="TextBox"/>
          <p:cNvSpPr txBox="1"/>
          <p:nvPr/>
        </p:nvSpPr>
        <p:spPr>
          <a:xfrm>
            <a:off x="1524000" y="5760720"/>
            <a:ext cx="10119360" cy="822960"/>
          </a:xfrm>
          <a:prstGeom prst="rect">
            <a:avLst/>
          </a:prstGeom>
          <a:noFill/>
          <a:ln>
            <a:noFill/>
          </a:ln>
        </p:spPr>
        <p:txBody>
          <a:bodyPr wrap="square" lIns="0" tIns="0" rIns="0" bIns="0" rtlCol="0" anchor="t">
            <a:noAutofit/>
          </a:bodyPr>
          <a:lstStyle/>
          <a:p>
            <a:pPr marL="0" indent="0">
              <a:buNone/>
            </a:pPr>
            <a:r>
              <a:rPr lang="vi-VN" sz="1400">
                <a:solidFill>
                  <a:srgbClr val="585858"/>
                </a:solidFill>
              </a:rPr>
              <a:t>Bắt buộc máy Windows có Power Pivot (Data → Manage Data Model)</a:t>
            </a:r>
            <a:endParaRPr lang="vi-VN" sz="1400"/>
          </a:p>
          <a:p>
            <a:pPr marL="0" indent="0">
              <a:buNone/>
            </a:pPr>
            <a:r>
              <a:rPr lang="vi-VN" sz="1400">
                <a:solidFill>
                  <a:srgbClr val="585858"/>
                </a:solidFill>
              </a:rPr>
              <a:t>Mở sẵn: file khởi đầu B4_MCI_Mart_Answer.xlsx (đáp án Buổi 4)</a:t>
            </a:r>
            <a:endParaRPr lang="vi-VN" sz="1400"/>
          </a:p>
        </p:txBody>
      </p:sp>
    </p:spTree>
    <p:extLst>
      <p:ext uri="{BB962C8B-B14F-4D97-AF65-F5344CB8AC3E}">
        <p14:creationId xmlns:p14="http://schemas.microsoft.com/office/powerpoint/2010/main" val="2243051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Câu hỏi mở buổi</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sp>
        <p:nvSpPr>
          <p:cNvPr id="4" name="TextBox"/>
          <p:cNvSpPr txBox="1"/>
          <p:nvPr/>
        </p:nvSpPr>
        <p:spPr>
          <a:xfrm>
            <a:off x="1527048" y="1600200"/>
            <a:ext cx="10122408" cy="1371600"/>
          </a:xfrm>
          <a:prstGeom prst="rect">
            <a:avLst/>
          </a:prstGeom>
          <a:noFill/>
        </p:spPr>
        <p:txBody>
          <a:bodyPr wrap="square" lIns="0" tIns="0" rIns="0" bIns="0" anchor="t">
            <a:spAutoFit/>
          </a:bodyPr>
          <a:lstStyle/>
          <a:p>
            <a:r>
              <a:rPr sz="2600" b="1">
                <a:solidFill>
                  <a:srgbClr val="203864"/>
                </a:solidFill>
                <a:latin typeface="Arial"/>
              </a:rPr>
              <a:t>"Doanh thu tháng này đạt bao nhiêu % mục tiêu, và vì sao mỗi báo cáo cũ lại ra một con số khác nhau?"</a:t>
            </a:r>
          </a:p>
        </p:txBody>
      </p:sp>
      <p:sp>
        <p:nvSpPr>
          <p:cNvPr id="5" name="Tier chip"/>
          <p:cNvSpPr/>
          <p:nvPr/>
        </p:nvSpPr>
        <p:spPr>
          <a:xfrm>
            <a:off x="1527048" y="3017520"/>
            <a:ext cx="2651760" cy="365760"/>
          </a:xfrm>
          <a:prstGeom prst="roundRect">
            <a:avLst>
              <a:gd name="adj" fmla="val 20000"/>
            </a:avLst>
          </a:prstGeom>
          <a:solidFill>
            <a:srgbClr val="FFFFFF"/>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Tầng 3: Diagnostic</a:t>
            </a:r>
          </a:p>
        </p:txBody>
      </p:sp>
      <p:sp>
        <p:nvSpPr>
          <p:cNvPr id="6" name="Stat A"/>
          <p:cNvSpPr/>
          <p:nvPr/>
        </p:nvSpPr>
        <p:spPr>
          <a:xfrm>
            <a:off x="1527048" y="3657600"/>
            <a:ext cx="4206240" cy="17373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709928" y="3749039"/>
            <a:ext cx="3840479" cy="1554480"/>
          </a:xfrm>
          <a:prstGeom prst="rect">
            <a:avLst/>
          </a:prstGeom>
          <a:noFill/>
        </p:spPr>
        <p:txBody>
          <a:bodyPr wrap="square" lIns="0" tIns="0" rIns="0" bIns="0" anchor="ctr">
            <a:spAutoFit/>
          </a:bodyPr>
          <a:lstStyle/>
          <a:p>
            <a:r>
              <a:rPr sz="1400" b="0">
                <a:solidFill>
                  <a:srgbClr val="585858"/>
                </a:solidFill>
                <a:latin typeface="Arial"/>
              </a:rPr>
              <a:t>Báo cáo A · Gross Margin % Quý 1/2025</a:t>
            </a:r>
          </a:p>
          <a:p>
            <a:pPr>
              <a:spcBef>
                <a:spcPts val="200"/>
              </a:spcBef>
            </a:pPr>
            <a:r>
              <a:rPr sz="3400" b="1">
                <a:solidFill>
                  <a:srgbClr val="203864"/>
                </a:solidFill>
                <a:latin typeface="Arial"/>
              </a:rPr>
              <a:t>34,18%</a:t>
            </a:r>
          </a:p>
          <a:p>
            <a:pPr>
              <a:spcBef>
                <a:spcPts val="200"/>
              </a:spcBef>
            </a:pPr>
            <a:r>
              <a:rPr sz="1400" b="0">
                <a:solidFill>
                  <a:srgbClr val="1B2230"/>
                </a:solidFill>
                <a:latin typeface="Arial"/>
              </a:rPr>
              <a:t>tổng lợi nhuận ÷ tổng doanh thu</a:t>
            </a:r>
          </a:p>
        </p:txBody>
      </p:sp>
      <p:sp>
        <p:nvSpPr>
          <p:cNvPr id="8" name="Not equal"/>
          <p:cNvSpPr txBox="1"/>
          <p:nvPr/>
        </p:nvSpPr>
        <p:spPr>
          <a:xfrm>
            <a:off x="5824728" y="3657600"/>
            <a:ext cx="914400" cy="1737360"/>
          </a:xfrm>
          <a:prstGeom prst="rect">
            <a:avLst/>
          </a:prstGeom>
          <a:noFill/>
        </p:spPr>
        <p:txBody>
          <a:bodyPr wrap="square" lIns="0" tIns="0" rIns="0" bIns="0" anchor="ctr">
            <a:spAutoFit/>
          </a:bodyPr>
          <a:lstStyle/>
          <a:p>
            <a:pPr algn="ctr"/>
            <a:r>
              <a:rPr sz="4800" b="1">
                <a:solidFill>
                  <a:srgbClr val="9C0006"/>
                </a:solidFill>
                <a:latin typeface="Arial"/>
              </a:rPr>
              <a:t>≠</a:t>
            </a:r>
          </a:p>
        </p:txBody>
      </p:sp>
      <p:sp>
        <p:nvSpPr>
          <p:cNvPr id="9" name="Stat B"/>
          <p:cNvSpPr/>
          <p:nvPr/>
        </p:nvSpPr>
        <p:spPr>
          <a:xfrm>
            <a:off x="6830568" y="3657600"/>
            <a:ext cx="4206240" cy="17373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7013448" y="3749039"/>
            <a:ext cx="3840479" cy="1554480"/>
          </a:xfrm>
          <a:prstGeom prst="rect">
            <a:avLst/>
          </a:prstGeom>
          <a:noFill/>
        </p:spPr>
        <p:txBody>
          <a:bodyPr wrap="square" lIns="0" tIns="0" rIns="0" bIns="0" anchor="ctr">
            <a:spAutoFit/>
          </a:bodyPr>
          <a:lstStyle/>
          <a:p>
            <a:r>
              <a:rPr sz="1400" b="0">
                <a:solidFill>
                  <a:srgbClr val="585858"/>
                </a:solidFill>
                <a:latin typeface="Arial"/>
              </a:rPr>
              <a:t>Báo cáo B · Gross Margin % Quý 1/2025</a:t>
            </a:r>
          </a:p>
          <a:p>
            <a:pPr>
              <a:spcBef>
                <a:spcPts val="200"/>
              </a:spcBef>
            </a:pPr>
            <a:r>
              <a:rPr sz="3400" b="1">
                <a:solidFill>
                  <a:srgbClr val="9C0006"/>
                </a:solidFill>
                <a:latin typeface="Arial"/>
              </a:rPr>
              <a:t>33,77%</a:t>
            </a:r>
          </a:p>
          <a:p>
            <a:pPr>
              <a:spcBef>
                <a:spcPts val="200"/>
              </a:spcBef>
            </a:pPr>
            <a:r>
              <a:rPr sz="1400" b="0">
                <a:solidFill>
                  <a:srgbClr val="1B2230"/>
                </a:solidFill>
                <a:latin typeface="Arial"/>
              </a:rPr>
              <a:t>trung bình biên lợi nhuận từng dòng</a:t>
            </a:r>
          </a:p>
        </p:txBody>
      </p:sp>
      <p:sp>
        <p:nvSpPr>
          <p:cNvPr id="11" name="TextBox"/>
          <p:cNvSpPr txBox="1"/>
          <p:nvPr/>
        </p:nvSpPr>
        <p:spPr>
          <a:xfrm>
            <a:off x="1527048" y="5532120"/>
            <a:ext cx="10122408" cy="457200"/>
          </a:xfrm>
          <a:prstGeom prst="rect">
            <a:avLst/>
          </a:prstGeom>
          <a:noFill/>
        </p:spPr>
        <p:txBody>
          <a:bodyPr wrap="square" lIns="0" tIns="0" rIns="0" bIns="0" anchor="t">
            <a:spAutoFit/>
          </a:bodyPr>
          <a:lstStyle/>
          <a:p>
            <a:r>
              <a:rPr sz="1600" b="0">
                <a:solidFill>
                  <a:srgbClr val="585858"/>
                </a:solidFill>
                <a:latin typeface="Arial"/>
              </a:rPr>
              <a:t>Cùng một dữ liệu. Không ai bịa số, chỉ là hai công thức khác nhau.</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Recap Buổi 4 &amp; file khởi đầu</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0 · MỞ ĐẦU</a:t>
            </a:r>
          </a:p>
        </p:txBody>
      </p:sp>
      <p:sp>
        <p:nvSpPr>
          <p:cNvPr id="4" name="TextBox"/>
          <p:cNvSpPr txBox="1"/>
          <p:nvPr/>
        </p:nvSpPr>
        <p:spPr>
          <a:xfrm>
            <a:off x="1527048" y="1600200"/>
            <a:ext cx="6492240" cy="4206240"/>
          </a:xfrm>
          <a:prstGeom prst="rect">
            <a:avLst/>
          </a:prstGeom>
          <a:noFill/>
        </p:spPr>
        <p:txBody>
          <a:bodyPr wrap="square" lIns="0" tIns="0" rIns="0" bIns="0" anchor="t">
            <a:spAutoFit/>
          </a:bodyPr>
          <a:lstStyle/>
          <a:p>
            <a:r>
              <a:rPr sz="1600" b="1">
                <a:solidFill>
                  <a:srgbClr val="203864"/>
                </a:solidFill>
                <a:latin typeface="Arial"/>
              </a:rPr>
              <a:t>•  Viên gạch B4: </a:t>
            </a:r>
            <a:r>
              <a:rPr sz="1600" b="0">
                <a:solidFill>
                  <a:srgbClr val="1B2230"/>
                </a:solidFill>
                <a:latin typeface="Arial"/>
              </a:rPr>
              <a:t>6 bảng sạch trong Data Model, Sales 30.247 dòng (4.436.849.500), Product 40, Store 12, Customer 1.500, Target 144, Calendar 731. Refresh tự cập nhật.</a:t>
            </a:r>
          </a:p>
          <a:p>
            <a:pPr>
              <a:spcBef>
                <a:spcPts val="800"/>
              </a:spcBef>
            </a:pPr>
            <a:r>
              <a:rPr sz="1600" b="1">
                <a:solidFill>
                  <a:srgbClr val="203864"/>
                </a:solidFill>
                <a:latin typeface="Arial"/>
              </a:rPr>
              <a:t>•  Bài về nhà B4: </a:t>
            </a:r>
            <a:r>
              <a:rPr sz="1600" b="0">
                <a:solidFill>
                  <a:srgbClr val="1B2230"/>
                </a:solidFill>
                <a:latin typeface="Arial"/>
              </a:rPr>
              <a:t>đối soát trước khi tính % target, ST07 tháng 4 thiếu file bổ sung chỉ đạt 54,3%, đủ file đạt 97,4%; cả chuỗi 103,1%.</a:t>
            </a:r>
          </a:p>
          <a:p>
            <a:pPr>
              <a:spcBef>
                <a:spcPts val="800"/>
              </a:spcBef>
            </a:pPr>
            <a:r>
              <a:rPr sz="1600" b="1">
                <a:solidFill>
                  <a:srgbClr val="203864"/>
                </a:solidFill>
                <a:latin typeface="Arial"/>
              </a:rPr>
              <a:t>•  File khởi đầu hôm nay </a:t>
            </a:r>
            <a:r>
              <a:rPr sz="1600" b="0">
                <a:solidFill>
                  <a:srgbClr val="1B2230"/>
                </a:solidFill>
                <a:latin typeface="Arial"/>
              </a:rPr>
              <a:t>= đáp án B4 (B4_MCI_Mart_Answer.xlsx). Lưu thành B5_&lt;HoTen&gt;.xlsx. KHÔNG bấm Refresh All.</a:t>
            </a:r>
          </a:p>
          <a:p>
            <a:pPr>
              <a:spcBef>
                <a:spcPts val="800"/>
              </a:spcBef>
            </a:pPr>
            <a:r>
              <a:rPr sz="1600" b="1">
                <a:solidFill>
                  <a:srgbClr val="203864"/>
                </a:solidFill>
                <a:latin typeface="Arial"/>
              </a:rPr>
              <a:t>•  Giảng viên làm mẫu trên 2 file gọn: </a:t>
            </a:r>
            <a:r>
              <a:rPr sz="1600" b="0">
                <a:solidFill>
                  <a:srgbClr val="1B2230"/>
                </a:solidFill>
                <a:latin typeface="Arial"/>
              </a:rPr>
              <a:t>Demo/B5_Demo_Model.xlsx (Phần 1–2, chưa nối) · Demo/B5_Demo_DAX.xlsx (Phần 3–7, đã nối); mỗi file có bản _HocVien.</a:t>
            </a:r>
          </a:p>
          <a:p>
            <a:pPr>
              <a:spcBef>
                <a:spcPts val="800"/>
              </a:spcBef>
            </a:pPr>
            <a:r>
              <a:rPr sz="1600" b="1">
                <a:solidFill>
                  <a:srgbClr val="203864"/>
                </a:solidFill>
                <a:latin typeface="Arial"/>
              </a:rPr>
              <a:t>•  Cuối buổi: </a:t>
            </a:r>
            <a:r>
              <a:rPr sz="1600" b="0">
                <a:solidFill>
                  <a:srgbClr val="1B2230"/>
                </a:solidFill>
                <a:latin typeface="Arial"/>
              </a:rPr>
              <a:t>đối soát với KPI_SUMIFS (Thực hành 2), đáp án ở sheet DoiSoat_B2 của Practice/B5_MCI_Mart_Answer.xlsx; file này là file khởi đầu Buổi 6.</a:t>
            </a:r>
          </a:p>
        </p:txBody>
      </p:sp>
      <p:sp>
        <p:nvSpPr>
          <p:cNvPr id="5" name="Brick B4"/>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p:cNvSpPr txBox="1"/>
          <p:nvPr/>
        </p:nvSpPr>
        <p:spPr>
          <a:xfrm>
            <a:off x="8385048" y="4206240"/>
            <a:ext cx="3172968" cy="914400"/>
          </a:xfrm>
          <a:prstGeom prst="rect">
            <a:avLst/>
          </a:prstGeom>
          <a:noFill/>
        </p:spPr>
        <p:txBody>
          <a:bodyPr wrap="square" lIns="0" tIns="0" rIns="0" bIns="0" anchor="ctr">
            <a:spAutoFit/>
          </a:bodyPr>
          <a:lstStyle/>
          <a:p>
            <a:r>
              <a:rPr sz="1800" b="1">
                <a:solidFill>
                  <a:srgbClr val="FFFFFF"/>
                </a:solidFill>
                <a:latin typeface="Arial"/>
              </a:rPr>
              <a:t>✓  B4 · Pipeline Power Query</a:t>
            </a:r>
          </a:p>
        </p:txBody>
      </p:sp>
      <p:sp>
        <p:nvSpPr>
          <p:cNvPr id="7" name="Brick B5"/>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385048" y="3017520"/>
            <a:ext cx="3172968" cy="914400"/>
          </a:xfrm>
          <a:prstGeom prst="rect">
            <a:avLst/>
          </a:prstGeom>
          <a:noFill/>
        </p:spPr>
        <p:txBody>
          <a:bodyPr wrap="square" lIns="0" tIns="0" rIns="0" bIns="0" anchor="ctr">
            <a:spAutoFit/>
          </a:bodyPr>
          <a:lstStyle/>
          <a:p>
            <a:r>
              <a:rPr sz="1800" b="1">
                <a:solidFill>
                  <a:srgbClr val="203864"/>
                </a:solidFill>
                <a:latin typeface="Arial"/>
              </a:rPr>
              <a:t>B5 · Star schema + DAX</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Demo: ../B4_Power_Query/Practice/B4_MCI_Mart_Answer.xlsx (sheet Kiem_tra_B4) · ../B4_Power_Query/Homework/B4_BTVN_MCI_Mart_T4_2025_Answer.xlsx (sheet KetQua_T4)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 Data Model: nhiều bảng, một mô hình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View · Diagram View</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DATA MODEL</a:t>
            </a:r>
          </a:p>
        </p:txBody>
      </p:sp>
      <p:graphicFrame>
        <p:nvGraphicFramePr>
          <p:cNvPr id="4" name="Table"/>
          <p:cNvGraphicFramePr>
            <a:graphicFrameLocks noGrp="1"/>
          </p:cNvGraphicFramePr>
          <p:nvPr/>
        </p:nvGraphicFramePr>
        <p:xfrm>
          <a:off x="1527048" y="1417320"/>
          <a:ext cx="10122408" cy="1877568"/>
        </p:xfrm>
        <a:graphic>
          <a:graphicData uri="http://schemas.openxmlformats.org/drawingml/2006/table">
            <a:tbl>
              <a:tblPr firstRow="1"/>
              <a:tblGrid>
                <a:gridCol w="4206240">
                  <a:extLst>
                    <a:ext uri="{9D8B030D-6E8A-4147-A177-3AD203B41FA5}">
                      <a16:colId xmlns:a16="http://schemas.microsoft.com/office/drawing/2014/main" val="20000"/>
                    </a:ext>
                  </a:extLst>
                </a:gridCol>
                <a:gridCol w="5916168">
                  <a:extLst>
                    <a:ext uri="{9D8B030D-6E8A-4147-A177-3AD203B41FA5}">
                      <a16:colId xmlns:a16="http://schemas.microsoft.com/office/drawing/2014/main" val="20001"/>
                    </a:ext>
                  </a:extLst>
                </a:gridCol>
              </a:tblGrid>
              <a:tr h="457200">
                <a:tc>
                  <a:txBody>
                    <a:bodyPr/>
                    <a:lstStyle/>
                    <a:p>
                      <a:r>
                        <a:rPr sz="14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57200">
                <a:tc>
                  <a:txBody>
                    <a:bodyPr/>
                    <a:lstStyle/>
                    <a:p>
                      <a:r>
                        <a:rPr sz="1400" b="1">
                          <a:solidFill>
                            <a:srgbClr val="C00000"/>
                          </a:solidFill>
                          <a:latin typeface="Arial"/>
                        </a:rPr>
                        <a:t>Data → Manage Data Model</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err="1">
                          <a:solidFill>
                            <a:srgbClr val="1B2230"/>
                          </a:solidFill>
                          <a:latin typeface="Arial"/>
                        </a:rPr>
                        <a:t>Mở</a:t>
                      </a:r>
                      <a:r>
                        <a:rPr sz="1400" b="0" dirty="0">
                          <a:solidFill>
                            <a:srgbClr val="1B2230"/>
                          </a:solidFill>
                          <a:latin typeface="Arial"/>
                        </a:rPr>
                        <a:t> </a:t>
                      </a:r>
                      <a:r>
                        <a:rPr sz="1400" b="0" dirty="0" err="1">
                          <a:solidFill>
                            <a:srgbClr val="1B2230"/>
                          </a:solidFill>
                          <a:latin typeface="Arial"/>
                        </a:rPr>
                        <a:t>cửa</a:t>
                      </a:r>
                      <a:r>
                        <a:rPr sz="1400" b="0" dirty="0">
                          <a:solidFill>
                            <a:srgbClr val="1B2230"/>
                          </a:solidFill>
                          <a:latin typeface="Arial"/>
                        </a:rPr>
                        <a:t> </a:t>
                      </a:r>
                      <a:r>
                        <a:rPr sz="1400" b="0" dirty="0" err="1">
                          <a:solidFill>
                            <a:srgbClr val="1B2230"/>
                          </a:solidFill>
                          <a:latin typeface="Arial"/>
                        </a:rPr>
                        <a:t>sổ</a:t>
                      </a:r>
                      <a:r>
                        <a:rPr sz="1400" b="0" dirty="0">
                          <a:solidFill>
                            <a:srgbClr val="1B2230"/>
                          </a:solidFill>
                          <a:latin typeface="Arial"/>
                        </a:rPr>
                        <a:t> Power Pivot, </a:t>
                      </a:r>
                      <a:r>
                        <a:rPr sz="1400" b="0" dirty="0" err="1">
                          <a:solidFill>
                            <a:srgbClr val="1B2230"/>
                          </a:solidFill>
                          <a:latin typeface="Arial"/>
                        </a:rPr>
                        <a:t>nơi</a:t>
                      </a:r>
                      <a:r>
                        <a:rPr sz="1400" b="0" dirty="0">
                          <a:solidFill>
                            <a:srgbClr val="1B2230"/>
                          </a:solidFill>
                          <a:latin typeface="Arial"/>
                        </a:rPr>
                        <a:t> </a:t>
                      </a:r>
                      <a:r>
                        <a:rPr sz="1400" b="0" dirty="0" err="1">
                          <a:solidFill>
                            <a:srgbClr val="1B2230"/>
                          </a:solidFill>
                          <a:latin typeface="Arial"/>
                        </a:rPr>
                        <a:t>chứa</a:t>
                      </a:r>
                      <a:r>
                        <a:rPr sz="1400" b="0" dirty="0">
                          <a:solidFill>
                            <a:srgbClr val="1B2230"/>
                          </a:solidFill>
                          <a:latin typeface="Arial"/>
                        </a:rPr>
                        <a:t> Data Model, </a:t>
                      </a:r>
                      <a:r>
                        <a:rPr sz="1400" b="0" dirty="0" err="1">
                          <a:solidFill>
                            <a:srgbClr val="1B2230"/>
                          </a:solidFill>
                          <a:latin typeface="Arial"/>
                        </a:rPr>
                        <a:t>tách</a:t>
                      </a:r>
                      <a:r>
                        <a:rPr sz="1400" b="0" dirty="0">
                          <a:solidFill>
                            <a:srgbClr val="1B2230"/>
                          </a:solidFill>
                          <a:latin typeface="Arial"/>
                        </a:rPr>
                        <a:t> </a:t>
                      </a:r>
                      <a:r>
                        <a:rPr sz="1400" b="0" dirty="0" err="1">
                          <a:solidFill>
                            <a:srgbClr val="1B2230"/>
                          </a:solidFill>
                          <a:latin typeface="Arial"/>
                        </a:rPr>
                        <a:t>riêng</a:t>
                      </a:r>
                      <a:r>
                        <a:rPr sz="1400" b="0" dirty="0">
                          <a:solidFill>
                            <a:srgbClr val="1B2230"/>
                          </a:solidFill>
                          <a:latin typeface="Arial"/>
                        </a:rPr>
                        <a:t> </a:t>
                      </a:r>
                      <a:r>
                        <a:rPr sz="1400" b="0" dirty="0" err="1">
                          <a:solidFill>
                            <a:srgbClr val="1B2230"/>
                          </a:solidFill>
                          <a:latin typeface="Arial"/>
                        </a:rPr>
                        <a:t>khỏi</a:t>
                      </a:r>
                      <a:r>
                        <a:rPr sz="1400" b="0" dirty="0">
                          <a:solidFill>
                            <a:srgbClr val="1B2230"/>
                          </a:solidFill>
                          <a:latin typeface="Arial"/>
                        </a:rPr>
                        <a:t> worksheet (</a:t>
                      </a:r>
                      <a:r>
                        <a:rPr sz="1400" b="0" dirty="0" err="1">
                          <a:solidFill>
                            <a:srgbClr val="1B2230"/>
                          </a:solidFill>
                          <a:latin typeface="Arial"/>
                        </a:rPr>
                        <a:t>hoặc</a:t>
                      </a:r>
                      <a:r>
                        <a:rPr sz="1400" b="0" dirty="0">
                          <a:solidFill>
                            <a:srgbClr val="1B2230"/>
                          </a:solidFill>
                          <a:latin typeface="Arial"/>
                        </a:rPr>
                        <a:t> Power Pivot → Manage)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57200">
                <a:tc>
                  <a:txBody>
                    <a:bodyPr/>
                    <a:lstStyle/>
                    <a:p>
                      <a:r>
                        <a:rPr sz="1400" b="1" dirty="0">
                          <a:solidFill>
                            <a:srgbClr val="C00000"/>
                          </a:solidFill>
                          <a:latin typeface="Arial"/>
                        </a:rPr>
                        <a:t>Data View</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Mỗi bảng một tab; xem dữ liệu, thêm calculated column; dòng Record ghi số dòng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57200">
                <a:tc>
                  <a:txBody>
                    <a:bodyPr/>
                    <a:lstStyle/>
                    <a:p>
                      <a:r>
                        <a:rPr sz="1400" b="1" dirty="0">
                          <a:solidFill>
                            <a:srgbClr val="C00000"/>
                          </a:solidFill>
                          <a:latin typeface="Arial"/>
                        </a:rPr>
                        <a:t>Diagram View</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err="1">
                          <a:solidFill>
                            <a:srgbClr val="1B2230"/>
                          </a:solidFill>
                          <a:latin typeface="Arial"/>
                        </a:rPr>
                        <a:t>Mỗi</a:t>
                      </a:r>
                      <a:r>
                        <a:rPr sz="1400" b="0" dirty="0">
                          <a:solidFill>
                            <a:srgbClr val="1B2230"/>
                          </a:solidFill>
                          <a:latin typeface="Arial"/>
                        </a:rPr>
                        <a:t> </a:t>
                      </a:r>
                      <a:r>
                        <a:rPr sz="1400" b="0" dirty="0" err="1">
                          <a:solidFill>
                            <a:srgbClr val="1B2230"/>
                          </a:solidFill>
                          <a:latin typeface="Arial"/>
                        </a:rPr>
                        <a:t>bảng</a:t>
                      </a:r>
                      <a:r>
                        <a:rPr sz="1400" b="0" dirty="0">
                          <a:solidFill>
                            <a:srgbClr val="1B2230"/>
                          </a:solidFill>
                          <a:latin typeface="Arial"/>
                        </a:rPr>
                        <a:t> </a:t>
                      </a:r>
                      <a:r>
                        <a:rPr sz="1400" b="0" dirty="0" err="1">
                          <a:solidFill>
                            <a:srgbClr val="1B2230"/>
                          </a:solidFill>
                          <a:latin typeface="Arial"/>
                        </a:rPr>
                        <a:t>là</a:t>
                      </a:r>
                      <a:r>
                        <a:rPr sz="1400" b="0" dirty="0">
                          <a:solidFill>
                            <a:srgbClr val="1B2230"/>
                          </a:solidFill>
                          <a:latin typeface="Arial"/>
                        </a:rPr>
                        <a:t> </a:t>
                      </a:r>
                      <a:r>
                        <a:rPr sz="1400" b="0" dirty="0" err="1">
                          <a:solidFill>
                            <a:srgbClr val="1B2230"/>
                          </a:solidFill>
                          <a:latin typeface="Arial"/>
                        </a:rPr>
                        <a:t>một</a:t>
                      </a:r>
                      <a:r>
                        <a:rPr sz="1400" b="0" dirty="0">
                          <a:solidFill>
                            <a:srgbClr val="1B2230"/>
                          </a:solidFill>
                          <a:latin typeface="Arial"/>
                        </a:rPr>
                        <a:t> </a:t>
                      </a:r>
                      <a:r>
                        <a:rPr sz="1400" b="0" dirty="0" err="1">
                          <a:solidFill>
                            <a:srgbClr val="1B2230"/>
                          </a:solidFill>
                          <a:latin typeface="Arial"/>
                        </a:rPr>
                        <a:t>hộp</a:t>
                      </a:r>
                      <a:r>
                        <a:rPr sz="1400" b="0" dirty="0">
                          <a:solidFill>
                            <a:srgbClr val="1B2230"/>
                          </a:solidFill>
                          <a:latin typeface="Arial"/>
                        </a:rPr>
                        <a:t>; relationship </a:t>
                      </a:r>
                      <a:r>
                        <a:rPr sz="1400" b="0" dirty="0" err="1">
                          <a:solidFill>
                            <a:srgbClr val="1B2230"/>
                          </a:solidFill>
                          <a:latin typeface="Arial"/>
                        </a:rPr>
                        <a:t>là</a:t>
                      </a:r>
                      <a:r>
                        <a:rPr sz="1400" b="0" dirty="0">
                          <a:solidFill>
                            <a:srgbClr val="1B2230"/>
                          </a:solidFill>
                          <a:latin typeface="Arial"/>
                        </a:rPr>
                        <a:t> </a:t>
                      </a:r>
                      <a:r>
                        <a:rPr sz="1400" b="0" dirty="0" err="1">
                          <a:solidFill>
                            <a:srgbClr val="1B2230"/>
                          </a:solidFill>
                          <a:latin typeface="Arial"/>
                        </a:rPr>
                        <a:t>đường</a:t>
                      </a:r>
                      <a:r>
                        <a:rPr sz="1400" b="0" dirty="0">
                          <a:solidFill>
                            <a:srgbClr val="1B2230"/>
                          </a:solidFill>
                          <a:latin typeface="Arial"/>
                        </a:rPr>
                        <a:t> </a:t>
                      </a:r>
                      <a:r>
                        <a:rPr sz="1400" b="0" dirty="0" err="1">
                          <a:solidFill>
                            <a:srgbClr val="1B2230"/>
                          </a:solidFill>
                          <a:latin typeface="Arial"/>
                        </a:rPr>
                        <a:t>nối</a:t>
                      </a:r>
                      <a:r>
                        <a:rPr sz="1400" b="0" dirty="0">
                          <a:solidFill>
                            <a:srgbClr val="1B2230"/>
                          </a:solidFill>
                          <a:latin typeface="Arial"/>
                        </a:rPr>
                        <a:t> </a:t>
                      </a:r>
                      <a:r>
                        <a:rPr sz="1400" b="0" dirty="0" err="1">
                          <a:solidFill>
                            <a:srgbClr val="1B2230"/>
                          </a:solidFill>
                          <a:latin typeface="Arial"/>
                        </a:rPr>
                        <a:t>giữa</a:t>
                      </a:r>
                      <a:r>
                        <a:rPr sz="1400" b="0" dirty="0">
                          <a:solidFill>
                            <a:srgbClr val="1B2230"/>
                          </a:solidFill>
                          <a:latin typeface="Arial"/>
                        </a:rPr>
                        <a:t> </a:t>
                      </a:r>
                      <a:r>
                        <a:rPr sz="1400" b="0" dirty="0" err="1">
                          <a:solidFill>
                            <a:srgbClr val="1B2230"/>
                          </a:solidFill>
                          <a:latin typeface="Arial"/>
                        </a:rPr>
                        <a:t>các</a:t>
                      </a:r>
                      <a:r>
                        <a:rPr sz="1400" b="0" dirty="0">
                          <a:solidFill>
                            <a:srgbClr val="1B2230"/>
                          </a:solidFill>
                          <a:latin typeface="Arial"/>
                        </a:rPr>
                        <a:t> </a:t>
                      </a:r>
                      <a:r>
                        <a:rPr sz="1400" b="0" dirty="0" err="1">
                          <a:solidFill>
                            <a:srgbClr val="1B2230"/>
                          </a:solidFill>
                          <a:latin typeface="Arial"/>
                        </a:rPr>
                        <a:t>hộp</a:t>
                      </a:r>
                      <a:endParaRPr sz="14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pic>
        <p:nvPicPr>
          <p:cNvPr id="5" name="Screenshot S05a_data_view" descr="S05a_data_view.png"/>
          <p:cNvPicPr>
            <a:picLocks noChangeAspect="1"/>
          </p:cNvPicPr>
          <p:nvPr/>
        </p:nvPicPr>
        <p:blipFill>
          <a:blip r:embed="rId3"/>
          <a:stretch>
            <a:fillRect/>
          </a:stretch>
        </p:blipFill>
        <p:spPr>
          <a:xfrm>
            <a:off x="1527048" y="3344445"/>
            <a:ext cx="4965192" cy="1860748"/>
          </a:xfrm>
          <a:prstGeom prst="rect">
            <a:avLst/>
          </a:prstGeom>
          <a:ln w="9525">
            <a:solidFill>
              <a:srgbClr val="D9DEE8"/>
            </a:solidFill>
          </a:ln>
        </p:spPr>
      </p:pic>
      <p:pic>
        <p:nvPicPr>
          <p:cNvPr id="6" name="Screenshot S05b_diagram_roi" descr="S05b_diagram_roi.png"/>
          <p:cNvPicPr>
            <a:picLocks noChangeAspect="1"/>
          </p:cNvPicPr>
          <p:nvPr/>
        </p:nvPicPr>
        <p:blipFill>
          <a:blip r:embed="rId4"/>
          <a:stretch>
            <a:fillRect/>
          </a:stretch>
        </p:blipFill>
        <p:spPr>
          <a:xfrm>
            <a:off x="6684264" y="3344445"/>
            <a:ext cx="4965192" cy="1860748"/>
          </a:xfrm>
          <a:prstGeom prst="rect">
            <a:avLst/>
          </a:prstGeom>
          <a:ln w="9525">
            <a:solidFill>
              <a:srgbClr val="D9DEE8"/>
            </a:solidFill>
          </a:ln>
        </p:spPr>
      </p:pic>
      <p:sp>
        <p:nvSpPr>
          <p:cNvPr id="7" name="TIP callout"/>
          <p:cNvSpPr/>
          <p:nvPr/>
        </p:nvSpPr>
        <p:spPr>
          <a:xfrm>
            <a:off x="1527048" y="5303520"/>
            <a:ext cx="6309360"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1636776" y="541324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9" name="TIP text"/>
          <p:cNvSpPr txBox="1"/>
          <p:nvPr/>
        </p:nvSpPr>
        <p:spPr>
          <a:xfrm>
            <a:off x="2212848" y="5394959"/>
            <a:ext cx="5513832" cy="685800"/>
          </a:xfrm>
          <a:prstGeom prst="rect">
            <a:avLst/>
          </a:prstGeom>
          <a:noFill/>
        </p:spPr>
        <p:txBody>
          <a:bodyPr wrap="square" lIns="0" tIns="0" rIns="0" bIns="0" anchor="t">
            <a:spAutoFit/>
          </a:bodyPr>
          <a:lstStyle/>
          <a:p>
            <a:r>
              <a:rPr sz="1600" b="0">
                <a:solidFill>
                  <a:srgbClr val="1B2230"/>
                </a:solidFill>
                <a:latin typeface="Arial"/>
              </a:rPr>
              <a:t>Không thấy Manage Data Model: bật add-in Power Pivot (File → Options → COM Add-ins).</a:t>
            </a:r>
          </a:p>
        </p:txBody>
      </p:sp>
      <p:sp>
        <p:nvSpPr>
          <p:cNvPr id="10" name="PRO TIP callout"/>
          <p:cNvSpPr/>
          <p:nvPr/>
        </p:nvSpPr>
        <p:spPr>
          <a:xfrm>
            <a:off x="8001000" y="5303520"/>
            <a:ext cx="3648456"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RO TIP chip"/>
          <p:cNvSpPr/>
          <p:nvPr/>
        </p:nvSpPr>
        <p:spPr>
          <a:xfrm>
            <a:off x="8110727" y="541324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2" name="PRO TIP text"/>
          <p:cNvSpPr txBox="1"/>
          <p:nvPr/>
        </p:nvSpPr>
        <p:spPr>
          <a:xfrm>
            <a:off x="9208008" y="5394959"/>
            <a:ext cx="2331720" cy="685800"/>
          </a:xfrm>
          <a:prstGeom prst="rect">
            <a:avLst/>
          </a:prstGeom>
          <a:noFill/>
        </p:spPr>
        <p:txBody>
          <a:bodyPr wrap="square" lIns="0" tIns="0" rIns="0" bIns="0" anchor="t">
            <a:spAutoFit/>
          </a:bodyPr>
          <a:lstStyle/>
          <a:p>
            <a:r>
              <a:rPr sz="1600" b="0">
                <a:solidFill>
                  <a:srgbClr val="1B2230"/>
                </a:solidFill>
                <a:latin typeface="Arial"/>
              </a:rPr>
              <a:t>Diagram View: kéo lookup bao quanh fact.</a:t>
            </a:r>
          </a:p>
        </p:txBody>
      </p:sp>
      <p:sp>
        <p:nvSpPr>
          <p:cNvPr id="13" name="Footnote"/>
          <p:cNvSpPr txBox="1"/>
          <p:nvPr/>
        </p:nvSpPr>
        <p:spPr>
          <a:xfrm>
            <a:off x="1527048" y="6217920"/>
            <a:ext cx="10122408" cy="320040"/>
          </a:xfrm>
          <a:prstGeom prst="rect">
            <a:avLst/>
          </a:prstGeom>
          <a:noFill/>
        </p:spPr>
        <p:txBody>
          <a:bodyPr wrap="square" lIns="0" tIns="0" rIns="0" bIns="0" anchor="b">
            <a:spAutoFit/>
          </a:bodyPr>
          <a:lstStyle/>
          <a:p>
            <a:r>
              <a:rPr sz="1200" b="0" dirty="0" err="1">
                <a:solidFill>
                  <a:srgbClr val="6B6F76"/>
                </a:solidFill>
                <a:latin typeface="Arial"/>
              </a:rPr>
              <a:t>Ảnh</a:t>
            </a:r>
            <a:r>
              <a:rPr sz="1200" b="0" dirty="0">
                <a:solidFill>
                  <a:srgbClr val="6B6F76"/>
                </a:solidFill>
                <a:latin typeface="Arial"/>
              </a:rPr>
              <a:t>: Demo/B5_Demo_Model.xlsx, Data → Manage Data Model (Data View, Diagram View)</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Normalization · Fact vs Lookup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DATA MODEL</a:t>
            </a:r>
          </a:p>
        </p:txBody>
      </p:sp>
      <p:sp>
        <p:nvSpPr>
          <p:cNvPr id="4" name="TextBox"/>
          <p:cNvSpPr txBox="1"/>
          <p:nvPr/>
        </p:nvSpPr>
        <p:spPr>
          <a:xfrm>
            <a:off x="1527048" y="1417320"/>
            <a:ext cx="10122408" cy="457200"/>
          </a:xfrm>
          <a:prstGeom prst="rect">
            <a:avLst/>
          </a:prstGeom>
          <a:noFill/>
        </p:spPr>
        <p:txBody>
          <a:bodyPr wrap="square" lIns="0" tIns="0" rIns="0" bIns="0" anchor="t">
            <a:spAutoFit/>
          </a:bodyPr>
          <a:lstStyle/>
          <a:p>
            <a:r>
              <a:rPr sz="1600" b="1" dirty="0">
                <a:solidFill>
                  <a:srgbClr val="203864"/>
                </a:solidFill>
                <a:latin typeface="Arial"/>
              </a:rPr>
              <a:t>Normalization: </a:t>
            </a:r>
            <a:r>
              <a:rPr sz="1600" b="0" dirty="0" err="1">
                <a:solidFill>
                  <a:srgbClr val="1B2230"/>
                </a:solidFill>
                <a:latin typeface="Arial"/>
              </a:rPr>
              <a:t>mỗi</a:t>
            </a:r>
            <a:r>
              <a:rPr sz="1600" b="0" dirty="0">
                <a:solidFill>
                  <a:srgbClr val="1B2230"/>
                </a:solidFill>
                <a:latin typeface="Arial"/>
              </a:rPr>
              <a:t> </a:t>
            </a:r>
            <a:r>
              <a:rPr sz="1600" b="0" dirty="0" err="1">
                <a:solidFill>
                  <a:srgbClr val="1B2230"/>
                </a:solidFill>
                <a:latin typeface="Arial"/>
              </a:rPr>
              <a:t>thông</a:t>
            </a:r>
            <a:r>
              <a:rPr sz="1600" b="0" dirty="0">
                <a:solidFill>
                  <a:srgbClr val="1B2230"/>
                </a:solidFill>
                <a:latin typeface="Arial"/>
              </a:rPr>
              <a:t> tin </a:t>
            </a:r>
            <a:r>
              <a:rPr sz="1600" b="0" dirty="0" err="1">
                <a:solidFill>
                  <a:srgbClr val="1B2230"/>
                </a:solidFill>
                <a:latin typeface="Arial"/>
              </a:rPr>
              <a:t>lưu</a:t>
            </a:r>
            <a:r>
              <a:rPr sz="1600" b="0" dirty="0">
                <a:solidFill>
                  <a:srgbClr val="1B2230"/>
                </a:solidFill>
                <a:latin typeface="Arial"/>
              </a:rPr>
              <a:t> </a:t>
            </a:r>
            <a:r>
              <a:rPr sz="1600" b="0" dirty="0" err="1">
                <a:solidFill>
                  <a:srgbClr val="1B2230"/>
                </a:solidFill>
                <a:latin typeface="Arial"/>
              </a:rPr>
              <a:t>đúng</a:t>
            </a:r>
            <a:r>
              <a:rPr sz="1600" b="0" dirty="0">
                <a:solidFill>
                  <a:srgbClr val="1B2230"/>
                </a:solidFill>
                <a:latin typeface="Arial"/>
              </a:rPr>
              <a:t> MỘT </a:t>
            </a:r>
            <a:r>
              <a:rPr sz="1600" b="0" dirty="0" err="1">
                <a:solidFill>
                  <a:srgbClr val="1B2230"/>
                </a:solidFill>
                <a:latin typeface="Arial"/>
              </a:rPr>
              <a:t>chỗ</a:t>
            </a:r>
            <a:r>
              <a:rPr sz="1600" b="0" dirty="0">
                <a:solidFill>
                  <a:srgbClr val="1B2230"/>
                </a:solidFill>
                <a:latin typeface="Arial"/>
              </a:rPr>
              <a:t>, </a:t>
            </a:r>
            <a:r>
              <a:rPr sz="1600" b="0" dirty="0" err="1">
                <a:solidFill>
                  <a:srgbClr val="1B2230"/>
                </a:solidFill>
                <a:latin typeface="Arial"/>
              </a:rPr>
              <a:t>tên</a:t>
            </a:r>
            <a:r>
              <a:rPr sz="1600" b="0" dirty="0">
                <a:solidFill>
                  <a:srgbClr val="1B2230"/>
                </a:solidFill>
                <a:latin typeface="Arial"/>
              </a:rPr>
              <a:t> </a:t>
            </a:r>
            <a:r>
              <a:rPr sz="1600" b="0" dirty="0" err="1">
                <a:solidFill>
                  <a:srgbClr val="1B2230"/>
                </a:solidFill>
                <a:latin typeface="Arial"/>
              </a:rPr>
              <a:t>ngành</a:t>
            </a:r>
            <a:r>
              <a:rPr sz="1600" b="0" dirty="0">
                <a:solidFill>
                  <a:srgbClr val="1B2230"/>
                </a:solidFill>
                <a:latin typeface="Arial"/>
              </a:rPr>
              <a:t> </a:t>
            </a:r>
            <a:r>
              <a:rPr sz="1600" b="0" dirty="0" err="1">
                <a:solidFill>
                  <a:srgbClr val="1B2230"/>
                </a:solidFill>
                <a:latin typeface="Arial"/>
              </a:rPr>
              <a:t>nằm</a:t>
            </a:r>
            <a:r>
              <a:rPr sz="1600" b="0" dirty="0">
                <a:solidFill>
                  <a:srgbClr val="1B2230"/>
                </a:solidFill>
                <a:latin typeface="Arial"/>
              </a:rPr>
              <a:t> ở Product,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lặp</a:t>
            </a:r>
            <a:r>
              <a:rPr sz="1600" b="0" dirty="0">
                <a:solidFill>
                  <a:srgbClr val="1B2230"/>
                </a:solidFill>
                <a:latin typeface="Arial"/>
              </a:rPr>
              <a:t> </a:t>
            </a:r>
            <a:r>
              <a:rPr sz="1600" b="0" dirty="0" err="1">
                <a:solidFill>
                  <a:srgbClr val="1B2230"/>
                </a:solidFill>
                <a:latin typeface="Arial"/>
              </a:rPr>
              <a:t>lại</a:t>
            </a:r>
            <a:r>
              <a:rPr sz="1600" b="0" dirty="0">
                <a:solidFill>
                  <a:srgbClr val="1B2230"/>
                </a:solidFill>
                <a:latin typeface="Arial"/>
              </a:rPr>
              <a:t> </a:t>
            </a:r>
            <a:r>
              <a:rPr sz="1600" b="0" dirty="0" err="1">
                <a:solidFill>
                  <a:srgbClr val="1B2230"/>
                </a:solidFill>
                <a:latin typeface="Arial"/>
              </a:rPr>
              <a:t>trên</a:t>
            </a:r>
            <a:r>
              <a:rPr sz="1600" b="0" dirty="0">
                <a:solidFill>
                  <a:srgbClr val="1B2230"/>
                </a:solidFill>
                <a:latin typeface="Arial"/>
              </a:rPr>
              <a:t> </a:t>
            </a:r>
            <a:r>
              <a:rPr sz="1600" b="0" dirty="0" err="1">
                <a:solidFill>
                  <a:srgbClr val="1B2230"/>
                </a:solidFill>
                <a:latin typeface="Arial"/>
              </a:rPr>
              <a:t>từng</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a:t>
            </a:r>
            <a:r>
              <a:rPr sz="1600" b="0" dirty="0" err="1">
                <a:solidFill>
                  <a:srgbClr val="1B2230"/>
                </a:solidFill>
                <a:latin typeface="Arial"/>
              </a:rPr>
              <a:t>bán</a:t>
            </a:r>
            <a:r>
              <a:rPr sz="1600" b="0" dirty="0">
                <a:solidFill>
                  <a:srgbClr val="1B2230"/>
                </a:solidFill>
                <a:latin typeface="Arial"/>
              </a:rPr>
              <a:t> </a:t>
            </a:r>
            <a:r>
              <a:rPr sz="1600" b="0" dirty="0" err="1">
                <a:solidFill>
                  <a:srgbClr val="1B2230"/>
                </a:solidFill>
                <a:latin typeface="Arial"/>
              </a:rPr>
              <a:t>hàng</a:t>
            </a:r>
            <a:r>
              <a:rPr sz="1600" b="0" dirty="0">
                <a:solidFill>
                  <a:srgbClr val="1B2230"/>
                </a:solidFill>
                <a:latin typeface="Arial"/>
              </a:rPr>
              <a:t>.</a:t>
            </a:r>
          </a:p>
        </p:txBody>
      </p:sp>
      <p:sp>
        <p:nvSpPr>
          <p:cNvPr id="5" name="TextBox"/>
          <p:cNvSpPr txBox="1"/>
          <p:nvPr/>
        </p:nvSpPr>
        <p:spPr>
          <a:xfrm>
            <a:off x="1527048" y="2057400"/>
            <a:ext cx="4480560" cy="365760"/>
          </a:xfrm>
          <a:prstGeom prst="rect">
            <a:avLst/>
          </a:prstGeom>
          <a:noFill/>
        </p:spPr>
        <p:txBody>
          <a:bodyPr wrap="square" lIns="0" tIns="0" rIns="0" bIns="0" anchor="t">
            <a:spAutoFit/>
          </a:bodyPr>
          <a:lstStyle/>
          <a:p>
            <a:r>
              <a:rPr sz="1500" b="1">
                <a:solidFill>
                  <a:srgbClr val="203864"/>
                </a:solidFill>
                <a:latin typeface="Arial"/>
              </a:rPr>
              <a:t>Fact: ghi sự kiện, có số để cộng</a:t>
            </a:r>
          </a:p>
        </p:txBody>
      </p:sp>
      <p:sp>
        <p:nvSpPr>
          <p:cNvPr id="6" name="Fact Sales"/>
          <p:cNvSpPr/>
          <p:nvPr/>
        </p:nvSpPr>
        <p:spPr>
          <a:xfrm>
            <a:off x="1527048" y="2468880"/>
            <a:ext cx="4480560" cy="1051560"/>
          </a:xfrm>
          <a:prstGeom prst="roundRect">
            <a:avLst>
              <a:gd name="adj" fmla="val 8000"/>
            </a:avLst>
          </a:prstGeom>
          <a:solidFill>
            <a:srgbClr val="203864"/>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514600"/>
            <a:ext cx="4297680" cy="960119"/>
          </a:xfrm>
          <a:prstGeom prst="rect">
            <a:avLst/>
          </a:prstGeom>
          <a:noFill/>
        </p:spPr>
        <p:txBody>
          <a:bodyPr wrap="square" lIns="0" tIns="0" rIns="0" bIns="0" anchor="ctr">
            <a:spAutoFit/>
          </a:bodyPr>
          <a:lstStyle/>
          <a:p>
            <a:pPr algn="ctr"/>
            <a:r>
              <a:rPr sz="1500" b="1" dirty="0">
                <a:solidFill>
                  <a:srgbClr val="FFFFFF"/>
                </a:solidFill>
                <a:latin typeface="Arial"/>
              </a:rPr>
              <a:t>Sales · 30.247 </a:t>
            </a:r>
            <a:r>
              <a:rPr sz="1500" b="1" dirty="0" err="1">
                <a:solidFill>
                  <a:srgbClr val="FFFFFF"/>
                </a:solidFill>
                <a:latin typeface="Arial"/>
              </a:rPr>
              <a:t>dòng</a:t>
            </a:r>
            <a:endParaRPr sz="1500" b="1" dirty="0">
              <a:solidFill>
                <a:srgbClr val="FFFFFF"/>
              </a:solidFill>
              <a:latin typeface="Arial"/>
            </a:endParaRPr>
          </a:p>
          <a:p>
            <a:pPr algn="ctr">
              <a:spcBef>
                <a:spcPts val="200"/>
              </a:spcBef>
            </a:pPr>
            <a:r>
              <a:rPr sz="1200" b="0" dirty="0">
                <a:solidFill>
                  <a:srgbClr val="E3ECF7"/>
                </a:solidFill>
                <a:latin typeface="Arial"/>
              </a:rPr>
              <a:t>grain: 1 </a:t>
            </a:r>
            <a:r>
              <a:rPr sz="1200" b="0" dirty="0" err="1">
                <a:solidFill>
                  <a:srgbClr val="E3ECF7"/>
                </a:solidFill>
                <a:latin typeface="Arial"/>
              </a:rPr>
              <a:t>sản</a:t>
            </a:r>
            <a:r>
              <a:rPr sz="1200" b="0" dirty="0">
                <a:solidFill>
                  <a:srgbClr val="E3ECF7"/>
                </a:solidFill>
                <a:latin typeface="Arial"/>
              </a:rPr>
              <a:t> </a:t>
            </a:r>
            <a:r>
              <a:rPr sz="1200" b="0" dirty="0" err="1">
                <a:solidFill>
                  <a:srgbClr val="E3ECF7"/>
                </a:solidFill>
                <a:latin typeface="Arial"/>
              </a:rPr>
              <a:t>phẩm</a:t>
            </a:r>
            <a:r>
              <a:rPr sz="1200" b="0" dirty="0">
                <a:solidFill>
                  <a:srgbClr val="E3ECF7"/>
                </a:solidFill>
                <a:latin typeface="Arial"/>
              </a:rPr>
              <a:t> </a:t>
            </a:r>
            <a:r>
              <a:rPr sz="1200" b="0" dirty="0" err="1">
                <a:solidFill>
                  <a:srgbClr val="E3ECF7"/>
                </a:solidFill>
                <a:latin typeface="Arial"/>
              </a:rPr>
              <a:t>trong</a:t>
            </a:r>
            <a:r>
              <a:rPr sz="1200" b="0" dirty="0">
                <a:solidFill>
                  <a:srgbClr val="E3ECF7"/>
                </a:solidFill>
                <a:latin typeface="Arial"/>
              </a:rPr>
              <a:t> 1 </a:t>
            </a:r>
            <a:r>
              <a:rPr sz="1200" b="0" dirty="0" err="1">
                <a:solidFill>
                  <a:srgbClr val="E3ECF7"/>
                </a:solidFill>
                <a:latin typeface="Arial"/>
              </a:rPr>
              <a:t>đơn</a:t>
            </a:r>
            <a:endParaRPr sz="1200" b="0" dirty="0">
              <a:solidFill>
                <a:srgbClr val="E3ECF7"/>
              </a:solidFill>
              <a:latin typeface="Arial"/>
            </a:endParaRPr>
          </a:p>
        </p:txBody>
      </p:sp>
      <p:sp>
        <p:nvSpPr>
          <p:cNvPr id="8" name="Fact Target"/>
          <p:cNvSpPr/>
          <p:nvPr/>
        </p:nvSpPr>
        <p:spPr>
          <a:xfrm>
            <a:off x="1527048" y="3657600"/>
            <a:ext cx="4480560" cy="1051560"/>
          </a:xfrm>
          <a:prstGeom prst="roundRect">
            <a:avLst>
              <a:gd name="adj" fmla="val 8000"/>
            </a:avLst>
          </a:prstGeom>
          <a:solidFill>
            <a:srgbClr val="203864"/>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1618488" y="3703320"/>
            <a:ext cx="4297680" cy="960119"/>
          </a:xfrm>
          <a:prstGeom prst="rect">
            <a:avLst/>
          </a:prstGeom>
          <a:noFill/>
        </p:spPr>
        <p:txBody>
          <a:bodyPr wrap="square" lIns="0" tIns="0" rIns="0" bIns="0" anchor="ctr">
            <a:spAutoFit/>
          </a:bodyPr>
          <a:lstStyle/>
          <a:p>
            <a:pPr algn="ctr"/>
            <a:r>
              <a:rPr sz="1500" b="1">
                <a:solidFill>
                  <a:srgbClr val="FFFFFF"/>
                </a:solidFill>
                <a:latin typeface="Arial"/>
              </a:rPr>
              <a:t>Target · 144 dòng</a:t>
            </a:r>
          </a:p>
          <a:p>
            <a:pPr algn="ctr">
              <a:spcBef>
                <a:spcPts val="200"/>
              </a:spcBef>
            </a:pPr>
            <a:r>
              <a:rPr sz="1200" b="0">
                <a:solidFill>
                  <a:srgbClr val="E3ECF7"/>
                </a:solidFill>
                <a:latin typeface="Arial"/>
              </a:rPr>
              <a:t>grain: tháng × cửa hàng, fact thứ hai</a:t>
            </a:r>
          </a:p>
        </p:txBody>
      </p:sp>
      <p:sp>
        <p:nvSpPr>
          <p:cNvPr id="10" name="TextBox"/>
          <p:cNvSpPr txBox="1"/>
          <p:nvPr/>
        </p:nvSpPr>
        <p:spPr>
          <a:xfrm>
            <a:off x="6373368" y="2057400"/>
            <a:ext cx="5276088" cy="365760"/>
          </a:xfrm>
          <a:prstGeom prst="rect">
            <a:avLst/>
          </a:prstGeom>
          <a:noFill/>
        </p:spPr>
        <p:txBody>
          <a:bodyPr wrap="square" lIns="0" tIns="0" rIns="0" bIns="0" anchor="t">
            <a:spAutoFit/>
          </a:bodyPr>
          <a:lstStyle/>
          <a:p>
            <a:r>
              <a:rPr sz="1500" b="1" dirty="0">
                <a:solidFill>
                  <a:srgbClr val="203864"/>
                </a:solidFill>
                <a:latin typeface="Arial"/>
              </a:rPr>
              <a:t>Lookup: </a:t>
            </a:r>
            <a:r>
              <a:rPr sz="1500" b="1" dirty="0" err="1">
                <a:solidFill>
                  <a:srgbClr val="203864"/>
                </a:solidFill>
                <a:latin typeface="Arial"/>
              </a:rPr>
              <a:t>mô</a:t>
            </a:r>
            <a:r>
              <a:rPr sz="1500" b="1" dirty="0">
                <a:solidFill>
                  <a:srgbClr val="203864"/>
                </a:solidFill>
                <a:latin typeface="Arial"/>
              </a:rPr>
              <a:t> </a:t>
            </a:r>
            <a:r>
              <a:rPr sz="1500" b="1" dirty="0" err="1">
                <a:solidFill>
                  <a:srgbClr val="203864"/>
                </a:solidFill>
                <a:latin typeface="Arial"/>
              </a:rPr>
              <a:t>tả</a:t>
            </a:r>
            <a:r>
              <a:rPr sz="1500" b="1" dirty="0">
                <a:solidFill>
                  <a:srgbClr val="203864"/>
                </a:solidFill>
                <a:latin typeface="Arial"/>
              </a:rPr>
              <a:t>, </a:t>
            </a:r>
            <a:r>
              <a:rPr sz="1500" b="1" dirty="0" err="1">
                <a:solidFill>
                  <a:srgbClr val="203864"/>
                </a:solidFill>
                <a:latin typeface="Arial"/>
              </a:rPr>
              <a:t>mỗi</a:t>
            </a:r>
            <a:r>
              <a:rPr sz="1500" b="1" dirty="0">
                <a:solidFill>
                  <a:srgbClr val="203864"/>
                </a:solidFill>
                <a:latin typeface="Arial"/>
              </a:rPr>
              <a:t> </a:t>
            </a:r>
            <a:r>
              <a:rPr sz="1500" b="1" dirty="0" err="1">
                <a:solidFill>
                  <a:srgbClr val="203864"/>
                </a:solidFill>
                <a:latin typeface="Arial"/>
              </a:rPr>
              <a:t>đối</a:t>
            </a:r>
            <a:r>
              <a:rPr sz="1500" b="1" dirty="0">
                <a:solidFill>
                  <a:srgbClr val="203864"/>
                </a:solidFill>
                <a:latin typeface="Arial"/>
              </a:rPr>
              <a:t> </a:t>
            </a:r>
            <a:r>
              <a:rPr sz="1500" b="1" dirty="0" err="1">
                <a:solidFill>
                  <a:srgbClr val="203864"/>
                </a:solidFill>
                <a:latin typeface="Arial"/>
              </a:rPr>
              <a:t>tượng</a:t>
            </a:r>
            <a:r>
              <a:rPr sz="1500" b="1" dirty="0">
                <a:solidFill>
                  <a:srgbClr val="203864"/>
                </a:solidFill>
                <a:latin typeface="Arial"/>
              </a:rPr>
              <a:t> </a:t>
            </a:r>
            <a:r>
              <a:rPr sz="1500" b="1" dirty="0" err="1">
                <a:solidFill>
                  <a:srgbClr val="203864"/>
                </a:solidFill>
                <a:latin typeface="Arial"/>
              </a:rPr>
              <a:t>một</a:t>
            </a:r>
            <a:r>
              <a:rPr sz="1500" b="1" dirty="0">
                <a:solidFill>
                  <a:srgbClr val="203864"/>
                </a:solidFill>
                <a:latin typeface="Arial"/>
              </a:rPr>
              <a:t> </a:t>
            </a:r>
            <a:r>
              <a:rPr sz="1500" b="1" dirty="0" err="1">
                <a:solidFill>
                  <a:srgbClr val="203864"/>
                </a:solidFill>
                <a:latin typeface="Arial"/>
              </a:rPr>
              <a:t>dòng</a:t>
            </a:r>
            <a:endParaRPr sz="1500" b="1" dirty="0">
              <a:solidFill>
                <a:srgbClr val="203864"/>
              </a:solidFill>
              <a:latin typeface="Arial"/>
            </a:endParaRPr>
          </a:p>
        </p:txBody>
      </p:sp>
      <p:sp>
        <p:nvSpPr>
          <p:cNvPr id="11" name="Lookup Product"/>
          <p:cNvSpPr/>
          <p:nvPr/>
        </p:nvSpPr>
        <p:spPr>
          <a:xfrm>
            <a:off x="6373368" y="2468880"/>
            <a:ext cx="2578608" cy="1051560"/>
          </a:xfrm>
          <a:prstGeom prst="roundRect">
            <a:avLst>
              <a:gd name="adj" fmla="val 8000"/>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6464807" y="2514600"/>
            <a:ext cx="2395727" cy="960119"/>
          </a:xfrm>
          <a:prstGeom prst="rect">
            <a:avLst/>
          </a:prstGeom>
          <a:noFill/>
        </p:spPr>
        <p:txBody>
          <a:bodyPr wrap="square" lIns="0" tIns="0" rIns="0" bIns="0" anchor="ctr">
            <a:spAutoFit/>
          </a:bodyPr>
          <a:lstStyle/>
          <a:p>
            <a:pPr algn="ctr"/>
            <a:r>
              <a:rPr sz="1500" b="1" dirty="0">
                <a:solidFill>
                  <a:srgbClr val="203864"/>
                </a:solidFill>
                <a:latin typeface="Arial"/>
              </a:rPr>
              <a:t>Product · 40</a:t>
            </a:r>
          </a:p>
          <a:p>
            <a:pPr algn="ctr">
              <a:spcBef>
                <a:spcPts val="200"/>
              </a:spcBef>
            </a:pPr>
            <a:r>
              <a:rPr sz="1200" b="0" dirty="0" err="1">
                <a:solidFill>
                  <a:srgbClr val="585858"/>
                </a:solidFill>
                <a:latin typeface="Arial"/>
              </a:rPr>
              <a:t>sản</a:t>
            </a:r>
            <a:r>
              <a:rPr sz="1200" b="0" dirty="0">
                <a:solidFill>
                  <a:srgbClr val="585858"/>
                </a:solidFill>
                <a:latin typeface="Arial"/>
              </a:rPr>
              <a:t> </a:t>
            </a:r>
            <a:r>
              <a:rPr sz="1200" b="0" dirty="0" err="1">
                <a:solidFill>
                  <a:srgbClr val="585858"/>
                </a:solidFill>
                <a:latin typeface="Arial"/>
              </a:rPr>
              <a:t>phẩm</a:t>
            </a:r>
            <a:endParaRPr sz="1200" b="0" dirty="0">
              <a:solidFill>
                <a:srgbClr val="585858"/>
              </a:solidFill>
              <a:latin typeface="Arial"/>
            </a:endParaRPr>
          </a:p>
        </p:txBody>
      </p:sp>
      <p:sp>
        <p:nvSpPr>
          <p:cNvPr id="13" name="Lookup Store"/>
          <p:cNvSpPr/>
          <p:nvPr/>
        </p:nvSpPr>
        <p:spPr>
          <a:xfrm>
            <a:off x="9070848" y="2468880"/>
            <a:ext cx="2578608" cy="1051560"/>
          </a:xfrm>
          <a:prstGeom prst="roundRect">
            <a:avLst>
              <a:gd name="adj" fmla="val 8000"/>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p:cNvSpPr txBox="1"/>
          <p:nvPr/>
        </p:nvSpPr>
        <p:spPr>
          <a:xfrm>
            <a:off x="9162288" y="2514600"/>
            <a:ext cx="2395727" cy="960119"/>
          </a:xfrm>
          <a:prstGeom prst="rect">
            <a:avLst/>
          </a:prstGeom>
          <a:noFill/>
        </p:spPr>
        <p:txBody>
          <a:bodyPr wrap="square" lIns="0" tIns="0" rIns="0" bIns="0" anchor="ctr">
            <a:spAutoFit/>
          </a:bodyPr>
          <a:lstStyle/>
          <a:p>
            <a:pPr algn="ctr"/>
            <a:r>
              <a:rPr sz="1500" b="1" dirty="0">
                <a:solidFill>
                  <a:srgbClr val="203864"/>
                </a:solidFill>
                <a:latin typeface="Arial"/>
              </a:rPr>
              <a:t>Store · 12</a:t>
            </a:r>
          </a:p>
          <a:p>
            <a:pPr algn="ctr">
              <a:spcBef>
                <a:spcPts val="200"/>
              </a:spcBef>
            </a:pPr>
            <a:r>
              <a:rPr sz="1200" b="0" dirty="0" err="1">
                <a:solidFill>
                  <a:srgbClr val="585858"/>
                </a:solidFill>
                <a:latin typeface="Arial"/>
              </a:rPr>
              <a:t>cửa</a:t>
            </a:r>
            <a:r>
              <a:rPr sz="1200" b="0" dirty="0">
                <a:solidFill>
                  <a:srgbClr val="585858"/>
                </a:solidFill>
                <a:latin typeface="Arial"/>
              </a:rPr>
              <a:t> </a:t>
            </a:r>
            <a:r>
              <a:rPr sz="1200" b="0" dirty="0" err="1">
                <a:solidFill>
                  <a:srgbClr val="585858"/>
                </a:solidFill>
                <a:latin typeface="Arial"/>
              </a:rPr>
              <a:t>hàng</a:t>
            </a:r>
            <a:endParaRPr sz="1200" b="0" dirty="0">
              <a:solidFill>
                <a:srgbClr val="585858"/>
              </a:solidFill>
              <a:latin typeface="Arial"/>
            </a:endParaRPr>
          </a:p>
        </p:txBody>
      </p:sp>
      <p:sp>
        <p:nvSpPr>
          <p:cNvPr id="15" name="Lookup Customer"/>
          <p:cNvSpPr/>
          <p:nvPr/>
        </p:nvSpPr>
        <p:spPr>
          <a:xfrm>
            <a:off x="6373368" y="3657600"/>
            <a:ext cx="2578608" cy="1051560"/>
          </a:xfrm>
          <a:prstGeom prst="roundRect">
            <a:avLst>
              <a:gd name="adj" fmla="val 8000"/>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p:cNvSpPr txBox="1"/>
          <p:nvPr/>
        </p:nvSpPr>
        <p:spPr>
          <a:xfrm>
            <a:off x="6464807" y="3703320"/>
            <a:ext cx="2395727" cy="960119"/>
          </a:xfrm>
          <a:prstGeom prst="rect">
            <a:avLst/>
          </a:prstGeom>
          <a:noFill/>
        </p:spPr>
        <p:txBody>
          <a:bodyPr wrap="square" lIns="0" tIns="0" rIns="0" bIns="0" anchor="ctr">
            <a:spAutoFit/>
          </a:bodyPr>
          <a:lstStyle/>
          <a:p>
            <a:pPr algn="ctr"/>
            <a:r>
              <a:rPr sz="1500" b="1" dirty="0">
                <a:solidFill>
                  <a:srgbClr val="203864"/>
                </a:solidFill>
                <a:latin typeface="Arial"/>
              </a:rPr>
              <a:t>Customer · 1.500</a:t>
            </a:r>
          </a:p>
          <a:p>
            <a:pPr algn="ctr">
              <a:spcBef>
                <a:spcPts val="200"/>
              </a:spcBef>
            </a:pPr>
            <a:r>
              <a:rPr sz="1200" b="0" dirty="0" err="1">
                <a:solidFill>
                  <a:srgbClr val="585858"/>
                </a:solidFill>
                <a:latin typeface="Arial"/>
              </a:rPr>
              <a:t>khách</a:t>
            </a:r>
            <a:r>
              <a:rPr sz="1200" b="0" dirty="0">
                <a:solidFill>
                  <a:srgbClr val="585858"/>
                </a:solidFill>
                <a:latin typeface="Arial"/>
              </a:rPr>
              <a:t> </a:t>
            </a:r>
            <a:r>
              <a:rPr sz="1200" b="0" dirty="0" err="1">
                <a:solidFill>
                  <a:srgbClr val="585858"/>
                </a:solidFill>
                <a:latin typeface="Arial"/>
              </a:rPr>
              <a:t>hàng</a:t>
            </a:r>
            <a:endParaRPr sz="1200" b="0" dirty="0">
              <a:solidFill>
                <a:srgbClr val="585858"/>
              </a:solidFill>
              <a:latin typeface="Arial"/>
            </a:endParaRPr>
          </a:p>
        </p:txBody>
      </p:sp>
      <p:sp>
        <p:nvSpPr>
          <p:cNvPr id="17" name="Lookup Calendar"/>
          <p:cNvSpPr/>
          <p:nvPr/>
        </p:nvSpPr>
        <p:spPr>
          <a:xfrm>
            <a:off x="9070848" y="3657600"/>
            <a:ext cx="2578608" cy="1051560"/>
          </a:xfrm>
          <a:prstGeom prst="roundRect">
            <a:avLst>
              <a:gd name="adj" fmla="val 8000"/>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p:cNvSpPr txBox="1"/>
          <p:nvPr/>
        </p:nvSpPr>
        <p:spPr>
          <a:xfrm>
            <a:off x="9162288" y="3703320"/>
            <a:ext cx="2395727" cy="960119"/>
          </a:xfrm>
          <a:prstGeom prst="rect">
            <a:avLst/>
          </a:prstGeom>
          <a:noFill/>
        </p:spPr>
        <p:txBody>
          <a:bodyPr wrap="square" lIns="0" tIns="0" rIns="0" bIns="0" anchor="ctr">
            <a:spAutoFit/>
          </a:bodyPr>
          <a:lstStyle/>
          <a:p>
            <a:pPr algn="ctr"/>
            <a:r>
              <a:rPr sz="1500" b="1" dirty="0">
                <a:solidFill>
                  <a:srgbClr val="203864"/>
                </a:solidFill>
                <a:latin typeface="Arial"/>
              </a:rPr>
              <a:t>Calendar · 731</a:t>
            </a:r>
          </a:p>
          <a:p>
            <a:pPr algn="ctr">
              <a:spcBef>
                <a:spcPts val="200"/>
              </a:spcBef>
            </a:pPr>
            <a:r>
              <a:rPr sz="1200" b="0" dirty="0" err="1">
                <a:solidFill>
                  <a:srgbClr val="585858"/>
                </a:solidFill>
                <a:latin typeface="Arial"/>
              </a:rPr>
              <a:t>ngày</a:t>
            </a:r>
            <a:endParaRPr sz="1200" b="0" dirty="0">
              <a:solidFill>
                <a:srgbClr val="585858"/>
              </a:solidFill>
              <a:latin typeface="Arial"/>
            </a:endParaRPr>
          </a:p>
        </p:txBody>
      </p:sp>
      <p:sp>
        <p:nvSpPr>
          <p:cNvPr id="19" name="TIP callout"/>
          <p:cNvSpPr/>
          <p:nvPr/>
        </p:nvSpPr>
        <p:spPr>
          <a:xfrm>
            <a:off x="1527048" y="5074920"/>
            <a:ext cx="10122408" cy="9144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p:cNvSpPr txBox="1"/>
          <p:nvPr/>
        </p:nvSpPr>
        <p:spPr>
          <a:xfrm>
            <a:off x="1636776" y="518464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21" name="TIP text"/>
          <p:cNvSpPr txBox="1"/>
          <p:nvPr/>
        </p:nvSpPr>
        <p:spPr>
          <a:xfrm>
            <a:off x="2212848" y="5166359"/>
            <a:ext cx="9326880" cy="731520"/>
          </a:xfrm>
          <a:prstGeom prst="rect">
            <a:avLst/>
          </a:prstGeom>
          <a:noFill/>
        </p:spPr>
        <p:txBody>
          <a:bodyPr wrap="square" lIns="0" tIns="0" rIns="0" bIns="0" anchor="t">
            <a:spAutoFit/>
          </a:bodyPr>
          <a:lstStyle/>
          <a:p>
            <a:r>
              <a:rPr sz="1600" b="0" dirty="0" err="1">
                <a:solidFill>
                  <a:srgbClr val="1B2230"/>
                </a:solidFill>
                <a:latin typeface="Arial"/>
              </a:rPr>
              <a:t>Bảng</a:t>
            </a:r>
            <a:r>
              <a:rPr sz="1600" b="0" dirty="0">
                <a:solidFill>
                  <a:srgbClr val="1B2230"/>
                </a:solidFill>
                <a:latin typeface="Arial"/>
              </a:rPr>
              <a:t> fact </a:t>
            </a:r>
            <a:r>
              <a:rPr sz="1600" b="0" dirty="0" err="1">
                <a:solidFill>
                  <a:srgbClr val="1B2230"/>
                </a:solidFill>
                <a:latin typeface="Arial"/>
              </a:rPr>
              <a:t>dài</a:t>
            </a:r>
            <a:r>
              <a:rPr sz="1600" b="0" dirty="0">
                <a:solidFill>
                  <a:srgbClr val="1B2230"/>
                </a:solidFill>
                <a:latin typeface="Arial"/>
              </a:rPr>
              <a:t>, </a:t>
            </a:r>
            <a:r>
              <a:rPr sz="1600" b="0" dirty="0" err="1">
                <a:solidFill>
                  <a:srgbClr val="1B2230"/>
                </a:solidFill>
                <a:latin typeface="Arial"/>
              </a:rPr>
              <a:t>có</a:t>
            </a:r>
            <a:r>
              <a:rPr sz="1600" b="0" dirty="0">
                <a:solidFill>
                  <a:srgbClr val="1B2230"/>
                </a:solidFill>
                <a:latin typeface="Arial"/>
              </a:rPr>
              <a:t> </a:t>
            </a:r>
            <a:r>
              <a:rPr sz="1600" b="0" dirty="0" err="1">
                <a:solidFill>
                  <a:srgbClr val="1B2230"/>
                </a:solidFill>
                <a:latin typeface="Arial"/>
              </a:rPr>
              <a:t>cột</a:t>
            </a:r>
            <a:r>
              <a:rPr sz="1600" b="0" dirty="0">
                <a:solidFill>
                  <a:srgbClr val="1B2230"/>
                </a:solidFill>
                <a:latin typeface="Arial"/>
              </a:rPr>
              <a:t> </a:t>
            </a:r>
            <a:r>
              <a:rPr sz="1600" b="0" dirty="0" err="1">
                <a:solidFill>
                  <a:srgbClr val="1B2230"/>
                </a:solidFill>
                <a:latin typeface="Arial"/>
              </a:rPr>
              <a:t>số</a:t>
            </a:r>
            <a:r>
              <a:rPr sz="1600" b="0" dirty="0">
                <a:solidFill>
                  <a:srgbClr val="1B2230"/>
                </a:solidFill>
                <a:latin typeface="Arial"/>
              </a:rPr>
              <a:t> (Quantity, Revenue). </a:t>
            </a:r>
            <a:r>
              <a:rPr sz="1600" b="0" dirty="0" err="1">
                <a:solidFill>
                  <a:srgbClr val="1B2230"/>
                </a:solidFill>
                <a:latin typeface="Arial"/>
              </a:rPr>
              <a:t>Bảng</a:t>
            </a:r>
            <a:r>
              <a:rPr sz="1600" b="0" dirty="0">
                <a:solidFill>
                  <a:srgbClr val="1B2230"/>
                </a:solidFill>
                <a:latin typeface="Arial"/>
              </a:rPr>
              <a:t> lookup </a:t>
            </a:r>
            <a:r>
              <a:rPr sz="1600" b="0" dirty="0" err="1">
                <a:solidFill>
                  <a:srgbClr val="1B2230"/>
                </a:solidFill>
                <a:latin typeface="Arial"/>
              </a:rPr>
              <a:t>ngắn</a:t>
            </a:r>
            <a:r>
              <a:rPr sz="1600" b="0" dirty="0">
                <a:solidFill>
                  <a:srgbClr val="1B2230"/>
                </a:solidFill>
                <a:latin typeface="Arial"/>
              </a:rPr>
              <a:t>, </a:t>
            </a:r>
            <a:r>
              <a:rPr sz="1600" b="0" dirty="0" err="1">
                <a:solidFill>
                  <a:srgbClr val="1B2230"/>
                </a:solidFill>
                <a:latin typeface="Arial"/>
              </a:rPr>
              <a:t>chủ</a:t>
            </a:r>
            <a:r>
              <a:rPr sz="1600" b="0" dirty="0">
                <a:solidFill>
                  <a:srgbClr val="1B2230"/>
                </a:solidFill>
                <a:latin typeface="Arial"/>
              </a:rPr>
              <a:t> </a:t>
            </a:r>
            <a:r>
              <a:rPr sz="1600" b="0" dirty="0" err="1">
                <a:solidFill>
                  <a:srgbClr val="1B2230"/>
                </a:solidFill>
                <a:latin typeface="Arial"/>
              </a:rPr>
              <a:t>yếu</a:t>
            </a:r>
            <a:r>
              <a:rPr sz="1600" b="0" dirty="0">
                <a:solidFill>
                  <a:srgbClr val="1B2230"/>
                </a:solidFill>
                <a:latin typeface="Arial"/>
              </a:rPr>
              <a:t> </a:t>
            </a:r>
            <a:r>
              <a:rPr sz="1600" b="0" dirty="0" err="1">
                <a:solidFill>
                  <a:srgbClr val="1B2230"/>
                </a:solidFill>
                <a:latin typeface="Arial"/>
              </a:rPr>
              <a:t>là</a:t>
            </a:r>
            <a:r>
              <a:rPr sz="1600" b="0" dirty="0">
                <a:solidFill>
                  <a:srgbClr val="1B2230"/>
                </a:solidFill>
                <a:latin typeface="Arial"/>
              </a:rPr>
              <a:t> </a:t>
            </a:r>
            <a:r>
              <a:rPr sz="1600" b="0" dirty="0" err="1">
                <a:solidFill>
                  <a:srgbClr val="1B2230"/>
                </a:solidFill>
                <a:latin typeface="Arial"/>
              </a:rPr>
              <a:t>chữ</a:t>
            </a:r>
            <a:r>
              <a:rPr sz="1600" b="0" dirty="0">
                <a:solidFill>
                  <a:srgbClr val="1B2230"/>
                </a:solidFill>
                <a:latin typeface="Arial"/>
              </a:rPr>
              <a:t>. Target </a:t>
            </a:r>
            <a:r>
              <a:rPr sz="1600" b="0" dirty="0" err="1">
                <a:solidFill>
                  <a:srgbClr val="1B2230"/>
                </a:solidFill>
                <a:latin typeface="Arial"/>
              </a:rPr>
              <a:t>là</a:t>
            </a:r>
            <a:r>
              <a:rPr sz="1600" b="0" dirty="0">
                <a:solidFill>
                  <a:srgbClr val="1B2230"/>
                </a:solidFill>
                <a:latin typeface="Arial"/>
              </a:rPr>
              <a:t> fact: </a:t>
            </a:r>
            <a:r>
              <a:rPr sz="1600" b="0" dirty="0" err="1">
                <a:solidFill>
                  <a:srgbClr val="1B2230"/>
                </a:solidFill>
                <a:latin typeface="Arial"/>
              </a:rPr>
              <a:t>nó</a:t>
            </a:r>
            <a:r>
              <a:rPr sz="1600" b="0" dirty="0">
                <a:solidFill>
                  <a:srgbClr val="1B2230"/>
                </a:solidFill>
                <a:latin typeface="Arial"/>
              </a:rPr>
              <a:t> </a:t>
            </a:r>
            <a:r>
              <a:rPr sz="1600" b="0" dirty="0" err="1">
                <a:solidFill>
                  <a:srgbClr val="1B2230"/>
                </a:solidFill>
                <a:latin typeface="Arial"/>
              </a:rPr>
              <a:t>ghi</a:t>
            </a:r>
            <a:r>
              <a:rPr sz="1600" b="0" dirty="0">
                <a:solidFill>
                  <a:srgbClr val="1B2230"/>
                </a:solidFill>
                <a:latin typeface="Arial"/>
              </a:rPr>
              <a:t> </a:t>
            </a:r>
            <a:r>
              <a:rPr sz="1600" b="0" dirty="0" err="1">
                <a:solidFill>
                  <a:srgbClr val="1B2230"/>
                </a:solidFill>
                <a:latin typeface="Arial"/>
              </a:rPr>
              <a:t>một</a:t>
            </a:r>
            <a:r>
              <a:rPr sz="1600" b="0" dirty="0">
                <a:solidFill>
                  <a:srgbClr val="1B2230"/>
                </a:solidFill>
                <a:latin typeface="Arial"/>
              </a:rPr>
              <a:t> con </a:t>
            </a:r>
            <a:r>
              <a:rPr sz="1600" b="0" dirty="0" err="1">
                <a:solidFill>
                  <a:srgbClr val="1B2230"/>
                </a:solidFill>
                <a:latin typeface="Arial"/>
              </a:rPr>
              <a:t>số</a:t>
            </a:r>
            <a:r>
              <a:rPr sz="1600" b="0" dirty="0">
                <a:solidFill>
                  <a:srgbClr val="1B2230"/>
                </a:solidFill>
                <a:latin typeface="Arial"/>
              </a:rPr>
              <a:t> </a:t>
            </a:r>
            <a:r>
              <a:rPr sz="1600" b="0" dirty="0" err="1">
                <a:solidFill>
                  <a:srgbClr val="1B2230"/>
                </a:solidFill>
                <a:latin typeface="Arial"/>
              </a:rPr>
              <a:t>kế</a:t>
            </a:r>
            <a:r>
              <a:rPr sz="1600" b="0" dirty="0">
                <a:solidFill>
                  <a:srgbClr val="1B2230"/>
                </a:solidFill>
                <a:latin typeface="Arial"/>
              </a:rPr>
              <a:t> </a:t>
            </a:r>
            <a:r>
              <a:rPr sz="1600" b="0" dirty="0" err="1">
                <a:solidFill>
                  <a:srgbClr val="1B2230"/>
                </a:solidFill>
                <a:latin typeface="Arial"/>
              </a:rPr>
              <a:t>hoạch</a:t>
            </a:r>
            <a:r>
              <a:rPr sz="1600" b="0" dirty="0">
                <a:solidFill>
                  <a:srgbClr val="1B2230"/>
                </a:solidFill>
                <a:latin typeface="Arial"/>
              </a:rPr>
              <a:t>, </a:t>
            </a:r>
            <a:r>
              <a:rPr sz="1600" b="0" dirty="0" err="1">
                <a:solidFill>
                  <a:srgbClr val="1B2230"/>
                </a:solidFill>
                <a:latin typeface="Arial"/>
              </a:rPr>
              <a:t>nhưng</a:t>
            </a:r>
            <a:r>
              <a:rPr sz="1600" b="0" dirty="0">
                <a:solidFill>
                  <a:srgbClr val="1B2230"/>
                </a:solidFill>
                <a:latin typeface="Arial"/>
              </a:rPr>
              <a:t>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có</a:t>
            </a:r>
            <a:r>
              <a:rPr sz="1600" b="0" dirty="0">
                <a:solidFill>
                  <a:srgbClr val="1B2230"/>
                </a:solidFill>
                <a:latin typeface="Arial"/>
              </a:rPr>
              <a:t> </a:t>
            </a:r>
            <a:r>
              <a:rPr sz="1600" b="0" dirty="0" err="1">
                <a:solidFill>
                  <a:srgbClr val="1B2230"/>
                </a:solidFill>
                <a:latin typeface="Arial"/>
              </a:rPr>
              <a:t>cột</a:t>
            </a:r>
            <a:r>
              <a:rPr sz="1600" b="0" dirty="0">
                <a:solidFill>
                  <a:srgbClr val="1B2230"/>
                </a:solidFill>
                <a:latin typeface="Arial"/>
              </a:rPr>
              <a:t> </a:t>
            </a:r>
            <a:r>
              <a:rPr sz="1600" b="0" dirty="0" err="1">
                <a:solidFill>
                  <a:srgbClr val="1B2230"/>
                </a:solidFill>
                <a:latin typeface="Arial"/>
              </a:rPr>
              <a:t>sản</a:t>
            </a:r>
            <a:r>
              <a:rPr sz="1600" b="0" dirty="0">
                <a:solidFill>
                  <a:srgbClr val="1B2230"/>
                </a:solidFill>
                <a:latin typeface="Arial"/>
              </a:rPr>
              <a:t> </a:t>
            </a:r>
            <a:r>
              <a:rPr sz="1600" b="0" dirty="0" err="1">
                <a:solidFill>
                  <a:srgbClr val="1B2230"/>
                </a:solidFill>
                <a:latin typeface="Arial"/>
              </a:rPr>
              <a:t>phẩm</a:t>
            </a:r>
            <a:r>
              <a:rPr sz="1600" b="0" dirty="0">
                <a:solidFill>
                  <a:srgbClr val="1B2230"/>
                </a:solidFill>
                <a:latin typeface="Arial"/>
              </a:rPr>
              <a:t>.</a:t>
            </a:r>
          </a:p>
        </p:txBody>
      </p:sp>
      <p:sp>
        <p:nvSpPr>
          <p:cNvPr id="22"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Số dòng: Data Model của file khởi đầu (Power Pivot → Data View)</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Primary key · Foreign key</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DATA MODEL</a:t>
            </a:r>
          </a:p>
        </p:txBody>
      </p:sp>
      <p:graphicFrame>
        <p:nvGraphicFramePr>
          <p:cNvPr id="4" name="Table"/>
          <p:cNvGraphicFramePr>
            <a:graphicFrameLocks noGrp="1"/>
          </p:cNvGraphicFramePr>
          <p:nvPr>
            <p:extLst>
              <p:ext uri="{D42A27DB-BD31-4B8C-83A1-F6EECF244321}">
                <p14:modId xmlns:p14="http://schemas.microsoft.com/office/powerpoint/2010/main" val="2169573407"/>
              </p:ext>
            </p:extLst>
          </p:nvPr>
        </p:nvGraphicFramePr>
        <p:xfrm>
          <a:off x="1527048" y="1417320"/>
          <a:ext cx="10122408" cy="2514600"/>
        </p:xfrm>
        <a:graphic>
          <a:graphicData uri="http://schemas.openxmlformats.org/drawingml/2006/table">
            <a:tbl>
              <a:tblPr firstRow="1"/>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001768">
                  <a:extLst>
                    <a:ext uri="{9D8B030D-6E8A-4147-A177-3AD203B41FA5}">
                      <a16:colId xmlns:a16="http://schemas.microsoft.com/office/drawing/2014/main" val="20002"/>
                    </a:ext>
                  </a:extLst>
                </a:gridCol>
              </a:tblGrid>
              <a:tr h="502920">
                <a:tc>
                  <a:txBody>
                    <a:bodyPr/>
                    <a:lstStyle/>
                    <a:p>
                      <a:r>
                        <a:rPr sz="1500" b="1">
                          <a:solidFill>
                            <a:srgbClr val="FFFFFF"/>
                          </a:solidFill>
                          <a:latin typeface="Arial"/>
                        </a:rPr>
                        <a:t>Bảng lookup</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a:solidFill>
                            <a:srgbClr val="FFFFFF"/>
                          </a:solidFill>
                          <a:latin typeface="Arial"/>
                        </a:rPr>
                        <a:t>Primary key (duy nhất)</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500" b="1" dirty="0">
                          <a:solidFill>
                            <a:srgbClr val="FFFFFF"/>
                          </a:solidFill>
                          <a:latin typeface="Arial"/>
                        </a:rPr>
                        <a:t>Foreign key ở </a:t>
                      </a:r>
                      <a:r>
                        <a:rPr sz="1500" b="1" dirty="0" err="1">
                          <a:solidFill>
                            <a:srgbClr val="FFFFFF"/>
                          </a:solidFill>
                          <a:latin typeface="Arial"/>
                        </a:rPr>
                        <a:t>bảng</a:t>
                      </a:r>
                      <a:r>
                        <a:rPr sz="1500" b="1" dirty="0">
                          <a:solidFill>
                            <a:srgbClr val="FFFFFF"/>
                          </a:solidFill>
                          <a:latin typeface="Arial"/>
                        </a:rPr>
                        <a:t> fact (</a:t>
                      </a:r>
                      <a:r>
                        <a:rPr sz="1500" b="1" dirty="0" err="1">
                          <a:solidFill>
                            <a:srgbClr val="FFFFFF"/>
                          </a:solidFill>
                          <a:latin typeface="Arial"/>
                        </a:rPr>
                        <a:t>lặp</a:t>
                      </a:r>
                      <a:r>
                        <a:rPr sz="1500" b="1" dirty="0">
                          <a:solidFill>
                            <a:srgbClr val="FFFFFF"/>
                          </a:solidFill>
                          <a:latin typeface="Arial"/>
                        </a:rPr>
                        <a:t> </a:t>
                      </a:r>
                      <a:r>
                        <a:rPr sz="1500" b="1" dirty="0" err="1">
                          <a:solidFill>
                            <a:srgbClr val="FFFFFF"/>
                          </a:solidFill>
                          <a:latin typeface="Arial"/>
                        </a:rPr>
                        <a:t>lại</a:t>
                      </a:r>
                      <a:r>
                        <a:rPr sz="1500" b="1" dirty="0">
                          <a:solidFill>
                            <a:srgbClr val="FFFFFF"/>
                          </a:solidFill>
                          <a:latin typeface="Arial"/>
                        </a:rPr>
                        <a:t>)</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502920">
                <a:tc>
                  <a:txBody>
                    <a:bodyPr/>
                    <a:lstStyle/>
                    <a:p>
                      <a:r>
                        <a:rPr sz="1500" b="1" dirty="0">
                          <a:solidFill>
                            <a:srgbClr val="1B2230"/>
                          </a:solidFill>
                          <a:latin typeface="Arial"/>
                        </a:rPr>
                        <a:t>Product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dirty="0" err="1">
                          <a:solidFill>
                            <a:srgbClr val="1B2230"/>
                          </a:solidFill>
                          <a:latin typeface="Arial"/>
                        </a:rPr>
                        <a:t>Product_Code</a:t>
                      </a:r>
                      <a:r>
                        <a:rPr sz="1500" b="0" dirty="0">
                          <a:solidFill>
                            <a:srgbClr val="1B2230"/>
                          </a:solidFill>
                          <a:latin typeface="Arial"/>
                        </a:rPr>
                        <a:t>: 40 </a:t>
                      </a:r>
                      <a:r>
                        <a:rPr sz="1500" b="0" dirty="0" err="1">
                          <a:solidFill>
                            <a:srgbClr val="1B2230"/>
                          </a:solidFill>
                          <a:latin typeface="Arial"/>
                        </a:rPr>
                        <a:t>mã</a:t>
                      </a:r>
                      <a:endParaRPr sz="15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dirty="0">
                          <a:solidFill>
                            <a:srgbClr val="1B2230"/>
                          </a:solidFill>
                          <a:latin typeface="Arial"/>
                        </a:rPr>
                        <a:t>Sales[</a:t>
                      </a:r>
                      <a:r>
                        <a:rPr sz="1500" b="0" dirty="0" err="1">
                          <a:solidFill>
                            <a:srgbClr val="1B2230"/>
                          </a:solidFill>
                          <a:latin typeface="Arial"/>
                        </a:rPr>
                        <a:t>Product_Code</a:t>
                      </a:r>
                      <a:r>
                        <a:rPr sz="1500" b="0" dirty="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502920">
                <a:tc>
                  <a:txBody>
                    <a:bodyPr/>
                    <a:lstStyle/>
                    <a:p>
                      <a:r>
                        <a:rPr sz="1500" b="1">
                          <a:solidFill>
                            <a:srgbClr val="1B2230"/>
                          </a:solidFill>
                          <a:latin typeface="Arial"/>
                        </a:rPr>
                        <a:t>Store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Store_Code: 12 mã</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Sales[Store_Code] · Target[Store_Code]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502920">
                <a:tc>
                  <a:txBody>
                    <a:bodyPr/>
                    <a:lstStyle/>
                    <a:p>
                      <a:r>
                        <a:rPr sz="1500" b="1">
                          <a:solidFill>
                            <a:srgbClr val="1B2230"/>
                          </a:solidFill>
                          <a:latin typeface="Arial"/>
                        </a:rPr>
                        <a:t>Customer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Customer_ID: 1.500 mã</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dirty="0">
                          <a:solidFill>
                            <a:srgbClr val="1B2230"/>
                          </a:solidFill>
                          <a:latin typeface="Arial"/>
                        </a:rPr>
                        <a:t>Sales[</a:t>
                      </a:r>
                      <a:r>
                        <a:rPr sz="1500" b="0" dirty="0" err="1">
                          <a:solidFill>
                            <a:srgbClr val="1B2230"/>
                          </a:solidFill>
                          <a:latin typeface="Arial"/>
                        </a:rPr>
                        <a:t>Customer_ID</a:t>
                      </a:r>
                      <a:r>
                        <a:rPr sz="1500" b="0" dirty="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502920">
                <a:tc>
                  <a:txBody>
                    <a:bodyPr/>
                    <a:lstStyle/>
                    <a:p>
                      <a:r>
                        <a:rPr sz="1500" b="1">
                          <a:solidFill>
                            <a:srgbClr val="1B2230"/>
                          </a:solidFill>
                          <a:latin typeface="Arial"/>
                        </a:rPr>
                        <a:t>Calendar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a:solidFill>
                            <a:srgbClr val="1B2230"/>
                          </a:solidFill>
                          <a:latin typeface="Arial"/>
                        </a:rPr>
                        <a:t>Date: 731 ngày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500" b="0" dirty="0">
                          <a:solidFill>
                            <a:srgbClr val="1B2230"/>
                          </a:solidFill>
                          <a:latin typeface="Arial"/>
                        </a:rPr>
                        <a:t>Sales[</a:t>
                      </a:r>
                      <a:r>
                        <a:rPr sz="1500" b="0" dirty="0" err="1">
                          <a:solidFill>
                            <a:srgbClr val="1B2230"/>
                          </a:solidFill>
                          <a:latin typeface="Arial"/>
                        </a:rPr>
                        <a:t>Order_Date</a:t>
                      </a:r>
                      <a:r>
                        <a:rPr sz="1500" b="0" dirty="0">
                          <a:solidFill>
                            <a:srgbClr val="1B2230"/>
                          </a:solidFill>
                          <a:latin typeface="Arial"/>
                        </a:rPr>
                        <a:t>] · Target[</a:t>
                      </a:r>
                      <a:r>
                        <a:rPr sz="1500" b="0" dirty="0" err="1">
                          <a:solidFill>
                            <a:srgbClr val="1B2230"/>
                          </a:solidFill>
                          <a:latin typeface="Arial"/>
                        </a:rPr>
                        <a:t>Ngay_Dau_Thang</a:t>
                      </a:r>
                      <a:r>
                        <a:rPr sz="1500" b="0" dirty="0">
                          <a:solidFill>
                            <a:srgbClr val="1B223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bl>
          </a:graphicData>
        </a:graphic>
      </p:graphicFrame>
      <p:sp>
        <p:nvSpPr>
          <p:cNvPr id="5" name="Stat card"/>
          <p:cNvSpPr/>
          <p:nvPr/>
        </p:nvSpPr>
        <p:spPr>
          <a:xfrm>
            <a:off x="1527048" y="4160520"/>
            <a:ext cx="4965192" cy="1234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p:cNvSpPr txBox="1"/>
          <p:nvPr/>
        </p:nvSpPr>
        <p:spPr>
          <a:xfrm>
            <a:off x="1709928" y="4251959"/>
            <a:ext cx="4599431" cy="1051560"/>
          </a:xfrm>
          <a:prstGeom prst="rect">
            <a:avLst/>
          </a:prstGeom>
          <a:noFill/>
        </p:spPr>
        <p:txBody>
          <a:bodyPr wrap="square" lIns="0" tIns="0" rIns="0" bIns="0" anchor="ctr">
            <a:spAutoFit/>
          </a:bodyPr>
          <a:lstStyle/>
          <a:p>
            <a:r>
              <a:rPr sz="1400" b="0" dirty="0" err="1">
                <a:solidFill>
                  <a:srgbClr val="585858"/>
                </a:solidFill>
                <a:latin typeface="Arial"/>
              </a:rPr>
              <a:t>Khóa</a:t>
            </a:r>
            <a:r>
              <a:rPr sz="1400" b="0" dirty="0">
                <a:solidFill>
                  <a:srgbClr val="585858"/>
                </a:solidFill>
                <a:latin typeface="Arial"/>
              </a:rPr>
              <a:t> </a:t>
            </a:r>
            <a:r>
              <a:rPr sz="1400" b="0" dirty="0" err="1">
                <a:solidFill>
                  <a:srgbClr val="585858"/>
                </a:solidFill>
                <a:latin typeface="Arial"/>
              </a:rPr>
              <a:t>chính</a:t>
            </a:r>
            <a:r>
              <a:rPr sz="1400" b="0" dirty="0">
                <a:solidFill>
                  <a:srgbClr val="585858"/>
                </a:solidFill>
                <a:latin typeface="Arial"/>
              </a:rPr>
              <a:t> </a:t>
            </a:r>
            <a:r>
              <a:rPr sz="1400" b="0" dirty="0" err="1">
                <a:solidFill>
                  <a:srgbClr val="585858"/>
                </a:solidFill>
                <a:latin typeface="Arial"/>
              </a:rPr>
              <a:t>phải</a:t>
            </a:r>
            <a:r>
              <a:rPr sz="1400" b="0" dirty="0">
                <a:solidFill>
                  <a:srgbClr val="585858"/>
                </a:solidFill>
                <a:latin typeface="Arial"/>
              </a:rPr>
              <a:t> DUY NHẤT</a:t>
            </a:r>
          </a:p>
          <a:p>
            <a:pPr>
              <a:spcBef>
                <a:spcPts val="200"/>
              </a:spcBef>
            </a:pPr>
            <a:r>
              <a:rPr sz="2200" b="1" dirty="0">
                <a:solidFill>
                  <a:srgbClr val="9C0006"/>
                </a:solidFill>
                <a:latin typeface="Arial"/>
              </a:rPr>
              <a:t>P021 (B2) · P015 (B4)</a:t>
            </a:r>
          </a:p>
          <a:p>
            <a:pPr>
              <a:spcBef>
                <a:spcPts val="200"/>
              </a:spcBef>
            </a:pPr>
            <a:r>
              <a:rPr sz="1400" b="0" dirty="0" err="1">
                <a:solidFill>
                  <a:srgbClr val="1B2230"/>
                </a:solidFill>
                <a:latin typeface="Arial"/>
              </a:rPr>
              <a:t>trùng</a:t>
            </a:r>
            <a:r>
              <a:rPr sz="1400" b="0" dirty="0">
                <a:solidFill>
                  <a:srgbClr val="1B2230"/>
                </a:solidFill>
                <a:latin typeface="Arial"/>
              </a:rPr>
              <a:t> </a:t>
            </a:r>
            <a:r>
              <a:rPr sz="1400" b="0" dirty="0" err="1">
                <a:solidFill>
                  <a:srgbClr val="1B2230"/>
                </a:solidFill>
                <a:latin typeface="Arial"/>
              </a:rPr>
              <a:t>thì</a:t>
            </a:r>
            <a:r>
              <a:rPr sz="1400" b="0" dirty="0">
                <a:solidFill>
                  <a:srgbClr val="1B2230"/>
                </a:solidFill>
                <a:latin typeface="Arial"/>
              </a:rPr>
              <a:t> </a:t>
            </a:r>
            <a:r>
              <a:rPr sz="1400" b="0" dirty="0" err="1">
                <a:solidFill>
                  <a:srgbClr val="1B2230"/>
                </a:solidFill>
                <a:latin typeface="Arial"/>
              </a:rPr>
              <a:t>không</a:t>
            </a:r>
            <a:r>
              <a:rPr sz="1400" b="0" dirty="0">
                <a:solidFill>
                  <a:srgbClr val="1B2230"/>
                </a:solidFill>
                <a:latin typeface="Arial"/>
              </a:rPr>
              <a:t> </a:t>
            </a:r>
            <a:r>
              <a:rPr sz="1400" b="0" dirty="0" err="1">
                <a:solidFill>
                  <a:srgbClr val="1B2230"/>
                </a:solidFill>
                <a:latin typeface="Arial"/>
              </a:rPr>
              <a:t>tạo</a:t>
            </a:r>
            <a:r>
              <a:rPr sz="1400" b="0" dirty="0">
                <a:solidFill>
                  <a:srgbClr val="1B2230"/>
                </a:solidFill>
                <a:latin typeface="Arial"/>
              </a:rPr>
              <a:t> </a:t>
            </a:r>
            <a:r>
              <a:rPr sz="1400" b="0" dirty="0" err="1">
                <a:solidFill>
                  <a:srgbClr val="1B2230"/>
                </a:solidFill>
                <a:latin typeface="Arial"/>
              </a:rPr>
              <a:t>được</a:t>
            </a:r>
            <a:r>
              <a:rPr sz="1400" b="0" dirty="0">
                <a:solidFill>
                  <a:srgbClr val="1B2230"/>
                </a:solidFill>
                <a:latin typeface="Arial"/>
              </a:rPr>
              <a:t> </a:t>
            </a:r>
            <a:r>
              <a:rPr sz="1400" b="0" dirty="0" err="1">
                <a:solidFill>
                  <a:srgbClr val="1B2230"/>
                </a:solidFill>
                <a:latin typeface="Arial"/>
              </a:rPr>
              <a:t>quan</a:t>
            </a:r>
            <a:r>
              <a:rPr sz="1400" b="0" dirty="0">
                <a:solidFill>
                  <a:srgbClr val="1B2230"/>
                </a:solidFill>
                <a:latin typeface="Arial"/>
              </a:rPr>
              <a:t> </a:t>
            </a:r>
            <a:r>
              <a:rPr sz="1400" b="0" dirty="0" err="1">
                <a:solidFill>
                  <a:srgbClr val="1B2230"/>
                </a:solidFill>
                <a:latin typeface="Arial"/>
              </a:rPr>
              <a:t>hệ</a:t>
            </a:r>
            <a:endParaRPr sz="1400" b="0" dirty="0">
              <a:solidFill>
                <a:srgbClr val="1B2230"/>
              </a:solidFill>
              <a:latin typeface="Arial"/>
            </a:endParaRPr>
          </a:p>
        </p:txBody>
      </p:sp>
      <p:sp>
        <p:nvSpPr>
          <p:cNvPr id="7" name="Stat card"/>
          <p:cNvSpPr/>
          <p:nvPr/>
        </p:nvSpPr>
        <p:spPr>
          <a:xfrm>
            <a:off x="6684264" y="4160520"/>
            <a:ext cx="4965192" cy="1234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6867144" y="4251959"/>
            <a:ext cx="4599431" cy="1051560"/>
          </a:xfrm>
          <a:prstGeom prst="rect">
            <a:avLst/>
          </a:prstGeom>
          <a:noFill/>
        </p:spPr>
        <p:txBody>
          <a:bodyPr wrap="square" lIns="0" tIns="0" rIns="0" bIns="0" anchor="ctr">
            <a:spAutoFit/>
          </a:bodyPr>
          <a:lstStyle/>
          <a:p>
            <a:r>
              <a:rPr sz="1400" b="0" dirty="0" err="1">
                <a:solidFill>
                  <a:srgbClr val="585858"/>
                </a:solidFill>
                <a:latin typeface="Arial"/>
              </a:rPr>
              <a:t>Khóa</a:t>
            </a:r>
            <a:r>
              <a:rPr sz="1400" b="0" dirty="0">
                <a:solidFill>
                  <a:srgbClr val="585858"/>
                </a:solidFill>
                <a:latin typeface="Arial"/>
              </a:rPr>
              <a:t> </a:t>
            </a:r>
            <a:r>
              <a:rPr sz="1400" b="0" dirty="0" err="1">
                <a:solidFill>
                  <a:srgbClr val="585858"/>
                </a:solidFill>
                <a:latin typeface="Arial"/>
              </a:rPr>
              <a:t>ngoại</a:t>
            </a:r>
            <a:r>
              <a:rPr sz="1400" b="0" dirty="0">
                <a:solidFill>
                  <a:srgbClr val="585858"/>
                </a:solidFill>
                <a:latin typeface="Arial"/>
              </a:rPr>
              <a:t> </a:t>
            </a:r>
            <a:r>
              <a:rPr sz="1400" b="0" dirty="0" err="1">
                <a:solidFill>
                  <a:srgbClr val="585858"/>
                </a:solidFill>
                <a:latin typeface="Arial"/>
              </a:rPr>
              <a:t>không</a:t>
            </a:r>
            <a:r>
              <a:rPr sz="1400" b="0" dirty="0">
                <a:solidFill>
                  <a:srgbClr val="585858"/>
                </a:solidFill>
                <a:latin typeface="Arial"/>
              </a:rPr>
              <a:t> </a:t>
            </a:r>
            <a:r>
              <a:rPr sz="1400" b="0" dirty="0" err="1">
                <a:solidFill>
                  <a:srgbClr val="585858"/>
                </a:solidFill>
                <a:latin typeface="Arial"/>
              </a:rPr>
              <a:t>có</a:t>
            </a:r>
            <a:r>
              <a:rPr sz="1400" b="0" dirty="0">
                <a:solidFill>
                  <a:srgbClr val="585858"/>
                </a:solidFill>
                <a:latin typeface="Arial"/>
              </a:rPr>
              <a:t> </a:t>
            </a:r>
            <a:r>
              <a:rPr sz="1400" b="0" dirty="0" err="1">
                <a:solidFill>
                  <a:srgbClr val="585858"/>
                </a:solidFill>
                <a:latin typeface="Arial"/>
              </a:rPr>
              <a:t>trong</a:t>
            </a:r>
            <a:r>
              <a:rPr sz="1400" b="0" dirty="0">
                <a:solidFill>
                  <a:srgbClr val="585858"/>
                </a:solidFill>
                <a:latin typeface="Arial"/>
              </a:rPr>
              <a:t> lookup</a:t>
            </a:r>
          </a:p>
          <a:p>
            <a:pPr>
              <a:spcBef>
                <a:spcPts val="200"/>
              </a:spcBef>
            </a:pPr>
            <a:r>
              <a:rPr sz="2600" b="1" dirty="0">
                <a:solidFill>
                  <a:srgbClr val="2E7D32"/>
                </a:solidFill>
                <a:latin typeface="Arial"/>
              </a:rPr>
              <a:t>0 </a:t>
            </a:r>
            <a:r>
              <a:rPr sz="2600" b="1" dirty="0" err="1">
                <a:solidFill>
                  <a:srgbClr val="2E7D32"/>
                </a:solidFill>
                <a:latin typeface="Arial"/>
              </a:rPr>
              <a:t>dòng</a:t>
            </a:r>
            <a:endParaRPr sz="2600" b="1" dirty="0">
              <a:solidFill>
                <a:srgbClr val="2E7D32"/>
              </a:solidFill>
              <a:latin typeface="Arial"/>
            </a:endParaRPr>
          </a:p>
          <a:p>
            <a:pPr>
              <a:spcBef>
                <a:spcPts val="200"/>
              </a:spcBef>
            </a:pPr>
            <a:r>
              <a:rPr sz="1400" b="0" dirty="0" err="1">
                <a:solidFill>
                  <a:srgbClr val="1B2230"/>
                </a:solidFill>
                <a:latin typeface="Arial"/>
              </a:rPr>
              <a:t>đã</a:t>
            </a:r>
            <a:r>
              <a:rPr sz="1400" b="0" dirty="0">
                <a:solidFill>
                  <a:srgbClr val="1B2230"/>
                </a:solidFill>
                <a:latin typeface="Arial"/>
              </a:rPr>
              <a:t> </a:t>
            </a:r>
            <a:r>
              <a:rPr sz="1400" b="0" dirty="0" err="1">
                <a:solidFill>
                  <a:srgbClr val="1B2230"/>
                </a:solidFill>
                <a:latin typeface="Arial"/>
              </a:rPr>
              <a:t>kiểm</a:t>
            </a:r>
            <a:r>
              <a:rPr sz="1400" b="0" dirty="0">
                <a:solidFill>
                  <a:srgbClr val="1B2230"/>
                </a:solidFill>
                <a:latin typeface="Arial"/>
              </a:rPr>
              <a:t> </a:t>
            </a:r>
            <a:r>
              <a:rPr sz="1400" b="0" dirty="0" err="1">
                <a:solidFill>
                  <a:srgbClr val="1B2230"/>
                </a:solidFill>
                <a:latin typeface="Arial"/>
              </a:rPr>
              <a:t>bằng</a:t>
            </a:r>
            <a:r>
              <a:rPr sz="1400" b="0" dirty="0">
                <a:solidFill>
                  <a:srgbClr val="1B2230"/>
                </a:solidFill>
                <a:latin typeface="Arial"/>
              </a:rPr>
              <a:t> Left Anti ở B4</a:t>
            </a:r>
          </a:p>
        </p:txBody>
      </p:sp>
      <p:sp>
        <p:nvSpPr>
          <p:cNvPr id="9" name="TIP callout"/>
          <p:cNvSpPr/>
          <p:nvPr/>
        </p:nvSpPr>
        <p:spPr>
          <a:xfrm>
            <a:off x="1527048" y="5486400"/>
            <a:ext cx="10122408" cy="6858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1636776" y="55961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1" name="TIP text"/>
          <p:cNvSpPr txBox="1"/>
          <p:nvPr/>
        </p:nvSpPr>
        <p:spPr>
          <a:xfrm>
            <a:off x="2212848" y="5577840"/>
            <a:ext cx="9326880" cy="502920"/>
          </a:xfrm>
          <a:prstGeom prst="rect">
            <a:avLst/>
          </a:prstGeom>
          <a:noFill/>
        </p:spPr>
        <p:txBody>
          <a:bodyPr wrap="square" lIns="0" tIns="0" rIns="0" bIns="0" anchor="t">
            <a:spAutoFit/>
          </a:bodyPr>
          <a:lstStyle/>
          <a:p>
            <a:r>
              <a:rPr sz="1600" b="0">
                <a:solidFill>
                  <a:srgbClr val="1B2230"/>
                </a:solidFill>
                <a:latin typeface="Arial"/>
              </a:rPr>
              <a:t>Ngay_Dau_Thang (B4 thêm vào Target) là cái móc để Target nối vào Calendar.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Relationships vs Merged tables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1 · DATA MODEL</a:t>
            </a:r>
          </a:p>
        </p:txBody>
      </p:sp>
      <p:sp>
        <p:nvSpPr>
          <p:cNvPr id="4" name="Card Merge"/>
          <p:cNvSpPr/>
          <p:nvPr/>
        </p:nvSpPr>
        <p:spPr>
          <a:xfrm>
            <a:off x="1527048" y="1463040"/>
            <a:ext cx="4965192" cy="2103120"/>
          </a:xfrm>
          <a:prstGeom prst="roundRect">
            <a:avLst>
              <a:gd name="adj" fmla="val 5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691639" y="1572768"/>
            <a:ext cx="4636007" cy="1883663"/>
          </a:xfrm>
          <a:prstGeom prst="rect">
            <a:avLst/>
          </a:prstGeom>
          <a:noFill/>
        </p:spPr>
        <p:txBody>
          <a:bodyPr wrap="square" lIns="0" tIns="0" rIns="0" bIns="0" anchor="t">
            <a:spAutoFit/>
          </a:bodyPr>
          <a:lstStyle/>
          <a:p>
            <a:r>
              <a:rPr sz="1600" b="1" dirty="0">
                <a:solidFill>
                  <a:srgbClr val="203864"/>
                </a:solidFill>
                <a:latin typeface="Arial"/>
              </a:rPr>
              <a:t>Merge (</a:t>
            </a:r>
            <a:r>
              <a:rPr sz="1600" b="1" dirty="0" err="1">
                <a:solidFill>
                  <a:srgbClr val="203864"/>
                </a:solidFill>
                <a:latin typeface="Arial"/>
              </a:rPr>
              <a:t>Buổi</a:t>
            </a:r>
            <a:r>
              <a:rPr sz="1600" b="1" dirty="0">
                <a:solidFill>
                  <a:srgbClr val="203864"/>
                </a:solidFill>
                <a:latin typeface="Arial"/>
              </a:rPr>
              <a:t> 4)</a:t>
            </a:r>
          </a:p>
          <a:p>
            <a:pPr>
              <a:spcBef>
                <a:spcPts val="500"/>
              </a:spcBef>
            </a:pPr>
            <a:r>
              <a:rPr sz="1500" b="0" dirty="0" err="1">
                <a:solidFill>
                  <a:srgbClr val="1B2230"/>
                </a:solidFill>
                <a:latin typeface="Arial"/>
              </a:rPr>
              <a:t>Kéo</a:t>
            </a:r>
            <a:r>
              <a:rPr sz="1500" b="0" dirty="0">
                <a:solidFill>
                  <a:srgbClr val="1B2230"/>
                </a:solidFill>
                <a:latin typeface="Arial"/>
              </a:rPr>
              <a:t> </a:t>
            </a:r>
            <a:r>
              <a:rPr sz="1500" b="0" dirty="0" err="1">
                <a:solidFill>
                  <a:srgbClr val="1B2230"/>
                </a:solidFill>
                <a:latin typeface="Arial"/>
              </a:rPr>
              <a:t>cột</a:t>
            </a:r>
            <a:r>
              <a:rPr sz="1500" b="0" dirty="0">
                <a:solidFill>
                  <a:srgbClr val="1B2230"/>
                </a:solidFill>
                <a:latin typeface="Arial"/>
              </a:rPr>
              <a:t> </a:t>
            </a:r>
            <a:r>
              <a:rPr sz="1500" b="0" dirty="0" err="1">
                <a:solidFill>
                  <a:srgbClr val="1B2230"/>
                </a:solidFill>
                <a:latin typeface="Arial"/>
              </a:rPr>
              <a:t>của</a:t>
            </a:r>
            <a:r>
              <a:rPr sz="1500" b="0" dirty="0">
                <a:solidFill>
                  <a:srgbClr val="1B2230"/>
                </a:solidFill>
                <a:latin typeface="Arial"/>
              </a:rPr>
              <a:t> lookup </a:t>
            </a:r>
            <a:r>
              <a:rPr sz="1500" b="0" dirty="0" err="1">
                <a:solidFill>
                  <a:srgbClr val="1B2230"/>
                </a:solidFill>
                <a:latin typeface="Arial"/>
              </a:rPr>
              <a:t>vào</a:t>
            </a:r>
            <a:r>
              <a:rPr sz="1500" b="0" dirty="0">
                <a:solidFill>
                  <a:srgbClr val="1B2230"/>
                </a:solidFill>
                <a:latin typeface="Arial"/>
              </a:rPr>
              <a:t> </a:t>
            </a:r>
            <a:r>
              <a:rPr sz="1500" b="0" dirty="0" err="1">
                <a:solidFill>
                  <a:srgbClr val="1B2230"/>
                </a:solidFill>
                <a:latin typeface="Arial"/>
              </a:rPr>
              <a:t>bảng</a:t>
            </a:r>
            <a:r>
              <a:rPr sz="1500" b="0" dirty="0">
                <a:solidFill>
                  <a:srgbClr val="1B2230"/>
                </a:solidFill>
                <a:latin typeface="Arial"/>
              </a:rPr>
              <a:t> fact → </a:t>
            </a:r>
            <a:r>
              <a:rPr sz="1500" b="0" dirty="0" err="1">
                <a:solidFill>
                  <a:srgbClr val="1B2230"/>
                </a:solidFill>
                <a:latin typeface="Arial"/>
              </a:rPr>
              <a:t>một</a:t>
            </a:r>
            <a:r>
              <a:rPr sz="1500" b="0" dirty="0">
                <a:solidFill>
                  <a:srgbClr val="1B2230"/>
                </a:solidFill>
                <a:latin typeface="Arial"/>
              </a:rPr>
              <a:t> </a:t>
            </a:r>
            <a:r>
              <a:rPr sz="1500" b="0" dirty="0" err="1">
                <a:solidFill>
                  <a:srgbClr val="1B2230"/>
                </a:solidFill>
                <a:latin typeface="Arial"/>
              </a:rPr>
              <a:t>bảng</a:t>
            </a:r>
            <a:r>
              <a:rPr sz="1500" b="0" dirty="0">
                <a:solidFill>
                  <a:srgbClr val="1B2230"/>
                </a:solidFill>
                <a:latin typeface="Arial"/>
              </a:rPr>
              <a:t> to, </a:t>
            </a:r>
            <a:r>
              <a:rPr sz="1500" b="0" dirty="0" err="1">
                <a:solidFill>
                  <a:srgbClr val="1B2230"/>
                </a:solidFill>
                <a:latin typeface="Arial"/>
              </a:rPr>
              <a:t>thông</a:t>
            </a:r>
            <a:r>
              <a:rPr sz="1500" b="0" dirty="0">
                <a:solidFill>
                  <a:srgbClr val="1B2230"/>
                </a:solidFill>
                <a:latin typeface="Arial"/>
              </a:rPr>
              <a:t> tin </a:t>
            </a:r>
            <a:r>
              <a:rPr sz="1500" b="0" dirty="0" err="1">
                <a:solidFill>
                  <a:srgbClr val="1B2230"/>
                </a:solidFill>
                <a:latin typeface="Arial"/>
              </a:rPr>
              <a:t>lặp</a:t>
            </a:r>
            <a:r>
              <a:rPr sz="1500" b="0" dirty="0">
                <a:solidFill>
                  <a:srgbClr val="1B2230"/>
                </a:solidFill>
                <a:latin typeface="Arial"/>
              </a:rPr>
              <a:t> </a:t>
            </a:r>
            <a:r>
              <a:rPr sz="1500" b="0" dirty="0" err="1">
                <a:solidFill>
                  <a:srgbClr val="1B2230"/>
                </a:solidFill>
                <a:latin typeface="Arial"/>
              </a:rPr>
              <a:t>lại</a:t>
            </a:r>
            <a:r>
              <a:rPr sz="1500" b="0" dirty="0">
                <a:solidFill>
                  <a:srgbClr val="1B2230"/>
                </a:solidFill>
                <a:latin typeface="Arial"/>
              </a:rPr>
              <a:t> </a:t>
            </a:r>
            <a:r>
              <a:rPr sz="1500" b="0" dirty="0" err="1">
                <a:solidFill>
                  <a:srgbClr val="1B2230"/>
                </a:solidFill>
                <a:latin typeface="Arial"/>
              </a:rPr>
              <a:t>trên</a:t>
            </a:r>
            <a:r>
              <a:rPr sz="1500" b="0" dirty="0">
                <a:solidFill>
                  <a:srgbClr val="1B2230"/>
                </a:solidFill>
                <a:latin typeface="Arial"/>
              </a:rPr>
              <a:t> </a:t>
            </a:r>
            <a:r>
              <a:rPr sz="1500" b="0" dirty="0" err="1">
                <a:solidFill>
                  <a:srgbClr val="1B2230"/>
                </a:solidFill>
                <a:latin typeface="Arial"/>
              </a:rPr>
              <a:t>mọi</a:t>
            </a:r>
            <a:r>
              <a:rPr sz="1500" b="0" dirty="0">
                <a:solidFill>
                  <a:srgbClr val="1B2230"/>
                </a:solidFill>
                <a:latin typeface="Arial"/>
              </a:rPr>
              <a:t> </a:t>
            </a:r>
            <a:r>
              <a:rPr sz="1500" b="0" dirty="0" err="1">
                <a:solidFill>
                  <a:srgbClr val="1B2230"/>
                </a:solidFill>
                <a:latin typeface="Arial"/>
              </a:rPr>
              <a:t>dòng</a:t>
            </a:r>
            <a:r>
              <a:rPr sz="1500" b="0" dirty="0">
                <a:solidFill>
                  <a:srgbClr val="1B2230"/>
                </a:solidFill>
                <a:latin typeface="Arial"/>
              </a:rPr>
              <a:t>.</a:t>
            </a:r>
          </a:p>
          <a:p>
            <a:pPr>
              <a:spcBef>
                <a:spcPts val="500"/>
              </a:spcBef>
            </a:pPr>
            <a:r>
              <a:rPr sz="1500" b="0" dirty="0">
                <a:solidFill>
                  <a:srgbClr val="1B2230"/>
                </a:solidFill>
                <a:latin typeface="Arial"/>
              </a:rPr>
              <a:t>Lookup </a:t>
            </a:r>
            <a:r>
              <a:rPr sz="1500" b="0" dirty="0" err="1">
                <a:solidFill>
                  <a:srgbClr val="1B2230"/>
                </a:solidFill>
                <a:latin typeface="Arial"/>
              </a:rPr>
              <a:t>trùng</a:t>
            </a:r>
            <a:r>
              <a:rPr sz="1500" b="0" dirty="0">
                <a:solidFill>
                  <a:srgbClr val="1B2230"/>
                </a:solidFill>
                <a:latin typeface="Arial"/>
              </a:rPr>
              <a:t> </a:t>
            </a:r>
            <a:r>
              <a:rPr sz="1500" b="0" dirty="0" err="1">
                <a:solidFill>
                  <a:srgbClr val="1B2230"/>
                </a:solidFill>
                <a:latin typeface="Arial"/>
              </a:rPr>
              <a:t>khóa</a:t>
            </a:r>
            <a:r>
              <a:rPr sz="1500" b="0" dirty="0">
                <a:solidFill>
                  <a:srgbClr val="1B2230"/>
                </a:solidFill>
                <a:latin typeface="Arial"/>
              </a:rPr>
              <a:t> → </a:t>
            </a:r>
            <a:r>
              <a:rPr sz="1500" b="0" dirty="0" err="1">
                <a:solidFill>
                  <a:srgbClr val="1B2230"/>
                </a:solidFill>
                <a:latin typeface="Arial"/>
              </a:rPr>
              <a:t>số</a:t>
            </a:r>
            <a:r>
              <a:rPr sz="1500" b="0" dirty="0">
                <a:solidFill>
                  <a:srgbClr val="1B2230"/>
                </a:solidFill>
                <a:latin typeface="Arial"/>
              </a:rPr>
              <a:t> </a:t>
            </a:r>
            <a:r>
              <a:rPr sz="1500" b="0" dirty="0" err="1">
                <a:solidFill>
                  <a:srgbClr val="1B2230"/>
                </a:solidFill>
                <a:latin typeface="Arial"/>
              </a:rPr>
              <a:t>dòng</a:t>
            </a:r>
            <a:r>
              <a:rPr sz="1500" b="0" dirty="0">
                <a:solidFill>
                  <a:srgbClr val="1B2230"/>
                </a:solidFill>
                <a:latin typeface="Arial"/>
              </a:rPr>
              <a:t> </a:t>
            </a:r>
            <a:r>
              <a:rPr sz="1500" b="0" dirty="0" err="1">
                <a:solidFill>
                  <a:srgbClr val="1B2230"/>
                </a:solidFill>
                <a:latin typeface="Arial"/>
              </a:rPr>
              <a:t>phình</a:t>
            </a:r>
            <a:r>
              <a:rPr sz="1500" b="0" dirty="0">
                <a:solidFill>
                  <a:srgbClr val="1B2230"/>
                </a:solidFill>
                <a:latin typeface="Arial"/>
              </a:rPr>
              <a:t> </a:t>
            </a:r>
            <a:r>
              <a:rPr sz="1500" b="0" dirty="0" err="1">
                <a:solidFill>
                  <a:srgbClr val="1B2230"/>
                </a:solidFill>
                <a:latin typeface="Arial"/>
              </a:rPr>
              <a:t>ra</a:t>
            </a:r>
            <a:r>
              <a:rPr sz="1500" b="0" dirty="0">
                <a:solidFill>
                  <a:srgbClr val="1B2230"/>
                </a:solidFill>
                <a:latin typeface="Arial"/>
              </a:rPr>
              <a:t> (28.328 → 29.408), </a:t>
            </a:r>
            <a:r>
              <a:rPr sz="1500" b="0" dirty="0" err="1">
                <a:solidFill>
                  <a:srgbClr val="1B2230"/>
                </a:solidFill>
                <a:latin typeface="Arial"/>
              </a:rPr>
              <a:t>không</a:t>
            </a:r>
            <a:r>
              <a:rPr sz="1500" b="0" dirty="0">
                <a:solidFill>
                  <a:srgbClr val="1B2230"/>
                </a:solidFill>
                <a:latin typeface="Arial"/>
              </a:rPr>
              <a:t> </a:t>
            </a:r>
            <a:r>
              <a:rPr sz="1500" b="0" dirty="0" err="1">
                <a:solidFill>
                  <a:srgbClr val="1B2230"/>
                </a:solidFill>
                <a:latin typeface="Arial"/>
              </a:rPr>
              <a:t>báo</a:t>
            </a:r>
            <a:r>
              <a:rPr sz="1500" b="0" dirty="0">
                <a:solidFill>
                  <a:srgbClr val="1B2230"/>
                </a:solidFill>
                <a:latin typeface="Arial"/>
              </a:rPr>
              <a:t> </a:t>
            </a:r>
            <a:r>
              <a:rPr sz="1500" b="0" dirty="0" err="1">
                <a:solidFill>
                  <a:srgbClr val="1B2230"/>
                </a:solidFill>
                <a:latin typeface="Arial"/>
              </a:rPr>
              <a:t>lỗi</a:t>
            </a:r>
            <a:r>
              <a:rPr sz="1500" b="0" dirty="0">
                <a:solidFill>
                  <a:srgbClr val="1B2230"/>
                </a:solidFill>
                <a:latin typeface="Arial"/>
              </a:rPr>
              <a:t>.</a:t>
            </a:r>
          </a:p>
        </p:txBody>
      </p:sp>
      <p:sp>
        <p:nvSpPr>
          <p:cNvPr id="6" name="Card Relationship"/>
          <p:cNvSpPr/>
          <p:nvPr/>
        </p:nvSpPr>
        <p:spPr>
          <a:xfrm>
            <a:off x="6684264" y="1463040"/>
            <a:ext cx="4965192" cy="2103120"/>
          </a:xfrm>
          <a:prstGeom prst="roundRect">
            <a:avLst>
              <a:gd name="adj" fmla="val 5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6848855" y="1572768"/>
            <a:ext cx="4636007" cy="1883663"/>
          </a:xfrm>
          <a:prstGeom prst="rect">
            <a:avLst/>
          </a:prstGeom>
          <a:noFill/>
        </p:spPr>
        <p:txBody>
          <a:bodyPr wrap="square" lIns="0" tIns="0" rIns="0" bIns="0" anchor="t">
            <a:spAutoFit/>
          </a:bodyPr>
          <a:lstStyle/>
          <a:p>
            <a:r>
              <a:rPr sz="1600" b="1">
                <a:solidFill>
                  <a:srgbClr val="2E7D32"/>
                </a:solidFill>
                <a:latin typeface="Arial"/>
              </a:rPr>
              <a:t>Relationship</a:t>
            </a:r>
          </a:p>
          <a:p>
            <a:pPr>
              <a:spcBef>
                <a:spcPts val="500"/>
              </a:spcBef>
            </a:pPr>
            <a:r>
              <a:rPr sz="1500" b="0">
                <a:solidFill>
                  <a:srgbClr val="1B2230"/>
                </a:solidFill>
                <a:latin typeface="Arial"/>
              </a:rPr>
              <a:t>Giữ các bảng riêng, nối bằng khóa; Pivot lấy cột từ bảng nào cũng được.</a:t>
            </a:r>
          </a:p>
          <a:p>
            <a:pPr>
              <a:spcBef>
                <a:spcPts val="500"/>
              </a:spcBef>
            </a:pPr>
            <a:r>
              <a:rPr sz="1500" b="0">
                <a:solidFill>
                  <a:srgbClr val="1B2230"/>
                </a:solidFill>
                <a:latin typeface="Arial"/>
              </a:rPr>
              <a:t>Mỗi thông tin một chỗ → mô hình hình ngôi sao (star schema).</a:t>
            </a:r>
          </a:p>
        </p:txBody>
      </p:sp>
      <p:sp>
        <p:nvSpPr>
          <p:cNvPr id="8" name="Stat card"/>
          <p:cNvSpPr/>
          <p:nvPr/>
        </p:nvSpPr>
        <p:spPr>
          <a:xfrm>
            <a:off x="1527048" y="3749039"/>
            <a:ext cx="4965192" cy="14630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1709928" y="3840479"/>
            <a:ext cx="4599431" cy="1280160"/>
          </a:xfrm>
          <a:prstGeom prst="rect">
            <a:avLst/>
          </a:prstGeom>
          <a:noFill/>
        </p:spPr>
        <p:txBody>
          <a:bodyPr wrap="square" lIns="0" tIns="0" rIns="0" bIns="0" anchor="ctr">
            <a:spAutoFit/>
          </a:bodyPr>
          <a:lstStyle/>
          <a:p>
            <a:r>
              <a:rPr sz="1400" b="0" dirty="0">
                <a:solidFill>
                  <a:srgbClr val="585858"/>
                </a:solidFill>
                <a:latin typeface="Arial"/>
              </a:rPr>
              <a:t>Merge Product, Store, Customer </a:t>
            </a:r>
            <a:r>
              <a:rPr sz="1400" b="0" dirty="0" err="1">
                <a:solidFill>
                  <a:srgbClr val="585858"/>
                </a:solidFill>
                <a:latin typeface="Arial"/>
              </a:rPr>
              <a:t>vào</a:t>
            </a:r>
            <a:r>
              <a:rPr sz="1400" b="0" dirty="0">
                <a:solidFill>
                  <a:srgbClr val="585858"/>
                </a:solidFill>
                <a:latin typeface="Arial"/>
              </a:rPr>
              <a:t> Sales</a:t>
            </a:r>
          </a:p>
          <a:p>
            <a:pPr>
              <a:spcBef>
                <a:spcPts val="200"/>
              </a:spcBef>
            </a:pPr>
            <a:r>
              <a:rPr sz="3000" b="1" dirty="0">
                <a:solidFill>
                  <a:srgbClr val="9C0006"/>
                </a:solidFill>
                <a:latin typeface="Arial"/>
              </a:rPr>
              <a:t>453.705 ô</a:t>
            </a:r>
          </a:p>
          <a:p>
            <a:pPr>
              <a:spcBef>
                <a:spcPts val="200"/>
              </a:spcBef>
            </a:pPr>
            <a:r>
              <a:rPr sz="1400" b="0" dirty="0">
                <a:solidFill>
                  <a:srgbClr val="1B2230"/>
                </a:solidFill>
                <a:latin typeface="Arial"/>
              </a:rPr>
              <a:t>30.247 </a:t>
            </a:r>
            <a:r>
              <a:rPr sz="1400" b="0" dirty="0" err="1">
                <a:solidFill>
                  <a:srgbClr val="1B2230"/>
                </a:solidFill>
                <a:latin typeface="Arial"/>
              </a:rPr>
              <a:t>dòng</a:t>
            </a:r>
            <a:r>
              <a:rPr sz="1400" b="0" dirty="0">
                <a:solidFill>
                  <a:srgbClr val="1B2230"/>
                </a:solidFill>
                <a:latin typeface="Arial"/>
              </a:rPr>
              <a:t> × 15 </a:t>
            </a:r>
            <a:r>
              <a:rPr sz="1400" b="0" dirty="0" err="1">
                <a:solidFill>
                  <a:srgbClr val="1B2230"/>
                </a:solidFill>
                <a:latin typeface="Arial"/>
              </a:rPr>
              <a:t>cột</a:t>
            </a:r>
            <a:r>
              <a:rPr sz="1400" b="0" dirty="0">
                <a:solidFill>
                  <a:srgbClr val="1B2230"/>
                </a:solidFill>
                <a:latin typeface="Arial"/>
              </a:rPr>
              <a:t> </a:t>
            </a:r>
            <a:r>
              <a:rPr sz="1400" b="0" dirty="0" err="1">
                <a:solidFill>
                  <a:srgbClr val="1B2230"/>
                </a:solidFill>
                <a:latin typeface="Arial"/>
              </a:rPr>
              <a:t>mô</a:t>
            </a:r>
            <a:r>
              <a:rPr sz="1400" b="0" dirty="0">
                <a:solidFill>
                  <a:srgbClr val="1B2230"/>
                </a:solidFill>
                <a:latin typeface="Arial"/>
              </a:rPr>
              <a:t> </a:t>
            </a:r>
            <a:r>
              <a:rPr sz="1400" b="0" dirty="0" err="1">
                <a:solidFill>
                  <a:srgbClr val="1B2230"/>
                </a:solidFill>
                <a:latin typeface="Arial"/>
              </a:rPr>
              <a:t>tả</a:t>
            </a:r>
            <a:r>
              <a:rPr sz="1400" b="0" dirty="0">
                <a:solidFill>
                  <a:srgbClr val="1B2230"/>
                </a:solidFill>
                <a:latin typeface="Arial"/>
              </a:rPr>
              <a:t>, </a:t>
            </a:r>
            <a:r>
              <a:rPr sz="1400" b="0" dirty="0" err="1">
                <a:solidFill>
                  <a:srgbClr val="1B2230"/>
                </a:solidFill>
                <a:latin typeface="Arial"/>
              </a:rPr>
              <a:t>lặp</a:t>
            </a:r>
            <a:r>
              <a:rPr sz="1400" b="0" dirty="0">
                <a:solidFill>
                  <a:srgbClr val="1B2230"/>
                </a:solidFill>
                <a:latin typeface="Arial"/>
              </a:rPr>
              <a:t> </a:t>
            </a:r>
            <a:r>
              <a:rPr sz="1400" b="0" dirty="0" err="1">
                <a:solidFill>
                  <a:srgbClr val="1B2230"/>
                </a:solidFill>
                <a:latin typeface="Arial"/>
              </a:rPr>
              <a:t>lại</a:t>
            </a:r>
            <a:endParaRPr sz="1400" b="0" dirty="0">
              <a:solidFill>
                <a:srgbClr val="1B2230"/>
              </a:solidFill>
              <a:latin typeface="Arial"/>
            </a:endParaRPr>
          </a:p>
        </p:txBody>
      </p:sp>
      <p:sp>
        <p:nvSpPr>
          <p:cNvPr id="10" name="Stat card"/>
          <p:cNvSpPr/>
          <p:nvPr/>
        </p:nvSpPr>
        <p:spPr>
          <a:xfrm>
            <a:off x="6684264" y="3749039"/>
            <a:ext cx="4965192" cy="14630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6867144" y="3840479"/>
            <a:ext cx="4599431" cy="1280160"/>
          </a:xfrm>
          <a:prstGeom prst="rect">
            <a:avLst/>
          </a:prstGeom>
          <a:noFill/>
        </p:spPr>
        <p:txBody>
          <a:bodyPr wrap="square" lIns="0" tIns="0" rIns="0" bIns="0" anchor="ctr">
            <a:spAutoFit/>
          </a:bodyPr>
          <a:lstStyle/>
          <a:p>
            <a:r>
              <a:rPr sz="1400" b="0" dirty="0" err="1">
                <a:solidFill>
                  <a:srgbClr val="585858"/>
                </a:solidFill>
                <a:latin typeface="Arial"/>
              </a:rPr>
              <a:t>Giữ</a:t>
            </a:r>
            <a:r>
              <a:rPr sz="1400" b="0" dirty="0">
                <a:solidFill>
                  <a:srgbClr val="585858"/>
                </a:solidFill>
                <a:latin typeface="Arial"/>
              </a:rPr>
              <a:t> lookup </a:t>
            </a:r>
            <a:r>
              <a:rPr sz="1400" b="0" dirty="0" err="1">
                <a:solidFill>
                  <a:srgbClr val="585858"/>
                </a:solidFill>
                <a:latin typeface="Arial"/>
              </a:rPr>
              <a:t>riêng</a:t>
            </a:r>
            <a:r>
              <a:rPr sz="1400" b="0" dirty="0">
                <a:solidFill>
                  <a:srgbClr val="585858"/>
                </a:solidFill>
                <a:latin typeface="Arial"/>
              </a:rPr>
              <a:t> + relationship</a:t>
            </a:r>
          </a:p>
          <a:p>
            <a:pPr>
              <a:spcBef>
                <a:spcPts val="200"/>
              </a:spcBef>
            </a:pPr>
            <a:r>
              <a:rPr sz="3000" b="1" dirty="0">
                <a:solidFill>
                  <a:srgbClr val="2E7D32"/>
                </a:solidFill>
                <a:latin typeface="Arial"/>
              </a:rPr>
              <a:t>9.220 ô</a:t>
            </a:r>
          </a:p>
          <a:p>
            <a:pPr>
              <a:spcBef>
                <a:spcPts val="200"/>
              </a:spcBef>
            </a:pPr>
            <a:r>
              <a:rPr sz="1400" b="0" dirty="0">
                <a:solidFill>
                  <a:srgbClr val="1B2230"/>
                </a:solidFill>
                <a:latin typeface="Arial"/>
              </a:rPr>
              <a:t>Product 40×4 · Store 12×5 · Customer 1.500×6</a:t>
            </a:r>
          </a:p>
        </p:txBody>
      </p:sp>
      <p:sp>
        <p:nvSpPr>
          <p:cNvPr id="12" name="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636776" y="5504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4" name="TIP text"/>
          <p:cNvSpPr txBox="1"/>
          <p:nvPr/>
        </p:nvSpPr>
        <p:spPr>
          <a:xfrm>
            <a:off x="2212848" y="5486400"/>
            <a:ext cx="9326880" cy="548640"/>
          </a:xfrm>
          <a:prstGeom prst="rect">
            <a:avLst/>
          </a:prstGeom>
          <a:noFill/>
        </p:spPr>
        <p:txBody>
          <a:bodyPr wrap="square" lIns="0" tIns="0" rIns="0" bIns="0" anchor="t">
            <a:spAutoFit/>
          </a:bodyPr>
          <a:lstStyle/>
          <a:p>
            <a:r>
              <a:rPr sz="1600" b="0" dirty="0">
                <a:solidFill>
                  <a:srgbClr val="1B2230"/>
                </a:solidFill>
                <a:latin typeface="Arial"/>
              </a:rPr>
              <a:t>Star schema: fact ở </a:t>
            </a:r>
            <a:r>
              <a:rPr sz="1600" b="0" dirty="0" err="1">
                <a:solidFill>
                  <a:srgbClr val="1B2230"/>
                </a:solidFill>
                <a:latin typeface="Arial"/>
              </a:rPr>
              <a:t>giữa</a:t>
            </a:r>
            <a:r>
              <a:rPr sz="1600" b="0" dirty="0">
                <a:solidFill>
                  <a:srgbClr val="1B2230"/>
                </a:solidFill>
                <a:latin typeface="Arial"/>
              </a:rPr>
              <a:t>, lookup </a:t>
            </a:r>
            <a:r>
              <a:rPr sz="1600" b="0" dirty="0" err="1">
                <a:solidFill>
                  <a:srgbClr val="1B2230"/>
                </a:solidFill>
                <a:latin typeface="Arial"/>
              </a:rPr>
              <a:t>xung</a:t>
            </a:r>
            <a:r>
              <a:rPr sz="1600" b="0" dirty="0">
                <a:solidFill>
                  <a:srgbClr val="1B2230"/>
                </a:solidFill>
                <a:latin typeface="Arial"/>
              </a:rPr>
              <a:t> </a:t>
            </a:r>
            <a:r>
              <a:rPr sz="1600" b="0" dirty="0" err="1">
                <a:solidFill>
                  <a:srgbClr val="1B2230"/>
                </a:solidFill>
                <a:latin typeface="Arial"/>
              </a:rPr>
              <a:t>quanh</a:t>
            </a:r>
            <a:r>
              <a:rPr sz="1600" b="0" dirty="0">
                <a:solidFill>
                  <a:srgbClr val="1B2230"/>
                </a:solidFill>
                <a:latin typeface="Arial"/>
              </a:rPr>
              <a:t>, </a:t>
            </a:r>
            <a:r>
              <a:rPr sz="1600" b="0" dirty="0" err="1">
                <a:solidFill>
                  <a:srgbClr val="1B2230"/>
                </a:solidFill>
                <a:latin typeface="Arial"/>
              </a:rPr>
              <a:t>mình</a:t>
            </a:r>
            <a:r>
              <a:rPr sz="1600" b="0" dirty="0">
                <a:solidFill>
                  <a:srgbClr val="1B2230"/>
                </a:solidFill>
                <a:latin typeface="Arial"/>
              </a:rPr>
              <a:t> </a:t>
            </a:r>
            <a:r>
              <a:rPr sz="1600" b="0" dirty="0" err="1">
                <a:solidFill>
                  <a:srgbClr val="1B2230"/>
                </a:solidFill>
                <a:latin typeface="Arial"/>
              </a:rPr>
              <a:t>dựng</a:t>
            </a:r>
            <a:r>
              <a:rPr sz="1600" b="0" dirty="0">
                <a:solidFill>
                  <a:srgbClr val="1B2230"/>
                </a:solidFill>
                <a:latin typeface="Arial"/>
              </a:rPr>
              <a:t> </a:t>
            </a:r>
            <a:r>
              <a:rPr sz="1600" b="0" dirty="0" err="1">
                <a:solidFill>
                  <a:srgbClr val="1B2230"/>
                </a:solidFill>
                <a:latin typeface="Arial"/>
              </a:rPr>
              <a:t>nó</a:t>
            </a:r>
            <a:r>
              <a:rPr sz="1600" b="0" dirty="0">
                <a:solidFill>
                  <a:srgbClr val="1B2230"/>
                </a:solidFill>
                <a:latin typeface="Arial"/>
              </a:rPr>
              <a:t> ở </a:t>
            </a:r>
            <a:r>
              <a:rPr sz="1600" b="0" dirty="0" err="1">
                <a:solidFill>
                  <a:srgbClr val="1B2230"/>
                </a:solidFill>
                <a:latin typeface="Arial"/>
              </a:rPr>
              <a:t>Phần</a:t>
            </a:r>
            <a:r>
              <a:rPr sz="1600" b="0" dirty="0">
                <a:solidFill>
                  <a:srgbClr val="1B2230"/>
                </a:solidFill>
                <a:latin typeface="Arial"/>
              </a:rPr>
              <a:t> 2.</a:t>
            </a:r>
          </a:p>
        </p:txBody>
      </p:sp>
      <p:sp>
        <p:nvSpPr>
          <p:cNvPr id="15"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Số ô tính từ Data Model của file khởi đầu (build_b5_meta.json)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Relationship: nối bảng bằng khóa, không bằng công thức</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Tạo và quản lý Relationship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RELATIONSHIP</a:t>
            </a:r>
          </a:p>
        </p:txBody>
      </p:sp>
      <p:graphicFrame>
        <p:nvGraphicFramePr>
          <p:cNvPr id="4" name="Table"/>
          <p:cNvGraphicFramePr>
            <a:graphicFrameLocks noGrp="1"/>
          </p:cNvGraphicFramePr>
          <p:nvPr/>
        </p:nvGraphicFramePr>
        <p:xfrm>
          <a:off x="1527048" y="1417320"/>
          <a:ext cx="10122408" cy="1755648"/>
        </p:xfrm>
        <a:graphic>
          <a:graphicData uri="http://schemas.openxmlformats.org/drawingml/2006/table">
            <a:tbl>
              <a:tblPr firstRow="1"/>
              <a:tblGrid>
                <a:gridCol w="4206240">
                  <a:extLst>
                    <a:ext uri="{9D8B030D-6E8A-4147-A177-3AD203B41FA5}">
                      <a16:colId xmlns:a16="http://schemas.microsoft.com/office/drawing/2014/main" val="20000"/>
                    </a:ext>
                  </a:extLst>
                </a:gridCol>
                <a:gridCol w="5916168">
                  <a:extLst>
                    <a:ext uri="{9D8B030D-6E8A-4147-A177-3AD203B41FA5}">
                      <a16:colId xmlns:a16="http://schemas.microsoft.com/office/drawing/2014/main" val="20001"/>
                    </a:ext>
                  </a:extLst>
                </a:gridCol>
              </a:tblGrid>
              <a:tr h="438912">
                <a:tc>
                  <a:txBody>
                    <a:bodyPr/>
                    <a:lstStyle/>
                    <a:p>
                      <a:r>
                        <a:rPr sz="14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38912">
                <a:tc>
                  <a:txBody>
                    <a:bodyPr/>
                    <a:lstStyle/>
                    <a:p>
                      <a:r>
                        <a:rPr sz="1400" b="1">
                          <a:solidFill>
                            <a:srgbClr val="C00000"/>
                          </a:solidFill>
                          <a:latin typeface="Arial"/>
                        </a:rPr>
                        <a:t>Kéo thả trong Diagram View</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err="1">
                          <a:solidFill>
                            <a:srgbClr val="1B2230"/>
                          </a:solidFill>
                          <a:latin typeface="Arial"/>
                        </a:rPr>
                        <a:t>Kéo</a:t>
                      </a:r>
                      <a:r>
                        <a:rPr sz="1400" b="0" dirty="0">
                          <a:solidFill>
                            <a:srgbClr val="1B2230"/>
                          </a:solidFill>
                          <a:latin typeface="Arial"/>
                        </a:rPr>
                        <a:t> </a:t>
                      </a:r>
                      <a:r>
                        <a:rPr sz="1400" b="0" dirty="0" err="1">
                          <a:solidFill>
                            <a:srgbClr val="1B2230"/>
                          </a:solidFill>
                          <a:latin typeface="Arial"/>
                        </a:rPr>
                        <a:t>cột</a:t>
                      </a:r>
                      <a:r>
                        <a:rPr sz="1400" b="0" dirty="0">
                          <a:solidFill>
                            <a:srgbClr val="1B2230"/>
                          </a:solidFill>
                          <a:latin typeface="Arial"/>
                        </a:rPr>
                        <a:t> </a:t>
                      </a:r>
                      <a:r>
                        <a:rPr sz="1400" b="0" dirty="0" err="1">
                          <a:solidFill>
                            <a:srgbClr val="1B2230"/>
                          </a:solidFill>
                          <a:latin typeface="Arial"/>
                        </a:rPr>
                        <a:t>khóa</a:t>
                      </a:r>
                      <a:r>
                        <a:rPr sz="1400" b="0" dirty="0">
                          <a:solidFill>
                            <a:srgbClr val="1B2230"/>
                          </a:solidFill>
                          <a:latin typeface="Arial"/>
                        </a:rPr>
                        <a:t> </a:t>
                      </a:r>
                      <a:r>
                        <a:rPr sz="1400" b="0" dirty="0" err="1">
                          <a:solidFill>
                            <a:srgbClr val="1B2230"/>
                          </a:solidFill>
                          <a:latin typeface="Arial"/>
                        </a:rPr>
                        <a:t>ngoại</a:t>
                      </a:r>
                      <a:r>
                        <a:rPr sz="1400" b="0" dirty="0">
                          <a:solidFill>
                            <a:srgbClr val="1B2230"/>
                          </a:solidFill>
                          <a:latin typeface="Arial"/>
                        </a:rPr>
                        <a:t> </a:t>
                      </a:r>
                      <a:r>
                        <a:rPr sz="1400" b="0" dirty="0" err="1">
                          <a:solidFill>
                            <a:srgbClr val="1B2230"/>
                          </a:solidFill>
                          <a:latin typeface="Arial"/>
                        </a:rPr>
                        <a:t>của</a:t>
                      </a:r>
                      <a:r>
                        <a:rPr sz="1400" b="0" dirty="0">
                          <a:solidFill>
                            <a:srgbClr val="1B2230"/>
                          </a:solidFill>
                          <a:latin typeface="Arial"/>
                        </a:rPr>
                        <a:t> </a:t>
                      </a:r>
                      <a:r>
                        <a:rPr sz="1400" b="0" dirty="0" err="1">
                          <a:solidFill>
                            <a:srgbClr val="1B2230"/>
                          </a:solidFill>
                          <a:latin typeface="Arial"/>
                        </a:rPr>
                        <a:t>bảng</a:t>
                      </a:r>
                      <a:r>
                        <a:rPr sz="1400" b="0" dirty="0">
                          <a:solidFill>
                            <a:srgbClr val="1B2230"/>
                          </a:solidFill>
                          <a:latin typeface="Arial"/>
                        </a:rPr>
                        <a:t> fact, </a:t>
                      </a:r>
                      <a:r>
                        <a:rPr sz="1400" b="0" dirty="0" err="1">
                          <a:solidFill>
                            <a:srgbClr val="1B2230"/>
                          </a:solidFill>
                          <a:latin typeface="Arial"/>
                        </a:rPr>
                        <a:t>thả</a:t>
                      </a:r>
                      <a:r>
                        <a:rPr sz="1400" b="0" dirty="0">
                          <a:solidFill>
                            <a:srgbClr val="1B2230"/>
                          </a:solidFill>
                          <a:latin typeface="Arial"/>
                        </a:rPr>
                        <a:t> </a:t>
                      </a:r>
                      <a:r>
                        <a:rPr sz="1400" b="0" dirty="0" err="1">
                          <a:solidFill>
                            <a:srgbClr val="1B2230"/>
                          </a:solidFill>
                          <a:latin typeface="Arial"/>
                        </a:rPr>
                        <a:t>lên</a:t>
                      </a:r>
                      <a:r>
                        <a:rPr sz="1400" b="0" dirty="0">
                          <a:solidFill>
                            <a:srgbClr val="1B2230"/>
                          </a:solidFill>
                          <a:latin typeface="Arial"/>
                        </a:rPr>
                        <a:t> </a:t>
                      </a:r>
                      <a:r>
                        <a:rPr sz="1400" b="0" dirty="0" err="1">
                          <a:solidFill>
                            <a:srgbClr val="1B2230"/>
                          </a:solidFill>
                          <a:latin typeface="Arial"/>
                        </a:rPr>
                        <a:t>khóa</a:t>
                      </a:r>
                      <a:r>
                        <a:rPr sz="1400" b="0" dirty="0">
                          <a:solidFill>
                            <a:srgbClr val="1B2230"/>
                          </a:solidFill>
                          <a:latin typeface="Arial"/>
                        </a:rPr>
                        <a:t> </a:t>
                      </a:r>
                      <a:r>
                        <a:rPr sz="1400" b="0" dirty="0" err="1">
                          <a:solidFill>
                            <a:srgbClr val="1B2230"/>
                          </a:solidFill>
                          <a:latin typeface="Arial"/>
                        </a:rPr>
                        <a:t>chính</a:t>
                      </a:r>
                      <a:r>
                        <a:rPr sz="1400" b="0" dirty="0">
                          <a:solidFill>
                            <a:srgbClr val="1B2230"/>
                          </a:solidFill>
                          <a:latin typeface="Arial"/>
                        </a:rPr>
                        <a:t> </a:t>
                      </a:r>
                      <a:r>
                        <a:rPr sz="1400" b="0" dirty="0" err="1">
                          <a:solidFill>
                            <a:srgbClr val="1B2230"/>
                          </a:solidFill>
                          <a:latin typeface="Arial"/>
                        </a:rPr>
                        <a:t>của</a:t>
                      </a:r>
                      <a:r>
                        <a:rPr sz="1400" b="0" dirty="0">
                          <a:solidFill>
                            <a:srgbClr val="1B2230"/>
                          </a:solidFill>
                          <a:latin typeface="Arial"/>
                        </a:rPr>
                        <a:t> </a:t>
                      </a:r>
                      <a:r>
                        <a:rPr sz="1400" b="0" dirty="0" err="1">
                          <a:solidFill>
                            <a:srgbClr val="1B2230"/>
                          </a:solidFill>
                          <a:latin typeface="Arial"/>
                        </a:rPr>
                        <a:t>bảng</a:t>
                      </a:r>
                      <a:r>
                        <a:rPr sz="1400" b="0" dirty="0">
                          <a:solidFill>
                            <a:srgbClr val="1B2230"/>
                          </a:solidFill>
                          <a:latin typeface="Arial"/>
                        </a:rPr>
                        <a:t> lookup</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38912">
                <a:tc>
                  <a:txBody>
                    <a:bodyPr/>
                    <a:lstStyle/>
                    <a:p>
                      <a:r>
                        <a:rPr sz="1400" b="1" dirty="0">
                          <a:solidFill>
                            <a:srgbClr val="C00000"/>
                          </a:solidFill>
                          <a:latin typeface="Arial"/>
                        </a:rPr>
                        <a:t>Design → Create Relationship</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Hộp thoại chọn bảng và cột hai bên, khi sơ đồ quá rối để kéo</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38912">
                <a:tc>
                  <a:txBody>
                    <a:bodyPr/>
                    <a:lstStyle/>
                    <a:p>
                      <a:r>
                        <a:rPr sz="1400" b="1" dirty="0">
                          <a:solidFill>
                            <a:srgbClr val="C00000"/>
                          </a:solidFill>
                          <a:latin typeface="Arial"/>
                        </a:rPr>
                        <a:t>Design → Manage Relationships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a:solidFill>
                            <a:srgbClr val="1B2230"/>
                          </a:solidFill>
                          <a:latin typeface="Arial"/>
                        </a:rPr>
                        <a:t>Xem, </a:t>
                      </a:r>
                      <a:r>
                        <a:rPr sz="1400" b="0" dirty="0" err="1">
                          <a:solidFill>
                            <a:srgbClr val="1B2230"/>
                          </a:solidFill>
                          <a:latin typeface="Arial"/>
                        </a:rPr>
                        <a:t>sửa</a:t>
                      </a:r>
                      <a:r>
                        <a:rPr sz="1400" b="0" dirty="0">
                          <a:solidFill>
                            <a:srgbClr val="1B2230"/>
                          </a:solidFill>
                          <a:latin typeface="Arial"/>
                        </a:rPr>
                        <a:t>, </a:t>
                      </a:r>
                      <a:r>
                        <a:rPr sz="1400" b="0" dirty="0" err="1">
                          <a:solidFill>
                            <a:srgbClr val="1B2230"/>
                          </a:solidFill>
                          <a:latin typeface="Arial"/>
                        </a:rPr>
                        <a:t>xóa</a:t>
                      </a:r>
                      <a:r>
                        <a:rPr sz="1400" b="0" dirty="0">
                          <a:solidFill>
                            <a:srgbClr val="1B2230"/>
                          </a:solidFill>
                          <a:latin typeface="Arial"/>
                        </a:rPr>
                        <a:t> </a:t>
                      </a:r>
                      <a:r>
                        <a:rPr sz="1400" b="0" dirty="0" err="1">
                          <a:solidFill>
                            <a:srgbClr val="1B2230"/>
                          </a:solidFill>
                          <a:latin typeface="Arial"/>
                        </a:rPr>
                        <a:t>từng</a:t>
                      </a:r>
                      <a:r>
                        <a:rPr sz="1400" b="0" dirty="0">
                          <a:solidFill>
                            <a:srgbClr val="1B2230"/>
                          </a:solidFill>
                          <a:latin typeface="Arial"/>
                        </a:rPr>
                        <a:t> relationship (</a:t>
                      </a:r>
                      <a:r>
                        <a:rPr sz="1400" b="0" dirty="0" err="1">
                          <a:solidFill>
                            <a:srgbClr val="1B2230"/>
                          </a:solidFill>
                          <a:latin typeface="Arial"/>
                        </a:rPr>
                        <a:t>ngoài</a:t>
                      </a:r>
                      <a:r>
                        <a:rPr sz="1400" b="0" dirty="0">
                          <a:solidFill>
                            <a:srgbClr val="1B2230"/>
                          </a:solidFill>
                          <a:latin typeface="Arial"/>
                        </a:rPr>
                        <a:t> Excel: Data → Relationships)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pic>
        <p:nvPicPr>
          <p:cNvPr id="5" name="Screenshot S10a_create_relationship" descr="S10a_create_relationship.png"/>
          <p:cNvPicPr>
            <a:picLocks noChangeAspect="1"/>
          </p:cNvPicPr>
          <p:nvPr/>
        </p:nvPicPr>
        <p:blipFill>
          <a:blip r:embed="rId3"/>
          <a:stretch>
            <a:fillRect/>
          </a:stretch>
        </p:blipFill>
        <p:spPr>
          <a:xfrm>
            <a:off x="2351324" y="3291840"/>
            <a:ext cx="2557688" cy="1965960"/>
          </a:xfrm>
          <a:prstGeom prst="rect">
            <a:avLst/>
          </a:prstGeom>
          <a:ln w="9525">
            <a:solidFill>
              <a:srgbClr val="D9DEE8"/>
            </a:solidFill>
          </a:ln>
        </p:spPr>
      </p:pic>
      <p:pic>
        <p:nvPicPr>
          <p:cNvPr id="6" name="Screenshot S10b_diagram_sales" descr="S10b_diagram_sales.png"/>
          <p:cNvPicPr>
            <a:picLocks noChangeAspect="1"/>
          </p:cNvPicPr>
          <p:nvPr/>
        </p:nvPicPr>
        <p:blipFill>
          <a:blip r:embed="rId4"/>
          <a:stretch>
            <a:fillRect/>
          </a:stretch>
        </p:blipFill>
        <p:spPr>
          <a:xfrm>
            <a:off x="6159844" y="3291840"/>
            <a:ext cx="5245936" cy="1965960"/>
          </a:xfrm>
          <a:prstGeom prst="rect">
            <a:avLst/>
          </a:prstGeom>
          <a:ln w="9525">
            <a:solidFill>
              <a:srgbClr val="D9DEE8"/>
            </a:solidFill>
          </a:ln>
        </p:spPr>
      </p:pic>
      <p:sp>
        <p:nvSpPr>
          <p:cNvPr id="7" name="TIP callout"/>
          <p:cNvSpPr/>
          <p:nvPr/>
        </p:nvSpPr>
        <p:spPr>
          <a:xfrm>
            <a:off x="1527048" y="5349240"/>
            <a:ext cx="10122408" cy="8229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1636776" y="545896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9" name="TIP text"/>
          <p:cNvSpPr txBox="1"/>
          <p:nvPr/>
        </p:nvSpPr>
        <p:spPr>
          <a:xfrm>
            <a:off x="2212848" y="5440679"/>
            <a:ext cx="9326880" cy="640080"/>
          </a:xfrm>
          <a:prstGeom prst="rect">
            <a:avLst/>
          </a:prstGeom>
          <a:noFill/>
        </p:spPr>
        <p:txBody>
          <a:bodyPr wrap="square" lIns="0" tIns="0" rIns="0" bIns="0" anchor="t">
            <a:spAutoFit/>
          </a:bodyPr>
          <a:lstStyle/>
          <a:p>
            <a:r>
              <a:rPr sz="1600" b="0" dirty="0">
                <a:solidFill>
                  <a:srgbClr val="1B2230"/>
                </a:solidFill>
                <a:latin typeface="Arial"/>
              </a:rPr>
              <a:t>Hai </a:t>
            </a:r>
            <a:r>
              <a:rPr sz="1600" b="0" dirty="0" err="1">
                <a:solidFill>
                  <a:srgbClr val="1B2230"/>
                </a:solidFill>
                <a:latin typeface="Arial"/>
              </a:rPr>
              <a:t>cột</a:t>
            </a:r>
            <a:r>
              <a:rPr sz="1600" b="0" dirty="0">
                <a:solidFill>
                  <a:srgbClr val="1B2230"/>
                </a:solidFill>
                <a:latin typeface="Arial"/>
              </a:rPr>
              <a:t> </a:t>
            </a:r>
            <a:r>
              <a:rPr sz="1600" b="0" dirty="0" err="1">
                <a:solidFill>
                  <a:srgbClr val="1B2230"/>
                </a:solidFill>
                <a:latin typeface="Arial"/>
              </a:rPr>
              <a:t>phải</a:t>
            </a:r>
            <a:r>
              <a:rPr sz="1600" b="0" dirty="0">
                <a:solidFill>
                  <a:srgbClr val="1B2230"/>
                </a:solidFill>
                <a:latin typeface="Arial"/>
              </a:rPr>
              <a:t> CÙNG KIỂU </a:t>
            </a:r>
            <a:r>
              <a:rPr sz="1600" b="0" dirty="0" err="1">
                <a:solidFill>
                  <a:srgbClr val="1B2230"/>
                </a:solidFill>
                <a:latin typeface="Arial"/>
              </a:rPr>
              <a:t>dữ</a:t>
            </a:r>
            <a:r>
              <a:rPr sz="1600" b="0" dirty="0">
                <a:solidFill>
                  <a:srgbClr val="1B2230"/>
                </a:solidFill>
                <a:latin typeface="Arial"/>
              </a:rPr>
              <a:t> </a:t>
            </a:r>
            <a:r>
              <a:rPr sz="1600" b="0" dirty="0" err="1">
                <a:solidFill>
                  <a:srgbClr val="1B2230"/>
                </a:solidFill>
                <a:latin typeface="Arial"/>
              </a:rPr>
              <a:t>liệu</a:t>
            </a:r>
            <a:r>
              <a:rPr sz="1600" b="0" dirty="0">
                <a:solidFill>
                  <a:srgbClr val="1B2230"/>
                </a:solidFill>
                <a:latin typeface="Arial"/>
              </a:rPr>
              <a:t> (</a:t>
            </a:r>
            <a:r>
              <a:rPr sz="1600" b="0" dirty="0" err="1">
                <a:solidFill>
                  <a:srgbClr val="1B2230"/>
                </a:solidFill>
                <a:latin typeface="Arial"/>
              </a:rPr>
              <a:t>Order_Date</a:t>
            </a:r>
            <a:r>
              <a:rPr sz="1600" b="0" dirty="0">
                <a:solidFill>
                  <a:srgbClr val="1B2230"/>
                </a:solidFill>
                <a:latin typeface="Arial"/>
              </a:rPr>
              <a:t> </a:t>
            </a:r>
            <a:r>
              <a:rPr sz="1600" b="0" dirty="0" err="1">
                <a:solidFill>
                  <a:srgbClr val="1B2230"/>
                </a:solidFill>
                <a:latin typeface="Arial"/>
              </a:rPr>
              <a:t>và</a:t>
            </a:r>
            <a:r>
              <a:rPr sz="1600" b="0" dirty="0">
                <a:solidFill>
                  <a:srgbClr val="1B2230"/>
                </a:solidFill>
                <a:latin typeface="Arial"/>
              </a:rPr>
              <a:t> Date </a:t>
            </a:r>
            <a:r>
              <a:rPr sz="1600" b="0" dirty="0" err="1">
                <a:solidFill>
                  <a:srgbClr val="1B2230"/>
                </a:solidFill>
                <a:latin typeface="Arial"/>
              </a:rPr>
              <a:t>đều</a:t>
            </a:r>
            <a:r>
              <a:rPr sz="1600" b="0" dirty="0">
                <a:solidFill>
                  <a:srgbClr val="1B2230"/>
                </a:solidFill>
                <a:latin typeface="Arial"/>
              </a:rPr>
              <a:t> </a:t>
            </a:r>
            <a:r>
              <a:rPr sz="1600" b="0" dirty="0" err="1">
                <a:solidFill>
                  <a:srgbClr val="1B2230"/>
                </a:solidFill>
                <a:latin typeface="Arial"/>
              </a:rPr>
              <a:t>là</a:t>
            </a:r>
            <a:r>
              <a:rPr sz="1600" b="0" dirty="0">
                <a:solidFill>
                  <a:srgbClr val="1B2230"/>
                </a:solidFill>
                <a:latin typeface="Arial"/>
              </a:rPr>
              <a:t> Date </a:t>
            </a:r>
            <a:r>
              <a:rPr sz="1600" b="0" dirty="0" err="1">
                <a:solidFill>
                  <a:srgbClr val="1B2230"/>
                </a:solidFill>
                <a:latin typeface="Arial"/>
              </a:rPr>
              <a:t>nhờ</a:t>
            </a:r>
            <a:r>
              <a:rPr sz="1600" b="0" dirty="0">
                <a:solidFill>
                  <a:srgbClr val="1B2230"/>
                </a:solidFill>
                <a:latin typeface="Arial"/>
              </a:rPr>
              <a:t> Using Locale ở B4). Báo </a:t>
            </a:r>
            <a:r>
              <a:rPr sz="1600" b="0" dirty="0" err="1">
                <a:solidFill>
                  <a:srgbClr val="1B2230"/>
                </a:solidFill>
                <a:latin typeface="Arial"/>
              </a:rPr>
              <a:t>trùng</a:t>
            </a:r>
            <a:r>
              <a:rPr sz="1600" b="0" dirty="0">
                <a:solidFill>
                  <a:srgbClr val="1B2230"/>
                </a:solidFill>
                <a:latin typeface="Arial"/>
              </a:rPr>
              <a:t> </a:t>
            </a:r>
            <a:r>
              <a:rPr sz="1600" b="0" dirty="0" err="1">
                <a:solidFill>
                  <a:srgbClr val="1B2230"/>
                </a:solidFill>
                <a:latin typeface="Arial"/>
              </a:rPr>
              <a:t>giá</a:t>
            </a:r>
            <a:r>
              <a:rPr sz="1600" b="0" dirty="0">
                <a:solidFill>
                  <a:srgbClr val="1B2230"/>
                </a:solidFill>
                <a:latin typeface="Arial"/>
              </a:rPr>
              <a:t> </a:t>
            </a:r>
            <a:r>
              <a:rPr sz="1600" b="0" dirty="0" err="1">
                <a:solidFill>
                  <a:srgbClr val="1B2230"/>
                </a:solidFill>
                <a:latin typeface="Arial"/>
              </a:rPr>
              <a:t>trị</a:t>
            </a:r>
            <a:r>
              <a:rPr sz="1600" b="0" dirty="0">
                <a:solidFill>
                  <a:srgbClr val="1B2230"/>
                </a:solidFill>
                <a:latin typeface="Arial"/>
              </a:rPr>
              <a:t> = </a:t>
            </a:r>
            <a:r>
              <a:rPr sz="1600" b="0" dirty="0" err="1">
                <a:solidFill>
                  <a:srgbClr val="1B2230"/>
                </a:solidFill>
                <a:latin typeface="Arial"/>
              </a:rPr>
              <a:t>khóa</a:t>
            </a:r>
            <a:r>
              <a:rPr sz="1600" b="0" dirty="0">
                <a:solidFill>
                  <a:srgbClr val="1B2230"/>
                </a:solidFill>
                <a:latin typeface="Arial"/>
              </a:rPr>
              <a:t> lookup </a:t>
            </a:r>
            <a:r>
              <a:rPr sz="1600" b="0" dirty="0" err="1">
                <a:solidFill>
                  <a:srgbClr val="1B2230"/>
                </a:solidFill>
                <a:latin typeface="Arial"/>
              </a:rPr>
              <a:t>bị</a:t>
            </a:r>
            <a:r>
              <a:rPr sz="1600" b="0" dirty="0">
                <a:solidFill>
                  <a:srgbClr val="1B2230"/>
                </a:solidFill>
                <a:latin typeface="Arial"/>
              </a:rPr>
              <a:t> </a:t>
            </a:r>
            <a:r>
              <a:rPr sz="1600" b="0" dirty="0" err="1">
                <a:solidFill>
                  <a:srgbClr val="1B2230"/>
                </a:solidFill>
                <a:latin typeface="Arial"/>
              </a:rPr>
              <a:t>trùng</a:t>
            </a:r>
            <a:r>
              <a:rPr sz="1600" b="0" dirty="0">
                <a:solidFill>
                  <a:srgbClr val="1B2230"/>
                </a:solidFill>
                <a:latin typeface="Arial"/>
              </a:rPr>
              <a:t> → Remove Duplicates </a:t>
            </a:r>
            <a:r>
              <a:rPr sz="1600" b="0" dirty="0" err="1">
                <a:solidFill>
                  <a:srgbClr val="1B2230"/>
                </a:solidFill>
                <a:latin typeface="Arial"/>
              </a:rPr>
              <a:t>trong</a:t>
            </a:r>
            <a:r>
              <a:rPr sz="1600" b="0" dirty="0">
                <a:solidFill>
                  <a:srgbClr val="1B2230"/>
                </a:solidFill>
                <a:latin typeface="Arial"/>
              </a:rPr>
              <a:t> Power Query.</a:t>
            </a:r>
          </a:p>
        </p:txBody>
      </p:sp>
      <p:sp>
        <p:nvSpPr>
          <p:cNvPr id="10"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Demo/B5_Demo_Model.xlsx, Power Pivot → Diagram View; Design → Create Relationship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Cardinality 1-* · Filter direction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RELATIONSHIP</a:t>
            </a:r>
          </a:p>
        </p:txBody>
      </p:sp>
      <p:sp>
        <p:nvSpPr>
          <p:cNvPr id="4" name="Diagram Store"/>
          <p:cNvSpPr/>
          <p:nvPr/>
        </p:nvSpPr>
        <p:spPr>
          <a:xfrm>
            <a:off x="2075688" y="1600200"/>
            <a:ext cx="2743200" cy="914400"/>
          </a:xfrm>
          <a:prstGeom prst="roundRect">
            <a:avLst>
              <a:gd name="adj" fmla="val 8000"/>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2167128" y="1645920"/>
            <a:ext cx="2560320" cy="822960"/>
          </a:xfrm>
          <a:prstGeom prst="rect">
            <a:avLst/>
          </a:prstGeom>
          <a:noFill/>
        </p:spPr>
        <p:txBody>
          <a:bodyPr wrap="square" lIns="0" tIns="0" rIns="0" bIns="0" anchor="ctr">
            <a:spAutoFit/>
          </a:bodyPr>
          <a:lstStyle/>
          <a:p>
            <a:pPr algn="ctr"/>
            <a:r>
              <a:rPr sz="1500" b="1">
                <a:solidFill>
                  <a:srgbClr val="203864"/>
                </a:solidFill>
                <a:latin typeface="Arial"/>
              </a:rPr>
              <a:t>Store · 12 dòng</a:t>
            </a:r>
          </a:p>
          <a:p>
            <a:pPr algn="ctr">
              <a:spcBef>
                <a:spcPts val="200"/>
              </a:spcBef>
            </a:pPr>
            <a:r>
              <a:rPr sz="1200" b="0">
                <a:solidFill>
                  <a:srgbClr val="585858"/>
                </a:solidFill>
                <a:latin typeface="Arial"/>
              </a:rPr>
              <a:t>Region = Nam</a:t>
            </a:r>
          </a:p>
        </p:txBody>
      </p:sp>
      <p:sp>
        <p:nvSpPr>
          <p:cNvPr id="6" name="Diagram Sales"/>
          <p:cNvSpPr/>
          <p:nvPr/>
        </p:nvSpPr>
        <p:spPr>
          <a:xfrm>
            <a:off x="2075688" y="3977639"/>
            <a:ext cx="2743200" cy="914400"/>
          </a:xfrm>
          <a:prstGeom prst="roundRect">
            <a:avLst>
              <a:gd name="adj" fmla="val 8000"/>
            </a:avLst>
          </a:prstGeom>
          <a:solidFill>
            <a:srgbClr val="203864"/>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2167128" y="4023359"/>
            <a:ext cx="2560320" cy="822960"/>
          </a:xfrm>
          <a:prstGeom prst="rect">
            <a:avLst/>
          </a:prstGeom>
          <a:noFill/>
        </p:spPr>
        <p:txBody>
          <a:bodyPr wrap="square" lIns="0" tIns="0" rIns="0" bIns="0" anchor="ctr">
            <a:spAutoFit/>
          </a:bodyPr>
          <a:lstStyle/>
          <a:p>
            <a:pPr algn="ctr"/>
            <a:r>
              <a:rPr sz="1500" b="1">
                <a:solidFill>
                  <a:srgbClr val="FFFFFF"/>
                </a:solidFill>
                <a:latin typeface="Arial"/>
              </a:rPr>
              <a:t>Sales · 30.247 dòng</a:t>
            </a:r>
          </a:p>
          <a:p>
            <a:pPr algn="ctr">
              <a:spcBef>
                <a:spcPts val="200"/>
              </a:spcBef>
            </a:pPr>
            <a:r>
              <a:rPr sz="1200" b="0">
                <a:solidFill>
                  <a:srgbClr val="E3ECF7"/>
                </a:solidFill>
                <a:latin typeface="Arial"/>
              </a:rPr>
              <a:t>chỉ còn dòng cửa hàng miền Nam</a:t>
            </a:r>
          </a:p>
        </p:txBody>
      </p:sp>
      <p:cxnSp>
        <p:nvCxnSpPr>
          <p:cNvPr id="8" name="Filter arrow"/>
          <p:cNvCxnSpPr/>
          <p:nvPr/>
        </p:nvCxnSpPr>
        <p:spPr>
          <a:xfrm>
            <a:off x="3447288" y="2560320"/>
            <a:ext cx="0" cy="1371600"/>
          </a:xfrm>
          <a:prstGeom prst="line">
            <a:avLst/>
          </a:prstGeom>
          <a:ln w="38100">
            <a:solidFill>
              <a:srgbClr val="3398DA"/>
            </a:solidFill>
            <a:tailEnd type="triangle"/>
          </a:ln>
        </p:spPr>
        <p:style>
          <a:lnRef idx="2">
            <a:schemeClr val="accent1"/>
          </a:lnRef>
          <a:fillRef idx="0">
            <a:schemeClr val="accent1"/>
          </a:fillRef>
          <a:effectRef idx="1">
            <a:schemeClr val="accent1"/>
          </a:effectRef>
          <a:fontRef idx="minor">
            <a:schemeClr val="tx1"/>
          </a:fontRef>
        </p:style>
      </p:cxnSp>
      <p:sp>
        <p:nvSpPr>
          <p:cNvPr id="9" name="Card one"/>
          <p:cNvSpPr txBox="1"/>
          <p:nvPr/>
        </p:nvSpPr>
        <p:spPr>
          <a:xfrm>
            <a:off x="3630168" y="2606040"/>
            <a:ext cx="457200" cy="365760"/>
          </a:xfrm>
          <a:prstGeom prst="rect">
            <a:avLst/>
          </a:prstGeom>
          <a:noFill/>
        </p:spPr>
        <p:txBody>
          <a:bodyPr wrap="square" lIns="0" tIns="0" rIns="0" bIns="0" anchor="t">
            <a:spAutoFit/>
          </a:bodyPr>
          <a:lstStyle/>
          <a:p>
            <a:r>
              <a:rPr sz="2000" b="1">
                <a:solidFill>
                  <a:srgbClr val="203864"/>
                </a:solidFill>
                <a:latin typeface="Arial"/>
              </a:rPr>
              <a:t>1</a:t>
            </a:r>
          </a:p>
        </p:txBody>
      </p:sp>
      <p:sp>
        <p:nvSpPr>
          <p:cNvPr id="10" name="Card many"/>
          <p:cNvSpPr txBox="1"/>
          <p:nvPr/>
        </p:nvSpPr>
        <p:spPr>
          <a:xfrm>
            <a:off x="3630168" y="3520440"/>
            <a:ext cx="457200" cy="365760"/>
          </a:xfrm>
          <a:prstGeom prst="rect">
            <a:avLst/>
          </a:prstGeom>
          <a:noFill/>
        </p:spPr>
        <p:txBody>
          <a:bodyPr wrap="square" lIns="0" tIns="0" rIns="0" bIns="0" anchor="t">
            <a:spAutoFit/>
          </a:bodyPr>
          <a:lstStyle/>
          <a:p>
            <a:r>
              <a:rPr sz="2400" b="1">
                <a:solidFill>
                  <a:srgbClr val="203864"/>
                </a:solidFill>
                <a:latin typeface="Arial"/>
              </a:rPr>
              <a:t>*</a:t>
            </a:r>
          </a:p>
        </p:txBody>
      </p:sp>
      <p:sp>
        <p:nvSpPr>
          <p:cNvPr id="11" name="TextBox"/>
          <p:cNvSpPr txBox="1"/>
          <p:nvPr/>
        </p:nvSpPr>
        <p:spPr>
          <a:xfrm>
            <a:off x="5486400" y="1554480"/>
            <a:ext cx="6163056" cy="3840480"/>
          </a:xfrm>
          <a:prstGeom prst="rect">
            <a:avLst/>
          </a:prstGeom>
          <a:noFill/>
        </p:spPr>
        <p:txBody>
          <a:bodyPr wrap="square" lIns="0" tIns="0" rIns="0" bIns="0" anchor="t">
            <a:spAutoFit/>
          </a:bodyPr>
          <a:lstStyle/>
          <a:p>
            <a:r>
              <a:rPr sz="1600" b="1" dirty="0">
                <a:solidFill>
                  <a:srgbClr val="C00000"/>
                </a:solidFill>
                <a:latin typeface="Arial"/>
              </a:rPr>
              <a:t>Cardinality: </a:t>
            </a:r>
            <a:r>
              <a:rPr sz="1600" b="0" dirty="0" err="1">
                <a:solidFill>
                  <a:srgbClr val="1B2230"/>
                </a:solidFill>
                <a:latin typeface="Arial"/>
              </a:rPr>
              <a:t>mức</a:t>
            </a:r>
            <a:r>
              <a:rPr sz="1600" b="0" dirty="0">
                <a:solidFill>
                  <a:srgbClr val="1B2230"/>
                </a:solidFill>
                <a:latin typeface="Arial"/>
              </a:rPr>
              <a:t> </a:t>
            </a:r>
            <a:r>
              <a:rPr sz="1600" b="0" dirty="0" err="1">
                <a:solidFill>
                  <a:srgbClr val="1B2230"/>
                </a:solidFill>
                <a:latin typeface="Arial"/>
              </a:rPr>
              <a:t>độ</a:t>
            </a:r>
            <a:r>
              <a:rPr sz="1600" b="0" dirty="0">
                <a:solidFill>
                  <a:srgbClr val="1B2230"/>
                </a:solidFill>
                <a:latin typeface="Arial"/>
              </a:rPr>
              <a:t> </a:t>
            </a:r>
            <a:r>
              <a:rPr sz="1600" b="0" dirty="0" err="1">
                <a:solidFill>
                  <a:srgbClr val="1B2230"/>
                </a:solidFill>
                <a:latin typeface="Arial"/>
              </a:rPr>
              <a:t>duy</a:t>
            </a:r>
            <a:r>
              <a:rPr sz="1600" b="0" dirty="0">
                <a:solidFill>
                  <a:srgbClr val="1B2230"/>
                </a:solidFill>
                <a:latin typeface="Arial"/>
              </a:rPr>
              <a:t> </a:t>
            </a:r>
            <a:r>
              <a:rPr sz="1600" b="0" dirty="0" err="1">
                <a:solidFill>
                  <a:srgbClr val="1B2230"/>
                </a:solidFill>
                <a:latin typeface="Arial"/>
              </a:rPr>
              <a:t>nhất</a:t>
            </a:r>
            <a:r>
              <a:rPr sz="1600" b="0" dirty="0">
                <a:solidFill>
                  <a:srgbClr val="1B2230"/>
                </a:solidFill>
                <a:latin typeface="Arial"/>
              </a:rPr>
              <a:t> </a:t>
            </a:r>
            <a:r>
              <a:rPr sz="1600" b="0" dirty="0" err="1">
                <a:solidFill>
                  <a:srgbClr val="1B2230"/>
                </a:solidFill>
                <a:latin typeface="Arial"/>
              </a:rPr>
              <a:t>của</a:t>
            </a:r>
            <a:r>
              <a:rPr sz="1600" b="0" dirty="0">
                <a:solidFill>
                  <a:srgbClr val="1B2230"/>
                </a:solidFill>
                <a:latin typeface="Arial"/>
              </a:rPr>
              <a:t> </a:t>
            </a:r>
            <a:r>
              <a:rPr sz="1600" b="0" dirty="0" err="1">
                <a:solidFill>
                  <a:srgbClr val="1B2230"/>
                </a:solidFill>
                <a:latin typeface="Arial"/>
              </a:rPr>
              <a:t>khóa</a:t>
            </a:r>
            <a:r>
              <a:rPr sz="1600" b="0" dirty="0">
                <a:solidFill>
                  <a:srgbClr val="1B2230"/>
                </a:solidFill>
                <a:latin typeface="Arial"/>
              </a:rPr>
              <a:t> ở </a:t>
            </a:r>
            <a:r>
              <a:rPr sz="1600" b="0" dirty="0" err="1">
                <a:solidFill>
                  <a:srgbClr val="1B2230"/>
                </a:solidFill>
                <a:latin typeface="Arial"/>
              </a:rPr>
              <a:t>hai</a:t>
            </a:r>
            <a:r>
              <a:rPr sz="1600" b="0" dirty="0">
                <a:solidFill>
                  <a:srgbClr val="1B2230"/>
                </a:solidFill>
                <a:latin typeface="Arial"/>
              </a:rPr>
              <a:t> </a:t>
            </a:r>
            <a:r>
              <a:rPr sz="1600" b="0" dirty="0" err="1">
                <a:solidFill>
                  <a:srgbClr val="1B2230"/>
                </a:solidFill>
                <a:latin typeface="Arial"/>
              </a:rPr>
              <a:t>đầu</a:t>
            </a:r>
            <a:r>
              <a:rPr sz="1600" b="0" dirty="0">
                <a:solidFill>
                  <a:srgbClr val="1B2230"/>
                </a:solidFill>
                <a:latin typeface="Arial"/>
              </a:rPr>
              <a:t>, 1 (lookup, </a:t>
            </a:r>
            <a:r>
              <a:rPr sz="1600" b="0" dirty="0" err="1">
                <a:solidFill>
                  <a:srgbClr val="1B2230"/>
                </a:solidFill>
                <a:latin typeface="Arial"/>
              </a:rPr>
              <a:t>duy</a:t>
            </a:r>
            <a:r>
              <a:rPr sz="1600" b="0" dirty="0">
                <a:solidFill>
                  <a:srgbClr val="1B2230"/>
                </a:solidFill>
                <a:latin typeface="Arial"/>
              </a:rPr>
              <a:t> </a:t>
            </a:r>
            <a:r>
              <a:rPr sz="1600" b="0" dirty="0" err="1">
                <a:solidFill>
                  <a:srgbClr val="1B2230"/>
                </a:solidFill>
                <a:latin typeface="Arial"/>
              </a:rPr>
              <a:t>nhất</a:t>
            </a:r>
            <a:r>
              <a:rPr sz="1600" b="0" dirty="0">
                <a:solidFill>
                  <a:srgbClr val="1B2230"/>
                </a:solidFill>
                <a:latin typeface="Arial"/>
              </a:rPr>
              <a:t>) – * (fact, </a:t>
            </a:r>
            <a:r>
              <a:rPr sz="1600" b="0" dirty="0" err="1">
                <a:solidFill>
                  <a:srgbClr val="1B2230"/>
                </a:solidFill>
                <a:latin typeface="Arial"/>
              </a:rPr>
              <a:t>lặp</a:t>
            </a:r>
            <a:r>
              <a:rPr sz="1600" b="0" dirty="0">
                <a:solidFill>
                  <a:srgbClr val="1B2230"/>
                </a:solidFill>
                <a:latin typeface="Arial"/>
              </a:rPr>
              <a:t> </a:t>
            </a:r>
            <a:r>
              <a:rPr sz="1600" b="0" dirty="0" err="1">
                <a:solidFill>
                  <a:srgbClr val="1B2230"/>
                </a:solidFill>
                <a:latin typeface="Arial"/>
              </a:rPr>
              <a:t>lại</a:t>
            </a:r>
            <a:r>
              <a:rPr sz="1600" b="0" dirty="0">
                <a:solidFill>
                  <a:srgbClr val="1B2230"/>
                </a:solidFill>
                <a:latin typeface="Arial"/>
              </a:rPr>
              <a:t>). Data Model </a:t>
            </a:r>
            <a:r>
              <a:rPr sz="1600" b="0" dirty="0" err="1">
                <a:solidFill>
                  <a:srgbClr val="1B2230"/>
                </a:solidFill>
                <a:latin typeface="Arial"/>
              </a:rPr>
              <a:t>chỉ</a:t>
            </a:r>
            <a:r>
              <a:rPr sz="1600" b="0" dirty="0">
                <a:solidFill>
                  <a:srgbClr val="1B2230"/>
                </a:solidFill>
                <a:latin typeface="Arial"/>
              </a:rPr>
              <a:t> </a:t>
            </a:r>
            <a:r>
              <a:rPr sz="1600" b="0" dirty="0" err="1">
                <a:solidFill>
                  <a:srgbClr val="1B2230"/>
                </a:solidFill>
                <a:latin typeface="Arial"/>
              </a:rPr>
              <a:t>nhận</a:t>
            </a:r>
            <a:r>
              <a:rPr sz="1600" b="0" dirty="0">
                <a:solidFill>
                  <a:srgbClr val="1B2230"/>
                </a:solidFill>
                <a:latin typeface="Arial"/>
              </a:rPr>
              <a:t> 1-1 </a:t>
            </a:r>
            <a:r>
              <a:rPr sz="1600" b="0" dirty="0" err="1">
                <a:solidFill>
                  <a:srgbClr val="1B2230"/>
                </a:solidFill>
                <a:latin typeface="Arial"/>
              </a:rPr>
              <a:t>và</a:t>
            </a:r>
            <a:r>
              <a:rPr sz="1600" b="0" dirty="0">
                <a:solidFill>
                  <a:srgbClr val="1B2230"/>
                </a:solidFill>
                <a:latin typeface="Arial"/>
              </a:rPr>
              <a:t> 1-*; </a:t>
            </a:r>
            <a:r>
              <a:rPr sz="1600" b="0" dirty="0" err="1">
                <a:solidFill>
                  <a:srgbClr val="1B2230"/>
                </a:solidFill>
                <a:latin typeface="Arial"/>
              </a:rPr>
              <a:t>khóa</a:t>
            </a:r>
            <a:r>
              <a:rPr sz="1600" b="0" dirty="0">
                <a:solidFill>
                  <a:srgbClr val="1B2230"/>
                </a:solidFill>
                <a:latin typeface="Arial"/>
              </a:rPr>
              <a:t> </a:t>
            </a:r>
            <a:r>
              <a:rPr sz="1600" b="0" dirty="0" err="1">
                <a:solidFill>
                  <a:srgbClr val="1B2230"/>
                </a:solidFill>
                <a:latin typeface="Arial"/>
              </a:rPr>
              <a:t>trùng</a:t>
            </a:r>
            <a:r>
              <a:rPr sz="1600" b="0" dirty="0">
                <a:solidFill>
                  <a:srgbClr val="1B2230"/>
                </a:solidFill>
                <a:latin typeface="Arial"/>
              </a:rPr>
              <a:t> ở </a:t>
            </a:r>
            <a:r>
              <a:rPr sz="1600" b="0" dirty="0" err="1">
                <a:solidFill>
                  <a:srgbClr val="1B2230"/>
                </a:solidFill>
                <a:latin typeface="Arial"/>
              </a:rPr>
              <a:t>cả</a:t>
            </a:r>
            <a:r>
              <a:rPr sz="1600" b="0" dirty="0">
                <a:solidFill>
                  <a:srgbClr val="1B2230"/>
                </a:solidFill>
                <a:latin typeface="Arial"/>
              </a:rPr>
              <a:t> </a:t>
            </a:r>
            <a:r>
              <a:rPr sz="1600" b="0" dirty="0" err="1">
                <a:solidFill>
                  <a:srgbClr val="1B2230"/>
                </a:solidFill>
                <a:latin typeface="Arial"/>
              </a:rPr>
              <a:t>hai</a:t>
            </a:r>
            <a:r>
              <a:rPr sz="1600" b="0" dirty="0">
                <a:solidFill>
                  <a:srgbClr val="1B2230"/>
                </a:solidFill>
                <a:latin typeface="Arial"/>
              </a:rPr>
              <a:t> </a:t>
            </a:r>
            <a:r>
              <a:rPr sz="1600" b="0" dirty="0" err="1">
                <a:solidFill>
                  <a:srgbClr val="1B2230"/>
                </a:solidFill>
                <a:latin typeface="Arial"/>
              </a:rPr>
              <a:t>đầu</a:t>
            </a:r>
            <a:r>
              <a:rPr sz="1600" b="0" dirty="0">
                <a:solidFill>
                  <a:srgbClr val="1B2230"/>
                </a:solidFill>
                <a:latin typeface="Arial"/>
              </a:rPr>
              <a:t> (</a:t>
            </a:r>
            <a:r>
              <a:rPr sz="1600" b="0" dirty="0" err="1">
                <a:solidFill>
                  <a:srgbClr val="1B2230"/>
                </a:solidFill>
                <a:latin typeface="Arial"/>
              </a:rPr>
              <a:t>nhiều</a:t>
            </a:r>
            <a:r>
              <a:rPr sz="1600" b="0" dirty="0">
                <a:solidFill>
                  <a:srgbClr val="1B2230"/>
                </a:solidFill>
                <a:latin typeface="Arial"/>
              </a:rPr>
              <a:t>–</a:t>
            </a:r>
            <a:r>
              <a:rPr sz="1600" b="0" dirty="0" err="1">
                <a:solidFill>
                  <a:srgbClr val="1B2230"/>
                </a:solidFill>
                <a:latin typeface="Arial"/>
              </a:rPr>
              <a:t>nhiều</a:t>
            </a:r>
            <a:r>
              <a:rPr sz="1600" b="0" dirty="0">
                <a:solidFill>
                  <a:srgbClr val="1B2230"/>
                </a:solidFill>
                <a:latin typeface="Arial"/>
              </a:rPr>
              <a:t>)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tạo</a:t>
            </a:r>
            <a:r>
              <a:rPr sz="1600" b="0" dirty="0">
                <a:solidFill>
                  <a:srgbClr val="1B2230"/>
                </a:solidFill>
                <a:latin typeface="Arial"/>
              </a:rPr>
              <a:t> </a:t>
            </a:r>
            <a:r>
              <a:rPr sz="1600" b="0" dirty="0" err="1">
                <a:solidFill>
                  <a:srgbClr val="1B2230"/>
                </a:solidFill>
                <a:latin typeface="Arial"/>
              </a:rPr>
              <a:t>được</a:t>
            </a:r>
            <a:r>
              <a:rPr sz="1600" b="0" dirty="0">
                <a:solidFill>
                  <a:srgbClr val="1B2230"/>
                </a:solidFill>
                <a:latin typeface="Arial"/>
              </a:rPr>
              <a:t>.</a:t>
            </a:r>
          </a:p>
          <a:p>
            <a:pPr>
              <a:spcBef>
                <a:spcPts val="1400"/>
              </a:spcBef>
            </a:pPr>
            <a:r>
              <a:rPr sz="1600" b="1" dirty="0">
                <a:solidFill>
                  <a:srgbClr val="C00000"/>
                </a:solidFill>
                <a:latin typeface="Arial"/>
              </a:rPr>
              <a:t>Filter direction: </a:t>
            </a:r>
            <a:r>
              <a:rPr sz="1600" b="0" dirty="0" err="1">
                <a:solidFill>
                  <a:srgbClr val="1B2230"/>
                </a:solidFill>
                <a:latin typeface="Arial"/>
              </a:rPr>
              <a:t>bộ</a:t>
            </a:r>
            <a:r>
              <a:rPr sz="1600" b="0" dirty="0">
                <a:solidFill>
                  <a:srgbClr val="1B2230"/>
                </a:solidFill>
                <a:latin typeface="Arial"/>
              </a:rPr>
              <a:t> </a:t>
            </a:r>
            <a:r>
              <a:rPr sz="1600" b="0" dirty="0" err="1">
                <a:solidFill>
                  <a:srgbClr val="1B2230"/>
                </a:solidFill>
                <a:latin typeface="Arial"/>
              </a:rPr>
              <a:t>lọc</a:t>
            </a:r>
            <a:r>
              <a:rPr sz="1600" b="0" dirty="0">
                <a:solidFill>
                  <a:srgbClr val="1B2230"/>
                </a:solidFill>
                <a:latin typeface="Arial"/>
              </a:rPr>
              <a:t> </a:t>
            </a:r>
            <a:r>
              <a:rPr sz="1600" b="0" dirty="0" err="1">
                <a:solidFill>
                  <a:srgbClr val="1B2230"/>
                </a:solidFill>
                <a:latin typeface="Arial"/>
              </a:rPr>
              <a:t>chảy</a:t>
            </a:r>
            <a:r>
              <a:rPr sz="1600" b="0" dirty="0">
                <a:solidFill>
                  <a:srgbClr val="1B2230"/>
                </a:solidFill>
                <a:latin typeface="Arial"/>
              </a:rPr>
              <a:t> TỪ LOOKUP XUỐNG FACT. </a:t>
            </a:r>
            <a:r>
              <a:rPr sz="1600" b="0" dirty="0" err="1">
                <a:solidFill>
                  <a:srgbClr val="1B2230"/>
                </a:solidFill>
                <a:latin typeface="Arial"/>
              </a:rPr>
              <a:t>Chọn</a:t>
            </a:r>
            <a:r>
              <a:rPr sz="1600" b="0" dirty="0">
                <a:solidFill>
                  <a:srgbClr val="1B2230"/>
                </a:solidFill>
                <a:latin typeface="Arial"/>
              </a:rPr>
              <a:t> Region = Nam ở Store → Sales </a:t>
            </a:r>
            <a:r>
              <a:rPr sz="1600" b="0" dirty="0" err="1">
                <a:solidFill>
                  <a:srgbClr val="1B2230"/>
                </a:solidFill>
                <a:latin typeface="Arial"/>
              </a:rPr>
              <a:t>chỉ</a:t>
            </a:r>
            <a:r>
              <a:rPr sz="1600" b="0" dirty="0">
                <a:solidFill>
                  <a:srgbClr val="1B2230"/>
                </a:solidFill>
                <a:latin typeface="Arial"/>
              </a:rPr>
              <a:t> </a:t>
            </a:r>
            <a:r>
              <a:rPr sz="1600" b="0" dirty="0" err="1">
                <a:solidFill>
                  <a:srgbClr val="1B2230"/>
                </a:solidFill>
                <a:latin typeface="Arial"/>
              </a:rPr>
              <a:t>còn</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a:t>
            </a:r>
            <a:r>
              <a:rPr sz="1600" b="0" dirty="0" err="1">
                <a:solidFill>
                  <a:srgbClr val="1B2230"/>
                </a:solidFill>
                <a:latin typeface="Arial"/>
              </a:rPr>
              <a:t>của</a:t>
            </a:r>
            <a:r>
              <a:rPr sz="1600" b="0" dirty="0">
                <a:solidFill>
                  <a:srgbClr val="1B2230"/>
                </a:solidFill>
                <a:latin typeface="Arial"/>
              </a:rPr>
              <a:t> </a:t>
            </a:r>
            <a:r>
              <a:rPr sz="1600" b="0" dirty="0" err="1">
                <a:solidFill>
                  <a:srgbClr val="1B2230"/>
                </a:solidFill>
                <a:latin typeface="Arial"/>
              </a:rPr>
              <a:t>cửa</a:t>
            </a:r>
            <a:r>
              <a:rPr sz="1600" b="0" dirty="0">
                <a:solidFill>
                  <a:srgbClr val="1B2230"/>
                </a:solidFill>
                <a:latin typeface="Arial"/>
              </a:rPr>
              <a:t> </a:t>
            </a:r>
            <a:r>
              <a:rPr sz="1600" b="0" dirty="0" err="1">
                <a:solidFill>
                  <a:srgbClr val="1B2230"/>
                </a:solidFill>
                <a:latin typeface="Arial"/>
              </a:rPr>
              <a:t>hàng</a:t>
            </a:r>
            <a:r>
              <a:rPr sz="1600" b="0" dirty="0">
                <a:solidFill>
                  <a:srgbClr val="1B2230"/>
                </a:solidFill>
                <a:latin typeface="Arial"/>
              </a:rPr>
              <a:t> </a:t>
            </a:r>
            <a:r>
              <a:rPr sz="1600" b="0" dirty="0" err="1">
                <a:solidFill>
                  <a:srgbClr val="1B2230"/>
                </a:solidFill>
                <a:latin typeface="Arial"/>
              </a:rPr>
              <a:t>miền</a:t>
            </a:r>
            <a:r>
              <a:rPr sz="1600" b="0" dirty="0">
                <a:solidFill>
                  <a:srgbClr val="1B2230"/>
                </a:solidFill>
                <a:latin typeface="Arial"/>
              </a:rPr>
              <a:t> Nam. </a:t>
            </a:r>
            <a:r>
              <a:rPr sz="1600" b="0" dirty="0" err="1">
                <a:solidFill>
                  <a:srgbClr val="1B2230"/>
                </a:solidFill>
                <a:latin typeface="Arial"/>
              </a:rPr>
              <a:t>Chiều</a:t>
            </a:r>
            <a:r>
              <a:rPr sz="1600" b="0" dirty="0">
                <a:solidFill>
                  <a:srgbClr val="1B2230"/>
                </a:solidFill>
                <a:latin typeface="Arial"/>
              </a:rPr>
              <a:t> </a:t>
            </a:r>
            <a:r>
              <a:rPr sz="1600" b="0" dirty="0" err="1">
                <a:solidFill>
                  <a:srgbClr val="1B2230"/>
                </a:solidFill>
                <a:latin typeface="Arial"/>
              </a:rPr>
              <a:t>ngược</a:t>
            </a:r>
            <a:r>
              <a:rPr sz="1600" b="0" dirty="0">
                <a:solidFill>
                  <a:srgbClr val="1B2230"/>
                </a:solidFill>
                <a:latin typeface="Arial"/>
              </a:rPr>
              <a:t> </a:t>
            </a:r>
            <a:r>
              <a:rPr sz="1600" b="0" dirty="0" err="1">
                <a:solidFill>
                  <a:srgbClr val="1B2230"/>
                </a:solidFill>
                <a:latin typeface="Arial"/>
              </a:rPr>
              <a:t>lại</a:t>
            </a:r>
            <a:r>
              <a:rPr sz="1600" b="0" dirty="0">
                <a:solidFill>
                  <a:srgbClr val="1B2230"/>
                </a:solidFill>
                <a:latin typeface="Arial"/>
              </a:rPr>
              <a:t>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có</a:t>
            </a:r>
            <a:r>
              <a:rPr sz="1600" b="0" dirty="0">
                <a:solidFill>
                  <a:srgbClr val="1B2230"/>
                </a:solidFill>
                <a:latin typeface="Arial"/>
              </a:rPr>
              <a:t>.</a:t>
            </a:r>
          </a:p>
          <a:p>
            <a:pPr>
              <a:spcBef>
                <a:spcPts val="1400"/>
              </a:spcBef>
            </a:pPr>
            <a:r>
              <a:rPr sz="1600" b="1" dirty="0">
                <a:solidFill>
                  <a:srgbClr val="203864"/>
                </a:solidFill>
                <a:latin typeface="Arial"/>
              </a:rPr>
              <a:t>Quy </a:t>
            </a:r>
            <a:r>
              <a:rPr sz="1600" b="1" dirty="0" err="1">
                <a:solidFill>
                  <a:srgbClr val="203864"/>
                </a:solidFill>
                <a:latin typeface="Arial"/>
              </a:rPr>
              <a:t>tắc</a:t>
            </a:r>
            <a:r>
              <a:rPr sz="1600" b="1" dirty="0">
                <a:solidFill>
                  <a:srgbClr val="203864"/>
                </a:solidFill>
                <a:latin typeface="Arial"/>
              </a:rPr>
              <a:t> </a:t>
            </a:r>
            <a:r>
              <a:rPr sz="1600" b="1" dirty="0" err="1">
                <a:solidFill>
                  <a:srgbClr val="203864"/>
                </a:solidFill>
                <a:latin typeface="Arial"/>
              </a:rPr>
              <a:t>vàng</a:t>
            </a:r>
            <a:r>
              <a:rPr sz="1600" b="1" dirty="0">
                <a:solidFill>
                  <a:srgbClr val="203864"/>
                </a:solidFill>
                <a:latin typeface="Arial"/>
              </a:rPr>
              <a:t>: </a:t>
            </a:r>
            <a:r>
              <a:rPr sz="1600" b="0" dirty="0" err="1">
                <a:solidFill>
                  <a:srgbClr val="1B2230"/>
                </a:solidFill>
                <a:latin typeface="Arial"/>
              </a:rPr>
              <a:t>không</a:t>
            </a:r>
            <a:r>
              <a:rPr sz="1600" b="0" dirty="0">
                <a:solidFill>
                  <a:srgbClr val="1B2230"/>
                </a:solidFill>
                <a:latin typeface="Arial"/>
              </a:rPr>
              <a:t> bao </a:t>
            </a:r>
            <a:r>
              <a:rPr sz="1600" b="0" dirty="0" err="1">
                <a:solidFill>
                  <a:srgbClr val="1B2230"/>
                </a:solidFill>
                <a:latin typeface="Arial"/>
              </a:rPr>
              <a:t>giờ</a:t>
            </a:r>
            <a:r>
              <a:rPr sz="1600" b="0" dirty="0">
                <a:solidFill>
                  <a:srgbClr val="1B2230"/>
                </a:solidFill>
                <a:latin typeface="Arial"/>
              </a:rPr>
              <a:t> </a:t>
            </a:r>
            <a:r>
              <a:rPr sz="1600" b="0" dirty="0" err="1">
                <a:solidFill>
                  <a:srgbClr val="1B2230"/>
                </a:solidFill>
                <a:latin typeface="Arial"/>
              </a:rPr>
              <a:t>nối</a:t>
            </a:r>
            <a:r>
              <a:rPr sz="1600" b="0" dirty="0">
                <a:solidFill>
                  <a:srgbClr val="1B2230"/>
                </a:solidFill>
                <a:latin typeface="Arial"/>
              </a:rPr>
              <a:t> </a:t>
            </a:r>
            <a:r>
              <a:rPr sz="1600" b="0" dirty="0" err="1">
                <a:solidFill>
                  <a:srgbClr val="1B2230"/>
                </a:solidFill>
                <a:latin typeface="Arial"/>
              </a:rPr>
              <a:t>thẳng</a:t>
            </a:r>
            <a:r>
              <a:rPr sz="1600" b="0" dirty="0">
                <a:solidFill>
                  <a:srgbClr val="1B2230"/>
                </a:solidFill>
                <a:latin typeface="Arial"/>
              </a:rPr>
              <a:t> </a:t>
            </a:r>
            <a:r>
              <a:rPr sz="1600" b="0" dirty="0" err="1">
                <a:solidFill>
                  <a:srgbClr val="1B2230"/>
                </a:solidFill>
                <a:latin typeface="Arial"/>
              </a:rPr>
              <a:t>hai</a:t>
            </a:r>
            <a:r>
              <a:rPr sz="1600" b="0" dirty="0">
                <a:solidFill>
                  <a:srgbClr val="1B2230"/>
                </a:solidFill>
                <a:latin typeface="Arial"/>
              </a:rPr>
              <a:t> </a:t>
            </a:r>
            <a:r>
              <a:rPr sz="1600" b="0" dirty="0" err="1">
                <a:solidFill>
                  <a:srgbClr val="1B2230"/>
                </a:solidFill>
                <a:latin typeface="Arial"/>
              </a:rPr>
              <a:t>bảng</a:t>
            </a:r>
            <a:r>
              <a:rPr sz="1600" b="0" dirty="0">
                <a:solidFill>
                  <a:srgbClr val="1B2230"/>
                </a:solidFill>
                <a:latin typeface="Arial"/>
              </a:rPr>
              <a:t> fact. Sales </a:t>
            </a:r>
            <a:r>
              <a:rPr sz="1600" b="0" dirty="0" err="1">
                <a:solidFill>
                  <a:srgbClr val="1B2230"/>
                </a:solidFill>
                <a:latin typeface="Arial"/>
              </a:rPr>
              <a:t>và</a:t>
            </a:r>
            <a:r>
              <a:rPr sz="1600" b="0" dirty="0">
                <a:solidFill>
                  <a:srgbClr val="1B2230"/>
                </a:solidFill>
                <a:latin typeface="Arial"/>
              </a:rPr>
              <a:t> Target </a:t>
            </a:r>
            <a:r>
              <a:rPr sz="1600" b="0" dirty="0" err="1">
                <a:solidFill>
                  <a:srgbClr val="1B2230"/>
                </a:solidFill>
                <a:latin typeface="Arial"/>
              </a:rPr>
              <a:t>gặp</a:t>
            </a:r>
            <a:r>
              <a:rPr sz="1600" b="0" dirty="0">
                <a:solidFill>
                  <a:srgbClr val="1B2230"/>
                </a:solidFill>
                <a:latin typeface="Arial"/>
              </a:rPr>
              <a:t> </a:t>
            </a:r>
            <a:r>
              <a:rPr sz="1600" b="0" dirty="0" err="1">
                <a:solidFill>
                  <a:srgbClr val="1B2230"/>
                </a:solidFill>
                <a:latin typeface="Arial"/>
              </a:rPr>
              <a:t>nhau</a:t>
            </a:r>
            <a:r>
              <a:rPr sz="1600" b="0" dirty="0">
                <a:solidFill>
                  <a:srgbClr val="1B2230"/>
                </a:solidFill>
                <a:latin typeface="Arial"/>
              </a:rPr>
              <a:t> qua lookup </a:t>
            </a:r>
            <a:r>
              <a:rPr sz="1600" b="0" dirty="0" err="1">
                <a:solidFill>
                  <a:srgbClr val="1B2230"/>
                </a:solidFill>
                <a:latin typeface="Arial"/>
              </a:rPr>
              <a:t>chung</a:t>
            </a:r>
            <a:r>
              <a:rPr sz="1600" b="0" dirty="0">
                <a:solidFill>
                  <a:srgbClr val="1B2230"/>
                </a:solidFill>
                <a:latin typeface="Arial"/>
              </a:rPr>
              <a:t>.</a:t>
            </a:r>
          </a:p>
        </p:txBody>
      </p:sp>
      <p:sp>
        <p:nvSpPr>
          <p:cNvPr id="12" name="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636776" y="5504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4" name="TIP text"/>
          <p:cNvSpPr txBox="1"/>
          <p:nvPr/>
        </p:nvSpPr>
        <p:spPr>
          <a:xfrm>
            <a:off x="2212848" y="5486400"/>
            <a:ext cx="9326880" cy="548640"/>
          </a:xfrm>
          <a:prstGeom prst="rect">
            <a:avLst/>
          </a:prstGeom>
          <a:noFill/>
        </p:spPr>
        <p:txBody>
          <a:bodyPr wrap="square" lIns="0" tIns="0" rIns="0" bIns="0" anchor="t">
            <a:spAutoFit/>
          </a:bodyPr>
          <a:lstStyle/>
          <a:p>
            <a:r>
              <a:rPr sz="1600" b="0">
                <a:solidFill>
                  <a:srgbClr val="1B2230"/>
                </a:solidFill>
                <a:latin typeface="Arial"/>
              </a:rPr>
              <a:t>Bộ lọc chảy như nước, từ trên xuống: lookup ở trên, fact ở dưới.</a:t>
            </a:r>
          </a:p>
        </p:txBody>
      </p:sp>
      <p:sp>
        <p:nvSpPr>
          <p:cNvPr id="15"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Sơ đồ khái niệm: bộ lọc từ Store chảy xuống Sales qua relationship Store_Code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Fact </a:t>
            </a:r>
            <a:r>
              <a:rPr dirty="0" err="1"/>
              <a:t>thứ</a:t>
            </a:r>
            <a:r>
              <a:rPr dirty="0"/>
              <a:t> </a:t>
            </a:r>
            <a:r>
              <a:rPr dirty="0" err="1"/>
              <a:t>hai</a:t>
            </a:r>
            <a:r>
              <a:rPr dirty="0"/>
              <a:t>: Target </a:t>
            </a:r>
            <a:r>
              <a:rPr dirty="0" err="1"/>
              <a:t>lọc</a:t>
            </a:r>
            <a:r>
              <a:rPr dirty="0"/>
              <a:t> qua lookup </a:t>
            </a:r>
            <a:r>
              <a:rPr dirty="0" err="1"/>
              <a:t>chung</a:t>
            </a:r>
            <a:endParaRPr dirty="0"/>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2 · RELATIONSHIP</a:t>
            </a:r>
          </a:p>
        </p:txBody>
      </p:sp>
      <p:sp>
        <p:nvSpPr>
          <p:cNvPr id="4" name="Tool name"/>
          <p:cNvSpPr txBox="1"/>
          <p:nvPr/>
        </p:nvSpPr>
        <p:spPr>
          <a:xfrm>
            <a:off x="1527048" y="1417320"/>
            <a:ext cx="10122408" cy="457200"/>
          </a:xfrm>
          <a:prstGeom prst="rect">
            <a:avLst/>
          </a:prstGeom>
          <a:noFill/>
        </p:spPr>
        <p:txBody>
          <a:bodyPr wrap="square" lIns="0" tIns="0" rIns="0" bIns="0" anchor="t">
            <a:spAutoFit/>
          </a:bodyPr>
          <a:lstStyle/>
          <a:p>
            <a:r>
              <a:rPr sz="2000" b="1">
                <a:solidFill>
                  <a:srgbClr val="C00000"/>
                </a:solidFill>
                <a:latin typeface="Arial"/>
              </a:rPr>
              <a:t>Insert → PivotTable ▾ → From Data Model  ·  relationship cho Target</a:t>
            </a:r>
          </a:p>
        </p:txBody>
      </p:sp>
      <p:sp>
        <p:nvSpPr>
          <p:cNvPr id="5" name="Tool purpose"/>
          <p:cNvSpPr txBox="1"/>
          <p:nvPr/>
        </p:nvSpPr>
        <p:spPr>
          <a:xfrm>
            <a:off x="1527048" y="1874519"/>
            <a:ext cx="10122408" cy="548640"/>
          </a:xfrm>
          <a:prstGeom prst="rect">
            <a:avLst/>
          </a:prstGeom>
          <a:noFill/>
        </p:spPr>
        <p:txBody>
          <a:bodyPr wrap="square" lIns="0" tIns="0" rIns="0" bIns="0" anchor="t">
            <a:spAutoFit/>
          </a:bodyPr>
          <a:lstStyle/>
          <a:p>
            <a:r>
              <a:rPr sz="1600" b="0">
                <a:solidFill>
                  <a:srgbClr val="585858"/>
                </a:solidFill>
                <a:latin typeface="Arial"/>
              </a:rPr>
              <a:t>Pivot đọc thẳng Data Model. Target chỉ lọc được qua lookup CHUNG với Sales: Target[Store_Code] → Store · Target[Ngay_Dau_Thang] → Calendar.</a:t>
            </a:r>
          </a:p>
        </p:txBody>
      </p:sp>
      <p:pic>
        <p:nvPicPr>
          <p:cNvPr id="6" name="Screenshot S12a_target_lap" descr="S12a_target_lap.png"/>
          <p:cNvPicPr>
            <a:picLocks noChangeAspect="1"/>
          </p:cNvPicPr>
          <p:nvPr/>
        </p:nvPicPr>
        <p:blipFill>
          <a:blip r:embed="rId3"/>
          <a:stretch>
            <a:fillRect/>
          </a:stretch>
        </p:blipFill>
        <p:spPr>
          <a:xfrm>
            <a:off x="1527048" y="2875588"/>
            <a:ext cx="4343400" cy="1975503"/>
          </a:xfrm>
          <a:prstGeom prst="rect">
            <a:avLst/>
          </a:prstGeom>
          <a:ln w="9525">
            <a:solidFill>
              <a:srgbClr val="D9DEE8"/>
            </a:solidFill>
          </a:ln>
        </p:spPr>
      </p:pic>
      <p:pic>
        <p:nvPicPr>
          <p:cNvPr id="7" name="Screenshot S12b_diagram_hai_fact" descr="S12b_diagram_hai_fact.png"/>
          <p:cNvPicPr>
            <a:picLocks noChangeAspect="1"/>
          </p:cNvPicPr>
          <p:nvPr/>
        </p:nvPicPr>
        <p:blipFill>
          <a:blip r:embed="rId4"/>
          <a:stretch>
            <a:fillRect/>
          </a:stretch>
        </p:blipFill>
        <p:spPr>
          <a:xfrm>
            <a:off x="6007608" y="2722860"/>
            <a:ext cx="3291840" cy="2280960"/>
          </a:xfrm>
          <a:prstGeom prst="rect">
            <a:avLst/>
          </a:prstGeom>
          <a:ln w="9525">
            <a:solidFill>
              <a:srgbClr val="D9DEE8"/>
            </a:solidFill>
          </a:ln>
        </p:spPr>
      </p:pic>
      <p:sp>
        <p:nvSpPr>
          <p:cNvPr id="8" name="Stat card"/>
          <p:cNvSpPr/>
          <p:nvPr/>
        </p:nvSpPr>
        <p:spPr>
          <a:xfrm>
            <a:off x="9436608" y="2560320"/>
            <a:ext cx="2212848" cy="1234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9619488" y="2651760"/>
            <a:ext cx="1847088" cy="1051560"/>
          </a:xfrm>
          <a:prstGeom prst="rect">
            <a:avLst/>
          </a:prstGeom>
          <a:noFill/>
        </p:spPr>
        <p:txBody>
          <a:bodyPr wrap="square" lIns="0" tIns="0" rIns="0" bIns="0" anchor="ctr">
            <a:spAutoFit/>
          </a:bodyPr>
          <a:lstStyle/>
          <a:p>
            <a:r>
              <a:rPr sz="1400" b="0">
                <a:solidFill>
                  <a:srgbClr val="585858"/>
                </a:solidFill>
                <a:latin typeface="Arial"/>
              </a:rPr>
              <a:t>Chưa nối · mọi ngành</a:t>
            </a:r>
          </a:p>
          <a:p>
            <a:pPr>
              <a:spcBef>
                <a:spcPts val="200"/>
              </a:spcBef>
            </a:pPr>
            <a:r>
              <a:rPr sz="2200" b="1">
                <a:solidFill>
                  <a:srgbClr val="9C0006"/>
                </a:solidFill>
                <a:latin typeface="Arial"/>
              </a:rPr>
              <a:t>3.665 tr</a:t>
            </a:r>
          </a:p>
          <a:p>
            <a:pPr>
              <a:spcBef>
                <a:spcPts val="200"/>
              </a:spcBef>
            </a:pPr>
            <a:r>
              <a:rPr sz="1400" b="0">
                <a:solidFill>
                  <a:srgbClr val="1B2230"/>
                </a:solidFill>
                <a:latin typeface="Arial"/>
              </a:rPr>
              <a:t>= target cả năm</a:t>
            </a:r>
          </a:p>
        </p:txBody>
      </p:sp>
      <p:sp>
        <p:nvSpPr>
          <p:cNvPr id="10" name="Stat card"/>
          <p:cNvSpPr/>
          <p:nvPr/>
        </p:nvSpPr>
        <p:spPr>
          <a:xfrm>
            <a:off x="9436608" y="3931920"/>
            <a:ext cx="2212848" cy="1234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9619488" y="4023359"/>
            <a:ext cx="1847088" cy="1051560"/>
          </a:xfrm>
          <a:prstGeom prst="rect">
            <a:avLst/>
          </a:prstGeom>
          <a:noFill/>
        </p:spPr>
        <p:txBody>
          <a:bodyPr wrap="square" lIns="0" tIns="0" rIns="0" bIns="0" anchor="ctr">
            <a:spAutoFit/>
          </a:bodyPr>
          <a:lstStyle/>
          <a:p>
            <a:r>
              <a:rPr sz="1400" b="0">
                <a:solidFill>
                  <a:srgbClr val="585858"/>
                </a:solidFill>
                <a:latin typeface="Arial"/>
              </a:rPr>
              <a:t>Đã nối · theo miền</a:t>
            </a:r>
          </a:p>
          <a:p>
            <a:pPr>
              <a:spcBef>
                <a:spcPts val="200"/>
              </a:spcBef>
            </a:pPr>
            <a:r>
              <a:rPr sz="1600" b="1">
                <a:solidFill>
                  <a:srgbClr val="2E7D32"/>
                </a:solidFill>
                <a:latin typeface="Arial"/>
              </a:rPr>
              <a:t>1.227 · 1.685 · 753</a:t>
            </a:r>
          </a:p>
          <a:p>
            <a:pPr>
              <a:spcBef>
                <a:spcPts val="200"/>
              </a:spcBef>
            </a:pPr>
            <a:r>
              <a:rPr sz="1400" b="0">
                <a:solidFill>
                  <a:srgbClr val="1B2230"/>
                </a:solidFill>
                <a:latin typeface="Arial"/>
              </a:rPr>
              <a:t>triệu (Bắc · Nam · Trung)</a:t>
            </a:r>
          </a:p>
        </p:txBody>
      </p:sp>
      <p:sp>
        <p:nvSpPr>
          <p:cNvPr id="12" name="TIP callout"/>
          <p:cNvSpPr/>
          <p:nvPr/>
        </p:nvSpPr>
        <p:spPr>
          <a:xfrm>
            <a:off x="1527048" y="5303520"/>
            <a:ext cx="10122408" cy="8686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636776" y="541324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4" name="TIP text"/>
          <p:cNvSpPr txBox="1"/>
          <p:nvPr/>
        </p:nvSpPr>
        <p:spPr>
          <a:xfrm>
            <a:off x="2212848" y="5394959"/>
            <a:ext cx="9326880" cy="685800"/>
          </a:xfrm>
          <a:prstGeom prst="rect">
            <a:avLst/>
          </a:prstGeom>
          <a:noFill/>
        </p:spPr>
        <p:txBody>
          <a:bodyPr wrap="square" lIns="0" tIns="0" rIns="0" bIns="0" anchor="t">
            <a:spAutoFit/>
          </a:bodyPr>
          <a:lstStyle/>
          <a:p>
            <a:r>
              <a:rPr sz="1600" b="0">
                <a:solidFill>
                  <a:srgbClr val="1B2230"/>
                </a:solidFill>
                <a:latin typeface="Arial"/>
              </a:rPr>
              <a:t>Cùng một con số ở MỌI dòng = trường ở Rows không lọc được bảng của trường ở Values. Kiểm tra Diagram View. Target không có cột sản phẩm: ngành hàng lặp lại là ĐÚNG.</a:t>
            </a:r>
          </a:p>
        </p:txBody>
      </p:sp>
      <p:sp>
        <p:nvSpPr>
          <p:cNvPr id="15"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Demo/B5_Demo_Model.xlsx, sheet PV_Grain (Insert → PivotTable → From Data Model); Power Pivot → Diagram View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Nghỉ 10 phút</a:t>
            </a:r>
          </a:p>
        </p:txBody>
      </p:sp>
      <p:sp>
        <p:nvSpPr>
          <p:cNvPr id="3" name="Text Placeholder 2"/>
          <p:cNvSpPr>
            <a:spLocks noGrp="1"/>
          </p:cNvSpPr>
          <p:nvPr>
            <p:ph type="body" idx="1"/>
          </p:nvPr>
        </p:nvSpPr>
        <p:spPr/>
        <p:txBody>
          <a:bodyPr/>
          <a:lstStyle/>
          <a:p>
            <a:r>
              <a:t>Trước khi quay lại: mở Diagram View, kiểm tra đủ 6 relationship</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Calculated Column và Measure: tính từng dòng hay tính từng ô</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Calculated Column · RELATED</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COLUMN VS MEASURE</a:t>
            </a:r>
          </a:p>
        </p:txBody>
      </p:sp>
      <p:graphicFrame>
        <p:nvGraphicFramePr>
          <p:cNvPr id="4" name="Table"/>
          <p:cNvGraphicFramePr>
            <a:graphicFrameLocks noGrp="1"/>
          </p:cNvGraphicFramePr>
          <p:nvPr>
            <p:extLst>
              <p:ext uri="{D42A27DB-BD31-4B8C-83A1-F6EECF244321}">
                <p14:modId xmlns:p14="http://schemas.microsoft.com/office/powerpoint/2010/main" val="779982092"/>
              </p:ext>
            </p:extLst>
          </p:nvPr>
        </p:nvGraphicFramePr>
        <p:xfrm>
          <a:off x="1527048" y="1417320"/>
          <a:ext cx="10122408" cy="1508760"/>
        </p:xfrm>
        <a:graphic>
          <a:graphicData uri="http://schemas.openxmlformats.org/drawingml/2006/table">
            <a:tbl>
              <a:tblPr firstRow="1"/>
              <a:tblGrid>
                <a:gridCol w="4206240">
                  <a:extLst>
                    <a:ext uri="{9D8B030D-6E8A-4147-A177-3AD203B41FA5}">
                      <a16:colId xmlns:a16="http://schemas.microsoft.com/office/drawing/2014/main" val="20000"/>
                    </a:ext>
                  </a:extLst>
                </a:gridCol>
                <a:gridCol w="5916168">
                  <a:extLst>
                    <a:ext uri="{9D8B030D-6E8A-4147-A177-3AD203B41FA5}">
                      <a16:colId xmlns:a16="http://schemas.microsoft.com/office/drawing/2014/main" val="20001"/>
                    </a:ext>
                  </a:extLst>
                </a:gridCol>
              </a:tblGrid>
              <a:tr h="502920">
                <a:tc>
                  <a:txBody>
                    <a:bodyPr/>
                    <a:lstStyle/>
                    <a:p>
                      <a:r>
                        <a:rPr sz="14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502920">
                <a:tc>
                  <a:txBody>
                    <a:bodyPr/>
                    <a:lstStyle/>
                    <a:p>
                      <a:r>
                        <a:rPr sz="1400" b="1">
                          <a:solidFill>
                            <a:srgbClr val="C00000"/>
                          </a:solidFill>
                          <a:latin typeface="Arial"/>
                        </a:rPr>
                        <a:t>Calculated Column</a:t>
                      </a:r>
                      <a:r>
                        <a:rPr sz="1400" b="0">
                          <a:solidFill>
                            <a:srgbClr val="585858"/>
                          </a:solidFill>
                          <a:latin typeface="Arial"/>
                        </a:rPr>
                        <a:t> (Data View → Add Column)</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a:solidFill>
                            <a:srgbClr val="1B2230"/>
                          </a:solidFill>
                          <a:latin typeface="Arial"/>
                        </a:rPr>
                        <a:t>Công </a:t>
                      </a:r>
                      <a:r>
                        <a:rPr sz="1400" b="0" dirty="0" err="1">
                          <a:solidFill>
                            <a:srgbClr val="1B2230"/>
                          </a:solidFill>
                          <a:latin typeface="Arial"/>
                        </a:rPr>
                        <a:t>thức</a:t>
                      </a:r>
                      <a:r>
                        <a:rPr sz="1400" b="0" dirty="0">
                          <a:solidFill>
                            <a:srgbClr val="1B2230"/>
                          </a:solidFill>
                          <a:latin typeface="Arial"/>
                        </a:rPr>
                        <a:t> </a:t>
                      </a:r>
                      <a:r>
                        <a:rPr sz="1400" b="0" dirty="0" err="1">
                          <a:solidFill>
                            <a:srgbClr val="1B2230"/>
                          </a:solidFill>
                          <a:latin typeface="Arial"/>
                        </a:rPr>
                        <a:t>tính</a:t>
                      </a:r>
                      <a:r>
                        <a:rPr sz="1400" b="0" dirty="0">
                          <a:solidFill>
                            <a:srgbClr val="1B2230"/>
                          </a:solidFill>
                          <a:latin typeface="Arial"/>
                        </a:rPr>
                        <a:t> </a:t>
                      </a:r>
                      <a:r>
                        <a:rPr sz="1400" b="0" dirty="0" err="1">
                          <a:solidFill>
                            <a:srgbClr val="1B2230"/>
                          </a:solidFill>
                          <a:latin typeface="Arial"/>
                        </a:rPr>
                        <a:t>cho</a:t>
                      </a:r>
                      <a:r>
                        <a:rPr sz="1400" b="0" dirty="0">
                          <a:solidFill>
                            <a:srgbClr val="1B2230"/>
                          </a:solidFill>
                          <a:latin typeface="Arial"/>
                        </a:rPr>
                        <a:t> TỪNG DÒNG, </a:t>
                      </a:r>
                      <a:r>
                        <a:rPr sz="1400" b="0" dirty="0" err="1">
                          <a:solidFill>
                            <a:srgbClr val="1B2230"/>
                          </a:solidFill>
                          <a:latin typeface="Arial"/>
                        </a:rPr>
                        <a:t>kết</a:t>
                      </a:r>
                      <a:r>
                        <a:rPr sz="1400" b="0" dirty="0">
                          <a:solidFill>
                            <a:srgbClr val="1B2230"/>
                          </a:solidFill>
                          <a:latin typeface="Arial"/>
                        </a:rPr>
                        <a:t> </a:t>
                      </a:r>
                      <a:r>
                        <a:rPr sz="1400" b="0" dirty="0" err="1">
                          <a:solidFill>
                            <a:srgbClr val="1B2230"/>
                          </a:solidFill>
                          <a:latin typeface="Arial"/>
                        </a:rPr>
                        <a:t>quả</a:t>
                      </a:r>
                      <a:r>
                        <a:rPr sz="1400" b="0" dirty="0">
                          <a:solidFill>
                            <a:srgbClr val="1B2230"/>
                          </a:solidFill>
                          <a:latin typeface="Arial"/>
                        </a:rPr>
                        <a:t> LƯU </a:t>
                      </a:r>
                      <a:r>
                        <a:rPr sz="1400" b="0" dirty="0" err="1">
                          <a:solidFill>
                            <a:srgbClr val="1B2230"/>
                          </a:solidFill>
                          <a:latin typeface="Arial"/>
                        </a:rPr>
                        <a:t>thành</a:t>
                      </a:r>
                      <a:r>
                        <a:rPr sz="1400" b="0" dirty="0">
                          <a:solidFill>
                            <a:srgbClr val="1B2230"/>
                          </a:solidFill>
                          <a:latin typeface="Arial"/>
                        </a:rPr>
                        <a:t> </a:t>
                      </a:r>
                      <a:r>
                        <a:rPr sz="1400" b="0" dirty="0" err="1">
                          <a:solidFill>
                            <a:srgbClr val="1B2230"/>
                          </a:solidFill>
                          <a:latin typeface="Arial"/>
                        </a:rPr>
                        <a:t>một</a:t>
                      </a:r>
                      <a:r>
                        <a:rPr sz="1400" b="0" dirty="0">
                          <a:solidFill>
                            <a:srgbClr val="1B2230"/>
                          </a:solidFill>
                          <a:latin typeface="Arial"/>
                        </a:rPr>
                        <a:t> </a:t>
                      </a:r>
                      <a:r>
                        <a:rPr sz="1400" b="0" dirty="0" err="1">
                          <a:solidFill>
                            <a:srgbClr val="1B2230"/>
                          </a:solidFill>
                          <a:latin typeface="Arial"/>
                        </a:rPr>
                        <a:t>cột</a:t>
                      </a:r>
                      <a:r>
                        <a:rPr sz="1400" b="0" dirty="0">
                          <a:solidFill>
                            <a:srgbClr val="1B2230"/>
                          </a:solidFill>
                          <a:latin typeface="Arial"/>
                        </a:rPr>
                        <a:t> </a:t>
                      </a:r>
                      <a:r>
                        <a:rPr sz="1400" b="0" dirty="0" err="1">
                          <a:solidFill>
                            <a:srgbClr val="1B2230"/>
                          </a:solidFill>
                          <a:latin typeface="Arial"/>
                        </a:rPr>
                        <a:t>của</a:t>
                      </a:r>
                      <a:r>
                        <a:rPr sz="1400" b="0" dirty="0">
                          <a:solidFill>
                            <a:srgbClr val="1B2230"/>
                          </a:solidFill>
                          <a:latin typeface="Arial"/>
                        </a:rPr>
                        <a:t> </a:t>
                      </a:r>
                      <a:r>
                        <a:rPr sz="1400" b="0" dirty="0" err="1">
                          <a:solidFill>
                            <a:srgbClr val="1B2230"/>
                          </a:solidFill>
                          <a:latin typeface="Arial"/>
                        </a:rPr>
                        <a:t>bảng</a:t>
                      </a:r>
                      <a:endParaRPr sz="14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502920">
                <a:tc>
                  <a:txBody>
                    <a:bodyPr/>
                    <a:lstStyle/>
                    <a:p>
                      <a:r>
                        <a:rPr sz="1400" b="1" dirty="0">
                          <a:solidFill>
                            <a:srgbClr val="C00000"/>
                          </a:solidFill>
                          <a:latin typeface="Arial"/>
                        </a:rPr>
                        <a:t>RELATED(&lt;</a:t>
                      </a:r>
                      <a:r>
                        <a:rPr sz="1400" b="1" dirty="0" err="1">
                          <a:solidFill>
                            <a:srgbClr val="C00000"/>
                          </a:solidFill>
                          <a:latin typeface="Arial"/>
                        </a:rPr>
                        <a:t>cột</a:t>
                      </a:r>
                      <a:r>
                        <a:rPr sz="1400" b="1" dirty="0">
                          <a:solidFill>
                            <a:srgbClr val="C00000"/>
                          </a:solidFill>
                          <a:latin typeface="Arial"/>
                        </a:rPr>
                        <a:t> ở </a:t>
                      </a:r>
                      <a:r>
                        <a:rPr sz="1400" b="1" dirty="0" err="1">
                          <a:solidFill>
                            <a:srgbClr val="C00000"/>
                          </a:solidFill>
                          <a:latin typeface="Arial"/>
                        </a:rPr>
                        <a:t>bảng</a:t>
                      </a:r>
                      <a:r>
                        <a:rPr sz="1400" b="1" dirty="0">
                          <a:solidFill>
                            <a:srgbClr val="C00000"/>
                          </a:solidFill>
                          <a:latin typeface="Arial"/>
                        </a:rPr>
                        <a:t> lookup&gt;)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err="1">
                          <a:solidFill>
                            <a:srgbClr val="1B2230"/>
                          </a:solidFill>
                          <a:latin typeface="Arial"/>
                        </a:rPr>
                        <a:t>Lấy</a:t>
                      </a:r>
                      <a:r>
                        <a:rPr sz="1400" b="0" dirty="0">
                          <a:solidFill>
                            <a:srgbClr val="1B2230"/>
                          </a:solidFill>
                          <a:latin typeface="Arial"/>
                        </a:rPr>
                        <a:t> </a:t>
                      </a:r>
                      <a:r>
                        <a:rPr sz="1400" b="0" dirty="0" err="1">
                          <a:solidFill>
                            <a:srgbClr val="1B2230"/>
                          </a:solidFill>
                          <a:latin typeface="Arial"/>
                        </a:rPr>
                        <a:t>giá</a:t>
                      </a:r>
                      <a:r>
                        <a:rPr sz="1400" b="0" dirty="0">
                          <a:solidFill>
                            <a:srgbClr val="1B2230"/>
                          </a:solidFill>
                          <a:latin typeface="Arial"/>
                        </a:rPr>
                        <a:t> </a:t>
                      </a:r>
                      <a:r>
                        <a:rPr sz="1400" b="0" dirty="0" err="1">
                          <a:solidFill>
                            <a:srgbClr val="1B2230"/>
                          </a:solidFill>
                          <a:latin typeface="Arial"/>
                        </a:rPr>
                        <a:t>trị</a:t>
                      </a:r>
                      <a:r>
                        <a:rPr sz="1400" b="0" dirty="0">
                          <a:solidFill>
                            <a:srgbClr val="1B2230"/>
                          </a:solidFill>
                          <a:latin typeface="Arial"/>
                        </a:rPr>
                        <a:t> </a:t>
                      </a:r>
                      <a:r>
                        <a:rPr sz="1400" b="0" dirty="0" err="1">
                          <a:solidFill>
                            <a:srgbClr val="1B2230"/>
                          </a:solidFill>
                          <a:latin typeface="Arial"/>
                        </a:rPr>
                        <a:t>từ</a:t>
                      </a:r>
                      <a:r>
                        <a:rPr sz="1400" b="0" dirty="0">
                          <a:solidFill>
                            <a:srgbClr val="1B2230"/>
                          </a:solidFill>
                          <a:latin typeface="Arial"/>
                        </a:rPr>
                        <a:t> </a:t>
                      </a:r>
                      <a:r>
                        <a:rPr sz="1400" b="0" dirty="0" err="1">
                          <a:solidFill>
                            <a:srgbClr val="1B2230"/>
                          </a:solidFill>
                          <a:latin typeface="Arial"/>
                        </a:rPr>
                        <a:t>bảng</a:t>
                      </a:r>
                      <a:r>
                        <a:rPr sz="1400" b="0" dirty="0">
                          <a:solidFill>
                            <a:srgbClr val="1B2230"/>
                          </a:solidFill>
                          <a:latin typeface="Arial"/>
                        </a:rPr>
                        <a:t> lookup </a:t>
                      </a:r>
                      <a:r>
                        <a:rPr sz="1400" b="0" dirty="0" err="1">
                          <a:solidFill>
                            <a:srgbClr val="1B2230"/>
                          </a:solidFill>
                          <a:latin typeface="Arial"/>
                        </a:rPr>
                        <a:t>theo</a:t>
                      </a:r>
                      <a:r>
                        <a:rPr sz="1400" b="0" dirty="0">
                          <a:solidFill>
                            <a:srgbClr val="1B2230"/>
                          </a:solidFill>
                          <a:latin typeface="Arial"/>
                        </a:rPr>
                        <a:t> </a:t>
                      </a:r>
                      <a:r>
                        <a:rPr sz="1400" b="1" dirty="0">
                          <a:solidFill>
                            <a:srgbClr val="1B2230"/>
                          </a:solidFill>
                          <a:latin typeface="Arial"/>
                        </a:rPr>
                        <a:t>relationship</a:t>
                      </a:r>
                      <a:r>
                        <a:rPr sz="1400" b="0" dirty="0">
                          <a:solidFill>
                            <a:srgbClr val="1B2230"/>
                          </a:solidFill>
                          <a:latin typeface="Arial"/>
                        </a:rPr>
                        <a:t>, XLOOKUP </a:t>
                      </a:r>
                      <a:r>
                        <a:rPr sz="1400" b="0" dirty="0" err="1">
                          <a:solidFill>
                            <a:srgbClr val="1B2230"/>
                          </a:solidFill>
                          <a:latin typeface="Arial"/>
                        </a:rPr>
                        <a:t>của</a:t>
                      </a:r>
                      <a:r>
                        <a:rPr sz="1400" b="0" dirty="0">
                          <a:solidFill>
                            <a:srgbClr val="1B2230"/>
                          </a:solidFill>
                          <a:latin typeface="Arial"/>
                        </a:rPr>
                        <a:t> Data Model</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bl>
          </a:graphicData>
        </a:graphic>
      </p:graphicFrame>
      <p:sp>
        <p:nvSpPr>
          <p:cNvPr id="5" name="Formula bar"/>
          <p:cNvSpPr/>
          <p:nvPr/>
        </p:nvSpPr>
        <p:spPr>
          <a:xfrm>
            <a:off x="1527048" y="306324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p:cNvSpPr txBox="1"/>
          <p:nvPr/>
        </p:nvSpPr>
        <p:spPr>
          <a:xfrm>
            <a:off x="1618488" y="306324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7" name="Formula"/>
          <p:cNvSpPr txBox="1"/>
          <p:nvPr/>
        </p:nvSpPr>
        <p:spPr>
          <a:xfrm>
            <a:off x="2075688" y="3063240"/>
            <a:ext cx="9482328" cy="411480"/>
          </a:xfrm>
          <a:prstGeom prst="rect">
            <a:avLst/>
          </a:prstGeom>
          <a:noFill/>
        </p:spPr>
        <p:txBody>
          <a:bodyPr wrap="square" lIns="0" tIns="0" rIns="0" bIns="0" anchor="ctr">
            <a:spAutoFit/>
          </a:bodyPr>
          <a:lstStyle/>
          <a:p>
            <a:r>
              <a:rPr sz="1600" b="0">
                <a:solidFill>
                  <a:srgbClr val="1B2230"/>
                </a:solidFill>
                <a:latin typeface="Arial"/>
              </a:rPr>
              <a:t>= Sales[Quantity] * RELATED(Product[Unit_Cost])        → đổi tên cột: COGS</a:t>
            </a:r>
          </a:p>
        </p:txBody>
      </p:sp>
      <p:pic>
        <p:nvPicPr>
          <p:cNvPr id="8" name="Screenshot S15_cot_cogs" descr="S15_cot_cogs.png"/>
          <p:cNvPicPr>
            <a:picLocks noChangeAspect="1"/>
          </p:cNvPicPr>
          <p:nvPr/>
        </p:nvPicPr>
        <p:blipFill>
          <a:blip r:embed="rId3"/>
          <a:stretch>
            <a:fillRect/>
          </a:stretch>
        </p:blipFill>
        <p:spPr>
          <a:xfrm>
            <a:off x="1527048" y="3672118"/>
            <a:ext cx="6309360" cy="1571164"/>
          </a:xfrm>
          <a:prstGeom prst="rect">
            <a:avLst/>
          </a:prstGeom>
          <a:ln w="9525">
            <a:solidFill>
              <a:srgbClr val="D9DEE8"/>
            </a:solidFill>
          </a:ln>
        </p:spPr>
      </p:pic>
      <p:sp>
        <p:nvSpPr>
          <p:cNvPr id="9" name="TIP callout"/>
          <p:cNvSpPr/>
          <p:nvPr/>
        </p:nvSpPr>
        <p:spPr>
          <a:xfrm>
            <a:off x="8001000" y="3611880"/>
            <a:ext cx="3648456" cy="169164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110727" y="37216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1" name="TIP text"/>
          <p:cNvSpPr txBox="1"/>
          <p:nvPr/>
        </p:nvSpPr>
        <p:spPr>
          <a:xfrm>
            <a:off x="8686800" y="3703320"/>
            <a:ext cx="2852928" cy="1508760"/>
          </a:xfrm>
          <a:prstGeom prst="rect">
            <a:avLst/>
          </a:prstGeom>
          <a:noFill/>
        </p:spPr>
        <p:txBody>
          <a:bodyPr wrap="square" lIns="0" tIns="0" rIns="0" bIns="0" anchor="t">
            <a:spAutoFit/>
          </a:bodyPr>
          <a:lstStyle/>
          <a:p>
            <a:r>
              <a:rPr sz="1600" b="0">
                <a:solidFill>
                  <a:srgbClr val="1B2230"/>
                </a:solidFill>
                <a:latin typeface="Arial"/>
              </a:rPr>
              <a:t>Không có địa chỉ ô kiểu A1: công thức viết theo tên cột, áp cho cả cột. Đổi tên: double-click tiêu đề.</a:t>
            </a:r>
          </a:p>
        </p:txBody>
      </p:sp>
      <p:sp>
        <p:nvSpPr>
          <p:cNvPr id="12" name="PRO 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RO TIP chip"/>
          <p:cNvSpPr/>
          <p:nvPr/>
        </p:nvSpPr>
        <p:spPr>
          <a:xfrm>
            <a:off x="1636776" y="550468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4" name="PRO TIP text"/>
          <p:cNvSpPr txBox="1"/>
          <p:nvPr/>
        </p:nvSpPr>
        <p:spPr>
          <a:xfrm>
            <a:off x="2734056" y="5486400"/>
            <a:ext cx="8805672" cy="548640"/>
          </a:xfrm>
          <a:prstGeom prst="rect">
            <a:avLst/>
          </a:prstGeom>
          <a:noFill/>
        </p:spPr>
        <p:txBody>
          <a:bodyPr wrap="square" lIns="0" tIns="0" rIns="0" bIns="0" anchor="t">
            <a:spAutoFit/>
          </a:bodyPr>
          <a:lstStyle/>
          <a:p>
            <a:r>
              <a:rPr sz="1600" b="0">
                <a:solidFill>
                  <a:srgbClr val="1B2230"/>
                </a:solidFill>
                <a:latin typeface="Arial"/>
              </a:rPr>
              <a:t>RELATED chỉ chạy khi ĐÃ CÓ relationship, và đi từ fact sang lookup (phía "nhiều" sang phía "một").</a:t>
            </a:r>
          </a:p>
        </p:txBody>
      </p:sp>
      <p:sp>
        <p:nvSpPr>
          <p:cNvPr id="15"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Demo/B5_Demo_DAX.xlsx, Power Pivot → Data View, bảng Sales, cột COGS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Vì sao KPI tỷ lệ phải là measure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COLUMN VS MEASURE</a:t>
            </a:r>
          </a:p>
        </p:txBody>
      </p:sp>
      <p:sp>
        <p:nvSpPr>
          <p:cNvPr id="4" name="Formula bar"/>
          <p:cNvSpPr/>
          <p:nvPr/>
        </p:nvSpPr>
        <p:spPr>
          <a:xfrm>
            <a:off x="1527048" y="141732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618488" y="141732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6" name="Formula"/>
          <p:cNvSpPr txBox="1"/>
          <p:nvPr/>
        </p:nvSpPr>
        <p:spPr>
          <a:xfrm>
            <a:off x="2075688" y="1417320"/>
            <a:ext cx="9482328" cy="411480"/>
          </a:xfrm>
          <a:prstGeom prst="rect">
            <a:avLst/>
          </a:prstGeom>
          <a:noFill/>
        </p:spPr>
        <p:txBody>
          <a:bodyPr wrap="square" lIns="0" tIns="0" rIns="0" bIns="0" anchor="ctr">
            <a:spAutoFit/>
          </a:bodyPr>
          <a:lstStyle/>
          <a:p>
            <a:r>
              <a:rPr sz="1500" b="0">
                <a:solidFill>
                  <a:srgbClr val="1B2230"/>
                </a:solidFill>
                <a:latin typeface="Arial"/>
              </a:rPr>
              <a:t>GM_Dong = DIVIDE(Sales[Revenue] - Sales[COGS], Sales[Revenue])      (calculated column, thêm tạm)</a:t>
            </a:r>
          </a:p>
        </p:txBody>
      </p:sp>
      <p:graphicFrame>
        <p:nvGraphicFramePr>
          <p:cNvPr id="7" name="Table"/>
          <p:cNvGraphicFramePr>
            <a:graphicFrameLocks noGrp="1"/>
          </p:cNvGraphicFramePr>
          <p:nvPr/>
        </p:nvGraphicFramePr>
        <p:xfrm>
          <a:off x="1527048" y="1965960"/>
          <a:ext cx="6309360" cy="2097024"/>
        </p:xfrm>
        <a:graphic>
          <a:graphicData uri="http://schemas.openxmlformats.org/drawingml/2006/table">
            <a:tbl>
              <a:tblPr firstRow="1"/>
              <a:tblGrid>
                <a:gridCol w="18288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411480">
                <a:tc>
                  <a:txBody>
                    <a:bodyPr/>
                    <a:lstStyle/>
                    <a:p>
                      <a:endParaRP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300" b="1">
                          <a:solidFill>
                            <a:srgbClr val="FFFFFF"/>
                          </a:solidFill>
                          <a:latin typeface="Arial"/>
                        </a:rPr>
                        <a:t>Calculated Column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300" b="1">
                          <a:solidFill>
                            <a:srgbClr val="FFFFFF"/>
                          </a:solidFill>
                          <a:latin typeface="Arial"/>
                        </a:rPr>
                        <a:t>Measure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11480">
                <a:tc>
                  <a:txBody>
                    <a:bodyPr/>
                    <a:lstStyle/>
                    <a:p>
                      <a:r>
                        <a:rPr sz="1300" b="1">
                          <a:solidFill>
                            <a:srgbClr val="1B2230"/>
                          </a:solidFill>
                          <a:latin typeface="Arial"/>
                        </a:rPr>
                        <a:t>Tính theo</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err="1">
                          <a:solidFill>
                            <a:srgbClr val="1B2230"/>
                          </a:solidFill>
                          <a:latin typeface="Arial"/>
                        </a:rPr>
                        <a:t>từng</a:t>
                      </a:r>
                      <a:r>
                        <a:rPr sz="1300" b="0" dirty="0">
                          <a:solidFill>
                            <a:srgbClr val="1B2230"/>
                          </a:solidFill>
                          <a:latin typeface="Arial"/>
                        </a:rPr>
                        <a:t> </a:t>
                      </a:r>
                      <a:r>
                        <a:rPr sz="1300" b="0" dirty="0" err="1">
                          <a:solidFill>
                            <a:srgbClr val="1B2230"/>
                          </a:solidFill>
                          <a:latin typeface="Arial"/>
                        </a:rPr>
                        <a:t>dòng</a:t>
                      </a:r>
                      <a:r>
                        <a:rPr sz="1300" b="0" dirty="0">
                          <a:solidFill>
                            <a:srgbClr val="1B2230"/>
                          </a:solidFill>
                          <a:latin typeface="Arial"/>
                        </a:rPr>
                        <a:t> (row context)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err="1">
                          <a:solidFill>
                            <a:srgbClr val="1B2230"/>
                          </a:solidFill>
                          <a:latin typeface="Arial"/>
                        </a:rPr>
                        <a:t>từng</a:t>
                      </a:r>
                      <a:r>
                        <a:rPr sz="1300" b="0" dirty="0">
                          <a:solidFill>
                            <a:srgbClr val="1B2230"/>
                          </a:solidFill>
                          <a:latin typeface="Arial"/>
                        </a:rPr>
                        <a:t> ô Pivot (filter context)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11480">
                <a:tc>
                  <a:txBody>
                    <a:bodyPr/>
                    <a:lstStyle/>
                    <a:p>
                      <a:r>
                        <a:rPr sz="1300" b="1">
                          <a:solidFill>
                            <a:srgbClr val="1B2230"/>
                          </a:solidFill>
                          <a:latin typeface="Arial"/>
                        </a:rPr>
                        <a:t>Lưu trong mô hình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err="1">
                          <a:solidFill>
                            <a:srgbClr val="1B2230"/>
                          </a:solidFill>
                          <a:latin typeface="Arial"/>
                        </a:rPr>
                        <a:t>có</a:t>
                      </a:r>
                      <a:r>
                        <a:rPr sz="1300" b="0" dirty="0">
                          <a:solidFill>
                            <a:srgbClr val="1B2230"/>
                          </a:solidFill>
                          <a:latin typeface="Arial"/>
                        </a:rPr>
                        <a:t>: </a:t>
                      </a:r>
                      <a:r>
                        <a:rPr sz="1300" b="0" dirty="0" err="1">
                          <a:solidFill>
                            <a:srgbClr val="1B2230"/>
                          </a:solidFill>
                          <a:latin typeface="Arial"/>
                        </a:rPr>
                        <a:t>tốn</a:t>
                      </a:r>
                      <a:r>
                        <a:rPr sz="1300" b="0" dirty="0">
                          <a:solidFill>
                            <a:srgbClr val="1B2230"/>
                          </a:solidFill>
                          <a:latin typeface="Arial"/>
                        </a:rPr>
                        <a:t> </a:t>
                      </a:r>
                      <a:r>
                        <a:rPr sz="1300" b="0" dirty="0" err="1">
                          <a:solidFill>
                            <a:srgbClr val="1B2230"/>
                          </a:solidFill>
                          <a:latin typeface="Arial"/>
                        </a:rPr>
                        <a:t>bộ</a:t>
                      </a:r>
                      <a:r>
                        <a:rPr sz="1300" b="0" dirty="0">
                          <a:solidFill>
                            <a:srgbClr val="1B2230"/>
                          </a:solidFill>
                          <a:latin typeface="Arial"/>
                        </a:rPr>
                        <a:t> </a:t>
                      </a:r>
                      <a:r>
                        <a:rPr sz="1300" b="0" dirty="0" err="1">
                          <a:solidFill>
                            <a:srgbClr val="1B2230"/>
                          </a:solidFill>
                          <a:latin typeface="Arial"/>
                        </a:rPr>
                        <a:t>nhớ</a:t>
                      </a:r>
                      <a:endParaRPr sz="13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err="1">
                          <a:solidFill>
                            <a:srgbClr val="1B2230"/>
                          </a:solidFill>
                          <a:latin typeface="Arial"/>
                        </a:rPr>
                        <a:t>không</a:t>
                      </a:r>
                      <a:r>
                        <a:rPr sz="1300" b="0" dirty="0">
                          <a:solidFill>
                            <a:srgbClr val="1B2230"/>
                          </a:solidFill>
                          <a:latin typeface="Arial"/>
                        </a:rPr>
                        <a:t>: </a:t>
                      </a:r>
                      <a:r>
                        <a:rPr sz="1300" b="0" dirty="0" err="1">
                          <a:solidFill>
                            <a:srgbClr val="1B2230"/>
                          </a:solidFill>
                          <a:latin typeface="Arial"/>
                        </a:rPr>
                        <a:t>tính</a:t>
                      </a:r>
                      <a:r>
                        <a:rPr sz="1300" b="0" dirty="0">
                          <a:solidFill>
                            <a:srgbClr val="1B2230"/>
                          </a:solidFill>
                          <a:latin typeface="Arial"/>
                        </a:rPr>
                        <a:t> </a:t>
                      </a:r>
                      <a:r>
                        <a:rPr sz="1300" b="0" dirty="0" err="1">
                          <a:solidFill>
                            <a:srgbClr val="1B2230"/>
                          </a:solidFill>
                          <a:latin typeface="Arial"/>
                        </a:rPr>
                        <a:t>khi</a:t>
                      </a:r>
                      <a:r>
                        <a:rPr sz="1300" b="0" dirty="0">
                          <a:solidFill>
                            <a:srgbClr val="1B2230"/>
                          </a:solidFill>
                          <a:latin typeface="Arial"/>
                        </a:rPr>
                        <a:t> </a:t>
                      </a:r>
                      <a:r>
                        <a:rPr sz="1300" b="0" dirty="0" err="1">
                          <a:solidFill>
                            <a:srgbClr val="1B2230"/>
                          </a:solidFill>
                          <a:latin typeface="Arial"/>
                        </a:rPr>
                        <a:t>cần</a:t>
                      </a:r>
                      <a:endParaRPr sz="13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11480">
                <a:tc>
                  <a:txBody>
                    <a:bodyPr/>
                    <a:lstStyle/>
                    <a:p>
                      <a:r>
                        <a:rPr sz="1300" b="1">
                          <a:solidFill>
                            <a:srgbClr val="1B2230"/>
                          </a:solidFill>
                          <a:latin typeface="Arial"/>
                        </a:rPr>
                        <a:t>Dùng ở</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a:solidFill>
                            <a:srgbClr val="1B2230"/>
                          </a:solidFill>
                          <a:latin typeface="Arial"/>
                        </a:rPr>
                        <a:t>Rows, Columns, Filters, Slicer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err="1">
                          <a:solidFill>
                            <a:srgbClr val="1B2230"/>
                          </a:solidFill>
                          <a:latin typeface="Arial"/>
                        </a:rPr>
                        <a:t>chỉ</a:t>
                      </a:r>
                      <a:r>
                        <a:rPr sz="1300" b="0" dirty="0">
                          <a:solidFill>
                            <a:srgbClr val="1B2230"/>
                          </a:solidFill>
                          <a:latin typeface="Arial"/>
                        </a:rPr>
                        <a:t> ở Values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411480">
                <a:tc>
                  <a:txBody>
                    <a:bodyPr/>
                    <a:lstStyle/>
                    <a:p>
                      <a:r>
                        <a:rPr sz="1300" b="1">
                          <a:solidFill>
                            <a:srgbClr val="1B2230"/>
                          </a:solidFill>
                          <a:latin typeface="Arial"/>
                        </a:rPr>
                        <a:t>Hợp với</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err="1">
                          <a:solidFill>
                            <a:srgbClr val="1B2230"/>
                          </a:solidFill>
                          <a:latin typeface="Arial"/>
                        </a:rPr>
                        <a:t>thuộc</a:t>
                      </a:r>
                      <a:r>
                        <a:rPr sz="1300" b="0" dirty="0">
                          <a:solidFill>
                            <a:srgbClr val="1B2230"/>
                          </a:solidFill>
                          <a:latin typeface="Arial"/>
                        </a:rPr>
                        <a:t> </a:t>
                      </a:r>
                      <a:r>
                        <a:rPr sz="1300" b="0" dirty="0" err="1">
                          <a:solidFill>
                            <a:srgbClr val="1B2230"/>
                          </a:solidFill>
                          <a:latin typeface="Arial"/>
                        </a:rPr>
                        <a:t>tính</a:t>
                      </a:r>
                      <a:r>
                        <a:rPr sz="1300" b="0" dirty="0">
                          <a:solidFill>
                            <a:srgbClr val="1B2230"/>
                          </a:solidFill>
                          <a:latin typeface="Arial"/>
                        </a:rPr>
                        <a:t> </a:t>
                      </a:r>
                      <a:r>
                        <a:rPr sz="1300" b="0" dirty="0" err="1">
                          <a:solidFill>
                            <a:srgbClr val="1B2230"/>
                          </a:solidFill>
                          <a:latin typeface="Arial"/>
                        </a:rPr>
                        <a:t>của</a:t>
                      </a:r>
                      <a:r>
                        <a:rPr sz="1300" b="0" dirty="0">
                          <a:solidFill>
                            <a:srgbClr val="1B2230"/>
                          </a:solidFill>
                          <a:latin typeface="Arial"/>
                        </a:rPr>
                        <a:t> </a:t>
                      </a:r>
                      <a:r>
                        <a:rPr sz="1300" b="0" dirty="0" err="1">
                          <a:solidFill>
                            <a:srgbClr val="1B2230"/>
                          </a:solidFill>
                          <a:latin typeface="Arial"/>
                        </a:rPr>
                        <a:t>một</a:t>
                      </a:r>
                      <a:r>
                        <a:rPr sz="1300" b="0" dirty="0">
                          <a:solidFill>
                            <a:srgbClr val="1B2230"/>
                          </a:solidFill>
                          <a:latin typeface="Arial"/>
                        </a:rPr>
                        <a:t> </a:t>
                      </a:r>
                      <a:r>
                        <a:rPr sz="1300" b="0" dirty="0" err="1">
                          <a:solidFill>
                            <a:srgbClr val="1B2230"/>
                          </a:solidFill>
                          <a:latin typeface="Arial"/>
                        </a:rPr>
                        <a:t>dòng</a:t>
                      </a:r>
                      <a:endParaRPr sz="13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a:solidFill>
                            <a:srgbClr val="1B2230"/>
                          </a:solidFill>
                          <a:latin typeface="Arial"/>
                        </a:rPr>
                        <a:t>KPI, </a:t>
                      </a:r>
                      <a:r>
                        <a:rPr sz="1300" b="0" dirty="0" err="1">
                          <a:solidFill>
                            <a:srgbClr val="1B2230"/>
                          </a:solidFill>
                          <a:latin typeface="Arial"/>
                        </a:rPr>
                        <a:t>tổng</a:t>
                      </a:r>
                      <a:r>
                        <a:rPr sz="1300" b="0" dirty="0">
                          <a:solidFill>
                            <a:srgbClr val="1B2230"/>
                          </a:solidFill>
                          <a:latin typeface="Arial"/>
                        </a:rPr>
                        <a:t>, TỶ LỆ</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bl>
          </a:graphicData>
        </a:graphic>
      </p:graphicFrame>
      <p:sp>
        <p:nvSpPr>
          <p:cNvPr id="8" name="Stat card"/>
          <p:cNvSpPr/>
          <p:nvPr/>
        </p:nvSpPr>
        <p:spPr>
          <a:xfrm>
            <a:off x="1527048" y="4206240"/>
            <a:ext cx="2011680" cy="12801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1709928" y="4297679"/>
            <a:ext cx="1645920" cy="1097280"/>
          </a:xfrm>
          <a:prstGeom prst="rect">
            <a:avLst/>
          </a:prstGeom>
          <a:noFill/>
        </p:spPr>
        <p:txBody>
          <a:bodyPr wrap="square" lIns="0" tIns="0" rIns="0" bIns="0" anchor="ctr">
            <a:spAutoFit/>
          </a:bodyPr>
          <a:lstStyle/>
          <a:p>
            <a:r>
              <a:rPr sz="1400" b="0" dirty="0">
                <a:solidFill>
                  <a:srgbClr val="585858"/>
                </a:solidFill>
                <a:latin typeface="Arial"/>
              </a:rPr>
              <a:t>Average of </a:t>
            </a:r>
            <a:r>
              <a:rPr sz="1400" b="0" dirty="0" err="1">
                <a:solidFill>
                  <a:srgbClr val="585858"/>
                </a:solidFill>
                <a:latin typeface="Arial"/>
              </a:rPr>
              <a:t>GM_Dong</a:t>
            </a:r>
            <a:endParaRPr sz="1400" b="0" dirty="0">
              <a:solidFill>
                <a:srgbClr val="585858"/>
              </a:solidFill>
              <a:latin typeface="Arial"/>
            </a:endParaRPr>
          </a:p>
          <a:p>
            <a:pPr>
              <a:spcBef>
                <a:spcPts val="200"/>
              </a:spcBef>
            </a:pPr>
            <a:r>
              <a:rPr sz="2400" b="1" dirty="0">
                <a:solidFill>
                  <a:srgbClr val="9C0006"/>
                </a:solidFill>
                <a:latin typeface="Arial"/>
              </a:rPr>
              <a:t>33,77%</a:t>
            </a:r>
          </a:p>
          <a:p>
            <a:pPr>
              <a:spcBef>
                <a:spcPts val="200"/>
              </a:spcBef>
            </a:pPr>
            <a:r>
              <a:rPr sz="1400" b="0" dirty="0" err="1">
                <a:solidFill>
                  <a:srgbClr val="1B2230"/>
                </a:solidFill>
                <a:latin typeface="Arial"/>
              </a:rPr>
              <a:t>trung</a:t>
            </a:r>
            <a:r>
              <a:rPr sz="1400" b="0" dirty="0">
                <a:solidFill>
                  <a:srgbClr val="1B2230"/>
                </a:solidFill>
                <a:latin typeface="Arial"/>
              </a:rPr>
              <a:t> </a:t>
            </a:r>
            <a:r>
              <a:rPr sz="1400" b="0" dirty="0" err="1">
                <a:solidFill>
                  <a:srgbClr val="1B2230"/>
                </a:solidFill>
                <a:latin typeface="Arial"/>
              </a:rPr>
              <a:t>bình</a:t>
            </a:r>
            <a:r>
              <a:rPr sz="1400" b="0" dirty="0">
                <a:solidFill>
                  <a:srgbClr val="1B2230"/>
                </a:solidFill>
                <a:latin typeface="Arial"/>
              </a:rPr>
              <a:t> </a:t>
            </a:r>
            <a:r>
              <a:rPr sz="1400" b="0" dirty="0" err="1">
                <a:solidFill>
                  <a:srgbClr val="1B2230"/>
                </a:solidFill>
                <a:latin typeface="Arial"/>
              </a:rPr>
              <a:t>của</a:t>
            </a:r>
            <a:r>
              <a:rPr sz="1400" b="0" dirty="0">
                <a:solidFill>
                  <a:srgbClr val="1B2230"/>
                </a:solidFill>
                <a:latin typeface="Arial"/>
              </a:rPr>
              <a:t> </a:t>
            </a:r>
            <a:r>
              <a:rPr sz="1400" b="0" dirty="0" err="1">
                <a:solidFill>
                  <a:srgbClr val="1B2230"/>
                </a:solidFill>
                <a:latin typeface="Arial"/>
              </a:rPr>
              <a:t>tỷ</a:t>
            </a:r>
            <a:r>
              <a:rPr sz="1400" b="0" dirty="0">
                <a:solidFill>
                  <a:srgbClr val="1B2230"/>
                </a:solidFill>
                <a:latin typeface="Arial"/>
              </a:rPr>
              <a:t> </a:t>
            </a:r>
            <a:r>
              <a:rPr sz="1400" b="0" dirty="0" err="1">
                <a:solidFill>
                  <a:srgbClr val="1B2230"/>
                </a:solidFill>
                <a:latin typeface="Arial"/>
              </a:rPr>
              <a:t>lệ</a:t>
            </a:r>
            <a:endParaRPr sz="1400" b="0" dirty="0">
              <a:solidFill>
                <a:srgbClr val="1B2230"/>
              </a:solidFill>
              <a:latin typeface="Arial"/>
            </a:endParaRPr>
          </a:p>
        </p:txBody>
      </p:sp>
      <p:sp>
        <p:nvSpPr>
          <p:cNvPr id="10" name="Stat card"/>
          <p:cNvSpPr/>
          <p:nvPr/>
        </p:nvSpPr>
        <p:spPr>
          <a:xfrm>
            <a:off x="3675887" y="4206240"/>
            <a:ext cx="2011680" cy="12801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3858768" y="4297679"/>
            <a:ext cx="1645920" cy="1097280"/>
          </a:xfrm>
          <a:prstGeom prst="rect">
            <a:avLst/>
          </a:prstGeom>
          <a:noFill/>
        </p:spPr>
        <p:txBody>
          <a:bodyPr wrap="square" lIns="0" tIns="0" rIns="0" bIns="0" anchor="ctr">
            <a:spAutoFit/>
          </a:bodyPr>
          <a:lstStyle/>
          <a:p>
            <a:r>
              <a:rPr sz="1400" b="0" dirty="0">
                <a:solidFill>
                  <a:srgbClr val="585858"/>
                </a:solidFill>
                <a:latin typeface="Arial"/>
              </a:rPr>
              <a:t>Sum of </a:t>
            </a:r>
            <a:r>
              <a:rPr sz="1400" b="0" dirty="0" err="1">
                <a:solidFill>
                  <a:srgbClr val="585858"/>
                </a:solidFill>
                <a:latin typeface="Arial"/>
              </a:rPr>
              <a:t>GM_Dong</a:t>
            </a:r>
            <a:endParaRPr sz="1400" b="0" dirty="0">
              <a:solidFill>
                <a:srgbClr val="585858"/>
              </a:solidFill>
              <a:latin typeface="Arial"/>
            </a:endParaRPr>
          </a:p>
          <a:p>
            <a:pPr>
              <a:spcBef>
                <a:spcPts val="200"/>
              </a:spcBef>
            </a:pPr>
            <a:r>
              <a:rPr sz="2200" b="1" dirty="0">
                <a:solidFill>
                  <a:srgbClr val="9C0006"/>
                </a:solidFill>
                <a:latin typeface="Arial"/>
              </a:rPr>
              <a:t>208.904%</a:t>
            </a:r>
          </a:p>
          <a:p>
            <a:pPr>
              <a:spcBef>
                <a:spcPts val="200"/>
              </a:spcBef>
            </a:pPr>
            <a:r>
              <a:rPr sz="1400" b="0" dirty="0" err="1">
                <a:solidFill>
                  <a:srgbClr val="1B2230"/>
                </a:solidFill>
                <a:latin typeface="Arial"/>
              </a:rPr>
              <a:t>vô</a:t>
            </a:r>
            <a:r>
              <a:rPr sz="1400" b="0" dirty="0">
                <a:solidFill>
                  <a:srgbClr val="1B2230"/>
                </a:solidFill>
                <a:latin typeface="Arial"/>
              </a:rPr>
              <a:t> </a:t>
            </a:r>
            <a:r>
              <a:rPr sz="1400" b="0" dirty="0" err="1">
                <a:solidFill>
                  <a:srgbClr val="1B2230"/>
                </a:solidFill>
                <a:latin typeface="Arial"/>
              </a:rPr>
              <a:t>nghĩa</a:t>
            </a:r>
            <a:endParaRPr sz="1400" b="0" dirty="0">
              <a:solidFill>
                <a:srgbClr val="1B2230"/>
              </a:solidFill>
              <a:latin typeface="Arial"/>
            </a:endParaRPr>
          </a:p>
        </p:txBody>
      </p:sp>
      <p:sp>
        <p:nvSpPr>
          <p:cNvPr id="12" name="Stat card"/>
          <p:cNvSpPr/>
          <p:nvPr/>
        </p:nvSpPr>
        <p:spPr>
          <a:xfrm>
            <a:off x="5824728" y="4206240"/>
            <a:ext cx="2011680" cy="12801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6007608" y="4297679"/>
            <a:ext cx="1645920" cy="1097280"/>
          </a:xfrm>
          <a:prstGeom prst="rect">
            <a:avLst/>
          </a:prstGeom>
          <a:noFill/>
        </p:spPr>
        <p:txBody>
          <a:bodyPr wrap="square" lIns="0" tIns="0" rIns="0" bIns="0" anchor="ctr">
            <a:spAutoFit/>
          </a:bodyPr>
          <a:lstStyle/>
          <a:p>
            <a:r>
              <a:rPr sz="1400" b="0" dirty="0" err="1">
                <a:solidFill>
                  <a:srgbClr val="585858"/>
                </a:solidFill>
                <a:latin typeface="Arial"/>
              </a:rPr>
              <a:t>Đúng</a:t>
            </a:r>
            <a:r>
              <a:rPr sz="1400" b="0" dirty="0">
                <a:solidFill>
                  <a:srgbClr val="585858"/>
                </a:solidFill>
                <a:latin typeface="Arial"/>
              </a:rPr>
              <a:t> (B2, ô E30)</a:t>
            </a:r>
          </a:p>
          <a:p>
            <a:pPr>
              <a:spcBef>
                <a:spcPts val="200"/>
              </a:spcBef>
            </a:pPr>
            <a:r>
              <a:rPr sz="2400" b="1" dirty="0">
                <a:solidFill>
                  <a:srgbClr val="2E7D32"/>
                </a:solidFill>
                <a:latin typeface="Arial"/>
              </a:rPr>
              <a:t>34,18%</a:t>
            </a:r>
          </a:p>
          <a:p>
            <a:pPr>
              <a:spcBef>
                <a:spcPts val="200"/>
              </a:spcBef>
            </a:pPr>
            <a:r>
              <a:rPr sz="1400" b="0" dirty="0" err="1">
                <a:solidFill>
                  <a:srgbClr val="1B2230"/>
                </a:solidFill>
                <a:latin typeface="Arial"/>
              </a:rPr>
              <a:t>tổng</a:t>
            </a:r>
            <a:r>
              <a:rPr sz="1400" b="0" dirty="0">
                <a:solidFill>
                  <a:srgbClr val="1B2230"/>
                </a:solidFill>
                <a:latin typeface="Arial"/>
              </a:rPr>
              <a:t> LN ÷ </a:t>
            </a:r>
            <a:r>
              <a:rPr sz="1400" b="0" dirty="0" err="1">
                <a:solidFill>
                  <a:srgbClr val="1B2230"/>
                </a:solidFill>
                <a:latin typeface="Arial"/>
              </a:rPr>
              <a:t>tổng</a:t>
            </a:r>
            <a:r>
              <a:rPr sz="1400" b="0" dirty="0">
                <a:solidFill>
                  <a:srgbClr val="1B2230"/>
                </a:solidFill>
                <a:latin typeface="Arial"/>
              </a:rPr>
              <a:t> DT</a:t>
            </a:r>
          </a:p>
        </p:txBody>
      </p:sp>
      <p:pic>
        <p:nvPicPr>
          <p:cNvPr id="14" name="Screenshot S16_gm_dong" descr="S16_gm_dong.png"/>
          <p:cNvPicPr>
            <a:picLocks noChangeAspect="1"/>
          </p:cNvPicPr>
          <p:nvPr/>
        </p:nvPicPr>
        <p:blipFill>
          <a:blip r:embed="rId3"/>
          <a:stretch>
            <a:fillRect/>
          </a:stretch>
        </p:blipFill>
        <p:spPr>
          <a:xfrm>
            <a:off x="8001000" y="2815764"/>
            <a:ext cx="3648456" cy="1820831"/>
          </a:xfrm>
          <a:prstGeom prst="rect">
            <a:avLst/>
          </a:prstGeom>
          <a:ln w="9525">
            <a:solidFill>
              <a:srgbClr val="D9DEE8"/>
            </a:solidFill>
          </a:ln>
        </p:spPr>
      </p:pic>
      <p:sp>
        <p:nvSpPr>
          <p:cNvPr id="15" name="TIP callout"/>
          <p:cNvSpPr/>
          <p:nvPr/>
        </p:nvSpPr>
        <p:spPr>
          <a:xfrm>
            <a:off x="1527048" y="5513832"/>
            <a:ext cx="10122408" cy="676656"/>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p:cNvSpPr txBox="1"/>
          <p:nvPr/>
        </p:nvSpPr>
        <p:spPr>
          <a:xfrm>
            <a:off x="1636776" y="5623560"/>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7" name="TIP text"/>
          <p:cNvSpPr txBox="1"/>
          <p:nvPr/>
        </p:nvSpPr>
        <p:spPr>
          <a:xfrm>
            <a:off x="2212848" y="5605272"/>
            <a:ext cx="9326880" cy="493776"/>
          </a:xfrm>
          <a:prstGeom prst="rect">
            <a:avLst/>
          </a:prstGeom>
          <a:noFill/>
        </p:spPr>
        <p:txBody>
          <a:bodyPr wrap="square" lIns="0" tIns="0" rIns="0" bIns="0" anchor="t">
            <a:spAutoFit/>
          </a:bodyPr>
          <a:lstStyle/>
          <a:p>
            <a:r>
              <a:rPr sz="1600" b="0" dirty="0">
                <a:solidFill>
                  <a:srgbClr val="1B2230"/>
                </a:solidFill>
                <a:latin typeface="Arial"/>
              </a:rPr>
              <a:t>Pivot </a:t>
            </a:r>
            <a:r>
              <a:rPr sz="1600" b="0" dirty="0" err="1">
                <a:solidFill>
                  <a:srgbClr val="1B2230"/>
                </a:solidFill>
                <a:latin typeface="Arial"/>
              </a:rPr>
              <a:t>đặt</a:t>
            </a:r>
            <a:r>
              <a:rPr sz="1600" b="0" dirty="0">
                <a:solidFill>
                  <a:srgbClr val="1B2230"/>
                </a:solidFill>
                <a:latin typeface="Arial"/>
              </a:rPr>
              <a:t> ở sheet </a:t>
            </a:r>
            <a:r>
              <a:rPr sz="1600" b="0" dirty="0" err="1">
                <a:solidFill>
                  <a:srgbClr val="1B2230"/>
                </a:solidFill>
                <a:latin typeface="Arial"/>
              </a:rPr>
              <a:t>PV_Loc</a:t>
            </a:r>
            <a:r>
              <a:rPr sz="1600" b="0" dirty="0">
                <a:solidFill>
                  <a:srgbClr val="1B2230"/>
                </a:solidFill>
                <a:latin typeface="Arial"/>
              </a:rPr>
              <a:t>, ô A3 (Existing Worksheet). File demo </a:t>
            </a:r>
            <a:r>
              <a:rPr sz="1600" b="0" dirty="0" err="1">
                <a:solidFill>
                  <a:srgbClr val="1B2230"/>
                </a:solidFill>
                <a:latin typeface="Arial"/>
              </a:rPr>
              <a:t>có</a:t>
            </a:r>
            <a:r>
              <a:rPr sz="1600" b="0" dirty="0">
                <a:solidFill>
                  <a:srgbClr val="1B2230"/>
                </a:solidFill>
                <a:latin typeface="Arial"/>
              </a:rPr>
              <a:t> </a:t>
            </a:r>
            <a:r>
              <a:rPr sz="1600" b="0" dirty="0" err="1">
                <a:solidFill>
                  <a:srgbClr val="1B2230"/>
                </a:solidFill>
                <a:latin typeface="Arial"/>
              </a:rPr>
              <a:t>sẵn</a:t>
            </a:r>
            <a:r>
              <a:rPr sz="1600" b="0" dirty="0">
                <a:solidFill>
                  <a:srgbClr val="1B2230"/>
                </a:solidFill>
                <a:latin typeface="Arial"/>
              </a:rPr>
              <a:t> sheet </a:t>
            </a:r>
            <a:r>
              <a:rPr sz="1600" b="0" dirty="0" err="1">
                <a:solidFill>
                  <a:srgbClr val="1B2230"/>
                </a:solidFill>
                <a:latin typeface="Arial"/>
              </a:rPr>
              <a:t>này</a:t>
            </a:r>
            <a:r>
              <a:rPr sz="1600" b="0" dirty="0">
                <a:solidFill>
                  <a:srgbClr val="1B2230"/>
                </a:solidFill>
                <a:latin typeface="Arial"/>
              </a:rPr>
              <a:t>; file B5_&lt;HoTen&gt;.xlsx: </a:t>
            </a:r>
            <a:r>
              <a:rPr sz="1600" b="0" dirty="0" err="1">
                <a:solidFill>
                  <a:srgbClr val="1B2230"/>
                </a:solidFill>
                <a:latin typeface="Arial"/>
              </a:rPr>
              <a:t>bấm</a:t>
            </a:r>
            <a:r>
              <a:rPr sz="1600" b="0" dirty="0">
                <a:solidFill>
                  <a:srgbClr val="1B2230"/>
                </a:solidFill>
                <a:latin typeface="Arial"/>
              </a:rPr>
              <a:t> </a:t>
            </a:r>
            <a:r>
              <a:rPr sz="1600" b="0" dirty="0" err="1">
                <a:solidFill>
                  <a:srgbClr val="1B2230"/>
                </a:solidFill>
                <a:latin typeface="Arial"/>
              </a:rPr>
              <a:t>dấu</a:t>
            </a:r>
            <a:r>
              <a:rPr sz="1600" b="0" dirty="0">
                <a:solidFill>
                  <a:srgbClr val="1B2230"/>
                </a:solidFill>
                <a:latin typeface="Arial"/>
              </a:rPr>
              <a:t> + </a:t>
            </a:r>
            <a:r>
              <a:rPr sz="1600" b="0" dirty="0" err="1">
                <a:solidFill>
                  <a:srgbClr val="1B2230"/>
                </a:solidFill>
                <a:latin typeface="Arial"/>
              </a:rPr>
              <a:t>cạnh</a:t>
            </a:r>
            <a:r>
              <a:rPr sz="1600" b="0" dirty="0">
                <a:solidFill>
                  <a:srgbClr val="1B2230"/>
                </a:solidFill>
                <a:latin typeface="Arial"/>
              </a:rPr>
              <a:t> tab sheet, </a:t>
            </a:r>
            <a:r>
              <a:rPr sz="1600" b="0" dirty="0" err="1">
                <a:solidFill>
                  <a:srgbClr val="1B2230"/>
                </a:solidFill>
                <a:latin typeface="Arial"/>
              </a:rPr>
              <a:t>đặt</a:t>
            </a:r>
            <a:r>
              <a:rPr sz="1600" b="0" dirty="0">
                <a:solidFill>
                  <a:srgbClr val="1B2230"/>
                </a:solidFill>
                <a:latin typeface="Arial"/>
              </a:rPr>
              <a:t> </a:t>
            </a:r>
            <a:r>
              <a:rPr sz="1600" b="0" dirty="0" err="1">
                <a:solidFill>
                  <a:srgbClr val="1B2230"/>
                </a:solidFill>
                <a:latin typeface="Arial"/>
              </a:rPr>
              <a:t>tên</a:t>
            </a:r>
            <a:r>
              <a:rPr sz="1600" b="0" dirty="0">
                <a:solidFill>
                  <a:srgbClr val="1B2230"/>
                </a:solidFill>
                <a:latin typeface="Arial"/>
              </a:rPr>
              <a:t> </a:t>
            </a:r>
            <a:r>
              <a:rPr sz="1600" b="0" dirty="0" err="1">
                <a:solidFill>
                  <a:srgbClr val="1B2230"/>
                </a:solidFill>
                <a:latin typeface="Arial"/>
              </a:rPr>
              <a:t>PV_Loc</a:t>
            </a:r>
            <a:r>
              <a:rPr sz="1600" b="0" dirty="0">
                <a:solidFill>
                  <a:srgbClr val="1B2230"/>
                </a:solidFill>
                <a:latin typeface="Arial"/>
              </a:rPr>
              <a:t>.</a:t>
            </a:r>
          </a:p>
        </p:txBody>
      </p:sp>
      <p:sp>
        <p:nvSpPr>
          <p:cNvPr id="18" name="Footnote"/>
          <p:cNvSpPr txBox="1"/>
          <p:nvPr/>
        </p:nvSpPr>
        <p:spPr>
          <a:xfrm>
            <a:off x="1527048" y="6217920"/>
            <a:ext cx="10122408" cy="320040"/>
          </a:xfrm>
          <a:prstGeom prst="rect">
            <a:avLst/>
          </a:prstGeom>
          <a:noFill/>
        </p:spPr>
        <p:txBody>
          <a:bodyPr wrap="square" lIns="0" tIns="0" rIns="0" bIns="0" anchor="b">
            <a:spAutoFit/>
          </a:bodyPr>
          <a:lstStyle/>
          <a:p>
            <a:r>
              <a:rPr sz="1200" b="0" dirty="0" err="1">
                <a:solidFill>
                  <a:srgbClr val="6B6F76"/>
                </a:solidFill>
                <a:latin typeface="Arial"/>
              </a:rPr>
              <a:t>Ảnh</a:t>
            </a:r>
            <a:r>
              <a:rPr sz="1200" b="0" dirty="0">
                <a:solidFill>
                  <a:srgbClr val="6B6F76"/>
                </a:solidFill>
                <a:latin typeface="Arial"/>
              </a:rPr>
              <a:t>: Demo/B5_Demo_DAX.xlsx, sheet </a:t>
            </a:r>
            <a:r>
              <a:rPr sz="1200" b="0" dirty="0" err="1">
                <a:solidFill>
                  <a:srgbClr val="6B6F76"/>
                </a:solidFill>
                <a:latin typeface="Arial"/>
              </a:rPr>
              <a:t>PV_Loc</a:t>
            </a:r>
            <a:r>
              <a:rPr sz="1200" b="0" dirty="0">
                <a:solidFill>
                  <a:srgbClr val="6B6F76"/>
                </a:solidFill>
                <a:latin typeface="Arial"/>
              </a:rPr>
              <a:t> (</a:t>
            </a:r>
            <a:r>
              <a:rPr sz="1200" b="0" dirty="0" err="1">
                <a:solidFill>
                  <a:srgbClr val="6B6F76"/>
                </a:solidFill>
                <a:latin typeface="Arial"/>
              </a:rPr>
              <a:t>cột</a:t>
            </a:r>
            <a:r>
              <a:rPr sz="1200" b="0" dirty="0">
                <a:solidFill>
                  <a:srgbClr val="6B6F76"/>
                </a:solidFill>
                <a:latin typeface="Arial"/>
              </a:rPr>
              <a:t> </a:t>
            </a:r>
            <a:r>
              <a:rPr sz="1200" b="0" dirty="0" err="1">
                <a:solidFill>
                  <a:srgbClr val="6B6F76"/>
                </a:solidFill>
                <a:latin typeface="Arial"/>
              </a:rPr>
              <a:t>GM_Dong</a:t>
            </a:r>
            <a:r>
              <a:rPr sz="1200" b="0" dirty="0">
                <a:solidFill>
                  <a:srgbClr val="6B6F76"/>
                </a:solidFill>
                <a:latin typeface="Arial"/>
              </a:rPr>
              <a:t> </a:t>
            </a:r>
            <a:r>
              <a:rPr sz="1200" b="0" dirty="0" err="1">
                <a:solidFill>
                  <a:srgbClr val="6B6F76"/>
                </a:solidFill>
                <a:latin typeface="Arial"/>
              </a:rPr>
              <a:t>thêm</a:t>
            </a:r>
            <a:r>
              <a:rPr sz="1200" b="0" dirty="0">
                <a:solidFill>
                  <a:srgbClr val="6B6F76"/>
                </a:solidFill>
                <a:latin typeface="Arial"/>
              </a:rPr>
              <a:t> </a:t>
            </a:r>
            <a:r>
              <a:rPr sz="1200" b="0" dirty="0" err="1">
                <a:solidFill>
                  <a:srgbClr val="6B6F76"/>
                </a:solidFill>
                <a:latin typeface="Arial"/>
              </a:rPr>
              <a:t>tạm</a:t>
            </a:r>
            <a:r>
              <a:rPr sz="1200" b="0" dirty="0">
                <a:solidFill>
                  <a:srgbClr val="6B6F76"/>
                </a:solidFill>
                <a:latin typeface="Arial"/>
              </a:rPr>
              <a:t>, </a:t>
            </a:r>
            <a:r>
              <a:rPr sz="1200" b="0" dirty="0" err="1">
                <a:solidFill>
                  <a:srgbClr val="6B6F76"/>
                </a:solidFill>
                <a:latin typeface="Arial"/>
              </a:rPr>
              <a:t>xóa</a:t>
            </a:r>
            <a:r>
              <a:rPr sz="1200" b="0" dirty="0">
                <a:solidFill>
                  <a:srgbClr val="6B6F76"/>
                </a:solidFill>
                <a:latin typeface="Arial"/>
              </a:rPr>
              <a:t> </a:t>
            </a:r>
            <a:r>
              <a:rPr sz="1200" b="0" dirty="0" err="1">
                <a:solidFill>
                  <a:srgbClr val="6B6F76"/>
                </a:solidFill>
                <a:latin typeface="Arial"/>
              </a:rPr>
              <a:t>sau</a:t>
            </a:r>
            <a:r>
              <a:rPr sz="1200" b="0" dirty="0">
                <a:solidFill>
                  <a:srgbClr val="6B6F76"/>
                </a:solidFill>
                <a:latin typeface="Arial"/>
              </a:rPr>
              <a:t> demo). </a:t>
            </a:r>
            <a:r>
              <a:rPr sz="1200" b="0" dirty="0" err="1">
                <a:solidFill>
                  <a:srgbClr val="6B6F76"/>
                </a:solidFill>
                <a:latin typeface="Arial"/>
              </a:rPr>
              <a:t>Đối</a:t>
            </a:r>
            <a:r>
              <a:rPr sz="1200" b="0" dirty="0">
                <a:solidFill>
                  <a:srgbClr val="6B6F76"/>
                </a:solidFill>
                <a:latin typeface="Arial"/>
              </a:rPr>
              <a:t> </a:t>
            </a:r>
            <a:r>
              <a:rPr sz="1200" b="0" dirty="0" err="1">
                <a:solidFill>
                  <a:srgbClr val="6B6F76"/>
                </a:solidFill>
                <a:latin typeface="Arial"/>
              </a:rPr>
              <a:t>chiếu</a:t>
            </a:r>
            <a:r>
              <a:rPr sz="1200" b="0" dirty="0">
                <a:solidFill>
                  <a:srgbClr val="6B6F76"/>
                </a:solidFill>
                <a:latin typeface="Arial"/>
              </a:rPr>
              <a:t>: sheet KPI_SUMIFS, ô E30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Implicit vs Explicit measure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3 · COLUMN VS MEASURE</a:t>
            </a:r>
          </a:p>
        </p:txBody>
      </p:sp>
      <p:graphicFrame>
        <p:nvGraphicFramePr>
          <p:cNvPr id="4" name="Table"/>
          <p:cNvGraphicFramePr>
            <a:graphicFrameLocks noGrp="1"/>
          </p:cNvGraphicFramePr>
          <p:nvPr/>
        </p:nvGraphicFramePr>
        <p:xfrm>
          <a:off x="1527048" y="1417320"/>
          <a:ext cx="10122408" cy="1828800"/>
        </p:xfrm>
        <a:graphic>
          <a:graphicData uri="http://schemas.openxmlformats.org/drawingml/2006/table">
            <a:tbl>
              <a:tblPr firstRow="1"/>
              <a:tblGrid>
                <a:gridCol w="4206240">
                  <a:extLst>
                    <a:ext uri="{9D8B030D-6E8A-4147-A177-3AD203B41FA5}">
                      <a16:colId xmlns:a16="http://schemas.microsoft.com/office/drawing/2014/main" val="20000"/>
                    </a:ext>
                  </a:extLst>
                </a:gridCol>
                <a:gridCol w="5916168">
                  <a:extLst>
                    <a:ext uri="{9D8B030D-6E8A-4147-A177-3AD203B41FA5}">
                      <a16:colId xmlns:a16="http://schemas.microsoft.com/office/drawing/2014/main" val="20001"/>
                    </a:ext>
                  </a:extLst>
                </a:gridCol>
              </a:tblGrid>
              <a:tr h="457200">
                <a:tc>
                  <a:txBody>
                    <a:bodyPr/>
                    <a:lstStyle/>
                    <a:p>
                      <a:r>
                        <a:rPr sz="13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3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57200">
                <a:tc>
                  <a:txBody>
                    <a:bodyPr/>
                    <a:lstStyle/>
                    <a:p>
                      <a:r>
                        <a:rPr sz="1300" b="1" dirty="0">
                          <a:solidFill>
                            <a:srgbClr val="C00000"/>
                          </a:solidFill>
                          <a:latin typeface="Arial"/>
                        </a:rPr>
                        <a:t>Implicit measure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Tick cột số vào Values → "Sum of …" tự tạo: không tên, không định dạng, KHÔNG dùng lại được</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57200">
                <a:tc>
                  <a:txBody>
                    <a:bodyPr/>
                    <a:lstStyle/>
                    <a:p>
                      <a:r>
                        <a:rPr sz="1300" b="1">
                          <a:solidFill>
                            <a:srgbClr val="C00000"/>
                          </a:solidFill>
                          <a:latin typeface="Arial"/>
                        </a:rPr>
                        <a:t>Power Pivot → Measures → New Measure…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Explicit measure: tự đặt tên, viết DAX, chọn định dạng; dùng lại trong measure khác và CUBEVALUE (B6)</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57200">
                <a:tc>
                  <a:txBody>
                    <a:bodyPr/>
                    <a:lstStyle/>
                    <a:p>
                      <a:r>
                        <a:rPr sz="1300" b="1" dirty="0">
                          <a:solidFill>
                            <a:srgbClr val="C00000"/>
                          </a:solidFill>
                          <a:latin typeface="Arial"/>
                        </a:rPr>
                        <a:t>DIVIDE(</a:t>
                      </a:r>
                      <a:r>
                        <a:rPr sz="1300" b="1" dirty="0" err="1">
                          <a:solidFill>
                            <a:srgbClr val="C00000"/>
                          </a:solidFill>
                          <a:latin typeface="Arial"/>
                        </a:rPr>
                        <a:t>tử</a:t>
                      </a:r>
                      <a:r>
                        <a:rPr sz="1300" b="1" dirty="0">
                          <a:solidFill>
                            <a:srgbClr val="C00000"/>
                          </a:solidFill>
                          <a:latin typeface="Arial"/>
                        </a:rPr>
                        <a:t>, </a:t>
                      </a:r>
                      <a:r>
                        <a:rPr sz="1300" b="1" dirty="0" err="1">
                          <a:solidFill>
                            <a:srgbClr val="C00000"/>
                          </a:solidFill>
                          <a:latin typeface="Arial"/>
                        </a:rPr>
                        <a:t>mẫu</a:t>
                      </a:r>
                      <a:r>
                        <a:rPr sz="1300" b="1" dirty="0">
                          <a:solidFill>
                            <a:srgbClr val="C00000"/>
                          </a:solidFill>
                          <a:latin typeface="Arial"/>
                        </a:rPr>
                        <a: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dirty="0" err="1">
                          <a:solidFill>
                            <a:srgbClr val="1B2230"/>
                          </a:solidFill>
                          <a:latin typeface="Arial"/>
                        </a:rPr>
                        <a:t>Phép</a:t>
                      </a:r>
                      <a:r>
                        <a:rPr sz="1300" b="0" dirty="0">
                          <a:solidFill>
                            <a:srgbClr val="1B2230"/>
                          </a:solidFill>
                          <a:latin typeface="Arial"/>
                        </a:rPr>
                        <a:t> chia an </a:t>
                      </a:r>
                      <a:r>
                        <a:rPr sz="1300" b="0" dirty="0" err="1">
                          <a:solidFill>
                            <a:srgbClr val="1B2230"/>
                          </a:solidFill>
                          <a:latin typeface="Arial"/>
                        </a:rPr>
                        <a:t>toàn</a:t>
                      </a:r>
                      <a:r>
                        <a:rPr sz="1300" b="0" dirty="0">
                          <a:solidFill>
                            <a:srgbClr val="1B2230"/>
                          </a:solidFill>
                          <a:latin typeface="Arial"/>
                        </a:rPr>
                        <a:t>: </a:t>
                      </a:r>
                      <a:r>
                        <a:rPr sz="1300" b="0" dirty="0" err="1">
                          <a:solidFill>
                            <a:srgbClr val="1B2230"/>
                          </a:solidFill>
                          <a:latin typeface="Arial"/>
                        </a:rPr>
                        <a:t>mẫu</a:t>
                      </a:r>
                      <a:r>
                        <a:rPr sz="1300" b="0" dirty="0">
                          <a:solidFill>
                            <a:srgbClr val="1B2230"/>
                          </a:solidFill>
                          <a:latin typeface="Arial"/>
                        </a:rPr>
                        <a:t> </a:t>
                      </a:r>
                      <a:r>
                        <a:rPr sz="1300" b="0" dirty="0" err="1">
                          <a:solidFill>
                            <a:srgbClr val="1B2230"/>
                          </a:solidFill>
                          <a:latin typeface="Arial"/>
                        </a:rPr>
                        <a:t>bằng</a:t>
                      </a:r>
                      <a:r>
                        <a:rPr sz="1300" b="0" dirty="0">
                          <a:solidFill>
                            <a:srgbClr val="1B2230"/>
                          </a:solidFill>
                          <a:latin typeface="Arial"/>
                        </a:rPr>
                        <a:t> 0 </a:t>
                      </a:r>
                      <a:r>
                        <a:rPr sz="1300" b="0" dirty="0" err="1">
                          <a:solidFill>
                            <a:srgbClr val="1B2230"/>
                          </a:solidFill>
                          <a:latin typeface="Arial"/>
                        </a:rPr>
                        <a:t>hoặc</a:t>
                      </a:r>
                      <a:r>
                        <a:rPr sz="1300" b="0" dirty="0">
                          <a:solidFill>
                            <a:srgbClr val="1B2230"/>
                          </a:solidFill>
                          <a:latin typeface="Arial"/>
                        </a:rPr>
                        <a:t> </a:t>
                      </a:r>
                      <a:r>
                        <a:rPr sz="1300" b="0" dirty="0" err="1">
                          <a:solidFill>
                            <a:srgbClr val="1B2230"/>
                          </a:solidFill>
                          <a:latin typeface="Arial"/>
                        </a:rPr>
                        <a:t>trống</a:t>
                      </a:r>
                      <a:r>
                        <a:rPr sz="1300" b="0" dirty="0">
                          <a:solidFill>
                            <a:srgbClr val="1B2230"/>
                          </a:solidFill>
                          <a:latin typeface="Arial"/>
                        </a:rPr>
                        <a:t> → ô </a:t>
                      </a:r>
                      <a:r>
                        <a:rPr sz="1300" b="0" dirty="0" err="1">
                          <a:solidFill>
                            <a:srgbClr val="1B2230"/>
                          </a:solidFill>
                          <a:latin typeface="Arial"/>
                        </a:rPr>
                        <a:t>trống</a:t>
                      </a:r>
                      <a:r>
                        <a:rPr sz="1300" b="0" dirty="0">
                          <a:solidFill>
                            <a:srgbClr val="1B2230"/>
                          </a:solidFill>
                          <a:latin typeface="Arial"/>
                        </a:rPr>
                        <a:t> </a:t>
                      </a:r>
                      <a:r>
                        <a:rPr sz="1300" b="0" dirty="0" err="1">
                          <a:solidFill>
                            <a:srgbClr val="1B2230"/>
                          </a:solidFill>
                          <a:latin typeface="Arial"/>
                        </a:rPr>
                        <a:t>thay</a:t>
                      </a:r>
                      <a:r>
                        <a:rPr sz="1300" b="0" dirty="0">
                          <a:solidFill>
                            <a:srgbClr val="1B2230"/>
                          </a:solidFill>
                          <a:latin typeface="Arial"/>
                        </a:rPr>
                        <a:t> </a:t>
                      </a:r>
                      <a:r>
                        <a:rPr sz="1300" b="0" dirty="0" err="1">
                          <a:solidFill>
                            <a:srgbClr val="1B2230"/>
                          </a:solidFill>
                          <a:latin typeface="Arial"/>
                        </a:rPr>
                        <a:t>vì</a:t>
                      </a:r>
                      <a:r>
                        <a:rPr sz="1300" b="0" dirty="0">
                          <a:solidFill>
                            <a:srgbClr val="1B2230"/>
                          </a:solidFill>
                          <a:latin typeface="Arial"/>
                        </a:rPr>
                        <a:t> </a:t>
                      </a:r>
                      <a:r>
                        <a:rPr sz="1300" b="0" dirty="0" err="1">
                          <a:solidFill>
                            <a:srgbClr val="1B2230"/>
                          </a:solidFill>
                          <a:latin typeface="Arial"/>
                        </a:rPr>
                        <a:t>lỗi</a:t>
                      </a:r>
                      <a:endParaRPr sz="1300" b="0" dirty="0">
                        <a:solidFill>
                          <a:srgbClr val="1B2230"/>
                        </a:solidFill>
                        <a:latin typeface="Arial"/>
                      </a:endParaRP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graphicFrame>
        <p:nvGraphicFramePr>
          <p:cNvPr id="5" name="Measures"/>
          <p:cNvGraphicFramePr>
            <a:graphicFrameLocks noGrp="1"/>
          </p:cNvGraphicFramePr>
          <p:nvPr>
            <p:extLst>
              <p:ext uri="{D42A27DB-BD31-4B8C-83A1-F6EECF244321}">
                <p14:modId xmlns:p14="http://schemas.microsoft.com/office/powerpoint/2010/main" val="573133977"/>
              </p:ext>
            </p:extLst>
          </p:nvPr>
        </p:nvGraphicFramePr>
        <p:xfrm>
          <a:off x="1527048" y="3337560"/>
          <a:ext cx="6309360" cy="1536192"/>
        </p:xfrm>
        <a:graphic>
          <a:graphicData uri="http://schemas.openxmlformats.org/drawingml/2006/table">
            <a:tbl>
              <a:tblPr firstRow="1"/>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384048">
                <a:tc>
                  <a:txBody>
                    <a:bodyPr/>
                    <a:lstStyle/>
                    <a:p>
                      <a:r>
                        <a:rPr sz="1200" b="1">
                          <a:solidFill>
                            <a:srgbClr val="FFFFFF"/>
                          </a:solidFill>
                          <a:latin typeface="Arial"/>
                        </a:rPr>
                        <a:t>Measure (bảng Sales)</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200" b="1">
                          <a:solidFill>
                            <a:srgbClr val="FFFFFF"/>
                          </a:solidFill>
                          <a:latin typeface="Arial"/>
                        </a:rPr>
                        <a:t>DAX</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384048">
                <a:tc>
                  <a:txBody>
                    <a:bodyPr/>
                    <a:lstStyle/>
                    <a:p>
                      <a:r>
                        <a:rPr sz="1200" b="1">
                          <a:solidFill>
                            <a:srgbClr val="1B2230"/>
                          </a:solidFill>
                          <a:latin typeface="Arial"/>
                        </a:rPr>
                        <a:t>Total Revenue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200" b="0" dirty="0">
                          <a:solidFill>
                            <a:srgbClr val="1B2230"/>
                          </a:solidFill>
                          <a:latin typeface="Arial"/>
                        </a:rPr>
                        <a:t>SUM(Sales[Revenue])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384048">
                <a:tc>
                  <a:txBody>
                    <a:bodyPr/>
                    <a:lstStyle/>
                    <a:p>
                      <a:r>
                        <a:rPr sz="1200" b="1">
                          <a:solidFill>
                            <a:srgbClr val="1B2230"/>
                          </a:solidFill>
                          <a:latin typeface="Arial"/>
                        </a:rPr>
                        <a:t>Total COGS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200" b="0">
                          <a:solidFill>
                            <a:srgbClr val="1B2230"/>
                          </a:solidFill>
                          <a:latin typeface="Arial"/>
                        </a:rPr>
                        <a:t>SUM(Sales[COGS])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384048">
                <a:tc>
                  <a:txBody>
                    <a:bodyPr/>
                    <a:lstStyle/>
                    <a:p>
                      <a:r>
                        <a:rPr sz="1200" b="1">
                          <a:solidFill>
                            <a:srgbClr val="1B2230"/>
                          </a:solidFill>
                          <a:latin typeface="Arial"/>
                        </a:rPr>
                        <a:t>Gross Margin %</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200" b="0" dirty="0">
                          <a:solidFill>
                            <a:srgbClr val="1B2230"/>
                          </a:solidFill>
                          <a:latin typeface="Arial"/>
                        </a:rPr>
                        <a:t>DIVIDE([Total Revenue] - [Total COGS], [Total Revenue])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pic>
        <p:nvPicPr>
          <p:cNvPr id="6" name="Screenshot S17_measure_dialog" descr="S17_measure_dialog.png"/>
          <p:cNvPicPr>
            <a:picLocks noChangeAspect="1"/>
          </p:cNvPicPr>
          <p:nvPr/>
        </p:nvPicPr>
        <p:blipFill>
          <a:blip r:embed="rId3"/>
          <a:stretch>
            <a:fillRect/>
          </a:stretch>
        </p:blipFill>
        <p:spPr>
          <a:xfrm>
            <a:off x="8695030" y="3337560"/>
            <a:ext cx="2260396" cy="1920240"/>
          </a:xfrm>
          <a:prstGeom prst="rect">
            <a:avLst/>
          </a:prstGeom>
          <a:ln w="9525">
            <a:solidFill>
              <a:srgbClr val="D9DEE8"/>
            </a:solidFill>
          </a:ln>
        </p:spPr>
      </p:pic>
      <p:sp>
        <p:nvSpPr>
          <p:cNvPr id="7" name="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1636776" y="5504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9" name="TIP text"/>
          <p:cNvSpPr txBox="1"/>
          <p:nvPr/>
        </p:nvSpPr>
        <p:spPr>
          <a:xfrm>
            <a:off x="2212848" y="5486400"/>
            <a:ext cx="9326880" cy="548640"/>
          </a:xfrm>
          <a:prstGeom prst="rect">
            <a:avLst/>
          </a:prstGeom>
          <a:noFill/>
        </p:spPr>
        <p:txBody>
          <a:bodyPr wrap="square" lIns="0" tIns="0" rIns="0" bIns="0" anchor="t">
            <a:spAutoFit/>
          </a:bodyPr>
          <a:lstStyle/>
          <a:p>
            <a:r>
              <a:rPr sz="1600" b="0">
                <a:solidFill>
                  <a:srgbClr val="1B2230"/>
                </a:solidFill>
                <a:latin typeface="Arial"/>
              </a:rPr>
              <a:t>Cột luôn kèm tên bảng: Sales[Revenue]. Measure ghi trần: [Total Revenue]. Quý 1/2025: 941.454.000 · 619.663.000 · 34,2%.</a:t>
            </a:r>
          </a:p>
        </p:txBody>
      </p:sp>
      <p:sp>
        <p:nvSpPr>
          <p:cNvPr id="10"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Demo/B5_Demo_DAX.xlsx, Power Pivot → Measures → New Measure (Gross Margin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4. Filter context: ô này đang bị lọc bởi những gì?</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Filter context: Chuỗi C lần 3</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FILTER CONTEXT</a:t>
            </a:r>
          </a:p>
        </p:txBody>
      </p:sp>
      <p:sp>
        <p:nvSpPr>
          <p:cNvPr id="4" name="Spine cell"/>
          <p:cNvSpPr/>
          <p:nvPr/>
        </p:nvSpPr>
        <p:spPr>
          <a:xfrm>
            <a:off x="1527048" y="1554480"/>
            <a:ext cx="2103120" cy="1097280"/>
          </a:xfrm>
          <a:prstGeom prst="roundRect">
            <a:avLst>
              <a:gd name="adj" fmla="val 8000"/>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527048" y="1554480"/>
            <a:ext cx="2103120" cy="1097280"/>
          </a:xfrm>
          <a:prstGeom prst="rect">
            <a:avLst/>
          </a:prstGeom>
          <a:noFill/>
        </p:spPr>
        <p:txBody>
          <a:bodyPr wrap="square" lIns="0" tIns="0" rIns="0" bIns="0" anchor="ctr">
            <a:spAutoFit/>
          </a:bodyPr>
          <a:lstStyle/>
          <a:p>
            <a:pPr algn="ctr"/>
            <a:r>
              <a:rPr sz="2200" b="1">
                <a:solidFill>
                  <a:srgbClr val="FFFFFF"/>
                </a:solidFill>
                <a:latin typeface="Arial"/>
              </a:rPr>
              <a:t>90.210.000</a:t>
            </a:r>
          </a:p>
          <a:p>
            <a:pPr algn="ctr">
              <a:spcBef>
                <a:spcPts val="200"/>
              </a:spcBef>
            </a:pPr>
            <a:r>
              <a:rPr sz="1200" b="0">
                <a:solidFill>
                  <a:srgbClr val="E3ECF7"/>
                </a:solidFill>
                <a:latin typeface="Arial"/>
              </a:rPr>
              <a:t>một ô Pivot</a:t>
            </a:r>
          </a:p>
        </p:txBody>
      </p:sp>
      <p:sp>
        <p:nvSpPr>
          <p:cNvPr id="6" name="Filter 1"/>
          <p:cNvSpPr/>
          <p:nvPr/>
        </p:nvSpPr>
        <p:spPr>
          <a:xfrm>
            <a:off x="4041648" y="1417320"/>
            <a:ext cx="2377440" cy="329184"/>
          </a:xfrm>
          <a:prstGeom prst="roundRect">
            <a:avLst>
              <a:gd name="adj" fmla="val 20000"/>
            </a:avLst>
          </a:prstGeom>
          <a:solidFill>
            <a:srgbClr val="FFFFFF"/>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a:solidFill>
                  <a:srgbClr val="203864"/>
                </a:solidFill>
                <a:latin typeface="Arial"/>
              </a:rPr>
              <a:t>Store[Region] = Bắc</a:t>
            </a:r>
          </a:p>
        </p:txBody>
      </p:sp>
      <p:sp>
        <p:nvSpPr>
          <p:cNvPr id="7" name="Filter 2"/>
          <p:cNvSpPr/>
          <p:nvPr/>
        </p:nvSpPr>
        <p:spPr>
          <a:xfrm>
            <a:off x="4041648" y="1792224"/>
            <a:ext cx="2377440" cy="329184"/>
          </a:xfrm>
          <a:prstGeom prst="roundRect">
            <a:avLst>
              <a:gd name="adj" fmla="val 20000"/>
            </a:avLst>
          </a:prstGeom>
          <a:solidFill>
            <a:srgbClr val="FFFFFF"/>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a:solidFill>
                  <a:srgbClr val="203864"/>
                </a:solidFill>
                <a:latin typeface="Arial"/>
              </a:rPr>
              <a:t>Calendar[Nam] = 2025</a:t>
            </a:r>
          </a:p>
        </p:txBody>
      </p:sp>
      <p:sp>
        <p:nvSpPr>
          <p:cNvPr id="8" name="Filter 3"/>
          <p:cNvSpPr/>
          <p:nvPr/>
        </p:nvSpPr>
        <p:spPr>
          <a:xfrm>
            <a:off x="4041648" y="2167128"/>
            <a:ext cx="2377440" cy="329184"/>
          </a:xfrm>
          <a:prstGeom prst="roundRect">
            <a:avLst>
              <a:gd name="adj" fmla="val 20000"/>
            </a:avLst>
          </a:prstGeom>
          <a:solidFill>
            <a:srgbClr val="FFFFFF"/>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a:solidFill>
                  <a:srgbClr val="203864"/>
                </a:solidFill>
                <a:latin typeface="Arial"/>
              </a:rPr>
              <a:t>Calendar[Quy] = 1</a:t>
            </a:r>
          </a:p>
        </p:txBody>
      </p:sp>
      <p:sp>
        <p:nvSpPr>
          <p:cNvPr id="9" name="Filter 4"/>
          <p:cNvSpPr/>
          <p:nvPr/>
        </p:nvSpPr>
        <p:spPr>
          <a:xfrm>
            <a:off x="4041648" y="2542032"/>
            <a:ext cx="2377440" cy="329184"/>
          </a:xfrm>
          <a:prstGeom prst="roundRect">
            <a:avLst>
              <a:gd name="adj" fmla="val 20000"/>
            </a:avLst>
          </a:prstGeom>
          <a:solidFill>
            <a:srgbClr val="FFFFFF"/>
          </a:solid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dirty="0">
                <a:solidFill>
                  <a:srgbClr val="203864"/>
                </a:solidFill>
                <a:latin typeface="Arial"/>
              </a:rPr>
              <a:t>Calendar[Thang] = 3</a:t>
            </a:r>
          </a:p>
        </p:txBody>
      </p:sp>
      <p:sp>
        <p:nvSpPr>
          <p:cNvPr id="10" name="Spine sum"/>
          <p:cNvSpPr/>
          <p:nvPr/>
        </p:nvSpPr>
        <p:spPr>
          <a:xfrm>
            <a:off x="6830568" y="1691640"/>
            <a:ext cx="2286000" cy="822960"/>
          </a:xfrm>
          <a:prstGeom prst="roundRect">
            <a:avLst>
              <a:gd name="adj" fmla="val 10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6830568" y="1691640"/>
            <a:ext cx="2286000" cy="822960"/>
          </a:xfrm>
          <a:prstGeom prst="rect">
            <a:avLst/>
          </a:prstGeom>
          <a:noFill/>
        </p:spPr>
        <p:txBody>
          <a:bodyPr wrap="square" lIns="0" tIns="0" rIns="0" bIns="0" anchor="ctr">
            <a:spAutoFit/>
          </a:bodyPr>
          <a:lstStyle/>
          <a:p>
            <a:pPr algn="ctr"/>
            <a:r>
              <a:rPr sz="1400" b="1">
                <a:solidFill>
                  <a:srgbClr val="203864"/>
                </a:solidFill>
                <a:latin typeface="Arial"/>
              </a:rPr>
              <a:t>SUM(Sales[Revenue])</a:t>
            </a:r>
          </a:p>
        </p:txBody>
      </p:sp>
      <p:cxnSp>
        <p:nvCxnSpPr>
          <p:cNvPr id="12" name="Arrow 1"/>
          <p:cNvCxnSpPr/>
          <p:nvPr/>
        </p:nvCxnSpPr>
        <p:spPr>
          <a:xfrm flipH="1">
            <a:off x="3675887" y="2103120"/>
            <a:ext cx="320041" cy="0"/>
          </a:xfrm>
          <a:prstGeom prst="line">
            <a:avLst/>
          </a:prstGeom>
          <a:ln w="28575">
            <a:solidFill>
              <a:srgbClr val="3398D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Arrow 2"/>
          <p:cNvCxnSpPr/>
          <p:nvPr/>
        </p:nvCxnSpPr>
        <p:spPr>
          <a:xfrm flipH="1">
            <a:off x="6464808" y="2103120"/>
            <a:ext cx="320040" cy="0"/>
          </a:xfrm>
          <a:prstGeom prst="line">
            <a:avLst/>
          </a:prstGeom>
          <a:ln w="28575">
            <a:solidFill>
              <a:srgbClr val="3398DA"/>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Three times"/>
          <p:cNvGraphicFramePr>
            <a:graphicFrameLocks noGrp="1"/>
          </p:cNvGraphicFramePr>
          <p:nvPr/>
        </p:nvGraphicFramePr>
        <p:xfrm>
          <a:off x="1527048" y="2926080"/>
          <a:ext cx="4663440" cy="1536192"/>
        </p:xfrm>
        <a:graphic>
          <a:graphicData uri="http://schemas.openxmlformats.org/drawingml/2006/table">
            <a:tbl>
              <a:tblPr firstRow="1"/>
              <a:tblGrid>
                <a:gridCol w="11887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tblGrid>
              <a:tr h="384048">
                <a:tc>
                  <a:txBody>
                    <a:bodyPr/>
                    <a:lstStyle/>
                    <a:p>
                      <a:r>
                        <a:rPr sz="1300" b="1">
                          <a:solidFill>
                            <a:srgbClr val="FFFFFF"/>
                          </a:solidFill>
                          <a:latin typeface="Arial"/>
                        </a:rPr>
                        <a:t>Buổi</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300" b="1">
                          <a:solidFill>
                            <a:srgbClr val="FFFFFF"/>
                          </a:solidFill>
                          <a:latin typeface="Arial"/>
                        </a:rPr>
                        <a:t>Cùng một ý</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384048">
                <a:tc>
                  <a:txBody>
                    <a:bodyPr/>
                    <a:lstStyle/>
                    <a:p>
                      <a:r>
                        <a:rPr sz="1300" b="1">
                          <a:solidFill>
                            <a:srgbClr val="1B2230"/>
                          </a:solidFill>
                          <a:latin typeface="Arial"/>
                        </a:rPr>
                        <a:t>B2</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tiêu chí SUMIFS (KPI_SUMIFS!D6)</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384048">
                <a:tc>
                  <a:txBody>
                    <a:bodyPr/>
                    <a:lstStyle/>
                    <a:p>
                      <a:r>
                        <a:rPr sz="1300" b="1">
                          <a:solidFill>
                            <a:srgbClr val="1B2230"/>
                          </a:solidFill>
                          <a:latin typeface="Arial"/>
                        </a:rPr>
                        <a:t>B3</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tọa độ ô Pivot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384048">
                <a:tc>
                  <a:txBody>
                    <a:bodyPr/>
                    <a:lstStyle/>
                    <a:p>
                      <a:r>
                        <a:rPr sz="1300" b="1">
                          <a:solidFill>
                            <a:srgbClr val="1B2230"/>
                          </a:solidFill>
                          <a:latin typeface="Arial"/>
                        </a:rPr>
                        <a:t>B5</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300" b="0">
                          <a:solidFill>
                            <a:srgbClr val="1B2230"/>
                          </a:solidFill>
                          <a:latin typeface="Arial"/>
                        </a:rPr>
                        <a:t>filter context của measure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sp>
        <p:nvSpPr>
          <p:cNvPr id="15" name="TextBox"/>
          <p:cNvSpPr txBox="1"/>
          <p:nvPr/>
        </p:nvSpPr>
        <p:spPr>
          <a:xfrm>
            <a:off x="1527048" y="4617720"/>
            <a:ext cx="4663440" cy="1463040"/>
          </a:xfrm>
          <a:prstGeom prst="rect">
            <a:avLst/>
          </a:prstGeom>
          <a:noFill/>
        </p:spPr>
        <p:txBody>
          <a:bodyPr wrap="square" lIns="0" tIns="0" rIns="0" bIns="0" anchor="t">
            <a:spAutoFit/>
          </a:bodyPr>
          <a:lstStyle/>
          <a:p>
            <a:r>
              <a:rPr sz="1400" b="1" dirty="0">
                <a:solidFill>
                  <a:srgbClr val="203864"/>
                </a:solidFill>
                <a:latin typeface="Arial"/>
              </a:rPr>
              <a:t>1. </a:t>
            </a:r>
            <a:r>
              <a:rPr sz="1400" b="0" dirty="0" err="1">
                <a:solidFill>
                  <a:srgbClr val="1B2230"/>
                </a:solidFill>
                <a:latin typeface="Arial"/>
              </a:rPr>
              <a:t>Đọc</a:t>
            </a:r>
            <a:r>
              <a:rPr sz="1400" b="0" dirty="0">
                <a:solidFill>
                  <a:srgbClr val="1B2230"/>
                </a:solidFill>
                <a:latin typeface="Arial"/>
              </a:rPr>
              <a:t> </a:t>
            </a:r>
            <a:r>
              <a:rPr sz="1400" b="0" dirty="0" err="1">
                <a:solidFill>
                  <a:srgbClr val="1B2230"/>
                </a:solidFill>
                <a:latin typeface="Arial"/>
              </a:rPr>
              <a:t>tọa</a:t>
            </a:r>
            <a:r>
              <a:rPr sz="1400" b="0" dirty="0">
                <a:solidFill>
                  <a:srgbClr val="1B2230"/>
                </a:solidFill>
                <a:latin typeface="Arial"/>
              </a:rPr>
              <a:t> </a:t>
            </a:r>
            <a:r>
              <a:rPr sz="1400" b="0" dirty="0" err="1">
                <a:solidFill>
                  <a:srgbClr val="1B2230"/>
                </a:solidFill>
                <a:latin typeface="Arial"/>
              </a:rPr>
              <a:t>độ</a:t>
            </a:r>
            <a:r>
              <a:rPr sz="1400" b="0" dirty="0">
                <a:solidFill>
                  <a:srgbClr val="1B2230"/>
                </a:solidFill>
                <a:latin typeface="Arial"/>
              </a:rPr>
              <a:t> ô: </a:t>
            </a:r>
            <a:r>
              <a:rPr sz="1400" b="0" dirty="0" err="1">
                <a:solidFill>
                  <a:srgbClr val="1B2230"/>
                </a:solidFill>
                <a:latin typeface="Arial"/>
              </a:rPr>
              <a:t>hàng</a:t>
            </a:r>
            <a:r>
              <a:rPr sz="1400" b="0" dirty="0">
                <a:solidFill>
                  <a:srgbClr val="1B2230"/>
                </a:solidFill>
                <a:latin typeface="Arial"/>
              </a:rPr>
              <a:t>, </a:t>
            </a:r>
            <a:r>
              <a:rPr sz="1400" b="0" dirty="0" err="1">
                <a:solidFill>
                  <a:srgbClr val="1B2230"/>
                </a:solidFill>
                <a:latin typeface="Arial"/>
              </a:rPr>
              <a:t>cột</a:t>
            </a:r>
            <a:r>
              <a:rPr sz="1400" b="0" dirty="0">
                <a:solidFill>
                  <a:srgbClr val="1B2230"/>
                </a:solidFill>
                <a:latin typeface="Arial"/>
              </a:rPr>
              <a:t>, Filters, Slicer</a:t>
            </a:r>
          </a:p>
          <a:p>
            <a:pPr>
              <a:spcBef>
                <a:spcPts val="400"/>
              </a:spcBef>
            </a:pPr>
            <a:r>
              <a:rPr sz="1400" b="1" dirty="0">
                <a:solidFill>
                  <a:srgbClr val="203864"/>
                </a:solidFill>
                <a:latin typeface="Arial"/>
              </a:rPr>
              <a:t>2. </a:t>
            </a:r>
            <a:r>
              <a:rPr sz="1400" b="0" dirty="0" err="1">
                <a:solidFill>
                  <a:srgbClr val="1B2230"/>
                </a:solidFill>
                <a:latin typeface="Arial"/>
              </a:rPr>
              <a:t>Bộ</a:t>
            </a:r>
            <a:r>
              <a:rPr sz="1400" b="0" dirty="0">
                <a:solidFill>
                  <a:srgbClr val="1B2230"/>
                </a:solidFill>
                <a:latin typeface="Arial"/>
              </a:rPr>
              <a:t> </a:t>
            </a:r>
            <a:r>
              <a:rPr sz="1400" b="0" dirty="0" err="1">
                <a:solidFill>
                  <a:srgbClr val="1B2230"/>
                </a:solidFill>
                <a:latin typeface="Arial"/>
              </a:rPr>
              <a:t>lọc</a:t>
            </a:r>
            <a:r>
              <a:rPr sz="1400" b="0" dirty="0">
                <a:solidFill>
                  <a:srgbClr val="1B2230"/>
                </a:solidFill>
                <a:latin typeface="Arial"/>
              </a:rPr>
              <a:t> </a:t>
            </a:r>
            <a:r>
              <a:rPr sz="1400" b="0" dirty="0" err="1">
                <a:solidFill>
                  <a:srgbClr val="1B2230"/>
                </a:solidFill>
                <a:latin typeface="Arial"/>
              </a:rPr>
              <a:t>chảy</a:t>
            </a:r>
            <a:r>
              <a:rPr sz="1400" b="0" dirty="0">
                <a:solidFill>
                  <a:srgbClr val="1B2230"/>
                </a:solidFill>
                <a:latin typeface="Arial"/>
              </a:rPr>
              <a:t> </a:t>
            </a:r>
            <a:r>
              <a:rPr sz="1400" b="0" dirty="0" err="1">
                <a:solidFill>
                  <a:srgbClr val="1B2230"/>
                </a:solidFill>
                <a:latin typeface="Arial"/>
              </a:rPr>
              <a:t>theo</a:t>
            </a:r>
            <a:r>
              <a:rPr sz="1400" b="0" dirty="0">
                <a:solidFill>
                  <a:srgbClr val="1B2230"/>
                </a:solidFill>
                <a:latin typeface="Arial"/>
              </a:rPr>
              <a:t> relationship, lookup → Sales</a:t>
            </a:r>
          </a:p>
          <a:p>
            <a:pPr>
              <a:spcBef>
                <a:spcPts val="400"/>
              </a:spcBef>
            </a:pPr>
            <a:r>
              <a:rPr sz="1400" b="1" dirty="0">
                <a:solidFill>
                  <a:srgbClr val="203864"/>
                </a:solidFill>
                <a:latin typeface="Arial"/>
              </a:rPr>
              <a:t>3. </a:t>
            </a:r>
            <a:r>
              <a:rPr sz="1400" b="0" dirty="0" err="1">
                <a:solidFill>
                  <a:srgbClr val="1B2230"/>
                </a:solidFill>
                <a:latin typeface="Arial"/>
              </a:rPr>
              <a:t>Tính</a:t>
            </a:r>
            <a:r>
              <a:rPr sz="1400" b="0" dirty="0">
                <a:solidFill>
                  <a:srgbClr val="1B2230"/>
                </a:solidFill>
                <a:latin typeface="Arial"/>
              </a:rPr>
              <a:t> </a:t>
            </a:r>
            <a:r>
              <a:rPr sz="1400" b="0" dirty="0" err="1">
                <a:solidFill>
                  <a:srgbClr val="1B2230"/>
                </a:solidFill>
                <a:latin typeface="Arial"/>
              </a:rPr>
              <a:t>công</a:t>
            </a:r>
            <a:r>
              <a:rPr sz="1400" b="0" dirty="0">
                <a:solidFill>
                  <a:srgbClr val="1B2230"/>
                </a:solidFill>
                <a:latin typeface="Arial"/>
              </a:rPr>
              <a:t> </a:t>
            </a:r>
            <a:r>
              <a:rPr sz="1400" b="0" dirty="0" err="1">
                <a:solidFill>
                  <a:srgbClr val="1B2230"/>
                </a:solidFill>
                <a:latin typeface="Arial"/>
              </a:rPr>
              <a:t>thức</a:t>
            </a:r>
            <a:r>
              <a:rPr sz="1400" b="0" dirty="0">
                <a:solidFill>
                  <a:srgbClr val="1B2230"/>
                </a:solidFill>
                <a:latin typeface="Arial"/>
              </a:rPr>
              <a:t> </a:t>
            </a:r>
            <a:r>
              <a:rPr sz="1400" b="0" dirty="0" err="1">
                <a:solidFill>
                  <a:srgbClr val="1B2230"/>
                </a:solidFill>
                <a:latin typeface="Arial"/>
              </a:rPr>
              <a:t>trên</a:t>
            </a:r>
            <a:r>
              <a:rPr sz="1400" b="0" dirty="0">
                <a:solidFill>
                  <a:srgbClr val="1B2230"/>
                </a:solidFill>
                <a:latin typeface="Arial"/>
              </a:rPr>
              <a:t> </a:t>
            </a:r>
            <a:r>
              <a:rPr sz="1400" b="0" dirty="0" err="1">
                <a:solidFill>
                  <a:srgbClr val="1B2230"/>
                </a:solidFill>
                <a:latin typeface="Arial"/>
              </a:rPr>
              <a:t>các</a:t>
            </a:r>
            <a:r>
              <a:rPr sz="1400" b="0" dirty="0">
                <a:solidFill>
                  <a:srgbClr val="1B2230"/>
                </a:solidFill>
                <a:latin typeface="Arial"/>
              </a:rPr>
              <a:t> </a:t>
            </a:r>
            <a:r>
              <a:rPr sz="1400" b="0" dirty="0" err="1">
                <a:solidFill>
                  <a:srgbClr val="1B2230"/>
                </a:solidFill>
                <a:latin typeface="Arial"/>
              </a:rPr>
              <a:t>dòng</a:t>
            </a:r>
            <a:r>
              <a:rPr sz="1400" b="0" dirty="0">
                <a:solidFill>
                  <a:srgbClr val="1B2230"/>
                </a:solidFill>
                <a:latin typeface="Arial"/>
              </a:rPr>
              <a:t> </a:t>
            </a:r>
            <a:r>
              <a:rPr sz="1400" b="0" dirty="0" err="1">
                <a:solidFill>
                  <a:srgbClr val="1B2230"/>
                </a:solidFill>
                <a:latin typeface="Arial"/>
              </a:rPr>
              <a:t>còn</a:t>
            </a:r>
            <a:r>
              <a:rPr sz="1400" b="0" dirty="0">
                <a:solidFill>
                  <a:srgbClr val="1B2230"/>
                </a:solidFill>
                <a:latin typeface="Arial"/>
              </a:rPr>
              <a:t> </a:t>
            </a:r>
            <a:r>
              <a:rPr sz="1400" b="0" dirty="0" err="1">
                <a:solidFill>
                  <a:srgbClr val="1B2230"/>
                </a:solidFill>
                <a:latin typeface="Arial"/>
              </a:rPr>
              <a:t>lại</a:t>
            </a:r>
            <a:endParaRPr sz="1400" b="0" dirty="0">
              <a:solidFill>
                <a:srgbClr val="1B2230"/>
              </a:solidFill>
              <a:latin typeface="Arial"/>
            </a:endParaRPr>
          </a:p>
        </p:txBody>
      </p:sp>
      <p:pic>
        <p:nvPicPr>
          <p:cNvPr id="16" name="Screenshot S19_pivot_mien_thang" descr="S19_pivot_mien_thang.png"/>
          <p:cNvPicPr>
            <a:picLocks noChangeAspect="1"/>
          </p:cNvPicPr>
          <p:nvPr/>
        </p:nvPicPr>
        <p:blipFill>
          <a:blip r:embed="rId3"/>
          <a:stretch>
            <a:fillRect/>
          </a:stretch>
        </p:blipFill>
        <p:spPr>
          <a:xfrm>
            <a:off x="6373368" y="3451489"/>
            <a:ext cx="5276088" cy="2103861"/>
          </a:xfrm>
          <a:prstGeom prst="rect">
            <a:avLst/>
          </a:prstGeom>
          <a:ln w="9525">
            <a:solidFill>
              <a:srgbClr val="D9DEE8"/>
            </a:solidFill>
          </a:ln>
        </p:spPr>
      </p:pic>
      <p:sp>
        <p:nvSpPr>
          <p:cNvPr id="17"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bản sao Practice/B5_MCI_Mart_Answer.xlsx, sheet PV_Loc (trên lớp: Demo/B5_Demo_DAX.xlsx). Đối chiếu: sheet KPI_SUMIFS, ô D6 và E9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Lọc bằng cột của lookup</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4 · FILTER CONTEXT</a:t>
            </a:r>
          </a:p>
        </p:txBody>
      </p:sp>
      <p:sp>
        <p:nvSpPr>
          <p:cNvPr id="4" name="Tool name"/>
          <p:cNvSpPr txBox="1"/>
          <p:nvPr/>
        </p:nvSpPr>
        <p:spPr>
          <a:xfrm>
            <a:off x="1527048" y="1417320"/>
            <a:ext cx="10122408" cy="457200"/>
          </a:xfrm>
          <a:prstGeom prst="rect">
            <a:avLst/>
          </a:prstGeom>
          <a:noFill/>
        </p:spPr>
        <p:txBody>
          <a:bodyPr wrap="square" lIns="0" tIns="0" rIns="0" bIns="0" anchor="t">
            <a:spAutoFit/>
          </a:bodyPr>
          <a:lstStyle/>
          <a:p>
            <a:r>
              <a:rPr sz="2000" b="1">
                <a:solidFill>
                  <a:srgbClr val="C00000"/>
                </a:solidFill>
                <a:latin typeface="Arial"/>
              </a:rPr>
              <a:t>Hide from Client Tools  (Power Pivot: chuột phải tiêu đề cột)</a:t>
            </a:r>
          </a:p>
        </p:txBody>
      </p:sp>
      <p:sp>
        <p:nvSpPr>
          <p:cNvPr id="5" name="Tool purpose"/>
          <p:cNvSpPr txBox="1"/>
          <p:nvPr/>
        </p:nvSpPr>
        <p:spPr>
          <a:xfrm>
            <a:off x="1527048" y="1874519"/>
            <a:ext cx="10122408" cy="502920"/>
          </a:xfrm>
          <a:prstGeom prst="rect">
            <a:avLst/>
          </a:prstGeom>
          <a:noFill/>
        </p:spPr>
        <p:txBody>
          <a:bodyPr wrap="square" lIns="0" tIns="0" rIns="0" bIns="0" anchor="t">
            <a:spAutoFit/>
          </a:bodyPr>
          <a:lstStyle/>
          <a:p>
            <a:r>
              <a:rPr sz="1600" b="0" dirty="0" err="1">
                <a:solidFill>
                  <a:srgbClr val="585858"/>
                </a:solidFill>
                <a:latin typeface="Arial"/>
              </a:rPr>
              <a:t>Ẩn</a:t>
            </a:r>
            <a:r>
              <a:rPr sz="1600" b="0" dirty="0">
                <a:solidFill>
                  <a:srgbClr val="585858"/>
                </a:solidFill>
                <a:latin typeface="Arial"/>
              </a:rPr>
              <a:t> </a:t>
            </a:r>
            <a:r>
              <a:rPr sz="1600" b="0" dirty="0" err="1">
                <a:solidFill>
                  <a:srgbClr val="585858"/>
                </a:solidFill>
                <a:latin typeface="Arial"/>
              </a:rPr>
              <a:t>cột</a:t>
            </a:r>
            <a:r>
              <a:rPr sz="1600" b="0" dirty="0">
                <a:solidFill>
                  <a:srgbClr val="585858"/>
                </a:solidFill>
                <a:latin typeface="Arial"/>
              </a:rPr>
              <a:t> </a:t>
            </a:r>
            <a:r>
              <a:rPr sz="1600" b="0" dirty="0" err="1">
                <a:solidFill>
                  <a:srgbClr val="585858"/>
                </a:solidFill>
                <a:latin typeface="Arial"/>
              </a:rPr>
              <a:t>khỏi</a:t>
            </a:r>
            <a:r>
              <a:rPr sz="1600" b="0" dirty="0">
                <a:solidFill>
                  <a:srgbClr val="585858"/>
                </a:solidFill>
                <a:latin typeface="Arial"/>
              </a:rPr>
              <a:t> </a:t>
            </a:r>
            <a:r>
              <a:rPr sz="1600" b="0" dirty="0" err="1">
                <a:solidFill>
                  <a:srgbClr val="585858"/>
                </a:solidFill>
                <a:latin typeface="Arial"/>
              </a:rPr>
              <a:t>danh</a:t>
            </a:r>
            <a:r>
              <a:rPr sz="1600" b="0" dirty="0">
                <a:solidFill>
                  <a:srgbClr val="585858"/>
                </a:solidFill>
                <a:latin typeface="Arial"/>
              </a:rPr>
              <a:t> </a:t>
            </a:r>
            <a:r>
              <a:rPr sz="1600" b="0" dirty="0" err="1">
                <a:solidFill>
                  <a:srgbClr val="585858"/>
                </a:solidFill>
                <a:latin typeface="Arial"/>
              </a:rPr>
              <a:t>sách</a:t>
            </a:r>
            <a:r>
              <a:rPr sz="1600" b="0" dirty="0">
                <a:solidFill>
                  <a:srgbClr val="585858"/>
                </a:solidFill>
                <a:latin typeface="Arial"/>
              </a:rPr>
              <a:t> </a:t>
            </a:r>
            <a:r>
              <a:rPr sz="1600" b="0" dirty="0" err="1">
                <a:solidFill>
                  <a:srgbClr val="585858"/>
                </a:solidFill>
                <a:latin typeface="Arial"/>
              </a:rPr>
              <a:t>trường</a:t>
            </a:r>
            <a:r>
              <a:rPr sz="1600" b="0" dirty="0">
                <a:solidFill>
                  <a:srgbClr val="585858"/>
                </a:solidFill>
                <a:latin typeface="Arial"/>
              </a:rPr>
              <a:t> </a:t>
            </a:r>
            <a:r>
              <a:rPr sz="1600" b="0" dirty="0" err="1">
                <a:solidFill>
                  <a:srgbClr val="585858"/>
                </a:solidFill>
                <a:latin typeface="Arial"/>
              </a:rPr>
              <a:t>của</a:t>
            </a:r>
            <a:r>
              <a:rPr sz="1600" b="0" dirty="0">
                <a:solidFill>
                  <a:srgbClr val="585858"/>
                </a:solidFill>
                <a:latin typeface="Arial"/>
              </a:rPr>
              <a:t> Pivot, </a:t>
            </a:r>
            <a:r>
              <a:rPr sz="1600" b="0" dirty="0" err="1">
                <a:solidFill>
                  <a:srgbClr val="585858"/>
                </a:solidFill>
                <a:latin typeface="Arial"/>
              </a:rPr>
              <a:t>để</a:t>
            </a:r>
            <a:r>
              <a:rPr sz="1600" b="0" dirty="0">
                <a:solidFill>
                  <a:srgbClr val="585858"/>
                </a:solidFill>
                <a:latin typeface="Arial"/>
              </a:rPr>
              <a:t> </a:t>
            </a:r>
            <a:r>
              <a:rPr sz="1600" b="0" dirty="0" err="1">
                <a:solidFill>
                  <a:srgbClr val="585858"/>
                </a:solidFill>
                <a:latin typeface="Arial"/>
              </a:rPr>
              <a:t>người</a:t>
            </a:r>
            <a:r>
              <a:rPr sz="1600" b="0" dirty="0">
                <a:solidFill>
                  <a:srgbClr val="585858"/>
                </a:solidFill>
                <a:latin typeface="Arial"/>
              </a:rPr>
              <a:t> </a:t>
            </a:r>
            <a:r>
              <a:rPr sz="1600" b="0" dirty="0" err="1">
                <a:solidFill>
                  <a:srgbClr val="585858"/>
                </a:solidFill>
                <a:latin typeface="Arial"/>
              </a:rPr>
              <a:t>dùng</a:t>
            </a:r>
            <a:r>
              <a:rPr sz="1600" b="0" dirty="0">
                <a:solidFill>
                  <a:srgbClr val="585858"/>
                </a:solidFill>
                <a:latin typeface="Arial"/>
              </a:rPr>
              <a:t> </a:t>
            </a:r>
            <a:r>
              <a:rPr sz="1600" b="0" dirty="0" err="1">
                <a:solidFill>
                  <a:srgbClr val="585858"/>
                </a:solidFill>
                <a:latin typeface="Arial"/>
              </a:rPr>
              <a:t>không</a:t>
            </a:r>
            <a:r>
              <a:rPr sz="1600" b="0" dirty="0">
                <a:solidFill>
                  <a:srgbClr val="585858"/>
                </a:solidFill>
                <a:latin typeface="Arial"/>
              </a:rPr>
              <a:t> </a:t>
            </a:r>
            <a:r>
              <a:rPr sz="1600" b="0" dirty="0" err="1">
                <a:solidFill>
                  <a:srgbClr val="585858"/>
                </a:solidFill>
                <a:latin typeface="Arial"/>
              </a:rPr>
              <a:t>kéo</a:t>
            </a:r>
            <a:r>
              <a:rPr sz="1600" b="0" dirty="0">
                <a:solidFill>
                  <a:srgbClr val="585858"/>
                </a:solidFill>
                <a:latin typeface="Arial"/>
              </a:rPr>
              <a:t> </a:t>
            </a:r>
            <a:r>
              <a:rPr sz="1600" b="0" dirty="0" err="1">
                <a:solidFill>
                  <a:srgbClr val="585858"/>
                </a:solidFill>
                <a:latin typeface="Arial"/>
              </a:rPr>
              <a:t>nhầm</a:t>
            </a:r>
            <a:r>
              <a:rPr sz="1600" b="0" dirty="0">
                <a:solidFill>
                  <a:srgbClr val="585858"/>
                </a:solidFill>
                <a:latin typeface="Arial"/>
              </a:rPr>
              <a:t> </a:t>
            </a:r>
            <a:r>
              <a:rPr sz="1600" b="0" dirty="0" err="1">
                <a:solidFill>
                  <a:srgbClr val="585858"/>
                </a:solidFill>
                <a:latin typeface="Arial"/>
              </a:rPr>
              <a:t>cột</a:t>
            </a:r>
            <a:r>
              <a:rPr sz="1600" b="0" dirty="0">
                <a:solidFill>
                  <a:srgbClr val="585858"/>
                </a:solidFill>
                <a:latin typeface="Arial"/>
              </a:rPr>
              <a:t> </a:t>
            </a:r>
            <a:r>
              <a:rPr sz="1600" b="0" dirty="0" err="1">
                <a:solidFill>
                  <a:srgbClr val="585858"/>
                </a:solidFill>
                <a:latin typeface="Arial"/>
              </a:rPr>
              <a:t>của</a:t>
            </a:r>
            <a:r>
              <a:rPr sz="1600" b="0" dirty="0">
                <a:solidFill>
                  <a:srgbClr val="585858"/>
                </a:solidFill>
                <a:latin typeface="Arial"/>
              </a:rPr>
              <a:t> </a:t>
            </a:r>
            <a:r>
              <a:rPr sz="1600" b="0" dirty="0" err="1">
                <a:solidFill>
                  <a:srgbClr val="585858"/>
                </a:solidFill>
                <a:latin typeface="Arial"/>
              </a:rPr>
              <a:t>bảng</a:t>
            </a:r>
            <a:r>
              <a:rPr sz="1600" b="0" dirty="0">
                <a:solidFill>
                  <a:srgbClr val="585858"/>
                </a:solidFill>
                <a:latin typeface="Arial"/>
              </a:rPr>
              <a:t> fact </a:t>
            </a:r>
            <a:r>
              <a:rPr sz="1600" b="0" dirty="0" err="1">
                <a:solidFill>
                  <a:srgbClr val="585858"/>
                </a:solidFill>
                <a:latin typeface="Arial"/>
              </a:rPr>
              <a:t>vào</a:t>
            </a:r>
            <a:r>
              <a:rPr sz="1600" b="0" dirty="0">
                <a:solidFill>
                  <a:srgbClr val="585858"/>
                </a:solidFill>
                <a:latin typeface="Arial"/>
              </a:rPr>
              <a:t> Rows / Columns.</a:t>
            </a:r>
          </a:p>
        </p:txBody>
      </p:sp>
      <p:pic>
        <p:nvPicPr>
          <p:cNvPr id="6" name="Screenshot S20_lookup_vs_fact" descr="S20_lookup_vs_fact.png"/>
          <p:cNvPicPr>
            <a:picLocks noChangeAspect="1"/>
          </p:cNvPicPr>
          <p:nvPr/>
        </p:nvPicPr>
        <p:blipFill>
          <a:blip r:embed="rId3"/>
          <a:stretch>
            <a:fillRect/>
          </a:stretch>
        </p:blipFill>
        <p:spPr>
          <a:xfrm>
            <a:off x="1914727" y="2468880"/>
            <a:ext cx="5534002" cy="2606040"/>
          </a:xfrm>
          <a:prstGeom prst="rect">
            <a:avLst/>
          </a:prstGeom>
          <a:ln w="9525">
            <a:solidFill>
              <a:srgbClr val="D9DEE8"/>
            </a:solidFill>
          </a:ln>
        </p:spPr>
      </p:pic>
      <p:sp>
        <p:nvSpPr>
          <p:cNvPr id="7" name="Rule card"/>
          <p:cNvSpPr/>
          <p:nvPr/>
        </p:nvSpPr>
        <p:spPr>
          <a:xfrm>
            <a:off x="8001000" y="2468880"/>
            <a:ext cx="3648456" cy="2606040"/>
          </a:xfrm>
          <a:prstGeom prst="roundRect">
            <a:avLst>
              <a:gd name="adj" fmla="val 5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165592" y="2578608"/>
            <a:ext cx="3319272" cy="2386584"/>
          </a:xfrm>
          <a:prstGeom prst="rect">
            <a:avLst/>
          </a:prstGeom>
          <a:noFill/>
        </p:spPr>
        <p:txBody>
          <a:bodyPr wrap="square" lIns="0" tIns="0" rIns="0" bIns="0" anchor="t">
            <a:spAutoFit/>
          </a:bodyPr>
          <a:lstStyle/>
          <a:p>
            <a:r>
              <a:rPr sz="1500" b="1">
                <a:solidFill>
                  <a:srgbClr val="203864"/>
                </a:solidFill>
                <a:latin typeface="Arial"/>
              </a:rPr>
              <a:t>Quy tắc</a:t>
            </a:r>
          </a:p>
          <a:p>
            <a:pPr>
              <a:spcBef>
                <a:spcPts val="500"/>
              </a:spcBef>
            </a:pPr>
            <a:r>
              <a:rPr sz="1400" b="0">
                <a:solidFill>
                  <a:srgbClr val="1B2230"/>
                </a:solidFill>
                <a:latin typeface="Arial"/>
              </a:rPr>
              <a:t>Rows, Columns, Filters, Slicer: lấy cột của LOOKUP (Calendar, Store, Product, Customer).</a:t>
            </a:r>
          </a:p>
          <a:p>
            <a:pPr>
              <a:spcBef>
                <a:spcPts val="500"/>
              </a:spcBef>
            </a:pPr>
            <a:r>
              <a:rPr sz="1400" b="1">
                <a:solidFill>
                  <a:srgbClr val="1B2230"/>
                </a:solidFill>
                <a:latin typeface="Arial"/>
              </a:rPr>
              <a:t>Sales[Thang] </a:t>
            </a:r>
            <a:r>
              <a:rPr sz="1400" b="0">
                <a:solidFill>
                  <a:srgbClr val="1B2230"/>
                </a:solidFill>
                <a:latin typeface="Arial"/>
              </a:rPr>
              <a:t>chỉ lọc được Sales, không chảy sang Target.</a:t>
            </a:r>
          </a:p>
        </p:txBody>
      </p:sp>
      <p:sp>
        <p:nvSpPr>
          <p:cNvPr id="9" name="TIP callout"/>
          <p:cNvSpPr/>
          <p:nvPr/>
        </p:nvSpPr>
        <p:spPr>
          <a:xfrm>
            <a:off x="1527048" y="5212080"/>
            <a:ext cx="10122408" cy="9144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1636776" y="532180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1" name="TIP text"/>
          <p:cNvSpPr txBox="1"/>
          <p:nvPr/>
        </p:nvSpPr>
        <p:spPr>
          <a:xfrm>
            <a:off x="2212848" y="5303520"/>
            <a:ext cx="9326880" cy="731520"/>
          </a:xfrm>
          <a:prstGeom prst="rect">
            <a:avLst/>
          </a:prstGeom>
          <a:noFill/>
        </p:spPr>
        <p:txBody>
          <a:bodyPr wrap="square" lIns="0" tIns="0" rIns="0" bIns="0" anchor="t">
            <a:spAutoFit/>
          </a:bodyPr>
          <a:lstStyle/>
          <a:p>
            <a:r>
              <a:rPr sz="1600" b="0" dirty="0" err="1">
                <a:solidFill>
                  <a:srgbClr val="1B2230"/>
                </a:solidFill>
                <a:latin typeface="Arial"/>
              </a:rPr>
              <a:t>Ẩn</a:t>
            </a:r>
            <a:r>
              <a:rPr sz="1600" b="0" dirty="0">
                <a:solidFill>
                  <a:srgbClr val="1B2230"/>
                </a:solidFill>
                <a:latin typeface="Arial"/>
              </a:rPr>
              <a:t>: Sales[Nam], [Thang], [</a:t>
            </a:r>
            <a:r>
              <a:rPr sz="1600" b="0" dirty="0" err="1">
                <a:solidFill>
                  <a:srgbClr val="1B2230"/>
                </a:solidFill>
                <a:latin typeface="Arial"/>
              </a:rPr>
              <a:t>Order_Date</a:t>
            </a:r>
            <a:r>
              <a:rPr sz="1600" b="0" dirty="0">
                <a:solidFill>
                  <a:srgbClr val="1B2230"/>
                </a:solidFill>
                <a:latin typeface="Arial"/>
              </a:rPr>
              <a:t>], [</a:t>
            </a:r>
            <a:r>
              <a:rPr sz="1600" b="0" dirty="0" err="1">
                <a:solidFill>
                  <a:srgbClr val="1B2230"/>
                </a:solidFill>
                <a:latin typeface="Arial"/>
              </a:rPr>
              <a:t>Store_Code</a:t>
            </a:r>
            <a:r>
              <a:rPr sz="1600" b="0" dirty="0">
                <a:solidFill>
                  <a:srgbClr val="1B2230"/>
                </a:solidFill>
                <a:latin typeface="Arial"/>
              </a:rPr>
              <a:t>], [</a:t>
            </a:r>
            <a:r>
              <a:rPr sz="1600" b="0" dirty="0" err="1">
                <a:solidFill>
                  <a:srgbClr val="1B2230"/>
                </a:solidFill>
                <a:latin typeface="Arial"/>
              </a:rPr>
              <a:t>Product_Code</a:t>
            </a:r>
            <a:r>
              <a:rPr sz="1600" b="0" dirty="0">
                <a:solidFill>
                  <a:srgbClr val="1B2230"/>
                </a:solidFill>
                <a:latin typeface="Arial"/>
              </a:rPr>
              <a:t>], [</a:t>
            </a:r>
            <a:r>
              <a:rPr sz="1600" b="0" dirty="0" err="1">
                <a:solidFill>
                  <a:srgbClr val="1B2230"/>
                </a:solidFill>
                <a:latin typeface="Arial"/>
              </a:rPr>
              <a:t>Customer_ID</a:t>
            </a:r>
            <a:r>
              <a:rPr sz="1600" b="0" dirty="0">
                <a:solidFill>
                  <a:srgbClr val="1B2230"/>
                </a:solidFill>
                <a:latin typeface="Arial"/>
              </a:rPr>
              <a:t>] · Target[</a:t>
            </a:r>
            <a:r>
              <a:rPr sz="1600" b="0" dirty="0" err="1">
                <a:solidFill>
                  <a:srgbClr val="1B2230"/>
                </a:solidFill>
                <a:latin typeface="Arial"/>
              </a:rPr>
              <a:t>Store_Code</a:t>
            </a:r>
            <a:r>
              <a:rPr sz="1600" b="0" dirty="0">
                <a:solidFill>
                  <a:srgbClr val="1B2230"/>
                </a:solidFill>
                <a:latin typeface="Arial"/>
              </a:rPr>
              <a:t>], [Thang], [</a:t>
            </a:r>
            <a:r>
              <a:rPr sz="1600" b="0" dirty="0" err="1">
                <a:solidFill>
                  <a:srgbClr val="1B2230"/>
                </a:solidFill>
                <a:latin typeface="Arial"/>
              </a:rPr>
              <a:t>Ngay_Dau_Thang</a:t>
            </a:r>
            <a:r>
              <a:rPr sz="1600" b="0" dirty="0">
                <a:solidFill>
                  <a:srgbClr val="1B2230"/>
                </a:solidFill>
                <a:latin typeface="Arial"/>
              </a:rPr>
              <a:t>]. </a:t>
            </a:r>
            <a:r>
              <a:rPr sz="1600" b="0" dirty="0" err="1">
                <a:solidFill>
                  <a:srgbClr val="1B2230"/>
                </a:solidFill>
                <a:latin typeface="Arial"/>
              </a:rPr>
              <a:t>Cột</a:t>
            </a:r>
            <a:r>
              <a:rPr sz="1600" b="0" dirty="0">
                <a:solidFill>
                  <a:srgbClr val="1B2230"/>
                </a:solidFill>
                <a:latin typeface="Arial"/>
              </a:rPr>
              <a:t> </a:t>
            </a:r>
            <a:r>
              <a:rPr sz="1600" b="0" dirty="0" err="1">
                <a:solidFill>
                  <a:srgbClr val="1B2230"/>
                </a:solidFill>
                <a:latin typeface="Arial"/>
              </a:rPr>
              <a:t>ẩn</a:t>
            </a:r>
            <a:r>
              <a:rPr sz="1600" b="0" dirty="0">
                <a:solidFill>
                  <a:srgbClr val="1B2230"/>
                </a:solidFill>
                <a:latin typeface="Arial"/>
              </a:rPr>
              <a:t> </a:t>
            </a:r>
            <a:r>
              <a:rPr sz="1600" b="0" dirty="0" err="1">
                <a:solidFill>
                  <a:srgbClr val="1B2230"/>
                </a:solidFill>
                <a:latin typeface="Arial"/>
              </a:rPr>
              <a:t>chuyển</a:t>
            </a:r>
            <a:r>
              <a:rPr sz="1600" b="0" dirty="0">
                <a:solidFill>
                  <a:srgbClr val="1B2230"/>
                </a:solidFill>
                <a:latin typeface="Arial"/>
              </a:rPr>
              <a:t> </a:t>
            </a:r>
            <a:r>
              <a:rPr sz="1600" b="0" dirty="0" err="1">
                <a:solidFill>
                  <a:srgbClr val="1B2230"/>
                </a:solidFill>
                <a:latin typeface="Arial"/>
              </a:rPr>
              <a:t>màu</a:t>
            </a:r>
            <a:r>
              <a:rPr sz="1600" b="0" dirty="0">
                <a:solidFill>
                  <a:srgbClr val="1B2230"/>
                </a:solidFill>
                <a:latin typeface="Arial"/>
              </a:rPr>
              <a:t> </a:t>
            </a:r>
            <a:r>
              <a:rPr sz="1600" b="0" dirty="0" err="1">
                <a:solidFill>
                  <a:srgbClr val="1B2230"/>
                </a:solidFill>
                <a:latin typeface="Arial"/>
              </a:rPr>
              <a:t>xám</a:t>
            </a:r>
            <a:r>
              <a:rPr sz="1600" b="0" dirty="0">
                <a:solidFill>
                  <a:srgbClr val="1B2230"/>
                </a:solidFill>
                <a:latin typeface="Arial"/>
              </a:rPr>
              <a:t> </a:t>
            </a:r>
            <a:r>
              <a:rPr sz="1600" b="0" dirty="0" err="1">
                <a:solidFill>
                  <a:srgbClr val="1B2230"/>
                </a:solidFill>
                <a:latin typeface="Arial"/>
              </a:rPr>
              <a:t>trong</a:t>
            </a:r>
            <a:r>
              <a:rPr sz="1600" b="0" dirty="0">
                <a:solidFill>
                  <a:srgbClr val="1B2230"/>
                </a:solidFill>
                <a:latin typeface="Arial"/>
              </a:rPr>
              <a:t> Data View.</a:t>
            </a:r>
          </a:p>
        </p:txBody>
      </p:sp>
      <p:sp>
        <p:nvSpPr>
          <p:cNvPr id="12"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bản sao Demo/B5_Demo_DAX.xlsx, sheet PV_Lookup_vs_Fact (tạo trong demo)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5. CALCULATE và ALL: đổi bộ lọc có chủ đích</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CALCULATE</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CALCULATE &amp; ALL</a:t>
            </a:r>
          </a:p>
        </p:txBody>
      </p:sp>
      <p:sp>
        <p:nvSpPr>
          <p:cNvPr id="4" name="Tool name"/>
          <p:cNvSpPr txBox="1"/>
          <p:nvPr/>
        </p:nvSpPr>
        <p:spPr>
          <a:xfrm>
            <a:off x="1527048" y="1417320"/>
            <a:ext cx="10122408" cy="457200"/>
          </a:xfrm>
          <a:prstGeom prst="rect">
            <a:avLst/>
          </a:prstGeom>
          <a:noFill/>
        </p:spPr>
        <p:txBody>
          <a:bodyPr wrap="square" lIns="0" tIns="0" rIns="0" bIns="0" anchor="t">
            <a:spAutoFit/>
          </a:bodyPr>
          <a:lstStyle/>
          <a:p>
            <a:r>
              <a:rPr sz="2200" b="1">
                <a:solidFill>
                  <a:srgbClr val="C00000"/>
                </a:solidFill>
                <a:latin typeface="Arial"/>
              </a:rPr>
              <a:t>CALCULATE(&lt;biểu thức&gt;, &lt;bộ lọc 1&gt;, &lt;bộ lọc 2&gt;, …)</a:t>
            </a:r>
          </a:p>
        </p:txBody>
      </p:sp>
      <p:sp>
        <p:nvSpPr>
          <p:cNvPr id="5" name="Tool purpose"/>
          <p:cNvSpPr txBox="1"/>
          <p:nvPr/>
        </p:nvSpPr>
        <p:spPr>
          <a:xfrm>
            <a:off x="1527048" y="1874519"/>
            <a:ext cx="10122408" cy="548640"/>
          </a:xfrm>
          <a:prstGeom prst="rect">
            <a:avLst/>
          </a:prstGeom>
          <a:noFill/>
        </p:spPr>
        <p:txBody>
          <a:bodyPr wrap="square" lIns="0" tIns="0" rIns="0" bIns="0" anchor="t">
            <a:spAutoFit/>
          </a:bodyPr>
          <a:lstStyle/>
          <a:p>
            <a:r>
              <a:rPr sz="1600" b="0" dirty="0" err="1">
                <a:solidFill>
                  <a:srgbClr val="585858"/>
                </a:solidFill>
                <a:latin typeface="Arial"/>
              </a:rPr>
              <a:t>Tính</a:t>
            </a:r>
            <a:r>
              <a:rPr sz="1600" b="0" dirty="0">
                <a:solidFill>
                  <a:srgbClr val="585858"/>
                </a:solidFill>
                <a:latin typeface="Arial"/>
              </a:rPr>
              <a:t> </a:t>
            </a:r>
            <a:r>
              <a:rPr sz="1600" b="0" dirty="0" err="1">
                <a:solidFill>
                  <a:srgbClr val="585858"/>
                </a:solidFill>
                <a:latin typeface="Arial"/>
              </a:rPr>
              <a:t>biểu</a:t>
            </a:r>
            <a:r>
              <a:rPr sz="1600" b="0" dirty="0">
                <a:solidFill>
                  <a:srgbClr val="585858"/>
                </a:solidFill>
                <a:latin typeface="Arial"/>
              </a:rPr>
              <a:t> </a:t>
            </a:r>
            <a:r>
              <a:rPr sz="1600" b="0" dirty="0" err="1">
                <a:solidFill>
                  <a:srgbClr val="585858"/>
                </a:solidFill>
                <a:latin typeface="Arial"/>
              </a:rPr>
              <a:t>thức</a:t>
            </a:r>
            <a:r>
              <a:rPr sz="1600" b="0" dirty="0">
                <a:solidFill>
                  <a:srgbClr val="585858"/>
                </a:solidFill>
                <a:latin typeface="Arial"/>
              </a:rPr>
              <a:t> </a:t>
            </a:r>
            <a:r>
              <a:rPr sz="1600" b="0" dirty="0" err="1">
                <a:solidFill>
                  <a:srgbClr val="585858"/>
                </a:solidFill>
                <a:latin typeface="Arial"/>
              </a:rPr>
              <a:t>dưới</a:t>
            </a:r>
            <a:r>
              <a:rPr sz="1600" b="0" dirty="0">
                <a:solidFill>
                  <a:srgbClr val="585858"/>
                </a:solidFill>
                <a:latin typeface="Arial"/>
              </a:rPr>
              <a:t> </a:t>
            </a:r>
            <a:r>
              <a:rPr sz="1600" b="0" dirty="0" err="1">
                <a:solidFill>
                  <a:srgbClr val="585858"/>
                </a:solidFill>
                <a:latin typeface="Arial"/>
              </a:rPr>
              <a:t>bộ</a:t>
            </a:r>
            <a:r>
              <a:rPr sz="1600" b="0" dirty="0">
                <a:solidFill>
                  <a:srgbClr val="585858"/>
                </a:solidFill>
                <a:latin typeface="Arial"/>
              </a:rPr>
              <a:t> </a:t>
            </a:r>
            <a:r>
              <a:rPr sz="1600" b="0" dirty="0" err="1">
                <a:solidFill>
                  <a:srgbClr val="585858"/>
                </a:solidFill>
                <a:latin typeface="Arial"/>
              </a:rPr>
              <a:t>lọc</a:t>
            </a:r>
            <a:r>
              <a:rPr sz="1600" b="0" dirty="0">
                <a:solidFill>
                  <a:srgbClr val="585858"/>
                </a:solidFill>
                <a:latin typeface="Arial"/>
              </a:rPr>
              <a:t> </a:t>
            </a:r>
            <a:r>
              <a:rPr sz="1600" b="0" dirty="0" err="1">
                <a:solidFill>
                  <a:srgbClr val="585858"/>
                </a:solidFill>
                <a:latin typeface="Arial"/>
              </a:rPr>
              <a:t>mình</a:t>
            </a:r>
            <a:r>
              <a:rPr sz="1600" b="0" dirty="0">
                <a:solidFill>
                  <a:srgbClr val="585858"/>
                </a:solidFill>
                <a:latin typeface="Arial"/>
              </a:rPr>
              <a:t> </a:t>
            </a:r>
            <a:r>
              <a:rPr sz="1600" b="0" dirty="0" err="1">
                <a:solidFill>
                  <a:srgbClr val="585858"/>
                </a:solidFill>
                <a:latin typeface="Arial"/>
              </a:rPr>
              <a:t>đặt</a:t>
            </a:r>
            <a:r>
              <a:rPr sz="1600" b="0" dirty="0">
                <a:solidFill>
                  <a:srgbClr val="585858"/>
                </a:solidFill>
                <a:latin typeface="Arial"/>
              </a:rPr>
              <a:t>; </a:t>
            </a:r>
            <a:r>
              <a:rPr sz="1600" b="0" dirty="0" err="1">
                <a:solidFill>
                  <a:srgbClr val="585858"/>
                </a:solidFill>
                <a:latin typeface="Arial"/>
              </a:rPr>
              <a:t>bộ</a:t>
            </a:r>
            <a:r>
              <a:rPr sz="1600" b="0" dirty="0">
                <a:solidFill>
                  <a:srgbClr val="585858"/>
                </a:solidFill>
                <a:latin typeface="Arial"/>
              </a:rPr>
              <a:t> </a:t>
            </a:r>
            <a:r>
              <a:rPr sz="1600" b="0" dirty="0" err="1">
                <a:solidFill>
                  <a:srgbClr val="585858"/>
                </a:solidFill>
                <a:latin typeface="Arial"/>
              </a:rPr>
              <a:t>lọc</a:t>
            </a:r>
            <a:r>
              <a:rPr sz="1600" b="0" dirty="0">
                <a:solidFill>
                  <a:srgbClr val="585858"/>
                </a:solidFill>
                <a:latin typeface="Arial"/>
              </a:rPr>
              <a:t> </a:t>
            </a:r>
            <a:r>
              <a:rPr sz="1600" b="0" dirty="0" err="1">
                <a:solidFill>
                  <a:srgbClr val="585858"/>
                </a:solidFill>
                <a:latin typeface="Arial"/>
              </a:rPr>
              <a:t>trong</a:t>
            </a:r>
            <a:r>
              <a:rPr sz="1600" b="0" dirty="0">
                <a:solidFill>
                  <a:srgbClr val="585858"/>
                </a:solidFill>
                <a:latin typeface="Arial"/>
              </a:rPr>
              <a:t> CALCULATE GHI ĐÈ </a:t>
            </a:r>
            <a:r>
              <a:rPr sz="1600" b="0" dirty="0" err="1">
                <a:solidFill>
                  <a:srgbClr val="585858"/>
                </a:solidFill>
                <a:latin typeface="Arial"/>
              </a:rPr>
              <a:t>bộ</a:t>
            </a:r>
            <a:r>
              <a:rPr sz="1600" b="0" dirty="0">
                <a:solidFill>
                  <a:srgbClr val="585858"/>
                </a:solidFill>
                <a:latin typeface="Arial"/>
              </a:rPr>
              <a:t> </a:t>
            </a:r>
            <a:r>
              <a:rPr sz="1600" b="0" dirty="0" err="1">
                <a:solidFill>
                  <a:srgbClr val="585858"/>
                </a:solidFill>
                <a:latin typeface="Arial"/>
              </a:rPr>
              <a:t>lọc</a:t>
            </a:r>
            <a:r>
              <a:rPr sz="1600" b="0" dirty="0">
                <a:solidFill>
                  <a:srgbClr val="585858"/>
                </a:solidFill>
                <a:latin typeface="Arial"/>
              </a:rPr>
              <a:t> </a:t>
            </a:r>
            <a:r>
              <a:rPr sz="1600" b="0" dirty="0" err="1">
                <a:solidFill>
                  <a:srgbClr val="585858"/>
                </a:solidFill>
                <a:latin typeface="Arial"/>
              </a:rPr>
              <a:t>cùng</a:t>
            </a:r>
            <a:r>
              <a:rPr sz="1600" b="0" dirty="0">
                <a:solidFill>
                  <a:srgbClr val="585858"/>
                </a:solidFill>
                <a:latin typeface="Arial"/>
              </a:rPr>
              <a:t> </a:t>
            </a:r>
            <a:r>
              <a:rPr sz="1600" b="0" dirty="0" err="1">
                <a:solidFill>
                  <a:srgbClr val="585858"/>
                </a:solidFill>
                <a:latin typeface="Arial"/>
              </a:rPr>
              <a:t>cột</a:t>
            </a:r>
            <a:r>
              <a:rPr sz="1600" b="0" dirty="0">
                <a:solidFill>
                  <a:srgbClr val="585858"/>
                </a:solidFill>
                <a:latin typeface="Arial"/>
              </a:rPr>
              <a:t> </a:t>
            </a:r>
            <a:r>
              <a:rPr sz="1600" b="0" dirty="0" err="1">
                <a:solidFill>
                  <a:srgbClr val="585858"/>
                </a:solidFill>
                <a:latin typeface="Arial"/>
              </a:rPr>
              <a:t>của</a:t>
            </a:r>
            <a:r>
              <a:rPr sz="1600" b="0" dirty="0">
                <a:solidFill>
                  <a:srgbClr val="585858"/>
                </a:solidFill>
                <a:latin typeface="Arial"/>
              </a:rPr>
              <a:t> ô Pivot, </a:t>
            </a:r>
            <a:r>
              <a:rPr sz="1600" b="0" dirty="0" err="1">
                <a:solidFill>
                  <a:srgbClr val="585858"/>
                </a:solidFill>
                <a:latin typeface="Arial"/>
              </a:rPr>
              <a:t>các</a:t>
            </a:r>
            <a:r>
              <a:rPr sz="1600" b="0" dirty="0">
                <a:solidFill>
                  <a:srgbClr val="585858"/>
                </a:solidFill>
                <a:latin typeface="Arial"/>
              </a:rPr>
              <a:t> </a:t>
            </a:r>
            <a:r>
              <a:rPr sz="1600" b="0" dirty="0" err="1">
                <a:solidFill>
                  <a:srgbClr val="585858"/>
                </a:solidFill>
                <a:latin typeface="Arial"/>
              </a:rPr>
              <a:t>bộ</a:t>
            </a:r>
            <a:r>
              <a:rPr sz="1600" b="0" dirty="0">
                <a:solidFill>
                  <a:srgbClr val="585858"/>
                </a:solidFill>
                <a:latin typeface="Arial"/>
              </a:rPr>
              <a:t> </a:t>
            </a:r>
            <a:r>
              <a:rPr sz="1600" b="0" dirty="0" err="1">
                <a:solidFill>
                  <a:srgbClr val="585858"/>
                </a:solidFill>
                <a:latin typeface="Arial"/>
              </a:rPr>
              <a:t>lọc</a:t>
            </a:r>
            <a:r>
              <a:rPr sz="1600" b="0" dirty="0">
                <a:solidFill>
                  <a:srgbClr val="585858"/>
                </a:solidFill>
                <a:latin typeface="Arial"/>
              </a:rPr>
              <a:t> </a:t>
            </a:r>
            <a:r>
              <a:rPr sz="1600" b="0" dirty="0" err="1">
                <a:solidFill>
                  <a:srgbClr val="585858"/>
                </a:solidFill>
                <a:latin typeface="Arial"/>
              </a:rPr>
              <a:t>khác</a:t>
            </a:r>
            <a:r>
              <a:rPr sz="1600" b="0" dirty="0">
                <a:solidFill>
                  <a:srgbClr val="585858"/>
                </a:solidFill>
                <a:latin typeface="Arial"/>
              </a:rPr>
              <a:t> </a:t>
            </a:r>
            <a:r>
              <a:rPr sz="1600" b="0" dirty="0" err="1">
                <a:solidFill>
                  <a:srgbClr val="585858"/>
                </a:solidFill>
                <a:latin typeface="Arial"/>
              </a:rPr>
              <a:t>giữ</a:t>
            </a:r>
            <a:r>
              <a:rPr sz="1600" b="0" dirty="0">
                <a:solidFill>
                  <a:srgbClr val="585858"/>
                </a:solidFill>
                <a:latin typeface="Arial"/>
              </a:rPr>
              <a:t> </a:t>
            </a:r>
            <a:r>
              <a:rPr sz="1600" b="0" dirty="0" err="1">
                <a:solidFill>
                  <a:srgbClr val="585858"/>
                </a:solidFill>
                <a:latin typeface="Arial"/>
              </a:rPr>
              <a:t>nguyên</a:t>
            </a:r>
            <a:r>
              <a:rPr sz="1600" b="0" dirty="0">
                <a:solidFill>
                  <a:srgbClr val="585858"/>
                </a:solidFill>
                <a:latin typeface="Arial"/>
              </a:rPr>
              <a:t>.</a:t>
            </a:r>
          </a:p>
        </p:txBody>
      </p:sp>
      <p:sp>
        <p:nvSpPr>
          <p:cNvPr id="6" name="Formula bar"/>
          <p:cNvSpPr/>
          <p:nvPr/>
        </p:nvSpPr>
        <p:spPr>
          <a:xfrm>
            <a:off x="1527048" y="2560320"/>
            <a:ext cx="10122408" cy="41148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618488" y="2560320"/>
            <a:ext cx="411480" cy="411480"/>
          </a:xfrm>
          <a:prstGeom prst="rect">
            <a:avLst/>
          </a:prstGeom>
          <a:noFill/>
        </p:spPr>
        <p:txBody>
          <a:bodyPr wrap="square" lIns="0" tIns="0" rIns="0" bIns="0" anchor="ctr">
            <a:spAutoFit/>
          </a:bodyPr>
          <a:lstStyle/>
          <a:p>
            <a:r>
              <a:rPr sz="1400" b="0" i="1">
                <a:solidFill>
                  <a:srgbClr val="6B6F76"/>
                </a:solidFill>
                <a:latin typeface="Arial"/>
              </a:rPr>
              <a:t>fx</a:t>
            </a:r>
          </a:p>
        </p:txBody>
      </p:sp>
      <p:sp>
        <p:nvSpPr>
          <p:cNvPr id="8" name="Formula"/>
          <p:cNvSpPr txBox="1"/>
          <p:nvPr/>
        </p:nvSpPr>
        <p:spPr>
          <a:xfrm>
            <a:off x="2075688" y="2560320"/>
            <a:ext cx="9482328" cy="411480"/>
          </a:xfrm>
          <a:prstGeom prst="rect">
            <a:avLst/>
          </a:prstGeom>
          <a:noFill/>
        </p:spPr>
        <p:txBody>
          <a:bodyPr wrap="square" lIns="0" tIns="0" rIns="0" bIns="0" anchor="ctr">
            <a:spAutoFit/>
          </a:bodyPr>
          <a:lstStyle/>
          <a:p>
            <a:r>
              <a:rPr sz="1600" b="0" dirty="0">
                <a:solidFill>
                  <a:srgbClr val="1B2230"/>
                </a:solidFill>
                <a:latin typeface="Arial"/>
              </a:rPr>
              <a:t>Revenue Mien Nam := CALCULATE([Total Revenue], Store[Region] = "Nam")</a:t>
            </a:r>
          </a:p>
        </p:txBody>
      </p:sp>
      <p:pic>
        <p:nvPicPr>
          <p:cNvPr id="9" name="Screenshot S22_calculate" descr="S22_calculate.png"/>
          <p:cNvPicPr>
            <a:picLocks noChangeAspect="1"/>
          </p:cNvPicPr>
          <p:nvPr/>
        </p:nvPicPr>
        <p:blipFill>
          <a:blip r:embed="rId3"/>
          <a:stretch>
            <a:fillRect/>
          </a:stretch>
        </p:blipFill>
        <p:spPr>
          <a:xfrm>
            <a:off x="2291131" y="3154680"/>
            <a:ext cx="4781193" cy="2103120"/>
          </a:xfrm>
          <a:prstGeom prst="rect">
            <a:avLst/>
          </a:prstGeom>
          <a:ln w="9525">
            <a:solidFill>
              <a:srgbClr val="D9DEE8"/>
            </a:solidFill>
          </a:ln>
        </p:spPr>
      </p:pic>
      <p:sp>
        <p:nvSpPr>
          <p:cNvPr id="10" name="Stat card"/>
          <p:cNvSpPr/>
          <p:nvPr/>
        </p:nvSpPr>
        <p:spPr>
          <a:xfrm>
            <a:off x="8001000" y="3154680"/>
            <a:ext cx="3648456" cy="21031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8183879" y="3246120"/>
            <a:ext cx="3282696" cy="1920239"/>
          </a:xfrm>
          <a:prstGeom prst="rect">
            <a:avLst/>
          </a:prstGeom>
          <a:noFill/>
        </p:spPr>
        <p:txBody>
          <a:bodyPr wrap="square" lIns="0" tIns="0" rIns="0" bIns="0" anchor="ctr">
            <a:spAutoFit/>
          </a:bodyPr>
          <a:lstStyle/>
          <a:p>
            <a:r>
              <a:rPr sz="1400" b="0">
                <a:solidFill>
                  <a:srgbClr val="585858"/>
                </a:solidFill>
                <a:latin typeface="Arial"/>
              </a:rPr>
              <a:t>Revenue Mien Nam ở dòng Bắc, Trung, Nam</a:t>
            </a:r>
          </a:p>
          <a:p>
            <a:pPr>
              <a:spcBef>
                <a:spcPts val="200"/>
              </a:spcBef>
            </a:pPr>
            <a:r>
              <a:rPr sz="2600" b="1">
                <a:solidFill>
                  <a:srgbClr val="203864"/>
                </a:solidFill>
                <a:latin typeface="Arial"/>
              </a:rPr>
              <a:t>427.663.000</a:t>
            </a:r>
          </a:p>
          <a:p>
            <a:pPr>
              <a:spcBef>
                <a:spcPts val="200"/>
              </a:spcBef>
            </a:pPr>
            <a:r>
              <a:rPr sz="1400" b="0">
                <a:solidFill>
                  <a:srgbClr val="1B2230"/>
                </a:solidFill>
                <a:latin typeface="Arial"/>
              </a:rPr>
              <a:t>Region bị thay bằng Nam; bộ lọc Quý 1 vẫn giữ</a:t>
            </a:r>
          </a:p>
        </p:txBody>
      </p:sp>
      <p:sp>
        <p:nvSpPr>
          <p:cNvPr id="12" name="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636776" y="5504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4" name="TIP text"/>
          <p:cNvSpPr txBox="1"/>
          <p:nvPr/>
        </p:nvSpPr>
        <p:spPr>
          <a:xfrm>
            <a:off x="2212848" y="5486400"/>
            <a:ext cx="9326880" cy="548640"/>
          </a:xfrm>
          <a:prstGeom prst="rect">
            <a:avLst/>
          </a:prstGeom>
          <a:noFill/>
        </p:spPr>
        <p:txBody>
          <a:bodyPr wrap="square" lIns="0" tIns="0" rIns="0" bIns="0" anchor="t">
            <a:spAutoFit/>
          </a:bodyPr>
          <a:lstStyle/>
          <a:p>
            <a:r>
              <a:rPr sz="1600" b="0">
                <a:solidFill>
                  <a:srgbClr val="1B2230"/>
                </a:solidFill>
                <a:latin typeface="Arial"/>
              </a:rPr>
              <a:t>Demo xong, xóa measure này: Power Pivot → Measures → Manage Measures → Delete.</a:t>
            </a:r>
          </a:p>
        </p:txBody>
      </p:sp>
      <p:sp>
        <p:nvSpPr>
          <p:cNvPr id="15"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bản sao Practice/B5_MCI_Mart_Answer.xlsx, sheet PV_Loc (trên lớp: Demo/B5_Demo_DAX.xlsx)</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ALL → % of Total</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CALCULATE &amp; ALL</a:t>
            </a:r>
          </a:p>
        </p:txBody>
      </p:sp>
      <p:sp>
        <p:nvSpPr>
          <p:cNvPr id="4" name="Tool name"/>
          <p:cNvSpPr txBox="1"/>
          <p:nvPr/>
        </p:nvSpPr>
        <p:spPr>
          <a:xfrm>
            <a:off x="1527048" y="1417320"/>
            <a:ext cx="10122408" cy="457200"/>
          </a:xfrm>
          <a:prstGeom prst="rect">
            <a:avLst/>
          </a:prstGeom>
          <a:noFill/>
        </p:spPr>
        <p:txBody>
          <a:bodyPr wrap="square" lIns="0" tIns="0" rIns="0" bIns="0" anchor="t">
            <a:spAutoFit/>
          </a:bodyPr>
          <a:lstStyle/>
          <a:p>
            <a:r>
              <a:rPr sz="2200" b="1">
                <a:solidFill>
                  <a:srgbClr val="C00000"/>
                </a:solidFill>
                <a:latin typeface="Arial"/>
              </a:rPr>
              <a:t>ALL(&lt;bảng hoặc cột&gt;)</a:t>
            </a:r>
          </a:p>
        </p:txBody>
      </p:sp>
      <p:sp>
        <p:nvSpPr>
          <p:cNvPr id="5" name="Tool purpose"/>
          <p:cNvSpPr txBox="1"/>
          <p:nvPr/>
        </p:nvSpPr>
        <p:spPr>
          <a:xfrm>
            <a:off x="1527048" y="1874519"/>
            <a:ext cx="10122408" cy="457200"/>
          </a:xfrm>
          <a:prstGeom prst="rect">
            <a:avLst/>
          </a:prstGeom>
          <a:noFill/>
        </p:spPr>
        <p:txBody>
          <a:bodyPr wrap="square" lIns="0" tIns="0" rIns="0" bIns="0" anchor="t">
            <a:spAutoFit/>
          </a:bodyPr>
          <a:lstStyle/>
          <a:p>
            <a:r>
              <a:rPr sz="1600" b="0" dirty="0" err="1">
                <a:solidFill>
                  <a:srgbClr val="585858"/>
                </a:solidFill>
                <a:latin typeface="Arial"/>
              </a:rPr>
              <a:t>Bỏ</a:t>
            </a:r>
            <a:r>
              <a:rPr sz="1600" b="0" dirty="0">
                <a:solidFill>
                  <a:srgbClr val="585858"/>
                </a:solidFill>
                <a:latin typeface="Arial"/>
              </a:rPr>
              <a:t> </a:t>
            </a:r>
            <a:r>
              <a:rPr sz="1600" b="0" dirty="0" err="1">
                <a:solidFill>
                  <a:srgbClr val="585858"/>
                </a:solidFill>
                <a:latin typeface="Arial"/>
              </a:rPr>
              <a:t>mọi</a:t>
            </a:r>
            <a:r>
              <a:rPr sz="1600" b="0" dirty="0">
                <a:solidFill>
                  <a:srgbClr val="585858"/>
                </a:solidFill>
                <a:latin typeface="Arial"/>
              </a:rPr>
              <a:t> </a:t>
            </a:r>
            <a:r>
              <a:rPr sz="1600" b="0" dirty="0" err="1">
                <a:solidFill>
                  <a:srgbClr val="585858"/>
                </a:solidFill>
                <a:latin typeface="Arial"/>
              </a:rPr>
              <a:t>bộ</a:t>
            </a:r>
            <a:r>
              <a:rPr sz="1600" b="0" dirty="0">
                <a:solidFill>
                  <a:srgbClr val="585858"/>
                </a:solidFill>
                <a:latin typeface="Arial"/>
              </a:rPr>
              <a:t> </a:t>
            </a:r>
            <a:r>
              <a:rPr sz="1600" b="0" dirty="0" err="1">
                <a:solidFill>
                  <a:srgbClr val="585858"/>
                </a:solidFill>
                <a:latin typeface="Arial"/>
              </a:rPr>
              <a:t>lọc</a:t>
            </a:r>
            <a:r>
              <a:rPr sz="1600" b="0" dirty="0">
                <a:solidFill>
                  <a:srgbClr val="585858"/>
                </a:solidFill>
                <a:latin typeface="Arial"/>
              </a:rPr>
              <a:t> </a:t>
            </a:r>
            <a:r>
              <a:rPr sz="1600" b="0" dirty="0" err="1">
                <a:solidFill>
                  <a:srgbClr val="585858"/>
                </a:solidFill>
                <a:latin typeface="Arial"/>
              </a:rPr>
              <a:t>trên</a:t>
            </a:r>
            <a:r>
              <a:rPr sz="1600" b="0" dirty="0">
                <a:solidFill>
                  <a:srgbClr val="585858"/>
                </a:solidFill>
                <a:latin typeface="Arial"/>
              </a:rPr>
              <a:t> </a:t>
            </a:r>
            <a:r>
              <a:rPr sz="1600" b="0" dirty="0" err="1">
                <a:solidFill>
                  <a:srgbClr val="585858"/>
                </a:solidFill>
                <a:latin typeface="Arial"/>
              </a:rPr>
              <a:t>bảng</a:t>
            </a:r>
            <a:r>
              <a:rPr sz="1600" b="0" dirty="0">
                <a:solidFill>
                  <a:srgbClr val="585858"/>
                </a:solidFill>
                <a:latin typeface="Arial"/>
              </a:rPr>
              <a:t> (</a:t>
            </a:r>
            <a:r>
              <a:rPr sz="1600" b="0" dirty="0" err="1">
                <a:solidFill>
                  <a:srgbClr val="585858"/>
                </a:solidFill>
                <a:latin typeface="Arial"/>
              </a:rPr>
              <a:t>hoặc</a:t>
            </a:r>
            <a:r>
              <a:rPr sz="1600" b="0" dirty="0">
                <a:solidFill>
                  <a:srgbClr val="585858"/>
                </a:solidFill>
                <a:latin typeface="Arial"/>
              </a:rPr>
              <a:t> </a:t>
            </a:r>
            <a:r>
              <a:rPr sz="1600" b="0" dirty="0" err="1">
                <a:solidFill>
                  <a:srgbClr val="585858"/>
                </a:solidFill>
                <a:latin typeface="Arial"/>
              </a:rPr>
              <a:t>cột</a:t>
            </a:r>
            <a:r>
              <a:rPr sz="1600" b="0" dirty="0">
                <a:solidFill>
                  <a:srgbClr val="585858"/>
                </a:solidFill>
                <a:latin typeface="Arial"/>
              </a:rPr>
              <a:t>) </a:t>
            </a:r>
            <a:r>
              <a:rPr sz="1600" b="0" dirty="0" err="1">
                <a:solidFill>
                  <a:srgbClr val="585858"/>
                </a:solidFill>
                <a:latin typeface="Arial"/>
              </a:rPr>
              <a:t>đó</a:t>
            </a:r>
            <a:r>
              <a:rPr sz="1600" b="0" dirty="0">
                <a:solidFill>
                  <a:srgbClr val="585858"/>
                </a:solidFill>
                <a:latin typeface="Arial"/>
              </a:rPr>
              <a:t>: </a:t>
            </a:r>
            <a:r>
              <a:rPr sz="1600" b="0" dirty="0" err="1">
                <a:solidFill>
                  <a:srgbClr val="585858"/>
                </a:solidFill>
                <a:latin typeface="Arial"/>
              </a:rPr>
              <a:t>dùng</a:t>
            </a:r>
            <a:r>
              <a:rPr sz="1600" b="0" dirty="0">
                <a:solidFill>
                  <a:srgbClr val="585858"/>
                </a:solidFill>
                <a:latin typeface="Arial"/>
              </a:rPr>
              <a:t> </a:t>
            </a:r>
            <a:r>
              <a:rPr sz="1600" b="0" dirty="0" err="1">
                <a:solidFill>
                  <a:srgbClr val="585858"/>
                </a:solidFill>
                <a:latin typeface="Arial"/>
              </a:rPr>
              <a:t>trong</a:t>
            </a:r>
            <a:r>
              <a:rPr sz="1600" b="0" dirty="0">
                <a:solidFill>
                  <a:srgbClr val="585858"/>
                </a:solidFill>
                <a:latin typeface="Arial"/>
              </a:rPr>
              <a:t> CALCULATE </a:t>
            </a:r>
            <a:r>
              <a:rPr sz="1600" b="0" dirty="0" err="1">
                <a:solidFill>
                  <a:srgbClr val="585858"/>
                </a:solidFill>
                <a:latin typeface="Arial"/>
              </a:rPr>
              <a:t>để</a:t>
            </a:r>
            <a:r>
              <a:rPr sz="1600" b="0" dirty="0">
                <a:solidFill>
                  <a:srgbClr val="585858"/>
                </a:solidFill>
                <a:latin typeface="Arial"/>
              </a:rPr>
              <a:t> </a:t>
            </a:r>
            <a:r>
              <a:rPr sz="1600" b="0" dirty="0" err="1">
                <a:solidFill>
                  <a:srgbClr val="585858"/>
                </a:solidFill>
                <a:latin typeface="Arial"/>
              </a:rPr>
              <a:t>lấy</a:t>
            </a:r>
            <a:r>
              <a:rPr sz="1600" b="0" dirty="0">
                <a:solidFill>
                  <a:srgbClr val="585858"/>
                </a:solidFill>
                <a:latin typeface="Arial"/>
              </a:rPr>
              <a:t> "</a:t>
            </a:r>
            <a:r>
              <a:rPr sz="1600" b="0" dirty="0" err="1">
                <a:solidFill>
                  <a:srgbClr val="585858"/>
                </a:solidFill>
                <a:latin typeface="Arial"/>
              </a:rPr>
              <a:t>mẫu</a:t>
            </a:r>
            <a:r>
              <a:rPr sz="1600" b="0" dirty="0">
                <a:solidFill>
                  <a:srgbClr val="585858"/>
                </a:solidFill>
                <a:latin typeface="Arial"/>
              </a:rPr>
              <a:t> </a:t>
            </a:r>
            <a:r>
              <a:rPr sz="1600" b="0" dirty="0" err="1">
                <a:solidFill>
                  <a:srgbClr val="585858"/>
                </a:solidFill>
                <a:latin typeface="Arial"/>
              </a:rPr>
              <a:t>số</a:t>
            </a:r>
            <a:r>
              <a:rPr sz="1600" b="0" dirty="0">
                <a:solidFill>
                  <a:srgbClr val="585858"/>
                </a:solidFill>
                <a:latin typeface="Arial"/>
              </a:rPr>
              <a:t> </a:t>
            </a:r>
            <a:r>
              <a:rPr sz="1600" b="0" dirty="0" err="1">
                <a:solidFill>
                  <a:srgbClr val="585858"/>
                </a:solidFill>
                <a:latin typeface="Arial"/>
              </a:rPr>
              <a:t>chung</a:t>
            </a:r>
            <a:r>
              <a:rPr sz="1600" b="0" dirty="0">
                <a:solidFill>
                  <a:srgbClr val="585858"/>
                </a:solidFill>
                <a:latin typeface="Arial"/>
              </a:rPr>
              <a:t>".</a:t>
            </a:r>
          </a:p>
        </p:txBody>
      </p:sp>
      <p:graphicFrame>
        <p:nvGraphicFramePr>
          <p:cNvPr id="6" name="Measures"/>
          <p:cNvGraphicFramePr>
            <a:graphicFrameLocks noGrp="1"/>
          </p:cNvGraphicFramePr>
          <p:nvPr/>
        </p:nvGraphicFramePr>
        <p:xfrm>
          <a:off x="1527048" y="2423160"/>
          <a:ext cx="10122408" cy="1234440"/>
        </p:xfrm>
        <a:graphic>
          <a:graphicData uri="http://schemas.openxmlformats.org/drawingml/2006/table">
            <a:tbl>
              <a:tblPr firstRow="1"/>
              <a:tblGrid>
                <a:gridCol w="2743200">
                  <a:extLst>
                    <a:ext uri="{9D8B030D-6E8A-4147-A177-3AD203B41FA5}">
                      <a16:colId xmlns:a16="http://schemas.microsoft.com/office/drawing/2014/main" val="20000"/>
                    </a:ext>
                  </a:extLst>
                </a:gridCol>
                <a:gridCol w="7379208">
                  <a:extLst>
                    <a:ext uri="{9D8B030D-6E8A-4147-A177-3AD203B41FA5}">
                      <a16:colId xmlns:a16="http://schemas.microsoft.com/office/drawing/2014/main" val="20001"/>
                    </a:ext>
                  </a:extLst>
                </a:gridCol>
              </a:tblGrid>
              <a:tr h="411480">
                <a:tc>
                  <a:txBody>
                    <a:bodyPr/>
                    <a:lstStyle/>
                    <a:p>
                      <a:r>
                        <a:rPr sz="1400" b="1">
                          <a:solidFill>
                            <a:srgbClr val="FFFFFF"/>
                          </a:solidFill>
                          <a:latin typeface="Arial"/>
                        </a:rPr>
                        <a:t>Measure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DAX</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11480">
                <a:tc>
                  <a:txBody>
                    <a:bodyPr/>
                    <a:lstStyle/>
                    <a:p>
                      <a:r>
                        <a:rPr sz="1400" b="1">
                          <a:solidFill>
                            <a:srgbClr val="1B2230"/>
                          </a:solidFill>
                          <a:latin typeface="Arial"/>
                        </a:rPr>
                        <a:t>Revenue All Stores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a:solidFill>
                            <a:srgbClr val="1B2230"/>
                          </a:solidFill>
                          <a:latin typeface="Arial"/>
                        </a:rPr>
                        <a:t>CALCULATE([Total Revenue], ALL(Store))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11480">
                <a:tc>
                  <a:txBody>
                    <a:bodyPr/>
                    <a:lstStyle/>
                    <a:p>
                      <a:r>
                        <a:rPr sz="1400" b="1" dirty="0">
                          <a:solidFill>
                            <a:srgbClr val="1B2230"/>
                          </a:solidFill>
                          <a:latin typeface="Arial"/>
                        </a:rPr>
                        <a:t>% Revenue Share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a:solidFill>
                            <a:srgbClr val="1B2230"/>
                          </a:solidFill>
                          <a:latin typeface="Arial"/>
                        </a:rPr>
                        <a:t>DIVIDE([Total Revenue], [Revenue All Stores])</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bl>
          </a:graphicData>
        </a:graphic>
      </p:graphicFrame>
      <p:pic>
        <p:nvPicPr>
          <p:cNvPr id="7" name="Screenshot S23_pct_of_total" descr="S23_pct_of_total.png"/>
          <p:cNvPicPr>
            <a:picLocks noChangeAspect="1"/>
          </p:cNvPicPr>
          <p:nvPr/>
        </p:nvPicPr>
        <p:blipFill>
          <a:blip r:embed="rId3"/>
          <a:stretch>
            <a:fillRect/>
          </a:stretch>
        </p:blipFill>
        <p:spPr>
          <a:xfrm>
            <a:off x="2966735" y="3749039"/>
            <a:ext cx="3429986" cy="1508760"/>
          </a:xfrm>
          <a:prstGeom prst="rect">
            <a:avLst/>
          </a:prstGeom>
          <a:ln w="9525">
            <a:solidFill>
              <a:srgbClr val="D9DEE8"/>
            </a:solidFill>
          </a:ln>
        </p:spPr>
      </p:pic>
      <p:sp>
        <p:nvSpPr>
          <p:cNvPr id="8" name="Share Bắc"/>
          <p:cNvSpPr/>
          <p:nvPr/>
        </p:nvSpPr>
        <p:spPr>
          <a:xfrm>
            <a:off x="8001000" y="3749039"/>
            <a:ext cx="1170432" cy="15087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8183879" y="3840479"/>
            <a:ext cx="804672" cy="1325880"/>
          </a:xfrm>
          <a:prstGeom prst="rect">
            <a:avLst/>
          </a:prstGeom>
          <a:noFill/>
        </p:spPr>
        <p:txBody>
          <a:bodyPr wrap="square" lIns="0" tIns="0" rIns="0" bIns="0" anchor="ctr">
            <a:spAutoFit/>
          </a:bodyPr>
          <a:lstStyle/>
          <a:p>
            <a:r>
              <a:rPr sz="1400" b="0">
                <a:solidFill>
                  <a:srgbClr val="585858"/>
                </a:solidFill>
                <a:latin typeface="Arial"/>
              </a:rPr>
              <a:t>Bắc</a:t>
            </a:r>
          </a:p>
          <a:p>
            <a:pPr>
              <a:spcBef>
                <a:spcPts val="200"/>
              </a:spcBef>
            </a:pPr>
            <a:r>
              <a:rPr sz="1800" b="1">
                <a:solidFill>
                  <a:srgbClr val="203864"/>
                </a:solidFill>
                <a:latin typeface="Arial"/>
              </a:rPr>
              <a:t>34,4%</a:t>
            </a:r>
          </a:p>
        </p:txBody>
      </p:sp>
      <p:sp>
        <p:nvSpPr>
          <p:cNvPr id="10" name="Share Nam"/>
          <p:cNvSpPr/>
          <p:nvPr/>
        </p:nvSpPr>
        <p:spPr>
          <a:xfrm>
            <a:off x="9244584" y="3749039"/>
            <a:ext cx="1170432" cy="15087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9427463" y="3840479"/>
            <a:ext cx="804672" cy="1325880"/>
          </a:xfrm>
          <a:prstGeom prst="rect">
            <a:avLst/>
          </a:prstGeom>
          <a:noFill/>
        </p:spPr>
        <p:txBody>
          <a:bodyPr wrap="square" lIns="0" tIns="0" rIns="0" bIns="0" anchor="ctr">
            <a:spAutoFit/>
          </a:bodyPr>
          <a:lstStyle/>
          <a:p>
            <a:r>
              <a:rPr sz="1400" b="0">
                <a:solidFill>
                  <a:srgbClr val="585858"/>
                </a:solidFill>
                <a:latin typeface="Arial"/>
              </a:rPr>
              <a:t>Nam</a:t>
            </a:r>
          </a:p>
          <a:p>
            <a:pPr>
              <a:spcBef>
                <a:spcPts val="200"/>
              </a:spcBef>
            </a:pPr>
            <a:r>
              <a:rPr sz="1800" b="1">
                <a:solidFill>
                  <a:srgbClr val="203864"/>
                </a:solidFill>
                <a:latin typeface="Arial"/>
              </a:rPr>
              <a:t>45,4%</a:t>
            </a:r>
          </a:p>
        </p:txBody>
      </p:sp>
      <p:sp>
        <p:nvSpPr>
          <p:cNvPr id="12" name="Share Trung"/>
          <p:cNvSpPr/>
          <p:nvPr/>
        </p:nvSpPr>
        <p:spPr>
          <a:xfrm>
            <a:off x="10488168" y="3749039"/>
            <a:ext cx="1170432" cy="15087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0671048" y="3840479"/>
            <a:ext cx="804672" cy="1325880"/>
          </a:xfrm>
          <a:prstGeom prst="rect">
            <a:avLst/>
          </a:prstGeom>
          <a:noFill/>
        </p:spPr>
        <p:txBody>
          <a:bodyPr wrap="square" lIns="0" tIns="0" rIns="0" bIns="0" anchor="ctr">
            <a:spAutoFit/>
          </a:bodyPr>
          <a:lstStyle/>
          <a:p>
            <a:r>
              <a:rPr sz="1400" b="0">
                <a:solidFill>
                  <a:srgbClr val="585858"/>
                </a:solidFill>
                <a:latin typeface="Arial"/>
              </a:rPr>
              <a:t>Trung</a:t>
            </a:r>
          </a:p>
          <a:p>
            <a:pPr>
              <a:spcBef>
                <a:spcPts val="200"/>
              </a:spcBef>
            </a:pPr>
            <a:r>
              <a:rPr sz="1800" b="1">
                <a:solidFill>
                  <a:srgbClr val="203864"/>
                </a:solidFill>
                <a:latin typeface="Arial"/>
              </a:rPr>
              <a:t>20,2%</a:t>
            </a:r>
          </a:p>
        </p:txBody>
      </p:sp>
      <p:sp>
        <p:nvSpPr>
          <p:cNvPr id="14" name="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1636776" y="5504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6" name="TIP text"/>
          <p:cNvSpPr txBox="1"/>
          <p:nvPr/>
        </p:nvSpPr>
        <p:spPr>
          <a:xfrm>
            <a:off x="2212848" y="5486400"/>
            <a:ext cx="9326880" cy="548640"/>
          </a:xfrm>
          <a:prstGeom prst="rect">
            <a:avLst/>
          </a:prstGeom>
          <a:noFill/>
        </p:spPr>
        <p:txBody>
          <a:bodyPr wrap="square" lIns="0" tIns="0" rIns="0" bIns="0" anchor="t">
            <a:spAutoFit/>
          </a:bodyPr>
          <a:lstStyle/>
          <a:p>
            <a:r>
              <a:rPr sz="1600" b="0">
                <a:solidFill>
                  <a:srgbClr val="1B2230"/>
                </a:solidFill>
                <a:latin typeface="Arial"/>
              </a:rPr>
              <a:t>Đúng Pct_Share của Buổi 1. B1 khóa mẫu số bằng $B$5; DAX khóa bằng ALL. ALL(Store) bỏ lọc miền, cửa hàng, loại cửa hàng; bộ lọc Calendar vẫn giữ. Tỷ trọng theo ngành: ALL(Product).</a:t>
            </a:r>
          </a:p>
        </p:txBody>
      </p:sp>
      <p:sp>
        <p:nvSpPr>
          <p:cNvPr id="17"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bản sao Practice/B5_MCI_Mart_Answer.xlsx, sheet PV_Loc (trên lớp: Demo/B5_Demo_DAX.xlsx)</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Measure cho Target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CALCULATE &amp; ALL</a:t>
            </a:r>
          </a:p>
        </p:txBody>
      </p:sp>
      <p:graphicFrame>
        <p:nvGraphicFramePr>
          <p:cNvPr id="4" name="Measures"/>
          <p:cNvGraphicFramePr>
            <a:graphicFrameLocks noGrp="1"/>
          </p:cNvGraphicFramePr>
          <p:nvPr/>
        </p:nvGraphicFramePr>
        <p:xfrm>
          <a:off x="1527048" y="1417320"/>
          <a:ext cx="10122408" cy="1645920"/>
        </p:xfrm>
        <a:graphic>
          <a:graphicData uri="http://schemas.openxmlformats.org/drawingml/2006/table">
            <a:tbl>
              <a:tblPr firstRow="1"/>
              <a:tblGrid>
                <a:gridCol w="2743200">
                  <a:extLst>
                    <a:ext uri="{9D8B030D-6E8A-4147-A177-3AD203B41FA5}">
                      <a16:colId xmlns:a16="http://schemas.microsoft.com/office/drawing/2014/main" val="20000"/>
                    </a:ext>
                  </a:extLst>
                </a:gridCol>
                <a:gridCol w="7379208">
                  <a:extLst>
                    <a:ext uri="{9D8B030D-6E8A-4147-A177-3AD203B41FA5}">
                      <a16:colId xmlns:a16="http://schemas.microsoft.com/office/drawing/2014/main" val="20001"/>
                    </a:ext>
                  </a:extLst>
                </a:gridCol>
              </a:tblGrid>
              <a:tr h="411480">
                <a:tc>
                  <a:txBody>
                    <a:bodyPr/>
                    <a:lstStyle/>
                    <a:p>
                      <a:r>
                        <a:rPr sz="1400" b="1">
                          <a:solidFill>
                            <a:srgbClr val="FFFFFF"/>
                          </a:solidFill>
                          <a:latin typeface="Arial"/>
                        </a:rPr>
                        <a:t>Measure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400" b="1">
                          <a:solidFill>
                            <a:srgbClr val="FFFFFF"/>
                          </a:solidFill>
                          <a:latin typeface="Arial"/>
                        </a:rPr>
                        <a:t>DAX</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11480">
                <a:tc>
                  <a:txBody>
                    <a:bodyPr/>
                    <a:lstStyle/>
                    <a:p>
                      <a:r>
                        <a:rPr sz="1400" b="1" dirty="0">
                          <a:solidFill>
                            <a:srgbClr val="1B2230"/>
                          </a:solidFill>
                          <a:latin typeface="Arial"/>
                        </a:rPr>
                        <a:t>Total Target  (</a:t>
                      </a:r>
                      <a:r>
                        <a:rPr sz="1400" b="1" dirty="0" err="1">
                          <a:solidFill>
                            <a:srgbClr val="1B2230"/>
                          </a:solidFill>
                          <a:latin typeface="Arial"/>
                        </a:rPr>
                        <a:t>bảng</a:t>
                      </a:r>
                      <a:r>
                        <a:rPr sz="1400" b="1" dirty="0">
                          <a:solidFill>
                            <a:srgbClr val="1B2230"/>
                          </a:solidFill>
                          <a:latin typeface="Arial"/>
                        </a:rPr>
                        <a:t> Target)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a:solidFill>
                            <a:srgbClr val="1B2230"/>
                          </a:solidFill>
                          <a:latin typeface="Arial"/>
                        </a:rPr>
                        <a:t>SUM(Target[Target])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11480">
                <a:tc>
                  <a:txBody>
                    <a:bodyPr/>
                    <a:lstStyle/>
                    <a:p>
                      <a:r>
                        <a:rPr sz="1400" b="1" dirty="0">
                          <a:solidFill>
                            <a:srgbClr val="1B2230"/>
                          </a:solidFill>
                          <a:latin typeface="Arial"/>
                        </a:rPr>
                        <a:t>Revenue vs Target %</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0" dirty="0">
                          <a:solidFill>
                            <a:srgbClr val="1B2230"/>
                          </a:solidFill>
                          <a:latin typeface="Arial"/>
                        </a:rPr>
                        <a:t>DIVIDE([Total Revenue], [Total Target])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11480">
                <a:tc>
                  <a:txBody>
                    <a:bodyPr/>
                    <a:lstStyle/>
                    <a:p>
                      <a:r>
                        <a:rPr sz="1400" b="1">
                          <a:solidFill>
                            <a:srgbClr val="1B2230"/>
                          </a:solidFill>
                          <a:latin typeface="Arial"/>
                        </a:rPr>
                        <a:t>Variance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400" b="1" dirty="0">
                          <a:solidFill>
                            <a:srgbClr val="C00000"/>
                          </a:solidFill>
                          <a:latin typeface="Arial"/>
                        </a:rPr>
                        <a:t>IF(ISBLANK([Total Revenue]), BLANK(), </a:t>
                      </a:r>
                      <a:r>
                        <a:rPr sz="1400" b="0" dirty="0">
                          <a:solidFill>
                            <a:srgbClr val="1B2230"/>
                          </a:solidFill>
                          <a:latin typeface="Arial"/>
                        </a:rPr>
                        <a:t>[Total Revenue] - [Total Target])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pic>
        <p:nvPicPr>
          <p:cNvPr id="5" name="Screenshot S24_target_thang" descr="S24_target_thang.png"/>
          <p:cNvPicPr>
            <a:picLocks noChangeAspect="1"/>
          </p:cNvPicPr>
          <p:nvPr/>
        </p:nvPicPr>
        <p:blipFill>
          <a:blip r:embed="rId3"/>
          <a:stretch>
            <a:fillRect/>
          </a:stretch>
        </p:blipFill>
        <p:spPr>
          <a:xfrm>
            <a:off x="2731426" y="3200400"/>
            <a:ext cx="3900604" cy="2057400"/>
          </a:xfrm>
          <a:prstGeom prst="rect">
            <a:avLst/>
          </a:prstGeom>
          <a:ln w="9525">
            <a:solidFill>
              <a:srgbClr val="D9DEE8"/>
            </a:solidFill>
          </a:ln>
        </p:spPr>
      </p:pic>
      <p:sp>
        <p:nvSpPr>
          <p:cNvPr id="6" name="Month T1"/>
          <p:cNvSpPr/>
          <p:nvPr/>
        </p:nvSpPr>
        <p:spPr>
          <a:xfrm>
            <a:off x="8001000" y="3200400"/>
            <a:ext cx="1792224" cy="10058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8183879" y="3291840"/>
            <a:ext cx="1426464" cy="822960"/>
          </a:xfrm>
          <a:prstGeom prst="rect">
            <a:avLst/>
          </a:prstGeom>
          <a:noFill/>
        </p:spPr>
        <p:txBody>
          <a:bodyPr wrap="square" lIns="0" tIns="0" rIns="0" bIns="0" anchor="ctr">
            <a:spAutoFit/>
          </a:bodyPr>
          <a:lstStyle/>
          <a:p>
            <a:r>
              <a:rPr sz="1400" b="0">
                <a:solidFill>
                  <a:srgbClr val="585858"/>
                </a:solidFill>
                <a:latin typeface="Arial"/>
              </a:rPr>
              <a:t>T1/2025</a:t>
            </a:r>
          </a:p>
          <a:p>
            <a:pPr>
              <a:spcBef>
                <a:spcPts val="200"/>
              </a:spcBef>
            </a:pPr>
            <a:r>
              <a:rPr sz="2000" b="1">
                <a:solidFill>
                  <a:srgbClr val="2E7D32"/>
                </a:solidFill>
                <a:latin typeface="Arial"/>
              </a:rPr>
              <a:t>120,6%</a:t>
            </a:r>
          </a:p>
        </p:txBody>
      </p:sp>
      <p:sp>
        <p:nvSpPr>
          <p:cNvPr id="8" name="Month T2"/>
          <p:cNvSpPr/>
          <p:nvPr/>
        </p:nvSpPr>
        <p:spPr>
          <a:xfrm>
            <a:off x="9857232" y="3200400"/>
            <a:ext cx="1792224" cy="10058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10040111" y="3291840"/>
            <a:ext cx="1426464" cy="822960"/>
          </a:xfrm>
          <a:prstGeom prst="rect">
            <a:avLst/>
          </a:prstGeom>
          <a:noFill/>
        </p:spPr>
        <p:txBody>
          <a:bodyPr wrap="square" lIns="0" tIns="0" rIns="0" bIns="0" anchor="ctr">
            <a:spAutoFit/>
          </a:bodyPr>
          <a:lstStyle/>
          <a:p>
            <a:r>
              <a:rPr sz="1400" b="0">
                <a:solidFill>
                  <a:srgbClr val="585858"/>
                </a:solidFill>
                <a:latin typeface="Arial"/>
              </a:rPr>
              <a:t>T2/2025</a:t>
            </a:r>
          </a:p>
          <a:p>
            <a:pPr>
              <a:spcBef>
                <a:spcPts val="200"/>
              </a:spcBef>
            </a:pPr>
            <a:r>
              <a:rPr sz="2000" b="1">
                <a:solidFill>
                  <a:srgbClr val="9C0006"/>
                </a:solidFill>
                <a:latin typeface="Arial"/>
              </a:rPr>
              <a:t>82,5%</a:t>
            </a:r>
          </a:p>
        </p:txBody>
      </p:sp>
      <p:sp>
        <p:nvSpPr>
          <p:cNvPr id="10" name="Month T3"/>
          <p:cNvSpPr/>
          <p:nvPr/>
        </p:nvSpPr>
        <p:spPr>
          <a:xfrm>
            <a:off x="8001000" y="4251960"/>
            <a:ext cx="1792224" cy="10058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8183879" y="4343400"/>
            <a:ext cx="1426464" cy="822960"/>
          </a:xfrm>
          <a:prstGeom prst="rect">
            <a:avLst/>
          </a:prstGeom>
          <a:noFill/>
        </p:spPr>
        <p:txBody>
          <a:bodyPr wrap="square" lIns="0" tIns="0" rIns="0" bIns="0" anchor="ctr">
            <a:spAutoFit/>
          </a:bodyPr>
          <a:lstStyle/>
          <a:p>
            <a:r>
              <a:rPr sz="1400" b="0">
                <a:solidFill>
                  <a:srgbClr val="585858"/>
                </a:solidFill>
                <a:latin typeface="Arial"/>
              </a:rPr>
              <a:t>T3/2025</a:t>
            </a:r>
          </a:p>
          <a:p>
            <a:pPr>
              <a:spcBef>
                <a:spcPts val="200"/>
              </a:spcBef>
            </a:pPr>
            <a:r>
              <a:rPr sz="2000" b="1">
                <a:solidFill>
                  <a:srgbClr val="9C0006"/>
                </a:solidFill>
                <a:latin typeface="Arial"/>
              </a:rPr>
              <a:t>94,6%</a:t>
            </a:r>
          </a:p>
        </p:txBody>
      </p:sp>
      <p:sp>
        <p:nvSpPr>
          <p:cNvPr id="12" name="Month T4"/>
          <p:cNvSpPr/>
          <p:nvPr/>
        </p:nvSpPr>
        <p:spPr>
          <a:xfrm>
            <a:off x="9857232" y="4251960"/>
            <a:ext cx="1792224" cy="10058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10040111" y="4343400"/>
            <a:ext cx="1426464" cy="822960"/>
          </a:xfrm>
          <a:prstGeom prst="rect">
            <a:avLst/>
          </a:prstGeom>
          <a:noFill/>
        </p:spPr>
        <p:txBody>
          <a:bodyPr wrap="square" lIns="0" tIns="0" rIns="0" bIns="0" anchor="ctr">
            <a:spAutoFit/>
          </a:bodyPr>
          <a:lstStyle/>
          <a:p>
            <a:r>
              <a:rPr sz="1400" b="0">
                <a:solidFill>
                  <a:srgbClr val="585858"/>
                </a:solidFill>
                <a:latin typeface="Arial"/>
              </a:rPr>
              <a:t>T4/2025</a:t>
            </a:r>
          </a:p>
          <a:p>
            <a:pPr>
              <a:spcBef>
                <a:spcPts val="200"/>
              </a:spcBef>
            </a:pPr>
            <a:r>
              <a:rPr sz="2000" b="1">
                <a:solidFill>
                  <a:srgbClr val="2E7D32"/>
                </a:solidFill>
                <a:latin typeface="Arial"/>
              </a:rPr>
              <a:t>103,1%</a:t>
            </a:r>
          </a:p>
        </p:txBody>
      </p:sp>
      <p:sp>
        <p:nvSpPr>
          <p:cNvPr id="14" name="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p:cNvSpPr txBox="1"/>
          <p:nvPr/>
        </p:nvSpPr>
        <p:spPr>
          <a:xfrm>
            <a:off x="1636776" y="5504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6" name="TIP text"/>
          <p:cNvSpPr txBox="1"/>
          <p:nvPr/>
        </p:nvSpPr>
        <p:spPr>
          <a:xfrm>
            <a:off x="2212848" y="5486400"/>
            <a:ext cx="9326880" cy="548640"/>
          </a:xfrm>
          <a:prstGeom prst="rect">
            <a:avLst/>
          </a:prstGeom>
          <a:noFill/>
        </p:spPr>
        <p:txBody>
          <a:bodyPr wrap="square" lIns="0" tIns="0" rIns="0" bIns="0" anchor="t">
            <a:spAutoFit/>
          </a:bodyPr>
          <a:lstStyle/>
          <a:p>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có</a:t>
            </a:r>
            <a:r>
              <a:rPr sz="1600" b="0" dirty="0">
                <a:solidFill>
                  <a:srgbClr val="1B2230"/>
                </a:solidFill>
                <a:latin typeface="Arial"/>
              </a:rPr>
              <a:t> IF(ISBLANK…): Variance </a:t>
            </a:r>
            <a:r>
              <a:rPr sz="1600" b="0" dirty="0" err="1">
                <a:solidFill>
                  <a:srgbClr val="1B2230"/>
                </a:solidFill>
                <a:latin typeface="Arial"/>
              </a:rPr>
              <a:t>tháng</a:t>
            </a:r>
            <a:r>
              <a:rPr sz="1600" b="0" dirty="0">
                <a:solidFill>
                  <a:srgbClr val="1B2230"/>
                </a:solidFill>
                <a:latin typeface="Arial"/>
              </a:rPr>
              <a:t> 5 = −288.000.000, "</a:t>
            </a:r>
            <a:r>
              <a:rPr sz="1600" b="0" dirty="0" err="1">
                <a:solidFill>
                  <a:srgbClr val="1B2230"/>
                </a:solidFill>
                <a:latin typeface="Arial"/>
              </a:rPr>
              <a:t>hụt</a:t>
            </a:r>
            <a:r>
              <a:rPr sz="1600" b="0" dirty="0">
                <a:solidFill>
                  <a:srgbClr val="1B2230"/>
                </a:solidFill>
                <a:latin typeface="Arial"/>
              </a:rPr>
              <a:t> 288 </a:t>
            </a:r>
            <a:r>
              <a:rPr sz="1600" b="0" dirty="0" err="1">
                <a:solidFill>
                  <a:srgbClr val="1B2230"/>
                </a:solidFill>
                <a:latin typeface="Arial"/>
              </a:rPr>
              <a:t>triệu</a:t>
            </a:r>
            <a:r>
              <a:rPr sz="1600" b="0" dirty="0">
                <a:solidFill>
                  <a:srgbClr val="1B2230"/>
                </a:solidFill>
                <a:latin typeface="Arial"/>
              </a:rPr>
              <a:t>" </a:t>
            </a:r>
            <a:r>
              <a:rPr sz="1600" b="0" dirty="0" err="1">
                <a:solidFill>
                  <a:srgbClr val="1B2230"/>
                </a:solidFill>
                <a:latin typeface="Arial"/>
              </a:rPr>
              <a:t>chỉ</a:t>
            </a:r>
            <a:r>
              <a:rPr sz="1600" b="0" dirty="0">
                <a:solidFill>
                  <a:srgbClr val="1B2230"/>
                </a:solidFill>
                <a:latin typeface="Arial"/>
              </a:rPr>
              <a:t> </a:t>
            </a:r>
            <a:r>
              <a:rPr sz="1600" b="0" dirty="0" err="1">
                <a:solidFill>
                  <a:srgbClr val="1B2230"/>
                </a:solidFill>
                <a:latin typeface="Arial"/>
              </a:rPr>
              <a:t>vì</a:t>
            </a:r>
            <a:r>
              <a:rPr sz="1600" b="0" dirty="0">
                <a:solidFill>
                  <a:srgbClr val="1B2230"/>
                </a:solidFill>
                <a:latin typeface="Arial"/>
              </a:rPr>
              <a:t> </a:t>
            </a:r>
            <a:r>
              <a:rPr sz="1600" b="0" dirty="0" err="1">
                <a:solidFill>
                  <a:srgbClr val="1B2230"/>
                </a:solidFill>
                <a:latin typeface="Arial"/>
              </a:rPr>
              <a:t>chưa</a:t>
            </a:r>
            <a:r>
              <a:rPr sz="1600" b="0" dirty="0">
                <a:solidFill>
                  <a:srgbClr val="1B2230"/>
                </a:solidFill>
                <a:latin typeface="Arial"/>
              </a:rPr>
              <a:t> </a:t>
            </a:r>
            <a:r>
              <a:rPr sz="1600" b="0" dirty="0" err="1">
                <a:solidFill>
                  <a:srgbClr val="1B2230"/>
                </a:solidFill>
                <a:latin typeface="Arial"/>
              </a:rPr>
              <a:t>có</a:t>
            </a:r>
            <a:r>
              <a:rPr sz="1600" b="0" dirty="0">
                <a:solidFill>
                  <a:srgbClr val="1B2230"/>
                </a:solidFill>
                <a:latin typeface="Arial"/>
              </a:rPr>
              <a:t> </a:t>
            </a:r>
            <a:r>
              <a:rPr sz="1600" b="0" dirty="0" err="1">
                <a:solidFill>
                  <a:srgbClr val="1B2230"/>
                </a:solidFill>
                <a:latin typeface="Arial"/>
              </a:rPr>
              <a:t>dữ</a:t>
            </a:r>
            <a:r>
              <a:rPr sz="1600" b="0" dirty="0">
                <a:solidFill>
                  <a:srgbClr val="1B2230"/>
                </a:solidFill>
                <a:latin typeface="Arial"/>
              </a:rPr>
              <a:t> </a:t>
            </a:r>
            <a:r>
              <a:rPr sz="1600" b="0" dirty="0" err="1">
                <a:solidFill>
                  <a:srgbClr val="1B2230"/>
                </a:solidFill>
                <a:latin typeface="Arial"/>
              </a:rPr>
              <a:t>liệu</a:t>
            </a:r>
            <a:r>
              <a:rPr sz="1600" b="0" dirty="0">
                <a:solidFill>
                  <a:srgbClr val="1B2230"/>
                </a:solidFill>
                <a:latin typeface="Arial"/>
              </a:rPr>
              <a:t>. T1 + T2 </a:t>
            </a:r>
            <a:r>
              <a:rPr sz="1600" b="0" dirty="0" err="1">
                <a:solidFill>
                  <a:srgbClr val="1B2230"/>
                </a:solidFill>
                <a:latin typeface="Arial"/>
              </a:rPr>
              <a:t>gộp</a:t>
            </a:r>
            <a:r>
              <a:rPr sz="1600" b="0" dirty="0">
                <a:solidFill>
                  <a:srgbClr val="1B2230"/>
                </a:solidFill>
                <a:latin typeface="Arial"/>
              </a:rPr>
              <a:t>: 103,2% (</a:t>
            </a:r>
            <a:r>
              <a:rPr sz="1600" b="0" dirty="0" err="1">
                <a:solidFill>
                  <a:srgbClr val="1B2230"/>
                </a:solidFill>
                <a:latin typeface="Arial"/>
              </a:rPr>
              <a:t>lệch</a:t>
            </a:r>
            <a:r>
              <a:rPr sz="1600" b="0" dirty="0">
                <a:solidFill>
                  <a:srgbClr val="1B2230"/>
                </a:solidFill>
                <a:latin typeface="Arial"/>
              </a:rPr>
              <a:t> </a:t>
            </a:r>
            <a:r>
              <a:rPr sz="1600" b="0" dirty="0" err="1">
                <a:solidFill>
                  <a:srgbClr val="1B2230"/>
                </a:solidFill>
                <a:latin typeface="Arial"/>
              </a:rPr>
              <a:t>mùa</a:t>
            </a:r>
            <a:r>
              <a:rPr sz="1600" b="0" dirty="0">
                <a:solidFill>
                  <a:srgbClr val="1B2230"/>
                </a:solidFill>
                <a:latin typeface="Arial"/>
              </a:rPr>
              <a:t> </a:t>
            </a:r>
            <a:r>
              <a:rPr sz="1600" b="0" dirty="0" err="1">
                <a:solidFill>
                  <a:srgbClr val="1B2230"/>
                </a:solidFill>
                <a:latin typeface="Arial"/>
              </a:rPr>
              <a:t>Tết</a:t>
            </a:r>
            <a:r>
              <a:rPr sz="1600" b="0" dirty="0">
                <a:solidFill>
                  <a:srgbClr val="1B2230"/>
                </a:solidFill>
                <a:latin typeface="Arial"/>
              </a:rPr>
              <a:t>). </a:t>
            </a:r>
            <a:r>
              <a:rPr sz="1600" b="0" dirty="0" err="1">
                <a:solidFill>
                  <a:srgbClr val="1B2230"/>
                </a:solidFill>
                <a:latin typeface="Arial"/>
              </a:rPr>
              <a:t>Dòng</a:t>
            </a:r>
            <a:r>
              <a:rPr sz="1600" b="0" dirty="0">
                <a:solidFill>
                  <a:srgbClr val="1B2230"/>
                </a:solidFill>
                <a:latin typeface="Arial"/>
              </a:rPr>
              <a:t> Grand Total 33,8% = 4 </a:t>
            </a:r>
            <a:r>
              <a:rPr sz="1600" b="0" dirty="0" err="1">
                <a:solidFill>
                  <a:srgbClr val="1B2230"/>
                </a:solidFill>
                <a:latin typeface="Arial"/>
              </a:rPr>
              <a:t>tháng</a:t>
            </a:r>
            <a:r>
              <a:rPr sz="1600" b="0" dirty="0">
                <a:solidFill>
                  <a:srgbClr val="1B2230"/>
                </a:solidFill>
                <a:latin typeface="Arial"/>
              </a:rPr>
              <a:t> ÷ target </a:t>
            </a:r>
            <a:r>
              <a:rPr sz="1600" b="0" dirty="0" err="1">
                <a:solidFill>
                  <a:srgbClr val="1B2230"/>
                </a:solidFill>
                <a:latin typeface="Arial"/>
              </a:rPr>
              <a:t>cả</a:t>
            </a:r>
            <a:r>
              <a:rPr sz="1600" b="0" dirty="0">
                <a:solidFill>
                  <a:srgbClr val="1B2230"/>
                </a:solidFill>
                <a:latin typeface="Arial"/>
              </a:rPr>
              <a:t> </a:t>
            </a:r>
            <a:r>
              <a:rPr sz="1600" b="0" dirty="0" err="1">
                <a:solidFill>
                  <a:srgbClr val="1B2230"/>
                </a:solidFill>
                <a:latin typeface="Arial"/>
              </a:rPr>
              <a:t>năm</a:t>
            </a:r>
            <a:r>
              <a:rPr sz="1600" b="0" dirty="0">
                <a:solidFill>
                  <a:srgbClr val="1B2230"/>
                </a:solidFill>
                <a:latin typeface="Arial"/>
              </a:rPr>
              <a:t>: </a:t>
            </a:r>
            <a:r>
              <a:rPr sz="1600" b="0" dirty="0" err="1">
                <a:solidFill>
                  <a:srgbClr val="1B2230"/>
                </a:solidFill>
                <a:latin typeface="Arial"/>
              </a:rPr>
              <a:t>không</a:t>
            </a:r>
            <a:r>
              <a:rPr sz="1600" b="0" dirty="0">
                <a:solidFill>
                  <a:srgbClr val="1B2230"/>
                </a:solidFill>
                <a:latin typeface="Arial"/>
              </a:rPr>
              <a:t> </a:t>
            </a:r>
            <a:r>
              <a:rPr sz="1600" b="0" dirty="0" err="1">
                <a:solidFill>
                  <a:srgbClr val="1B2230"/>
                </a:solidFill>
                <a:latin typeface="Arial"/>
              </a:rPr>
              <a:t>đọc</a:t>
            </a:r>
            <a:r>
              <a:rPr sz="1600" b="0" dirty="0">
                <a:solidFill>
                  <a:srgbClr val="1B2230"/>
                </a:solidFill>
                <a:latin typeface="Arial"/>
              </a:rPr>
              <a:t>.</a:t>
            </a:r>
          </a:p>
        </p:txBody>
      </p:sp>
      <p:sp>
        <p:nvSpPr>
          <p:cNvPr id="17"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bản sao Practice/B5_MCI_Mart_Answer.xlsx, sheet PV_Target (trên lớp: Demo/B5_Demo_DAX.xlsx)</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Target không lọc theo ngành</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5 · CALCULATE &amp; ALL</a:t>
            </a:r>
          </a:p>
        </p:txBody>
      </p:sp>
      <p:sp>
        <p:nvSpPr>
          <p:cNvPr id="4" name="Card category"/>
          <p:cNvSpPr/>
          <p:nvPr/>
        </p:nvSpPr>
        <p:spPr>
          <a:xfrm>
            <a:off x="1527048" y="1463040"/>
            <a:ext cx="4206240" cy="3794760"/>
          </a:xfrm>
          <a:prstGeom prst="roundRect">
            <a:avLst>
              <a:gd name="adj" fmla="val 5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p:cNvSpPr txBox="1"/>
          <p:nvPr/>
        </p:nvSpPr>
        <p:spPr>
          <a:xfrm>
            <a:off x="1691639" y="1572768"/>
            <a:ext cx="3877055" cy="3575304"/>
          </a:xfrm>
          <a:prstGeom prst="rect">
            <a:avLst/>
          </a:prstGeom>
          <a:noFill/>
        </p:spPr>
        <p:txBody>
          <a:bodyPr wrap="square" lIns="0" tIns="0" rIns="0" bIns="0" anchor="t">
            <a:spAutoFit/>
          </a:bodyPr>
          <a:lstStyle/>
          <a:p>
            <a:r>
              <a:rPr sz="1500" b="1" dirty="0">
                <a:solidFill>
                  <a:srgbClr val="9C0006"/>
                </a:solidFill>
                <a:latin typeface="Arial"/>
              </a:rPr>
              <a:t>Rows = Product[Category] · Quý 1</a:t>
            </a:r>
          </a:p>
          <a:p>
            <a:pPr>
              <a:spcBef>
                <a:spcPts val="500"/>
              </a:spcBef>
            </a:pPr>
            <a:r>
              <a:rPr sz="1400" b="0" dirty="0">
                <a:solidFill>
                  <a:srgbClr val="1B2230"/>
                </a:solidFill>
                <a:latin typeface="Arial"/>
              </a:rPr>
              <a:t>Bánh </a:t>
            </a:r>
            <a:r>
              <a:rPr sz="1400" b="0" dirty="0" err="1">
                <a:solidFill>
                  <a:srgbClr val="1B2230"/>
                </a:solidFill>
                <a:latin typeface="Arial"/>
              </a:rPr>
              <a:t>kẹo</a:t>
            </a:r>
            <a:r>
              <a:rPr sz="1400" b="0" dirty="0">
                <a:solidFill>
                  <a:srgbClr val="1B2230"/>
                </a:solidFill>
                <a:latin typeface="Arial"/>
              </a:rPr>
              <a:t> 36,2% · Gia </a:t>
            </a:r>
            <a:r>
              <a:rPr sz="1400" b="0" dirty="0" err="1">
                <a:solidFill>
                  <a:srgbClr val="1B2230"/>
                </a:solidFill>
                <a:latin typeface="Arial"/>
              </a:rPr>
              <a:t>dụng</a:t>
            </a:r>
            <a:r>
              <a:rPr sz="1400" b="0" dirty="0">
                <a:solidFill>
                  <a:srgbClr val="1B2230"/>
                </a:solidFill>
                <a:latin typeface="Arial"/>
              </a:rPr>
              <a:t> 21,7% · </a:t>
            </a:r>
            <a:r>
              <a:rPr sz="1400" b="0" dirty="0" err="1">
                <a:solidFill>
                  <a:srgbClr val="1B2230"/>
                </a:solidFill>
                <a:latin typeface="Arial"/>
              </a:rPr>
              <a:t>Thực</a:t>
            </a:r>
            <a:r>
              <a:rPr sz="1400" b="0" dirty="0">
                <a:solidFill>
                  <a:srgbClr val="1B2230"/>
                </a:solidFill>
                <a:latin typeface="Arial"/>
              </a:rPr>
              <a:t> </a:t>
            </a:r>
            <a:r>
              <a:rPr sz="1400" b="0" dirty="0" err="1">
                <a:solidFill>
                  <a:srgbClr val="1B2230"/>
                </a:solidFill>
                <a:latin typeface="Arial"/>
              </a:rPr>
              <a:t>phẩm</a:t>
            </a:r>
            <a:r>
              <a:rPr sz="1400" b="0" dirty="0">
                <a:solidFill>
                  <a:srgbClr val="1B2230"/>
                </a:solidFill>
                <a:latin typeface="Arial"/>
              </a:rPr>
              <a:t> </a:t>
            </a:r>
            <a:r>
              <a:rPr sz="1400" b="0" dirty="0" err="1">
                <a:solidFill>
                  <a:srgbClr val="1B2230"/>
                </a:solidFill>
                <a:latin typeface="Arial"/>
              </a:rPr>
              <a:t>khô</a:t>
            </a:r>
            <a:r>
              <a:rPr sz="1400" b="0" dirty="0">
                <a:solidFill>
                  <a:srgbClr val="1B2230"/>
                </a:solidFill>
                <a:latin typeface="Arial"/>
              </a:rPr>
              <a:t> 18,0% · </a:t>
            </a:r>
            <a:r>
              <a:rPr sz="1400" b="0" dirty="0" err="1">
                <a:solidFill>
                  <a:srgbClr val="1B2230"/>
                </a:solidFill>
                <a:latin typeface="Arial"/>
              </a:rPr>
              <a:t>Đồ</a:t>
            </a:r>
            <a:r>
              <a:rPr sz="1400" b="0" dirty="0">
                <a:solidFill>
                  <a:srgbClr val="1B2230"/>
                </a:solidFill>
                <a:latin typeface="Arial"/>
              </a:rPr>
              <a:t> </a:t>
            </a:r>
            <a:r>
              <a:rPr sz="1400" b="0" dirty="0" err="1">
                <a:solidFill>
                  <a:srgbClr val="1B2230"/>
                </a:solidFill>
                <a:latin typeface="Arial"/>
              </a:rPr>
              <a:t>uống</a:t>
            </a:r>
            <a:r>
              <a:rPr sz="1400" b="0" dirty="0">
                <a:solidFill>
                  <a:srgbClr val="1B2230"/>
                </a:solidFill>
                <a:latin typeface="Arial"/>
              </a:rPr>
              <a:t> 11,8% · </a:t>
            </a:r>
            <a:r>
              <a:rPr sz="1400" b="0" dirty="0" err="1">
                <a:solidFill>
                  <a:srgbClr val="1B2230"/>
                </a:solidFill>
                <a:latin typeface="Arial"/>
              </a:rPr>
              <a:t>Chăm</a:t>
            </a:r>
            <a:r>
              <a:rPr sz="1400" b="0" dirty="0">
                <a:solidFill>
                  <a:srgbClr val="1B2230"/>
                </a:solidFill>
                <a:latin typeface="Arial"/>
              </a:rPr>
              <a:t> </a:t>
            </a:r>
            <a:r>
              <a:rPr sz="1400" b="0" dirty="0" err="1">
                <a:solidFill>
                  <a:srgbClr val="1B2230"/>
                </a:solidFill>
                <a:latin typeface="Arial"/>
              </a:rPr>
              <a:t>sóc</a:t>
            </a:r>
            <a:r>
              <a:rPr sz="1400" b="0" dirty="0">
                <a:solidFill>
                  <a:srgbClr val="1B2230"/>
                </a:solidFill>
                <a:latin typeface="Arial"/>
              </a:rPr>
              <a:t> </a:t>
            </a:r>
            <a:r>
              <a:rPr sz="1400" b="0" dirty="0" err="1">
                <a:solidFill>
                  <a:srgbClr val="1B2230"/>
                </a:solidFill>
                <a:latin typeface="Arial"/>
              </a:rPr>
              <a:t>cá</a:t>
            </a:r>
            <a:r>
              <a:rPr sz="1400" b="0" dirty="0">
                <a:solidFill>
                  <a:srgbClr val="1B2230"/>
                </a:solidFill>
                <a:latin typeface="Arial"/>
              </a:rPr>
              <a:t> </a:t>
            </a:r>
            <a:r>
              <a:rPr sz="1400" b="0" dirty="0" err="1">
                <a:solidFill>
                  <a:srgbClr val="1B2230"/>
                </a:solidFill>
                <a:latin typeface="Arial"/>
              </a:rPr>
              <a:t>nhân</a:t>
            </a:r>
            <a:r>
              <a:rPr sz="1400" b="0" dirty="0">
                <a:solidFill>
                  <a:srgbClr val="1B2230"/>
                </a:solidFill>
                <a:latin typeface="Arial"/>
              </a:rPr>
              <a:t> 11,2% · </a:t>
            </a:r>
            <a:r>
              <a:rPr sz="1400" b="0" dirty="0" err="1">
                <a:solidFill>
                  <a:srgbClr val="1B2230"/>
                </a:solidFill>
                <a:latin typeface="Arial"/>
              </a:rPr>
              <a:t>Sữa</a:t>
            </a:r>
            <a:r>
              <a:rPr sz="1400" b="0" dirty="0">
                <a:solidFill>
                  <a:srgbClr val="1B2230"/>
                </a:solidFill>
                <a:latin typeface="Arial"/>
              </a:rPr>
              <a:t> 1,8%</a:t>
            </a:r>
          </a:p>
          <a:p>
            <a:pPr>
              <a:spcBef>
                <a:spcPts val="500"/>
              </a:spcBef>
            </a:pPr>
            <a:r>
              <a:rPr sz="1400" b="1" dirty="0">
                <a:solidFill>
                  <a:srgbClr val="9C0006"/>
                </a:solidFill>
                <a:latin typeface="Arial"/>
              </a:rPr>
              <a:t>= </a:t>
            </a:r>
            <a:r>
              <a:rPr sz="1400" b="1" dirty="0" err="1">
                <a:solidFill>
                  <a:srgbClr val="9C0006"/>
                </a:solidFill>
                <a:latin typeface="Arial"/>
              </a:rPr>
              <a:t>doanh</a:t>
            </a:r>
            <a:r>
              <a:rPr sz="1400" b="1" dirty="0">
                <a:solidFill>
                  <a:srgbClr val="9C0006"/>
                </a:solidFill>
                <a:latin typeface="Arial"/>
              </a:rPr>
              <a:t> </a:t>
            </a:r>
            <a:r>
              <a:rPr sz="1400" b="1" dirty="0" err="1">
                <a:solidFill>
                  <a:srgbClr val="9C0006"/>
                </a:solidFill>
                <a:latin typeface="Arial"/>
              </a:rPr>
              <a:t>thu</a:t>
            </a:r>
            <a:r>
              <a:rPr sz="1400" b="1" dirty="0">
                <a:solidFill>
                  <a:srgbClr val="9C0006"/>
                </a:solidFill>
                <a:latin typeface="Arial"/>
              </a:rPr>
              <a:t> </a:t>
            </a:r>
            <a:r>
              <a:rPr sz="1400" b="1" dirty="0" err="1">
                <a:solidFill>
                  <a:srgbClr val="9C0006"/>
                </a:solidFill>
                <a:latin typeface="Arial"/>
              </a:rPr>
              <a:t>ngành</a:t>
            </a:r>
            <a:r>
              <a:rPr sz="1400" b="1" dirty="0">
                <a:solidFill>
                  <a:srgbClr val="9C0006"/>
                </a:solidFill>
                <a:latin typeface="Arial"/>
              </a:rPr>
              <a:t> ÷ target CẢ CHUỖI (936.000.000) → </a:t>
            </a:r>
            <a:r>
              <a:rPr sz="1400" b="1" dirty="0" err="1">
                <a:solidFill>
                  <a:srgbClr val="9C0006"/>
                </a:solidFill>
                <a:latin typeface="Arial"/>
              </a:rPr>
              <a:t>vô</a:t>
            </a:r>
            <a:r>
              <a:rPr sz="1400" b="1" dirty="0">
                <a:solidFill>
                  <a:srgbClr val="9C0006"/>
                </a:solidFill>
                <a:latin typeface="Arial"/>
              </a:rPr>
              <a:t> </a:t>
            </a:r>
            <a:r>
              <a:rPr sz="1400" b="1" dirty="0" err="1">
                <a:solidFill>
                  <a:srgbClr val="9C0006"/>
                </a:solidFill>
                <a:latin typeface="Arial"/>
              </a:rPr>
              <a:t>nghĩa</a:t>
            </a:r>
            <a:endParaRPr sz="1400" b="1" dirty="0">
              <a:solidFill>
                <a:srgbClr val="9C0006"/>
              </a:solidFill>
              <a:latin typeface="Arial"/>
            </a:endParaRPr>
          </a:p>
          <a:p>
            <a:pPr>
              <a:spcBef>
                <a:spcPts val="500"/>
              </a:spcBef>
            </a:pPr>
            <a:r>
              <a:rPr sz="1400" b="0" dirty="0">
                <a:solidFill>
                  <a:srgbClr val="1B2230"/>
                </a:solidFill>
                <a:latin typeface="Arial"/>
              </a:rPr>
              <a:t>Measure </a:t>
            </a:r>
            <a:r>
              <a:rPr sz="1400" b="0" dirty="0" err="1">
                <a:solidFill>
                  <a:srgbClr val="1B2230"/>
                </a:solidFill>
                <a:latin typeface="Arial"/>
              </a:rPr>
              <a:t>không</a:t>
            </a:r>
            <a:r>
              <a:rPr sz="1400" b="0" dirty="0">
                <a:solidFill>
                  <a:srgbClr val="1B2230"/>
                </a:solidFill>
                <a:latin typeface="Arial"/>
              </a:rPr>
              <a:t> </a:t>
            </a:r>
            <a:r>
              <a:rPr sz="1400" b="0" dirty="0" err="1">
                <a:solidFill>
                  <a:srgbClr val="1B2230"/>
                </a:solidFill>
                <a:latin typeface="Arial"/>
              </a:rPr>
              <a:t>báo</a:t>
            </a:r>
            <a:r>
              <a:rPr sz="1400" b="0" dirty="0">
                <a:solidFill>
                  <a:srgbClr val="1B2230"/>
                </a:solidFill>
                <a:latin typeface="Arial"/>
              </a:rPr>
              <a:t> </a:t>
            </a:r>
            <a:r>
              <a:rPr sz="1400" b="0" dirty="0" err="1">
                <a:solidFill>
                  <a:srgbClr val="1B2230"/>
                </a:solidFill>
                <a:latin typeface="Arial"/>
              </a:rPr>
              <a:t>lỗi</a:t>
            </a:r>
            <a:r>
              <a:rPr sz="1400" b="0" dirty="0">
                <a:solidFill>
                  <a:srgbClr val="1B2230"/>
                </a:solidFill>
                <a:latin typeface="Arial"/>
              </a:rPr>
              <a:t>, </a:t>
            </a:r>
            <a:r>
              <a:rPr sz="1400" b="0" dirty="0" err="1">
                <a:solidFill>
                  <a:srgbClr val="1B2230"/>
                </a:solidFill>
                <a:latin typeface="Arial"/>
              </a:rPr>
              <a:t>người</a:t>
            </a:r>
            <a:r>
              <a:rPr sz="1400" b="0" dirty="0">
                <a:solidFill>
                  <a:srgbClr val="1B2230"/>
                </a:solidFill>
                <a:latin typeface="Arial"/>
              </a:rPr>
              <a:t> </a:t>
            </a:r>
            <a:r>
              <a:rPr sz="1400" b="0" dirty="0" err="1">
                <a:solidFill>
                  <a:srgbClr val="1B2230"/>
                </a:solidFill>
                <a:latin typeface="Arial"/>
              </a:rPr>
              <a:t>dùng</a:t>
            </a:r>
            <a:r>
              <a:rPr sz="1400" b="0" dirty="0">
                <a:solidFill>
                  <a:srgbClr val="1B2230"/>
                </a:solidFill>
                <a:latin typeface="Arial"/>
              </a:rPr>
              <a:t> </a:t>
            </a:r>
            <a:r>
              <a:rPr sz="1400" b="0" dirty="0" err="1">
                <a:solidFill>
                  <a:srgbClr val="1B2230"/>
                </a:solidFill>
                <a:latin typeface="Arial"/>
              </a:rPr>
              <a:t>phải</a:t>
            </a:r>
            <a:r>
              <a:rPr sz="1400" b="0" dirty="0">
                <a:solidFill>
                  <a:srgbClr val="1B2230"/>
                </a:solidFill>
                <a:latin typeface="Arial"/>
              </a:rPr>
              <a:t> </a:t>
            </a:r>
            <a:r>
              <a:rPr sz="1400" b="0" dirty="0" err="1">
                <a:solidFill>
                  <a:srgbClr val="1B2230"/>
                </a:solidFill>
                <a:latin typeface="Arial"/>
              </a:rPr>
              <a:t>biết</a:t>
            </a:r>
            <a:r>
              <a:rPr sz="1400" b="0" dirty="0">
                <a:solidFill>
                  <a:srgbClr val="1B2230"/>
                </a:solidFill>
                <a:latin typeface="Arial"/>
              </a:rPr>
              <a:t> </a:t>
            </a:r>
            <a:r>
              <a:rPr sz="1400" b="0" dirty="0" err="1">
                <a:solidFill>
                  <a:srgbClr val="1B2230"/>
                </a:solidFill>
                <a:latin typeface="Arial"/>
              </a:rPr>
              <a:t>giới</a:t>
            </a:r>
            <a:r>
              <a:rPr sz="1400" b="0" dirty="0">
                <a:solidFill>
                  <a:srgbClr val="1B2230"/>
                </a:solidFill>
                <a:latin typeface="Arial"/>
              </a:rPr>
              <a:t> </a:t>
            </a:r>
            <a:r>
              <a:rPr sz="1400" b="0" dirty="0" err="1">
                <a:solidFill>
                  <a:srgbClr val="1B2230"/>
                </a:solidFill>
                <a:latin typeface="Arial"/>
              </a:rPr>
              <a:t>hạn</a:t>
            </a:r>
            <a:r>
              <a:rPr sz="1400" b="0" dirty="0">
                <a:solidFill>
                  <a:srgbClr val="1B2230"/>
                </a:solidFill>
                <a:latin typeface="Arial"/>
              </a:rPr>
              <a:t>.</a:t>
            </a:r>
          </a:p>
        </p:txBody>
      </p:sp>
      <p:pic>
        <p:nvPicPr>
          <p:cNvPr id="6" name="Screenshot S25_store_thang" descr="S25_store_thang.png"/>
          <p:cNvPicPr>
            <a:picLocks noChangeAspect="1"/>
          </p:cNvPicPr>
          <p:nvPr/>
        </p:nvPicPr>
        <p:blipFill>
          <a:blip r:embed="rId3"/>
          <a:stretch>
            <a:fillRect/>
          </a:stretch>
        </p:blipFill>
        <p:spPr>
          <a:xfrm>
            <a:off x="5916168" y="2355670"/>
            <a:ext cx="3611880" cy="2009500"/>
          </a:xfrm>
          <a:prstGeom prst="rect">
            <a:avLst/>
          </a:prstGeom>
          <a:ln w="9525">
            <a:solidFill>
              <a:srgbClr val="D9DEE8"/>
            </a:solidFill>
          </a:ln>
        </p:spPr>
      </p:pic>
      <p:sp>
        <p:nvSpPr>
          <p:cNvPr id="7" name="Stat card"/>
          <p:cNvSpPr/>
          <p:nvPr/>
        </p:nvSpPr>
        <p:spPr>
          <a:xfrm>
            <a:off x="9665208" y="1463040"/>
            <a:ext cx="1984248" cy="18288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9848088" y="1554480"/>
            <a:ext cx="1618488" cy="1645920"/>
          </a:xfrm>
          <a:prstGeom prst="rect">
            <a:avLst/>
          </a:prstGeom>
          <a:noFill/>
        </p:spPr>
        <p:txBody>
          <a:bodyPr wrap="square" lIns="0" tIns="0" rIns="0" bIns="0" anchor="ctr">
            <a:spAutoFit/>
          </a:bodyPr>
          <a:lstStyle/>
          <a:p>
            <a:r>
              <a:rPr sz="1400" b="0">
                <a:solidFill>
                  <a:srgbClr val="585858"/>
                </a:solidFill>
                <a:latin typeface="Arial"/>
              </a:rPr>
              <a:t>ST07 · T3/2025</a:t>
            </a:r>
          </a:p>
          <a:p>
            <a:pPr>
              <a:spcBef>
                <a:spcPts val="200"/>
              </a:spcBef>
            </a:pPr>
            <a:r>
              <a:rPr sz="2400" b="1">
                <a:solidFill>
                  <a:srgbClr val="9C0006"/>
                </a:solidFill>
                <a:latin typeface="Arial"/>
              </a:rPr>
              <a:t>44,9%</a:t>
            </a:r>
          </a:p>
          <a:p>
            <a:pPr>
              <a:spcBef>
                <a:spcPts val="200"/>
              </a:spcBef>
            </a:pPr>
            <a:r>
              <a:rPr sz="1400" b="0">
                <a:solidFill>
                  <a:srgbClr val="1B2230"/>
                </a:solidFill>
                <a:latin typeface="Arial"/>
              </a:rPr>
              <a:t>8.539.000 / 19.000.000</a:t>
            </a:r>
          </a:p>
        </p:txBody>
      </p:sp>
      <p:sp>
        <p:nvSpPr>
          <p:cNvPr id="9" name="Stat card"/>
          <p:cNvSpPr/>
          <p:nvPr/>
        </p:nvSpPr>
        <p:spPr>
          <a:xfrm>
            <a:off x="9665208" y="3429000"/>
            <a:ext cx="1984248" cy="18288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9848088" y="3520440"/>
            <a:ext cx="1618488" cy="1645920"/>
          </a:xfrm>
          <a:prstGeom prst="rect">
            <a:avLst/>
          </a:prstGeom>
          <a:noFill/>
        </p:spPr>
        <p:txBody>
          <a:bodyPr wrap="square" lIns="0" tIns="0" rIns="0" bIns="0" anchor="ctr">
            <a:spAutoFit/>
          </a:bodyPr>
          <a:lstStyle/>
          <a:p>
            <a:r>
              <a:rPr sz="1400" b="0">
                <a:solidFill>
                  <a:srgbClr val="585858"/>
                </a:solidFill>
                <a:latin typeface="Arial"/>
              </a:rPr>
              <a:t>ST07 · T4/2025</a:t>
            </a:r>
          </a:p>
          <a:p>
            <a:pPr>
              <a:spcBef>
                <a:spcPts val="200"/>
              </a:spcBef>
            </a:pPr>
            <a:r>
              <a:rPr sz="2400" b="1">
                <a:solidFill>
                  <a:srgbClr val="2E7D32"/>
                </a:solidFill>
                <a:latin typeface="Arial"/>
              </a:rPr>
              <a:t>97,4%</a:t>
            </a:r>
          </a:p>
          <a:p>
            <a:pPr>
              <a:spcBef>
                <a:spcPts val="200"/>
              </a:spcBef>
            </a:pPr>
            <a:r>
              <a:rPr sz="1400" b="0">
                <a:solidFill>
                  <a:srgbClr val="1B2230"/>
                </a:solidFill>
                <a:latin typeface="Arial"/>
              </a:rPr>
              <a:t>hồi phục sau cải tạo</a:t>
            </a:r>
          </a:p>
        </p:txBody>
      </p:sp>
      <p:sp>
        <p:nvSpPr>
          <p:cNvPr id="11" name="TIP callout"/>
          <p:cNvSpPr/>
          <p:nvPr/>
        </p:nvSpPr>
        <p:spPr>
          <a:xfrm>
            <a:off x="1527048" y="5394960"/>
            <a:ext cx="10122408" cy="73152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1636776" y="550468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3" name="TIP text"/>
          <p:cNvSpPr txBox="1"/>
          <p:nvPr/>
        </p:nvSpPr>
        <p:spPr>
          <a:xfrm>
            <a:off x="2212848" y="5486400"/>
            <a:ext cx="9326880" cy="492443"/>
          </a:xfrm>
          <a:prstGeom prst="rect">
            <a:avLst/>
          </a:prstGeom>
          <a:noFill/>
        </p:spPr>
        <p:txBody>
          <a:bodyPr wrap="square" lIns="0" tIns="0" rIns="0" bIns="0" anchor="t">
            <a:spAutoFit/>
          </a:bodyPr>
          <a:lstStyle/>
          <a:p>
            <a:r>
              <a:rPr sz="1600" b="0" dirty="0">
                <a:solidFill>
                  <a:srgbClr val="1B2230"/>
                </a:solidFill>
                <a:latin typeface="Arial"/>
              </a:rPr>
              <a:t>KPI dictionary </a:t>
            </a:r>
            <a:r>
              <a:rPr sz="1600" b="0" dirty="0" err="1">
                <a:solidFill>
                  <a:srgbClr val="1B2230"/>
                </a:solidFill>
                <a:latin typeface="Arial"/>
              </a:rPr>
              <a:t>ghi</a:t>
            </a:r>
            <a:r>
              <a:rPr sz="1600" b="0" dirty="0">
                <a:solidFill>
                  <a:srgbClr val="1B2230"/>
                </a:solidFill>
                <a:latin typeface="Arial"/>
              </a:rPr>
              <a:t> </a:t>
            </a:r>
            <a:r>
              <a:rPr sz="1600" b="0" dirty="0" err="1">
                <a:solidFill>
                  <a:srgbClr val="1B2230"/>
                </a:solidFill>
                <a:latin typeface="Arial"/>
              </a:rPr>
              <a:t>rõ</a:t>
            </a:r>
            <a:r>
              <a:rPr sz="1600" b="0" dirty="0">
                <a:solidFill>
                  <a:srgbClr val="1B2230"/>
                </a:solidFill>
                <a:latin typeface="Arial"/>
              </a:rPr>
              <a:t>: Revenue vs Target % </a:t>
            </a:r>
            <a:r>
              <a:rPr sz="1600" b="0" dirty="0" err="1">
                <a:solidFill>
                  <a:srgbClr val="1B2230"/>
                </a:solidFill>
                <a:latin typeface="Arial"/>
              </a:rPr>
              <a:t>lọc</a:t>
            </a:r>
            <a:r>
              <a:rPr sz="1600" b="0" dirty="0">
                <a:solidFill>
                  <a:srgbClr val="1B2230"/>
                </a:solidFill>
                <a:latin typeface="Arial"/>
              </a:rPr>
              <a:t> </a:t>
            </a:r>
            <a:r>
              <a:rPr sz="1600" b="0" dirty="0" err="1">
                <a:solidFill>
                  <a:srgbClr val="1B2230"/>
                </a:solidFill>
                <a:latin typeface="Arial"/>
              </a:rPr>
              <a:t>theo</a:t>
            </a:r>
            <a:r>
              <a:rPr sz="1600" b="0" dirty="0">
                <a:solidFill>
                  <a:srgbClr val="1B2230"/>
                </a:solidFill>
                <a:latin typeface="Arial"/>
              </a:rPr>
              <a:t> store, region, month, </a:t>
            </a:r>
            <a:r>
              <a:rPr sz="1600" b="1" dirty="0">
                <a:solidFill>
                  <a:srgbClr val="1B2230"/>
                </a:solidFill>
                <a:latin typeface="Arial"/>
              </a:rPr>
              <a:t>KHÔNG </a:t>
            </a:r>
            <a:r>
              <a:rPr sz="1600" b="1" dirty="0" err="1">
                <a:solidFill>
                  <a:srgbClr val="1B2230"/>
                </a:solidFill>
                <a:latin typeface="Arial"/>
              </a:rPr>
              <a:t>theo</a:t>
            </a:r>
            <a:r>
              <a:rPr sz="1600" b="1" dirty="0">
                <a:solidFill>
                  <a:srgbClr val="1B2230"/>
                </a:solidFill>
                <a:latin typeface="Arial"/>
              </a:rPr>
              <a:t> product/category.</a:t>
            </a:r>
          </a:p>
        </p:txBody>
      </p:sp>
      <p:sp>
        <p:nvSpPr>
          <p:cNvPr id="14"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bản sao Practice/B5_MCI_Mart_Answer.xlsx, sheet PV_Target_CuaHang (trên lớp: sheet PV_Target, Demo/B5_Demo_DAX.xlsx)</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6. Time intelligence: lũy kế và so với cùng kỳ</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YTD · cùng kỳ năm trước</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6 · TIME INTELLIGENCE</a:t>
            </a:r>
          </a:p>
        </p:txBody>
      </p:sp>
      <p:graphicFrame>
        <p:nvGraphicFramePr>
          <p:cNvPr id="4" name="Table"/>
          <p:cNvGraphicFramePr>
            <a:graphicFrameLocks noGrp="1"/>
          </p:cNvGraphicFramePr>
          <p:nvPr/>
        </p:nvGraphicFramePr>
        <p:xfrm>
          <a:off x="1527048" y="1417320"/>
          <a:ext cx="6309360" cy="1755648"/>
        </p:xfrm>
        <a:graphic>
          <a:graphicData uri="http://schemas.openxmlformats.org/drawingml/2006/table">
            <a:tbl>
              <a:tblPr firstRow="1"/>
              <a:tblGrid>
                <a:gridCol w="3017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438912">
                <a:tc>
                  <a:txBody>
                    <a:bodyPr/>
                    <a:lstStyle/>
                    <a:p>
                      <a:r>
                        <a:rPr sz="1200" b="1">
                          <a:solidFill>
                            <a:srgbClr val="FFFFFF"/>
                          </a:solidFill>
                          <a:latin typeface="Arial"/>
                        </a:rPr>
                        <a:t>Tên</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200" b="1">
                          <a:solidFill>
                            <a:srgbClr val="FFFFFF"/>
                          </a:solidFill>
                          <a:latin typeface="Arial"/>
                        </a:rPr>
                        <a:t>Mục đích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38912">
                <a:tc>
                  <a:txBody>
                    <a:bodyPr/>
                    <a:lstStyle/>
                    <a:p>
                      <a:r>
                        <a:rPr sz="1200" b="1">
                          <a:solidFill>
                            <a:srgbClr val="C00000"/>
                          </a:solidFill>
                          <a:latin typeface="Arial"/>
                        </a:rPr>
                        <a:t>Design → Mark as Date Table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200" b="0">
                          <a:solidFill>
                            <a:srgbClr val="1B2230"/>
                          </a:solidFill>
                          <a:latin typeface="Arial"/>
                        </a:rPr>
                        <a:t>Khai báo Calendar là bảng lịch: mỗi ngày một dòng, liên tục (731 ngày ✔)</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38912">
                <a:tc>
                  <a:txBody>
                    <a:bodyPr/>
                    <a:lstStyle/>
                    <a:p>
                      <a:r>
                        <a:rPr sz="1200" b="1">
                          <a:solidFill>
                            <a:srgbClr val="C00000"/>
                          </a:solidFill>
                          <a:latin typeface="Arial"/>
                        </a:rPr>
                        <a:t>DATESYTD(Calendar[Date])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200" b="0">
                          <a:solidFill>
                            <a:srgbClr val="1B2230"/>
                          </a:solidFill>
                          <a:latin typeface="Arial"/>
                        </a:rPr>
                        <a:t>Từ đầu năm tới ngày cuối của ô → lũy kế</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38912">
                <a:tc>
                  <a:txBody>
                    <a:bodyPr/>
                    <a:lstStyle/>
                    <a:p>
                      <a:r>
                        <a:rPr sz="1200" b="1">
                          <a:solidFill>
                            <a:srgbClr val="C00000"/>
                          </a:solidFill>
                          <a:latin typeface="Arial"/>
                        </a:rPr>
                        <a:t>DATEADD(Calendar[Date], -1, YEAR)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200" b="0">
                          <a:solidFill>
                            <a:srgbClr val="1B2230"/>
                          </a:solidFill>
                          <a:latin typeface="Arial"/>
                        </a:rPr>
                        <a:t>Lùi các ngày của ô một năm → cùng kỳ</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pic>
        <p:nvPicPr>
          <p:cNvPr id="5" name="Screenshot S27a_mark_date_table" descr="S27a_mark_date_table.png"/>
          <p:cNvPicPr>
            <a:picLocks noChangeAspect="1"/>
          </p:cNvPicPr>
          <p:nvPr/>
        </p:nvPicPr>
        <p:blipFill>
          <a:blip r:embed="rId3"/>
          <a:stretch>
            <a:fillRect/>
          </a:stretch>
        </p:blipFill>
        <p:spPr>
          <a:xfrm>
            <a:off x="8897985" y="1417320"/>
            <a:ext cx="1854485" cy="1737360"/>
          </a:xfrm>
          <a:prstGeom prst="rect">
            <a:avLst/>
          </a:prstGeom>
          <a:ln w="9525">
            <a:solidFill>
              <a:srgbClr val="D9DEE8"/>
            </a:solidFill>
          </a:ln>
        </p:spPr>
      </p:pic>
      <p:graphicFrame>
        <p:nvGraphicFramePr>
          <p:cNvPr id="6" name="Measures"/>
          <p:cNvGraphicFramePr>
            <a:graphicFrameLocks noGrp="1"/>
          </p:cNvGraphicFramePr>
          <p:nvPr/>
        </p:nvGraphicFramePr>
        <p:xfrm>
          <a:off x="1527048" y="3291840"/>
          <a:ext cx="6309360" cy="1755648"/>
        </p:xfrm>
        <a:graphic>
          <a:graphicData uri="http://schemas.openxmlformats.org/drawingml/2006/table">
            <a:tbl>
              <a:tblPr firstRow="1"/>
              <a:tblGrid>
                <a:gridCol w="160020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tblGrid>
              <a:tr h="438912">
                <a:tc>
                  <a:txBody>
                    <a:bodyPr/>
                    <a:lstStyle/>
                    <a:p>
                      <a:r>
                        <a:rPr sz="1100" b="1">
                          <a:solidFill>
                            <a:srgbClr val="FFFFFF"/>
                          </a:solidFill>
                          <a:latin typeface="Arial"/>
                        </a:rPr>
                        <a:t>Measure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100" b="1">
                          <a:solidFill>
                            <a:srgbClr val="FFFFFF"/>
                          </a:solidFill>
                          <a:latin typeface="Arial"/>
                        </a:rPr>
                        <a:t>DAX</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38912">
                <a:tc>
                  <a:txBody>
                    <a:bodyPr/>
                    <a:lstStyle/>
                    <a:p>
                      <a:r>
                        <a:rPr sz="1100" b="1" dirty="0">
                          <a:solidFill>
                            <a:srgbClr val="1B2230"/>
                          </a:solidFill>
                          <a:latin typeface="Arial"/>
                        </a:rPr>
                        <a:t>Revenue YTD</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CALCULATE([Total Revenue], DATESYTD(Calendar[Date]))</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38912">
                <a:tc>
                  <a:txBody>
                    <a:bodyPr/>
                    <a:lstStyle/>
                    <a:p>
                      <a:r>
                        <a:rPr sz="1100" b="1">
                          <a:solidFill>
                            <a:srgbClr val="1B2230"/>
                          </a:solidFill>
                          <a:latin typeface="Arial"/>
                        </a:rPr>
                        <a:t>Revenue LY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dirty="0">
                          <a:solidFill>
                            <a:srgbClr val="1B2230"/>
                          </a:solidFill>
                          <a:latin typeface="Arial"/>
                        </a:rPr>
                        <a:t>CALCULATE([Total Revenue], DATEADD(Calendar[Date], -1, YEAR))</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38912">
                <a:tc>
                  <a:txBody>
                    <a:bodyPr/>
                    <a:lstStyle/>
                    <a:p>
                      <a:r>
                        <a:rPr sz="1100" b="1">
                          <a:solidFill>
                            <a:srgbClr val="1B2230"/>
                          </a:solidFill>
                          <a:latin typeface="Arial"/>
                        </a:rPr>
                        <a:t>Revenue YoY %</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dirty="0">
                          <a:solidFill>
                            <a:srgbClr val="1B2230"/>
                          </a:solidFill>
                          <a:latin typeface="Arial"/>
                        </a:rPr>
                        <a:t>IF(ISBLANK([Total Revenue]), BLANK(), DIVIDE([Total Revenue] - [Revenue LY], [Revenue LY]))</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bl>
          </a:graphicData>
        </a:graphic>
      </p:graphicFrame>
      <p:pic>
        <p:nvPicPr>
          <p:cNvPr id="7" name="Screenshot S27b_yoy_ytd" descr="S27b_yoy_ytd.png"/>
          <p:cNvPicPr>
            <a:picLocks noChangeAspect="1"/>
          </p:cNvPicPr>
          <p:nvPr/>
        </p:nvPicPr>
        <p:blipFill>
          <a:blip r:embed="rId4"/>
          <a:stretch>
            <a:fillRect/>
          </a:stretch>
        </p:blipFill>
        <p:spPr>
          <a:xfrm>
            <a:off x="8001000" y="3672556"/>
            <a:ext cx="3648456" cy="1067367"/>
          </a:xfrm>
          <a:prstGeom prst="rect">
            <a:avLst/>
          </a:prstGeom>
          <a:ln w="9525">
            <a:solidFill>
              <a:srgbClr val="D9DEE8"/>
            </a:solidFill>
          </a:ln>
        </p:spPr>
      </p:pic>
      <p:sp>
        <p:nvSpPr>
          <p:cNvPr id="8" name="TIP callout"/>
          <p:cNvSpPr/>
          <p:nvPr/>
        </p:nvSpPr>
        <p:spPr>
          <a:xfrm>
            <a:off x="1527048" y="5257800"/>
            <a:ext cx="5120640" cy="9144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1636776" y="53675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0" name="TIP text"/>
          <p:cNvSpPr txBox="1"/>
          <p:nvPr/>
        </p:nvSpPr>
        <p:spPr>
          <a:xfrm>
            <a:off x="2212848" y="5349240"/>
            <a:ext cx="4325112" cy="731520"/>
          </a:xfrm>
          <a:prstGeom prst="rect">
            <a:avLst/>
          </a:prstGeom>
          <a:noFill/>
        </p:spPr>
        <p:txBody>
          <a:bodyPr wrap="square" lIns="0" tIns="0" rIns="0" bIns="0" anchor="t">
            <a:spAutoFit/>
          </a:bodyPr>
          <a:lstStyle/>
          <a:p>
            <a:r>
              <a:rPr sz="1600" b="0">
                <a:solidFill>
                  <a:srgbClr val="1B2230"/>
                </a:solidFill>
                <a:latin typeface="Arial"/>
              </a:rPr>
              <a:t>YoY T1 +42,8% · T2 −0,9% · T3 +13,7% · T4 +24,0%; YTD T4 +21,0%. Không chặn ô trống: T5 = −100%.</a:t>
            </a:r>
          </a:p>
        </p:txBody>
      </p:sp>
      <p:sp>
        <p:nvSpPr>
          <p:cNvPr id="11" name="PRO TIP callout"/>
          <p:cNvSpPr/>
          <p:nvPr/>
        </p:nvSpPr>
        <p:spPr>
          <a:xfrm>
            <a:off x="6784848" y="5257800"/>
            <a:ext cx="4864608" cy="9144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RO TIP chip"/>
          <p:cNvSpPr/>
          <p:nvPr/>
        </p:nvSpPr>
        <p:spPr>
          <a:xfrm>
            <a:off x="6894576" y="5367528"/>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3" name="PRO TIP text"/>
          <p:cNvSpPr txBox="1"/>
          <p:nvPr/>
        </p:nvSpPr>
        <p:spPr>
          <a:xfrm>
            <a:off x="7991856" y="5349240"/>
            <a:ext cx="3547872" cy="731520"/>
          </a:xfrm>
          <a:prstGeom prst="rect">
            <a:avLst/>
          </a:prstGeom>
          <a:noFill/>
        </p:spPr>
        <p:txBody>
          <a:bodyPr wrap="square" lIns="0" tIns="0" rIns="0" bIns="0" anchor="t">
            <a:spAutoFit/>
          </a:bodyPr>
          <a:lstStyle/>
          <a:p>
            <a:r>
              <a:rPr sz="1600" b="0">
                <a:solidFill>
                  <a:srgbClr val="1B2230"/>
                </a:solidFill>
                <a:latin typeface="Arial"/>
              </a:rPr>
              <a:t>SAMEPERIODLASTYEAR cho cùng kết quả với DATEADD lùi 1 năm.</a:t>
            </a:r>
          </a:p>
        </p:txBody>
      </p:sp>
      <p:sp>
        <p:nvSpPr>
          <p:cNvPr id="14"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Demo/B5_Demo_DAX.xlsx (Design → Mark as Date Table); bản sao Practice/B5_MCI_Mart_Answer.xlsx, sheet PV_YoY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Like-for-like: ST12 và ô YoY trống</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6 · TIME INTELLIGENCE</a:t>
            </a:r>
          </a:p>
        </p:txBody>
      </p:sp>
      <p:pic>
        <p:nvPicPr>
          <p:cNvPr id="4" name="Screenshot S28_yoy_cua_hang" descr="S28_yoy_cua_hang.png"/>
          <p:cNvPicPr>
            <a:picLocks noChangeAspect="1"/>
          </p:cNvPicPr>
          <p:nvPr/>
        </p:nvPicPr>
        <p:blipFill>
          <a:blip r:embed="rId3"/>
          <a:stretch>
            <a:fillRect/>
          </a:stretch>
        </p:blipFill>
        <p:spPr>
          <a:xfrm>
            <a:off x="1604584" y="1463040"/>
            <a:ext cx="6154287" cy="3246120"/>
          </a:xfrm>
          <a:prstGeom prst="rect">
            <a:avLst/>
          </a:prstGeom>
          <a:ln w="9525">
            <a:solidFill>
              <a:srgbClr val="D9DEE8"/>
            </a:solidFill>
          </a:ln>
        </p:spPr>
      </p:pic>
      <p:sp>
        <p:nvSpPr>
          <p:cNvPr id="5" name="Stat card"/>
          <p:cNvSpPr/>
          <p:nvPr/>
        </p:nvSpPr>
        <p:spPr>
          <a:xfrm>
            <a:off x="8001000" y="1463040"/>
            <a:ext cx="3648456"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p:cNvSpPr txBox="1"/>
          <p:nvPr/>
        </p:nvSpPr>
        <p:spPr>
          <a:xfrm>
            <a:off x="8183879" y="1554480"/>
            <a:ext cx="3282696" cy="868680"/>
          </a:xfrm>
          <a:prstGeom prst="rect">
            <a:avLst/>
          </a:prstGeom>
          <a:noFill/>
        </p:spPr>
        <p:txBody>
          <a:bodyPr wrap="square" lIns="0" tIns="0" rIns="0" bIns="0" anchor="ctr">
            <a:spAutoFit/>
          </a:bodyPr>
          <a:lstStyle/>
          <a:p>
            <a:r>
              <a:rPr sz="1400" b="0">
                <a:solidFill>
                  <a:srgbClr val="585858"/>
                </a:solidFill>
                <a:latin typeface="Arial"/>
              </a:rPr>
              <a:t>ST12 khai trương 01/06/2024</a:t>
            </a:r>
          </a:p>
          <a:p>
            <a:pPr>
              <a:spcBef>
                <a:spcPts val="200"/>
              </a:spcBef>
            </a:pPr>
            <a:r>
              <a:rPr sz="2200" b="1">
                <a:solidFill>
                  <a:srgbClr val="203864"/>
                </a:solidFill>
                <a:latin typeface="Arial"/>
              </a:rPr>
              <a:t>79.399.000</a:t>
            </a:r>
          </a:p>
          <a:p>
            <a:pPr>
              <a:spcBef>
                <a:spcPts val="200"/>
              </a:spcBef>
            </a:pPr>
            <a:r>
              <a:rPr sz="1400" b="0">
                <a:solidFill>
                  <a:srgbClr val="1B2230"/>
                </a:solidFill>
                <a:latin typeface="Arial"/>
              </a:rPr>
              <a:t>T1–T4/2025 · không có kỳ gốc</a:t>
            </a:r>
          </a:p>
        </p:txBody>
      </p:sp>
      <p:sp>
        <p:nvSpPr>
          <p:cNvPr id="7" name="Stat card"/>
          <p:cNvSpPr/>
          <p:nvPr/>
        </p:nvSpPr>
        <p:spPr>
          <a:xfrm>
            <a:off x="8001000" y="2560320"/>
            <a:ext cx="3648456"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183879" y="2651760"/>
            <a:ext cx="3282696" cy="868680"/>
          </a:xfrm>
          <a:prstGeom prst="rect">
            <a:avLst/>
          </a:prstGeom>
          <a:noFill/>
        </p:spPr>
        <p:txBody>
          <a:bodyPr wrap="square" lIns="0" tIns="0" rIns="0" bIns="0" anchor="ctr">
            <a:spAutoFit/>
          </a:bodyPr>
          <a:lstStyle/>
          <a:p>
            <a:r>
              <a:rPr sz="1400" b="0">
                <a:solidFill>
                  <a:srgbClr val="585858"/>
                </a:solidFill>
                <a:latin typeface="Arial"/>
              </a:rPr>
              <a:t>YTD T4 · cả chuỗi 12 cửa hàng</a:t>
            </a:r>
          </a:p>
          <a:p>
            <a:pPr>
              <a:spcBef>
                <a:spcPts val="200"/>
              </a:spcBef>
            </a:pPr>
            <a:r>
              <a:rPr sz="2400" b="1">
                <a:solidFill>
                  <a:srgbClr val="9C0006"/>
                </a:solidFill>
                <a:latin typeface="Arial"/>
              </a:rPr>
              <a:t>+21,0%</a:t>
            </a:r>
          </a:p>
          <a:p>
            <a:pPr>
              <a:spcBef>
                <a:spcPts val="200"/>
              </a:spcBef>
            </a:pPr>
            <a:r>
              <a:rPr sz="1400" b="0">
                <a:solidFill>
                  <a:srgbClr val="1B2230"/>
                </a:solidFill>
                <a:latin typeface="Arial"/>
              </a:rPr>
              <a:t>gồm cả ST12</a:t>
            </a:r>
          </a:p>
        </p:txBody>
      </p:sp>
      <p:sp>
        <p:nvSpPr>
          <p:cNvPr id="9" name="Stat card"/>
          <p:cNvSpPr/>
          <p:nvPr/>
        </p:nvSpPr>
        <p:spPr>
          <a:xfrm>
            <a:off x="8001000" y="3657600"/>
            <a:ext cx="3648456"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183879" y="3749039"/>
            <a:ext cx="3282696" cy="868680"/>
          </a:xfrm>
          <a:prstGeom prst="rect">
            <a:avLst/>
          </a:prstGeom>
          <a:noFill/>
        </p:spPr>
        <p:txBody>
          <a:bodyPr wrap="square" lIns="0" tIns="0" rIns="0" bIns="0" anchor="ctr">
            <a:spAutoFit/>
          </a:bodyPr>
          <a:lstStyle/>
          <a:p>
            <a:r>
              <a:rPr sz="1400" b="0">
                <a:solidFill>
                  <a:srgbClr val="585858"/>
                </a:solidFill>
                <a:latin typeface="Arial"/>
              </a:rPr>
              <a:t>YTD T4 · like-for-like 11 cửa hàng</a:t>
            </a:r>
          </a:p>
          <a:p>
            <a:pPr>
              <a:spcBef>
                <a:spcPts val="200"/>
              </a:spcBef>
            </a:pPr>
            <a:r>
              <a:rPr sz="2400" b="1">
                <a:solidFill>
                  <a:srgbClr val="2E7D32"/>
                </a:solidFill>
                <a:latin typeface="Arial"/>
              </a:rPr>
              <a:t>+13,3%</a:t>
            </a:r>
          </a:p>
          <a:p>
            <a:pPr>
              <a:spcBef>
                <a:spcPts val="200"/>
              </a:spcBef>
            </a:pPr>
            <a:r>
              <a:rPr sz="1400" b="0">
                <a:solidFill>
                  <a:srgbClr val="1B2230"/>
                </a:solidFill>
                <a:latin typeface="Arial"/>
              </a:rPr>
              <a:t>chỉ cửa hàng có đủ hai kỳ</a:t>
            </a:r>
          </a:p>
        </p:txBody>
      </p:sp>
      <p:sp>
        <p:nvSpPr>
          <p:cNvPr id="11" name="TIP callout"/>
          <p:cNvSpPr/>
          <p:nvPr/>
        </p:nvSpPr>
        <p:spPr>
          <a:xfrm>
            <a:off x="1527048" y="4800600"/>
            <a:ext cx="10122408" cy="658368"/>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p:cNvSpPr txBox="1"/>
          <p:nvPr/>
        </p:nvSpPr>
        <p:spPr>
          <a:xfrm>
            <a:off x="1636776" y="4910328"/>
            <a:ext cx="548640" cy="320040"/>
          </a:xfrm>
          <a:prstGeom prst="rect">
            <a:avLst/>
          </a:prstGeom>
          <a:noFill/>
        </p:spPr>
        <p:txBody>
          <a:bodyPr wrap="square" lIns="0" tIns="0" rIns="0" bIns="0" anchor="ctr">
            <a:spAutoFit/>
          </a:bodyPr>
          <a:lstStyle/>
          <a:p>
            <a:r>
              <a:rPr sz="1400" b="1">
                <a:solidFill>
                  <a:srgbClr val="203864"/>
                </a:solidFill>
                <a:latin typeface="Arial"/>
              </a:rPr>
              <a:t>TIP</a:t>
            </a:r>
          </a:p>
        </p:txBody>
      </p:sp>
      <p:sp>
        <p:nvSpPr>
          <p:cNvPr id="13" name="TIP text"/>
          <p:cNvSpPr txBox="1"/>
          <p:nvPr/>
        </p:nvSpPr>
        <p:spPr>
          <a:xfrm>
            <a:off x="2212848" y="4892040"/>
            <a:ext cx="9326880" cy="475488"/>
          </a:xfrm>
          <a:prstGeom prst="rect">
            <a:avLst/>
          </a:prstGeom>
          <a:noFill/>
        </p:spPr>
        <p:txBody>
          <a:bodyPr wrap="square" lIns="0" tIns="0" rIns="0" bIns="0" anchor="t">
            <a:spAutoFit/>
          </a:bodyPr>
          <a:lstStyle/>
          <a:p>
            <a:r>
              <a:rPr sz="1600" b="0">
                <a:solidFill>
                  <a:srgbClr val="1B2230"/>
                </a:solidFill>
                <a:latin typeface="Arial"/>
              </a:rPr>
              <a:t>D2: thấy ô trống, hỏi vì sao; thấy tổng đẹp, hỏi tổng gồm những gì. ST10 +37,9% · ST07 −3,2% · ST04 −1,5%.</a:t>
            </a:r>
          </a:p>
        </p:txBody>
      </p:sp>
      <p:sp>
        <p:nvSpPr>
          <p:cNvPr id="14" name="PRO TIP callout"/>
          <p:cNvSpPr/>
          <p:nvPr/>
        </p:nvSpPr>
        <p:spPr>
          <a:xfrm>
            <a:off x="1527048" y="5504688"/>
            <a:ext cx="10122408" cy="658368"/>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RO TIP chip"/>
          <p:cNvSpPr/>
          <p:nvPr/>
        </p:nvSpPr>
        <p:spPr>
          <a:xfrm>
            <a:off x="1636776" y="5614416"/>
            <a:ext cx="1005840" cy="320040"/>
          </a:xfrm>
          <a:prstGeom prst="roundRect">
            <a:avLst>
              <a:gd name="adj" fmla="val 2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1B2230"/>
                </a:solidFill>
                <a:latin typeface="Arial"/>
              </a:rPr>
              <a:t>PRO TIP</a:t>
            </a:r>
          </a:p>
        </p:txBody>
      </p:sp>
      <p:sp>
        <p:nvSpPr>
          <p:cNvPr id="16" name="PRO TIP text"/>
          <p:cNvSpPr txBox="1"/>
          <p:nvPr/>
        </p:nvSpPr>
        <p:spPr>
          <a:xfrm>
            <a:off x="2734056" y="5596127"/>
            <a:ext cx="8805672" cy="475488"/>
          </a:xfrm>
          <a:prstGeom prst="rect">
            <a:avLst/>
          </a:prstGeom>
          <a:noFill/>
        </p:spPr>
        <p:txBody>
          <a:bodyPr wrap="square" lIns="0" tIns="0" rIns="0" bIns="0" anchor="t">
            <a:spAutoFit/>
          </a:bodyPr>
          <a:lstStyle/>
          <a:p>
            <a:r>
              <a:rPr sz="1600" b="0">
                <a:solidFill>
                  <a:srgbClr val="1B2230"/>
                </a:solidFill>
                <a:latin typeface="Arial"/>
              </a:rPr>
              <a:t>Bài về nhà: like-for-like thành measure, không cần lọc tay: Revenue LFL := CALCULATE([Total Revenue], Store[Open_Date] &lt; DATE(2024,1,1))</a:t>
            </a:r>
          </a:p>
        </p:txBody>
      </p:sp>
      <p:sp>
        <p:nvSpPr>
          <p:cNvPr id="17"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Ảnh: bản sao Practice/B5_MCI_Mart_Answer.xlsx, sheet PV_YoY (trên lớp: Demo/B5_Demo_DAX.xlsx)</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7. KPI dictionary: một định nghĩa, mọi báo cáo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KPI dictionary</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7 · KPI DICTIONARY</a:t>
            </a:r>
          </a:p>
        </p:txBody>
      </p:sp>
      <p:graphicFrame>
        <p:nvGraphicFramePr>
          <p:cNvPr id="4" name="KPI dictionary"/>
          <p:cNvGraphicFramePr>
            <a:graphicFrameLocks noGrp="1"/>
          </p:cNvGraphicFramePr>
          <p:nvPr/>
        </p:nvGraphicFramePr>
        <p:xfrm>
          <a:off x="1527048" y="1325880"/>
          <a:ext cx="10122407" cy="2755392"/>
        </p:xfrm>
        <a:graphic>
          <a:graphicData uri="http://schemas.openxmlformats.org/drawingml/2006/table">
            <a:tbl>
              <a:tblPr firstRow="1"/>
              <a:tblGrid>
                <a:gridCol w="1600200">
                  <a:extLst>
                    <a:ext uri="{9D8B030D-6E8A-4147-A177-3AD203B41FA5}">
                      <a16:colId xmlns:a16="http://schemas.microsoft.com/office/drawing/2014/main" val="20000"/>
                    </a:ext>
                  </a:extLst>
                </a:gridCol>
                <a:gridCol w="3977639">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252728">
                  <a:extLst>
                    <a:ext uri="{9D8B030D-6E8A-4147-A177-3AD203B41FA5}">
                      <a16:colId xmlns:a16="http://schemas.microsoft.com/office/drawing/2014/main" val="20004"/>
                    </a:ext>
                  </a:extLst>
                </a:gridCol>
              </a:tblGrid>
              <a:tr h="329184">
                <a:tc>
                  <a:txBody>
                    <a:bodyPr/>
                    <a:lstStyle/>
                    <a:p>
                      <a:r>
                        <a:rPr sz="1100" b="1">
                          <a:solidFill>
                            <a:srgbClr val="FFFFFF"/>
                          </a:solidFill>
                          <a:latin typeface="Arial"/>
                        </a:rPr>
                        <a:t>KPI</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100" b="1">
                          <a:solidFill>
                            <a:srgbClr val="FFFFFF"/>
                          </a:solidFill>
                          <a:latin typeface="Arial"/>
                        </a:rPr>
                        <a:t>Measure (DAX)</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100" b="1">
                          <a:solidFill>
                            <a:srgbClr val="FFFFFF"/>
                          </a:solidFill>
                          <a:latin typeface="Arial"/>
                        </a:rPr>
                        <a:t>Dimensions</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100" b="1">
                          <a:solidFill>
                            <a:srgbClr val="FFFFFF"/>
                          </a:solidFill>
                          <a:latin typeface="Arial"/>
                        </a:rPr>
                        <a:t>Owner</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r>
                        <a:rPr sz="1100" b="1">
                          <a:solidFill>
                            <a:srgbClr val="FFFFFF"/>
                          </a:solidFill>
                          <a:latin typeface="Arial"/>
                        </a:rPr>
                        <a:t>Target</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329184">
                <a:tc>
                  <a:txBody>
                    <a:bodyPr/>
                    <a:lstStyle/>
                    <a:p>
                      <a:r>
                        <a:rPr sz="1100" b="1">
                          <a:solidFill>
                            <a:srgbClr val="1B2230"/>
                          </a:solidFill>
                          <a:latin typeface="Arial"/>
                        </a:rPr>
                        <a:t>Total Revenue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SUM(Sales[Revenue])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region, store, category, month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Sales Director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 Total Target</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329184">
                <a:tc>
                  <a:txBody>
                    <a:bodyPr/>
                    <a:lstStyle/>
                    <a:p>
                      <a:r>
                        <a:rPr sz="1100" b="1">
                          <a:solidFill>
                            <a:srgbClr val="1B2230"/>
                          </a:solidFill>
                          <a:latin typeface="Arial"/>
                        </a:rPr>
                        <a:t>Total Orders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DISTINCTCOUNT(Sales[Order_ID])</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region, store, month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Sales Director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1.000 đơn/tháng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329184">
                <a:tc>
                  <a:txBody>
                    <a:bodyPr/>
                    <a:lstStyle/>
                    <a:p>
                      <a:r>
                        <a:rPr sz="1100" b="1">
                          <a:solidFill>
                            <a:srgbClr val="1B2230"/>
                          </a:solidFill>
                          <a:latin typeface="Arial"/>
                        </a:rPr>
                        <a:t>Avg Order Value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DIVIDE([Total Revenue], [Total Orders])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region, store, month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Sales Director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300.000</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329184">
                <a:tc>
                  <a:txBody>
                    <a:bodyPr/>
                    <a:lstStyle/>
                    <a:p>
                      <a:r>
                        <a:rPr sz="1100" b="1">
                          <a:solidFill>
                            <a:srgbClr val="1B2230"/>
                          </a:solidFill>
                          <a:latin typeface="Arial"/>
                        </a:rPr>
                        <a:t>Gross Margin %</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DIVIDE([Total Revenue] - [Total COGS], [Total Revenue])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category, region, month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Finance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33%</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r h="329184">
                <a:tc>
                  <a:txBody>
                    <a:bodyPr/>
                    <a:lstStyle/>
                    <a:p>
                      <a:r>
                        <a:rPr sz="1100" b="1">
                          <a:solidFill>
                            <a:srgbClr val="1B2230"/>
                          </a:solidFill>
                          <a:latin typeface="Arial"/>
                        </a:rPr>
                        <a:t>Revenue YoY %</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IF(ISBLANK([Total Revenue]), BLANK(), DIVIDE([Total Revenue] - [Revenue LY], [Revenue LY]))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region, category, month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Finance</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+10%</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5"/>
                  </a:ext>
                </a:extLst>
              </a:tr>
              <a:tr h="329184">
                <a:tc>
                  <a:txBody>
                    <a:bodyPr/>
                    <a:lstStyle/>
                    <a:p>
                      <a:r>
                        <a:rPr sz="1100" b="1">
                          <a:solidFill>
                            <a:srgbClr val="1B2230"/>
                          </a:solidFill>
                          <a:latin typeface="Arial"/>
                        </a:rPr>
                        <a:t>Active Customers</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DISTINCTCOUNT(Sales[Customer_ID])</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region, segment, month</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Marketing</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700 KH/tháng</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6"/>
                  </a:ext>
                </a:extLst>
              </a:tr>
              <a:tr h="329184">
                <a:tc>
                  <a:txBody>
                    <a:bodyPr/>
                    <a:lstStyle/>
                    <a:p>
                      <a:r>
                        <a:rPr sz="1100" b="1">
                          <a:solidFill>
                            <a:srgbClr val="1B2230"/>
                          </a:solidFill>
                          <a:latin typeface="Arial"/>
                        </a:rPr>
                        <a:t>Revenue vs Target %</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DIVIDE([Total Revenue], [Total Target])</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1">
                          <a:solidFill>
                            <a:srgbClr val="9C0006"/>
                          </a:solidFill>
                          <a:latin typeface="Arial"/>
                        </a:rPr>
                        <a:t>store, region, month: KHÔNG category</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Sales Director</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r>
                        <a:rPr sz="1100" b="0">
                          <a:solidFill>
                            <a:srgbClr val="1B2230"/>
                          </a:solidFill>
                          <a:latin typeface="Arial"/>
                        </a:rPr>
                        <a:t>100%</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7"/>
                  </a:ext>
                </a:extLst>
              </a:tr>
            </a:tbl>
          </a:graphicData>
        </a:graphic>
      </p:graphicFrame>
      <p:sp>
        <p:nvSpPr>
          <p:cNvPr id="5" name="Semantic layer"/>
          <p:cNvSpPr txBox="1"/>
          <p:nvPr/>
        </p:nvSpPr>
        <p:spPr>
          <a:xfrm>
            <a:off x="1527048" y="4187952"/>
            <a:ext cx="10122408" cy="457200"/>
          </a:xfrm>
          <a:prstGeom prst="rect">
            <a:avLst/>
          </a:prstGeom>
          <a:noFill/>
        </p:spPr>
        <p:txBody>
          <a:bodyPr wrap="square" lIns="0" tIns="0" rIns="0" bIns="0" anchor="t">
            <a:spAutoFit/>
          </a:bodyPr>
          <a:lstStyle/>
          <a:p>
            <a:r>
              <a:rPr sz="1300" b="1">
                <a:solidFill>
                  <a:srgbClr val="203864"/>
                </a:solidFill>
                <a:latin typeface="Arial"/>
              </a:rPr>
              <a:t>•  Measure = semantic layer: </a:t>
            </a:r>
            <a:r>
              <a:rPr sz="1300" b="0">
                <a:solidFill>
                  <a:srgbClr val="1B2230"/>
                </a:solidFill>
                <a:latin typeface="Arial"/>
              </a:rPr>
              <a:t>KPI định nghĩa một lần trong mô hình; mọi Pivot, mọi dashboard (Buổi 6) chỉ gọi tên measure.</a:t>
            </a:r>
          </a:p>
          <a:p>
            <a:pPr>
              <a:spcBef>
                <a:spcPts val="200"/>
              </a:spcBef>
            </a:pPr>
            <a:r>
              <a:rPr sz="1300" b="1">
                <a:solidFill>
                  <a:srgbClr val="203864"/>
                </a:solidFill>
                <a:latin typeface="Arial"/>
              </a:rPr>
              <a:t>•  Ô Description </a:t>
            </a:r>
            <a:r>
              <a:rPr sz="1300" b="0">
                <a:solidFill>
                  <a:srgbClr val="1B2230"/>
                </a:solidFill>
                <a:latin typeface="Arial"/>
              </a:rPr>
              <a:t>của hộp Measure: ghi định nghĩa và giới hạn ngay trong mô hình.</a:t>
            </a:r>
          </a:p>
        </p:txBody>
      </p:sp>
      <p:pic>
        <p:nvPicPr>
          <p:cNvPr id="6" name="Screenshot S30_gm_theo_nam" descr="S30_gm_theo_nam.png"/>
          <p:cNvPicPr>
            <a:picLocks noChangeAspect="1"/>
          </p:cNvPicPr>
          <p:nvPr/>
        </p:nvPicPr>
        <p:blipFill>
          <a:blip r:embed="rId3"/>
          <a:stretch>
            <a:fillRect/>
          </a:stretch>
        </p:blipFill>
        <p:spPr>
          <a:xfrm>
            <a:off x="1527048" y="5025368"/>
            <a:ext cx="3017520" cy="784904"/>
          </a:xfrm>
          <a:prstGeom prst="rect">
            <a:avLst/>
          </a:prstGeom>
          <a:ln w="9525">
            <a:solidFill>
              <a:srgbClr val="D9DEE8"/>
            </a:solidFill>
          </a:ln>
        </p:spPr>
      </p:pic>
      <p:sp>
        <p:nvSpPr>
          <p:cNvPr id="7" name="Card D2"/>
          <p:cNvSpPr/>
          <p:nvPr/>
        </p:nvSpPr>
        <p:spPr>
          <a:xfrm>
            <a:off x="4681728" y="4709160"/>
            <a:ext cx="6967728" cy="1417320"/>
          </a:xfrm>
          <a:prstGeom prst="roundRect">
            <a:avLst>
              <a:gd name="adj" fmla="val 5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4846320" y="4818888"/>
            <a:ext cx="6638544" cy="1197864"/>
          </a:xfrm>
          <a:prstGeom prst="rect">
            <a:avLst/>
          </a:prstGeom>
          <a:noFill/>
        </p:spPr>
        <p:txBody>
          <a:bodyPr wrap="square" lIns="0" tIns="0" rIns="0" bIns="0" anchor="t">
            <a:spAutoFit/>
          </a:bodyPr>
          <a:lstStyle/>
          <a:p>
            <a:r>
              <a:rPr sz="1400" b="1">
                <a:solidFill>
                  <a:srgbClr val="203864"/>
                </a:solidFill>
                <a:latin typeface="Arial"/>
              </a:rPr>
              <a:t>D2: kiểm giả định (câu chuyện #5)</a:t>
            </a:r>
          </a:p>
          <a:p>
            <a:pPr>
              <a:spcBef>
                <a:spcPts val="500"/>
              </a:spcBef>
            </a:pPr>
            <a:r>
              <a:rPr sz="1300" b="0">
                <a:solidFill>
                  <a:srgbClr val="1B2230"/>
                </a:solidFill>
                <a:latin typeface="Arial"/>
              </a:rPr>
              <a:t>GM% 2024: 31,2% → 2025: 34,1%. Giá vốn chỉ có MỘT bảng (Product[Unit_Cost]) cho cả hai năm, giá bán 2025 cao hơn 2024 khoảng 3,9% → ghi vào cột "Giới hạn".</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Course Plan, Phụ lục C · Ảnh: bản sao Practice/B5_MCI_Mart_Answer.xlsx, sheet PV_GM_Nam (trên lớp: sheet PV_YoY, Demo/B5_Demo_DAX.xlsx)</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Thực hành 1: Hoàn thành bộ 6 KPI</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THỰC HÀNH</a:t>
            </a:r>
          </a:p>
        </p:txBody>
      </p:sp>
      <p:sp>
        <p:nvSpPr>
          <p:cNvPr id="4" name="Time chip"/>
          <p:cNvSpPr/>
          <p:nvPr/>
        </p:nvSpPr>
        <p:spPr>
          <a:xfrm>
            <a:off x="1527048" y="141732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10 phút</a:t>
            </a:r>
          </a:p>
        </p:txBody>
      </p:sp>
      <p:sp>
        <p:nvSpPr>
          <p:cNvPr id="5" name="TextBox"/>
          <p:cNvSpPr txBox="1"/>
          <p:nvPr/>
        </p:nvSpPr>
        <p:spPr>
          <a:xfrm>
            <a:off x="1527048" y="1920240"/>
            <a:ext cx="4846320" cy="2743200"/>
          </a:xfrm>
          <a:prstGeom prst="rect">
            <a:avLst/>
          </a:prstGeom>
          <a:noFill/>
        </p:spPr>
        <p:txBody>
          <a:bodyPr wrap="square" lIns="0" tIns="0" rIns="0" bIns="0" anchor="t">
            <a:spAutoFit/>
          </a:bodyPr>
          <a:lstStyle/>
          <a:p>
            <a:r>
              <a:rPr sz="1400" b="1">
                <a:solidFill>
                  <a:srgbClr val="203864"/>
                </a:solidFill>
                <a:latin typeface="Arial"/>
              </a:rPr>
              <a:t>1. </a:t>
            </a:r>
            <a:r>
              <a:rPr sz="1400" b="0">
                <a:solidFill>
                  <a:srgbClr val="1B2230"/>
                </a:solidFill>
                <a:latin typeface="Arial"/>
              </a:rPr>
              <a:t>Viết 3 measure (bảng Sales): Total Orders = DISTINCTCOUNT(Sales[Order_ID]) · Avg Order Value = DIVIDE([Total Revenue], [Total Orders]) · Active Customers = DISTINCTCOUNT(Sales[Customer_ID]).</a:t>
            </a:r>
          </a:p>
          <a:p>
            <a:pPr>
              <a:spcBef>
                <a:spcPts val="1000"/>
              </a:spcBef>
            </a:pPr>
            <a:r>
              <a:rPr sz="1400" b="1">
                <a:solidFill>
                  <a:srgbClr val="203864"/>
                </a:solidFill>
                <a:latin typeface="Arial"/>
              </a:rPr>
              <a:t>2. </a:t>
            </a:r>
            <a:r>
              <a:rPr sz="1400" b="0">
                <a:solidFill>
                  <a:srgbClr val="1B2230"/>
                </a:solidFill>
                <a:latin typeface="Arial"/>
              </a:rPr>
              <a:t>Sheet mới PV_KPI_Thang (From Data Model): Filters Calendar[Nam] = 2025 · Rows Calendar[Thang] (lọc 1–4) · Values: 6 KPI.</a:t>
            </a:r>
          </a:p>
          <a:p>
            <a:pPr>
              <a:spcBef>
                <a:spcPts val="1000"/>
              </a:spcBef>
            </a:pPr>
            <a:r>
              <a:rPr sz="1400" b="1">
                <a:solidFill>
                  <a:srgbClr val="203864"/>
                </a:solidFill>
                <a:latin typeface="Arial"/>
              </a:rPr>
              <a:t>3. </a:t>
            </a:r>
            <a:r>
              <a:rPr sz="1400" b="0">
                <a:solidFill>
                  <a:srgbClr val="1B2230"/>
                </a:solidFill>
                <a:latin typeface="Arial"/>
              </a:rPr>
              <a:t>Kiểm tay AOV: lọc Product[Category] = Bánh kẹo, Calendar[Quy] = 1 → đọc dòng Grand Total: Total Revenue ÷ Total Orders = AOV?</a:t>
            </a:r>
          </a:p>
        </p:txBody>
      </p:sp>
      <p:graphicFrame>
        <p:nvGraphicFramePr>
          <p:cNvPr id="6" name="Check table"/>
          <p:cNvGraphicFramePr>
            <a:graphicFrameLocks noGrp="1"/>
          </p:cNvGraphicFramePr>
          <p:nvPr/>
        </p:nvGraphicFramePr>
        <p:xfrm>
          <a:off x="6556248" y="1417320"/>
          <a:ext cx="5093208" cy="2057400"/>
        </p:xfrm>
        <a:graphic>
          <a:graphicData uri="http://schemas.openxmlformats.org/drawingml/2006/table">
            <a:tbl>
              <a:tblPr firstRow="1"/>
              <a:tblGrid>
                <a:gridCol w="411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gridCol w="566928">
                  <a:extLst>
                    <a:ext uri="{9D8B030D-6E8A-4147-A177-3AD203B41FA5}">
                      <a16:colId xmlns:a16="http://schemas.microsoft.com/office/drawing/2014/main" val="20006"/>
                    </a:ext>
                  </a:extLst>
                </a:gridCol>
              </a:tblGrid>
              <a:tr h="411480">
                <a:tc>
                  <a:txBody>
                    <a:bodyPr/>
                    <a:lstStyle/>
                    <a:p>
                      <a:pPr algn="ctr"/>
                      <a:r>
                        <a:rPr sz="1100" b="1">
                          <a:solidFill>
                            <a:srgbClr val="FFFFFF"/>
                          </a:solidFill>
                          <a:latin typeface="Arial"/>
                        </a:rPr>
                        <a:t>T</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r"/>
                      <a:r>
                        <a:rPr sz="1100" b="1">
                          <a:solidFill>
                            <a:srgbClr val="FFFFFF"/>
                          </a:solidFill>
                          <a:latin typeface="Arial"/>
                        </a:rPr>
                        <a:t>Revenue</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r"/>
                      <a:r>
                        <a:rPr sz="1100" b="1">
                          <a:solidFill>
                            <a:srgbClr val="FFFFFF"/>
                          </a:solidFill>
                          <a:latin typeface="Arial"/>
                        </a:rPr>
                        <a:t>Orders</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r"/>
                      <a:r>
                        <a:rPr sz="1100" b="1">
                          <a:solidFill>
                            <a:srgbClr val="FFFFFF"/>
                          </a:solidFill>
                          <a:latin typeface="Arial"/>
                        </a:rPr>
                        <a:t>AOV</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r"/>
                      <a:r>
                        <a:rPr sz="1100" b="1">
                          <a:solidFill>
                            <a:srgbClr val="FFFFFF"/>
                          </a:solidFill>
                          <a:latin typeface="Arial"/>
                        </a:rPr>
                        <a:t>GM %</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r"/>
                      <a:r>
                        <a:rPr sz="1100" b="1">
                          <a:solidFill>
                            <a:srgbClr val="FFFFFF"/>
                          </a:solidFill>
                          <a:latin typeface="Arial"/>
                        </a:rPr>
                        <a:t>YoY %</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tc>
                  <a:txBody>
                    <a:bodyPr/>
                    <a:lstStyle/>
                    <a:p>
                      <a:pPr algn="r"/>
                      <a:r>
                        <a:rPr sz="1100" b="1">
                          <a:solidFill>
                            <a:srgbClr val="FFFFFF"/>
                          </a:solidFill>
                          <a:latin typeface="Arial"/>
                        </a:rPr>
                        <a:t>KH</a:t>
                      </a:r>
                    </a:p>
                  </a:txBody>
                  <a:tcPr marL="73152" marR="73152" marT="27432" marB="27432" anchor="ctr">
                    <a:lnL w="0">
                      <a:noFill/>
                    </a:lnL>
                    <a:lnR w="0">
                      <a:noFill/>
                    </a:lnR>
                    <a:lnT w="12700">
                      <a:solidFill>
                        <a:srgbClr val="D9DEE8"/>
                      </a:solidFill>
                    </a:lnT>
                    <a:lnB w="12700">
                      <a:solidFill>
                        <a:srgbClr val="D9DEE8"/>
                      </a:solidFill>
                    </a:lnB>
                    <a:solidFill>
                      <a:srgbClr val="203864"/>
                    </a:solidFill>
                  </a:tcPr>
                </a:tc>
                <a:extLst>
                  <a:ext uri="{0D108BD9-81ED-4DB2-BD59-A6C34878D82A}">
                    <a16:rowId xmlns:a16="http://schemas.microsoft.com/office/drawing/2014/main" val="10000"/>
                  </a:ext>
                </a:extLst>
              </a:tr>
              <a:tr h="411480">
                <a:tc>
                  <a:txBody>
                    <a:bodyPr/>
                    <a:lstStyle/>
                    <a:p>
                      <a:pPr algn="ctr"/>
                      <a:r>
                        <a:rPr sz="1100" b="0">
                          <a:solidFill>
                            <a:srgbClr val="1B2230"/>
                          </a:solidFill>
                          <a:latin typeface="Arial"/>
                        </a:rPr>
                        <a:t>1</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425.850.000</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1.398</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304.614</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35,2%</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+42,8%</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831</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1"/>
                  </a:ext>
                </a:extLst>
              </a:tr>
              <a:tr h="411480">
                <a:tc>
                  <a:txBody>
                    <a:bodyPr/>
                    <a:lstStyle/>
                    <a:p>
                      <a:pPr algn="ctr"/>
                      <a:r>
                        <a:rPr sz="1100" b="0">
                          <a:solidFill>
                            <a:srgbClr val="1B2230"/>
                          </a:solidFill>
                          <a:latin typeface="Arial"/>
                        </a:rPr>
                        <a:t>2</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245.996.000</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823</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298.902</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33,7%</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−0,9%</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605</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2"/>
                  </a:ext>
                </a:extLst>
              </a:tr>
              <a:tr h="411480">
                <a:tc>
                  <a:txBody>
                    <a:bodyPr/>
                    <a:lstStyle/>
                    <a:p>
                      <a:pPr algn="ctr"/>
                      <a:r>
                        <a:rPr sz="1100" b="0">
                          <a:solidFill>
                            <a:srgbClr val="1B2230"/>
                          </a:solidFill>
                          <a:latin typeface="Arial"/>
                        </a:rPr>
                        <a:t>3</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269.608.000</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923</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292.100</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33,1%</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+13,7%</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637</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3"/>
                  </a:ext>
                </a:extLst>
              </a:tr>
              <a:tr h="411480">
                <a:tc>
                  <a:txBody>
                    <a:bodyPr/>
                    <a:lstStyle/>
                    <a:p>
                      <a:pPr algn="ctr"/>
                      <a:r>
                        <a:rPr sz="1100" b="0">
                          <a:solidFill>
                            <a:srgbClr val="1B2230"/>
                          </a:solidFill>
                          <a:latin typeface="Arial"/>
                        </a:rPr>
                        <a:t>4</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296.965.000</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966</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307.417</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33,8%</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+24,0%</a:t>
                      </a:r>
                    </a:p>
                  </a:txBody>
                  <a:tcPr marL="73152" marR="73152" marT="27432" marB="27432" anchor="ctr">
                    <a:lnL w="0">
                      <a:noFill/>
                    </a:lnL>
                    <a:lnR w="0">
                      <a:noFill/>
                    </a:lnR>
                    <a:lnT w="12700">
                      <a:solidFill>
                        <a:srgbClr val="D9DEE8"/>
                      </a:solidFill>
                    </a:lnT>
                    <a:lnB w="12700">
                      <a:solidFill>
                        <a:srgbClr val="D9DEE8"/>
                      </a:solidFill>
                    </a:lnB>
                    <a:noFill/>
                  </a:tcPr>
                </a:tc>
                <a:tc>
                  <a:txBody>
                    <a:bodyPr/>
                    <a:lstStyle/>
                    <a:p>
                      <a:pPr algn="r"/>
                      <a:r>
                        <a:rPr sz="1100" b="0">
                          <a:solidFill>
                            <a:srgbClr val="1B2230"/>
                          </a:solidFill>
                          <a:latin typeface="Arial"/>
                        </a:rPr>
                        <a:t>670</a:t>
                      </a:r>
                    </a:p>
                  </a:txBody>
                  <a:tcPr marL="73152" marR="73152" marT="27432" marB="27432" anchor="ctr">
                    <a:lnL w="0">
                      <a:noFill/>
                    </a:lnL>
                    <a:lnR w="0">
                      <a:noFill/>
                    </a:lnR>
                    <a:lnT w="12700">
                      <a:solidFill>
                        <a:srgbClr val="D9DEE8"/>
                      </a:solidFill>
                    </a:lnT>
                    <a:lnB w="12700">
                      <a:solidFill>
                        <a:srgbClr val="D9DEE8"/>
                      </a:solidFill>
                    </a:lnB>
                    <a:noFill/>
                  </a:tcPr>
                </a:tc>
                <a:extLst>
                  <a:ext uri="{0D108BD9-81ED-4DB2-BD59-A6C34878D82A}">
                    <a16:rowId xmlns:a16="http://schemas.microsoft.com/office/drawing/2014/main" val="10004"/>
                  </a:ext>
                </a:extLst>
              </a:tr>
            </a:tbl>
          </a:graphicData>
        </a:graphic>
      </p:graphicFrame>
      <p:sp>
        <p:nvSpPr>
          <p:cNvPr id="7" name="AOV check"/>
          <p:cNvSpPr/>
          <p:nvPr/>
        </p:nvSpPr>
        <p:spPr>
          <a:xfrm>
            <a:off x="6556248" y="3657600"/>
            <a:ext cx="5093208" cy="160020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6739128" y="3749039"/>
            <a:ext cx="4727448" cy="1417320"/>
          </a:xfrm>
          <a:prstGeom prst="rect">
            <a:avLst/>
          </a:prstGeom>
          <a:noFill/>
        </p:spPr>
        <p:txBody>
          <a:bodyPr wrap="square" lIns="0" tIns="0" rIns="0" bIns="0" anchor="t">
            <a:spAutoFit/>
          </a:bodyPr>
          <a:lstStyle/>
          <a:p>
            <a:r>
              <a:rPr sz="1500" b="1">
                <a:solidFill>
                  <a:srgbClr val="203864"/>
                </a:solidFill>
                <a:latin typeface="Arial"/>
              </a:rPr>
              <a:t>Kiểm tay: Bánh kẹo, Quý 1</a:t>
            </a:r>
          </a:p>
          <a:p>
            <a:pPr>
              <a:spcBef>
                <a:spcPts val="400"/>
              </a:spcBef>
            </a:pPr>
            <a:r>
              <a:rPr sz="1500" b="0">
                <a:solidFill>
                  <a:srgbClr val="1B2230"/>
                </a:solidFill>
                <a:latin typeface="Arial"/>
              </a:rPr>
              <a:t>338.733.000 ÷ 1.739 đơn = </a:t>
            </a:r>
            <a:r>
              <a:rPr sz="1500" b="1">
                <a:solidFill>
                  <a:srgbClr val="2E7D32"/>
                </a:solidFill>
                <a:latin typeface="Arial"/>
              </a:rPr>
              <a:t>194.786</a:t>
            </a:r>
          </a:p>
          <a:p>
            <a:pPr>
              <a:spcBef>
                <a:spcPts val="400"/>
              </a:spcBef>
            </a:pPr>
            <a:r>
              <a:rPr sz="1300" b="0">
                <a:solidFill>
                  <a:srgbClr val="585858"/>
                </a:solidFill>
                <a:latin typeface="Arial"/>
              </a:rPr>
              <a:t>AVERAGE(Sales[Revenue]) = 153.830: trung bình một DÒNG, không phải một ĐƠN</a:t>
            </a:r>
          </a:p>
        </p:txBody>
      </p:sp>
      <p:sp>
        <p:nvSpPr>
          <p:cNvPr id="9"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Kiểm tra: Filters Calendar[Nam] = 2025, Rows Calendar[Thang] 1–4 · KH = Active Customers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Thực hành 2: Đối soát với KPI_SUMIFS</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8 · THỰC HÀNH</a:t>
            </a:r>
          </a:p>
        </p:txBody>
      </p:sp>
      <p:sp>
        <p:nvSpPr>
          <p:cNvPr id="4" name="Time chip"/>
          <p:cNvSpPr/>
          <p:nvPr/>
        </p:nvSpPr>
        <p:spPr>
          <a:xfrm>
            <a:off x="1527048" y="1417320"/>
            <a:ext cx="1399032" cy="365760"/>
          </a:xfrm>
          <a:prstGeom prst="roundRect">
            <a:avLst>
              <a:gd name="adj" fmla="val 20000"/>
            </a:avLst>
          </a:prstGeom>
          <a:noFill/>
          <a:ln w="12700">
            <a:solidFill>
              <a:srgbClr val="20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10 phút</a:t>
            </a:r>
          </a:p>
        </p:txBody>
      </p:sp>
      <p:sp>
        <p:nvSpPr>
          <p:cNvPr id="5" name="TextBox"/>
          <p:cNvSpPr txBox="1"/>
          <p:nvPr/>
        </p:nvSpPr>
        <p:spPr>
          <a:xfrm>
            <a:off x="1527048" y="1920240"/>
            <a:ext cx="6309360" cy="2194560"/>
          </a:xfrm>
          <a:prstGeom prst="rect">
            <a:avLst/>
          </a:prstGeom>
          <a:noFill/>
        </p:spPr>
        <p:txBody>
          <a:bodyPr wrap="square" lIns="0" tIns="0" rIns="0" bIns="0" anchor="t">
            <a:spAutoFit/>
          </a:bodyPr>
          <a:lstStyle/>
          <a:p>
            <a:r>
              <a:rPr sz="1400" b="1">
                <a:solidFill>
                  <a:srgbClr val="203864"/>
                </a:solidFill>
                <a:latin typeface="Arial"/>
              </a:rPr>
              <a:t>1. </a:t>
            </a:r>
            <a:r>
              <a:rPr sz="1400" b="0">
                <a:solidFill>
                  <a:srgbClr val="1B2230"/>
                </a:solidFill>
                <a:latin typeface="Arial"/>
              </a:rPr>
              <a:t>Sheet mới PV_DoiSoat_B2 (From Data Model): Filters Nam = 2025, Quy = 1 · Rows Store[Region] · Columns Calendar[Thang] · Values: Total Revenue, Total Orders, Avg Order Value, Gross Margin %.</a:t>
            </a:r>
          </a:p>
          <a:p>
            <a:pPr>
              <a:spcBef>
                <a:spcPts val="1000"/>
              </a:spcBef>
            </a:pPr>
            <a:r>
              <a:rPr sz="1400" b="1">
                <a:solidFill>
                  <a:srgbClr val="203864"/>
                </a:solidFill>
                <a:latin typeface="Arial"/>
              </a:rPr>
              <a:t>2. </a:t>
            </a:r>
            <a:r>
              <a:rPr sz="1400" b="0">
                <a:solidFill>
                  <a:srgbClr val="1B2230"/>
                </a:solidFill>
                <a:latin typeface="Arial"/>
              </a:rPr>
              <a:t>GETPIVOTDATA (gõ =, bấm ô Pivot) trừ ô KPI_SUMIFS: Bắc × 3 (D6) · Doanh thu Quý 1 (E9) · Số đơn (E16) · GM% (E30) → phải bằng 0.</a:t>
            </a:r>
          </a:p>
        </p:txBody>
      </p:sp>
      <p:sp>
        <p:nvSpPr>
          <p:cNvPr id="6" name="Checkbox 1"/>
          <p:cNvSpPr/>
          <p:nvPr/>
        </p:nvSpPr>
        <p:spPr>
          <a:xfrm>
            <a:off x="1527048" y="4279392"/>
            <a:ext cx="274320" cy="27432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1984248" y="4160520"/>
            <a:ext cx="5852160" cy="512064"/>
          </a:xfrm>
          <a:prstGeom prst="rect">
            <a:avLst/>
          </a:prstGeom>
          <a:noFill/>
        </p:spPr>
        <p:txBody>
          <a:bodyPr wrap="square" lIns="0" tIns="0" rIns="0" bIns="0" anchor="ctr">
            <a:spAutoFit/>
          </a:bodyPr>
          <a:lstStyle/>
          <a:p>
            <a:r>
              <a:rPr sz="1400" b="0">
                <a:solidFill>
                  <a:srgbClr val="1B2230"/>
                </a:solidFill>
                <a:latin typeface="Arial"/>
              </a:rPr>
              <a:t>Diagram View: hình ngôi sao, 6 bảng, 6 relationship; Sales và Target gặp nhau qua Store, Calendar</a:t>
            </a:r>
          </a:p>
        </p:txBody>
      </p:sp>
      <p:sp>
        <p:nvSpPr>
          <p:cNvPr id="8" name="Checkbox 2"/>
          <p:cNvSpPr/>
          <p:nvPr/>
        </p:nvSpPr>
        <p:spPr>
          <a:xfrm>
            <a:off x="1527048" y="4846320"/>
            <a:ext cx="274320" cy="27432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p:cNvSpPr txBox="1"/>
          <p:nvPr/>
        </p:nvSpPr>
        <p:spPr>
          <a:xfrm>
            <a:off x="1984248" y="4727448"/>
            <a:ext cx="5852160" cy="512064"/>
          </a:xfrm>
          <a:prstGeom prst="rect">
            <a:avLst/>
          </a:prstGeom>
          <a:noFill/>
        </p:spPr>
        <p:txBody>
          <a:bodyPr wrap="square" lIns="0" tIns="0" rIns="0" bIns="0" anchor="ctr">
            <a:spAutoFit/>
          </a:bodyPr>
          <a:lstStyle/>
          <a:p>
            <a:r>
              <a:rPr sz="1400" b="0">
                <a:solidFill>
                  <a:srgbClr val="1B2230"/>
                </a:solidFill>
                <a:latin typeface="Arial"/>
              </a:rPr>
              <a:t>6 KPI + Total Target, Revenue vs Target %, Variance là explicit measure, có định dạng</a:t>
            </a:r>
          </a:p>
        </p:txBody>
      </p:sp>
      <p:sp>
        <p:nvSpPr>
          <p:cNvPr id="10" name="Checkbox 3"/>
          <p:cNvSpPr/>
          <p:nvPr/>
        </p:nvSpPr>
        <p:spPr>
          <a:xfrm>
            <a:off x="1527048" y="5413248"/>
            <a:ext cx="274320" cy="274320"/>
          </a:xfrm>
          <a:prstGeom prst="rect">
            <a:avLst/>
          </a:prstGeom>
          <a:solidFill>
            <a:srgbClr val="FFFFFF"/>
          </a:solidFill>
          <a:ln w="19050">
            <a:solidFill>
              <a:srgbClr val="2038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p:cNvSpPr txBox="1"/>
          <p:nvPr/>
        </p:nvSpPr>
        <p:spPr>
          <a:xfrm>
            <a:off x="1984248" y="5294376"/>
            <a:ext cx="5852160" cy="512064"/>
          </a:xfrm>
          <a:prstGeom prst="rect">
            <a:avLst/>
          </a:prstGeom>
          <a:noFill/>
        </p:spPr>
        <p:txBody>
          <a:bodyPr wrap="square" lIns="0" tIns="0" rIns="0" bIns="0" anchor="ctr">
            <a:spAutoFit/>
          </a:bodyPr>
          <a:lstStyle/>
          <a:p>
            <a:r>
              <a:rPr sz="1400" b="0">
                <a:solidFill>
                  <a:srgbClr val="1B2230"/>
                </a:solidFill>
                <a:latin typeface="Arial"/>
              </a:rPr>
              <a:t>Đối soát với KPI_SUMIFS: chênh lệch 0</a:t>
            </a:r>
          </a:p>
        </p:txBody>
      </p:sp>
      <p:sp>
        <p:nvSpPr>
          <p:cNvPr id="12" name="Check box"/>
          <p:cNvSpPr/>
          <p:nvPr/>
        </p:nvSpPr>
        <p:spPr>
          <a:xfrm>
            <a:off x="8110727" y="1417320"/>
            <a:ext cx="3538728" cy="461772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p:cNvSpPr txBox="1"/>
          <p:nvPr/>
        </p:nvSpPr>
        <p:spPr>
          <a:xfrm>
            <a:off x="8293608" y="1554480"/>
            <a:ext cx="3172968" cy="4389120"/>
          </a:xfrm>
          <a:prstGeom prst="rect">
            <a:avLst/>
          </a:prstGeom>
          <a:noFill/>
        </p:spPr>
        <p:txBody>
          <a:bodyPr wrap="square" lIns="0" tIns="0" rIns="0" bIns="0" anchor="t">
            <a:spAutoFit/>
          </a:bodyPr>
          <a:lstStyle/>
          <a:p>
            <a:r>
              <a:rPr sz="1600" b="1">
                <a:solidFill>
                  <a:srgbClr val="203864"/>
                </a:solidFill>
                <a:latin typeface="Arial"/>
              </a:rPr>
              <a:t>Kiểm tra: Quý 1/2025</a:t>
            </a:r>
          </a:p>
          <a:p>
            <a:pPr>
              <a:spcBef>
                <a:spcPts val="800"/>
              </a:spcBef>
            </a:pPr>
            <a:r>
              <a:rPr sz="2400" b="1">
                <a:solidFill>
                  <a:srgbClr val="203864"/>
                </a:solidFill>
                <a:latin typeface="Arial"/>
              </a:rPr>
              <a:t>941.454.000</a:t>
            </a:r>
          </a:p>
          <a:p>
            <a:pPr>
              <a:spcBef>
                <a:spcPts val="800"/>
              </a:spcBef>
            </a:pPr>
            <a:r>
              <a:rPr sz="1500" b="0">
                <a:solidFill>
                  <a:srgbClr val="1B2230"/>
                </a:solidFill>
                <a:latin typeface="Arial"/>
              </a:rPr>
              <a:t>3.144 đơn · AOV 299.445</a:t>
            </a:r>
          </a:p>
          <a:p>
            <a:pPr>
              <a:spcBef>
                <a:spcPts val="800"/>
              </a:spcBef>
            </a:pPr>
            <a:r>
              <a:rPr sz="1500" b="0">
                <a:solidFill>
                  <a:srgbClr val="1B2230"/>
                </a:solidFill>
                <a:latin typeface="Arial"/>
              </a:rPr>
              <a:t>Gross Margin 34,18%</a:t>
            </a:r>
          </a:p>
          <a:p>
            <a:pPr>
              <a:spcBef>
                <a:spcPts val="800"/>
              </a:spcBef>
            </a:pPr>
            <a:r>
              <a:rPr sz="1500" b="0">
                <a:solidFill>
                  <a:srgbClr val="1B2230"/>
                </a:solidFill>
                <a:latin typeface="Arial"/>
              </a:rPr>
              <a:t>Bắc × 3: 90.210.000</a:t>
            </a:r>
          </a:p>
          <a:p>
            <a:pPr>
              <a:spcBef>
                <a:spcPts val="800"/>
              </a:spcBef>
            </a:pPr>
            <a:r>
              <a:rPr sz="1500" b="1">
                <a:solidFill>
                  <a:srgbClr val="2E7D32"/>
                </a:solidFill>
                <a:latin typeface="Arial"/>
              </a:rPr>
              <a:t>Khớp = B2 và B5 cùng nói một sự thật</a:t>
            </a:r>
          </a:p>
        </p:txBody>
      </p:sp>
      <p:sp>
        <p:nvSpPr>
          <p:cNvPr id="14" name="Footnote"/>
          <p:cNvSpPr txBox="1"/>
          <p:nvPr/>
        </p:nvSpPr>
        <p:spPr>
          <a:xfrm>
            <a:off x="1527048" y="6217920"/>
            <a:ext cx="10122408" cy="320040"/>
          </a:xfrm>
          <a:prstGeom prst="rect">
            <a:avLst/>
          </a:prstGeom>
          <a:noFill/>
        </p:spPr>
        <p:txBody>
          <a:bodyPr wrap="square" lIns="0" tIns="0" rIns="0" bIns="0" anchor="b">
            <a:spAutoFit/>
          </a:bodyPr>
          <a:lstStyle/>
          <a:p>
            <a:r>
              <a:rPr sz="1200" b="0">
                <a:solidFill>
                  <a:srgbClr val="6B6F76"/>
                </a:solidFill>
                <a:latin typeface="Arial"/>
              </a:rPr>
              <a:t>Làm mẫu: Practice/B5_MCI_Mart_Answer.xlsx, sheet PV_DoiSoat_B2 (ô J11, N14) · đủ 64 ô Miền × Tháng × 4 KPI: sheet DoiSoat_B2 cùng file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Excel Quiz Challenge</a:t>
            </a:r>
          </a:p>
        </p:txBody>
      </p:sp>
      <p:sp>
        <p:nvSpPr>
          <p:cNvPr id="3" name="Text Placeholder 2"/>
          <p:cNvSpPr>
            <a:spLocks noGrp="1"/>
          </p:cNvSpPr>
          <p:nvPr>
            <p:ph type="body" idx="1"/>
          </p:nvPr>
        </p:nvSpPr>
        <p:spPr/>
        <p:txBody>
          <a:bodyPr/>
          <a:lstStyle/>
          <a:p>
            <a:r>
              <a:t>4 câu hỏi nhanh · câu 3–4 là tình huống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1: Measure vs Column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KPI Gross Margin % nên viết thế nào trong Data Model?</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500" b="0">
                <a:solidFill>
                  <a:srgbClr val="1B2230"/>
                </a:solidFill>
                <a:latin typeface="Arial"/>
              </a:rPr>
              <a:t>Calculated column GM từng dòng, rồi lấy Average</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tIns="0" rIns="0" bIns="0" anchor="ctr">
            <a:spAutoFit/>
          </a:bodyPr>
          <a:lstStyle/>
          <a:p>
            <a:r>
              <a:rPr sz="1500" b="0">
                <a:solidFill>
                  <a:srgbClr val="1B2230"/>
                </a:solidFill>
                <a:latin typeface="Arial"/>
              </a:rPr>
              <a:t>Calculated column GM từng dòng, rồi lấy Sum</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500" b="0">
                <a:solidFill>
                  <a:srgbClr val="1B2230"/>
                </a:solidFill>
                <a:latin typeface="Arial"/>
              </a:rPr>
              <a:t>Measure: DIVIDE(tổng doanh thu − tổng giá vốn, tổng doanh thu)</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500" b="0">
                <a:solidFill>
                  <a:srgbClr val="1B2230"/>
                </a:solidFill>
                <a:latin typeface="Arial"/>
              </a:rPr>
              <a:t>Implicit measure Average of Revenue</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2: Hai bảng fact</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200" b="0">
                <a:solidFill>
                  <a:srgbClr val="1B2230"/>
                </a:solidFill>
                <a:latin typeface="Arial"/>
              </a:rPr>
              <a:t>Sales và Target đều có cột Store_Code. Nối thế nào để phân tích doanh thu so với target theo cửa hàng?</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500" b="0">
                <a:solidFill>
                  <a:srgbClr val="1B2230"/>
                </a:solidFill>
                <a:latin typeface="Arial"/>
              </a:rPr>
              <a:t>Relationship thẳng giữa Sales[Store_Code] và Target[Store_Code]</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Answer highlight B"/>
          <p:cNvSpPr/>
          <p:nvPr/>
        </p:nvSpPr>
        <p:spPr>
          <a:xfrm>
            <a:off x="6702552" y="2606040"/>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1" name="Answer letter B"/>
          <p:cNvSpPr/>
          <p:nvPr/>
        </p:nvSpPr>
        <p:spPr>
          <a:xfrm>
            <a:off x="6885432" y="2926080"/>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2" name="TextBox"/>
          <p:cNvSpPr txBox="1"/>
          <p:nvPr/>
        </p:nvSpPr>
        <p:spPr>
          <a:xfrm>
            <a:off x="7616952" y="2606040"/>
            <a:ext cx="3941064" cy="1188720"/>
          </a:xfrm>
          <a:prstGeom prst="rect">
            <a:avLst/>
          </a:prstGeom>
          <a:noFill/>
        </p:spPr>
        <p:txBody>
          <a:bodyPr wrap="square" lIns="0" tIns="0" rIns="0" bIns="0" anchor="ctr">
            <a:spAutoFit/>
          </a:bodyPr>
          <a:lstStyle/>
          <a:p>
            <a:r>
              <a:rPr sz="1500" b="0">
                <a:solidFill>
                  <a:srgbClr val="1B2230"/>
                </a:solidFill>
                <a:latin typeface="Arial"/>
              </a:rPr>
              <a:t>Nối cả hai vào lookup chung Store (và Calendar), lọc qua lookup</a:t>
            </a:r>
          </a:p>
        </p:txBody>
      </p:sp>
      <p:sp>
        <p:nvSpPr>
          <p:cNvPr id="13"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500" b="0">
                <a:solidFill>
                  <a:srgbClr val="1B2230"/>
                </a:solidFill>
                <a:latin typeface="Arial"/>
              </a:rPr>
              <a:t>Merge Target vào Sales bằng Power Query</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500" b="0">
                <a:solidFill>
                  <a:srgbClr val="1B2230"/>
                </a:solidFill>
                <a:latin typeface="Arial"/>
              </a:rPr>
              <a:t>Không nối được, phải dùng SUMIFS</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C"/>
          <p:cNvSpPr/>
          <p:nvPr/>
        </p:nvSpPr>
        <p:spPr>
          <a:xfrm>
            <a:off x="1527048"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10186416" y="2423160"/>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4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9" grpId="0" animBg="1"/>
      <p:bldP spid="20" grpId="0" animBg="1"/>
      <p:bldP spid="21" grpId="0" animBg="1"/>
      <p:bldP spid="2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3: Tình huống: Con số lặp lại</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000" b="0">
                <a:solidFill>
                  <a:srgbClr val="1B2230"/>
                </a:solidFill>
                <a:latin typeface="Arial"/>
              </a:rPr>
              <a:t>Pivot Quý 1/2025: Rows = Product[Category], Values = Total Target. Sáu dòng đều ra 936.000.000. Vì sao?</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400" b="0">
                <a:solidFill>
                  <a:srgbClr val="1B2230"/>
                </a:solidFill>
                <a:latin typeface="Arial"/>
              </a:rPr>
              <a:t>Thiếu Mark as Date Table</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tIns="0" rIns="0" bIns="0" anchor="ctr">
            <a:spAutoFit/>
          </a:bodyPr>
          <a:lstStyle/>
          <a:p>
            <a:r>
              <a:rPr sz="1400" b="0">
                <a:solidFill>
                  <a:srgbClr val="1B2230"/>
                </a:solidFill>
                <a:latin typeface="Arial"/>
              </a:rPr>
              <a:t>Measure Total Target viết sai</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400" b="0">
                <a:solidFill>
                  <a:srgbClr val="1B2230"/>
                </a:solidFill>
                <a:latin typeface="Arial"/>
              </a:rPr>
              <a:t>Target có grain tháng × cửa hàng, không có chiều sản phẩm; Product không lọc được Target</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400" b="0">
                <a:solidFill>
                  <a:srgbClr val="1B2230"/>
                </a:solidFill>
                <a:latin typeface="Arial"/>
              </a:rPr>
              <a:t>Phải Refresh All</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Question 4: Tình huống: Tổng lệch</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10122408" cy="914400"/>
          </a:xfrm>
          <a:prstGeom prst="rect">
            <a:avLst/>
          </a:prstGeom>
          <a:noFill/>
        </p:spPr>
        <p:txBody>
          <a:bodyPr wrap="square" lIns="0" tIns="0" rIns="0" bIns="0" anchor="t">
            <a:spAutoFit/>
          </a:bodyPr>
          <a:lstStyle/>
          <a:p>
            <a:r>
              <a:rPr sz="2000" b="0">
                <a:solidFill>
                  <a:srgbClr val="1B2230"/>
                </a:solidFill>
                <a:latin typeface="Arial"/>
              </a:rPr>
              <a:t>Active Customers Quý 1 theo miền: 492 + 657 + 307 = 1.456. Nhưng Grand Total ghi 1.208. Kết luận nào đúng?</a:t>
            </a:r>
          </a:p>
        </p:txBody>
      </p:sp>
      <p:sp>
        <p:nvSpPr>
          <p:cNvPr id="5" name="Option A"/>
          <p:cNvSpPr/>
          <p:nvPr/>
        </p:nvSpPr>
        <p:spPr>
          <a:xfrm>
            <a:off x="1527048"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Letter A"/>
          <p:cNvSpPr/>
          <p:nvPr/>
        </p:nvSpPr>
        <p:spPr>
          <a:xfrm>
            <a:off x="1709928"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A</a:t>
            </a:r>
          </a:p>
        </p:txBody>
      </p:sp>
      <p:sp>
        <p:nvSpPr>
          <p:cNvPr id="7" name="TextBox"/>
          <p:cNvSpPr txBox="1"/>
          <p:nvPr/>
        </p:nvSpPr>
        <p:spPr>
          <a:xfrm>
            <a:off x="2441448" y="2606040"/>
            <a:ext cx="3941064" cy="1188720"/>
          </a:xfrm>
          <a:prstGeom prst="rect">
            <a:avLst/>
          </a:prstGeom>
          <a:noFill/>
        </p:spPr>
        <p:txBody>
          <a:bodyPr wrap="square" lIns="0" tIns="0" rIns="0" bIns="0" anchor="ctr">
            <a:spAutoFit/>
          </a:bodyPr>
          <a:lstStyle/>
          <a:p>
            <a:r>
              <a:rPr sz="1400" b="0">
                <a:solidFill>
                  <a:srgbClr val="1B2230"/>
                </a:solidFill>
                <a:latin typeface="Arial"/>
              </a:rPr>
              <a:t>Pivot bị lỗi, phải Refresh</a:t>
            </a:r>
          </a:p>
        </p:txBody>
      </p:sp>
      <p:sp>
        <p:nvSpPr>
          <p:cNvPr id="8" name="Option B"/>
          <p:cNvSpPr/>
          <p:nvPr/>
        </p:nvSpPr>
        <p:spPr>
          <a:xfrm>
            <a:off x="6702552" y="2606040"/>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etter B"/>
          <p:cNvSpPr/>
          <p:nvPr/>
        </p:nvSpPr>
        <p:spPr>
          <a:xfrm>
            <a:off x="6885432" y="2926080"/>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B</a:t>
            </a:r>
          </a:p>
        </p:txBody>
      </p:sp>
      <p:sp>
        <p:nvSpPr>
          <p:cNvPr id="10" name="TextBox"/>
          <p:cNvSpPr txBox="1"/>
          <p:nvPr/>
        </p:nvSpPr>
        <p:spPr>
          <a:xfrm>
            <a:off x="7616952" y="2606040"/>
            <a:ext cx="3941064" cy="1188720"/>
          </a:xfrm>
          <a:prstGeom prst="rect">
            <a:avLst/>
          </a:prstGeom>
          <a:noFill/>
        </p:spPr>
        <p:txBody>
          <a:bodyPr wrap="square" lIns="0" tIns="0" rIns="0" bIns="0" anchor="ctr">
            <a:spAutoFit/>
          </a:bodyPr>
          <a:lstStyle/>
          <a:p>
            <a:r>
              <a:rPr sz="1400" b="0">
                <a:solidFill>
                  <a:srgbClr val="1B2230"/>
                </a:solidFill>
                <a:latin typeface="Arial"/>
              </a:rPr>
              <a:t>Thiếu relationship Sales – Customer</a:t>
            </a:r>
          </a:p>
        </p:txBody>
      </p:sp>
      <p:sp>
        <p:nvSpPr>
          <p:cNvPr id="11" name="Option C"/>
          <p:cNvSpPr/>
          <p:nvPr/>
        </p:nvSpPr>
        <p:spPr>
          <a:xfrm>
            <a:off x="1527048"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Answer highlight C"/>
          <p:cNvSpPr/>
          <p:nvPr/>
        </p:nvSpPr>
        <p:spPr>
          <a:xfrm>
            <a:off x="1527048" y="3977639"/>
            <a:ext cx="4946904" cy="1188720"/>
          </a:xfrm>
          <a:prstGeom prst="rect">
            <a:avLst/>
          </a:prstGeom>
          <a:solidFill>
            <a:srgbClr val="E8F5E9"/>
          </a:solidFill>
          <a:ln w="381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Letter C"/>
          <p:cNvSpPr/>
          <p:nvPr/>
        </p:nvSpPr>
        <p:spPr>
          <a:xfrm>
            <a:off x="1709928"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4" name="Answer letter C"/>
          <p:cNvSpPr/>
          <p:nvPr/>
        </p:nvSpPr>
        <p:spPr>
          <a:xfrm>
            <a:off x="1709928" y="4297679"/>
            <a:ext cx="548640" cy="54864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C</a:t>
            </a:r>
          </a:p>
        </p:txBody>
      </p:sp>
      <p:sp>
        <p:nvSpPr>
          <p:cNvPr id="15" name="TextBox"/>
          <p:cNvSpPr txBox="1"/>
          <p:nvPr/>
        </p:nvSpPr>
        <p:spPr>
          <a:xfrm>
            <a:off x="2441448" y="3977639"/>
            <a:ext cx="3941064" cy="1188720"/>
          </a:xfrm>
          <a:prstGeom prst="rect">
            <a:avLst/>
          </a:prstGeom>
          <a:noFill/>
        </p:spPr>
        <p:txBody>
          <a:bodyPr wrap="square" lIns="0" tIns="0" rIns="0" bIns="0" anchor="ctr">
            <a:spAutoFit/>
          </a:bodyPr>
          <a:lstStyle/>
          <a:p>
            <a:r>
              <a:rPr sz="1400" b="0">
                <a:solidFill>
                  <a:srgbClr val="1B2230"/>
                </a:solidFill>
                <a:latin typeface="Arial"/>
              </a:rPr>
              <a:t>Không lỗi: khách mua ở nhiều miền chỉ đếm một lần ở dòng tổng; DISTINCTCOUNT không cộng dồn</a:t>
            </a:r>
          </a:p>
        </p:txBody>
      </p:sp>
      <p:sp>
        <p:nvSpPr>
          <p:cNvPr id="16" name="Option D"/>
          <p:cNvSpPr/>
          <p:nvPr/>
        </p:nvSpPr>
        <p:spPr>
          <a:xfrm>
            <a:off x="6702552" y="3977639"/>
            <a:ext cx="4946904" cy="1188720"/>
          </a:xfrm>
          <a:prstGeom prst="rect">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Letter D"/>
          <p:cNvSpPr/>
          <p:nvPr/>
        </p:nvSpPr>
        <p:spPr>
          <a:xfrm>
            <a:off x="6885432" y="4297679"/>
            <a:ext cx="548640" cy="548640"/>
          </a:xfrm>
          <a:prstGeom prst="ellipse">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000" b="1">
                <a:solidFill>
                  <a:srgbClr val="FFFFFF"/>
                </a:solidFill>
                <a:latin typeface="Arial"/>
              </a:rPr>
              <a:t>D</a:t>
            </a:r>
          </a:p>
        </p:txBody>
      </p:sp>
      <p:sp>
        <p:nvSpPr>
          <p:cNvPr id="18" name="TextBox"/>
          <p:cNvSpPr txBox="1"/>
          <p:nvPr/>
        </p:nvSpPr>
        <p:spPr>
          <a:xfrm>
            <a:off x="7616952" y="3977639"/>
            <a:ext cx="3941064" cy="1188720"/>
          </a:xfrm>
          <a:prstGeom prst="rect">
            <a:avLst/>
          </a:prstGeom>
          <a:noFill/>
        </p:spPr>
        <p:txBody>
          <a:bodyPr wrap="square" lIns="0" tIns="0" rIns="0" bIns="0" anchor="ctr">
            <a:spAutoFit/>
          </a:bodyPr>
          <a:lstStyle/>
          <a:p>
            <a:r>
              <a:rPr sz="1400" b="0">
                <a:solidFill>
                  <a:srgbClr val="1B2230"/>
                </a:solidFill>
                <a:latin typeface="Arial"/>
              </a:rPr>
              <a:t>Phải đổi sang SUM(Sales[Customer_ID])</a:t>
            </a:r>
          </a:p>
        </p:txBody>
      </p:sp>
      <p:sp>
        <p:nvSpPr>
          <p:cNvPr id="19" name="Dim A"/>
          <p:cNvSpPr/>
          <p:nvPr/>
        </p:nvSpPr>
        <p:spPr>
          <a:xfrm>
            <a:off x="1527048"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im B"/>
          <p:cNvSpPr/>
          <p:nvPr/>
        </p:nvSpPr>
        <p:spPr>
          <a:xfrm>
            <a:off x="6702552" y="2606040"/>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im D"/>
          <p:cNvSpPr/>
          <p:nvPr/>
        </p:nvSpPr>
        <p:spPr>
          <a:xfrm>
            <a:off x="6702552" y="3977639"/>
            <a:ext cx="4946904" cy="1188720"/>
          </a:xfrm>
          <a:prstGeom prst="rect">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Answer chip"/>
          <p:cNvSpPr/>
          <p:nvPr/>
        </p:nvSpPr>
        <p:spPr>
          <a:xfrm>
            <a:off x="5010912" y="3794759"/>
            <a:ext cx="1325880" cy="292608"/>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latin typeface="Arial"/>
              </a:rPr>
              <a:t>✓ Đáp án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400"/>
                                        <p:tgtEl>
                                          <p:spTgt spid="1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9" grpId="0" animBg="1"/>
      <p:bldP spid="20" grpId="0" animBg="1"/>
      <p:bldP spid="21" grpId="0" animBg="1"/>
      <p:bldP spid="2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Tổng kết &amp; insight của bạn</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4846320" cy="411480"/>
          </a:xfrm>
          <a:prstGeom prst="rect">
            <a:avLst/>
          </a:prstGeom>
          <a:noFill/>
        </p:spPr>
        <p:txBody>
          <a:bodyPr wrap="square" lIns="0" tIns="0" rIns="0" bIns="0" anchor="t">
            <a:spAutoFit/>
          </a:bodyPr>
          <a:lstStyle/>
          <a:p>
            <a:r>
              <a:rPr sz="1800" b="1">
                <a:solidFill>
                  <a:srgbClr val="203864"/>
                </a:solidFill>
                <a:latin typeface="Arial"/>
              </a:rPr>
              <a:t>Điểm chính cần nhớ</a:t>
            </a:r>
          </a:p>
        </p:txBody>
      </p:sp>
      <p:sp>
        <p:nvSpPr>
          <p:cNvPr id="5" name="TextBox"/>
          <p:cNvSpPr txBox="1"/>
          <p:nvPr/>
        </p:nvSpPr>
        <p:spPr>
          <a:xfrm>
            <a:off x="1527048" y="2011680"/>
            <a:ext cx="4846320" cy="4114800"/>
          </a:xfrm>
          <a:prstGeom prst="rect">
            <a:avLst/>
          </a:prstGeom>
          <a:noFill/>
        </p:spPr>
        <p:txBody>
          <a:bodyPr wrap="square" lIns="0" tIns="0" rIns="0" bIns="0" anchor="t">
            <a:spAutoFit/>
          </a:bodyPr>
          <a:lstStyle/>
          <a:p>
            <a:r>
              <a:rPr sz="1500" b="0">
                <a:solidFill>
                  <a:srgbClr val="1B2230"/>
                </a:solidFill>
                <a:latin typeface="Arial"/>
              </a:rPr>
              <a:t>(1) Star schema: fact ở giữa, lookup xung quanh, 1-*; bộ lọc chảy lookup → fact. Hai fact gặp nhau qua lookup chung.</a:t>
            </a:r>
          </a:p>
          <a:p>
            <a:pPr>
              <a:spcBef>
                <a:spcPts val="900"/>
              </a:spcBef>
            </a:pPr>
            <a:r>
              <a:rPr sz="1500" b="0">
                <a:solidFill>
                  <a:srgbClr val="1B2230"/>
                </a:solidFill>
                <a:latin typeface="Arial"/>
              </a:rPr>
              <a:t>(2) Calculated column tính từng dòng; MEASURE tính từng ô. Tỷ lệ và đếm phân biệt luôn là measure.</a:t>
            </a:r>
          </a:p>
          <a:p>
            <a:pPr>
              <a:spcBef>
                <a:spcPts val="900"/>
              </a:spcBef>
            </a:pPr>
            <a:r>
              <a:rPr sz="1500" b="0">
                <a:solidFill>
                  <a:srgbClr val="1B2230"/>
                </a:solidFill>
                <a:latin typeface="Arial"/>
              </a:rPr>
              <a:t>(3) Filter context = tọa độ của ô. CALCULATE đổi bộ lọc; ALL bỏ bộ lọc.</a:t>
            </a:r>
          </a:p>
          <a:p>
            <a:pPr>
              <a:spcBef>
                <a:spcPts val="900"/>
              </a:spcBef>
            </a:pPr>
            <a:r>
              <a:rPr sz="1500" b="0">
                <a:solidFill>
                  <a:srgbClr val="1B2230"/>
                </a:solidFill>
                <a:latin typeface="Arial"/>
              </a:rPr>
              <a:t>(4) Time intelligence cần Calendar liên tục; hàng/cột lấy từ Calendar, không lấy từ fact.</a:t>
            </a:r>
          </a:p>
          <a:p>
            <a:pPr>
              <a:spcBef>
                <a:spcPts val="900"/>
              </a:spcBef>
            </a:pPr>
            <a:r>
              <a:rPr sz="1500" b="0">
                <a:solidFill>
                  <a:srgbClr val="1B2230"/>
                </a:solidFill>
                <a:latin typeface="Arial"/>
              </a:rPr>
              <a:t>(5) KPI dictionary: mỗi KPI một measure, một định nghĩa, kèm giới hạn, đối soát trước khi dùng.</a:t>
            </a:r>
          </a:p>
        </p:txBody>
      </p:sp>
      <p:sp>
        <p:nvSpPr>
          <p:cNvPr id="6" name="Insight box"/>
          <p:cNvSpPr/>
          <p:nvPr/>
        </p:nvSpPr>
        <p:spPr>
          <a:xfrm>
            <a:off x="6373368" y="1508760"/>
            <a:ext cx="5276088" cy="3474720"/>
          </a:xfrm>
          <a:prstGeom prst="roundRect">
            <a:avLst>
              <a:gd name="adj" fmla="val 3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p:cNvSpPr txBox="1"/>
          <p:nvPr/>
        </p:nvSpPr>
        <p:spPr>
          <a:xfrm>
            <a:off x="6556248" y="1645920"/>
            <a:ext cx="4910328" cy="411480"/>
          </a:xfrm>
          <a:prstGeom prst="rect">
            <a:avLst/>
          </a:prstGeom>
          <a:noFill/>
        </p:spPr>
        <p:txBody>
          <a:bodyPr wrap="square" lIns="0" tIns="0" rIns="0" bIns="0" anchor="t">
            <a:spAutoFit/>
          </a:bodyPr>
          <a:lstStyle/>
          <a:p>
            <a:r>
              <a:rPr sz="1800" b="1">
                <a:solidFill>
                  <a:srgbClr val="203864"/>
                </a:solidFill>
                <a:latin typeface="Arial"/>
              </a:rPr>
              <a:t>Insight của bạn (1 câu)</a:t>
            </a:r>
          </a:p>
        </p:txBody>
      </p:sp>
      <p:sp>
        <p:nvSpPr>
          <p:cNvPr id="8" name="TextBox"/>
          <p:cNvSpPr txBox="1"/>
          <p:nvPr/>
        </p:nvSpPr>
        <p:spPr>
          <a:xfrm>
            <a:off x="6556248" y="2148840"/>
            <a:ext cx="4910328" cy="2011680"/>
          </a:xfrm>
          <a:prstGeom prst="rect">
            <a:avLst/>
          </a:prstGeom>
          <a:noFill/>
        </p:spPr>
        <p:txBody>
          <a:bodyPr wrap="square" lIns="0" tIns="0" rIns="0" bIns="0" anchor="t">
            <a:spAutoFit/>
          </a:bodyPr>
          <a:lstStyle/>
          <a:p>
            <a:r>
              <a:rPr sz="1900" b="0">
                <a:solidFill>
                  <a:srgbClr val="1B2230"/>
                </a:solidFill>
                <a:latin typeface="Arial"/>
              </a:rPr>
              <a:t>"Theo Revenue vs Target %, ___ (con số), nguyên nhân khả dĩ là ___, nên ___ (hàm ý)."</a:t>
            </a:r>
          </a:p>
        </p:txBody>
      </p:sp>
      <p:sp>
        <p:nvSpPr>
          <p:cNvPr id="9" name="Tag Con số"/>
          <p:cNvSpPr/>
          <p:nvPr/>
        </p:nvSpPr>
        <p:spPr>
          <a:xfrm>
            <a:off x="6556248"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Con số</a:t>
            </a:r>
          </a:p>
        </p:txBody>
      </p:sp>
      <p:sp>
        <p:nvSpPr>
          <p:cNvPr id="10" name="Tag Nguyên nhân"/>
          <p:cNvSpPr/>
          <p:nvPr/>
        </p:nvSpPr>
        <p:spPr>
          <a:xfrm>
            <a:off x="8238744"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Nguyên nhân</a:t>
            </a:r>
          </a:p>
        </p:txBody>
      </p:sp>
      <p:sp>
        <p:nvSpPr>
          <p:cNvPr id="11" name="Tag Hàm ý"/>
          <p:cNvSpPr/>
          <p:nvPr/>
        </p:nvSpPr>
        <p:spPr>
          <a:xfrm>
            <a:off x="9921240" y="4389120"/>
            <a:ext cx="1545336" cy="411480"/>
          </a:xfrm>
          <a:prstGeom prst="roundRect">
            <a:avLst>
              <a:gd name="adj" fmla="val 20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203864"/>
                </a:solidFill>
                <a:latin typeface="Arial"/>
              </a:rPr>
              <a:t>Hàm ý</a:t>
            </a:r>
          </a:p>
        </p:txBody>
      </p:sp>
      <p:sp>
        <p:nvSpPr>
          <p:cNvPr id="12" name="TextBox"/>
          <p:cNvSpPr txBox="1"/>
          <p:nvPr/>
        </p:nvSpPr>
        <p:spPr>
          <a:xfrm>
            <a:off x="6373368" y="5120640"/>
            <a:ext cx="5276088" cy="822960"/>
          </a:xfrm>
          <a:prstGeom prst="rect">
            <a:avLst/>
          </a:prstGeom>
          <a:noFill/>
        </p:spPr>
        <p:txBody>
          <a:bodyPr wrap="square" lIns="0" tIns="0" rIns="0" bIns="0" anchor="t">
            <a:spAutoFit/>
          </a:bodyPr>
          <a:lstStyle/>
          <a:p>
            <a:r>
              <a:rPr sz="1400" b="0">
                <a:solidFill>
                  <a:srgbClr val="585858"/>
                </a:solidFill>
                <a:latin typeface="Arial"/>
              </a:rPr>
              <a:t>Gợi ý: so tháng 1 với tháng 2, rồi mở Calendar xem Tết rơi vào ngày nào.</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Buổi sau: Dashboard</a:t>
            </a:r>
          </a:p>
        </p:txBody>
      </p:sp>
      <p:sp>
        <p:nvSpPr>
          <p:cNvPr id="3" name="Rail label"/>
          <p:cNvSpPr txBox="1"/>
          <p:nvPr/>
        </p:nvSpPr>
        <p:spPr>
          <a:xfrm>
            <a:off x="0" y="1371600"/>
            <a:ext cx="978408" cy="4800600"/>
          </a:xfrm>
          <a:prstGeom prst="rect">
            <a:avLst/>
          </a:prstGeom>
          <a:noFill/>
        </p:spPr>
        <p:txBody>
          <a:bodyPr vert="vert270" wrap="square" lIns="0" tIns="0" rIns="0" bIns="0" anchor="ctr">
            <a:spAutoFit/>
          </a:bodyPr>
          <a:lstStyle/>
          <a:p>
            <a:pPr algn="ctr"/>
            <a:r>
              <a:rPr sz="1400" b="1">
                <a:solidFill>
                  <a:srgbClr val="FFFFFF"/>
                </a:solidFill>
                <a:latin typeface="Arial"/>
              </a:rPr>
              <a:t>PHẦN 9 · QUIZ &amp; TỔNG KẾT</a:t>
            </a:r>
          </a:p>
        </p:txBody>
      </p:sp>
      <p:sp>
        <p:nvSpPr>
          <p:cNvPr id="4" name="TextBox"/>
          <p:cNvSpPr txBox="1"/>
          <p:nvPr/>
        </p:nvSpPr>
        <p:spPr>
          <a:xfrm>
            <a:off x="1527048" y="1508760"/>
            <a:ext cx="6400800" cy="822960"/>
          </a:xfrm>
          <a:prstGeom prst="rect">
            <a:avLst/>
          </a:prstGeom>
          <a:noFill/>
        </p:spPr>
        <p:txBody>
          <a:bodyPr wrap="square" lIns="0" tIns="0" rIns="0" bIns="0" anchor="t">
            <a:spAutoFit/>
          </a:bodyPr>
          <a:lstStyle/>
          <a:p>
            <a:r>
              <a:rPr sz="2000" b="1">
                <a:solidFill>
                  <a:srgbClr val="203864"/>
                </a:solidFill>
                <a:latin typeface="Arial"/>
              </a:rPr>
              <a:t>"Giám đốc bán hàng có 5 giây. Họ cần thấy gì đầu tiên?"</a:t>
            </a:r>
          </a:p>
        </p:txBody>
      </p:sp>
      <p:sp>
        <p:nvSpPr>
          <p:cNvPr id="5" name="TextBox"/>
          <p:cNvSpPr txBox="1"/>
          <p:nvPr/>
        </p:nvSpPr>
        <p:spPr>
          <a:xfrm>
            <a:off x="1527048" y="2331720"/>
            <a:ext cx="6400800" cy="914400"/>
          </a:xfrm>
          <a:prstGeom prst="rect">
            <a:avLst/>
          </a:prstGeom>
          <a:noFill/>
        </p:spPr>
        <p:txBody>
          <a:bodyPr wrap="square" lIns="0" tIns="0" rIns="0" bIns="0" anchor="t">
            <a:spAutoFit/>
          </a:bodyPr>
          <a:lstStyle/>
          <a:p>
            <a:r>
              <a:rPr sz="1500" b="1">
                <a:solidFill>
                  <a:srgbClr val="1B2230"/>
                </a:solidFill>
                <a:latin typeface="Arial"/>
              </a:rPr>
              <a:t>Hôm nay số đã đúng và thống nhất. </a:t>
            </a:r>
            <a:r>
              <a:rPr sz="1500" b="0">
                <a:solidFill>
                  <a:srgbClr val="1B2230"/>
                </a:solidFill>
                <a:latin typeface="Arial"/>
              </a:rPr>
              <a:t>Buổi 6: trình bày cho người ra quyết định, KPI card bằng CUBEVALUE đọc thẳng các measure hôm nay.</a:t>
            </a:r>
          </a:p>
        </p:txBody>
      </p:sp>
      <p:sp>
        <p:nvSpPr>
          <p:cNvPr id="6" name="TextBox"/>
          <p:cNvSpPr txBox="1"/>
          <p:nvPr/>
        </p:nvSpPr>
        <p:spPr>
          <a:xfrm>
            <a:off x="1527048" y="3291840"/>
            <a:ext cx="6400800" cy="2834640"/>
          </a:xfrm>
          <a:prstGeom prst="rect">
            <a:avLst/>
          </a:prstGeom>
          <a:noFill/>
        </p:spPr>
        <p:txBody>
          <a:bodyPr wrap="square" lIns="0" tIns="0" rIns="0" bIns="0" anchor="t">
            <a:spAutoFit/>
          </a:bodyPr>
          <a:lstStyle/>
          <a:p>
            <a:r>
              <a:rPr sz="1400" b="1">
                <a:solidFill>
                  <a:srgbClr val="203864"/>
                </a:solidFill>
                <a:latin typeface="Arial"/>
              </a:rPr>
              <a:t>Về nhà</a:t>
            </a:r>
          </a:p>
          <a:p>
            <a:pPr>
              <a:spcBef>
                <a:spcPts val="600"/>
              </a:spcBef>
            </a:pPr>
            <a:r>
              <a:rPr sz="1400" b="1">
                <a:solidFill>
                  <a:srgbClr val="1B2230"/>
                </a:solidFill>
                <a:latin typeface="Arial"/>
              </a:rPr>
              <a:t>Bài tập về nhà (bắt buộc): </a:t>
            </a:r>
            <a:r>
              <a:rPr sz="1400" b="0">
                <a:solidFill>
                  <a:srgbClr val="1B2230"/>
                </a:solidFill>
                <a:latin typeface="Arial"/>
              </a:rPr>
              <a:t>B5_BTVN_MCI_Mart_KPI_T1_T4_2025.xlsx: báo cáo tháng 1–4 của phòng Kinh doanh lệch số Tài chính: đối soát, tìm 4 lỗi, sửa mô hình và measure, KPI dictionary, 3 câu hỏi cho Sales Director, 1 câu insight</a:t>
            </a:r>
          </a:p>
          <a:p>
            <a:pPr>
              <a:spcBef>
                <a:spcPts val="600"/>
              </a:spcBef>
            </a:pPr>
            <a:r>
              <a:rPr sz="1400" b="1">
                <a:solidFill>
                  <a:srgbClr val="1B2230"/>
                </a:solidFill>
                <a:latin typeface="Arial"/>
              </a:rPr>
              <a:t>Tập trước capstone: </a:t>
            </a:r>
            <a:r>
              <a:rPr sz="1400" b="0">
                <a:solidFill>
                  <a:srgbClr val="1B2230"/>
                </a:solidFill>
                <a:latin typeface="Arial"/>
              </a:rPr>
              <a:t>C3 Mô hình · C4 KPI</a:t>
            </a:r>
          </a:p>
          <a:p>
            <a:pPr>
              <a:spcBef>
                <a:spcPts val="600"/>
              </a:spcBef>
            </a:pPr>
            <a:r>
              <a:rPr sz="1400" b="0">
                <a:solidFill>
                  <a:srgbClr val="1B2230"/>
                </a:solidFill>
                <a:latin typeface="Arial"/>
              </a:rPr>
              <a:t>Nộp trước Buổi 6 tại hocvien.mcivietnam.com · đọc handout B5 · tick "Checklist trước Buổi 6"</a:t>
            </a:r>
          </a:p>
        </p:txBody>
      </p:sp>
      <p:sp>
        <p:nvSpPr>
          <p:cNvPr id="7" name="Brick B5"/>
          <p:cNvSpPr/>
          <p:nvPr/>
        </p:nvSpPr>
        <p:spPr>
          <a:xfrm>
            <a:off x="8293608" y="4206240"/>
            <a:ext cx="3355848" cy="914400"/>
          </a:xfrm>
          <a:prstGeom prst="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p:cNvSpPr txBox="1"/>
          <p:nvPr/>
        </p:nvSpPr>
        <p:spPr>
          <a:xfrm>
            <a:off x="8385048" y="4206240"/>
            <a:ext cx="3172968" cy="914400"/>
          </a:xfrm>
          <a:prstGeom prst="rect">
            <a:avLst/>
          </a:prstGeom>
          <a:noFill/>
        </p:spPr>
        <p:txBody>
          <a:bodyPr wrap="square" lIns="0" tIns="0" rIns="0" bIns="0" anchor="ctr">
            <a:spAutoFit/>
          </a:bodyPr>
          <a:lstStyle/>
          <a:p>
            <a:r>
              <a:rPr sz="1800" b="1">
                <a:solidFill>
                  <a:srgbClr val="FFFFFF"/>
                </a:solidFill>
                <a:latin typeface="Arial"/>
              </a:rPr>
              <a:t>✓  B5 · Star schema + DAX</a:t>
            </a:r>
          </a:p>
        </p:txBody>
      </p:sp>
      <p:sp>
        <p:nvSpPr>
          <p:cNvPr id="9" name="Brick B6"/>
          <p:cNvSpPr/>
          <p:nvPr/>
        </p:nvSpPr>
        <p:spPr>
          <a:xfrm>
            <a:off x="8293608" y="3017520"/>
            <a:ext cx="3355848" cy="914400"/>
          </a:xfrm>
          <a:prstGeom prst="rect">
            <a:avLst/>
          </a:prstGeom>
          <a:solidFill>
            <a:srgbClr val="FFFFFF"/>
          </a:solidFill>
          <a:ln w="285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p:cNvSpPr txBox="1"/>
          <p:nvPr/>
        </p:nvSpPr>
        <p:spPr>
          <a:xfrm>
            <a:off x="8385048" y="3017520"/>
            <a:ext cx="3172968" cy="914400"/>
          </a:xfrm>
          <a:prstGeom prst="rect">
            <a:avLst/>
          </a:prstGeom>
          <a:noFill/>
        </p:spPr>
        <p:txBody>
          <a:bodyPr wrap="square" lIns="0" tIns="0" rIns="0" bIns="0" anchor="ctr">
            <a:spAutoFit/>
          </a:bodyPr>
          <a:lstStyle/>
          <a:p>
            <a:r>
              <a:rPr sz="1800" b="1">
                <a:solidFill>
                  <a:srgbClr val="203864"/>
                </a:solidFill>
                <a:latin typeface="Arial"/>
              </a:rPr>
              <a:t>B6 · Dashboard</a:t>
            </a:r>
          </a:p>
        </p:txBody>
      </p:sp>
      <p:sp>
        <p:nvSpPr>
          <p:cNvPr id="11" name="TextBox"/>
          <p:cNvSpPr txBox="1"/>
          <p:nvPr/>
        </p:nvSpPr>
        <p:spPr>
          <a:xfrm>
            <a:off x="8293608" y="5212080"/>
            <a:ext cx="3355848" cy="457200"/>
          </a:xfrm>
          <a:prstGeom prst="rect">
            <a:avLst/>
          </a:prstGeom>
          <a:noFill/>
        </p:spPr>
        <p:txBody>
          <a:bodyPr wrap="square" lIns="0" tIns="0" rIns="0" bIns="0" anchor="t">
            <a:spAutoFit/>
          </a:bodyPr>
          <a:lstStyle/>
          <a:p>
            <a:r>
              <a:rPr sz="1300" b="0">
                <a:solidFill>
                  <a:srgbClr val="585858"/>
                </a:solidFill>
                <a:latin typeface="Arial"/>
              </a:rPr>
              <a:t>File đáp án B5 (Practice/B5_MCI_Mart_Answer.xlsx) là file khởi đầu Buổi 6.</a:t>
            </a:r>
          </a:p>
        </p:txBody>
      </p:sp>
    </p:spTree>
  </p:cSld>
  <p:clrMapOvr>
    <a:masterClrMapping/>
  </p:clrMapOvr>
</p:sld>
</file>

<file path=ppt/theme/theme1.xml><?xml version="1.0" encoding="utf-8"?>
<a:theme xmlns:a="http://schemas.openxmlformats.org/drawingml/2006/main" name="Office Theme [1790271072606]">
  <a:themeElements>
    <a:clrScheme name="MCI Excel BI">
      <a:dk1>
        <a:srgbClr val="1B2230"/>
      </a:dk1>
      <a:lt1>
        <a:srgbClr val="FFFFFF"/>
      </a:lt1>
      <a:dk2>
        <a:srgbClr val="203864"/>
      </a:dk2>
      <a:lt2>
        <a:srgbClr val="F3F5F9"/>
      </a:lt2>
      <a:accent1>
        <a:srgbClr val="2A78D6"/>
      </a:accent1>
      <a:accent2>
        <a:srgbClr val="EB6834"/>
      </a:accent2>
      <a:accent3>
        <a:srgbClr val="1BAF7A"/>
      </a:accent3>
      <a:accent4>
        <a:srgbClr val="EDA100"/>
      </a:accent4>
      <a:accent5>
        <a:srgbClr val="E87BA4"/>
      </a:accent5>
      <a:accent6>
        <a:srgbClr val="4A3AA7"/>
      </a:accent6>
      <a:hlink>
        <a:srgbClr val="1F6FB2"/>
      </a:hlink>
      <a:folHlink>
        <a:srgbClr val="4A3AA7"/>
      </a:folHlink>
    </a:clrScheme>
    <a:fontScheme name="MCI Excel BI">
      <a:majorFont>
        <a:latin typeface="Arial" panose="020B06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B06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CE0948F-3C23-C840-978A-6EB6AAFD5E15}">
  <we:reference id="WA200010725" version="1.0.0.1" store="Omex" storeType="OMEX"/>
  <we:alternateReferences>
    <we:reference id="WA200010725" version="1.0.0.1" store="WA200010725" storeType="OMEX"/>
  </we:alternateReferences>
  <we:properties>
    <we:property name="claude.fileId" value="&quot;3f0c363d-f4d0-4e96-80cc-6a7c60642f0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536</TotalTime>
  <Words>13060</Words>
  <Application>Microsoft Office PowerPoint</Application>
  <PresentationFormat>Widescreen</PresentationFormat>
  <Paragraphs>723</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Aptos</vt:lpstr>
      <vt:lpstr>Arial</vt:lpstr>
      <vt:lpstr>Office Theme [1790271072606]</vt:lpstr>
      <vt:lpstr>Excel for Business Intelligence Analyst</vt:lpstr>
      <vt:lpstr>Câu hỏi mở buổi</vt:lpstr>
      <vt:lpstr>Recap Buổi 4 &amp; file khởi đầu</vt:lpstr>
      <vt:lpstr>1. Data Model: nhiều bảng, một mô hình</vt:lpstr>
      <vt:lpstr>Data View · Diagram View</vt:lpstr>
      <vt:lpstr>Normalization · Fact vs Lookup</vt:lpstr>
      <vt:lpstr>Primary key · Foreign key</vt:lpstr>
      <vt:lpstr>Relationships vs Merged tables</vt:lpstr>
      <vt:lpstr>2. Relationship: nối bảng bằng khóa, không bằng công thức</vt:lpstr>
      <vt:lpstr>Tạo và quản lý Relationship</vt:lpstr>
      <vt:lpstr>Cardinality 1-* · Filter direction</vt:lpstr>
      <vt:lpstr>Fact thứ hai: Target lọc qua lookup chung</vt:lpstr>
      <vt:lpstr>Nghỉ 10 phút</vt:lpstr>
      <vt:lpstr>3. Calculated Column và Measure: tính từng dòng hay tính từng ô</vt:lpstr>
      <vt:lpstr>Calculated Column · RELATED</vt:lpstr>
      <vt:lpstr>Vì sao KPI tỷ lệ phải là measure</vt:lpstr>
      <vt:lpstr>Implicit vs Explicit measure</vt:lpstr>
      <vt:lpstr>4. Filter context: ô này đang bị lọc bởi những gì?</vt:lpstr>
      <vt:lpstr>Filter context: Chuỗi C lần 3</vt:lpstr>
      <vt:lpstr>Lọc bằng cột của lookup</vt:lpstr>
      <vt:lpstr>5. CALCULATE và ALL: đổi bộ lọc có chủ đích</vt:lpstr>
      <vt:lpstr>CALCULATE</vt:lpstr>
      <vt:lpstr>ALL → % of Total</vt:lpstr>
      <vt:lpstr>Measure cho Target</vt:lpstr>
      <vt:lpstr>Target không lọc theo ngành</vt:lpstr>
      <vt:lpstr>6. Time intelligence: lũy kế và so với cùng kỳ</vt:lpstr>
      <vt:lpstr>YTD · cùng kỳ năm trước</vt:lpstr>
      <vt:lpstr>Like-for-like: ST12 và ô YoY trống</vt:lpstr>
      <vt:lpstr>7. KPI dictionary: một định nghĩa, mọi báo cáo</vt:lpstr>
      <vt:lpstr>KPI dictionary</vt:lpstr>
      <vt:lpstr>Thực hành 1: Hoàn thành bộ 6 KPI</vt:lpstr>
      <vt:lpstr>Thực hành 2: Đối soát với KPI_SUMIFS</vt:lpstr>
      <vt:lpstr>Excel Quiz Challenge</vt:lpstr>
      <vt:lpstr>Question 1: Measure vs Column</vt:lpstr>
      <vt:lpstr>Question 2: Hai bảng fact</vt:lpstr>
      <vt:lpstr>Question 3: Tình huống: Con số lặp lại</vt:lpstr>
      <vt:lpstr>Question 4: Tình huống: Tổng lệch</vt:lpstr>
      <vt:lpstr>Tổng kết &amp; insight của bạn</vt:lpstr>
      <vt:lpstr>Buổi sau: Dashboard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Nhan Le</dc:creator>
  <cp:lastModifiedBy>Leo Pham</cp:lastModifiedBy>
  <cp:revision>1</cp:revision>
  <dcterms:created xsi:type="dcterms:W3CDTF">2026-09-24T17:25:29Z</dcterms:created>
  <dcterms:modified xsi:type="dcterms:W3CDTF">2026-10-14T14:45:21Z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2026-09-24T17:26:47Z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4d9052f2-e654-41cc-b328-7191ea09daba</vt:lpwstr>
  </property>
  <property fmtid="{D5CDD505-2E9C-101B-9397-08002B2CF9AE}" pid="7" name="MSIP_Label_defa4170-0d19-0005-0004-bc88714345d2_ActionId">
    <vt:lpwstr>c1eb70c7-4859-476b-af0b-43240bcea39d</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