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5: Mô hình dữ liệu &amp; DAX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Pivot (Data → Manage Data Model)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B4_MCI_Mart_Answer.xlsx (đáp án Buổi 4)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101224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ier chip"/>
          <p:cNvSpPr/>
          <p:nvPr/>
        </p:nvSpPr>
        <p:spPr>
          <a:xfrm>
            <a:off x="1527048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3 — Diagnostic</a:t>
            </a:r>
          </a:p>
        </p:txBody>
      </p:sp>
      <p:sp>
        <p:nvSpPr>
          <p:cNvPr id="6" name="Stat A"/>
          <p:cNvSpPr/>
          <p:nvPr/>
        </p:nvSpPr>
        <p:spPr>
          <a:xfrm>
            <a:off x="152704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A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203864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lợi nhuận ÷ tổng doanh thu</a:t>
            </a:r>
          </a:p>
        </p:txBody>
      </p:sp>
      <p:sp>
        <p:nvSpPr>
          <p:cNvPr id="8" name="Not equal"/>
          <p:cNvSpPr txBox="1"/>
          <p:nvPr/>
        </p:nvSpPr>
        <p:spPr>
          <a:xfrm>
            <a:off x="5824728" y="3657600"/>
            <a:ext cx="914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9C0006"/>
                </a:solidFill>
                <a:latin typeface="Arial"/>
              </a:rPr>
              <a:t>≠</a:t>
            </a:r>
          </a:p>
        </p:txBody>
      </p:sp>
      <p:sp>
        <p:nvSpPr>
          <p:cNvPr id="9" name="Stat B"/>
          <p:cNvSpPr/>
          <p:nvPr/>
        </p:nvSpPr>
        <p:spPr>
          <a:xfrm>
            <a:off x="683056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701344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B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biên lợi nhuận từng dòng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527048" y="55321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Cùng một dữ liệu. Không ai bịa số — chỉ là hai công thức khác nhau.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4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B4: </a:t>
            </a:r>
            <a:r>
              <a:rPr sz="1800" b="0">
                <a:solidFill>
                  <a:srgbClr val="1B2230"/>
                </a:solidFill>
                <a:latin typeface="Arial"/>
              </a:rPr>
              <a:t>6 bảng sạch trong Data Model — Sales 30.247 dòng (4.436.849.500), Product 40, Store 12, Customer 1.500, Target 144, Calendar 731. Refresh tự cập nhật.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B4: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trước khi tính % target — ST07 tháng 4 thiếu file bổ sung chỉ đạt 54,3%, đủ file đạt 97,4%; cả chuỗi 103,1%.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B4 (B4_MCI_Mart_Answer.xlsx). Lưu thành B5_&lt;HoTen&gt;.xlsx. KHÔNG bấm Refresh All.</a:t>
            </a:r>
          </a:p>
        </p:txBody>
      </p:sp>
      <p:sp>
        <p:nvSpPr>
          <p:cNvPr id="5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../B4_Power_Query/Practice/B4_MCI_Mart_Answer.xlsx (sheet Kiem_tra_B4) · ../B4_Power_Query/Homework/B4_BTVN_MCI_Mart_T4_2025_Answer.xlsx (sheet KetQua_T4)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 Model: nhiều bảng, một mô hình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View · Diagram View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Manage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Mở cửa sổ Power Pivot — nơi chứa Data Model, tách riêng khỏi worksheet (hoặc Power Pivot → Manage)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một tab; xem dữ liệu, thêm calculated column; dòng Record ghi 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là một hộp; relationship là đường nối giữa các hộp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337560"/>
            <a:ext cx="4965192" cy="1874519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429000"/>
            <a:ext cx="4599431" cy="1691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Data View, tab Sales: 6 tab bảng ở dưới, Record 1 of 30,247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B5_&lt;HoTen&gt;.xlsx · Data → Manage Data Model → S05a_data_view.png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6684264" y="3337560"/>
            <a:ext cx="4965192" cy="1874519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3429000"/>
            <a:ext cx="4599431" cy="16916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6 hộp bảng, CHƯA có đường nối nào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B5_&lt;HoTen&gt;.xlsx · Home → Diagram View → S05b_diagram_roi.png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30352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94959"/>
            <a:ext cx="5513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thấy Manage Data Model: bật add-in Power Pivot (File → Options → COM Add-ins).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8001000" y="5303520"/>
            <a:ext cx="364845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8110727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9208008" y="5394959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Diagram View: kéo lookup bao quanh fact.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Data → Manage Data Model (Data View, Diagram 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· Fact vs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Normalization: </a:t>
            </a:r>
            <a:r>
              <a:rPr sz="1600" b="0">
                <a:solidFill>
                  <a:srgbClr val="1B2230"/>
                </a:solidFill>
                <a:latin typeface="Arial"/>
              </a:rPr>
              <a:t>mỗi thông tin lưu đúng MỘT chỗ — tên ngành nằm ở Product, không lặp lại trên từng dòng bán hàng.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Fact — ghi sự kiện, có số để cộng</a:t>
            </a:r>
          </a:p>
        </p:txBody>
      </p:sp>
      <p:sp>
        <p:nvSpPr>
          <p:cNvPr id="6" name="Fact Sales"/>
          <p:cNvSpPr/>
          <p:nvPr/>
        </p:nvSpPr>
        <p:spPr>
          <a:xfrm>
            <a:off x="1527048" y="246888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1 sản phẩm trong 1 đơn</a:t>
            </a:r>
          </a:p>
        </p:txBody>
      </p:sp>
      <p:sp>
        <p:nvSpPr>
          <p:cNvPr id="8" name="Fact Target"/>
          <p:cNvSpPr/>
          <p:nvPr/>
        </p:nvSpPr>
        <p:spPr>
          <a:xfrm>
            <a:off x="1527048" y="365760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18488" y="370332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Target · 144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tháng × cửa hàng — fact thứ hai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373368" y="2057400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Lookup — mô tả, mỗi đối tượng một dòng</a:t>
            </a:r>
          </a:p>
        </p:txBody>
      </p:sp>
      <p:sp>
        <p:nvSpPr>
          <p:cNvPr id="11" name="Lookup Product"/>
          <p:cNvSpPr/>
          <p:nvPr/>
        </p:nvSpPr>
        <p:spPr>
          <a:xfrm>
            <a:off x="637336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6464807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Product · 40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sản phẩm</a:t>
            </a:r>
          </a:p>
        </p:txBody>
      </p:sp>
      <p:sp>
        <p:nvSpPr>
          <p:cNvPr id="13" name="Lookup Store"/>
          <p:cNvSpPr/>
          <p:nvPr/>
        </p:nvSpPr>
        <p:spPr>
          <a:xfrm>
            <a:off x="907084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162288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cửa hàng</a:t>
            </a:r>
          </a:p>
        </p:txBody>
      </p:sp>
      <p:sp>
        <p:nvSpPr>
          <p:cNvPr id="15" name="Lookup Customer"/>
          <p:cNvSpPr/>
          <p:nvPr/>
        </p:nvSpPr>
        <p:spPr>
          <a:xfrm>
            <a:off x="637336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464807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Customer · 1.500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khách hàng</a:t>
            </a:r>
          </a:p>
        </p:txBody>
      </p:sp>
      <p:sp>
        <p:nvSpPr>
          <p:cNvPr id="17" name="Lookup Calendar"/>
          <p:cNvSpPr/>
          <p:nvPr/>
        </p:nvSpPr>
        <p:spPr>
          <a:xfrm>
            <a:off x="907084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9162288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Calendar · 731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ngày</a:t>
            </a:r>
          </a:p>
        </p:txBody>
      </p:sp>
      <p:sp>
        <p:nvSpPr>
          <p:cNvPr id="19" name="TIP callout"/>
          <p:cNvSpPr/>
          <p:nvPr/>
        </p:nvSpPr>
        <p:spPr>
          <a:xfrm>
            <a:off x="1527048" y="507492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5166359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Bảng fact dài, có cột số (Quantity, Revenue). Bảng lookup ngắn, chủ yếu là chữ. Target là fact: nó ghi một con số kế hoạch — nhưng không có cột sản phẩm.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dòng: Data Model của file khởi đầu (Power Pivot → Data 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· Foreign key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51460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3108960"/>
                <a:gridCol w="50017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Primary key (duy nhất)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Foreign key ở bảng fact (lặp lại)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Product_Code — 40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Sales[Product_Code]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Store_Code — 12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Sales[Store_Code] · Target[Store_Code]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Customer_ID — 1.500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Sales[Customer_ID]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Date — 731 ngày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Sales[Order_Date] · Target[Ngay_Dau_Thang]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Stat card"/>
          <p:cNvSpPr/>
          <p:nvPr/>
        </p:nvSpPr>
        <p:spPr>
          <a:xfrm>
            <a:off x="1527048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chính phải DUY NHẤT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P021 (B2) · P015 (B4)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trùng thì không tạo được quan hệ</a:t>
            </a:r>
          </a:p>
        </p:txBody>
      </p:sp>
      <p:sp>
        <p:nvSpPr>
          <p:cNvPr id="7" name="Stat card"/>
          <p:cNvSpPr/>
          <p:nvPr/>
        </p:nvSpPr>
        <p:spPr>
          <a:xfrm>
            <a:off x="6684264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ngoại không có trong lookup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E7D32"/>
                </a:solidFill>
                <a:latin typeface="Arial"/>
              </a:rPr>
              <a:t>0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đã kiểm bằng Left Anti ở B4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48640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57784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Ngay_Dau_Thang (B4 thêm vào Target) là cái móc để Target nối vào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vs Merged tables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Card Merge"/>
          <p:cNvSpPr/>
          <p:nvPr/>
        </p:nvSpPr>
        <p:spPr>
          <a:xfrm>
            <a:off x="1527048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Merge (Buổi 4)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Kéo cột của lookup vào bảng fact → một bảng to, thông tin lặp lại trên mọi dòng.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Lookup trùng khóa → số dòng phình ra (28.328 → 29.408), không báo lỗi.</a:t>
            </a:r>
          </a:p>
        </p:txBody>
      </p:sp>
      <p:sp>
        <p:nvSpPr>
          <p:cNvPr id="6" name="Card Relationship"/>
          <p:cNvSpPr/>
          <p:nvPr/>
        </p:nvSpPr>
        <p:spPr>
          <a:xfrm>
            <a:off x="6684264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848855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Arial"/>
              </a:rPr>
              <a:t>Relationship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Giữ các bảng riêng, nối bằng khóa; Pivot lấy cột từ bảng nào cũng được.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Mỗi thông tin một chỗ → mô hình hình ngôi sao (star schema).</a:t>
            </a:r>
          </a:p>
        </p:txBody>
      </p:sp>
      <p:sp>
        <p:nvSpPr>
          <p:cNvPr id="8" name="Stat card"/>
          <p:cNvSpPr/>
          <p:nvPr/>
        </p:nvSpPr>
        <p:spPr>
          <a:xfrm>
            <a:off x="1527048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Merge Product, Store, Customer vào Sales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9C0006"/>
                </a:solidFill>
                <a:latin typeface="Arial"/>
              </a:rPr>
              <a:t>453.705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30.247 dòng × 15 cột mô tả, lặp lại</a:t>
            </a:r>
          </a:p>
        </p:txBody>
      </p:sp>
      <p:sp>
        <p:nvSpPr>
          <p:cNvPr id="10" name="Stat card"/>
          <p:cNvSpPr/>
          <p:nvPr/>
        </p:nvSpPr>
        <p:spPr>
          <a:xfrm>
            <a:off x="6684264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67144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Giữ lookup riêng + relationship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E7D32"/>
                </a:solidFill>
                <a:latin typeface="Arial"/>
              </a:rPr>
              <a:t>9.220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Product 40×4 · Store 12×5 · Customer 1.500×6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Star schema: fact ở giữa, lookup xung quanh — mình dựng nó ở Phần 2.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ô tính từ Data Model của file khởi đầu (build_b5_meta.json)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Relationship: nối bảng bằng khóa, không bằng công thức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và quản lý Relationship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755648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Kéo thả trong 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Kéo cột khóa ngoại của bảng fact, thả lên khóa chính của 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Create Relationship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Hộp thoại chọn bảng và cột hai bên — khi sơ đồ quá rối để kéo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Manage Relationships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Xem, sửa, xóa từng relationship (ngoài Excel: Data → Relationships)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291840"/>
            <a:ext cx="4206240" cy="19659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383280"/>
            <a:ext cx="3840479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Create Relationship: Sales / Order_Date ↔ Calendar / Date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Design → Create Relationship → S10a_create_relationship.png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5916168" y="3291840"/>
            <a:ext cx="5733288" cy="19659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099048" y="3383280"/>
            <a:ext cx="5367527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Sales ở giữa, 4 đường nối có ký hiệu 1 (lookup) và * (Sales)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Sau khi tạo 4 relationship của Sales → S10b_diagram_sales.png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Hai cột phải CÙNG KIỂU dữ liệu (Order_Date và Date đều là Date nhờ Using Locale ở B4). Báo trùng giá trị = khóa lookup bị trùng → Remove Duplicates trong Power Query.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Power Pivot → Diagram View; Design → Create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Cardinality 1-* · Filter direction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Diagram Store"/>
          <p:cNvSpPr/>
          <p:nvPr/>
        </p:nvSpPr>
        <p:spPr>
          <a:xfrm>
            <a:off x="2075688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167128" y="16459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Region = Nam</a:t>
            </a:r>
          </a:p>
        </p:txBody>
      </p:sp>
      <p:sp>
        <p:nvSpPr>
          <p:cNvPr id="6" name="Diagram Sales"/>
          <p:cNvSpPr/>
          <p:nvPr/>
        </p:nvSpPr>
        <p:spPr>
          <a:xfrm>
            <a:off x="2075688" y="3977639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2167128" y="4023359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chỉ còn dòng cửa hàng miền Nam</a:t>
            </a:r>
          </a:p>
        </p:txBody>
      </p:sp>
      <p:cxnSp>
        <p:nvCxnSpPr>
          <p:cNvPr id="8" name="Filter arrow"/>
          <p:cNvCxnSpPr/>
          <p:nvPr/>
        </p:nvCxnSpPr>
        <p:spPr>
          <a:xfrm>
            <a:off x="3447288" y="2560320"/>
            <a:ext cx="0" cy="1371600"/>
          </a:xfrm>
          <a:prstGeom prst="line">
            <a:avLst/>
          </a:prstGeom>
          <a:ln w="38100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rd one"/>
          <p:cNvSpPr txBox="1"/>
          <p:nvPr/>
        </p:nvSpPr>
        <p:spPr>
          <a:xfrm>
            <a:off x="3630168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1</a:t>
            </a:r>
          </a:p>
        </p:txBody>
      </p:sp>
      <p:sp>
        <p:nvSpPr>
          <p:cNvPr id="10" name="Card many"/>
          <p:cNvSpPr txBox="1"/>
          <p:nvPr/>
        </p:nvSpPr>
        <p:spPr>
          <a:xfrm>
            <a:off x="3630168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*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486400" y="1554480"/>
            <a:ext cx="6163056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rial"/>
              </a:rPr>
              <a:t>Cardinality: </a:t>
            </a:r>
            <a:r>
              <a:rPr sz="1600" b="0">
                <a:solidFill>
                  <a:srgbClr val="1B2230"/>
                </a:solidFill>
                <a:latin typeface="Arial"/>
              </a:rPr>
              <a:t>mức độ duy nhất của khóa ở hai đầu — 1 (lookup, duy nhất) – * (fact, lặp lại). Data Model chỉ nhận 1-1 và 1-*; khóa trùng ở cả hai đầu (nhiều–nhiều) không tạo được.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C00000"/>
                </a:solidFill>
                <a:latin typeface="Arial"/>
              </a:rPr>
              <a:t>Filter direction: </a:t>
            </a:r>
            <a:r>
              <a:rPr sz="1600" b="0">
                <a:solidFill>
                  <a:srgbClr val="1B2230"/>
                </a:solidFill>
                <a:latin typeface="Arial"/>
              </a:rPr>
              <a:t>bộ lọc chảy TỪ LOOKUP XUỐNG FACT. Chọn Region = Nam ở Store → Sales chỉ còn dòng của cửa hàng miền Nam. Chiều ngược lại không có.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Quy tắc vàng: </a:t>
            </a:r>
            <a:r>
              <a:rPr sz="1600" b="0">
                <a:solidFill>
                  <a:srgbClr val="1B2230"/>
                </a:solidFill>
                <a:latin typeface="Arial"/>
              </a:rPr>
              <a:t>không bao giờ nối thẳng hai bảng fact. Sales và Target gặp nhau qua lookup chung.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Bộ lọc chảy như nước, từ trên xuống: lookup ở trên, fact ở dưới.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Sơ đồ khái niệm: bộ lọc từ Store chảy xuống Sales qua relationship Store_Code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thứ hai: Target lọc qua lookup chung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Insert → PivotTable ▾ → From Data Model  ·  relationship cho Target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Pivot đọc thẳng Data Model. Target chỉ lọc được qua lookup CHUNG với Sales: Target[Store_Code] → Store · Target[Ngay_Dau_Thang] → Calendar.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560320"/>
            <a:ext cx="434340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651760"/>
            <a:ext cx="3977639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Category × Sum of Target: 6 dòng đều 3.665.000.000; thanh vàng “Relationships between tables may be needed”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PV_Grain, TRƯỚC khi nối Target → S12a_target_lap.png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6007608" y="2560320"/>
            <a:ext cx="329184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190488" y="2651760"/>
            <a:ext cx="29260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Diagram View: 6 bảng, 6 relationship; Sales và Target cùng nối Store, Calendar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Sau Slide 12 → S12b_diagram_hai_fact.png</a:t>
            </a:r>
          </a:p>
        </p:txBody>
      </p:sp>
      <p:sp>
        <p:nvSpPr>
          <p:cNvPr id="10" name="Stat card"/>
          <p:cNvSpPr/>
          <p:nvPr/>
        </p:nvSpPr>
        <p:spPr>
          <a:xfrm>
            <a:off x="9436608" y="25603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619488" y="2651760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Chưa nối · mọi ngành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3.665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= target cả năm</a:t>
            </a:r>
          </a:p>
        </p:txBody>
      </p:sp>
      <p:sp>
        <p:nvSpPr>
          <p:cNvPr id="12" name="Stat card"/>
          <p:cNvSpPr/>
          <p:nvPr/>
        </p:nvSpPr>
        <p:spPr>
          <a:xfrm>
            <a:off x="9436608" y="39319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9619488" y="4023359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Đã nối · theo miền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D32"/>
                </a:solidFill>
                <a:latin typeface="Arial"/>
              </a:rPr>
              <a:t>1.227 · 753 · 1.685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triệu (Bắc · Trung · Nam)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Cùng một con số ở MỌI dòng = trường ở Rows không lọc được bảng của trường ở Values. Kiểm tra Diagram View. Target không có cột sản phẩm: ngành hàng lặp lại là ĐÚNG.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PV_Grain (Insert → PivotTable → From Data Model); Power Pivot → Diagram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Diagram View, kiểm tra đủ 6 relationship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Calculated Column và Measure: tính từng dòng hay tính từng 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 · RELATED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Calculated Column</a:t>
                      </a:r>
                      <a:r>
                        <a:rPr sz="1400" b="0">
                          <a:solidFill>
                            <a:srgbClr val="585858"/>
                          </a:solidFill>
                          <a:latin typeface="Arial"/>
                        </a:rPr>
                        <a:t> (Data View → Add Column)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Công thức tính cho TỪNG DÒNG, kết quả LƯU thành một cột của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RELATED(&lt;cột ở bảng lookup&gt;)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Lấy giá trị từ bảng lookup theo relationship — XLOOKUP của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ormula bar"/>
          <p:cNvSpPr/>
          <p:nvPr/>
        </p:nvSpPr>
        <p:spPr>
          <a:xfrm>
            <a:off x="1527048" y="30632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618488" y="3063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7" name="Formula"/>
          <p:cNvSpPr txBox="1"/>
          <p:nvPr/>
        </p:nvSpPr>
        <p:spPr>
          <a:xfrm>
            <a:off x="2075688" y="30632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 Sales[Quantity] * RELATED(Product[Unit_Cost])        → đổi tên cột: COGS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1527048" y="3611880"/>
            <a:ext cx="6309360" cy="16916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703320"/>
            <a:ext cx="594360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Data View bảng Sales: cột COGS ở cuối, thanh công thức =Sales[Quantity]*RELATED(Product[Unit_Cost])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Data View → Sales → S15_cot_cogs.png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8001000" y="3611880"/>
            <a:ext cx="364845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1072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8686800" y="370332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địa chỉ ô kiểu A1: công thức viết theo tên cột, áp cho cả cột. Đổi tên: double-click tiêu đề.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RELATED chỉ chạy khi ĐÃ CÓ relationship, và đi từ fact sang lookup (phía “nhiều” sang phía “một”).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Power Pivot → Data View, bảng Sales, cột COGS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Vì sao KPI tỷ lệ phải là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sp>
        <p:nvSpPr>
          <p:cNvPr id="4" name="Formula bar"/>
          <p:cNvSpPr/>
          <p:nvPr/>
        </p:nvSpPr>
        <p:spPr>
          <a:xfrm>
            <a:off x="1527048" y="1417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18488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2075688" y="1417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GM_Dong = DIVIDE(Sales[Revenue] - Sales[COGS], Sales[Revenue])      (calculated column, thêm tạm)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1527048" y="1965960"/>
          <a:ext cx="6309360" cy="205740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2240280"/>
                <a:gridCol w="2240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Calculated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Tính theo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dòng (row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ô Pivot (filter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Lưu trong mô hình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có — tốn bộ nhớ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không — tính khi cần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Dùng ở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Rows, Columns, Filters, Slicer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chỉ ở 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Hợp với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thuộc tính của một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KPI, tổng, TỶ LỆ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tat card"/>
          <p:cNvSpPr/>
          <p:nvPr/>
        </p:nvSpPr>
        <p:spPr>
          <a:xfrm>
            <a:off x="152704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 of GM_Dong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của tỷ lệ</a:t>
            </a:r>
          </a:p>
        </p:txBody>
      </p:sp>
      <p:sp>
        <p:nvSpPr>
          <p:cNvPr id="10" name="Stat card"/>
          <p:cNvSpPr/>
          <p:nvPr/>
        </p:nvSpPr>
        <p:spPr>
          <a:xfrm>
            <a:off x="3675887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385876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GM_Dong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208.904%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vô nghĩa</a:t>
            </a:r>
          </a:p>
        </p:txBody>
      </p:sp>
      <p:sp>
        <p:nvSpPr>
          <p:cNvPr id="12" name="Stat card"/>
          <p:cNvSpPr/>
          <p:nvPr/>
        </p:nvSpPr>
        <p:spPr>
          <a:xfrm>
            <a:off x="582472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00760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Đúng (B2, ô E30)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LN ÷ tổng DT</a:t>
            </a:r>
          </a:p>
        </p:txBody>
      </p:sp>
      <p:sp>
        <p:nvSpPr>
          <p:cNvPr id="14" name="Image placeholder [CHỤP]"/>
          <p:cNvSpPr/>
          <p:nvPr/>
        </p:nvSpPr>
        <p:spPr>
          <a:xfrm>
            <a:off x="8001000" y="1965960"/>
            <a:ext cx="3648456" cy="3520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8183879" y="2057400"/>
            <a:ext cx="3282696" cy="3337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PV_Loc lọc Nam = 2025, Quy = 1: Average of GM_Dong 33,77% và Sum of GM_Dong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S16_gm_dong.png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PV_Loc (cột GM_Dong thêm tạm, xóa sau demo). Đối chiếu: sheet KPI_SUMIFS, ô E30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vs Explicit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Implicit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Tick cột số vào Values → “Sum of …” tự tạo: không tên, không định dạng, KHÔNG dùng lại được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Power Pivot → Measures → New Measure…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Explicit measure: tự đặt tên, viết DAX, chọn định dạng; dùng lại trong measure khác và CUBEVALUE (B6)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DIVIDE(tử, mẫu)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Phép chia an toàn: mẫu bằng 0 hoặc trống → ô trống thay vì lỗi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Measures"/>
          <p:cNvGraphicFramePr>
            <a:graphicFrameLocks noGrp="1"/>
          </p:cNvGraphicFramePr>
          <p:nvPr/>
        </p:nvGraphicFramePr>
        <p:xfrm>
          <a:off x="1527048" y="3337560"/>
          <a:ext cx="6309360" cy="153619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 (bảng Sales)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SUM(Sales[COGS])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Image placeholder [CHỤP]"/>
          <p:cNvSpPr/>
          <p:nvPr/>
        </p:nvSpPr>
        <p:spPr>
          <a:xfrm>
            <a:off x="8001000" y="3337560"/>
            <a:ext cx="3648456" cy="19202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3429000"/>
            <a:ext cx="328269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Measure: Gross Margin %, Formula, Check formula, Category Percentage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 → Measures → New Measure → S17_measure_dialog.png</a:t>
            </a:r>
          </a:p>
        </p:txBody>
      </p:sp>
      <p:sp>
        <p:nvSpPr>
          <p:cNvPr id="8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Cột luôn kèm tên bảng: Sales[Revenue]. Measure ghi trần: [Total Revenue]. Quý 1/2025: 941.454.000 · 619.663.000 · 34,2%.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Power Pivot → Measures → New Measure (Gross Margin 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Filter context: ô này đang bị lọc bởi những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context — Chuỗi C lần 3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Spine cell"/>
          <p:cNvSpPr/>
          <p:nvPr/>
        </p:nvSpPr>
        <p:spPr>
          <a:xfrm>
            <a:off x="1527048" y="155448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55448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90.210.000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một ô Pivot</a:t>
            </a:r>
          </a:p>
        </p:txBody>
      </p:sp>
      <p:sp>
        <p:nvSpPr>
          <p:cNvPr id="6" name="Filter 1"/>
          <p:cNvSpPr/>
          <p:nvPr/>
        </p:nvSpPr>
        <p:spPr>
          <a:xfrm>
            <a:off x="4041648" y="14630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Store[Region] = Bắc</a:t>
            </a:r>
          </a:p>
        </p:txBody>
      </p:sp>
      <p:sp>
        <p:nvSpPr>
          <p:cNvPr id="7" name="Filter 2"/>
          <p:cNvSpPr/>
          <p:nvPr/>
        </p:nvSpPr>
        <p:spPr>
          <a:xfrm>
            <a:off x="4041648" y="19202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Calendar[Nam] = 2025</a:t>
            </a:r>
          </a:p>
        </p:txBody>
      </p:sp>
      <p:sp>
        <p:nvSpPr>
          <p:cNvPr id="8" name="Filter 3"/>
          <p:cNvSpPr/>
          <p:nvPr/>
        </p:nvSpPr>
        <p:spPr>
          <a:xfrm>
            <a:off x="4041648" y="23774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Calendar[Thang] = 3</a:t>
            </a:r>
          </a:p>
        </p:txBody>
      </p:sp>
      <p:sp>
        <p:nvSpPr>
          <p:cNvPr id="9" name="Spine sum"/>
          <p:cNvSpPr/>
          <p:nvPr/>
        </p:nvSpPr>
        <p:spPr>
          <a:xfrm>
            <a:off x="6830568" y="16916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6830568" y="16916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SUM(Sales[Revenue])</a:t>
            </a:r>
          </a:p>
        </p:txBody>
      </p:sp>
      <p:cxnSp>
        <p:nvCxnSpPr>
          <p:cNvPr id="11" name="Arrow 1"/>
          <p:cNvCxnSpPr/>
          <p:nvPr/>
        </p:nvCxnSpPr>
        <p:spPr>
          <a:xfrm flipH="1">
            <a:off x="3675887" y="2103120"/>
            <a:ext cx="320041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 2"/>
          <p:cNvCxnSpPr/>
          <p:nvPr/>
        </p:nvCxnSpPr>
        <p:spPr>
          <a:xfrm flipH="1">
            <a:off x="6464808" y="2103120"/>
            <a:ext cx="320040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hree times"/>
          <p:cNvGraphicFramePr>
            <a:graphicFrameLocks noGrp="1"/>
          </p:cNvGraphicFramePr>
          <p:nvPr/>
        </p:nvGraphicFramePr>
        <p:xfrm>
          <a:off x="1527048" y="2926080"/>
          <a:ext cx="4663440" cy="1536192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Buổi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Cùng một 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tiêu chí SUMIFS (KPI_SUMIFS!D6)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filter context của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"/>
          <p:cNvSpPr txBox="1"/>
          <p:nvPr/>
        </p:nvSpPr>
        <p:spPr>
          <a:xfrm>
            <a:off x="1527048" y="4617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Đọc tọa độ ô: hàng, cột, Filters, Slicer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Bộ lọc chảy theo relationship, lookup → Sales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Tính công thức trên các dòng còn lại</a:t>
            </a:r>
          </a:p>
        </p:txBody>
      </p:sp>
      <p:sp>
        <p:nvSpPr>
          <p:cNvPr id="15" name="Image placeholder [CHỤP]"/>
          <p:cNvSpPr/>
          <p:nvPr/>
        </p:nvSpPr>
        <p:spPr>
          <a:xfrm>
            <a:off x="6373368" y="2926080"/>
            <a:ext cx="5276088" cy="315468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556248" y="3017520"/>
            <a:ext cx="4910327" cy="297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Rows Region · Columns Thang · Filters Nam = 2025, Quy = 1 · Values Total Revenue; ô Bắc × 3 = 90.210.000 đang chọn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S19_pivot_mien_thang.png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B2/B3 · Ảnh: B5_&lt;HoTen&gt;.xlsx, sheet PV_Loc. Đối chiếu: sheet KPI_SUMIFS, ô D6 và E9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Lọc bằng cột của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Hide from Client Tools  (Power Pivot: chuột phải tiêu đề cột)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Ẩn cột khỏi danh sách trường của Pivot, để người dùng không kéo nhầm cột của bảng fact vào Rows / Columns.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468880"/>
            <a:ext cx="6309360" cy="26060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560320"/>
            <a:ext cx="5943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Hai Pivot cạnh nhau (Nam = 2025): trái Rows Calendar[Thang] — đúng; phải Rows Sales[Thang] — Sum of Target 3.665.000.000 ở mọi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PV_Lookup_vs_Fact, trước khi ẩn cột → S20_lookup_vs_fact.png</a:t>
            </a:r>
          </a:p>
        </p:txBody>
      </p:sp>
      <p:sp>
        <p:nvSpPr>
          <p:cNvPr id="8" name="Rule card"/>
          <p:cNvSpPr/>
          <p:nvPr/>
        </p:nvSpPr>
        <p:spPr>
          <a:xfrm>
            <a:off x="8001000" y="2468880"/>
            <a:ext cx="364845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65592" y="2578608"/>
            <a:ext cx="3319272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Quy tắc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Rows, Columns, Filters, Slicer: lấy cột của LOOKUP (Calendar, Store, Product, Customer).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Sales[Thang] </a:t>
            </a:r>
            <a:r>
              <a:rPr sz="1400" b="0">
                <a:solidFill>
                  <a:srgbClr val="1B2230"/>
                </a:solidFill>
                <a:latin typeface="Arial"/>
              </a:rPr>
              <a:t>chỉ lọc được Sales — không chảy sang Target.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Ẩn: Sales[Nam], [Thang], [Order_Date], [Store_Code], [Product_Code], [Customer_ID] · Target[Store_Code], [Thang], [Ngay_Dau_Thang]. Cột ẩn chuyển màu xám trong Data View.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PV_Lookup_vs_Fact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CALCULATE và ALL: đổi bộ lọc có chủ đích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CALCULATE(&lt;biểu thức&gt;, &lt;bộ lọc 1&gt;, &lt;bộ lọc 2&gt;, …)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Tính biểu thức dưới bộ lọc mình đặt; bộ lọc trong CALCULATE GHI ĐÈ bộ lọc cùng cột của ô Pivot, các bộ lọc khác giữ nguyên.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60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60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Revenue Mien Nam := CALCULATE([Total Revenue], Store[Region] = "Nam")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3154680"/>
            <a:ext cx="6309360" cy="21031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3246120"/>
            <a:ext cx="5943600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PV_Loc (Q1/2025): Rows Region; Total Revenue và Revenue Mien Nam — 427.663.000 ở cả 3 dòng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S22_calculate.png</a:t>
            </a:r>
          </a:p>
        </p:txBody>
      </p:sp>
      <p:sp>
        <p:nvSpPr>
          <p:cNvPr id="11" name="Stat card"/>
          <p:cNvSpPr/>
          <p:nvPr/>
        </p:nvSpPr>
        <p:spPr>
          <a:xfrm>
            <a:off x="8001000" y="3154680"/>
            <a:ext cx="364845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83879" y="3246120"/>
            <a:ext cx="328269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Revenue Mien Nam ở dòng Bắc, Trung, Nam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427.663.000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Region bị thay bằng Nam; bộ lọc Quý 1 vẫn giữ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Demo xong, xóa measure này: Power Pivot → Measures → Manage Measures → Delete.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PV_Loc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→ % of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ALL(&lt;bảng hoặc cột&gt;)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Bỏ mọi bộ lọc trên bảng (hoặc cột) đó — dùng trong CALCULATE để lấy “mẫu số chung”.</a:t>
            </a:r>
          </a:p>
        </p:txBody>
      </p:sp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2423160"/>
          <a:ext cx="10122408" cy="123444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All Stores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ALL(Store))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% Revenue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[Revenue All Stores])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mage placeholder [CHỤP]"/>
          <p:cNvSpPr/>
          <p:nvPr/>
        </p:nvSpPr>
        <p:spPr>
          <a:xfrm>
            <a:off x="1527048" y="3749039"/>
            <a:ext cx="6309360" cy="1508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709928" y="3840479"/>
            <a:ext cx="594360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PV_Loc (Q1): Total Revenue · Revenue All Stores 941.454.000 mọi dòng · % Revenue Share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PV_Loc → S23_pct_of_total.png</a:t>
            </a:r>
          </a:p>
        </p:txBody>
      </p:sp>
      <p:sp>
        <p:nvSpPr>
          <p:cNvPr id="9" name="Share Bắc"/>
          <p:cNvSpPr/>
          <p:nvPr/>
        </p:nvSpPr>
        <p:spPr>
          <a:xfrm>
            <a:off x="8001000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83879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Bắc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34,4%</a:t>
            </a:r>
          </a:p>
        </p:txBody>
      </p:sp>
      <p:sp>
        <p:nvSpPr>
          <p:cNvPr id="11" name="Share Trung"/>
          <p:cNvSpPr/>
          <p:nvPr/>
        </p:nvSpPr>
        <p:spPr>
          <a:xfrm>
            <a:off x="9244584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9427463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20,2%</a:t>
            </a:r>
          </a:p>
        </p:txBody>
      </p:sp>
      <p:sp>
        <p:nvSpPr>
          <p:cNvPr id="13" name="Share Nam"/>
          <p:cNvSpPr/>
          <p:nvPr/>
        </p:nvSpPr>
        <p:spPr>
          <a:xfrm>
            <a:off x="10488168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0671048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Nam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45,4%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Đúng Pct_Share của Buổi 1. B1 khóa mẫu số bằng $B$5; DAX khóa bằng ALL. ALL(Store) bỏ lọc miền, cửa hàng — bộ lọc Calendar vẫn giữ.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PV_Loc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cho Target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graphicFrame>
        <p:nvGraphicFramePr>
          <p:cNvPr id="4" name="Measures"/>
          <p:cNvGraphicFramePr>
            <a:graphicFrameLocks noGrp="1"/>
          </p:cNvGraphicFramePr>
          <p:nvPr/>
        </p:nvGraphicFramePr>
        <p:xfrm>
          <a:off x="1527048" y="1417320"/>
          <a:ext cx="10122408" cy="164592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Total Target  (bảng Target)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SUM(Target[Target])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IF(ISBLANK([Total Revenue]), BLANK(), </a:t>
                      </a:r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[Total Revenue] -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200400"/>
            <a:ext cx="6309360" cy="20574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291840"/>
            <a:ext cx="5943600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PV_Target (Nam = 2025): Total Revenue, Total Target, Revenue vs Target %, Variance theo Calendar[Thang]; T5–T12 chỉ có target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PV_Target → S24_target_thang.png</a:t>
            </a:r>
          </a:p>
        </p:txBody>
      </p:sp>
      <p:sp>
        <p:nvSpPr>
          <p:cNvPr id="7" name="Month T1"/>
          <p:cNvSpPr/>
          <p:nvPr/>
        </p:nvSpPr>
        <p:spPr>
          <a:xfrm>
            <a:off x="8001000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T1/2025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120,6%</a:t>
            </a:r>
          </a:p>
        </p:txBody>
      </p:sp>
      <p:sp>
        <p:nvSpPr>
          <p:cNvPr id="9" name="Month T2"/>
          <p:cNvSpPr/>
          <p:nvPr/>
        </p:nvSpPr>
        <p:spPr>
          <a:xfrm>
            <a:off x="9857232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0040111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T2/2025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82,5%</a:t>
            </a:r>
          </a:p>
        </p:txBody>
      </p:sp>
      <p:sp>
        <p:nvSpPr>
          <p:cNvPr id="11" name="Month T3"/>
          <p:cNvSpPr/>
          <p:nvPr/>
        </p:nvSpPr>
        <p:spPr>
          <a:xfrm>
            <a:off x="8001000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83879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T3/2025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94,6%</a:t>
            </a:r>
          </a:p>
        </p:txBody>
      </p:sp>
      <p:sp>
        <p:nvSpPr>
          <p:cNvPr id="13" name="Month T4"/>
          <p:cNvSpPr/>
          <p:nvPr/>
        </p:nvSpPr>
        <p:spPr>
          <a:xfrm>
            <a:off x="9857232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0040111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T4/2025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103,1%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IF(ISBLANK…): Variance tháng 5 = −288.000.000 — “hụt 288 triệu” chỉ vì chưa có dữ liệu. T1 + T2 gộp: 103,2%. Tết 2025: 29/01 · Tết 2024: 10/02.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PV_Target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không lọc theo ngành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Card category"/>
          <p:cNvSpPr/>
          <p:nvPr/>
        </p:nvSpPr>
        <p:spPr>
          <a:xfrm>
            <a:off x="1527048" y="1463040"/>
            <a:ext cx="4206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3877055" cy="3575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Rows = Product[Category] · Quý 1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Bánh kẹo 36,2% · Gia dụng 21,7% · Thực phẩm khô 18,0% · Đồ uống 11,8% · Chăm sóc cá nhân 11,2% · Sữa 1,8%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9C0006"/>
                </a:solidFill>
                <a:latin typeface="Arial"/>
              </a:rPr>
              <a:t>= doanh thu ngành ÷ target CẢ CHUỖI (936.000.000) → vô nghĩa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Measure không báo lỗi — người dùng phải biết giới hạn.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5916168" y="1463040"/>
            <a:ext cx="3611880" cy="3794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099048" y="1554480"/>
            <a:ext cx="3246120" cy="3611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Rows Store_Code · Columns Thang 1–4 · Revenue vs Target %; ô ST07 × 3 = 44,9% đang chọn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PV_Target → S25_store_thang.png</a:t>
            </a:r>
          </a:p>
        </p:txBody>
      </p:sp>
      <p:sp>
        <p:nvSpPr>
          <p:cNvPr id="8" name="Stat card"/>
          <p:cNvSpPr/>
          <p:nvPr/>
        </p:nvSpPr>
        <p:spPr>
          <a:xfrm>
            <a:off x="9665208" y="146304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848088" y="155448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T3/2025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44,9%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8.539.000 / 19.000.000</a:t>
            </a:r>
          </a:p>
        </p:txBody>
      </p:sp>
      <p:sp>
        <p:nvSpPr>
          <p:cNvPr id="10" name="Stat card"/>
          <p:cNvSpPr/>
          <p:nvPr/>
        </p:nvSpPr>
        <p:spPr>
          <a:xfrm>
            <a:off x="9665208" y="342900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848088" y="352044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T4/2025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97,4%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hồi phục sau cải tạo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KPI dictionary ghi rõ: Revenue vs Target % lọc theo store, region, month — KHÔNG theo product/category.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PV_Target · ST07 cải tạo 10–31/03/2025 (B3 Show Details)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Time intelligence: lũy kế và so với cùng kỳ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YTD · cùng kỳ năm trước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Design → Mark as Date 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Khai báo Calendar là bảng lịch: mỗi ngày một dòng, liên tục (731 ngày ✔)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DATESYTD(Calendar[Date])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Từ đầu năm tới ngày cuối của ô → lũy kế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DATEADD(Calendar[Date], -1, YEAR)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Lùi các ngày của ô một năm → cùng kỳ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8001000" y="1417320"/>
            <a:ext cx="3648456" cy="17373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183879" y="1508760"/>
            <a:ext cx="3282696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Mark as Date Table, Date column = Date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Power Pivot, tab Calendar → Design → S27a_mark_date_table.png</a:t>
            </a:r>
          </a:p>
        </p:txBody>
      </p:sp>
      <p:graphicFrame>
        <p:nvGraphicFramePr>
          <p:cNvPr id="7" name="Measures"/>
          <p:cNvGraphicFramePr>
            <a:graphicFrameLocks noGrp="1"/>
          </p:cNvGraphicFramePr>
          <p:nvPr/>
        </p:nvGraphicFramePr>
        <p:xfrm>
          <a:off x="1527048" y="329184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47091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YTD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DATESYTD(Calendar[Date]))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DATEADD(Calendar[Date], -1, YEAR))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IF(ISBLANK([Total Revenue]), BLANK(), DIVIDE([Total Revenue] - [Revenue LY], [Revenue LY]))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Image placeholder [CHỤP]"/>
          <p:cNvSpPr/>
          <p:nvPr/>
        </p:nvSpPr>
        <p:spPr>
          <a:xfrm>
            <a:off x="8001000" y="3291840"/>
            <a:ext cx="3648456" cy="18288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3383280"/>
            <a:ext cx="3282696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PV_YoY T1–T4/2025: Revenue, LY, YTD, YoY %; YTD T4 1.238.419.000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S27b_yoy_ytd.png</a:t>
            </a:r>
          </a:p>
        </p:txBody>
      </p:sp>
      <p:sp>
        <p:nvSpPr>
          <p:cNvPr id="10" name="TIP callout"/>
          <p:cNvSpPr/>
          <p:nvPr/>
        </p:nvSpPr>
        <p:spPr>
          <a:xfrm>
            <a:off x="1527048" y="5257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2212848" y="534924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YoY T1 +42,8% · T2 −0,9% · T3 +13,7% · T4 +24,0%; YTD T4 +21,0%. Không chặn ô trống: T5 = −100%.</a:t>
            </a:r>
          </a:p>
        </p:txBody>
      </p:sp>
      <p:sp>
        <p:nvSpPr>
          <p:cNvPr id="13" name="PRO TIP callout"/>
          <p:cNvSpPr/>
          <p:nvPr/>
        </p:nvSpPr>
        <p:spPr>
          <a:xfrm>
            <a:off x="6784848" y="5257800"/>
            <a:ext cx="48646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 TIP chip"/>
          <p:cNvSpPr/>
          <p:nvPr/>
        </p:nvSpPr>
        <p:spPr>
          <a:xfrm>
            <a:off x="6894576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5" name="PRO TIP text"/>
          <p:cNvSpPr txBox="1"/>
          <p:nvPr/>
        </p:nvSpPr>
        <p:spPr>
          <a:xfrm>
            <a:off x="7991856" y="534924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SAMEPERIODLASTYEAR cho cùng kết quả với DATEADD lùi 1 năm.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Power Pivot → Design → Mark as Date Table; sheet PV_YoY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Like-for-like: ST12 và ô YoY trống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sp>
        <p:nvSpPr>
          <p:cNvPr id="4" name="Image placeholder [CHỤP]"/>
          <p:cNvSpPr/>
          <p:nvPr/>
        </p:nvSpPr>
        <p:spPr>
          <a:xfrm>
            <a:off x="1527048" y="1463040"/>
            <a:ext cx="6309360" cy="37947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09928" y="1554480"/>
            <a:ext cx="5943600" cy="3611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PV_YoY: Rows Store_Code, Filters Nam = 2025 và Thang 1–4; Total Revenue, Revenue LY, Revenue YoY %; dòng ST12 hai ô trống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S28_yoy_cua_hang.png</a:t>
            </a:r>
          </a:p>
        </p:txBody>
      </p:sp>
      <p:sp>
        <p:nvSpPr>
          <p:cNvPr id="6" name="Stat card"/>
          <p:cNvSpPr/>
          <p:nvPr/>
        </p:nvSpPr>
        <p:spPr>
          <a:xfrm>
            <a:off x="8001000" y="146304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155448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ST12 khai trương 01/06/2024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79.399.000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T1–T4/2025 · không có kỳ gốc</a:t>
            </a:r>
          </a:p>
        </p:txBody>
      </p:sp>
      <p:sp>
        <p:nvSpPr>
          <p:cNvPr id="8" name="Stat card"/>
          <p:cNvSpPr/>
          <p:nvPr/>
        </p:nvSpPr>
        <p:spPr>
          <a:xfrm>
            <a:off x="8001000" y="274320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283464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cả chuỗi 12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+21,0%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gồm cả ST12</a:t>
            </a:r>
          </a:p>
        </p:txBody>
      </p:sp>
      <p:sp>
        <p:nvSpPr>
          <p:cNvPr id="10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like-for-like 11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+13,3%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chỉ cửa hàng có đủ hai kỳ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D2: thấy ô trống, hỏi vì sao trước khi kết luận; thấy tổng đẹp, hỏi tổng gồm những gì. ST10 +37,9% · ST07 −3,2% · ST04 −1,5%.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B5_&lt;HoTen&gt;.xlsx, sheet PV_YoY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KPI dictionary: một định nghĩa, mọi báo cáo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dictionary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KPI DICTIONARY</a:t>
            </a:r>
          </a:p>
        </p:txBody>
      </p:sp>
      <p:graphicFrame>
        <p:nvGraphicFramePr>
          <p:cNvPr id="4" name="KPI dictionary"/>
          <p:cNvGraphicFramePr>
            <a:graphicFrameLocks noGrp="1"/>
          </p:cNvGraphicFramePr>
          <p:nvPr/>
        </p:nvGraphicFramePr>
        <p:xfrm>
          <a:off x="1527048" y="1371600"/>
          <a:ext cx="10122408" cy="3072384"/>
        </p:xfrm>
        <a:graphic>
          <a:graphicData uri="http://schemas.openxmlformats.org/drawingml/2006/table">
            <a:tbl>
              <a:tblPr firstRow="1" bandRow="0"/>
              <a:tblGrid>
                <a:gridCol w="2057400"/>
                <a:gridCol w="4023360"/>
                <a:gridCol w="2377440"/>
                <a:gridCol w="16642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 (DAX)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= Total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DISTINCTCOUNT(Sales[Order_ID])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1.000 đơn/tháng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Avg Order 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Orders])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category, region,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[Revenue LY], [Revenue LY])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Active Customers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DISTINCTCOUNT(Sales[Customer_ID])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segment,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700 KH/tháng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C0006"/>
                          </a:solidFill>
                          <a:latin typeface="Arial"/>
                        </a:rPr>
                        <a:t>store, region, month — KHÔNG category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4526280"/>
            <a:ext cx="3017520" cy="1600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617720"/>
            <a:ext cx="26517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Rows Calendar[Nam]: Gross Margin % 31,2% · 34,1%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Sheet PV_YoY → S30_gm_theo_nam.png</a:t>
            </a:r>
          </a:p>
        </p:txBody>
      </p:sp>
      <p:sp>
        <p:nvSpPr>
          <p:cNvPr id="7" name="Card D2"/>
          <p:cNvSpPr/>
          <p:nvPr/>
        </p:nvSpPr>
        <p:spPr>
          <a:xfrm>
            <a:off x="4681728" y="4526280"/>
            <a:ext cx="696772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4846320" y="4636008"/>
            <a:ext cx="66385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D2 — kiểm giả định (câu chuyện #5)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B2230"/>
                </a:solidFill>
                <a:latin typeface="Arial"/>
              </a:rPr>
              <a:t>GM% 2024: 31,2% → 2025: 34,1%. Giá vốn chỉ có MỘT bảng (Product[Unit_Cost]) cho cả hai năm, giá bán 2025 cao hơn 2024 khoảng 3,9% → ghi vào cột “Giới hạn”.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Course Plan, Phụ lục C · owner, ngưỡng Warning/Critical: KPI Definition Card (B2) · Ảnh: B5_&lt;HoTen&gt;.xlsx, sheet PV_YoY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Hoàn thành bộ 6 KPI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Viết 3 measure (bảng Sales): Total Orders = DISTINCTCOUNT(Sales[Order_ID]) · Avg Order Value = DIVIDE([Total Revenue], [Total Orders]) · Active Customers = DISTINCTCOUNT(Sales[Customer_ID]).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PV_KPI_Thang (From Data Model): Filters Calendar[Nam] = 2025 · Rows Calendar[Thang] (lọc 1–4) · Values: 6 KPI.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Kiểm tay AOV: lọc Product[Category] = Bánh kẹo, Calendar[Quy] = 1 → Total Revenue ÷ Total Orders = AOV?</a:t>
            </a:r>
          </a:p>
        </p:txBody>
      </p:sp>
      <p:graphicFrame>
        <p:nvGraphicFramePr>
          <p:cNvPr id="6" name="Check table"/>
          <p:cNvGraphicFramePr>
            <a:graphicFrameLocks noGrp="1"/>
          </p:cNvGraphicFramePr>
          <p:nvPr/>
        </p:nvGraphicFramePr>
        <p:xfrm>
          <a:off x="6556248" y="1417320"/>
          <a:ext cx="5093208" cy="2057400"/>
        </p:xfrm>
        <a:graphic>
          <a:graphicData uri="http://schemas.openxmlformats.org/drawingml/2006/table">
            <a:tbl>
              <a:tblPr firstRow="1" bandRow="0"/>
              <a:tblGrid>
                <a:gridCol w="411480"/>
                <a:gridCol w="1188720"/>
                <a:gridCol w="685800"/>
                <a:gridCol w="822960"/>
                <a:gridCol w="685800"/>
                <a:gridCol w="731520"/>
                <a:gridCol w="56692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AOV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GM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425.850.000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304.614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245.996.000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298.902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−0,9%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269.608.000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292.100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296.965.000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307.417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OV check"/>
          <p:cNvSpPr/>
          <p:nvPr/>
        </p:nvSpPr>
        <p:spPr>
          <a:xfrm>
            <a:off x="6556248" y="3657600"/>
            <a:ext cx="5093208" cy="16002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739128" y="3749039"/>
            <a:ext cx="472744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Kiểm tay — Bánh kẹo, Quý 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338.733.000 ÷ 1.739 đơn = </a:t>
            </a:r>
            <a:r>
              <a:rPr sz="1500" b="1">
                <a:solidFill>
                  <a:srgbClr val="2E7D32"/>
                </a:solidFill>
                <a:latin typeface="Arial"/>
              </a:rPr>
              <a:t>194.786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AVERAGE(Sales[Revenue]) = 153.830 — trung bình một DÒNG, không phải một ĐƠN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Kiểm tra: Filters Calendar[Nam] = 2025, Rows Calendar[Thang] 1–4 · KH = Active Customers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với KPI_SUMIFS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PV_DoiSoat_B2 (From Data Model): Filters Nam = 2025, Quy = 1 · Rows Store[Region] · Columns Calendar[Thang] · Values: Total Revenue, Total Orders, Avg Order Value, Gross Margin %.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GETPIVOTDATA (gõ =, bấm ô Pivot) trừ ô KPI_SUMIFS: Bắc × 3 (D6) · Doanh thu Quý 1 (E9) · Số đơn (E16) · GM% (E30) → phải bằng 0.</a:t>
            </a:r>
          </a:p>
        </p:txBody>
      </p:sp>
      <p:sp>
        <p:nvSpPr>
          <p:cNvPr id="6" name="Checkbox 1"/>
          <p:cNvSpPr/>
          <p:nvPr/>
        </p:nvSpPr>
        <p:spPr>
          <a:xfrm>
            <a:off x="1527048" y="42793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984248" y="4160520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Diagram View: hình ngôi sao, 6 bảng, 6 relationship; Sales và Target gặp nhau qua Store, Calendar</a:t>
            </a:r>
          </a:p>
        </p:txBody>
      </p:sp>
      <p:sp>
        <p:nvSpPr>
          <p:cNvPr id="8" name="Checkbox 2"/>
          <p:cNvSpPr/>
          <p:nvPr/>
        </p:nvSpPr>
        <p:spPr>
          <a:xfrm>
            <a:off x="1527048" y="48463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984248" y="4727448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6 KPI + Total Target, Revenue vs Target %, Variance là explicit measure, có định dạng</a:t>
            </a:r>
          </a:p>
        </p:txBody>
      </p:sp>
      <p:sp>
        <p:nvSpPr>
          <p:cNvPr id="10" name="Checkbox 3"/>
          <p:cNvSpPr/>
          <p:nvPr/>
        </p:nvSpPr>
        <p:spPr>
          <a:xfrm>
            <a:off x="1527048" y="54132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984248" y="5294376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Đối soát với KPI_SUMIFS: chênh lệch 0</a:t>
            </a:r>
          </a:p>
        </p:txBody>
      </p:sp>
      <p:sp>
        <p:nvSpPr>
          <p:cNvPr id="12" name="Check box"/>
          <p:cNvSpPr/>
          <p:nvPr/>
        </p:nvSpPr>
        <p:spPr>
          <a:xfrm>
            <a:off x="8110727" y="141732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293608" y="155448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— Quý 1/2025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Gross Margin 34,18%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 × 3: 90.210.000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E7D32"/>
                </a:solidFill>
                <a:latin typeface="Arial"/>
              </a:rPr>
              <a:t>Khớp = B2 và B5 cùng nói một sự thật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Đối chiếu: Practice/B5_MCI_Mart_Answer.xlsx, sheet Kiem_tra_B5 (đủ 64 ô Miền × Tháng × 4 KPI)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câu hỏi nhanh · câu 3–4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Measure vs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KPI Gross Margin % nên viết thế nào trong Data Model?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Average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Sum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Measure: DIVIDE(tổng doanh thu − tổng giá vốn, tổng doanh thu)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Implicit measure Average of Revenue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Hai bảng fact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Sales và Target đều có cột Store_Code. Nối thế nào để phân tích doanh thu so với target theo cửa hàng?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Relationship thẳng giữa Sales[Store_Code] và Target[Store_Code]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Nối cả hai vào lookup chung Store (và Calendar), lọc qua lookup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Target vào Sales bằng Power Query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nối được, phải dùng SUMIFS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Tình huống — Con số lặp lại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 Quý 1/2025: Rows = Product[Category], Values = Total Target. Sáu dòng đều ra 936.000.000.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Mark as Date Table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Measure Total Target viết sai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Target có grain tháng × cửa hàng, không có chiều sản phẩm; Product không lọc được Target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Refresh All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Tình huống — Tổng lệch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Active Customers Quý 1 theo miền: 492 + 307 + 657 = 1.456. Nhưng Grand Total ghi 1.208. Kết luận nào đúng?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Pivot bị lỗi, phải Refresh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relationship Sales – Customer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Không lỗi: khách mua ở nhiều miền chỉ đếm một lần ở dòng tổng; DISTINCTCOUNT không cộng dồn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đổi sang SUM(Sales[Customer_ID])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(1) Star schema: fact ở giữa, lookup xung quanh, 1-*; bộ lọc chảy lookup → fact. Hai fact gặp nhau qua lookup chung.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(2) Calculated column tính từng dòng; MEASURE tính từng ô. Tỷ lệ và đếm phân biệt luôn là measure.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(3) Filter context = tọa độ của ô. CALCULATE đổi bộ lọc; ALL bỏ bộ lọc.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(4) Time intelligence cần Calendar liên tục; hàng/cột lấy từ Calendar, không lấy từ fact.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(5) KPI dictionary: mỗi KPI một measure, một định nghĩa, kèm giới hạn — đối soát trước khi dùng.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“Theo Revenue vs Target %, ___ (con số), nguyên nhân khả dĩ là ___,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so tháng 1 với tháng 2, rồi mở Calendar xem Tết rơi vào ngày nào.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Dashboard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“Giám đốc bán hàng có 5 giây. Họ cần thấy gì đầu tiên?”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331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Hôm nay số đã đúng và thống nhất. </a:t>
            </a:r>
            <a:r>
              <a:rPr sz="1500" b="0">
                <a:solidFill>
                  <a:srgbClr val="1B2230"/>
                </a:solidFill>
                <a:latin typeface="Arial"/>
              </a:rPr>
              <a:t>Buổi 6: trình bày cho người ra quyết định — KPI card bằng CUBEVALUE đọc thẳng các measure hôm nay.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29184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400" b="0">
                <a:solidFill>
                  <a:srgbClr val="1B2230"/>
                </a:solidFill>
                <a:latin typeface="Arial"/>
              </a:rPr>
              <a:t>B5_BTVN_MCI_Mart_KPI_T1_T4_2025.xlsx — báo cáo tháng 1–4 của phòng Kinh doanh lệch số Tài chính: đối soát, tìm 4 lỗi, sửa mô hình và measure, KPI dictionary, 3 câu hỏi cho Sales Director, 1 câu insight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Tập trước capstone: </a:t>
            </a:r>
            <a:r>
              <a:rPr sz="1400" b="0">
                <a:solidFill>
                  <a:srgbClr val="1B2230"/>
                </a:solidFill>
                <a:latin typeface="Arial"/>
              </a:rPr>
              <a:t>C3 Mô hình · C4 KPI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Nộp trước Buổi 6 tại hocvien.mcivietnam.com · đọc handout B5 · tick “Checklist trước Buổi 6”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B5 · Star schema + DAX</a:t>
            </a:r>
          </a:p>
        </p:txBody>
      </p:sp>
      <p:sp>
        <p:nvSpPr>
          <p:cNvPr id="9" name="Brick B6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B6 · Dashboard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B5 (Practice/B5_MCI_Mart_Answer.xlsx) là file khởi đầu Buổi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