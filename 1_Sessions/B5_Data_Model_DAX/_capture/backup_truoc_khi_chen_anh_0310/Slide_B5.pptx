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43"/>
  </p:notesMasterIdLst>
  <p:sldIdLst>
    <p:sldId id="302" r:id="rId2"/>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 id="333" r:id="rId40"/>
    <p:sldId id="334" r:id="rId41"/>
    <p:sldId id="335" r:id="rId42"/>
    <p:sldId id="336" r:id="rId9"/>
    <p:sldId id="337" r:id="rId8"/>
    <p:sldId id="338" r:id="rId7"/>
    <p:sldId id="339" r:id="rId6"/>
    <p:sldId id="34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B359BD-AC51-4C4E-B5CF-7451A28AFD30}" v="26" dt="2026-09-27T06:48:4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5" Type="http://schemas.openxmlformats.org/officeDocument/2006/relationships/slide" Target="slides/slide39.xml"/><Relationship Id="rId6" Type="http://schemas.openxmlformats.org/officeDocument/2006/relationships/slide" Target="slides/slide38.xml"/><Relationship Id="rId7" Type="http://schemas.openxmlformats.org/officeDocument/2006/relationships/slide" Target="slides/slide37.xml"/><Relationship Id="rId8" Type="http://schemas.openxmlformats.org/officeDocument/2006/relationships/slide" Target="slides/slide36.xml"/><Relationship Id="rId9" Type="http://schemas.openxmlformats.org/officeDocument/2006/relationships/slide" Target="slides/slide35.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6/11/relationships/changesInfo" Target="changesInfos/changesInfo1.xml"/><Relationship Id="rId4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an Pham Le" userId="6366da15f1f739f9" providerId="LiveId" clId="{B7E72FC1-F79A-4602-B51C-6ED1DC3BF548}"/>
    <pc:docChg chg="undo custSel modSld">
      <pc:chgData name="Nhan Pham Le" userId="6366da15f1f739f9" providerId="LiveId" clId="{B7E72FC1-F79A-4602-B51C-6ED1DC3BF548}" dt="2026-09-27T12:45:57.791" v="170" actId="1076"/>
      <pc:docMkLst>
        <pc:docMk/>
      </pc:docMkLst>
      <pc:sldChg chg="modSp mod">
        <pc:chgData name="Nhan Pham Le" userId="6366da15f1f739f9" providerId="LiveId" clId="{B7E72FC1-F79A-4602-B51C-6ED1DC3BF548}" dt="2026-09-27T06:10:51.550" v="155" actId="20577"/>
        <pc:sldMkLst>
          <pc:docMk/>
          <pc:sldMk cId="2243051540" sldId="302"/>
        </pc:sldMkLst>
        <pc:spChg chg="mod">
          <ac:chgData name="Nhan Pham Le" userId="6366da15f1f739f9" providerId="LiveId" clId="{B7E72FC1-F79A-4602-B51C-6ED1DC3BF548}" dt="2026-09-27T06:10:51.550" v="155" actId="20577"/>
          <ac:spMkLst>
            <pc:docMk/>
            <pc:sldMk cId="2243051540" sldId="302"/>
            <ac:spMk id="15" creationId="{00000000-0000-0000-0000-000000000000}"/>
          </ac:spMkLst>
        </pc:spChg>
      </pc:sldChg>
      <pc:sldChg chg="modNotesTx">
        <pc:chgData name="Nhan Pham Le" userId="6366da15f1f739f9" providerId="LiveId" clId="{B7E72FC1-F79A-4602-B51C-6ED1DC3BF548}" dt="2026-09-27T04:16:20.387" v="153" actId="20577"/>
        <pc:sldMkLst>
          <pc:docMk/>
          <pc:sldMk cId="2890397441" sldId="305"/>
        </pc:sldMkLst>
      </pc:sldChg>
      <pc:sldChg chg="modSp mod">
        <pc:chgData name="Nhan Pham Le" userId="6366da15f1f739f9" providerId="LiveId" clId="{B7E72FC1-F79A-4602-B51C-6ED1DC3BF548}" dt="2026-09-27T06:48:42.492" v="164" actId="20577"/>
        <pc:sldMkLst>
          <pc:docMk/>
          <pc:sldMk cId="1101845905" sldId="308"/>
        </pc:sldMkLst>
        <pc:spChg chg="mod">
          <ac:chgData name="Nhan Pham Le" userId="6366da15f1f739f9" providerId="LiveId" clId="{B7E72FC1-F79A-4602-B51C-6ED1DC3BF548}" dt="2026-09-27T06:48:42.492" v="164" actId="20577"/>
          <ac:spMkLst>
            <pc:docMk/>
            <pc:sldMk cId="1101845905" sldId="308"/>
            <ac:spMk id="16" creationId="{00000000-0000-0000-0000-000000000000}"/>
          </ac:spMkLst>
        </pc:spChg>
      </pc:sldChg>
      <pc:sldChg chg="addSp delSp modSp mod">
        <pc:chgData name="Nhan Pham Le" userId="6366da15f1f739f9" providerId="LiveId" clId="{B7E72FC1-F79A-4602-B51C-6ED1DC3BF548}" dt="2026-09-26T03:51:11.711" v="79" actId="1076"/>
        <pc:sldMkLst>
          <pc:docMk/>
          <pc:sldMk cId="2305079537" sldId="309"/>
        </pc:sldMkLst>
        <pc:spChg chg="del">
          <ac:chgData name="Nhan Pham Le" userId="6366da15f1f739f9" providerId="LiveId" clId="{B7E72FC1-F79A-4602-B51C-6ED1DC3BF548}" dt="2026-09-26T03:50:42.316" v="71" actId="478"/>
          <ac:spMkLst>
            <pc:docMk/>
            <pc:sldMk cId="2305079537" sldId="309"/>
            <ac:spMk id="15" creationId="{00000000-0000-0000-0000-000000000000}"/>
          </ac:spMkLst>
        </pc:spChg>
        <pc:spChg chg="add del">
          <ac:chgData name="Nhan Pham Le" userId="6366da15f1f739f9" providerId="LiveId" clId="{B7E72FC1-F79A-4602-B51C-6ED1DC3BF548}" dt="2026-09-26T03:50:12.435" v="55" actId="478"/>
          <ac:spMkLst>
            <pc:docMk/>
            <pc:sldMk cId="2305079537" sldId="309"/>
            <ac:spMk id="19" creationId="{00000000-0000-0000-0000-000000000000}"/>
          </ac:spMkLst>
        </pc:spChg>
        <pc:spChg chg="del">
          <ac:chgData name="Nhan Pham Le" userId="6366da15f1f739f9" providerId="LiveId" clId="{B7E72FC1-F79A-4602-B51C-6ED1DC3BF548}" dt="2026-09-26T03:49:31.084" v="23" actId="478"/>
          <ac:spMkLst>
            <pc:docMk/>
            <pc:sldMk cId="2305079537" sldId="309"/>
            <ac:spMk id="26" creationId="{00000000-0000-0000-0000-000000000000}"/>
          </ac:spMkLst>
        </pc:spChg>
        <pc:picChg chg="add mod">
          <ac:chgData name="Nhan Pham Le" userId="6366da15f1f739f9" providerId="LiveId" clId="{B7E72FC1-F79A-4602-B51C-6ED1DC3BF548}" dt="2026-09-26T03:51:00.474" v="73" actId="1076"/>
          <ac:picMkLst>
            <pc:docMk/>
            <pc:sldMk cId="2305079537" sldId="309"/>
            <ac:picMk id="3" creationId="{3C617E78-B8BD-D553-69B2-2A5B3120DB34}"/>
          </ac:picMkLst>
        </pc:picChg>
        <pc:picChg chg="add del mod">
          <ac:chgData name="Nhan Pham Le" userId="6366da15f1f739f9" providerId="LiveId" clId="{B7E72FC1-F79A-4602-B51C-6ED1DC3BF548}" dt="2026-09-26T03:49:54.698" v="51" actId="931"/>
          <ac:picMkLst>
            <pc:docMk/>
            <pc:sldMk cId="2305079537" sldId="309"/>
            <ac:picMk id="5" creationId="{989499CC-C265-5E62-B7BC-31A300092470}"/>
          </ac:picMkLst>
        </pc:picChg>
        <pc:picChg chg="add mod">
          <ac:chgData name="Nhan Pham Le" userId="6366da15f1f739f9" providerId="LiveId" clId="{B7E72FC1-F79A-4602-B51C-6ED1DC3BF548}" dt="2026-09-26T03:50:39.909" v="70" actId="1076"/>
          <ac:picMkLst>
            <pc:docMk/>
            <pc:sldMk cId="2305079537" sldId="309"/>
            <ac:picMk id="6" creationId="{DD883AE4-6470-0C84-0E26-C702578F279A}"/>
          </ac:picMkLst>
        </pc:picChg>
        <pc:picChg chg="add mod">
          <ac:chgData name="Nhan Pham Le" userId="6366da15f1f739f9" providerId="LiveId" clId="{B7E72FC1-F79A-4602-B51C-6ED1DC3BF548}" dt="2026-09-26T03:51:11.711" v="79" actId="1076"/>
          <ac:picMkLst>
            <pc:docMk/>
            <pc:sldMk cId="2305079537" sldId="309"/>
            <ac:picMk id="8" creationId="{3F45C3E1-B429-9813-BF6A-49EEE0488E98}"/>
          </ac:picMkLst>
        </pc:picChg>
      </pc:sldChg>
      <pc:sldChg chg="addSp delSp modSp mod">
        <pc:chgData name="Nhan Pham Le" userId="6366da15f1f739f9" providerId="LiveId" clId="{B7E72FC1-F79A-4602-B51C-6ED1DC3BF548}" dt="2026-09-27T12:45:57.791" v="170" actId="1076"/>
        <pc:sldMkLst>
          <pc:docMk/>
          <pc:sldMk cId="581420438" sldId="311"/>
        </pc:sldMkLst>
        <pc:spChg chg="del">
          <ac:chgData name="Nhan Pham Le" userId="6366da15f1f739f9" providerId="LiveId" clId="{B7E72FC1-F79A-4602-B51C-6ED1DC3BF548}" dt="2026-09-26T03:24:48.767" v="5" actId="478"/>
          <ac:spMkLst>
            <pc:docMk/>
            <pc:sldMk cId="581420438" sldId="311"/>
            <ac:spMk id="13" creationId="{00000000-0000-0000-0000-000000000000}"/>
          </ac:spMkLst>
        </pc:spChg>
        <pc:picChg chg="add mod">
          <ac:chgData name="Nhan Pham Le" userId="6366da15f1f739f9" providerId="LiveId" clId="{B7E72FC1-F79A-4602-B51C-6ED1DC3BF548}" dt="2026-09-27T12:45:57.791" v="170" actId="1076"/>
          <ac:picMkLst>
            <pc:docMk/>
            <pc:sldMk cId="581420438" sldId="311"/>
            <ac:picMk id="2" creationId="{98605493-0F18-F786-A36C-68C4B37DD16E}"/>
          </ac:picMkLst>
        </pc:picChg>
      </pc:sldChg>
      <pc:sldChg chg="addSp modSp mod">
        <pc:chgData name="Nhan Pham Le" userId="6366da15f1f739f9" providerId="LiveId" clId="{B7E72FC1-F79A-4602-B51C-6ED1DC3BF548}" dt="2026-09-26T04:33:33.870" v="123" actId="1076"/>
        <pc:sldMkLst>
          <pc:docMk/>
          <pc:sldMk cId="4276141528" sldId="312"/>
        </pc:sldMkLst>
        <pc:picChg chg="add mod">
          <ac:chgData name="Nhan Pham Le" userId="6366da15f1f739f9" providerId="LiveId" clId="{B7E72FC1-F79A-4602-B51C-6ED1DC3BF548}" dt="2026-09-26T04:33:33.870" v="123" actId="1076"/>
          <ac:picMkLst>
            <pc:docMk/>
            <pc:sldMk cId="4276141528" sldId="312"/>
            <ac:picMk id="3" creationId="{86E05C74-85F6-F0AB-5F35-FCEC61971E81}"/>
          </ac:picMkLst>
        </pc:picChg>
      </pc:sldChg>
      <pc:sldChg chg="addSp delSp modSp mod">
        <pc:chgData name="Nhan Pham Le" userId="6366da15f1f739f9" providerId="LiveId" clId="{B7E72FC1-F79A-4602-B51C-6ED1DC3BF548}" dt="2026-09-26T03:58:45.692" v="88" actId="1076"/>
        <pc:sldMkLst>
          <pc:docMk/>
          <pc:sldMk cId="2738025778" sldId="313"/>
        </pc:sldMkLst>
        <pc:spChg chg="del mod">
          <ac:chgData name="Nhan Pham Le" userId="6366da15f1f739f9" providerId="LiveId" clId="{B7E72FC1-F79A-4602-B51C-6ED1DC3BF548}" dt="2026-09-26T03:58:36.896" v="84" actId="478"/>
          <ac:spMkLst>
            <pc:docMk/>
            <pc:sldMk cId="2738025778" sldId="313"/>
            <ac:spMk id="21" creationId="{00000000-0000-0000-0000-000000000000}"/>
          </ac:spMkLst>
        </pc:spChg>
        <pc:picChg chg="add mod">
          <ac:chgData name="Nhan Pham Le" userId="6366da15f1f739f9" providerId="LiveId" clId="{B7E72FC1-F79A-4602-B51C-6ED1DC3BF548}" dt="2026-09-26T03:58:45.692" v="88" actId="1076"/>
          <ac:picMkLst>
            <pc:docMk/>
            <pc:sldMk cId="2738025778" sldId="313"/>
            <ac:picMk id="2" creationId="{AAB78CDC-E109-F1A3-2B4E-ECC07A0591AD}"/>
          </ac:picMkLst>
        </pc:picChg>
      </pc:sldChg>
      <pc:sldChg chg="addSp delSp modSp mod">
        <pc:chgData name="Nhan Pham Le" userId="6366da15f1f739f9" providerId="LiveId" clId="{B7E72FC1-F79A-4602-B51C-6ED1DC3BF548}" dt="2026-09-26T04:17:16.854" v="110"/>
        <pc:sldMkLst>
          <pc:docMk/>
          <pc:sldMk cId="3127729708" sldId="314"/>
        </pc:sldMkLst>
        <pc:spChg chg="del">
          <ac:chgData name="Nhan Pham Le" userId="6366da15f1f739f9" providerId="LiveId" clId="{B7E72FC1-F79A-4602-B51C-6ED1DC3BF548}" dt="2026-09-26T04:08:34.452" v="92" actId="478"/>
          <ac:spMkLst>
            <pc:docMk/>
            <pc:sldMk cId="3127729708" sldId="314"/>
            <ac:spMk id="15" creationId="{00000000-0000-0000-0000-000000000000}"/>
          </ac:spMkLst>
        </pc:spChg>
        <pc:spChg chg="del">
          <ac:chgData name="Nhan Pham Le" userId="6366da15f1f739f9" providerId="LiveId" clId="{B7E72FC1-F79A-4602-B51C-6ED1DC3BF548}" dt="2026-09-26T04:09:20.617" v="96" actId="478"/>
          <ac:spMkLst>
            <pc:docMk/>
            <pc:sldMk cId="3127729708" sldId="314"/>
            <ac:spMk id="23" creationId="{00000000-0000-0000-0000-000000000000}"/>
          </ac:spMkLst>
        </pc:spChg>
        <pc:picChg chg="add mod">
          <ac:chgData name="Nhan Pham Le" userId="6366da15f1f739f9" providerId="LiveId" clId="{B7E72FC1-F79A-4602-B51C-6ED1DC3BF548}" dt="2026-09-26T04:17:16.854" v="106"/>
          <ac:picMkLst>
            <pc:docMk/>
            <pc:sldMk cId="3127729708" sldId="314"/>
            <ac:picMk id="2" creationId="{D9B43E15-821C-27C4-802B-45F8A890A497}"/>
          </ac:picMkLst>
        </pc:picChg>
        <pc:picChg chg="add mod">
          <ac:chgData name="Nhan Pham Le" userId="6366da15f1f739f9" providerId="LiveId" clId="{B7E72FC1-F79A-4602-B51C-6ED1DC3BF548}" dt="2026-09-26T04:17:16.854" v="110"/>
          <ac:picMkLst>
            <pc:docMk/>
            <pc:sldMk cId="3127729708" sldId="314"/>
            <ac:picMk id="4" creationId="{90577642-D658-1AD2-2A99-A06066F85288}"/>
          </ac:picMkLst>
        </pc:picChg>
      </pc:sldChg>
      <pc:sldChg chg="addSp modSp mod">
        <pc:chgData name="Nhan Pham Le" userId="6366da15f1f739f9" providerId="LiveId" clId="{B7E72FC1-F79A-4602-B51C-6ED1DC3BF548}" dt="2026-09-26T04:31:35.753" v="119" actId="1076"/>
        <pc:sldMkLst>
          <pc:docMk/>
          <pc:sldMk cId="3367633301" sldId="315"/>
        </pc:sldMkLst>
        <pc:picChg chg="add mod">
          <ac:chgData name="Nhan Pham Le" userId="6366da15f1f739f9" providerId="LiveId" clId="{B7E72FC1-F79A-4602-B51C-6ED1DC3BF548}" dt="2026-09-26T04:29:20.508" v="114" actId="1076"/>
          <ac:picMkLst>
            <pc:docMk/>
            <pc:sldMk cId="3367633301" sldId="315"/>
            <ac:picMk id="3" creationId="{2C4DBD73-1E69-54EA-EE3A-DDB5DAA27206}"/>
          </ac:picMkLst>
        </pc:picChg>
        <pc:picChg chg="add mod">
          <ac:chgData name="Nhan Pham Le" userId="6366da15f1f739f9" providerId="LiveId" clId="{B7E72FC1-F79A-4602-B51C-6ED1DC3BF548}" dt="2026-09-26T04:31:35.753" v="119" actId="1076"/>
          <ac:picMkLst>
            <pc:docMk/>
            <pc:sldMk cId="3367633301" sldId="315"/>
            <ac:picMk id="5" creationId="{4271772C-46F6-5A6B-E0CD-7A39AFBB231A}"/>
          </ac:picMkLst>
        </pc:picChg>
      </pc:sldChg>
      <pc:sldChg chg="addSp delSp modSp mod">
        <pc:chgData name="Nhan Pham Le" userId="6366da15f1f739f9" providerId="LiveId" clId="{B7E72FC1-F79A-4602-B51C-6ED1DC3BF548}" dt="2026-09-26T04:36:52.633" v="131" actId="1076"/>
        <pc:sldMkLst>
          <pc:docMk/>
          <pc:sldMk cId="4045343611" sldId="318"/>
        </pc:sldMkLst>
        <pc:spChg chg="del">
          <ac:chgData name="Nhan Pham Le" userId="6366da15f1f739f9" providerId="LiveId" clId="{B7E72FC1-F79A-4602-B51C-6ED1DC3BF548}" dt="2026-09-26T04:36:45.842" v="127" actId="478"/>
          <ac:spMkLst>
            <pc:docMk/>
            <pc:sldMk cId="4045343611" sldId="318"/>
            <ac:spMk id="26" creationId="{00000000-0000-0000-0000-000000000000}"/>
          </ac:spMkLst>
        </pc:spChg>
        <pc:picChg chg="add mod">
          <ac:chgData name="Nhan Pham Le" userId="6366da15f1f739f9" providerId="LiveId" clId="{B7E72FC1-F79A-4602-B51C-6ED1DC3BF548}" dt="2026-09-26T04:36:52.633" v="131" actId="1076"/>
          <ac:picMkLst>
            <pc:docMk/>
            <pc:sldMk cId="4045343611" sldId="318"/>
            <ac:picMk id="3" creationId="{AFC4F2DD-C53F-E88B-10F6-C3CEBA05A009}"/>
          </ac:picMkLst>
        </pc:picChg>
      </pc:sldChg>
      <pc:sldChg chg="addSp delSp modSp mod">
        <pc:chgData name="Nhan Pham Le" userId="6366da15f1f739f9" providerId="LiveId" clId="{B7E72FC1-F79A-4602-B51C-6ED1DC3BF548}" dt="2026-09-26T10:32:30.127" v="141" actId="962"/>
        <pc:sldMkLst>
          <pc:docMk/>
          <pc:sldMk cId="3317628156" sldId="322"/>
        </pc:sldMkLst>
        <pc:spChg chg="del">
          <ac:chgData name="Nhan Pham Le" userId="6366da15f1f739f9" providerId="LiveId" clId="{B7E72FC1-F79A-4602-B51C-6ED1DC3BF548}" dt="2026-09-26T10:32:04.859" v="139" actId="478"/>
          <ac:spMkLst>
            <pc:docMk/>
            <pc:sldMk cId="3317628156" sldId="322"/>
            <ac:spMk id="15" creationId="{00000000-0000-0000-0000-000000000000}"/>
          </ac:spMkLst>
        </pc:spChg>
        <pc:picChg chg="add mod">
          <ac:chgData name="Nhan Pham Le" userId="6366da15f1f739f9" providerId="LiveId" clId="{B7E72FC1-F79A-4602-B51C-6ED1DC3BF548}" dt="2026-09-26T10:32:30.127" v="141" actId="962"/>
          <ac:picMkLst>
            <pc:docMk/>
            <pc:sldMk cId="3317628156" sldId="322"/>
            <ac:picMk id="3" creationId="{EBEEDFE3-3F9B-C84C-2D4E-2A98C806E7C3}"/>
          </ac:picMkLst>
        </pc:picChg>
      </pc:sldChg>
      <pc:sldChg chg="modSp mod">
        <pc:chgData name="Nhan Pham Le" userId="6366da15f1f739f9" providerId="LiveId" clId="{B7E72FC1-F79A-4602-B51C-6ED1DC3BF548}" dt="2026-09-27T06:47:11.517" v="162" actId="20577"/>
        <pc:sldMkLst>
          <pc:docMk/>
          <pc:sldMk cId="866443025" sldId="342"/>
        </pc:sldMkLst>
        <pc:spChg chg="mod">
          <ac:chgData name="Nhan Pham Le" userId="6366da15f1f739f9" providerId="LiveId" clId="{B7E72FC1-F79A-4602-B51C-6ED1DC3BF548}" dt="2026-09-27T06:47:11.517" v="162" actId="20577"/>
          <ac:spMkLst>
            <pc:docMk/>
            <pc:sldMk cId="866443025" sldId="342"/>
            <ac:spMk id="15" creationId="{00000000-0000-0000-0000-000000000000}"/>
          </ac:spMkLst>
        </pc:spChg>
      </pc:sldChg>
      <pc:sldChg chg="modSp mod">
        <pc:chgData name="Nhan Pham Le" userId="6366da15f1f739f9" providerId="LiveId" clId="{B7E72FC1-F79A-4602-B51C-6ED1DC3BF548}" dt="2026-09-27T06:37:38.965" v="161" actId="1036"/>
        <pc:sldMkLst>
          <pc:docMk/>
          <pc:sldMk cId="1573090695" sldId="344"/>
        </pc:sldMkLst>
        <pc:spChg chg="mod">
          <ac:chgData name="Nhan Pham Le" userId="6366da15f1f739f9" providerId="LiveId" clId="{B7E72FC1-F79A-4602-B51C-6ED1DC3BF548}" dt="2026-09-27T06:37:38.965" v="161" actId="1036"/>
          <ac:spMkLst>
            <pc:docMk/>
            <pc:sldMk cId="1573090695" sldId="344"/>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EE4C46-C12C-FA42-B2D3-1CBB24092E48}" type="datetimeFigureOut">
              <a:rPr lang="en-US" smtClean="0"/>
              <a:t>27/9/2026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47CC85-BE76-EA4B-8DBD-E5CC9E8FEA7A}" type="slidenum">
              <a:rPr lang="en-US" smtClean="0"/>
              <a:t>‹#›</a:t>
            </a:fld>
            <a:endParaRPr lang="en-US"/>
          </a:p>
        </p:txBody>
      </p:sp>
    </p:spTree>
    <p:extLst>
      <p:ext uri="{BB962C8B-B14F-4D97-AF65-F5344CB8AC3E}">
        <p14:creationId xmlns:p14="http://schemas.microsoft.com/office/powerpoint/2010/main" val="1091028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Thời lượng: 0,5 phút.</a:t>
            </a:r>
          </a:p>
          <a:p>
            <a:r>
              <a:t>LỜI GIẢNG</a:t>
            </a:r>
          </a:p>
          <a:p>
            <a:r>
              <a:t>Chào cả lớp, chào mừng đến Buổi 5. Buổi trước các bạn đã có sáu bảng sạch, tự cập nhật bằng một nút Refresh. Hôm nay mình nối sáu bảng đó thành một mô hình, và viết công thức KPI một lần để mọi báo cáo dùng chung.</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 phút.</a:t>
            </a:r>
          </a:p>
          <a:p>
            <a:r>
              <a:t>LỜI GIẢNG</a:t>
            </a:r>
          </a:p>
          <a:p>
            <a:r>
              <a:t>Câu hỏi hôm nay có hai nửa. Nửa đầu dễ: tháng này đạt bao nhiêu phần trăm mục tiêu. Nửa sau mới là chuyện thật ở công ty: vì sao mỗi báo cáo lại ra một con số khác nhau?</a:t>
            </a:r>
          </a:p>
          <a:p>
            <a:r>
              <a:t>Ví dụ trên slide. Cùng dữ liệu Quý 1, báo cáo A ghi biên lợi nhuận gộp 34,18%, báo cáo B ghi 33,77%. Không ai bịa số. Báo cáo A lấy tổng lợi nhuận chia tổng doanh thu, đúng như bảng KPI_SUMIFS các bạn làm ở Buổi 2. Báo cáo B tính biên lợi nhuận cho từng dòng rồi lấy trung bình. Hai công thức, hai con số, và cuộc họp mất nửa tiếng để cãi xem số nào đúng.</a:t>
            </a:r>
          </a:p>
          <a:p>
            <a:r>
              <a:t>Đây là câu hỏi Tầng 3 — vì sao. Cuối buổi các bạn sẽ có câu trả lời cho cả hai nửa: một mô hình dữ liệu, và mỗi KPI chỉ có một định nghĩa duy nhất.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2,5 phút.</a:t>
            </a:r>
          </a:p>
          <a:p>
            <a:r>
              <a:t>LỜI GIẢNG</a:t>
            </a:r>
          </a:p>
          <a:p>
            <a:r>
              <a:t>(→ mở ../B4_Power_Query/Practice/B4_MCI_Mart_Answer.xlsx, sheet Kiem_tra_B4) Nhắc nhanh buổi trước: sáu bảng sạch, Sales ba mươi nghìn hai trăm bốn mươi bảy dòng, mười dòng đối soát đều tick xanh.</a:t>
            </a:r>
          </a:p>
          <a:p>
            <a:r>
              <a:t>Bài về nhà: tháng 4, mỗi cửa hàng một file. Bạn nào đối soát với số liệu hệ thống thì phát hiện ST07 thiếu nửa tháng — chưa thêm file bổ sung, ST07 chỉ đạt 54,3% target; thêm vào thì lên 97,4%. (→ nếu còn thời gian: mở ../B4_Power_Query/Homework/B4_BTVN_MCI_Mart_T4_2025_Answer.xlsx, sheet KetQua_T4) Đối soát trước, kết luận sau — hôm nay mình còn dùng thói quen đó nhiều lần.</a:t>
            </a:r>
          </a:p>
          <a:p>
            <a:r>
              <a:t>File khởi đầu hôm nay là chính file đáp án Buổi 4. Các bạn lưu thành B5_&lt;HoTen&gt;.xlsx. Một lưu ý quan trọng: hôm nay không bấm Refresh All. Dữ liệu đã nằm sẵn trong Data Model; tham số thư mục trong file đang trỏ tới máy khác, bấm Refresh chỉ ra lỗi.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1: mở Data Model ra xem, và hiểu vì sao mình giữ các bảng riêng thay vì gộp thành một bảng khổng lồ.</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mở Demo/B5_Demo_Model.xlsx: Data → Manage Data Model) Đây là cửa sổ Power Pivot, một cửa sổ riêng. Mọi thứ Buổi 4 nạp vào Data Model nằm ở đây. (→ chỉ các tab dưới cùng) Sáu tab, sáu bảng: Sales, Product, Store, Customer, Target, Calendar. (→ bấm tab Sales, chỉ dòng Record ở dưới cùng: 1 of 30,247) Sales: ba mươi nghìn hai trăm bốn mươi bảy dòng — đúng con số đối soát cuối Buổi 4.</a:t>
            </a:r>
          </a:p>
          <a:p>
            <a:r>
              <a:t>Đây là Data View: xem dữ liệu theo dạng bảng. Nó giống worksheet nhưng không sửa được từng ô; dữ liệu đến từ Power Query, muốn sửa thì sửa ở query.</a:t>
            </a:r>
          </a:p>
          <a:p>
            <a:r>
              <a:t>(→ Home → Diagram View) Còn đây là Diagram View. Mỗi bảng là một hộp, liệt kê tên cột. Câu hỏi cho lớp: nhìn sơ đồ này, các bạn thấy thiếu gì? (→ chờ) Thiếu đường nối. Sáu bảng đứng rời nhau — đúng giới hạn mình nói ở cuối Buổi 4. Nối chúng lại là việc của Phần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Buổi 2 các bạn đã gặp chữ grain: một dòng của bảng là một cái gì. Hôm nay mình chia bảng thành hai loại theo vai trò.</a:t>
            </a:r>
          </a:p>
          <a:p>
            <a:r>
              <a:t>Bảng fact ghi sự kiện: mỗi lần bán một sản phẩm là một dòng Sales. Bảng fact dài, và có cột số để cộng — Quantity, Revenue. Bảng lookup mô tả đối tượng: mỗi sản phẩm một dòng, mỗi cửa hàng một dòng, mỗi ngày một dòng. Bảng lookup ngắn, chủ yếu là chữ.</a:t>
            </a:r>
          </a:p>
          <a:p>
            <a:r>
              <a:t>Nguyên tắc normalization: mỗi thông tin chỉ lưu một chỗ. Tên ngành "Bánh kẹo" nằm một lần ở bảng Product, không lặp lại trên hàng nghìn dòng bán hàng.</a:t>
            </a:r>
          </a:p>
          <a:p>
            <a:r>
              <a:t>Câu hỏi cho lớp: bảng Target là fact hay lookup? (→ chờ) Target ghi một con số — doanh thu kế hoạch — cho mỗi cửa hàng mỗi tháng. Nó là fact: fact thứ hai, với grain khác hẳn Sales. Sales chi tiết tới từng dòng đơn; Target chỉ tới tháng và cửa hàng, không có sản phẩm. Nhớ chi tiết này, Phần 2 nó sẽ gây ra một con số rất lạ.</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Muốn nối bảng thì cần khóa. Ở bảng lookup, cột khóa gọi là primary key — khóa chính: mỗi giá trị chỉ xuất hiện một lần. Bốn mươi sản phẩm, bốn mươi mã. Ở bảng fact, cùng cột đó gọi là foreign key — khóa ngoại: một mã sản phẩm xuất hiện ở hàng trăm dòng bán hàng.</a:t>
            </a:r>
          </a:p>
          <a:p>
            <a:r>
              <a:t>Các bạn đã gặp khóa ba lần rồi. Buổi 2, XLOOKUP sai vì P021 trùng. Buổi 4, Merge làm Sales phình ra vì P015 trùng. Hôm nay quy tắc vẫn vậy, chỉ chặt hơn: khóa chính trùng thì Data Model không cho tạo quan hệ.</a:t>
            </a:r>
          </a:p>
          <a:p>
            <a:r>
              <a:t>Để ý dòng Calendar: khóa chính là Date, mỗi ngày một dòng. Sales nối vào bằng Order_Date, còn Target nối vào bằng Ngay_Dau_Thang — cái cột ngày đầu tháng các bạn thêm ở Buổi 4. Hôm nay nó phát huy tác dụng.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Câu hỏi cho lớp: Buổi 4 mình đã biết Merge. Sao không Merge hết Product, Store, Customer vào Sales cho xong? (→ chờ)</a:t>
            </a:r>
          </a:p>
          <a:p>
            <a:r>
              <a:t>Làm được, nhưng tốn. Merge cả ba lookup thì mỗi dòng trong ba mươi nghìn dòng Sales phải mang thêm mười lăm cột mô tả: tên sản phẩm, ngành, tên cửa hàng, miền, phân khúc khách… Cộng lại hơn bốn trăm năm mươi nghìn ô, toàn là thông tin lặp. Giữ các bảng riêng thì chỉ cần hơn chín nghìn ô. Và nhớ cái bẫy Buổi 4: lookup trùng một khóa, Merge làm số dòng phình từ 28.328 lên 29.408 mà không báo lỗi nào.</a:t>
            </a:r>
          </a:p>
          <a:p>
            <a:r>
              <a:t>Relationship làm điều ngược lại: không chép gì cả. Mỗi bảng ở yên chỗ của nó, chỉ nối với nhau bằng khóa. Pivot muốn lấy "ngành hàng" thì đi theo đường nối sang bảng Product. Hình dạng của mô hình này có tên riêng: star schema — hình ngôi sao, fact ở giữa, lookup xung quanh. Mình dựng nó ngay bây giờ.</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2: tạo relationship, và đưa fact thứ hai — Target — vào mô hình.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Diagram View: kéo cột Product_Code trong hộp Sales, thả lên Product_Code trong hộp Product) Kéo từ bảng fact, thả lên bảng lookup. Một đường nối xuất hiện. (→ làm tương tự: Sales[Store_Code] → Store[Store_Code], Sales[Customer_ID] → Customer[Customer_ID])</a:t>
            </a:r>
          </a:p>
          <a:p>
            <a:r>
              <a:t>Cái thứ tư mình làm bằng hộp thoại, để các bạn biết cách thứ hai. (→ Design → Create Relationship: bảng Sales, cột Order_Date; bảng Calendar, cột Date → OK) Cách này hữu ích khi sơ đồ có nhiều bảng, kéo thả dễ nhầm.</a:t>
            </a:r>
          </a:p>
          <a:p>
            <a:r>
              <a:t>(→ kéo hộp Sales vào giữa, bốn lookup xung quanh) Nhìn kỹ một đường nối: đầu phía Product có số 1, đầu phía Sales có dấu sao. Câu hỏi cho lớp: số 1 và dấu sao nói gì? (→ chờ) Một sản phẩm, xuất hiện ở nhiều dòng bán hàng. Một – nhiều. Slide sau mình nói kỹ.</a:t>
            </a:r>
          </a:p>
          <a:p>
            <a:r>
              <a:t>(→ Design → Manage Relationships) Đây là danh sách mọi quan hệ — bốn dòng. Muốn sửa hay xóa thì vào đây.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3,5 phút.</a:t>
            </a:r>
          </a:p>
          <a:p>
            <a:r>
              <a:t>LỜI GIẢNG</a:t>
            </a:r>
          </a:p>
          <a:p>
            <a:r>
              <a:t>Cardinality nghe khó nhưng ý đơn giản: ở mỗi đầu đường nối, khóa duy nhất hay lặp lại. Đầu lookup duy nhất — số 1. Đầu fact lặp lại — dấu sao. Quan hệ chuẩn trong Data Model là một – nhiều.</a:t>
            </a:r>
          </a:p>
          <a:p>
            <a:r>
              <a:t>Quan trọng hơn là hướng lọc. Bộ lọc chảy như nước, từ trên xuống: từ lookup xuống fact. Các bạn chọn miền Nam ở bảng Store, bộ lọc chảy theo đường nối xuống Sales, Sales chỉ còn các dòng của cửa hàng miền Nam. Chiều ngược lại thì không: lọc bảng Sales không làm bảng Store ngắn đi.</a:t>
            </a:r>
          </a:p>
          <a:p>
            <a:r>
              <a:t>Và một quy tắc vàng: không nối thẳng hai bảng fact với nhau. Sales và Target đều có Store_Code, nhưng chúng gặp nhau qua bảng Store — lookup chung. Slide sau sẽ cho thấy vì sao quy tắc này quan trọng.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Giờ đưa Target vào báo cáo. Mình cố ý làm "sai" trước. (→ Insert → PivotTable ▾ → From Data Model → New Worksheet; đổi tên sheet thành PV_Grain) PivotTable From Data Model đọc thẳng mô hình, nên danh sách trường có đủ sáu bảng. (→ Rows: Product → Category; Values: tick Target → Target)</a:t>
            </a:r>
          </a:p>
          <a:p>
            <a:r>
              <a:t>Câu hỏi cho lớp: sáu ngành hàng, sáu dòng — mà dòng nào cũng 3.665.000.000. Vì sao? (→ chờ) Thanh vàng phía trên danh sách trường gợi ý: thiếu relationship. Target chưa nối với bảng nào. Nhưng sâu hơn: bảng Target không có cột sản phẩm — kế hoạch chỉ lập tới cửa hàng và tháng. Nên dù nối thế nào, ngành hàng cũng không lọc được Target. Pivot không biết chia, nên đưa cả tổng vào mọi dòng.</a:t>
            </a:r>
          </a:p>
          <a:p>
            <a:r>
              <a:t>Nối Target vào hai lookup nó có chung với Sales. (→ Diagram View: kéo Target[Store_Code] thả lên Store[Store_Code]; Design → Create Relationship: Target / Ngay_Dau_Thang — Calendar / Date → OK) Cột Ngay_Dau_Thang của Buổi 4 chính là cái móc để Target nối vào lịch.</a:t>
            </a:r>
          </a:p>
          <a:p>
            <a:r>
              <a:t>(→ quay lại PV_Grain: bỏ Category khỏi Rows, kéo Store → Region vào Rows) Giờ chia đúng: Bắc 1 tỷ 227 triệu, Trung 753 triệu, Nam 1 tỷ 685 triệu. (→ kéo Category trở lại Rows, dưới Region) Còn ngành hàng thì vẫn lặp lại — và đó là đúng. Target chỉ lọc được theo những chiều mà Target có: cửa hàng, miền, tháng. (→ Diagram View: chỉ hình ngôi sao có hai bảng ở giữa) Đây là brick output thứ nhất hôm nay: một mô hình ngôi sao với hai bảng fact, gặp nhau qua Store và Calendar.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3: hai cách viết công thức trong Data Model, và vì sao KPI phải chọn đúng cách.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 mở Demo/B5_Demo_DAX.xlsx: mô hình đã nối đủ 6 relationship, giống cuối Slide 12; học viên nào chưa kịp nối thì mở Demo/B5_Demo_DAX_HocVien.xlsx làm tiếp) Buổi 2 các bạn tính giá vốn bằng cách XLOOKUP Unit_Cost từ bảng Product về bảng Sales, rồi nhân với Quantity. Trong Data Model, việc đó gọn hơn nhiều.</a:t>
            </a:r>
          </a:p>
          <a:p>
            <a:r>
              <a:t>(→ Data View, tab Sales, bấm vào ô đầu tiên của cột Add Column; gõ trên thanh công thức =Sales[Quantity]*RELATED(Product[Unit_Cost]) → Enter) RELATED đi theo đường nối sang bảng Product, lấy Unit_Cost của đúng sản phẩm trên dòng đó. Không cần XLOOKUP, không cần khóa tuyệt đối — vì relationship đã làm việc nối. (→ double-click tiêu đề cột, đổi tên thành COGS)</a:t>
            </a:r>
          </a:p>
          <a:p>
            <a:r>
              <a:t>Đây là calculated column: tính một lần cho từng dòng, kết quả nằm trong bảng như một cột thật. Ba mươi nghìn dòng, ba mươi nghìn giá trị COGS. Cột kiểu này hợp với thuộc tính của từng dòng: giá vốn của dòng đó, nhóm của dòng đó.</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4 phút.</a:t>
            </a:r>
          </a:p>
          <a:p>
            <a:r>
              <a:t>LỜI GIẢNG</a:t>
            </a:r>
          </a:p>
          <a:p>
            <a:r>
              <a:t>[có thể rút gọn: chỉ nói, không làm demo] (→ Data View, Sales: Add Column =DIVIDE(Sales[Revenue]-Sales[COGS],Sales[Revenue]), đổi tên GM_Dong; Insert → PivotTable ▾ → From Data Model → New Worksheet, đổi tên sheet PV_Loc; Filters: Calendar → Nam = 2025, Calendar → Quy = 1; Values: GM_Dong, đổi sang Average, định dạng %) Mình thử tính biên lợi nhuận bằng calculated column: biên của từng dòng, rồi để Pivot lấy trung bình. Ra 33,77%. (→ thêm GM_Dong lần nữa, để Sum) Còn nếu Pivot cộng lại thì ra hai trăm nghìn phần trăm — vô nghĩa.</a:t>
            </a:r>
          </a:p>
          <a:p>
            <a:r>
              <a:t>(→ mở sheet KPI_SUMIFS, chỉ ô E30) Số đúng của Buổi 2 là 34,18%: tổng lợi nhuận chia tổng doanh thu. Vậy 33,77% ở slide mở đầu từ đâu ra — chính là trung bình của các tỷ lệ, cái bẫy "trung bình của trung bình" Buổi 2 đã gặp. Một dòng bán hộp kẹo mười nghìn đồng có trọng số ngang với một dòng bán bộ nồi sáu trăm nghìn.</a:t>
            </a:r>
          </a:p>
          <a:p>
            <a:r>
              <a:t>Quy tắc: KPI dạng tỷ lệ luôn là measure — tính tổng trước, chia sau, cho từng ô Pivot. (→ Data View: chuột phải tiêu đề GM_Dong → Delete Columns; giữ lại sheet PV_Loc) Xóa cột tạm này đi. Bảng so sánh trên slide là thứ các bạn cần nhớ: cột tính từng dòng và nằm ở hàng, cột; measure tính từng ô và nằm ở Values.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trên PV_Loc — hai trường GM_Dong đã tự biến mất khi xóa cột: tick Sales → Revenue) Tick cột Revenue, Pivot tự hiện "Sum of Revenue". Đây là implicit measure — measure ngầm. Tiện, nhưng không tên, không định dạng, và không dùng lại được trong công thức khác. (→ bỏ tick Revenue)</a:t>
            </a:r>
          </a:p>
          <a:p>
            <a:r>
              <a:t>Mình viết explicit measure. (→ Power Pivot → Measures → New Measure…; Table name: Sales; Measure name: Total Revenue; Formula: =SUM(Sales[Revenue]); bấm Check formula; Category: Number, tick Use 1000 separator, Decimal places 0 → OK) Có tên rõ ràng, có định dạng. Nó xuất hiện trong danh sách trường với biểu tượng fx. (→ tick Total Revenue vào Values) 941.454.000 — khớp Quý 1.</a:t>
            </a:r>
          </a:p>
          <a:p>
            <a:r>
              <a:t>(→ New Measure: Total COGS = SUM(Sales[COGS]), định dạng như trên) Tổng giá vốn. (→ New Measure: Gross Margin % = DIVIDE([Total Revenue]-[Total COGS],[Total Revenue]), Category: Percentage, 1 decimal → OK; tick vào Values) Và đây là điều hay nhất: measure gọi lại measure. Gross Margin % không cần biết doanh thu tính thế nào — nó dùng Total Revenue. Ra 34,2% — khớp KPI_SUMIFS. Từ giờ ai cần biên lợi nhuận chỉ kéo measure này vào; không ai phải tự nghĩ công thức nữa.</a:t>
            </a:r>
          </a:p>
          <a:p>
            <a:r>
              <a:t>DIVIDE thay cho dấu gạch chéo: nếu ô nào doanh thu bằng 0, DIVIDE trả về ô trống thay vì lỗi chia cho 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4: khái niệm khó nhất khóa học — lần thứ ba mình gặp nó, và lần này gọi đúng tên.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 phút.</a:t>
            </a:r>
          </a:p>
          <a:p>
            <a:r>
              <a:t>LỜI GIẢNG</a:t>
            </a:r>
          </a:p>
          <a:p>
            <a:r>
              <a:t>(→ trên PV_Loc: bỏ Gross Margin % và Total COGS khỏi Values, giữ Total Revenue; Rows: Store → Region; Columns: Calendar → Thang) Pivot quen thuộc: miền theo tháng, Quý 1/2025. (→ bấm ô Bắc × 3) Ô này: 90.210.000.</a:t>
            </a:r>
          </a:p>
          <a:p>
            <a:r>
              <a:t>(→ hiện hình xương sống) Các bạn đã gặp hình này hai lần. Buổi 2, nó là SUMIFS với hai tiêu chí: miền bằng Bắc, tháng bằng 3. (→ mở sheet KPI_SUMIFS, chỉ ô D6) Đúng 90.210.000. Buổi 3, nó là tọa độ của một ô Pivot. Hôm nay nó có tên chính thức trong DAX: filter context — ngữ cảnh lọc.</a:t>
            </a:r>
          </a:p>
          <a:p>
            <a:r>
              <a:t>Câu hỏi cho lớp: ô 90.210.000 đang bị lọc bởi những gì? (→ chờ) Ba bộ lọc: Region bằng Bắc từ hàng, Thang bằng 3 từ cột, Nam bằng 2025 — và Quy bằng 1 — từ vùng Filters. Measure tính ô này qua ba bước. Một: đọc tọa độ. Hai: bộ lọc chảy theo đường nối — Region = Bắc chảy từ Store xuống Sales, tháng và năm chảy từ Calendar xuống Sales. Ba: cộng Revenue của những dòng còn lại.</a:t>
            </a:r>
          </a:p>
          <a:p>
            <a:r>
              <a:t>Câu hỏi tiếp: còn ô Grand Total góc dưới bên phải thì sao? (→ chờ) Không có miền, không có tháng — chỉ còn Nam = 2025 và Quy = 1. Nên nó là cả Quý 1: 941.454.000, khớp ô E9 của KPI_SUMIFS. Cùng một công thức SUM(Sales[Revenue]), mỗi ô ra một số khác nhau, vì mỗi ô có ngữ cảnh lọc riêng. Đó là toàn bộ bí mật của measure.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7,5 phút.</a:t>
            </a:r>
          </a:p>
          <a:p>
            <a:r>
              <a:t>LỜI GIẢNG</a:t>
            </a:r>
          </a:p>
          <a:p>
            <a:r>
              <a:t>Một cái bẫy rất hay gặp. Bảng Sales có sẵn cột Nam và Thang từ Buổi 4. Calendar cũng có Nam và Thang. Dùng cột nào cũng được chứ?</a:t>
            </a:r>
          </a:p>
          <a:p>
            <a:r>
              <a:t>(→ Insert → PivotTable ▾ → From Data Model → New Worksheet, đổi tên sheet PV_Lookup_vs_Fact; Filters: Calendar → Nam = 2025; Rows: Calendar → Thang; Values: Total Revenue, Target → Target) Pivot bên trái lấy tháng từ Calendar: tháng 1 doanh thu 425 triệu 850, target 353 triệu; tháng 2 doanh thu 246 triệu, target 298 triệu. Từ tháng 5 trở đi chỉ có target, vì dữ liệu bán hàng mới tới tháng 4.</a:t>
            </a:r>
          </a:p>
          <a:p>
            <a:r>
              <a:t>(→ chép Pivot sang bên phải: chọn cả Pivot, Ctrl+C, dán ở cột F; trong Pivot mới: bỏ Calendar[Thang], kéo Sales → Thang vào Rows) Pivot bên phải lấy tháng từ bảng Sales. Doanh thu vẫn đúng. Nhưng target — 3.665.000.000 ở mọi dòng.</a:t>
            </a:r>
          </a:p>
          <a:p>
            <a:r>
              <a:t>Câu hỏi cho lớp: vì sao? (→ chờ) Nhớ hướng lọc: bộ lọc chảy từ lookup xuống fact. Thang của Calendar chảy xuống được cả Sales lẫn Target. Thang của Sales thì nằm ở đáy một bảng fact — nó lọc được chính Sales, nhưng không chảy sang Target, vì hai fact không nối thẳng với nhau.</a:t>
            </a:r>
          </a:p>
          <a:p>
            <a:r>
              <a:t>Quy tắc: hàng, cột, bộ lọc, slicer luôn lấy cột của bảng lookup. (→ xóa Pivot bên phải: chọn cả Pivot → Delete) Và để không ai kéo nhầm, mình giấu các cột khóa và cột ngày của bảng fact đi. (→ Power Pivot, Data View, bảng Sales: giữ Ctrl chọn tiêu đề Nam, Thang, Order_Date, Store_Code, Product_Code, Customer_ID → chuột phải → Hide from Client Tools; làm tương tự cho Target: Store_Code, Thang, Ngay_Dau_Thang) Cột chuyển màu xám trong Data View, và biến mất khỏi danh sách trường của Pivot.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5: nếu filter context là bộ lọc Pivot đặt lên mỗi ô, thì CALCULATE là cách mình đổi bộ lọc đó.</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5,5 phút.</a:t>
            </a:r>
          </a:p>
          <a:p>
            <a:r>
              <a:t>LỜI GIẢNG</a:t>
            </a:r>
          </a:p>
          <a:p>
            <a:r>
              <a:t>(→ trên PV_Loc: bỏ Calendar[Thang] khỏi Columns) Pivot còn ba miền, Quý 1. (→ New Measure: Revenue Mien Nam = CALCULATE([Total Revenue], Store[Region]="Nam"), định dạng số → OK; tick vào Values)</a:t>
            </a:r>
          </a:p>
          <a:p>
            <a:r>
              <a:t>Câu hỏi cho lớp: dòng Bắc, cột Revenue Mien Nam ra 427.663.000 — bằng đúng doanh thu miền Nam. Pivot có sai không? (→ chờ) Không sai. Ô đó có ngữ cảnh lọc Region = Bắc từ hàng. Nhưng CALCULATE nói: "bỏ bộ lọc Region đang có, thay bằng Region = Nam". Bộ lọc của CALCULATE thắng. Còn bộ lọc Nam = 2025, Quý 1 ở vùng Filters thì CALCULATE không đụng tới, nên vẫn là Quý 1.</a:t>
            </a:r>
          </a:p>
          <a:p>
            <a:r>
              <a:t>CALCULATE là hàm quan trọng nhất của DAX: giữ nguyên bộ lọc này, thay bộ lọc kia. Hai slide tới đều dựa vào nó. (→ Power Pivot → Measures → Manage Measures → chọn Revenue Mien Nam → Delete) Measure này chỉ để minh họa, mình xóa đi.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5 phút.</a:t>
            </a:r>
          </a:p>
          <a:p>
            <a:r>
              <a:t>LỜI GIẢNG</a:t>
            </a:r>
          </a:p>
          <a:p>
            <a:r>
              <a:t>Buổi 1 các bạn tính phần trăm đóng góp của từng miền: doanh thu miền chia ô tổng, và phải khóa ô tổng bằng dấu đô-la để kéo công thức không bị trượt. Trong DAX, "khóa mẫu số" làm bằng ALL.</a:t>
            </a:r>
          </a:p>
          <a:p>
            <a:r>
              <a:t>(→ New Measure: Revenue All Stores = CALCULATE([Total Revenue], ALL(Store)) → OK; tick vào Values) Mọi dòng đều 941.454.000. ALL(Store) xóa bộ lọc miền khỏi ô, nên mẫu số luôn là tổng các cửa hàng. Bộ lọc Quý 1 thì vẫn còn.</a:t>
            </a:r>
          </a:p>
          <a:p>
            <a:r>
              <a:t>(→ New Measure: % Revenue Share = DIVIDE([Total Revenue], [Revenue All Stores]), Percentage → OK; tick vào Values) Bắc 34,4%, Trung 20,2%, Nam 45,4%. Câu hỏi cho lớp: các bạn đã thấy ba con số này ở đâu? (→ chờ) Buổi 1, cột Pct_Share. Cùng một sự thật, giờ là một measure: đặt nó vào Pivot theo cửa hàng, theo tháng, theo ngành — nó tự tính lại, không cần dấu đô-la nào.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 phút.</a:t>
            </a:r>
          </a:p>
          <a:p>
            <a:r>
              <a:t>LỜI GIẢNG</a:t>
            </a:r>
          </a:p>
          <a:p>
            <a:r>
              <a:t>Giờ trả lời nửa đầu câu hỏi mở buổi. (→ New Measure, Table name: Target: Total Target = SUM(Target[Target]) → OK) Measure target nằm ở bảng Target cho dễ tìm. (→ New Measure, Table name: Sales: Revenue vs Target % = DIVIDE([Total Revenue],[Total Target]), Percentage → OK)</a:t>
            </a:r>
          </a:p>
          <a:p>
            <a:r>
              <a:t>(→ Insert → PivotTable ▾ → From Data Model → New Worksheet, đổi tên PV_Target; Filters: Calendar → Nam = 2025; Rows: Calendar → Thang; Values: Total Revenue, Total Target, Revenue vs Target %) Tháng 1: 120,6%. Tháng 2: 82,5%. Tháng 3: 94,6%. Tháng 4: 103,1%.</a:t>
            </a:r>
          </a:p>
          <a:p>
            <a:r>
              <a:t>Thêm chênh lệch tuyệt đối. (→ New Measure: Variance = [Total Revenue]-[Total Target] → OK; tick vào Values) Tháng 1 vượt 72 triệu 850. Nhưng nhìn tháng 5: âm 288 triệu. Câu hỏi cho lớp: tháng 5 bán kém đến vậy sao? (→ chờ) Tháng 5 chưa có dữ liệu. Doanh thu trống, trừ đi target thì ra số âm. Một con số như vậy mà lên báo cáo thì cả phòng kinh doanh bị gọi lên. (→ Manage Measures → Edit Variance: =IF(ISBLANK([Total Revenue]), BLANK(), [Total Revenue]-[Total Target]) → OK) Chưa có doanh thu thì để trống. Tháng 5 trở đi giờ chỉ còn target.</a:t>
            </a:r>
          </a:p>
          <a:p>
            <a:r>
              <a:t>Còn một chuyện lạ: tháng 1 vượt khoảng 21%, tháng 2 hụt khoảng 17%. (→ chờ một nhịp) Buổi 4 các bạn đã thấy trong Calendar: Tết 2025 rơi vào 29/01, Tết 2024 rơi vào 10/02. Năm nay cả mùa mua sắm trước Tết nằm trọn trong tháng 1, còn kỳ nghỉ Tết kéo tháng 2 xuống. Năm ngoái mùa mua sắm trải qua cả cuối tháng 1 lẫn đầu tháng 2. Target lại được lập bằng doanh thu cùng tháng dương lịch năm trước nhân 110% — nên tháng 1 bị đặt thấp, tháng 2 bị đặt cao. Gộp hai tháng lại thì đạt 103,2%. Tháng 2 không bán kém — target lệch mùa Tết. Đây là câu trả lời Tầng 3 cho chữ "vì sao".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3 phút.</a:t>
            </a:r>
          </a:p>
          <a:p>
            <a:r>
              <a:t>LỜI GIẢNG</a:t>
            </a:r>
          </a:p>
          <a:p>
            <a:r>
              <a:t>(→ trên PV_Target: Rows đổi thành Product → Category; Filters thêm Calendar → Quy = 1) Theo ngành, Quý 1: Bánh kẹo đạt 36%, Sữa đạt chưa tới 2%. Câu hỏi cho lớp: ngành Sữa thảm hại vậy sao? (→ chờ) Không. Target không có ngành, nên mẫu số ở mọi dòng là target của cả chuỗi. Con số này không có nghĩa gì. Measure không báo lỗi — người dùng phải biết giới hạn của nó, và mình ghi giới hạn đó vào KPI dictionary ở Phần 7.</a:t>
            </a:r>
          </a:p>
          <a:p>
            <a:r>
              <a:t>(→ bỏ Quy khỏi Filters; Rows: Store → Store_Code; Columns: Calendar → Thang; Values chỉ giữ Revenue vs Target %; Row Labels/Column Labels lọc tháng 1–4) Theo cửa hàng và tháng thì có nghĩa. (→ bấm ô ST07 × 3) ST07 tháng 3: 44,9%. Buổi 3 các bạn đã dùng Show Details để thấy cửa hàng Nha Trang cải tạo từ 10 đến 31/03. Tháng 4 lên lại 97,4% — đúng con số bài về nhà Buổi 4. Một câu chuyện, ba buổi, ba công cụ, cùng một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6: hai câu hỏi sếp nào cũng hỏi — từ đầu năm tới giờ bao nhiêu, và so với năm ngoái thế nào.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8 phút.</a:t>
            </a:r>
          </a:p>
          <a:p>
            <a:r>
              <a:t>LỜI GIẢNG</a:t>
            </a:r>
          </a:p>
          <a:p>
            <a:r>
              <a:t>Trước hết, cho mô hình biết đâu là bảng lịch. (→ cửa sổ Power Pivot, tab Calendar → Design → Mark as Date Table → Date column: Date → OK) Điều kiện: mỗi ngày đúng một dòng, không bỏ sót ngày nào. Calendar Buổi 4 dựng từ 01/01/2024 đến 31/12/2025, bảy trăm ba mươi mốt ngày liên tục — đạt.</a:t>
            </a:r>
          </a:p>
          <a:p>
            <a:r>
              <a:t>(→ New Measure: Revenue YTD = CALCULATE([Total Revenue], DATESYTD(Calendar[Date]))) Lại là CALCULATE: giữ năm của ô, nhưng thay bộ lọc ngày bằng "từ 1/1 tới ngày cuối của ô". (→ New Measure: Revenue LY = CALCULATE([Total Revenue], DATEADD(Calendar[Date], -1, YEAR))) Và cùng kỳ năm trước: dịch các ngày của ô lùi một năm.</a:t>
            </a:r>
          </a:p>
          <a:p>
            <a:r>
              <a:t>(→ Insert → PivotTable ▾ → From Data Model → New Worksheet, đổi tên PV_YoY; Filters: Calendar → Nam = 2025; Rows: Calendar → Thang; Values: Total Revenue, Revenue LY, Revenue YTD) Tháng 1/2025: 425 triệu 850; cùng kỳ năm trước 298 triệu 203. Lũy kế tới tháng 4: 1 tỷ 238 triệu.</a:t>
            </a:r>
          </a:p>
          <a:p>
            <a:r>
              <a:t>(→ New Measure: Revenue YoY % = DIVIDE([Total Revenue]-[Revenue LY],[Revenue LY]), Percentage → OK; tick vào Values) Tháng 1 tăng 42,8%, tháng 2 giảm 0,9%. Câu hỏi cho lớp: tháng 1 tăng gần 43% so với năm ngoái — có đáng mở tiệc không? (→ chờ) Cũng là Tết: tháng 1 năm nay có Tết, tháng 1 năm ngoái thì không. So tháng 1 với tháng 1 là so hai thứ khác nhau. Gộp lũy kế tới tháng 4 cho bức tranh công bằng hơn: tăng 21%.</a:t>
            </a:r>
          </a:p>
          <a:p>
            <a:r>
              <a:t>Kéo xuống tháng 5: YoY âm 100%. Cùng cái bẫy với Variance — chưa có doanh thu, trừ năm ngoái thì ra âm hết. (→ Edit Revenue YoY %: =IF(ISBLANK([Total Revenue]), BLANK(), DIVIDE([Total Revenue]-[Revenue LY],[Revenue LY])) → OK; Row Labels lọc tháng 1–4) Chặn ô trống, rồi lọc bảng về bốn tháng có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6,5 phút.</a:t>
            </a:r>
          </a:p>
          <a:p>
            <a:r>
              <a:t>LỜI GIẢNG</a:t>
            </a:r>
          </a:p>
          <a:p>
            <a:r>
              <a:t>(→ trên PV_YoY: Rows đổi thành Store → Store_Code; Filters: Calendar → Thang chọn 1, 2, 3, 4; Values: Total Revenue, Revenue LY, Revenue YoY %) YoY bốn tháng đầu năm, theo cửa hàng. ST10 tăng mạnh nhất, gần 38%. ST07 giảm 3% — tháng cải tạo kéo xuống. Và ST12: hai ô trống.</a:t>
            </a:r>
          </a:p>
          <a:p>
            <a:r>
              <a:t>Câu hỏi cho lớp: ST12 mất dữ liệu năm ngoái à? (→ chờ) Buổi 4 các bạn đã có câu trả lời: ST12 khai trương 01/06/2024. Bốn tháng đầu năm 2024 nó chưa tồn tại. Revenue LY trống, DIVIDE gặp mẫu số trống thì trả về trống — không phải lỗi, mà là sự thật.</a:t>
            </a:r>
          </a:p>
          <a:p>
            <a:r>
              <a:t>Nhưng chuyện chưa hết. Dòng tổng ghi tăng 21%. Trong đó có 79 triệu của ST12 — doanh thu năm nay không có kỳ gốc. Cộng nó vào là so một chuỗi mười hai cửa hàng với một chuỗi mười một cửa hàng. (→ Filters: thêm Store → Store_Code, bỏ chọn ST12) So like-for-like — chỉ các cửa hàng có đủ hai kỳ: tăng 13,3%. Khác 21% rất nhiều.</a:t>
            </a:r>
          </a:p>
          <a:p>
            <a:r>
              <a:t>Đây là kỹ năng D2: thấy ô trống, hỏi vì sao trước khi kết luận; thấy tổng đẹp, hỏi tổng đó gồm những gì. (→ bỏ lọc ST12)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0,5 phút.</a:t>
            </a:r>
          </a:p>
          <a:p>
            <a:r>
              <a:t>LỜI GIẢNG</a:t>
            </a:r>
          </a:p>
          <a:p>
            <a:r>
              <a:t>Phần 7: quay lại nửa sau câu hỏi mở buổi — vì sao mỗi báo cáo một số.</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9,5 phút.</a:t>
            </a:r>
          </a:p>
          <a:p>
            <a:r>
              <a:t>LỜI GIẢNG</a:t>
            </a:r>
          </a:p>
          <a:p>
            <a:r>
              <a:t>Quay lại hai con số đầu buổi: 34,18% và 33,77%. Hai báo cáo khác nhau vì mỗi người tự viết công thức. Cách chữa không phải là họp để chọn một công thức — mà là đặt công thức vào một chỗ duy nhất: measure trong Data Model. Từ nay ai cần biên lợi nhuận đều kéo measure Gross Margin %; không ai có cơ hội tính trung bình của trung bình nữa.</a:t>
            </a:r>
          </a:p>
          <a:p>
            <a:r>
              <a:t>Bảng trên slide gọi là KPI dictionary — từ điển KPI. Các bạn đã làm KPI Definition Card ở Buổi 2; giờ mỗi card có thêm một dòng quan trọng nhất: measure nào thực hiện định nghĩa đó. Để ý cột Dimensions: Revenue vs Target % ghi rõ không theo ngành — bài học của Slide 25. (→ Manage Measures → Edit Gross Margin % → ô Description gõ: "(Doanh thu − giá vốn) ÷ doanh thu. Giá vốn: một bảng Product[Unit_Cost] cho mọi năm." → OK) Định nghĩa và giới hạn nằm ngay trong mô hình.</a:t>
            </a:r>
          </a:p>
          <a:p>
            <a:r>
              <a:t>Nói đến giới hạn. (→ PV_YoY: xóa mọi bộ lọc ở vùng Filters (Nam, Thang, Store_Code); Rows: Calendar → Nam; Values chỉ giữ Gross Margin %) Biên lợi nhuận gộp năm 2024: 31,2%. Năm 2025: 34,1%. Câu hỏi cho lớp: biên lợi nhuận tăng gần 3 điểm — báo cáo lên ban giám đốc được chưa? (→ chờ) Khoan. Kiểm tra giả định trước. Giá vốn lấy từ đâu? Từ một bảng Product duy nhất — giá vốn hiện tại, áp cho cả hai năm. Trong khi giá bán năm 2024 thấp hơn năm nay khoảng 4%. Lấy giá vốn năm nay trừ vào giá bán năm ngoái thì biên năm ngoái tất nhiên thấp. Phần "tăng" này phần lớn là do cách dữ liệu được lưu, không phải do kinh doanh tốt hơn. Đó chính là thứ phải ghi vào cột "Giới hạn" của KPI card. Đây là kỹ năng D2 ở mức Competent: kiểm giả định trước khi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 (giao bài)</a:t>
            </a:r>
          </a:p>
          <a:p>
            <a:r>
              <a:t>(→ học viên tự làm 10 phút) Bốn KPI đã có: doanh thu, biên lợi nhuận, YoY, và % target. Các bạn tự viết ba measure còn lại — công thức trên slide. Rồi dựng một Pivot KPI theo tháng và so với bảng kiểm tra.</a:t>
            </a:r>
          </a:p>
          <a:p>
            <a:r>
              <a:t>Bước 3 là bài kiểm tra quan trọng: lọc riêng ngành Bánh kẹo, Quý 1. Lấy Total Revenue chia Total Orders bằng máy tính — có ra đúng Avg Order Value không?</a:t>
            </a:r>
          </a:p>
          <a:p>
            <a:r>
              <a:t>GHI CHÚ GIẢNG VIÊN</a:t>
            </a:r>
          </a:p>
          <a:p>
            <a:r>
              <a:t>Đếm số đơn bằng DISTINCTCOUNT, không phải COUNTROWS: một đơn có nhiều dòng (Line_No). COUNTROWS cho Quý 1 ra 6.187 (số dòng), không phải 3.144 đơn.</a:t>
            </a:r>
          </a:p>
          <a:p>
            <a:r>
              <a:t>Bánh kẹo, Quý 1: 1.739 đơn có mua bánh kẹo; AOV 194.786 = giá trị phần bánh kẹo trong mỗi đơn đó. Học viên dùng AVERAGE(Sales[Revenue]) sẽ ra 153.830 — trung bình một dòng, không phải một đơn.</a:t>
            </a:r>
          </a:p>
          <a:p>
            <a:r>
              <a:t>Active Customers không cộng dồn: Quý 1 theo miền 492 + 307 + 657 = 1.456, nhưng Grand Total là 1.208 — khách mua ở nhiều miền chỉ đếm một lần. Câu 4 của quiz dùng chi tiết này.</a:t>
            </a:r>
          </a:p>
          <a:p>
            <a:r>
              <a:t>Revenue YoY % trống ở mọi dòng: Rows đang dùng Sales[Thang] (chưa ẩn cột ở Slide 20), hoặc chưa Mark as Date Table.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10 phút.</a:t>
            </a:r>
          </a:p>
          <a:p>
            <a:r>
              <a:t>LỜI GIẢNG</a:t>
            </a:r>
          </a:p>
          <a:p>
            <a:r>
              <a:t>(→ đi vòng lớp) Đây là khoảnh khắc chốt buổi hôm nay. Bảng KPI_SUMIFS các bạn làm ở Buổi 2 bằng bốn khối SUMIFS và công thức chia. Hôm nay cùng bảng đó ra từ Data Model, bằng bốn measure. Hai cách làm khác hẳn nhau — số có khớp không?</a:t>
            </a:r>
          </a:p>
          <a:p>
            <a:r>
              <a:t>(→ trên máy giảng viên: ô trống cạnh Pivot gõ =, bấm ô Bắc × 3 của Pivot, gõ -KPI_SUMIFS!D6 → Enter) Bằng 0. (→ làm tương tự cho ô tổng Quý 1 với E9) Bằng 0. Bạn nào có số khác 0 thì kiểm tra lại vùng Filters: phải là Nam 2025 và Quý 1, lấy từ Calendar.</a:t>
            </a:r>
          </a:p>
          <a:p>
            <a:r>
              <a:t>Khớp nghĩa là Buổi 2 và Buổi 5 cùng nói một sự thật. Từ nay các bạn có một nguồn duy nhất: mọi báo cáo mới chỉ cần kéo measure vào. (→ mở Practice/B5_MCI_Mart_Answer.xlsx, sheet Kiem_tra_B5) File đáp án đối soát đủ 64 ô — bốn KPI, ba miền và dòng tổng, ba tháng và Quý 1. Đây cũng là file khởi đầu Buổi 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0,2 phút.</a:t>
            </a:r>
          </a:p>
          <a:p>
            <a:r>
              <a:t>LỜI GIẢNG</a:t>
            </a:r>
          </a:p>
          <a:p>
            <a:r>
              <a:t>Bốn câu hỏi nhanh. Câu 3 và 4 là hai con số lạ các bạn sẽ gặp ngoài đời.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C.</a:t>
            </a:r>
          </a:p>
          <a:p>
            <a:r>
              <a:t>LỜI GIẢNG</a:t>
            </a:r>
          </a:p>
          <a:p>
            <a:r>
              <a:t>C. Tỷ lệ phải tính tổng trước, chia sau, cho từng ô Pivot — đó là measure. Average của cột GM từng dòng ra 33,77% thay vì 34,18%; Sum thì vô nghĩa.</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B.</a:t>
            </a:r>
          </a:p>
          <a:p>
            <a:r>
              <a:t>LỜI GIẢNG</a:t>
            </a:r>
          </a:p>
          <a:p>
            <a:r>
              <a:t>B. Hai fact không nối thẳng với nhau — Store_Code lặp lại ở cả hai bảng, quan hệ đó là nhiều–nhiều. Cả hai nối vào Store và Calendar; bộ lọc từ hai lookup chung chảy xuống cả hai fact.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C.</a:t>
            </a:r>
          </a:p>
          <a:p>
            <a:r>
              <a:t>LỜI GIẢNG</a:t>
            </a:r>
          </a:p>
          <a:p>
            <a:r>
              <a:t>C. Cùng một con số ở mọi dòng nghĩa là trường ở Rows không lọc được bảng ở Values. Với Target, đó là thiết kế: kế hoạch không lập theo ngành. Ghi giới hạn này vào KPI dictionary và đừng đặt ngành hàng cạnh Revenue vs Target %.</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35 giây. Đáp án: C.</a:t>
            </a:r>
          </a:p>
          <a:p>
            <a:r>
              <a:t>LỜI GIẢNG</a:t>
            </a:r>
          </a:p>
          <a:p>
            <a:r>
              <a:t>C. Dòng tổng có ngữ cảnh lọc riêng — "cả ba miền" — và đếm khách không trùng trên cả ba miền. Đếm phân biệt, giống tỷ lệ, không cộng dồn được. Đây là lý do mọi KPI phải là measure: Pivot cộng các dòng thì sai, measure tính lại cho ô tổng thì đúng.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1,7 phút.</a:t>
            </a:r>
          </a:p>
          <a:p>
            <a:r>
              <a:t>LỜI GIẢNG</a:t>
            </a:r>
          </a:p>
          <a:p>
            <a:r>
              <a:t>Năm điều cần nhớ (→ đọc lướt 5 ý trên slide). Viết câu insight trong một phút. (→ chờ, gọi 1–2 bạn đọc)</a:t>
            </a:r>
          </a:p>
          <a:p>
            <a:r>
              <a:t>Câu mẫu: "Tháng 1/2025 đạt 120,6% target nhưng tháng 2 chỉ 82,5%; gộp hai tháng đạt 103,2%. Nguyên nhân khả dĩ: Tết 2025 rơi vào 29/01 còn Tết 2024 rơi vào 10/02, trong khi target lập theo cùng tháng dương lịch năm trước nhân 110% — mua sắm Tết dồn sang tháng 1. Nên đánh giá tháng 1 và 2 gộp, không kết luận tháng 2 bán kém." Câu này đi từ con số, qua nguyên nhân đã kiểm chứng, tới hàm ý. Bước tiếp theo — nên lập target thế nào — là câu hỏi Tầng 4 của Buổi 6.</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0,8 phút.</a:t>
            </a:r>
          </a:p>
          <a:p>
            <a:r>
              <a:t>LỜI GIẢNG</a:t>
            </a:r>
          </a:p>
          <a:p>
            <a:r>
              <a:t>Hôm nay các bạn đã nối sáu bảng thành một mô hình ngôi sao, viết bộ KPI một lần, và chứng minh nó khớp từng đồng với Buổi 2. Năng lực D2 — đối soát, kiểm giả định — giờ ở mức Competent.</a:t>
            </a:r>
          </a:p>
          <a:p>
            <a:r>
              <a:t>Bài về nhà là chính câu hỏi mở buổi, ở ngoài đời: phòng Kinh doanh gửi một báo cáo, số lệch với Tài chính. Các bạn đối soát, tìm ra bốn lý do khiến báo cáo đó sai, sửa mô hình và measure, rồi viết KPI dictionary. Đây cũng là hai tiêu chí C3 Mô hình và C4 KPI của bài capstone Buổi 7, cộng lại 35% số điểm — làm tốt bài này là các bạn đã tập trước phần đó.</a:t>
            </a:r>
          </a:p>
          <a:p>
            <a:r>
              <a:t>Số đã đúng. Nhưng một bảng Pivot dày đặc phần trăm không phải thứ giám đốc muốn đọc. Buổi 6 mình biến các measure hôm nay thành một dashboard một trang — mỗi con số trên đó vẫn đến từ đúng các measure này. Cảm ơn cả lớp, hẹn gặp lại!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2664-F3C6-6151-5EEA-86A461E82C44}"/>
              </a:ext>
            </a:extLst>
          </p:cNvPr>
          <p:cNvSpPr>
            <a:spLocks noGrp="1"/>
          </p:cNvSpPr>
          <p:nvPr>
            <p:ph type="ctrTitle"/>
          </p:nvPr>
        </p:nvSpPr>
        <p:spPr>
          <a:xfrm>
            <a:off x="1432560" y="2011680"/>
            <a:ext cx="10302240" cy="1737360"/>
          </a:xfrm>
        </p:spPr>
        <p:txBody>
          <a:bodyPr anchor="b"/>
          <a:lstStyle>
            <a:lvl1pPr algn="l">
              <a:defRPr sz="4800" b="1"/>
            </a:lvl1pPr>
          </a:lstStyle>
          <a:p>
            <a:r>
              <a:rPr lang="en-GB"/>
              <a:t>Click to edit Master title style</a:t>
            </a:r>
            <a:endParaRPr lang="en-US"/>
          </a:p>
        </p:txBody>
      </p:sp>
      <p:sp>
        <p:nvSpPr>
          <p:cNvPr id="3" name="Subtitle 2">
            <a:extLst>
              <a:ext uri="{FF2B5EF4-FFF2-40B4-BE49-F238E27FC236}">
                <a16:creationId xmlns:a16="http://schemas.microsoft.com/office/drawing/2014/main" id="{55A5D9FC-D4AA-338A-F692-F1B120AC9F9B}"/>
              </a:ext>
            </a:extLst>
          </p:cNvPr>
          <p:cNvSpPr>
            <a:spLocks noGrp="1"/>
          </p:cNvSpPr>
          <p:nvPr>
            <p:ph type="subTitle" idx="1"/>
          </p:nvPr>
        </p:nvSpPr>
        <p:spPr>
          <a:xfrm>
            <a:off x="1432560" y="3931920"/>
            <a:ext cx="10302240" cy="1097280"/>
          </a:xfrm>
        </p:spPr>
        <p:txBody>
          <a:bodyPr/>
          <a:lstStyle>
            <a:lvl1pPr marL="0" indent="0" algn="l">
              <a:buNone/>
              <a:defRPr sz="2400">
                <a:solidFill>
                  <a:srgbClr val="585858"/>
                </a:solidFill>
              </a:defRPr>
            </a:lvl1pPr>
            <a:lvl2pPr marL="457200" indent="0" algn="ctr">
              <a:buNone/>
              <a:defRPr sz="2000">
                <a:solidFill>
                  <a:srgbClr val="585858"/>
                </a:solidFill>
              </a:defRPr>
            </a:lvl2pPr>
            <a:lvl3pPr marL="914400" indent="0" algn="ctr">
              <a:buNone/>
              <a:defRPr sz="1800">
                <a:solidFill>
                  <a:srgbClr val="585858"/>
                </a:solidFill>
              </a:defRPr>
            </a:lvl3pPr>
            <a:lvl4pPr marL="1371600" indent="0" algn="ctr">
              <a:buNone/>
              <a:defRPr sz="1600">
                <a:solidFill>
                  <a:srgbClr val="585858"/>
                </a:solidFill>
              </a:defRPr>
            </a:lvl4pPr>
            <a:lvl5pPr marL="1828800" indent="0" algn="ctr">
              <a:buNone/>
              <a:defRPr sz="1600">
                <a:solidFill>
                  <a:srgbClr val="585858"/>
                </a:solidFill>
              </a:defRPr>
            </a:lvl5pPr>
            <a:lvl6pPr marL="2286000" indent="0" algn="ctr">
              <a:buNone/>
              <a:defRPr sz="1600">
                <a:solidFill>
                  <a:srgbClr val="585858"/>
                </a:solidFill>
              </a:defRPr>
            </a:lvl6pPr>
            <a:lvl7pPr marL="2743200" indent="0" algn="ctr">
              <a:buNone/>
              <a:defRPr sz="1600">
                <a:solidFill>
                  <a:srgbClr val="585858"/>
                </a:solidFill>
              </a:defRPr>
            </a:lvl7pPr>
            <a:lvl8pPr marL="3200400" indent="0" algn="ctr">
              <a:buNone/>
              <a:defRPr sz="1600">
                <a:solidFill>
                  <a:srgbClr val="585858"/>
                </a:solidFill>
              </a:defRPr>
            </a:lvl8pPr>
            <a:lvl9pPr marL="3657600" indent="0" algn="ctr">
              <a:buNone/>
              <a:defRPr sz="1600">
                <a:solidFill>
                  <a:srgbClr val="585858"/>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00E1E18-61FE-3D83-17A2-F3939106825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0AB0BF97-2C91-ED2E-CD8F-3CAC10D59F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3FBB26-71FB-8170-009A-EF8735C76EBF}"/>
              </a:ext>
            </a:extLst>
          </p:cNvPr>
          <p:cNvSpPr>
            <a:spLocks noGrp="1"/>
          </p:cNvSpPr>
          <p:nvPr>
            <p:ph type="sldNum" sz="quarter" idx="12"/>
          </p:nvPr>
        </p:nvSpPr>
        <p:spPr/>
        <p:txBody>
          <a:bodyPr/>
          <a:lstStyle/>
          <a:p>
            <a:fld id="{7A9419BB-C971-F34B-8B82-C5E9A3ED8678}" type="slidenum">
              <a:rPr lang="en-US" smtClean="0"/>
              <a:t>‹#›</a:t>
            </a:fld>
            <a:endParaRPr lang="en-US"/>
          </a:p>
        </p:txBody>
      </p:sp>
      <p:sp>
        <p:nvSpPr>
          <p:cNvPr id="30" name="MCI Wordmark"/>
          <p:cNvSpPr txBox="1"/>
          <p:nvPr userDrawn="1"/>
        </p:nvSpPr>
        <p:spPr>
          <a:xfrm>
            <a:off x="1432560" y="548640"/>
            <a:ext cx="2743200" cy="548640"/>
          </a:xfrm>
          <a:prstGeom prst="rect">
            <a:avLst/>
          </a:prstGeom>
          <a:noFill/>
        </p:spPr>
        <p:txBody>
          <a:bodyPr wrap="none" lIns="91440" anchor="t"/>
          <a:lstStyle/>
          <a:p>
            <a:r>
              <a:rPr lang="en-US" sz="2800" b="1">
                <a:solidFill>
                  <a:srgbClr val="203864"/>
                </a:solidFill>
                <a:latin typeface="Arial"/>
              </a:rPr>
              <a:t>MCI</a:t>
            </a:r>
          </a:p>
        </p:txBody>
      </p:sp>
    </p:spTree>
    <p:extLst>
      <p:ext uri="{BB962C8B-B14F-4D97-AF65-F5344CB8AC3E}">
        <p14:creationId xmlns:p14="http://schemas.microsoft.com/office/powerpoint/2010/main" val="286849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25951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99C69-77BA-2FF0-04BC-65E5F21C410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A047FBA-36F6-5941-AE5A-3C28ABD9791D}"/>
              </a:ext>
            </a:extLst>
          </p:cNvPr>
          <p:cNvSpPr>
            <a:spLocks noGrp="1"/>
          </p:cNvSpPr>
          <p:nvPr>
            <p:ph sz="half" idx="1"/>
          </p:nvPr>
        </p:nvSpPr>
        <p:spPr>
          <a:xfrm>
            <a:off x="1432560"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363C48E-6F94-484B-3886-58203F5425D9}"/>
              </a:ext>
            </a:extLst>
          </p:cNvPr>
          <p:cNvSpPr>
            <a:spLocks noGrp="1"/>
          </p:cNvSpPr>
          <p:nvPr>
            <p:ph sz="half" idx="2"/>
          </p:nvPr>
        </p:nvSpPr>
        <p:spPr>
          <a:xfrm>
            <a:off x="6658334" y="1825625"/>
            <a:ext cx="5076466"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AA01DA5-559C-410C-9CC7-0933837962D9}"/>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D24F1E9D-60B2-BB85-7303-C28EBFC26C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8712A5-3FB3-1E06-8027-6B8BD1AA8F2A}"/>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912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Section Header">
    <p:bg>
      <p:bgPr>
        <a:solidFill>
          <a:srgbClr val="203864"/>
        </a:solidFill>
        <a:effectLst/>
      </p:bgPr>
    </p:bg>
    <p:spTree>
      <p:nvGrpSpPr>
        <p:cNvPr id="1" name=""/>
        <p:cNvGrpSpPr/>
        <p:nvPr/>
      </p:nvGrpSpPr>
      <p:grpSpPr>
        <a:xfrm>
          <a:off x="0" y="0"/>
          <a:ext cx="0" cy="0"/>
          <a:chOff x="0" y="0"/>
          <a:chExt cx="0" cy="0"/>
        </a:xfrm>
      </p:grpSpPr>
      <p:sp>
        <p:nvSpPr>
          <p:cNvPr id="7" name="MCI wordmark"/>
          <p:cNvSpPr txBox="1"/>
          <p:nvPr userDrawn="1"/>
        </p:nvSpPr>
        <p:spPr>
          <a:xfrm>
            <a:off x="914400" y="640080"/>
            <a:ext cx="6400800" cy="457200"/>
          </a:xfrm>
          <a:prstGeom prst="rect">
            <a:avLst/>
          </a:prstGeom>
          <a:noFill/>
        </p:spPr>
        <p:txBody>
          <a:bodyPr wrap="none" lIns="0" rIns="0" anchor="ctr"/>
          <a:lstStyle/>
          <a:p>
            <a:r>
              <a:rPr lang="en-US" sz="2400" b="1">
                <a:solidFill>
                  <a:srgbClr val="FFFFFF"/>
                </a:solidFill>
              </a:rPr>
              <a:t>MCI</a:t>
            </a:r>
            <a:r>
              <a:rPr lang="en-US" sz="1200" spc="200">
                <a:solidFill>
                  <a:srgbClr val="FFFFFF"/>
                </a:solidFill>
              </a:rPr>
              <a:t>   MAGIC CODE INSTITUTE</a:t>
            </a:r>
          </a:p>
        </p:txBody>
      </p:sp>
      <p:sp>
        <p:nvSpPr>
          <p:cNvPr id="8" name="Gold rule"/>
          <p:cNvSpPr/>
          <p:nvPr userDrawn="1"/>
        </p:nvSpPr>
        <p:spPr>
          <a:xfrm>
            <a:off x="914400" y="4480560"/>
            <a:ext cx="1097280" cy="54864"/>
          </a:xfrm>
          <a:prstGeom prst="rect">
            <a:avLst/>
          </a:prstGeom>
          <a:solidFill>
            <a:srgbClr val="FFC000"/>
          </a:solidFill>
          <a:ln>
            <a:noFill/>
          </a:ln>
        </p:spPr>
      </p:sp>
      <p:sp>
        <p:nvSpPr>
          <p:cNvPr id="2" name="Title 1"/>
          <p:cNvSpPr>
            <a:spLocks noGrp="1"/>
          </p:cNvSpPr>
          <p:nvPr>
            <p:ph type="title"/>
          </p:nvPr>
        </p:nvSpPr>
        <p:spPr>
          <a:xfrm>
            <a:off x="914400" y="2286000"/>
            <a:ext cx="10363200" cy="2011680"/>
          </a:xfrm>
        </p:spPr>
        <p:txBody>
          <a:bodyPr lIns="0" anchor="b">
            <a:normAutofit/>
          </a:bodyPr>
          <a:lstStyle>
            <a:lvl1pPr algn="l">
              <a:defRPr sz="3200" b="1">
                <a:solidFill>
                  <a:srgbClr val="FFFFFF"/>
                </a:solidFill>
              </a:defRPr>
            </a:lvl1pPr>
          </a:lstStyle>
          <a:p>
            <a:r>
              <a:rPr lang="en-GB"/>
              <a:t>Click to edit Master title style</a:t>
            </a:r>
          </a:p>
        </p:txBody>
      </p:sp>
      <p:sp>
        <p:nvSpPr>
          <p:cNvPr id="3" name="Text Placeholder 2"/>
          <p:cNvSpPr>
            <a:spLocks noGrp="1"/>
          </p:cNvSpPr>
          <p:nvPr>
            <p:ph type="body" idx="1"/>
          </p:nvPr>
        </p:nvSpPr>
        <p:spPr>
          <a:xfrm>
            <a:off x="914400" y="4709160"/>
            <a:ext cx="10363200" cy="914400"/>
          </a:xfrm>
        </p:spPr>
        <p:txBody>
          <a:bodyPr lIns="0">
            <a:normAutofit/>
          </a:bodyPr>
          <a:lstStyle>
            <a:lvl1pPr marL="0" indent="0">
              <a:buNone/>
              <a:defRPr sz="2000">
                <a:solidFill>
                  <a:srgbClr val="D9DEE8"/>
                </a:solidFill>
              </a:defRPr>
            </a:lvl1pPr>
          </a:lstStyle>
          <a:p>
            <a:r>
              <a:rPr lang="en-GB"/>
              <a:t>Click to edit Master text styles</a:t>
            </a:r>
          </a:p>
        </p:txBody>
      </p:sp>
    </p:spTree>
    <p:extLst>
      <p:ext uri="{BB962C8B-B14F-4D97-AF65-F5344CB8AC3E}">
        <p14:creationId xmlns:p14="http://schemas.microsoft.com/office/powerpoint/2010/main" val="131384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F857-DF32-3922-EA31-5B12F1BF389B}"/>
              </a:ext>
            </a:extLst>
          </p:cNvPr>
          <p:cNvSpPr>
            <a:spLocks noGrp="1"/>
          </p:cNvSpPr>
          <p:nvPr>
            <p:ph type="title"/>
          </p:nvPr>
        </p:nvSpPr>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4679F92-7EED-D73E-34B9-2B5BEA02D8D5}"/>
              </a:ext>
            </a:extLst>
          </p:cNvPr>
          <p:cNvSpPr>
            <a:spLocks noGrp="1"/>
          </p:cNvSpPr>
          <p:nvPr>
            <p:ph type="body" idx="1"/>
          </p:nvPr>
        </p:nvSpPr>
        <p:spPr>
          <a:xfrm>
            <a:off x="1434116" y="1681163"/>
            <a:ext cx="505313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662207B-D76F-1445-6E60-70B87DB80392}"/>
              </a:ext>
            </a:extLst>
          </p:cNvPr>
          <p:cNvSpPr>
            <a:spLocks noGrp="1"/>
          </p:cNvSpPr>
          <p:nvPr>
            <p:ph sz="half" idx="2"/>
          </p:nvPr>
        </p:nvSpPr>
        <p:spPr>
          <a:xfrm>
            <a:off x="1434116" y="2505075"/>
            <a:ext cx="505313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CA2C473-0CB1-0F03-79FD-FCFC188E51A4}"/>
              </a:ext>
            </a:extLst>
          </p:cNvPr>
          <p:cNvSpPr>
            <a:spLocks noGrp="1"/>
          </p:cNvSpPr>
          <p:nvPr>
            <p:ph type="body" sz="quarter" idx="3"/>
          </p:nvPr>
        </p:nvSpPr>
        <p:spPr>
          <a:xfrm>
            <a:off x="6658334" y="1681163"/>
            <a:ext cx="507802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BAADC17-123C-1B98-9C55-4D7D49845E27}"/>
              </a:ext>
            </a:extLst>
          </p:cNvPr>
          <p:cNvSpPr>
            <a:spLocks noGrp="1"/>
          </p:cNvSpPr>
          <p:nvPr>
            <p:ph sz="quarter" idx="4"/>
          </p:nvPr>
        </p:nvSpPr>
        <p:spPr>
          <a:xfrm>
            <a:off x="6658334" y="2505075"/>
            <a:ext cx="5078022"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D65B6DB-77BD-9C6E-5E6D-A7BE78333BB6}"/>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8" name="Footer Placeholder 7">
            <a:extLst>
              <a:ext uri="{FF2B5EF4-FFF2-40B4-BE49-F238E27FC236}">
                <a16:creationId xmlns:a16="http://schemas.microsoft.com/office/drawing/2014/main" id="{20E678BE-8847-6D2F-3F45-91CA985AB50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D1A3EE-6065-DD56-6A88-F914D5B4C1CD}"/>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101045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D3570-678E-8041-1DC8-86B01C4FBAB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59A16AD-B058-70BE-DBC1-78AA9918405A}"/>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4" name="Footer Placeholder 3">
            <a:extLst>
              <a:ext uri="{FF2B5EF4-FFF2-40B4-BE49-F238E27FC236}">
                <a16:creationId xmlns:a16="http://schemas.microsoft.com/office/drawing/2014/main" id="{1B6D8CAC-8260-A67D-8732-DD72307948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C877EE-C1CB-3D64-07B4-8AA215343EB2}"/>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33194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BE4EAE-A436-DD75-26A9-7E4EF0EABAB8}"/>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3" name="Footer Placeholder 2">
            <a:extLst>
              <a:ext uri="{FF2B5EF4-FFF2-40B4-BE49-F238E27FC236}">
                <a16:creationId xmlns:a16="http://schemas.microsoft.com/office/drawing/2014/main" id="{F04AE991-C68F-060D-534A-2D1CFE379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A977B5-CCC9-8A85-1F45-60EE63654905}"/>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2697557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3B96-0970-502F-414D-7E067632F191}"/>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FA5074C-7090-612E-5DF9-E393D6B4F569}"/>
              </a:ext>
            </a:extLst>
          </p:cNvPr>
          <p:cNvSpPr>
            <a:spLocks noGrp="1"/>
          </p:cNvSpPr>
          <p:nvPr>
            <p:ph idx="1"/>
          </p:nvPr>
        </p:nvSpPr>
        <p:spPr>
          <a:xfrm>
            <a:off x="5689389" y="987425"/>
            <a:ext cx="604696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913B6C-C8CA-B03D-EAFC-66D24F36F00D}"/>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0F8C85-7E3A-1BF3-57B7-67DC51295901}"/>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C1759792-564A-D064-DC38-377FE5F36A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02A526-D348-A6A7-D6D8-765874ABCCF7}"/>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467445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2A28-28CD-FDCB-9BDE-BBD7761D9F80}"/>
              </a:ext>
            </a:extLst>
          </p:cNvPr>
          <p:cNvSpPr>
            <a:spLocks noGrp="1"/>
          </p:cNvSpPr>
          <p:nvPr>
            <p:ph type="title"/>
          </p:nvPr>
        </p:nvSpPr>
        <p:spPr>
          <a:xfrm>
            <a:off x="1434116" y="457200"/>
            <a:ext cx="3852452"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3202B5F-EA9B-1AF8-17E8-85154BC8C380}"/>
              </a:ext>
            </a:extLst>
          </p:cNvPr>
          <p:cNvSpPr>
            <a:spLocks noGrp="1" noChangeAspect="1"/>
          </p:cNvSpPr>
          <p:nvPr>
            <p:ph type="pic" idx="1"/>
          </p:nvPr>
        </p:nvSpPr>
        <p:spPr>
          <a:xfrm>
            <a:off x="5689389" y="987425"/>
            <a:ext cx="6046967"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5D4558-CC71-6A22-1E4F-81F961813C80}"/>
              </a:ext>
            </a:extLst>
          </p:cNvPr>
          <p:cNvSpPr>
            <a:spLocks noGrp="1"/>
          </p:cNvSpPr>
          <p:nvPr>
            <p:ph type="body" sz="half" idx="2"/>
          </p:nvPr>
        </p:nvSpPr>
        <p:spPr>
          <a:xfrm>
            <a:off x="1434116" y="2057400"/>
            <a:ext cx="385245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F5ABD8-1DA1-C358-4422-ED8A78AC2C6E}"/>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6" name="Footer Placeholder 5">
            <a:extLst>
              <a:ext uri="{FF2B5EF4-FFF2-40B4-BE49-F238E27FC236}">
                <a16:creationId xmlns:a16="http://schemas.microsoft.com/office/drawing/2014/main" id="{8E16271F-39F3-E81F-443B-21DC458CD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728C95-36D3-1FDC-12F9-75C4D3BE95B3}"/>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9165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4C102-A4A5-EF09-43CF-6253ED77AA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E998EF-69FA-C77A-8A76-22992DE77A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B466E2-7B90-931F-632B-D59F99017C2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3A3200D8-8910-5148-4843-3D52384BF0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2BED4-5DB4-45F1-5ACC-643FFD821F64}"/>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1507418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FF3541-96FF-94D7-F45B-F634CD3B44BF}"/>
              </a:ext>
            </a:extLst>
          </p:cNvPr>
          <p:cNvSpPr>
            <a:spLocks noGrp="1"/>
          </p:cNvSpPr>
          <p:nvPr>
            <p:ph type="title" orient="vert"/>
          </p:nvPr>
        </p:nvSpPr>
        <p:spPr>
          <a:xfrm>
            <a:off x="9159240" y="365125"/>
            <a:ext cx="257556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A22BC46-4E1A-B46B-F1C8-4E24A201B337}"/>
              </a:ext>
            </a:extLst>
          </p:cNvPr>
          <p:cNvSpPr>
            <a:spLocks noGrp="1"/>
          </p:cNvSpPr>
          <p:nvPr>
            <p:ph type="body" orient="vert" idx="1"/>
          </p:nvPr>
        </p:nvSpPr>
        <p:spPr>
          <a:xfrm>
            <a:off x="1432560" y="365125"/>
            <a:ext cx="7577372"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E63504C-0F86-E102-3E0C-290A4BB0A6D4}"/>
              </a:ext>
            </a:extLst>
          </p:cNvPr>
          <p:cNvSpPr>
            <a:spLocks noGrp="1"/>
          </p:cNvSpPr>
          <p:nvPr>
            <p:ph type="dt" sz="half" idx="10"/>
          </p:nvPr>
        </p:nvSpPr>
        <p:spPr/>
        <p:txBody>
          <a:body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12A90F48-5867-0DF6-F507-5379E890B3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D93CD6-4795-CA01-149F-B154B4516B3C}"/>
              </a:ext>
            </a:extLst>
          </p:cNvPr>
          <p:cNvSpPr>
            <a:spLocks noGrp="1"/>
          </p:cNvSpPr>
          <p:nvPr>
            <p:ph type="sldNum" sz="quarter" idx="12"/>
          </p:nvPr>
        </p:nvSpPr>
        <p:spPr/>
        <p:txBody>
          <a:bodyPr/>
          <a:lstStyle/>
          <a:p>
            <a:fld id="{7A9419BB-C971-F34B-8B82-C5E9A3ED8678}" type="slidenum">
              <a:rPr lang="en-US" smtClean="0"/>
              <a:t>‹#›</a:t>
            </a:fld>
            <a:endParaRPr lang="en-US"/>
          </a:p>
        </p:txBody>
      </p:sp>
    </p:spTree>
    <p:extLst>
      <p:ext uri="{BB962C8B-B14F-4D97-AF65-F5344CB8AC3E}">
        <p14:creationId xmlns:p14="http://schemas.microsoft.com/office/powerpoint/2010/main" val="9684304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MCI Rail"/>
          <p:cNvSpPr/>
          <p:nvPr userDrawn="1"/>
        </p:nvSpPr>
        <p:spPr>
          <a:xfrm>
            <a:off x="0" y="0"/>
            <a:ext cx="975360" cy="6858000"/>
          </a:xfrm>
          <a:prstGeom prst="rect">
            <a:avLst/>
          </a:prstGeom>
          <a:solidFill>
            <a:srgbClr val="203864"/>
          </a:solidFill>
          <a:ln>
            <a:noFill/>
          </a:ln>
        </p:spPr>
        <p:txBody>
          <a:bodyPr/>
          <a:lstStyle/>
          <a:p>
            <a:endParaRPr lang="en-US"/>
          </a:p>
        </p:txBody>
      </p:sp>
      <p:sp>
        <p:nvSpPr>
          <p:cNvPr id="2" name="Title Placeholder 1">
            <a:extLst>
              <a:ext uri="{FF2B5EF4-FFF2-40B4-BE49-F238E27FC236}">
                <a16:creationId xmlns:a16="http://schemas.microsoft.com/office/drawing/2014/main" id="{5773FA29-7399-D724-95CF-8F2F56D526D4}"/>
              </a:ext>
            </a:extLst>
          </p:cNvPr>
          <p:cNvSpPr>
            <a:spLocks noGrp="1"/>
          </p:cNvSpPr>
          <p:nvPr>
            <p:ph type="title"/>
          </p:nvPr>
        </p:nvSpPr>
        <p:spPr>
          <a:xfrm>
            <a:off x="1432560" y="365760"/>
            <a:ext cx="10302240" cy="100584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5F95C9-A218-9682-28A0-7A7C952763F2}"/>
              </a:ext>
            </a:extLst>
          </p:cNvPr>
          <p:cNvSpPr>
            <a:spLocks noGrp="1"/>
          </p:cNvSpPr>
          <p:nvPr>
            <p:ph type="body" idx="1"/>
          </p:nvPr>
        </p:nvSpPr>
        <p:spPr>
          <a:xfrm>
            <a:off x="1432560" y="1554480"/>
            <a:ext cx="10302240" cy="45720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9F865D-4C91-A852-2C9F-A2DE37302B15}"/>
              </a:ext>
            </a:extLst>
          </p:cNvPr>
          <p:cNvSpPr>
            <a:spLocks noGrp="1"/>
          </p:cNvSpPr>
          <p:nvPr>
            <p:ph type="dt" sz="half" idx="2"/>
          </p:nvPr>
        </p:nvSpPr>
        <p:spPr>
          <a:xfrm>
            <a:off x="1432560" y="6309360"/>
            <a:ext cx="2743200" cy="320040"/>
          </a:xfrm>
          <a:prstGeom prst="rect">
            <a:avLst/>
          </a:prstGeom>
        </p:spPr>
        <p:txBody>
          <a:bodyPr vert="horz" lIns="91440" tIns="45720" rIns="91440" bIns="45720" rtlCol="0" anchor="ctr"/>
          <a:lstStyle>
            <a:lvl1pPr algn="l">
              <a:defRPr sz="1200">
                <a:solidFill>
                  <a:srgbClr val="6B6F76"/>
                </a:solidFill>
              </a:defRPr>
            </a:lvl1pPr>
          </a:lstStyle>
          <a:p>
            <a:fld id="{2B9EE3C0-7C20-5445-A788-9AB5D82D90FB}" type="datetimeFigureOut">
              <a:rPr lang="en-US" smtClean="0"/>
              <a:t>27/9/2026</a:t>
            </a:fld>
            <a:endParaRPr lang="en-US"/>
          </a:p>
        </p:txBody>
      </p:sp>
      <p:sp>
        <p:nvSpPr>
          <p:cNvPr id="5" name="Footer Placeholder 4">
            <a:extLst>
              <a:ext uri="{FF2B5EF4-FFF2-40B4-BE49-F238E27FC236}">
                <a16:creationId xmlns:a16="http://schemas.microsoft.com/office/drawing/2014/main" id="{D75018BC-A677-96B0-5B2E-4AEDE18B0ABF}"/>
              </a:ext>
            </a:extLst>
          </p:cNvPr>
          <p:cNvSpPr>
            <a:spLocks noGrp="1"/>
          </p:cNvSpPr>
          <p:nvPr>
            <p:ph type="ftr" sz="quarter" idx="3"/>
          </p:nvPr>
        </p:nvSpPr>
        <p:spPr>
          <a:xfrm>
            <a:off x="4358640" y="6309360"/>
            <a:ext cx="6187440" cy="320040"/>
          </a:xfrm>
          <a:prstGeom prst="rect">
            <a:avLst/>
          </a:prstGeom>
        </p:spPr>
        <p:txBody>
          <a:bodyPr vert="horz" lIns="91440" tIns="45720" rIns="91440" bIns="45720" rtlCol="0" anchor="ctr"/>
          <a:lstStyle>
            <a:lvl1pPr algn="ctr">
              <a:defRPr sz="1200">
                <a:solidFill>
                  <a:srgbClr val="6B6F76"/>
                </a:solidFill>
              </a:defRPr>
            </a:lvl1pPr>
          </a:lstStyle>
          <a:p>
            <a:endParaRPr lang="en-US"/>
          </a:p>
        </p:txBody>
      </p:sp>
      <p:sp>
        <p:nvSpPr>
          <p:cNvPr id="6" name="Slide Number Placeholder 5">
            <a:extLst>
              <a:ext uri="{FF2B5EF4-FFF2-40B4-BE49-F238E27FC236}">
                <a16:creationId xmlns:a16="http://schemas.microsoft.com/office/drawing/2014/main" id="{E03E26B6-86C7-AF0E-2F2F-E4F6A075784B}"/>
              </a:ext>
            </a:extLst>
          </p:cNvPr>
          <p:cNvSpPr>
            <a:spLocks noGrp="1"/>
          </p:cNvSpPr>
          <p:nvPr>
            <p:ph type="sldNum" sz="quarter" idx="4"/>
          </p:nvPr>
        </p:nvSpPr>
        <p:spPr>
          <a:xfrm>
            <a:off x="10637520" y="6309360"/>
            <a:ext cx="1097280" cy="320040"/>
          </a:xfrm>
          <a:prstGeom prst="rect">
            <a:avLst/>
          </a:prstGeom>
        </p:spPr>
        <p:txBody>
          <a:bodyPr vert="horz" lIns="91440" tIns="45720" rIns="91440" bIns="45720" rtlCol="0" anchor="ctr"/>
          <a:lstStyle>
            <a:lvl1pPr algn="r">
              <a:defRPr sz="1200">
                <a:solidFill>
                  <a:srgbClr val="6B6F76"/>
                </a:solidFill>
              </a:defRPr>
            </a:lvl1pPr>
          </a:lstStyle>
          <a:p>
            <a:fld id="{7A9419BB-C971-F34B-8B82-C5E9A3ED8678}" type="slidenum">
              <a:rPr lang="en-US" smtClean="0"/>
              <a:t>‹#›</a:t>
            </a:fld>
            <a:endParaRPr lang="en-US"/>
          </a:p>
        </p:txBody>
      </p:sp>
    </p:spTree>
    <p:extLst>
      <p:ext uri="{BB962C8B-B14F-4D97-AF65-F5344CB8AC3E}">
        <p14:creationId xmlns:p14="http://schemas.microsoft.com/office/powerpoint/2010/main" val="2916804908"/>
      </p:ext>
    </p:extLst>
  </p:cSld>
  <p:clrMap bg1="lt1" tx1="dk1" bg2="lt2" tx2="dk2" accent1="accent1" accent2="accent2" accent3="accent3" accent4="accent4" accent5="accent5" accent6="accent6" hlink="hlink" folHlink="folHlink"/>
  <p:sldLayoutIdLst>
    <p:sldLayoutId id="2147483699" r:id="rId1"/>
    <p:sldLayoutId id="2147483696" r:id="rId2"/>
    <p:sldLayoutId id="2147483700" r:id="rId3"/>
    <p:sldLayoutId id="2147483697"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p:cNvSpPr txBox="1"/>
          <p:nvPr/>
        </p:nvSpPr>
        <p:spPr>
          <a:xfrm>
            <a:off x="1524000" y="1554480"/>
            <a:ext cx="10119360" cy="320040"/>
          </a:xfrm>
          <a:prstGeom prst="rect">
            <a:avLst/>
          </a:prstGeom>
          <a:noFill/>
          <a:ln>
            <a:noFill/>
          </a:ln>
        </p:spPr>
        <p:txBody>
          <a:bodyPr wrap="square" lIns="0" tIns="0" rIns="0" bIns="0" rtlCol="0" anchor="b">
            <a:noAutofit/>
          </a:bodyPr>
          <a:lstStyle/>
          <a:p>
            <a:pPr marL="0" indent="0">
              <a:buNone/>
            </a:pPr>
            <a:r>
              <a:rPr lang="vi-VN" sz="1400" b="1" spc="200">
                <a:solidFill>
                  <a:srgbClr val="585858"/>
                </a:solidFill>
              </a:rPr>
              <a:t>CONSULTING &amp; ANALYTICS</a:t>
            </a:r>
            <a:endParaRPr lang="vi-VN" sz="1400"/>
          </a:p>
        </p:txBody>
      </p:sp>
      <p:sp>
        <p:nvSpPr>
          <p:cNvPr id="12" name="ctrTitle 12"/>
          <p:cNvSpPr>
            <a:spLocks noGrp="1"/>
          </p:cNvSpPr>
          <p:nvPr>
            <p:ph type="ctrTitle"/>
          </p:nvPr>
        </p:nvSpPr>
        <p:spPr/>
        <p:txBody>
          <a:bodyPr>
            <a:normAutofit/>
          </a:bodyPr>
          <a:lstStyle/>
          <a:p>
            <a:r>
              <a:rPr lang="vi-VN"/>
              <a:t>Excel for Business Intelligence Analyst</a:t>
            </a:r>
          </a:p>
        </p:txBody>
      </p:sp>
      <p:sp>
        <p:nvSpPr>
          <p:cNvPr id="13" name="subTitle 13"/>
          <p:cNvSpPr>
            <a:spLocks noGrp="1"/>
          </p:cNvSpPr>
          <p:nvPr>
            <p:ph type="subTitle" idx="1"/>
          </p:nvPr>
        </p:nvSpPr>
        <p:spPr/>
        <p:txBody>
          <a:bodyPr>
            <a:normAutofit/>
          </a:bodyPr>
          <a:lstStyle/>
          <a:p>
            <a:r>
              <a:rPr lang="vi-VN"/>
              <a:t>Buổi 5: Mô hình dữ liệu &amp; DAX</a:t>
            </a:r>
          </a:p>
        </p:txBody>
      </p:sp>
      <p:cxnSp>
        <p:nvCxnSpPr>
          <p:cNvPr id="14" name="Line 14"/>
          <p:cNvCxnSpPr/>
          <p:nvPr/>
        </p:nvCxnSpPr>
        <p:spPr>
          <a:xfrm>
            <a:off x="1524000" y="5669280"/>
            <a:ext cx="10119360" cy="0"/>
          </a:xfrm>
          <a:prstGeom prst="line">
            <a:avLst/>
          </a:prstGeom>
          <a:ln w="12700">
            <a:solidFill>
              <a:srgbClr val="D9DEE8"/>
            </a:solidFill>
          </a:ln>
        </p:spPr>
      </p:cxnSp>
      <p:sp>
        <p:nvSpPr>
          <p:cNvPr id="15" name="TextBox"/>
          <p:cNvSpPr txBox="1"/>
          <p:nvPr/>
        </p:nvSpPr>
        <p:spPr>
          <a:xfrm>
            <a:off x="1524000" y="5760720"/>
            <a:ext cx="10119360" cy="822960"/>
          </a:xfrm>
          <a:prstGeom prst="rect">
            <a:avLst/>
          </a:prstGeom>
          <a:noFill/>
          <a:ln>
            <a:noFill/>
          </a:ln>
        </p:spPr>
        <p:txBody>
          <a:bodyPr wrap="square" lIns="0" tIns="0" rIns="0" bIns="0" rtlCol="0" anchor="t">
            <a:noAutofit/>
          </a:bodyPr>
          <a:lstStyle/>
          <a:p>
            <a:pPr marL="0" indent="0">
              <a:buNone/>
            </a:pPr>
            <a:r>
              <a:rPr lang="vi-VN" sz="1400">
                <a:solidFill>
                  <a:srgbClr val="585858"/>
                </a:solidFill>
              </a:rPr>
              <a:t>Bắt buộc máy Windows có Power Pivot (Data → Manage Data Model)</a:t>
            </a:r>
            <a:r>
              <a:rPr lang="vi-VN" sz="1400" b="1">
                <a:solidFill>
                  <a:srgbClr val="1B2230"/>
                </a:solidFill>
              </a:rPr>
              <a:t/>
            </a:r>
            <a:r>
              <a:rPr lang="vi-VN" sz="1400">
                <a:solidFill>
                  <a:srgbClr val="585858"/>
                </a:solidFill>
              </a:rPr>
              <a:t/>
            </a:r>
            <a:endParaRPr lang="vi-VN" sz="1400"/>
          </a:p>
          <a:p>
            <a:pPr marL="0" indent="0">
              <a:buNone/>
            </a:pPr>
            <a:r>
              <a:rPr lang="vi-VN" sz="1400">
                <a:solidFill>
                  <a:srgbClr val="585858"/>
                </a:solidFill>
              </a:rPr>
              <a:t>Mở sẵn: file khởi đầu B4_MCI_Mart_Answer.xlsx (đáp án Buổi 4)</a:t>
            </a:r>
            <a:r>
              <a:rPr lang="vi-VN" sz="1400" b="1">
                <a:solidFill>
                  <a:srgbClr val="1B2230"/>
                </a:solidFill>
              </a:rPr>
              <a:t/>
            </a:r>
            <a:r>
              <a:rPr lang="vi-VN" sz="1400">
                <a:solidFill>
                  <a:srgbClr val="585858"/>
                </a:solidFill>
              </a:rPr>
              <a:t/>
            </a:r>
            <a:endParaRPr lang="vi-VN" sz="1400"/>
          </a:p>
        </p:txBody>
      </p:sp>
    </p:spTree>
    <p:extLst>
      <p:ext uri="{BB962C8B-B14F-4D97-AF65-F5344CB8AC3E}">
        <p14:creationId xmlns:p14="http://schemas.microsoft.com/office/powerpoint/2010/main" val="224305154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Câu hỏi mở buổi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10122408" cy="1371600"/>
          </a:xfrm>
          <a:prstGeom prst="rect">
            <a:avLst/>
          </a:prstGeom>
          <a:noFill/>
        </p:spPr>
        <p:txBody>
          <a:bodyPr wrap="square" lIns="0" rIns="0" tIns="0" bIns="0" anchor="t">
            <a:spAutoFit/>
          </a:bodyPr>
          <a:lstStyle/>
          <a:p>
            <a:r>
              <a:rPr sz="2600" b="1">
                <a:solidFill>
                  <a:srgbClr val="203864"/>
                </a:solidFill>
                <a:latin typeface="Arial"/>
              </a:rPr>
              <a:t>“Doanh thu tháng này đạt bao nhiêu % mục tiêu, và vì sao mỗi báo cáo cũ lại ra một con số khác nhau?”</a:t>
            </a:r>
          </a:p>
        </p:txBody>
      </p:sp>
      <p:sp>
        <p:nvSpPr>
          <p:cNvPr id="5" name="Tier chip"/>
          <p:cNvSpPr/>
          <p:nvPr/>
        </p:nvSpPr>
        <p:spPr>
          <a:xfrm>
            <a:off x="1527048" y="3017520"/>
            <a:ext cx="265176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Tầng 3 — Diagnostic</a:t>
            </a:r>
          </a:p>
        </p:txBody>
      </p:sp>
      <p:sp>
        <p:nvSpPr>
          <p:cNvPr id="6" name="Stat A"/>
          <p:cNvSpPr/>
          <p:nvPr/>
        </p:nvSpPr>
        <p:spPr>
          <a:xfrm>
            <a:off x="1527048" y="3657600"/>
            <a:ext cx="4206240" cy="17373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3749039"/>
            <a:ext cx="3840479" cy="1554480"/>
          </a:xfrm>
          <a:prstGeom prst="rect">
            <a:avLst/>
          </a:prstGeom>
          <a:noFill/>
        </p:spPr>
        <p:txBody>
          <a:bodyPr wrap="square" lIns="0" rIns="0" tIns="0" bIns="0" anchor="ctr">
            <a:spAutoFit/>
          </a:bodyPr>
          <a:lstStyle/>
          <a:p>
            <a:r>
              <a:rPr sz="1400" b="0">
                <a:solidFill>
                  <a:srgbClr val="585858"/>
                </a:solidFill>
                <a:latin typeface="Arial"/>
              </a:rPr>
              <a:t>Báo cáo A · Gross Margin % Quý 1/2025</a:t>
            </a:r>
          </a:p>
          <a:p>
            <a:pPr>
              <a:spcBef>
                <a:spcPts val="200"/>
              </a:spcBef>
            </a:pPr>
            <a:r>
              <a:rPr sz="3400" b="1">
                <a:solidFill>
                  <a:srgbClr val="203864"/>
                </a:solidFill>
                <a:latin typeface="Arial"/>
              </a:rPr>
              <a:t>34,18%</a:t>
            </a:r>
          </a:p>
          <a:p>
            <a:pPr>
              <a:spcBef>
                <a:spcPts val="200"/>
              </a:spcBef>
            </a:pPr>
            <a:r>
              <a:rPr sz="1400" b="0">
                <a:solidFill>
                  <a:srgbClr val="1B2230"/>
                </a:solidFill>
                <a:latin typeface="Arial"/>
              </a:rPr>
              <a:t>tổng lợi nhuận ÷ tổng doanh thu</a:t>
            </a:r>
          </a:p>
        </p:txBody>
      </p:sp>
      <p:sp>
        <p:nvSpPr>
          <p:cNvPr id="8" name="Not equal"/>
          <p:cNvSpPr txBox="1"/>
          <p:nvPr/>
        </p:nvSpPr>
        <p:spPr>
          <a:xfrm>
            <a:off x="5824728" y="3657600"/>
            <a:ext cx="914400" cy="1737360"/>
          </a:xfrm>
          <a:prstGeom prst="rect">
            <a:avLst/>
          </a:prstGeom>
          <a:noFill/>
        </p:spPr>
        <p:txBody>
          <a:bodyPr wrap="square" lIns="0" rIns="0" tIns="0" bIns="0" anchor="ctr">
            <a:spAutoFit/>
          </a:bodyPr>
          <a:lstStyle/>
          <a:p>
            <a:pPr algn="ctr"/>
            <a:r>
              <a:rPr sz="4800" b="1">
                <a:solidFill>
                  <a:srgbClr val="9C0006"/>
                </a:solidFill>
                <a:latin typeface="Arial"/>
              </a:rPr>
              <a:t>≠</a:t>
            </a:r>
          </a:p>
        </p:txBody>
      </p:sp>
      <p:sp>
        <p:nvSpPr>
          <p:cNvPr id="9" name="Stat B"/>
          <p:cNvSpPr/>
          <p:nvPr/>
        </p:nvSpPr>
        <p:spPr>
          <a:xfrm>
            <a:off x="6830568" y="3657600"/>
            <a:ext cx="4206240" cy="17373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7013448" y="3749039"/>
            <a:ext cx="3840479" cy="1554480"/>
          </a:xfrm>
          <a:prstGeom prst="rect">
            <a:avLst/>
          </a:prstGeom>
          <a:noFill/>
        </p:spPr>
        <p:txBody>
          <a:bodyPr wrap="square" lIns="0" rIns="0" tIns="0" bIns="0" anchor="ctr">
            <a:spAutoFit/>
          </a:bodyPr>
          <a:lstStyle/>
          <a:p>
            <a:r>
              <a:rPr sz="1400" b="0">
                <a:solidFill>
                  <a:srgbClr val="585858"/>
                </a:solidFill>
                <a:latin typeface="Arial"/>
              </a:rPr>
              <a:t>Báo cáo B · Gross Margin % Quý 1/2025</a:t>
            </a:r>
          </a:p>
          <a:p>
            <a:pPr>
              <a:spcBef>
                <a:spcPts val="200"/>
              </a:spcBef>
            </a:pPr>
            <a:r>
              <a:rPr sz="3400" b="1">
                <a:solidFill>
                  <a:srgbClr val="9C0006"/>
                </a:solidFill>
                <a:latin typeface="Arial"/>
              </a:rPr>
              <a:t>33,77%</a:t>
            </a:r>
          </a:p>
          <a:p>
            <a:pPr>
              <a:spcBef>
                <a:spcPts val="200"/>
              </a:spcBef>
            </a:pPr>
            <a:r>
              <a:rPr sz="1400" b="0">
                <a:solidFill>
                  <a:srgbClr val="1B2230"/>
                </a:solidFill>
                <a:latin typeface="Arial"/>
              </a:rPr>
              <a:t>trung bình biên lợi nhuận từng dòng</a:t>
            </a:r>
          </a:p>
        </p:txBody>
      </p:sp>
      <p:sp>
        <p:nvSpPr>
          <p:cNvPr id="11" name="TextBox"/>
          <p:cNvSpPr txBox="1"/>
          <p:nvPr/>
        </p:nvSpPr>
        <p:spPr>
          <a:xfrm>
            <a:off x="1527048" y="5532120"/>
            <a:ext cx="10122408" cy="457200"/>
          </a:xfrm>
          <a:prstGeom prst="rect">
            <a:avLst/>
          </a:prstGeom>
          <a:noFill/>
        </p:spPr>
        <p:txBody>
          <a:bodyPr wrap="square" lIns="0" rIns="0" tIns="0" bIns="0" anchor="t">
            <a:spAutoFit/>
          </a:bodyPr>
          <a:lstStyle/>
          <a:p>
            <a:r>
              <a:rPr sz="1600" b="0">
                <a:solidFill>
                  <a:srgbClr val="585858"/>
                </a:solidFill>
                <a:latin typeface="Arial"/>
              </a:rPr>
              <a:t>Cùng một dữ liệu. Không ai bịa số — chỉ là hai công thức khác nhau.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Recap Buổi 4 &amp; file khởi đầu</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0 · MỞ ĐẦU</a:t>
            </a:r>
          </a:p>
        </p:txBody>
      </p:sp>
      <p:sp>
        <p:nvSpPr>
          <p:cNvPr id="4" name="TextBox"/>
          <p:cNvSpPr txBox="1"/>
          <p:nvPr/>
        </p:nvSpPr>
        <p:spPr>
          <a:xfrm>
            <a:off x="1527048" y="1600200"/>
            <a:ext cx="6492240" cy="4206240"/>
          </a:xfrm>
          <a:prstGeom prst="rect">
            <a:avLst/>
          </a:prstGeom>
          <a:noFill/>
        </p:spPr>
        <p:txBody>
          <a:bodyPr wrap="square" lIns="0" rIns="0" tIns="0" bIns="0" anchor="t">
            <a:spAutoFit/>
          </a:bodyPr>
          <a:lstStyle/>
          <a:p>
            <a:r>
              <a:rPr sz="1800" b="1">
                <a:solidFill>
                  <a:srgbClr val="203864"/>
                </a:solidFill>
                <a:latin typeface="Arial"/>
              </a:rPr>
              <a:t>•  </a:t>
            </a:r>
            <a:r>
              <a:rPr sz="1800" b="1">
                <a:solidFill>
                  <a:srgbClr val="203864"/>
                </a:solidFill>
                <a:latin typeface="Arial"/>
              </a:rPr>
              <a:t>Viên gạch B4: </a:t>
            </a:r>
            <a:r>
              <a:rPr sz="1800" b="0">
                <a:solidFill>
                  <a:srgbClr val="1B2230"/>
                </a:solidFill>
                <a:latin typeface="Arial"/>
              </a:rPr>
              <a:t>6 bảng sạch trong Data Model — Sales 30.247 dòng (4.436.849.500), Product 40, Store 12, Customer 1.500, Target 144, Calendar 731. Refresh tự cập nhật.</a:t>
            </a:r>
          </a:p>
          <a:p>
            <a:pPr>
              <a:spcBef>
                <a:spcPts val="1600"/>
              </a:spcBef>
            </a:pPr>
            <a:r>
              <a:rPr sz="1800" b="1">
                <a:solidFill>
                  <a:srgbClr val="203864"/>
                </a:solidFill>
                <a:latin typeface="Arial"/>
              </a:rPr>
              <a:t>•  </a:t>
            </a:r>
            <a:r>
              <a:rPr sz="1800" b="1">
                <a:solidFill>
                  <a:srgbClr val="203864"/>
                </a:solidFill>
                <a:latin typeface="Arial"/>
              </a:rPr>
              <a:t>Bài về nhà B4: </a:t>
            </a:r>
            <a:r>
              <a:rPr sz="1800" b="0">
                <a:solidFill>
                  <a:srgbClr val="1B2230"/>
                </a:solidFill>
                <a:latin typeface="Arial"/>
              </a:rPr>
              <a:t>đối soát trước khi tính % target — ST07 tháng 4 thiếu file bổ sung chỉ đạt 54,3%, đủ file đạt 97,4%; cả chuỗi 103,1%.</a:t>
            </a:r>
          </a:p>
          <a:p>
            <a:pPr>
              <a:spcBef>
                <a:spcPts val="1600"/>
              </a:spcBef>
            </a:pPr>
            <a:r>
              <a:rPr sz="1800" b="1">
                <a:solidFill>
                  <a:srgbClr val="203864"/>
                </a:solidFill>
                <a:latin typeface="Arial"/>
              </a:rPr>
              <a:t>•  </a:t>
            </a:r>
            <a:r>
              <a:rPr sz="1800" b="1">
                <a:solidFill>
                  <a:srgbClr val="203864"/>
                </a:solidFill>
                <a:latin typeface="Arial"/>
              </a:rPr>
              <a:t>File khởi đầu hôm nay </a:t>
            </a:r>
            <a:r>
              <a:rPr sz="1800" b="0">
                <a:solidFill>
                  <a:srgbClr val="1B2230"/>
                </a:solidFill>
                <a:latin typeface="Arial"/>
              </a:rPr>
              <a:t>= đáp án B4 (B4_MCI_Mart_Answer.xlsx). Lưu thành B5_&lt;HoTen&gt;.xlsx. KHÔNG bấm Refresh All.</a:t>
            </a:r>
          </a:p>
        </p:txBody>
      </p:sp>
      <p:sp>
        <p:nvSpPr>
          <p:cNvPr id="5" name="Brick B4"/>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B4 · Pipeline Power Query</a:t>
            </a:r>
          </a:p>
        </p:txBody>
      </p:sp>
      <p:sp>
        <p:nvSpPr>
          <p:cNvPr id="7" name="Brick B5"/>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B5 · Star schema + DAX</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Demo: ../B4_Power_Query/Practice/B4_MCI_Mart_Answer.xlsx (sheet Kiem_tra_B4) · ../B4_Power_Query/Homework/B4_BTVN_MCI_Mart_T4_2025_Answer.xlsx (sheet KetQua_T4)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Data Model: nhiều bảng, một mô hình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View · Diagram View</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graphicFrame>
        <p:nvGraphicFramePr>
          <p:cNvPr id="4" name="Table"/>
          <p:cNvGraphicFramePr>
            <a:graphicFrameLocks noGrp="1"/>
          </p:cNvGraphicFramePr>
          <p:nvPr/>
        </p:nvGraphicFramePr>
        <p:xfrm>
          <a:off x="1527048" y="1417320"/>
          <a:ext cx="10122408" cy="1828800"/>
        </p:xfrm>
        <a:graphic>
          <a:graphicData uri="http://schemas.openxmlformats.org/drawingml/2006/table">
            <a:tbl>
              <a:tblPr firstRow="1" bandRow="0"/>
              <a:tblGrid>
                <a:gridCol w="4206240"/>
                <a:gridCol w="5916168"/>
              </a:tblGrid>
              <a:tr h="457200">
                <a:tc>
                  <a:txBody>
                    <a:bodyPr wrap="square"/>
                    <a:lstStyle/>
                    <a:p>
                      <a:r>
                        <a:rPr sz="14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57200">
                <a:tc>
                  <a:txBody>
                    <a:bodyPr wrap="square"/>
                    <a:lstStyle/>
                    <a:p>
                      <a:r>
                        <a:rPr sz="1400" b="1">
                          <a:solidFill>
                            <a:srgbClr val="C00000"/>
                          </a:solidFill>
                          <a:latin typeface="Arial"/>
                        </a:rPr>
                        <a:t>Data → Manage Data Model</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Mở cửa sổ Power Pivot — nơi chứa Data Model, tách riêng khỏi worksheet (hoặc Power Pivot → Manage)</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Data View</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Mỗi bảng một tab; xem dữ liệu, thêm calculated column; dòng Record ghi số dòng</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400" b="1">
                          <a:solidFill>
                            <a:srgbClr val="C00000"/>
                          </a:solidFill>
                          <a:latin typeface="Arial"/>
                        </a:rPr>
                        <a:t>Diagram View</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Mỗi bảng là một hộp; relationship là đường nối giữa các hộp</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Image placeholder [CHỤP]"/>
          <p:cNvSpPr/>
          <p:nvPr/>
        </p:nvSpPr>
        <p:spPr>
          <a:xfrm>
            <a:off x="1527048" y="3337560"/>
            <a:ext cx="4965192" cy="1874519"/>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3429000"/>
            <a:ext cx="4599431" cy="169163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Data View, tab Sales: 6 tab bảng ở dưới, Record 1 of 30,247</a:t>
            </a:r>
          </a:p>
          <a:p>
            <a:pPr algn="ctr">
              <a:spcBef>
                <a:spcPts val="400"/>
              </a:spcBef>
            </a:pPr>
            <a:r>
              <a:rPr sz="1200" b="0">
                <a:solidFill>
                  <a:srgbClr val="6B6F76"/>
                </a:solidFill>
                <a:latin typeface="Arial"/>
              </a:rPr>
              <a:t>Demo/B5_Demo_Model.xlsx · Data → Manage Data Model → S05a_data_view.png</a:t>
            </a:r>
          </a:p>
        </p:txBody>
      </p:sp>
      <p:sp>
        <p:nvSpPr>
          <p:cNvPr id="7" name="Image placeholder [CHỤP]"/>
          <p:cNvSpPr/>
          <p:nvPr/>
        </p:nvSpPr>
        <p:spPr>
          <a:xfrm>
            <a:off x="6684264" y="3337560"/>
            <a:ext cx="4965192" cy="1874519"/>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867144" y="3429000"/>
            <a:ext cx="4599431" cy="169163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Diagram View: 6 hộp bảng, CHƯA có đường nối nào</a:t>
            </a:r>
          </a:p>
          <a:p>
            <a:pPr algn="ctr">
              <a:spcBef>
                <a:spcPts val="400"/>
              </a:spcBef>
            </a:pPr>
            <a:r>
              <a:rPr sz="1200" b="0">
                <a:solidFill>
                  <a:srgbClr val="6B6F76"/>
                </a:solidFill>
                <a:latin typeface="Arial"/>
              </a:rPr>
              <a:t>Demo/B5_Demo_Model.xlsx · Home → Diagram View → S05b_diagram_roi.png</a:t>
            </a:r>
          </a:p>
        </p:txBody>
      </p:sp>
      <p:sp>
        <p:nvSpPr>
          <p:cNvPr id="9" name="TIP callout"/>
          <p:cNvSpPr/>
          <p:nvPr/>
        </p:nvSpPr>
        <p:spPr>
          <a:xfrm>
            <a:off x="1527048" y="5303520"/>
            <a:ext cx="6309360"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4132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394959"/>
            <a:ext cx="5513832" cy="685800"/>
          </a:xfrm>
          <a:prstGeom prst="rect">
            <a:avLst/>
          </a:prstGeom>
          <a:noFill/>
        </p:spPr>
        <p:txBody>
          <a:bodyPr wrap="square" lIns="0" rIns="0" tIns="0" bIns="0" anchor="t">
            <a:spAutoFit/>
          </a:bodyPr>
          <a:lstStyle/>
          <a:p>
            <a:r>
              <a:rPr sz="1600" b="0">
                <a:solidFill>
                  <a:srgbClr val="1B2230"/>
                </a:solidFill>
                <a:latin typeface="Arial"/>
              </a:rPr>
              <a:t>Không thấy Manage Data Model: bật add-in Power Pivot (File → Options → COM Add-ins).</a:t>
            </a:r>
          </a:p>
        </p:txBody>
      </p:sp>
      <p:sp>
        <p:nvSpPr>
          <p:cNvPr id="12" name="PRO TIP callout"/>
          <p:cNvSpPr/>
          <p:nvPr/>
        </p:nvSpPr>
        <p:spPr>
          <a:xfrm>
            <a:off x="8001000" y="5303520"/>
            <a:ext cx="3648456"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RO TIP chip"/>
          <p:cNvSpPr/>
          <p:nvPr/>
        </p:nvSpPr>
        <p:spPr>
          <a:xfrm>
            <a:off x="8110727" y="541324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4" name="PRO TIP text"/>
          <p:cNvSpPr txBox="1"/>
          <p:nvPr/>
        </p:nvSpPr>
        <p:spPr>
          <a:xfrm>
            <a:off x="9208008" y="5394959"/>
            <a:ext cx="2331720" cy="685800"/>
          </a:xfrm>
          <a:prstGeom prst="rect">
            <a:avLst/>
          </a:prstGeom>
          <a:noFill/>
        </p:spPr>
        <p:txBody>
          <a:bodyPr wrap="square" lIns="0" rIns="0" tIns="0" bIns="0" anchor="t">
            <a:spAutoFit/>
          </a:bodyPr>
          <a:lstStyle/>
          <a:p>
            <a:r>
              <a:rPr sz="1600" b="0">
                <a:solidFill>
                  <a:srgbClr val="1B2230"/>
                </a:solidFill>
                <a:latin typeface="Arial"/>
              </a:rPr>
              <a:t>Diagram View: kéo lookup bao quanh fact.</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Demo/B5_Demo_Model.xlsx, Data → Manage Data Model (Data View, Diagram 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Normalization · Fact vs Lookup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sp>
        <p:nvSpPr>
          <p:cNvPr id="4" name="TextBox"/>
          <p:cNvSpPr txBox="1"/>
          <p:nvPr/>
        </p:nvSpPr>
        <p:spPr>
          <a:xfrm>
            <a:off x="1527048" y="1417320"/>
            <a:ext cx="10122408" cy="457200"/>
          </a:xfrm>
          <a:prstGeom prst="rect">
            <a:avLst/>
          </a:prstGeom>
          <a:noFill/>
        </p:spPr>
        <p:txBody>
          <a:bodyPr wrap="square" lIns="0" rIns="0" tIns="0" bIns="0" anchor="t">
            <a:spAutoFit/>
          </a:bodyPr>
          <a:lstStyle/>
          <a:p>
            <a:r>
              <a:rPr sz="1600" b="1">
                <a:solidFill>
                  <a:srgbClr val="203864"/>
                </a:solidFill>
                <a:latin typeface="Arial"/>
              </a:rPr>
              <a:t>Normalization: </a:t>
            </a:r>
            <a:r>
              <a:rPr sz="1600" b="0">
                <a:solidFill>
                  <a:srgbClr val="1B2230"/>
                </a:solidFill>
                <a:latin typeface="Arial"/>
              </a:rPr>
              <a:t>mỗi thông tin lưu đúng MỘT chỗ — tên ngành nằm ở Product, không lặp lại trên từng dòng bán hàng.</a:t>
            </a:r>
          </a:p>
        </p:txBody>
      </p:sp>
      <p:sp>
        <p:nvSpPr>
          <p:cNvPr id="5" name="TextBox"/>
          <p:cNvSpPr txBox="1"/>
          <p:nvPr/>
        </p:nvSpPr>
        <p:spPr>
          <a:xfrm>
            <a:off x="1527048" y="2057400"/>
            <a:ext cx="4480560" cy="365760"/>
          </a:xfrm>
          <a:prstGeom prst="rect">
            <a:avLst/>
          </a:prstGeom>
          <a:noFill/>
        </p:spPr>
        <p:txBody>
          <a:bodyPr wrap="square" lIns="0" rIns="0" tIns="0" bIns="0" anchor="t">
            <a:spAutoFit/>
          </a:bodyPr>
          <a:lstStyle/>
          <a:p>
            <a:r>
              <a:rPr sz="1500" b="1">
                <a:solidFill>
                  <a:srgbClr val="203864"/>
                </a:solidFill>
                <a:latin typeface="Arial"/>
              </a:rPr>
              <a:t>Fact — ghi sự kiện, có số để cộng</a:t>
            </a:r>
          </a:p>
        </p:txBody>
      </p:sp>
      <p:sp>
        <p:nvSpPr>
          <p:cNvPr id="6" name="Fact Sales"/>
          <p:cNvSpPr/>
          <p:nvPr/>
        </p:nvSpPr>
        <p:spPr>
          <a:xfrm>
            <a:off x="1527048" y="2468880"/>
            <a:ext cx="4480560" cy="1051560"/>
          </a:xfrm>
          <a:prstGeom prst="roundRect">
            <a:avLst>
              <a:gd name="adj" fmla="val 8000"/>
            </a:avLst>
          </a:prstGeom>
          <a:solidFill>
            <a:srgbClr val="203864"/>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514600"/>
            <a:ext cx="4297680" cy="960119"/>
          </a:xfrm>
          <a:prstGeom prst="rect">
            <a:avLst/>
          </a:prstGeom>
          <a:noFill/>
        </p:spPr>
        <p:txBody>
          <a:bodyPr wrap="square" lIns="0" rIns="0" tIns="0" bIns="0" anchor="ctr">
            <a:spAutoFit/>
          </a:bodyPr>
          <a:lstStyle/>
          <a:p>
            <a:pPr algn="ctr"/>
            <a:r>
              <a:rPr sz="1500" b="1">
                <a:solidFill>
                  <a:srgbClr val="FFFFFF"/>
                </a:solidFill>
                <a:latin typeface="Arial"/>
              </a:rPr>
              <a:t>Sales · 30.247 dòng</a:t>
            </a:r>
          </a:p>
          <a:p>
            <a:pPr algn="ctr">
              <a:spcBef>
                <a:spcPts val="200"/>
              </a:spcBef>
            </a:pPr>
            <a:r>
              <a:rPr sz="1200" b="0">
                <a:solidFill>
                  <a:srgbClr val="E3ECF7"/>
                </a:solidFill>
                <a:latin typeface="Arial"/>
              </a:rPr>
              <a:t>grain: 1 sản phẩm trong 1 đơn</a:t>
            </a:r>
          </a:p>
        </p:txBody>
      </p:sp>
      <p:sp>
        <p:nvSpPr>
          <p:cNvPr id="8" name="Fact Target"/>
          <p:cNvSpPr/>
          <p:nvPr/>
        </p:nvSpPr>
        <p:spPr>
          <a:xfrm>
            <a:off x="1527048" y="3657600"/>
            <a:ext cx="4480560" cy="1051560"/>
          </a:xfrm>
          <a:prstGeom prst="roundRect">
            <a:avLst>
              <a:gd name="adj" fmla="val 8000"/>
            </a:avLst>
          </a:prstGeom>
          <a:solidFill>
            <a:srgbClr val="203864"/>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18488" y="3703320"/>
            <a:ext cx="4297680" cy="960119"/>
          </a:xfrm>
          <a:prstGeom prst="rect">
            <a:avLst/>
          </a:prstGeom>
          <a:noFill/>
        </p:spPr>
        <p:txBody>
          <a:bodyPr wrap="square" lIns="0" rIns="0" tIns="0" bIns="0" anchor="ctr">
            <a:spAutoFit/>
          </a:bodyPr>
          <a:lstStyle/>
          <a:p>
            <a:pPr algn="ctr"/>
            <a:r>
              <a:rPr sz="1500" b="1">
                <a:solidFill>
                  <a:srgbClr val="FFFFFF"/>
                </a:solidFill>
                <a:latin typeface="Arial"/>
              </a:rPr>
              <a:t>Target · 144 dòng</a:t>
            </a:r>
          </a:p>
          <a:p>
            <a:pPr algn="ctr">
              <a:spcBef>
                <a:spcPts val="200"/>
              </a:spcBef>
            </a:pPr>
            <a:r>
              <a:rPr sz="1200" b="0">
                <a:solidFill>
                  <a:srgbClr val="E3ECF7"/>
                </a:solidFill>
                <a:latin typeface="Arial"/>
              </a:rPr>
              <a:t>grain: tháng × cửa hàng — fact thứ hai</a:t>
            </a:r>
          </a:p>
        </p:txBody>
      </p:sp>
      <p:sp>
        <p:nvSpPr>
          <p:cNvPr id="10" name="TextBox"/>
          <p:cNvSpPr txBox="1"/>
          <p:nvPr/>
        </p:nvSpPr>
        <p:spPr>
          <a:xfrm>
            <a:off x="6373368" y="2057400"/>
            <a:ext cx="5276088" cy="365760"/>
          </a:xfrm>
          <a:prstGeom prst="rect">
            <a:avLst/>
          </a:prstGeom>
          <a:noFill/>
        </p:spPr>
        <p:txBody>
          <a:bodyPr wrap="square" lIns="0" rIns="0" tIns="0" bIns="0" anchor="t">
            <a:spAutoFit/>
          </a:bodyPr>
          <a:lstStyle/>
          <a:p>
            <a:r>
              <a:rPr sz="1500" b="1">
                <a:solidFill>
                  <a:srgbClr val="203864"/>
                </a:solidFill>
                <a:latin typeface="Arial"/>
              </a:rPr>
              <a:t>Lookup — mô tả, mỗi đối tượng một dòng</a:t>
            </a:r>
          </a:p>
        </p:txBody>
      </p:sp>
      <p:sp>
        <p:nvSpPr>
          <p:cNvPr id="11" name="Lookup Product"/>
          <p:cNvSpPr/>
          <p:nvPr/>
        </p:nvSpPr>
        <p:spPr>
          <a:xfrm>
            <a:off x="6373368" y="246888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6464807" y="2514600"/>
            <a:ext cx="2395727" cy="960119"/>
          </a:xfrm>
          <a:prstGeom prst="rect">
            <a:avLst/>
          </a:prstGeom>
          <a:noFill/>
        </p:spPr>
        <p:txBody>
          <a:bodyPr wrap="square" lIns="0" rIns="0" tIns="0" bIns="0" anchor="ctr">
            <a:spAutoFit/>
          </a:bodyPr>
          <a:lstStyle/>
          <a:p>
            <a:pPr algn="ctr"/>
            <a:r>
              <a:rPr sz="1500" b="1">
                <a:solidFill>
                  <a:srgbClr val="203864"/>
                </a:solidFill>
                <a:latin typeface="Arial"/>
              </a:rPr>
              <a:t>Product · 40</a:t>
            </a:r>
          </a:p>
          <a:p>
            <a:pPr algn="ctr">
              <a:spcBef>
                <a:spcPts val="200"/>
              </a:spcBef>
            </a:pPr>
            <a:r>
              <a:rPr sz="1200" b="0">
                <a:solidFill>
                  <a:srgbClr val="585858"/>
                </a:solidFill>
                <a:latin typeface="Arial"/>
              </a:rPr>
              <a:t>sản phẩm</a:t>
            </a:r>
          </a:p>
        </p:txBody>
      </p:sp>
      <p:sp>
        <p:nvSpPr>
          <p:cNvPr id="13" name="Lookup Store"/>
          <p:cNvSpPr/>
          <p:nvPr/>
        </p:nvSpPr>
        <p:spPr>
          <a:xfrm>
            <a:off x="9070848" y="246888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9162288" y="2514600"/>
            <a:ext cx="2395727" cy="960119"/>
          </a:xfrm>
          <a:prstGeom prst="rect">
            <a:avLst/>
          </a:prstGeom>
          <a:noFill/>
        </p:spPr>
        <p:txBody>
          <a:bodyPr wrap="square" lIns="0" rIns="0" tIns="0" bIns="0" anchor="ctr">
            <a:spAutoFit/>
          </a:bodyPr>
          <a:lstStyle/>
          <a:p>
            <a:pPr algn="ctr"/>
            <a:r>
              <a:rPr sz="1500" b="1">
                <a:solidFill>
                  <a:srgbClr val="203864"/>
                </a:solidFill>
                <a:latin typeface="Arial"/>
              </a:rPr>
              <a:t>Store · 12</a:t>
            </a:r>
          </a:p>
          <a:p>
            <a:pPr algn="ctr">
              <a:spcBef>
                <a:spcPts val="200"/>
              </a:spcBef>
            </a:pPr>
            <a:r>
              <a:rPr sz="1200" b="0">
                <a:solidFill>
                  <a:srgbClr val="585858"/>
                </a:solidFill>
                <a:latin typeface="Arial"/>
              </a:rPr>
              <a:t>cửa hàng</a:t>
            </a:r>
          </a:p>
        </p:txBody>
      </p:sp>
      <p:sp>
        <p:nvSpPr>
          <p:cNvPr id="15" name="Lookup Customer"/>
          <p:cNvSpPr/>
          <p:nvPr/>
        </p:nvSpPr>
        <p:spPr>
          <a:xfrm>
            <a:off x="6373368" y="365760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6464807" y="3703320"/>
            <a:ext cx="2395727" cy="960119"/>
          </a:xfrm>
          <a:prstGeom prst="rect">
            <a:avLst/>
          </a:prstGeom>
          <a:noFill/>
        </p:spPr>
        <p:txBody>
          <a:bodyPr wrap="square" lIns="0" rIns="0" tIns="0" bIns="0" anchor="ctr">
            <a:spAutoFit/>
          </a:bodyPr>
          <a:lstStyle/>
          <a:p>
            <a:pPr algn="ctr"/>
            <a:r>
              <a:rPr sz="1500" b="1">
                <a:solidFill>
                  <a:srgbClr val="203864"/>
                </a:solidFill>
                <a:latin typeface="Arial"/>
              </a:rPr>
              <a:t>Customer · 1.500</a:t>
            </a:r>
          </a:p>
          <a:p>
            <a:pPr algn="ctr">
              <a:spcBef>
                <a:spcPts val="200"/>
              </a:spcBef>
            </a:pPr>
            <a:r>
              <a:rPr sz="1200" b="0">
                <a:solidFill>
                  <a:srgbClr val="585858"/>
                </a:solidFill>
                <a:latin typeface="Arial"/>
              </a:rPr>
              <a:t>khách hàng</a:t>
            </a:r>
          </a:p>
        </p:txBody>
      </p:sp>
      <p:sp>
        <p:nvSpPr>
          <p:cNvPr id="17" name="Lookup Calendar"/>
          <p:cNvSpPr/>
          <p:nvPr/>
        </p:nvSpPr>
        <p:spPr>
          <a:xfrm>
            <a:off x="9070848" y="3657600"/>
            <a:ext cx="2578608" cy="105156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p:cNvSpPr txBox="1"/>
          <p:nvPr/>
        </p:nvSpPr>
        <p:spPr>
          <a:xfrm>
            <a:off x="9162288" y="3703320"/>
            <a:ext cx="2395727" cy="960119"/>
          </a:xfrm>
          <a:prstGeom prst="rect">
            <a:avLst/>
          </a:prstGeom>
          <a:noFill/>
        </p:spPr>
        <p:txBody>
          <a:bodyPr wrap="square" lIns="0" rIns="0" tIns="0" bIns="0" anchor="ctr">
            <a:spAutoFit/>
          </a:bodyPr>
          <a:lstStyle/>
          <a:p>
            <a:pPr algn="ctr"/>
            <a:r>
              <a:rPr sz="1500" b="1">
                <a:solidFill>
                  <a:srgbClr val="203864"/>
                </a:solidFill>
                <a:latin typeface="Arial"/>
              </a:rPr>
              <a:t>Calendar · 731</a:t>
            </a:r>
          </a:p>
          <a:p>
            <a:pPr algn="ctr">
              <a:spcBef>
                <a:spcPts val="200"/>
              </a:spcBef>
            </a:pPr>
            <a:r>
              <a:rPr sz="1200" b="0">
                <a:solidFill>
                  <a:srgbClr val="585858"/>
                </a:solidFill>
                <a:latin typeface="Arial"/>
              </a:rPr>
              <a:t>ngày</a:t>
            </a:r>
          </a:p>
        </p:txBody>
      </p:sp>
      <p:sp>
        <p:nvSpPr>
          <p:cNvPr id="19" name="TIP callout"/>
          <p:cNvSpPr/>
          <p:nvPr/>
        </p:nvSpPr>
        <p:spPr>
          <a:xfrm>
            <a:off x="1527048" y="507492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p:cNvSpPr txBox="1"/>
          <p:nvPr/>
        </p:nvSpPr>
        <p:spPr>
          <a:xfrm>
            <a:off x="1636776" y="51846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21" name="TIP text"/>
          <p:cNvSpPr txBox="1"/>
          <p:nvPr/>
        </p:nvSpPr>
        <p:spPr>
          <a:xfrm>
            <a:off x="2212848" y="5166359"/>
            <a:ext cx="9326880" cy="731520"/>
          </a:xfrm>
          <a:prstGeom prst="rect">
            <a:avLst/>
          </a:prstGeom>
          <a:noFill/>
        </p:spPr>
        <p:txBody>
          <a:bodyPr wrap="square" lIns="0" rIns="0" tIns="0" bIns="0" anchor="t">
            <a:spAutoFit/>
          </a:bodyPr>
          <a:lstStyle/>
          <a:p>
            <a:r>
              <a:rPr sz="1600" b="0">
                <a:solidFill>
                  <a:srgbClr val="1B2230"/>
                </a:solidFill>
                <a:latin typeface="Arial"/>
              </a:rPr>
              <a:t>Bảng fact dài, có cột số (Quantity, Revenue). Bảng lookup ngắn, chủ yếu là chữ. Target là fact: nó ghi một con số kế hoạch — nhưng không có cột sản phẩm.</a:t>
            </a:r>
          </a:p>
        </p:txBody>
      </p:sp>
      <p:sp>
        <p:nvSpPr>
          <p:cNvPr id="2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Số dòng: Data Model của file khởi đầu (Power Pivot → Data 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Primary key · Foreign key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graphicFrame>
        <p:nvGraphicFramePr>
          <p:cNvPr id="4" name="Table"/>
          <p:cNvGraphicFramePr>
            <a:graphicFrameLocks noGrp="1"/>
          </p:cNvGraphicFramePr>
          <p:nvPr/>
        </p:nvGraphicFramePr>
        <p:xfrm>
          <a:off x="1527048" y="1417320"/>
          <a:ext cx="10122408" cy="2514600"/>
        </p:xfrm>
        <a:graphic>
          <a:graphicData uri="http://schemas.openxmlformats.org/drawingml/2006/table">
            <a:tbl>
              <a:tblPr firstRow="1" bandRow="0"/>
              <a:tblGrid>
                <a:gridCol w="2011680"/>
                <a:gridCol w="3108960"/>
                <a:gridCol w="5001768"/>
              </a:tblGrid>
              <a:tr h="502920">
                <a:tc>
                  <a:txBody>
                    <a:bodyPr wrap="square"/>
                    <a:lstStyle/>
                    <a:p>
                      <a:r>
                        <a:rPr sz="1500" b="1">
                          <a:solidFill>
                            <a:srgbClr val="FFFFFF"/>
                          </a:solidFill>
                          <a:latin typeface="Arial"/>
                        </a:rPr>
                        <a:t>Bảng lookup</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Primary key (duy nhất)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500" b="1">
                          <a:solidFill>
                            <a:srgbClr val="FFFFFF"/>
                          </a:solidFill>
                          <a:latin typeface="Arial"/>
                        </a:rPr>
                        <a:t>Foreign key ở bảng fact (lặp lại)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02920">
                <a:tc>
                  <a:txBody>
                    <a:bodyPr wrap="square"/>
                    <a:lstStyle/>
                    <a:p>
                      <a:r>
                        <a:rPr sz="1500" b="1">
                          <a:solidFill>
                            <a:srgbClr val="1B2230"/>
                          </a:solidFill>
                          <a:latin typeface="Arial"/>
                        </a:rPr>
                        <a:t>Product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Product_Code — 40 mã</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Sales[Product_Code]</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500" b="1">
                          <a:solidFill>
                            <a:srgbClr val="1B2230"/>
                          </a:solidFill>
                          <a:latin typeface="Arial"/>
                        </a:rPr>
                        <a:t>Store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Store_Code — 12 mã</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Sales[Store_Code] · Target[Store_Code]</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500" b="1">
                          <a:solidFill>
                            <a:srgbClr val="1B2230"/>
                          </a:solidFill>
                          <a:latin typeface="Arial"/>
                        </a:rPr>
                        <a:t>Customer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Customer_ID — 1.500 mã</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Sales[Customer_ID]</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500" b="1">
                          <a:solidFill>
                            <a:srgbClr val="1B2230"/>
                          </a:solidFill>
                          <a:latin typeface="Arial"/>
                        </a:rPr>
                        <a:t>Calendar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Date — 731 ngày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500" b="0">
                          <a:solidFill>
                            <a:srgbClr val="1B2230"/>
                          </a:solidFill>
                          <a:latin typeface="Arial"/>
                        </a:rPr>
                        <a:t>Sales[Order_Date] · Target[Ngay_Dau_Thang]</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Stat card"/>
          <p:cNvSpPr/>
          <p:nvPr/>
        </p:nvSpPr>
        <p:spPr>
          <a:xfrm>
            <a:off x="1527048" y="4160520"/>
            <a:ext cx="4965192"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4251959"/>
            <a:ext cx="4599431" cy="1051560"/>
          </a:xfrm>
          <a:prstGeom prst="rect">
            <a:avLst/>
          </a:prstGeom>
          <a:noFill/>
        </p:spPr>
        <p:txBody>
          <a:bodyPr wrap="square" lIns="0" rIns="0" tIns="0" bIns="0" anchor="ctr">
            <a:spAutoFit/>
          </a:bodyPr>
          <a:lstStyle/>
          <a:p>
            <a:r>
              <a:rPr sz="1400" b="0">
                <a:solidFill>
                  <a:srgbClr val="585858"/>
                </a:solidFill>
                <a:latin typeface="Arial"/>
              </a:rPr>
              <a:t>Khóa chính phải DUY NHẤT</a:t>
            </a:r>
          </a:p>
          <a:p>
            <a:pPr>
              <a:spcBef>
                <a:spcPts val="200"/>
              </a:spcBef>
            </a:pPr>
            <a:r>
              <a:rPr sz="2200" b="1">
                <a:solidFill>
                  <a:srgbClr val="9C0006"/>
                </a:solidFill>
                <a:latin typeface="Arial"/>
              </a:rPr>
              <a:t>P021 (B2) · P015 (B4)</a:t>
            </a:r>
          </a:p>
          <a:p>
            <a:pPr>
              <a:spcBef>
                <a:spcPts val="200"/>
              </a:spcBef>
            </a:pPr>
            <a:r>
              <a:rPr sz="1400" b="0">
                <a:solidFill>
                  <a:srgbClr val="1B2230"/>
                </a:solidFill>
                <a:latin typeface="Arial"/>
              </a:rPr>
              <a:t>trùng thì không tạo được quan hệ</a:t>
            </a:r>
          </a:p>
        </p:txBody>
      </p:sp>
      <p:sp>
        <p:nvSpPr>
          <p:cNvPr id="7" name="Stat card"/>
          <p:cNvSpPr/>
          <p:nvPr/>
        </p:nvSpPr>
        <p:spPr>
          <a:xfrm>
            <a:off x="6684264" y="4160520"/>
            <a:ext cx="4965192"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867144" y="4251959"/>
            <a:ext cx="4599431" cy="1051560"/>
          </a:xfrm>
          <a:prstGeom prst="rect">
            <a:avLst/>
          </a:prstGeom>
          <a:noFill/>
        </p:spPr>
        <p:txBody>
          <a:bodyPr wrap="square" lIns="0" rIns="0" tIns="0" bIns="0" anchor="ctr">
            <a:spAutoFit/>
          </a:bodyPr>
          <a:lstStyle/>
          <a:p>
            <a:r>
              <a:rPr sz="1400" b="0">
                <a:solidFill>
                  <a:srgbClr val="585858"/>
                </a:solidFill>
                <a:latin typeface="Arial"/>
              </a:rPr>
              <a:t>Khóa ngoại không có trong lookup</a:t>
            </a:r>
          </a:p>
          <a:p>
            <a:pPr>
              <a:spcBef>
                <a:spcPts val="200"/>
              </a:spcBef>
            </a:pPr>
            <a:r>
              <a:rPr sz="2600" b="1">
                <a:solidFill>
                  <a:srgbClr val="2E7D32"/>
                </a:solidFill>
                <a:latin typeface="Arial"/>
              </a:rPr>
              <a:t>0 dòng</a:t>
            </a:r>
          </a:p>
          <a:p>
            <a:pPr>
              <a:spcBef>
                <a:spcPts val="200"/>
              </a:spcBef>
            </a:pPr>
            <a:r>
              <a:rPr sz="1400" b="0">
                <a:solidFill>
                  <a:srgbClr val="1B2230"/>
                </a:solidFill>
                <a:latin typeface="Arial"/>
              </a:rPr>
              <a:t>đã kiểm bằng Left Anti ở B4</a:t>
            </a:r>
          </a:p>
        </p:txBody>
      </p:sp>
      <p:sp>
        <p:nvSpPr>
          <p:cNvPr id="9" name="TIP callout"/>
          <p:cNvSpPr/>
          <p:nvPr/>
        </p:nvSpPr>
        <p:spPr>
          <a:xfrm>
            <a:off x="1527048" y="5486400"/>
            <a:ext cx="10122408" cy="6858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5961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577840"/>
            <a:ext cx="9326880" cy="502920"/>
          </a:xfrm>
          <a:prstGeom prst="rect">
            <a:avLst/>
          </a:prstGeom>
          <a:noFill/>
        </p:spPr>
        <p:txBody>
          <a:bodyPr wrap="square" lIns="0" rIns="0" tIns="0" bIns="0" anchor="t">
            <a:spAutoFit/>
          </a:bodyPr>
          <a:lstStyle/>
          <a:p>
            <a:r>
              <a:rPr sz="1600" b="0">
                <a:solidFill>
                  <a:srgbClr val="1B2230"/>
                </a:solidFill>
                <a:latin typeface="Arial"/>
              </a:rPr>
              <a:t>Ngay_Dau_Thang (B4 thêm vào Target) là cái móc để Target nối vào Calendar.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Relationships vs Merged tables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1 · DATA MODEL</a:t>
            </a:r>
          </a:p>
        </p:txBody>
      </p:sp>
      <p:sp>
        <p:nvSpPr>
          <p:cNvPr id="4" name="Card Merge"/>
          <p:cNvSpPr/>
          <p:nvPr/>
        </p:nvSpPr>
        <p:spPr>
          <a:xfrm>
            <a:off x="1527048" y="1463040"/>
            <a:ext cx="4965192" cy="210312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91639" y="1572768"/>
            <a:ext cx="4636007" cy="1883663"/>
          </a:xfrm>
          <a:prstGeom prst="rect">
            <a:avLst/>
          </a:prstGeom>
          <a:noFill/>
        </p:spPr>
        <p:txBody>
          <a:bodyPr wrap="square" lIns="0" rIns="0" tIns="0" bIns="0" anchor="t">
            <a:spAutoFit/>
          </a:bodyPr>
          <a:lstStyle/>
          <a:p>
            <a:r>
              <a:rPr sz="1600" b="1">
                <a:solidFill>
                  <a:srgbClr val="203864"/>
                </a:solidFill>
                <a:latin typeface="Arial"/>
              </a:rPr>
              <a:t>Merge (Buổi 4)</a:t>
            </a:r>
          </a:p>
          <a:p>
            <a:pPr>
              <a:spcBef>
                <a:spcPts val="500"/>
              </a:spcBef>
            </a:pPr>
            <a:r>
              <a:rPr sz="1500" b="0">
                <a:solidFill>
                  <a:srgbClr val="1B2230"/>
                </a:solidFill>
                <a:latin typeface="Arial"/>
              </a:rPr>
              <a:t>Kéo cột của lookup vào bảng fact → một bảng to, thông tin lặp lại trên mọi dòng.</a:t>
            </a:r>
          </a:p>
          <a:p>
            <a:pPr>
              <a:spcBef>
                <a:spcPts val="500"/>
              </a:spcBef>
            </a:pPr>
            <a:r>
              <a:rPr sz="1500" b="0">
                <a:solidFill>
                  <a:srgbClr val="1B2230"/>
                </a:solidFill>
                <a:latin typeface="Arial"/>
              </a:rPr>
              <a:t>Lookup trùng khóa → số dòng phình ra (28.328 → 29.408), không báo lỗi.</a:t>
            </a:r>
          </a:p>
        </p:txBody>
      </p:sp>
      <p:sp>
        <p:nvSpPr>
          <p:cNvPr id="6" name="Card Relationship"/>
          <p:cNvSpPr/>
          <p:nvPr/>
        </p:nvSpPr>
        <p:spPr>
          <a:xfrm>
            <a:off x="6684264" y="1463040"/>
            <a:ext cx="4965192" cy="210312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848855" y="1572768"/>
            <a:ext cx="4636007" cy="1883663"/>
          </a:xfrm>
          <a:prstGeom prst="rect">
            <a:avLst/>
          </a:prstGeom>
          <a:noFill/>
        </p:spPr>
        <p:txBody>
          <a:bodyPr wrap="square" lIns="0" rIns="0" tIns="0" bIns="0" anchor="t">
            <a:spAutoFit/>
          </a:bodyPr>
          <a:lstStyle/>
          <a:p>
            <a:r>
              <a:rPr sz="1600" b="1">
                <a:solidFill>
                  <a:srgbClr val="2E7D32"/>
                </a:solidFill>
                <a:latin typeface="Arial"/>
              </a:rPr>
              <a:t>Relationship</a:t>
            </a:r>
          </a:p>
          <a:p>
            <a:pPr>
              <a:spcBef>
                <a:spcPts val="500"/>
              </a:spcBef>
            </a:pPr>
            <a:r>
              <a:rPr sz="1500" b="0">
                <a:solidFill>
                  <a:srgbClr val="1B2230"/>
                </a:solidFill>
                <a:latin typeface="Arial"/>
              </a:rPr>
              <a:t>Giữ các bảng riêng, nối bằng khóa; Pivot lấy cột từ bảng nào cũng được.</a:t>
            </a:r>
          </a:p>
          <a:p>
            <a:pPr>
              <a:spcBef>
                <a:spcPts val="500"/>
              </a:spcBef>
            </a:pPr>
            <a:r>
              <a:rPr sz="1500" b="0">
                <a:solidFill>
                  <a:srgbClr val="1B2230"/>
                </a:solidFill>
                <a:latin typeface="Arial"/>
              </a:rPr>
              <a:t>Mỗi thông tin một chỗ → mô hình hình ngôi sao (star schema).</a:t>
            </a:r>
          </a:p>
        </p:txBody>
      </p:sp>
      <p:sp>
        <p:nvSpPr>
          <p:cNvPr id="8" name="Stat card"/>
          <p:cNvSpPr/>
          <p:nvPr/>
        </p:nvSpPr>
        <p:spPr>
          <a:xfrm>
            <a:off x="1527048" y="3749039"/>
            <a:ext cx="4965192" cy="14630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09928" y="3840479"/>
            <a:ext cx="4599431" cy="1280160"/>
          </a:xfrm>
          <a:prstGeom prst="rect">
            <a:avLst/>
          </a:prstGeom>
          <a:noFill/>
        </p:spPr>
        <p:txBody>
          <a:bodyPr wrap="square" lIns="0" rIns="0" tIns="0" bIns="0" anchor="ctr">
            <a:spAutoFit/>
          </a:bodyPr>
          <a:lstStyle/>
          <a:p>
            <a:r>
              <a:rPr sz="1400" b="0">
                <a:solidFill>
                  <a:srgbClr val="585858"/>
                </a:solidFill>
                <a:latin typeface="Arial"/>
              </a:rPr>
              <a:t>Merge Product, Store, Customer vào Sales</a:t>
            </a:r>
          </a:p>
          <a:p>
            <a:pPr>
              <a:spcBef>
                <a:spcPts val="200"/>
              </a:spcBef>
            </a:pPr>
            <a:r>
              <a:rPr sz="3000" b="1">
                <a:solidFill>
                  <a:srgbClr val="9C0006"/>
                </a:solidFill>
                <a:latin typeface="Arial"/>
              </a:rPr>
              <a:t>453.705 ô</a:t>
            </a:r>
          </a:p>
          <a:p>
            <a:pPr>
              <a:spcBef>
                <a:spcPts val="200"/>
              </a:spcBef>
            </a:pPr>
            <a:r>
              <a:rPr sz="1400" b="0">
                <a:solidFill>
                  <a:srgbClr val="1B2230"/>
                </a:solidFill>
                <a:latin typeface="Arial"/>
              </a:rPr>
              <a:t>30.247 dòng × 15 cột mô tả, lặp lại</a:t>
            </a:r>
          </a:p>
        </p:txBody>
      </p:sp>
      <p:sp>
        <p:nvSpPr>
          <p:cNvPr id="10" name="Stat card"/>
          <p:cNvSpPr/>
          <p:nvPr/>
        </p:nvSpPr>
        <p:spPr>
          <a:xfrm>
            <a:off x="6684264" y="3749039"/>
            <a:ext cx="4965192" cy="14630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6867144" y="3840479"/>
            <a:ext cx="4599431" cy="1280160"/>
          </a:xfrm>
          <a:prstGeom prst="rect">
            <a:avLst/>
          </a:prstGeom>
          <a:noFill/>
        </p:spPr>
        <p:txBody>
          <a:bodyPr wrap="square" lIns="0" rIns="0" tIns="0" bIns="0" anchor="ctr">
            <a:spAutoFit/>
          </a:bodyPr>
          <a:lstStyle/>
          <a:p>
            <a:r>
              <a:rPr sz="1400" b="0">
                <a:solidFill>
                  <a:srgbClr val="585858"/>
                </a:solidFill>
                <a:latin typeface="Arial"/>
              </a:rPr>
              <a:t>Giữ lookup riêng + relationship</a:t>
            </a:r>
          </a:p>
          <a:p>
            <a:pPr>
              <a:spcBef>
                <a:spcPts val="200"/>
              </a:spcBef>
            </a:pPr>
            <a:r>
              <a:rPr sz="3000" b="1">
                <a:solidFill>
                  <a:srgbClr val="2E7D32"/>
                </a:solidFill>
                <a:latin typeface="Arial"/>
              </a:rPr>
              <a:t>9.220 ô</a:t>
            </a:r>
          </a:p>
          <a:p>
            <a:pPr>
              <a:spcBef>
                <a:spcPts val="200"/>
              </a:spcBef>
            </a:pPr>
            <a:r>
              <a:rPr sz="1400" b="0">
                <a:solidFill>
                  <a:srgbClr val="1B2230"/>
                </a:solidFill>
                <a:latin typeface="Arial"/>
              </a:rPr>
              <a:t>Product 40×4 · Store 12×5 · Customer 1.500×6</a:t>
            </a:r>
          </a:p>
        </p:txBody>
      </p:sp>
      <p:sp>
        <p:nvSpPr>
          <p:cNvPr id="12"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Star schema: fact ở giữa, lookup xung quanh — mình dựng nó ở Phần 2.</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Số ô tính từ Data Model của file khởi đầu (build_b5_meta.json)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Relationship: nối bảng bằng khóa, không bằng công thức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Tạo và quản lý Relationship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RELATIONSHIP</a:t>
            </a:r>
          </a:p>
        </p:txBody>
      </p:sp>
      <p:graphicFrame>
        <p:nvGraphicFramePr>
          <p:cNvPr id="4" name="Table"/>
          <p:cNvGraphicFramePr>
            <a:graphicFrameLocks noGrp="1"/>
          </p:cNvGraphicFramePr>
          <p:nvPr/>
        </p:nvGraphicFramePr>
        <p:xfrm>
          <a:off x="1527048" y="1417320"/>
          <a:ext cx="10122408" cy="1755648"/>
        </p:xfrm>
        <a:graphic>
          <a:graphicData uri="http://schemas.openxmlformats.org/drawingml/2006/table">
            <a:tbl>
              <a:tblPr firstRow="1" bandRow="0"/>
              <a:tblGrid>
                <a:gridCol w="4206240"/>
                <a:gridCol w="5916168"/>
              </a:tblGrid>
              <a:tr h="438912">
                <a:tc>
                  <a:txBody>
                    <a:bodyPr wrap="square"/>
                    <a:lstStyle/>
                    <a:p>
                      <a:r>
                        <a:rPr sz="14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38912">
                <a:tc>
                  <a:txBody>
                    <a:bodyPr wrap="square"/>
                    <a:lstStyle/>
                    <a:p>
                      <a:r>
                        <a:rPr sz="1400" b="1">
                          <a:solidFill>
                            <a:srgbClr val="C00000"/>
                          </a:solidFill>
                          <a:latin typeface="Arial"/>
                        </a:rPr>
                        <a:t>Kéo thả trong Diagram View</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Kéo cột khóa ngoại của bảng fact, thả lên khóa chính của bảng lookup</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400" b="1">
                          <a:solidFill>
                            <a:srgbClr val="C00000"/>
                          </a:solidFill>
                          <a:latin typeface="Arial"/>
                        </a:rPr>
                        <a:t>Design → Create Relationship</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Hộp thoại chọn bảng và cột hai bên — khi sơ đồ quá rối để kéo</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400" b="1">
                          <a:solidFill>
                            <a:srgbClr val="C00000"/>
                          </a:solidFill>
                          <a:latin typeface="Arial"/>
                        </a:rPr>
                        <a:t>Design → Manage Relationships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Xem, sửa, xóa từng relationship (ngoài Excel: Data → Relationships)</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Image placeholder [CHỤP]"/>
          <p:cNvSpPr/>
          <p:nvPr/>
        </p:nvSpPr>
        <p:spPr>
          <a:xfrm>
            <a:off x="1527048" y="3291840"/>
            <a:ext cx="4206240" cy="19659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3383280"/>
            <a:ext cx="3840479" cy="178308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Create Relationship: Sales / Order_Date ↔ Calendar / Date</a:t>
            </a:r>
          </a:p>
          <a:p>
            <a:pPr algn="ctr">
              <a:spcBef>
                <a:spcPts val="400"/>
              </a:spcBef>
            </a:pPr>
            <a:r>
              <a:rPr sz="1200" b="0">
                <a:solidFill>
                  <a:srgbClr val="6B6F76"/>
                </a:solidFill>
                <a:latin typeface="Arial"/>
              </a:rPr>
              <a:t>Power Pivot → Design → Create Relationship → S10a_create_relationship.png</a:t>
            </a:r>
          </a:p>
        </p:txBody>
      </p:sp>
      <p:sp>
        <p:nvSpPr>
          <p:cNvPr id="7" name="Image placeholder [CHỤP]"/>
          <p:cNvSpPr/>
          <p:nvPr/>
        </p:nvSpPr>
        <p:spPr>
          <a:xfrm>
            <a:off x="5916168" y="3291840"/>
            <a:ext cx="5733288" cy="19659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099048" y="3383280"/>
            <a:ext cx="5367527" cy="178308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Diagram View: Sales ở giữa, 4 đường nối có ký hiệu 1 (lookup) và * (Sales)</a:t>
            </a:r>
          </a:p>
          <a:p>
            <a:pPr algn="ctr">
              <a:spcBef>
                <a:spcPts val="400"/>
              </a:spcBef>
            </a:pPr>
            <a:r>
              <a:rPr sz="1200" b="0">
                <a:solidFill>
                  <a:srgbClr val="6B6F76"/>
                </a:solidFill>
                <a:latin typeface="Arial"/>
              </a:rPr>
              <a:t>Sau khi tạo 4 relationship của Sales → S10b_diagram_sales.png</a:t>
            </a:r>
          </a:p>
        </p:txBody>
      </p:sp>
      <p:sp>
        <p:nvSpPr>
          <p:cNvPr id="9" name="TIP callout"/>
          <p:cNvSpPr/>
          <p:nvPr/>
        </p:nvSpPr>
        <p:spPr>
          <a:xfrm>
            <a:off x="1527048" y="5349240"/>
            <a:ext cx="10122408" cy="82296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636776" y="545896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1" name="TIP text"/>
          <p:cNvSpPr txBox="1"/>
          <p:nvPr/>
        </p:nvSpPr>
        <p:spPr>
          <a:xfrm>
            <a:off x="2212848" y="5440679"/>
            <a:ext cx="9326880" cy="640080"/>
          </a:xfrm>
          <a:prstGeom prst="rect">
            <a:avLst/>
          </a:prstGeom>
          <a:noFill/>
        </p:spPr>
        <p:txBody>
          <a:bodyPr wrap="square" lIns="0" rIns="0" tIns="0" bIns="0" anchor="t">
            <a:spAutoFit/>
          </a:bodyPr>
          <a:lstStyle/>
          <a:p>
            <a:r>
              <a:rPr sz="1600" b="0">
                <a:solidFill>
                  <a:srgbClr val="1B2230"/>
                </a:solidFill>
                <a:latin typeface="Arial"/>
              </a:rPr>
              <a:t>Hai cột phải CÙNG KIỂU dữ liệu (Order_Date và Date đều là Date nhờ Using Locale ở B4). Báo trùng giá trị = khóa lookup bị trùng → Remove Duplicates trong Power Query.</a:t>
            </a:r>
          </a:p>
        </p:txBody>
      </p:sp>
      <p:sp>
        <p:nvSpPr>
          <p:cNvPr id="12"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Demo/B5_Demo_Model.xlsx, Power Pivot → Diagram View; Design → Create Relationship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Cardinality 1-* · Filter direction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RELATIONSHIP</a:t>
            </a:r>
          </a:p>
        </p:txBody>
      </p:sp>
      <p:sp>
        <p:nvSpPr>
          <p:cNvPr id="4" name="Diagram Store"/>
          <p:cNvSpPr/>
          <p:nvPr/>
        </p:nvSpPr>
        <p:spPr>
          <a:xfrm>
            <a:off x="2075688" y="1600200"/>
            <a:ext cx="2743200" cy="914400"/>
          </a:xfrm>
          <a:prstGeom prst="roundRect">
            <a:avLst>
              <a:gd name="adj" fmla="val 8000"/>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2167128" y="1645920"/>
            <a:ext cx="2560320" cy="822960"/>
          </a:xfrm>
          <a:prstGeom prst="rect">
            <a:avLst/>
          </a:prstGeom>
          <a:noFill/>
        </p:spPr>
        <p:txBody>
          <a:bodyPr wrap="square" lIns="0" rIns="0" tIns="0" bIns="0" anchor="ctr">
            <a:spAutoFit/>
          </a:bodyPr>
          <a:lstStyle/>
          <a:p>
            <a:pPr algn="ctr"/>
            <a:r>
              <a:rPr sz="1500" b="1">
                <a:solidFill>
                  <a:srgbClr val="203864"/>
                </a:solidFill>
                <a:latin typeface="Arial"/>
              </a:rPr>
              <a:t>Store · 12 dòng</a:t>
            </a:r>
          </a:p>
          <a:p>
            <a:pPr algn="ctr">
              <a:spcBef>
                <a:spcPts val="200"/>
              </a:spcBef>
            </a:pPr>
            <a:r>
              <a:rPr sz="1200" b="0">
                <a:solidFill>
                  <a:srgbClr val="585858"/>
                </a:solidFill>
                <a:latin typeface="Arial"/>
              </a:rPr>
              <a:t>Region = Nam</a:t>
            </a:r>
          </a:p>
        </p:txBody>
      </p:sp>
      <p:sp>
        <p:nvSpPr>
          <p:cNvPr id="6" name="Diagram Sales"/>
          <p:cNvSpPr/>
          <p:nvPr/>
        </p:nvSpPr>
        <p:spPr>
          <a:xfrm>
            <a:off x="2075688" y="3977639"/>
            <a:ext cx="2743200" cy="914400"/>
          </a:xfrm>
          <a:prstGeom prst="roundRect">
            <a:avLst>
              <a:gd name="adj" fmla="val 8000"/>
            </a:avLst>
          </a:prstGeom>
          <a:solidFill>
            <a:srgbClr val="203864"/>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2167128" y="4023359"/>
            <a:ext cx="2560320" cy="822960"/>
          </a:xfrm>
          <a:prstGeom prst="rect">
            <a:avLst/>
          </a:prstGeom>
          <a:noFill/>
        </p:spPr>
        <p:txBody>
          <a:bodyPr wrap="square" lIns="0" rIns="0" tIns="0" bIns="0" anchor="ctr">
            <a:spAutoFit/>
          </a:bodyPr>
          <a:lstStyle/>
          <a:p>
            <a:pPr algn="ctr"/>
            <a:r>
              <a:rPr sz="1500" b="1">
                <a:solidFill>
                  <a:srgbClr val="FFFFFF"/>
                </a:solidFill>
                <a:latin typeface="Arial"/>
              </a:rPr>
              <a:t>Sales · 30.247 dòng</a:t>
            </a:r>
          </a:p>
          <a:p>
            <a:pPr algn="ctr">
              <a:spcBef>
                <a:spcPts val="200"/>
              </a:spcBef>
            </a:pPr>
            <a:r>
              <a:rPr sz="1200" b="0">
                <a:solidFill>
                  <a:srgbClr val="E3ECF7"/>
                </a:solidFill>
                <a:latin typeface="Arial"/>
              </a:rPr>
              <a:t>chỉ còn dòng cửa hàng miền Nam</a:t>
            </a:r>
          </a:p>
        </p:txBody>
      </p:sp>
      <p:cxnSp>
        <p:nvCxnSpPr>
          <p:cNvPr id="8" name="Filter arrow"/>
          <p:cNvCxnSpPr/>
          <p:nvPr/>
        </p:nvCxnSpPr>
        <p:spPr>
          <a:xfrm>
            <a:off x="3447288" y="2560320"/>
            <a:ext cx="0" cy="1371600"/>
          </a:xfrm>
          <a:prstGeom prst="line">
            <a:avLst/>
          </a:prstGeom>
          <a:ln w="38100">
            <a:solidFill>
              <a:srgbClr val="3398DA"/>
            </a:solidFill>
            <a:tailEnd type="triangle"/>
          </a:ln>
        </p:spPr>
        <p:style>
          <a:lnRef idx="2">
            <a:schemeClr val="accent1"/>
          </a:lnRef>
          <a:fillRef idx="0">
            <a:schemeClr val="accent1"/>
          </a:fillRef>
          <a:effectRef idx="1">
            <a:schemeClr val="accent1"/>
          </a:effectRef>
          <a:fontRef idx="minor">
            <a:schemeClr val="tx1"/>
          </a:fontRef>
        </p:style>
      </p:cxnSp>
      <p:sp>
        <p:nvSpPr>
          <p:cNvPr id="9" name="Card one"/>
          <p:cNvSpPr txBox="1"/>
          <p:nvPr/>
        </p:nvSpPr>
        <p:spPr>
          <a:xfrm>
            <a:off x="3630168" y="2606040"/>
            <a:ext cx="457200" cy="365760"/>
          </a:xfrm>
          <a:prstGeom prst="rect">
            <a:avLst/>
          </a:prstGeom>
          <a:noFill/>
        </p:spPr>
        <p:txBody>
          <a:bodyPr wrap="square" lIns="0" rIns="0" tIns="0" bIns="0" anchor="t">
            <a:spAutoFit/>
          </a:bodyPr>
          <a:lstStyle/>
          <a:p>
            <a:r>
              <a:rPr sz="2000" b="1">
                <a:solidFill>
                  <a:srgbClr val="203864"/>
                </a:solidFill>
                <a:latin typeface="Arial"/>
              </a:rPr>
              <a:t>1</a:t>
            </a:r>
          </a:p>
        </p:txBody>
      </p:sp>
      <p:sp>
        <p:nvSpPr>
          <p:cNvPr id="10" name="Card many"/>
          <p:cNvSpPr txBox="1"/>
          <p:nvPr/>
        </p:nvSpPr>
        <p:spPr>
          <a:xfrm>
            <a:off x="3630168" y="3520440"/>
            <a:ext cx="457200" cy="365760"/>
          </a:xfrm>
          <a:prstGeom prst="rect">
            <a:avLst/>
          </a:prstGeom>
          <a:noFill/>
        </p:spPr>
        <p:txBody>
          <a:bodyPr wrap="square" lIns="0" rIns="0" tIns="0" bIns="0" anchor="t">
            <a:spAutoFit/>
          </a:bodyPr>
          <a:lstStyle/>
          <a:p>
            <a:r>
              <a:rPr sz="2400" b="1">
                <a:solidFill>
                  <a:srgbClr val="203864"/>
                </a:solidFill>
                <a:latin typeface="Arial"/>
              </a:rPr>
              <a:t>*</a:t>
            </a:r>
          </a:p>
        </p:txBody>
      </p:sp>
      <p:sp>
        <p:nvSpPr>
          <p:cNvPr id="11" name="TextBox"/>
          <p:cNvSpPr txBox="1"/>
          <p:nvPr/>
        </p:nvSpPr>
        <p:spPr>
          <a:xfrm>
            <a:off x="5486400" y="1554480"/>
            <a:ext cx="6163056" cy="3840480"/>
          </a:xfrm>
          <a:prstGeom prst="rect">
            <a:avLst/>
          </a:prstGeom>
          <a:noFill/>
        </p:spPr>
        <p:txBody>
          <a:bodyPr wrap="square" lIns="0" rIns="0" tIns="0" bIns="0" anchor="t">
            <a:spAutoFit/>
          </a:bodyPr>
          <a:lstStyle/>
          <a:p>
            <a:r>
              <a:rPr sz="1600" b="1">
                <a:solidFill>
                  <a:srgbClr val="C00000"/>
                </a:solidFill>
                <a:latin typeface="Arial"/>
              </a:rPr>
              <a:t>Cardinality: </a:t>
            </a:r>
            <a:r>
              <a:rPr sz="1600" b="0">
                <a:solidFill>
                  <a:srgbClr val="1B2230"/>
                </a:solidFill>
                <a:latin typeface="Arial"/>
              </a:rPr>
              <a:t>mức độ duy nhất của khóa ở hai đầu — 1 (lookup, duy nhất) – * (fact, lặp lại). Data Model chỉ nhận 1-1 và 1-*; khóa trùng ở cả hai đầu (nhiều–nhiều) không tạo được.</a:t>
            </a:r>
          </a:p>
          <a:p>
            <a:pPr>
              <a:spcBef>
                <a:spcPts val="1400"/>
              </a:spcBef>
            </a:pPr>
            <a:r>
              <a:rPr sz="1600" b="1">
                <a:solidFill>
                  <a:srgbClr val="C00000"/>
                </a:solidFill>
                <a:latin typeface="Arial"/>
              </a:rPr>
              <a:t>Filter direction: </a:t>
            </a:r>
            <a:r>
              <a:rPr sz="1600" b="0">
                <a:solidFill>
                  <a:srgbClr val="1B2230"/>
                </a:solidFill>
                <a:latin typeface="Arial"/>
              </a:rPr>
              <a:t>bộ lọc chảy TỪ LOOKUP XUỐNG FACT. Chọn Region = Nam ở Store → Sales chỉ còn dòng của cửa hàng miền Nam. Chiều ngược lại không có.</a:t>
            </a:r>
          </a:p>
          <a:p>
            <a:pPr>
              <a:spcBef>
                <a:spcPts val="1400"/>
              </a:spcBef>
            </a:pPr>
            <a:r>
              <a:rPr sz="1600" b="1">
                <a:solidFill>
                  <a:srgbClr val="203864"/>
                </a:solidFill>
                <a:latin typeface="Arial"/>
              </a:rPr>
              <a:t>Quy tắc vàng: </a:t>
            </a:r>
            <a:r>
              <a:rPr sz="1600" b="0">
                <a:solidFill>
                  <a:srgbClr val="1B2230"/>
                </a:solidFill>
                <a:latin typeface="Arial"/>
              </a:rPr>
              <a:t>không bao giờ nối thẳng hai bảng fact. Sales và Target gặp nhau qua lookup chung.</a:t>
            </a:r>
          </a:p>
        </p:txBody>
      </p:sp>
      <p:sp>
        <p:nvSpPr>
          <p:cNvPr id="12"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Bộ lọc chảy như nước, từ trên xuống: lookup ở trên, fact ở dưới.</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Sơ đồ khái niệm: bộ lọc từ Store chảy xuống Sales qua relationship Store_Code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Fact thứ hai: Target lọc qua lookup chung</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2 · RELATIONSHIP</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000" b="1">
                <a:solidFill>
                  <a:srgbClr val="C00000"/>
                </a:solidFill>
                <a:latin typeface="Arial"/>
              </a:rPr>
              <a:t>Insert → PivotTable ▾ → From Data Model  ·  relationship cho Target</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Pivot đọc thẳng Data Model. Target chỉ lọc được qua lookup CHUNG với Sales: Target[Store_Code] → Store · Target[Ngay_Dau_Thang] → Calendar.</a:t>
            </a:r>
          </a:p>
        </p:txBody>
      </p:sp>
      <p:sp>
        <p:nvSpPr>
          <p:cNvPr id="6" name="Image placeholder [CHỤP]"/>
          <p:cNvSpPr/>
          <p:nvPr/>
        </p:nvSpPr>
        <p:spPr>
          <a:xfrm>
            <a:off x="1527048" y="2560320"/>
            <a:ext cx="4343400" cy="26060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651760"/>
            <a:ext cx="3977639" cy="24231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Category × Sum of Target: 6 dòng đều 3.665.000.000; thanh vàng “Relationships between tables may be needed”</a:t>
            </a:r>
          </a:p>
          <a:p>
            <a:pPr algn="ctr">
              <a:spcBef>
                <a:spcPts val="400"/>
              </a:spcBef>
            </a:pPr>
            <a:r>
              <a:rPr sz="1200" b="0">
                <a:solidFill>
                  <a:srgbClr val="6B6F76"/>
                </a:solidFill>
                <a:latin typeface="Arial"/>
              </a:rPr>
              <a:t>Sheet PV_Grain, TRƯỚC khi nối Target → S12a_target_lap.png</a:t>
            </a:r>
          </a:p>
        </p:txBody>
      </p:sp>
      <p:sp>
        <p:nvSpPr>
          <p:cNvPr id="8" name="Image placeholder [CHỤP]"/>
          <p:cNvSpPr/>
          <p:nvPr/>
        </p:nvSpPr>
        <p:spPr>
          <a:xfrm>
            <a:off x="6007608" y="2560320"/>
            <a:ext cx="3291840" cy="26060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6190488" y="2651760"/>
            <a:ext cx="2926080" cy="24231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Diagram View: 6 bảng, 6 relationship; Sales và Target cùng nối Store, Calendar</a:t>
            </a:r>
          </a:p>
          <a:p>
            <a:pPr algn="ctr">
              <a:spcBef>
                <a:spcPts val="400"/>
              </a:spcBef>
            </a:pPr>
            <a:r>
              <a:rPr sz="1200" b="0">
                <a:solidFill>
                  <a:srgbClr val="6B6F76"/>
                </a:solidFill>
                <a:latin typeface="Arial"/>
              </a:rPr>
              <a:t>Sau Slide 12 → S12b_diagram_hai_fact.png</a:t>
            </a:r>
          </a:p>
        </p:txBody>
      </p:sp>
      <p:sp>
        <p:nvSpPr>
          <p:cNvPr id="10" name="Stat card"/>
          <p:cNvSpPr/>
          <p:nvPr/>
        </p:nvSpPr>
        <p:spPr>
          <a:xfrm>
            <a:off x="9436608" y="2560320"/>
            <a:ext cx="2212848"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619488" y="2651760"/>
            <a:ext cx="1847088" cy="1051560"/>
          </a:xfrm>
          <a:prstGeom prst="rect">
            <a:avLst/>
          </a:prstGeom>
          <a:noFill/>
        </p:spPr>
        <p:txBody>
          <a:bodyPr wrap="square" lIns="0" rIns="0" tIns="0" bIns="0" anchor="ctr">
            <a:spAutoFit/>
          </a:bodyPr>
          <a:lstStyle/>
          <a:p>
            <a:r>
              <a:rPr sz="1400" b="0">
                <a:solidFill>
                  <a:srgbClr val="585858"/>
                </a:solidFill>
                <a:latin typeface="Arial"/>
              </a:rPr>
              <a:t>Chưa nối · mọi ngành</a:t>
            </a:r>
          </a:p>
          <a:p>
            <a:pPr>
              <a:spcBef>
                <a:spcPts val="200"/>
              </a:spcBef>
            </a:pPr>
            <a:r>
              <a:rPr sz="2200" b="1">
                <a:solidFill>
                  <a:srgbClr val="9C0006"/>
                </a:solidFill>
                <a:latin typeface="Arial"/>
              </a:rPr>
              <a:t>3.665 tr</a:t>
            </a:r>
          </a:p>
          <a:p>
            <a:pPr>
              <a:spcBef>
                <a:spcPts val="200"/>
              </a:spcBef>
            </a:pPr>
            <a:r>
              <a:rPr sz="1400" b="0">
                <a:solidFill>
                  <a:srgbClr val="1B2230"/>
                </a:solidFill>
                <a:latin typeface="Arial"/>
              </a:rPr>
              <a:t>= target cả năm</a:t>
            </a:r>
          </a:p>
        </p:txBody>
      </p:sp>
      <p:sp>
        <p:nvSpPr>
          <p:cNvPr id="12" name="Stat card"/>
          <p:cNvSpPr/>
          <p:nvPr/>
        </p:nvSpPr>
        <p:spPr>
          <a:xfrm>
            <a:off x="9436608" y="3931920"/>
            <a:ext cx="2212848"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9619488" y="4023359"/>
            <a:ext cx="1847088" cy="1051560"/>
          </a:xfrm>
          <a:prstGeom prst="rect">
            <a:avLst/>
          </a:prstGeom>
          <a:noFill/>
        </p:spPr>
        <p:txBody>
          <a:bodyPr wrap="square" lIns="0" rIns="0" tIns="0" bIns="0" anchor="ctr">
            <a:spAutoFit/>
          </a:bodyPr>
          <a:lstStyle/>
          <a:p>
            <a:r>
              <a:rPr sz="1400" b="0">
                <a:solidFill>
                  <a:srgbClr val="585858"/>
                </a:solidFill>
                <a:latin typeface="Arial"/>
              </a:rPr>
              <a:t>Đã nối · theo miền</a:t>
            </a:r>
          </a:p>
          <a:p>
            <a:pPr>
              <a:spcBef>
                <a:spcPts val="200"/>
              </a:spcBef>
            </a:pPr>
            <a:r>
              <a:rPr sz="1600" b="1">
                <a:solidFill>
                  <a:srgbClr val="2E7D32"/>
                </a:solidFill>
                <a:latin typeface="Arial"/>
              </a:rPr>
              <a:t>1.227 · 753 · 1.685</a:t>
            </a:r>
          </a:p>
          <a:p>
            <a:pPr>
              <a:spcBef>
                <a:spcPts val="200"/>
              </a:spcBef>
            </a:pPr>
            <a:r>
              <a:rPr sz="1400" b="0">
                <a:solidFill>
                  <a:srgbClr val="1B2230"/>
                </a:solidFill>
                <a:latin typeface="Arial"/>
              </a:rPr>
              <a:t>triệu (Bắc · Trung · Nam)</a:t>
            </a:r>
          </a:p>
        </p:txBody>
      </p:sp>
      <p:sp>
        <p:nvSpPr>
          <p:cNvPr id="14" name="TIP callout"/>
          <p:cNvSpPr/>
          <p:nvPr/>
        </p:nvSpPr>
        <p:spPr>
          <a:xfrm>
            <a:off x="1527048" y="5303520"/>
            <a:ext cx="10122408" cy="86868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1636776" y="541324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6" name="TIP text"/>
          <p:cNvSpPr txBox="1"/>
          <p:nvPr/>
        </p:nvSpPr>
        <p:spPr>
          <a:xfrm>
            <a:off x="2212848" y="5394959"/>
            <a:ext cx="9326880" cy="685800"/>
          </a:xfrm>
          <a:prstGeom prst="rect">
            <a:avLst/>
          </a:prstGeom>
          <a:noFill/>
        </p:spPr>
        <p:txBody>
          <a:bodyPr wrap="square" lIns="0" rIns="0" tIns="0" bIns="0" anchor="t">
            <a:spAutoFit/>
          </a:bodyPr>
          <a:lstStyle/>
          <a:p>
            <a:r>
              <a:rPr sz="1600" b="0">
                <a:solidFill>
                  <a:srgbClr val="1B2230"/>
                </a:solidFill>
                <a:latin typeface="Arial"/>
              </a:rPr>
              <a:t>Cùng một con số ở MỌI dòng = trường ở Rows không lọc được bảng của trường ở Values. Kiểm tra Diagram View. Target không có cột sản phẩm: ngành hàng lặp lại là ĐÚNG.</a:t>
            </a:r>
          </a:p>
        </p:txBody>
      </p:sp>
      <p:sp>
        <p:nvSpPr>
          <p:cNvPr id="17"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Demo/B5_Demo_Model.xlsx, sheet PV_Grain (Insert → PivotTable → From Data Model); Power Pivot → Diagram View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Nghỉ 10 phút</a:t>
            </a:r>
          </a:p>
        </p:txBody>
      </p:sp>
      <p:sp>
        <p:nvSpPr>
          <p:cNvPr id="3" name="Text Placeholder 2"/>
          <p:cNvSpPr>
            <a:spLocks noGrp="1"/>
          </p:cNvSpPr>
          <p:nvPr>
            <p:ph type="body" idx="1"/>
          </p:nvPr>
        </p:nvSpPr>
        <p:spPr/>
        <p:txBody>
          <a:bodyPr/>
          <a:lstStyle/>
          <a:p>
            <a:r>
              <a:t>Trước khi quay lại: mở Diagram View, kiểm tra đủ 6 relationship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Calculated Column và Measure: tính từng dòng hay tính từng 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Calculated Column · RELATED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COLUMN VS MEASURE</a:t>
            </a:r>
          </a:p>
        </p:txBody>
      </p:sp>
      <p:graphicFrame>
        <p:nvGraphicFramePr>
          <p:cNvPr id="4" name="Table"/>
          <p:cNvGraphicFramePr>
            <a:graphicFrameLocks noGrp="1"/>
          </p:cNvGraphicFramePr>
          <p:nvPr/>
        </p:nvGraphicFramePr>
        <p:xfrm>
          <a:off x="1527048" y="1417320"/>
          <a:ext cx="10122408" cy="1508760"/>
        </p:xfrm>
        <a:graphic>
          <a:graphicData uri="http://schemas.openxmlformats.org/drawingml/2006/table">
            <a:tbl>
              <a:tblPr firstRow="1" bandRow="0"/>
              <a:tblGrid>
                <a:gridCol w="4206240"/>
                <a:gridCol w="5916168"/>
              </a:tblGrid>
              <a:tr h="502920">
                <a:tc>
                  <a:txBody>
                    <a:bodyPr wrap="square"/>
                    <a:lstStyle/>
                    <a:p>
                      <a:r>
                        <a:rPr sz="14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502920">
                <a:tc>
                  <a:txBody>
                    <a:bodyPr wrap="square"/>
                    <a:lstStyle/>
                    <a:p>
                      <a:r>
                        <a:rPr sz="1400" b="1">
                          <a:solidFill>
                            <a:srgbClr val="C00000"/>
                          </a:solidFill>
                          <a:latin typeface="Arial"/>
                        </a:rPr>
                        <a:t>Calculated Column</a:t>
                      </a:r>
                      <a:r>
                        <a:rPr sz="1400" b="0">
                          <a:solidFill>
                            <a:srgbClr val="585858"/>
                          </a:solidFill>
                          <a:latin typeface="Arial"/>
                        </a:rPr>
                        <a:t> (Data View → Add Column)</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Công thức tính cho TỪNG DÒNG, kết quả LƯU thành một cột của bảng</a:t>
                      </a:r>
                    </a:p>
                  </a:txBody>
                  <a:tcPr marL="73152" marR="73152" marT="27432" marB="27432" anchor="ctr">
                    <a:lnL w="0">
                      <a:noFill/>
                    </a:lnL>
                    <a:lnR w="0">
                      <a:noFill/>
                    </a:lnR>
                    <a:lnT w="12700">
                      <a:solidFill>
                        <a:srgbClr val="D9DEE8"/>
                      </a:solidFill>
                    </a:lnT>
                    <a:lnB w="12700">
                      <a:solidFill>
                        <a:srgbClr val="D9DEE8"/>
                      </a:solidFill>
                    </a:lnB>
                    <a:noFill/>
                  </a:tcPr>
                </a:tc>
              </a:tr>
              <a:tr h="502920">
                <a:tc>
                  <a:txBody>
                    <a:bodyPr wrap="square"/>
                    <a:lstStyle/>
                    <a:p>
                      <a:r>
                        <a:rPr sz="1400" b="1">
                          <a:solidFill>
                            <a:srgbClr val="C00000"/>
                          </a:solidFill>
                          <a:latin typeface="Arial"/>
                        </a:rPr>
                        <a:t>RELATED(&lt;cột ở bảng lookup&gt;)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Lấy giá trị từ bảng lookup theo relationship — XLOOKUP của Data Model</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Formula bar"/>
          <p:cNvSpPr/>
          <p:nvPr/>
        </p:nvSpPr>
        <p:spPr>
          <a:xfrm>
            <a:off x="1527048" y="306324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618488" y="306324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7" name="Formula"/>
          <p:cNvSpPr txBox="1"/>
          <p:nvPr/>
        </p:nvSpPr>
        <p:spPr>
          <a:xfrm>
            <a:off x="2075688" y="3063240"/>
            <a:ext cx="9482328" cy="411480"/>
          </a:xfrm>
          <a:prstGeom prst="rect">
            <a:avLst/>
          </a:prstGeom>
          <a:noFill/>
        </p:spPr>
        <p:txBody>
          <a:bodyPr wrap="square" lIns="0" rIns="0" tIns="0" bIns="0" anchor="ctr">
            <a:spAutoFit/>
          </a:bodyPr>
          <a:lstStyle/>
          <a:p>
            <a:r>
              <a:rPr sz="1600" b="0">
                <a:solidFill>
                  <a:srgbClr val="1B2230"/>
                </a:solidFill>
                <a:latin typeface="Arial"/>
              </a:rPr>
              <a:t>= Sales[Quantity] * RELATED(Product[Unit_Cost])        → đổi tên cột: COGS</a:t>
            </a:r>
          </a:p>
        </p:txBody>
      </p:sp>
      <p:sp>
        <p:nvSpPr>
          <p:cNvPr id="8" name="Image placeholder [CHỤP]"/>
          <p:cNvSpPr/>
          <p:nvPr/>
        </p:nvSpPr>
        <p:spPr>
          <a:xfrm>
            <a:off x="1527048" y="3611880"/>
            <a:ext cx="6309360" cy="16916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09928" y="3703320"/>
            <a:ext cx="5943600" cy="15087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Data View bảng Sales: cột COGS ở cuối, thanh công thức =Sales[Quantity]*RELATED(Product[Unit_Cost])</a:t>
            </a:r>
          </a:p>
          <a:p>
            <a:pPr algn="ctr">
              <a:spcBef>
                <a:spcPts val="400"/>
              </a:spcBef>
            </a:pPr>
            <a:r>
              <a:rPr sz="1200" b="0">
                <a:solidFill>
                  <a:srgbClr val="6B6F76"/>
                </a:solidFill>
                <a:latin typeface="Arial"/>
              </a:rPr>
              <a:t>Power Pivot → Data View → Sales → S15_cot_cogs.png</a:t>
            </a:r>
          </a:p>
        </p:txBody>
      </p:sp>
      <p:sp>
        <p:nvSpPr>
          <p:cNvPr id="10" name="TIP callout"/>
          <p:cNvSpPr/>
          <p:nvPr/>
        </p:nvSpPr>
        <p:spPr>
          <a:xfrm>
            <a:off x="8001000" y="3611880"/>
            <a:ext cx="3648456" cy="169164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110727" y="37216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8686800" y="3703320"/>
            <a:ext cx="2852928" cy="1508760"/>
          </a:xfrm>
          <a:prstGeom prst="rect">
            <a:avLst/>
          </a:prstGeom>
          <a:noFill/>
        </p:spPr>
        <p:txBody>
          <a:bodyPr wrap="square" lIns="0" rIns="0" tIns="0" bIns="0" anchor="t">
            <a:spAutoFit/>
          </a:bodyPr>
          <a:lstStyle/>
          <a:p>
            <a:r>
              <a:rPr sz="1600" b="0">
                <a:solidFill>
                  <a:srgbClr val="1B2230"/>
                </a:solidFill>
                <a:latin typeface="Arial"/>
              </a:rPr>
              <a:t>Không có địa chỉ ô kiểu A1: công thức viết theo tên cột, áp cho cả cột. Đổi tên: double-click tiêu đề.</a:t>
            </a:r>
          </a:p>
        </p:txBody>
      </p:sp>
      <p:sp>
        <p:nvSpPr>
          <p:cNvPr id="13" name="PRO 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RO TIP chip"/>
          <p:cNvSpPr/>
          <p:nvPr/>
        </p:nvSpPr>
        <p:spPr>
          <a:xfrm>
            <a:off x="1636776" y="550468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5" name="PRO TIP text"/>
          <p:cNvSpPr txBox="1"/>
          <p:nvPr/>
        </p:nvSpPr>
        <p:spPr>
          <a:xfrm>
            <a:off x="2734056" y="5486400"/>
            <a:ext cx="8805672" cy="548640"/>
          </a:xfrm>
          <a:prstGeom prst="rect">
            <a:avLst/>
          </a:prstGeom>
          <a:noFill/>
        </p:spPr>
        <p:txBody>
          <a:bodyPr wrap="square" lIns="0" rIns="0" tIns="0" bIns="0" anchor="t">
            <a:spAutoFit/>
          </a:bodyPr>
          <a:lstStyle/>
          <a:p>
            <a:r>
              <a:rPr sz="1600" b="0">
                <a:solidFill>
                  <a:srgbClr val="1B2230"/>
                </a:solidFill>
                <a:latin typeface="Arial"/>
              </a:rPr>
              <a:t>RELATED chỉ chạy khi ĐÃ CÓ relationship, và đi từ fact sang lookup (phía “nhiều” sang phía “một”).</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Power Pivot → Data View, bảng Sales, cột COGS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Vì sao KPI tỷ lệ phải là measure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COLUMN VS MEASURE</a:t>
            </a:r>
          </a:p>
        </p:txBody>
      </p:sp>
      <p:sp>
        <p:nvSpPr>
          <p:cNvPr id="4" name="Formula bar"/>
          <p:cNvSpPr/>
          <p:nvPr/>
        </p:nvSpPr>
        <p:spPr>
          <a:xfrm>
            <a:off x="1527048" y="141732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18488" y="141732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6" name="Formula"/>
          <p:cNvSpPr txBox="1"/>
          <p:nvPr/>
        </p:nvSpPr>
        <p:spPr>
          <a:xfrm>
            <a:off x="2075688" y="1417320"/>
            <a:ext cx="9482328" cy="411480"/>
          </a:xfrm>
          <a:prstGeom prst="rect">
            <a:avLst/>
          </a:prstGeom>
          <a:noFill/>
        </p:spPr>
        <p:txBody>
          <a:bodyPr wrap="square" lIns="0" rIns="0" tIns="0" bIns="0" anchor="ctr">
            <a:spAutoFit/>
          </a:bodyPr>
          <a:lstStyle/>
          <a:p>
            <a:r>
              <a:rPr sz="1500" b="0">
                <a:solidFill>
                  <a:srgbClr val="1B2230"/>
                </a:solidFill>
                <a:latin typeface="Arial"/>
              </a:rPr>
              <a:t>GM_Dong = DIVIDE(Sales[Revenue] - Sales[COGS], Sales[Revenue])      (calculated column, thêm tạm)</a:t>
            </a:r>
          </a:p>
        </p:txBody>
      </p:sp>
      <p:graphicFrame>
        <p:nvGraphicFramePr>
          <p:cNvPr id="7" name="Table"/>
          <p:cNvGraphicFramePr>
            <a:graphicFrameLocks noGrp="1"/>
          </p:cNvGraphicFramePr>
          <p:nvPr/>
        </p:nvGraphicFramePr>
        <p:xfrm>
          <a:off x="1527048" y="1965960"/>
          <a:ext cx="6309360" cy="2057400"/>
        </p:xfrm>
        <a:graphic>
          <a:graphicData uri="http://schemas.openxmlformats.org/drawingml/2006/table">
            <a:tbl>
              <a:tblPr firstRow="1" bandRow="0"/>
              <a:tblGrid>
                <a:gridCol w="1828800"/>
                <a:gridCol w="2240280"/>
                <a:gridCol w="2240280"/>
              </a:tblGrid>
              <a:tr h="411480">
                <a:tc>
                  <a:txBody>
                    <a:bodyPr wrap="square"/>
                    <a:lstStyle/>
                    <a:p>
                      <a:r>
                        <a:rPr sz="1300" b="1">
                          <a:solidFill>
                            <a:srgbClr val="FFFFFF"/>
                          </a:solidFill>
                          <a:latin typeface="Arial"/>
                        </a:rPr>
                        <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Calculated Column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r>
                        <a:rPr sz="1300" b="1">
                          <a:solidFill>
                            <a:srgbClr val="1B2230"/>
                          </a:solidFill>
                          <a:latin typeface="Arial"/>
                        </a:rPr>
                        <a:t>Tính theo</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từng dòng (row context)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từng ô Pivot (filter context)</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300" b="1">
                          <a:solidFill>
                            <a:srgbClr val="1B2230"/>
                          </a:solidFill>
                          <a:latin typeface="Arial"/>
                        </a:rPr>
                        <a:t>Lưu trong mô hình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có — tốn bộ nhớ</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không — tính khi cần</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300" b="1">
                          <a:solidFill>
                            <a:srgbClr val="1B2230"/>
                          </a:solidFill>
                          <a:latin typeface="Arial"/>
                        </a:rPr>
                        <a:t>Dùng ở</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Rows, Columns, Filters, Slicer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chỉ ở Values</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300" b="1">
                          <a:solidFill>
                            <a:srgbClr val="1B2230"/>
                          </a:solidFill>
                          <a:latin typeface="Arial"/>
                        </a:rPr>
                        <a:t>Hợp với</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thuộc tính của một dòng</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KPI, tổng, TỶ LỆ</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8" name="Stat card"/>
          <p:cNvSpPr/>
          <p:nvPr/>
        </p:nvSpPr>
        <p:spPr>
          <a:xfrm>
            <a:off x="1527048" y="4206240"/>
            <a:ext cx="2011680" cy="12801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709928" y="4297679"/>
            <a:ext cx="1645920" cy="1097280"/>
          </a:xfrm>
          <a:prstGeom prst="rect">
            <a:avLst/>
          </a:prstGeom>
          <a:noFill/>
        </p:spPr>
        <p:txBody>
          <a:bodyPr wrap="square" lIns="0" rIns="0" tIns="0" bIns="0" anchor="ctr">
            <a:spAutoFit/>
          </a:bodyPr>
          <a:lstStyle/>
          <a:p>
            <a:r>
              <a:rPr sz="1400" b="0">
                <a:solidFill>
                  <a:srgbClr val="585858"/>
                </a:solidFill>
                <a:latin typeface="Arial"/>
              </a:rPr>
              <a:t>Average of GM_Dong</a:t>
            </a:r>
          </a:p>
          <a:p>
            <a:pPr>
              <a:spcBef>
                <a:spcPts val="200"/>
              </a:spcBef>
            </a:pPr>
            <a:r>
              <a:rPr sz="2400" b="1">
                <a:solidFill>
                  <a:srgbClr val="9C0006"/>
                </a:solidFill>
                <a:latin typeface="Arial"/>
              </a:rPr>
              <a:t>33,77%</a:t>
            </a:r>
          </a:p>
          <a:p>
            <a:pPr>
              <a:spcBef>
                <a:spcPts val="200"/>
              </a:spcBef>
            </a:pPr>
            <a:r>
              <a:rPr sz="1400" b="0">
                <a:solidFill>
                  <a:srgbClr val="1B2230"/>
                </a:solidFill>
                <a:latin typeface="Arial"/>
              </a:rPr>
              <a:t>trung bình của tỷ lệ</a:t>
            </a:r>
          </a:p>
        </p:txBody>
      </p:sp>
      <p:sp>
        <p:nvSpPr>
          <p:cNvPr id="10" name="Stat card"/>
          <p:cNvSpPr/>
          <p:nvPr/>
        </p:nvSpPr>
        <p:spPr>
          <a:xfrm>
            <a:off x="3675887" y="4206240"/>
            <a:ext cx="2011680" cy="12801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3858768" y="4297679"/>
            <a:ext cx="1645920" cy="1097280"/>
          </a:xfrm>
          <a:prstGeom prst="rect">
            <a:avLst/>
          </a:prstGeom>
          <a:noFill/>
        </p:spPr>
        <p:txBody>
          <a:bodyPr wrap="square" lIns="0" rIns="0" tIns="0" bIns="0" anchor="ctr">
            <a:spAutoFit/>
          </a:bodyPr>
          <a:lstStyle/>
          <a:p>
            <a:r>
              <a:rPr sz="1400" b="0">
                <a:solidFill>
                  <a:srgbClr val="585858"/>
                </a:solidFill>
                <a:latin typeface="Arial"/>
              </a:rPr>
              <a:t>Sum of GM_Dong</a:t>
            </a:r>
          </a:p>
          <a:p>
            <a:pPr>
              <a:spcBef>
                <a:spcPts val="200"/>
              </a:spcBef>
            </a:pPr>
            <a:r>
              <a:rPr sz="2200" b="1">
                <a:solidFill>
                  <a:srgbClr val="9C0006"/>
                </a:solidFill>
                <a:latin typeface="Arial"/>
              </a:rPr>
              <a:t>208.904%</a:t>
            </a:r>
          </a:p>
          <a:p>
            <a:pPr>
              <a:spcBef>
                <a:spcPts val="200"/>
              </a:spcBef>
            </a:pPr>
            <a:r>
              <a:rPr sz="1400" b="0">
                <a:solidFill>
                  <a:srgbClr val="1B2230"/>
                </a:solidFill>
                <a:latin typeface="Arial"/>
              </a:rPr>
              <a:t>vô nghĩa</a:t>
            </a:r>
          </a:p>
        </p:txBody>
      </p:sp>
      <p:sp>
        <p:nvSpPr>
          <p:cNvPr id="12" name="Stat card"/>
          <p:cNvSpPr/>
          <p:nvPr/>
        </p:nvSpPr>
        <p:spPr>
          <a:xfrm>
            <a:off x="5824728" y="4206240"/>
            <a:ext cx="2011680" cy="12801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6007608" y="4297679"/>
            <a:ext cx="1645920" cy="1097280"/>
          </a:xfrm>
          <a:prstGeom prst="rect">
            <a:avLst/>
          </a:prstGeom>
          <a:noFill/>
        </p:spPr>
        <p:txBody>
          <a:bodyPr wrap="square" lIns="0" rIns="0" tIns="0" bIns="0" anchor="ctr">
            <a:spAutoFit/>
          </a:bodyPr>
          <a:lstStyle/>
          <a:p>
            <a:r>
              <a:rPr sz="1400" b="0">
                <a:solidFill>
                  <a:srgbClr val="585858"/>
                </a:solidFill>
                <a:latin typeface="Arial"/>
              </a:rPr>
              <a:t>Đúng (B2, ô E30)</a:t>
            </a:r>
          </a:p>
          <a:p>
            <a:pPr>
              <a:spcBef>
                <a:spcPts val="200"/>
              </a:spcBef>
            </a:pPr>
            <a:r>
              <a:rPr sz="2400" b="1">
                <a:solidFill>
                  <a:srgbClr val="2E7D32"/>
                </a:solidFill>
                <a:latin typeface="Arial"/>
              </a:rPr>
              <a:t>34,18%</a:t>
            </a:r>
          </a:p>
          <a:p>
            <a:pPr>
              <a:spcBef>
                <a:spcPts val="200"/>
              </a:spcBef>
            </a:pPr>
            <a:r>
              <a:rPr sz="1400" b="0">
                <a:solidFill>
                  <a:srgbClr val="1B2230"/>
                </a:solidFill>
                <a:latin typeface="Arial"/>
              </a:rPr>
              <a:t>tổng LN ÷ tổng DT</a:t>
            </a:r>
          </a:p>
        </p:txBody>
      </p:sp>
      <p:sp>
        <p:nvSpPr>
          <p:cNvPr id="14" name="Image placeholder [CHỤP]"/>
          <p:cNvSpPr/>
          <p:nvPr/>
        </p:nvSpPr>
        <p:spPr>
          <a:xfrm>
            <a:off x="8001000" y="1965960"/>
            <a:ext cx="3648456" cy="35204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p:cNvSpPr txBox="1"/>
          <p:nvPr/>
        </p:nvSpPr>
        <p:spPr>
          <a:xfrm>
            <a:off x="8183879" y="2057400"/>
            <a:ext cx="3282696" cy="33375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Pivot PV_Loc lọc Nam = 2025, Quy = 1: Average of GM_Dong 33,77% và Sum of GM_Dong</a:t>
            </a:r>
          </a:p>
          <a:p>
            <a:pPr algn="ctr">
              <a:spcBef>
                <a:spcPts val="400"/>
              </a:spcBef>
            </a:pPr>
            <a:r>
              <a:rPr sz="1200" b="0">
                <a:solidFill>
                  <a:srgbClr val="6B6F76"/>
                </a:solidFill>
                <a:latin typeface="Arial"/>
              </a:rPr>
              <a:t>Sheet PV_Loc → S16_gm_dong.png</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PV_Loc (cột GM_Dong thêm tạm, xóa sau demo). Đối chiếu: sheet KPI_SUMIFS, ô E30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Implicit vs Explicit measure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3 · COLUMN VS MEASURE</a:t>
            </a:r>
          </a:p>
        </p:txBody>
      </p:sp>
      <p:graphicFrame>
        <p:nvGraphicFramePr>
          <p:cNvPr id="4" name="Table"/>
          <p:cNvGraphicFramePr>
            <a:graphicFrameLocks noGrp="1"/>
          </p:cNvGraphicFramePr>
          <p:nvPr/>
        </p:nvGraphicFramePr>
        <p:xfrm>
          <a:off x="1527048" y="1417320"/>
          <a:ext cx="10122408" cy="1828800"/>
        </p:xfrm>
        <a:graphic>
          <a:graphicData uri="http://schemas.openxmlformats.org/drawingml/2006/table">
            <a:tbl>
              <a:tblPr firstRow="1" bandRow="0"/>
              <a:tblGrid>
                <a:gridCol w="4206240"/>
                <a:gridCol w="5916168"/>
              </a:tblGrid>
              <a:tr h="457200">
                <a:tc>
                  <a:txBody>
                    <a:bodyPr wrap="square"/>
                    <a:lstStyle/>
                    <a:p>
                      <a:r>
                        <a:rPr sz="13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57200">
                <a:tc>
                  <a:txBody>
                    <a:bodyPr wrap="square"/>
                    <a:lstStyle/>
                    <a:p>
                      <a:r>
                        <a:rPr sz="1300" b="1">
                          <a:solidFill>
                            <a:srgbClr val="C00000"/>
                          </a:solidFill>
                          <a:latin typeface="Arial"/>
                        </a:rPr>
                        <a:t>Implicit measure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Tick cột số vào Values → “Sum of …” tự tạo: không tên, không định dạng, KHÔNG dùng lại được</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300" b="1">
                          <a:solidFill>
                            <a:srgbClr val="C00000"/>
                          </a:solidFill>
                          <a:latin typeface="Arial"/>
                        </a:rPr>
                        <a:t>Power Pivot → Measures → New Measure…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Explicit measure: tự đặt tên, viết DAX, chọn định dạng; dùng lại trong measure khác và CUBEVALUE (B6)</a:t>
                      </a:r>
                    </a:p>
                  </a:txBody>
                  <a:tcPr marL="73152" marR="73152" marT="27432" marB="27432" anchor="ctr">
                    <a:lnL w="0">
                      <a:noFill/>
                    </a:lnL>
                    <a:lnR w="0">
                      <a:noFill/>
                    </a:lnR>
                    <a:lnT w="12700">
                      <a:solidFill>
                        <a:srgbClr val="D9DEE8"/>
                      </a:solidFill>
                    </a:lnT>
                    <a:lnB w="12700">
                      <a:solidFill>
                        <a:srgbClr val="D9DEE8"/>
                      </a:solidFill>
                    </a:lnB>
                    <a:noFill/>
                  </a:tcPr>
                </a:tc>
              </a:tr>
              <a:tr h="457200">
                <a:tc>
                  <a:txBody>
                    <a:bodyPr wrap="square"/>
                    <a:lstStyle/>
                    <a:p>
                      <a:r>
                        <a:rPr sz="1300" b="1">
                          <a:solidFill>
                            <a:srgbClr val="C00000"/>
                          </a:solidFill>
                          <a:latin typeface="Arial"/>
                        </a:rPr>
                        <a:t>DIVIDE(tử, mẫu)</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Phép chia an toàn: mẫu bằng 0 hoặc trống → ô trống thay vì lỗi</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graphicFrame>
        <p:nvGraphicFramePr>
          <p:cNvPr id="5" name="Measures"/>
          <p:cNvGraphicFramePr>
            <a:graphicFrameLocks noGrp="1"/>
          </p:cNvGraphicFramePr>
          <p:nvPr/>
        </p:nvGraphicFramePr>
        <p:xfrm>
          <a:off x="1527048" y="3337560"/>
          <a:ext cx="6309360" cy="1536192"/>
        </p:xfrm>
        <a:graphic>
          <a:graphicData uri="http://schemas.openxmlformats.org/drawingml/2006/table">
            <a:tbl>
              <a:tblPr firstRow="1" bandRow="0"/>
              <a:tblGrid>
                <a:gridCol w="2103120"/>
                <a:gridCol w="4206240"/>
              </a:tblGrid>
              <a:tr h="384048">
                <a:tc>
                  <a:txBody>
                    <a:bodyPr wrap="square"/>
                    <a:lstStyle/>
                    <a:p>
                      <a:r>
                        <a:rPr sz="1200" b="1">
                          <a:solidFill>
                            <a:srgbClr val="FFFFFF"/>
                          </a:solidFill>
                          <a:latin typeface="Arial"/>
                        </a:rPr>
                        <a:t>Measure (bảng Sales)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2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r>
                        <a:rPr sz="1200" b="1">
                          <a:solidFill>
                            <a:srgbClr val="1B2230"/>
                          </a:solidFill>
                          <a:latin typeface="Arial"/>
                        </a:rPr>
                        <a:t>Total 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SUM(Sales[Revenue])</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200" b="1">
                          <a:solidFill>
                            <a:srgbClr val="1B2230"/>
                          </a:solidFill>
                          <a:latin typeface="Arial"/>
                        </a:rPr>
                        <a:t>Total COGS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SUM(Sales[COGS])</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200" b="1">
                          <a:solidFill>
                            <a:srgbClr val="1B2230"/>
                          </a:solidFill>
                          <a:latin typeface="Arial"/>
                        </a:rPr>
                        <a:t>Gross Margin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DIVIDE([Total Revenue] - [Total COGS], [Total Revenue])</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6" name="Image placeholder [CHỤP]"/>
          <p:cNvSpPr/>
          <p:nvPr/>
        </p:nvSpPr>
        <p:spPr>
          <a:xfrm>
            <a:off x="8001000" y="3337560"/>
            <a:ext cx="3648456" cy="19202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183879" y="3429000"/>
            <a:ext cx="3282696" cy="17373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Hộp Measure: Gross Margin %, Formula, Check formula, Category Percentage</a:t>
            </a:r>
          </a:p>
          <a:p>
            <a:pPr algn="ctr">
              <a:spcBef>
                <a:spcPts val="400"/>
              </a:spcBef>
            </a:pPr>
            <a:r>
              <a:rPr sz="1200" b="0">
                <a:solidFill>
                  <a:srgbClr val="6B6F76"/>
                </a:solidFill>
                <a:latin typeface="Arial"/>
              </a:rPr>
              <a:t>Power Pivot → Measures → New Measure → S17_measure_dialog.png</a:t>
            </a:r>
          </a:p>
        </p:txBody>
      </p:sp>
      <p:sp>
        <p:nvSpPr>
          <p:cNvPr id="8"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0"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Cột luôn kèm tên bảng: Sales[Revenue]. Measure ghi trần: [Total Revenue]. Quý 1/2025: 941.454.000 · 619.663.000 · 34,2%.</a:t>
            </a:r>
          </a:p>
        </p:txBody>
      </p:sp>
      <p:sp>
        <p:nvSpPr>
          <p:cNvPr id="11"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Power Pivot → Measures → New Measure (Gross Margin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Filter context: ô này đang bị lọc bởi những gì?</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Filter context — Chuỗi C lần 3</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FILTER CONTEXT</a:t>
            </a:r>
          </a:p>
        </p:txBody>
      </p:sp>
      <p:sp>
        <p:nvSpPr>
          <p:cNvPr id="4" name="Spine cell"/>
          <p:cNvSpPr/>
          <p:nvPr/>
        </p:nvSpPr>
        <p:spPr>
          <a:xfrm>
            <a:off x="1527048" y="1554480"/>
            <a:ext cx="2103120" cy="1097280"/>
          </a:xfrm>
          <a:prstGeom prst="roundRect">
            <a:avLst>
              <a:gd name="adj" fmla="val 8000"/>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527048" y="1554480"/>
            <a:ext cx="2103120" cy="1097280"/>
          </a:xfrm>
          <a:prstGeom prst="rect">
            <a:avLst/>
          </a:prstGeom>
          <a:noFill/>
        </p:spPr>
        <p:txBody>
          <a:bodyPr wrap="square" lIns="0" rIns="0" tIns="0" bIns="0" anchor="ctr">
            <a:spAutoFit/>
          </a:bodyPr>
          <a:lstStyle/>
          <a:p>
            <a:pPr algn="ctr"/>
            <a:r>
              <a:rPr sz="2200" b="1">
                <a:solidFill>
                  <a:srgbClr val="FFFFFF"/>
                </a:solidFill>
                <a:latin typeface="Arial"/>
              </a:rPr>
              <a:t>90.210.000</a:t>
            </a:r>
          </a:p>
          <a:p>
            <a:pPr algn="ctr">
              <a:spcBef>
                <a:spcPts val="200"/>
              </a:spcBef>
            </a:pPr>
            <a:r>
              <a:rPr sz="1200" b="0">
                <a:solidFill>
                  <a:srgbClr val="E3ECF7"/>
                </a:solidFill>
                <a:latin typeface="Arial"/>
              </a:rPr>
              <a:t>một ô Pivot</a:t>
            </a:r>
          </a:p>
        </p:txBody>
      </p:sp>
      <p:sp>
        <p:nvSpPr>
          <p:cNvPr id="6" name="Filter 1"/>
          <p:cNvSpPr/>
          <p:nvPr/>
        </p:nvSpPr>
        <p:spPr>
          <a:xfrm>
            <a:off x="4041648" y="1463040"/>
            <a:ext cx="237744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Store[Region] = Bắc</a:t>
            </a:r>
          </a:p>
        </p:txBody>
      </p:sp>
      <p:sp>
        <p:nvSpPr>
          <p:cNvPr id="7" name="Filter 2"/>
          <p:cNvSpPr/>
          <p:nvPr/>
        </p:nvSpPr>
        <p:spPr>
          <a:xfrm>
            <a:off x="4041648" y="1920240"/>
            <a:ext cx="237744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Calendar[Nam] = 2025</a:t>
            </a:r>
          </a:p>
        </p:txBody>
      </p:sp>
      <p:sp>
        <p:nvSpPr>
          <p:cNvPr id="8" name="Filter 3"/>
          <p:cNvSpPr/>
          <p:nvPr/>
        </p:nvSpPr>
        <p:spPr>
          <a:xfrm>
            <a:off x="4041648" y="2377440"/>
            <a:ext cx="2377440" cy="365760"/>
          </a:xfrm>
          <a:prstGeom prst="roundRect">
            <a:avLst>
              <a:gd name="adj" fmla="val 20000"/>
            </a:avLst>
          </a:prstGeom>
          <a:solidFill>
            <a:srgbClr val="FFFFFF"/>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3864"/>
                </a:solidFill>
                <a:latin typeface="Arial"/>
              </a:rPr>
              <a:t>Calendar[Thang] = 3</a:t>
            </a:r>
          </a:p>
        </p:txBody>
      </p:sp>
      <p:sp>
        <p:nvSpPr>
          <p:cNvPr id="9" name="Spine sum"/>
          <p:cNvSpPr/>
          <p:nvPr/>
        </p:nvSpPr>
        <p:spPr>
          <a:xfrm>
            <a:off x="6830568" y="1691640"/>
            <a:ext cx="2286000" cy="82296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6830568" y="1691640"/>
            <a:ext cx="2286000" cy="822960"/>
          </a:xfrm>
          <a:prstGeom prst="rect">
            <a:avLst/>
          </a:prstGeom>
          <a:noFill/>
        </p:spPr>
        <p:txBody>
          <a:bodyPr wrap="square" lIns="0" rIns="0" tIns="0" bIns="0" anchor="ctr">
            <a:spAutoFit/>
          </a:bodyPr>
          <a:lstStyle/>
          <a:p>
            <a:pPr algn="ctr"/>
            <a:r>
              <a:rPr sz="1400" b="1">
                <a:solidFill>
                  <a:srgbClr val="203864"/>
                </a:solidFill>
                <a:latin typeface="Arial"/>
              </a:rPr>
              <a:t>SUM(Sales[Revenue])</a:t>
            </a:r>
          </a:p>
        </p:txBody>
      </p:sp>
      <p:cxnSp>
        <p:nvCxnSpPr>
          <p:cNvPr id="11" name="Arrow 1"/>
          <p:cNvCxnSpPr/>
          <p:nvPr/>
        </p:nvCxnSpPr>
        <p:spPr>
          <a:xfrm flipH="1">
            <a:off x="3675887" y="2103120"/>
            <a:ext cx="320041" cy="0"/>
          </a:xfrm>
          <a:prstGeom prst="line">
            <a:avLst/>
          </a:prstGeom>
          <a:ln w="28575">
            <a:solidFill>
              <a:srgbClr val="3398DA"/>
            </a:solidFill>
            <a:tailEnd type="triangle"/>
          </a:ln>
        </p:spPr>
        <p:style>
          <a:lnRef idx="2">
            <a:schemeClr val="accent1"/>
          </a:lnRef>
          <a:fillRef idx="0">
            <a:schemeClr val="accent1"/>
          </a:fillRef>
          <a:effectRef idx="1">
            <a:schemeClr val="accent1"/>
          </a:effectRef>
          <a:fontRef idx="minor">
            <a:schemeClr val="tx1"/>
          </a:fontRef>
        </p:style>
      </p:cxnSp>
      <p:cxnSp>
        <p:nvCxnSpPr>
          <p:cNvPr id="12" name="Arrow 2"/>
          <p:cNvCxnSpPr/>
          <p:nvPr/>
        </p:nvCxnSpPr>
        <p:spPr>
          <a:xfrm flipH="1">
            <a:off x="6464808" y="2103120"/>
            <a:ext cx="320040" cy="0"/>
          </a:xfrm>
          <a:prstGeom prst="line">
            <a:avLst/>
          </a:prstGeom>
          <a:ln w="28575">
            <a:solidFill>
              <a:srgbClr val="3398DA"/>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3" name="Three times"/>
          <p:cNvGraphicFramePr>
            <a:graphicFrameLocks noGrp="1"/>
          </p:cNvGraphicFramePr>
          <p:nvPr/>
        </p:nvGraphicFramePr>
        <p:xfrm>
          <a:off x="1527048" y="2926080"/>
          <a:ext cx="4663440" cy="1536192"/>
        </p:xfrm>
        <a:graphic>
          <a:graphicData uri="http://schemas.openxmlformats.org/drawingml/2006/table">
            <a:tbl>
              <a:tblPr firstRow="1" bandRow="0"/>
              <a:tblGrid>
                <a:gridCol w="1188720"/>
                <a:gridCol w="3474720"/>
              </a:tblGrid>
              <a:tr h="384048">
                <a:tc>
                  <a:txBody>
                    <a:bodyPr wrap="square"/>
                    <a:lstStyle/>
                    <a:p>
                      <a:r>
                        <a:rPr sz="1300" b="1">
                          <a:solidFill>
                            <a:srgbClr val="FFFFFF"/>
                          </a:solidFill>
                          <a:latin typeface="Arial"/>
                        </a:rPr>
                        <a:t>Buổi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300" b="1">
                          <a:solidFill>
                            <a:srgbClr val="FFFFFF"/>
                          </a:solidFill>
                          <a:latin typeface="Arial"/>
                        </a:rPr>
                        <a:t>Cùng một ý</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r>
                        <a:rPr sz="1300" b="1">
                          <a:solidFill>
                            <a:srgbClr val="1B2230"/>
                          </a:solidFill>
                          <a:latin typeface="Arial"/>
                        </a:rPr>
                        <a:t>B2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tiêu chí SUMIFS (KPI_SUMIFS!D6)</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300" b="1">
                          <a:solidFill>
                            <a:srgbClr val="1B2230"/>
                          </a:solidFill>
                          <a:latin typeface="Arial"/>
                        </a:rPr>
                        <a:t>B3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tọa độ ô Pivot</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300" b="1">
                          <a:solidFill>
                            <a:srgbClr val="1B2230"/>
                          </a:solidFill>
                          <a:latin typeface="Arial"/>
                        </a:rPr>
                        <a:t>B5</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300" b="0">
                          <a:solidFill>
                            <a:srgbClr val="1B2230"/>
                          </a:solidFill>
                          <a:latin typeface="Arial"/>
                        </a:rPr>
                        <a:t>filter context của measure</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14" name="TextBox"/>
          <p:cNvSpPr txBox="1"/>
          <p:nvPr/>
        </p:nvSpPr>
        <p:spPr>
          <a:xfrm>
            <a:off x="1527048" y="4617720"/>
            <a:ext cx="4663440" cy="146304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Đọc tọa độ ô: hàng, cột, Filters, Slicer</a:t>
            </a:r>
          </a:p>
          <a:p>
            <a:pPr>
              <a:spcBef>
                <a:spcPts val="400"/>
              </a:spcBef>
            </a:pPr>
            <a:r>
              <a:rPr sz="1400" b="1">
                <a:solidFill>
                  <a:srgbClr val="203864"/>
                </a:solidFill>
                <a:latin typeface="Arial"/>
              </a:rPr>
              <a:t>2. </a:t>
            </a:r>
            <a:r>
              <a:rPr sz="1400" b="0">
                <a:solidFill>
                  <a:srgbClr val="1B2230"/>
                </a:solidFill>
                <a:latin typeface="Arial"/>
              </a:rPr>
              <a:t>Bộ lọc chảy theo relationship, lookup → Sales</a:t>
            </a:r>
          </a:p>
          <a:p>
            <a:pPr>
              <a:spcBef>
                <a:spcPts val="400"/>
              </a:spcBef>
            </a:pPr>
            <a:r>
              <a:rPr sz="1400" b="1">
                <a:solidFill>
                  <a:srgbClr val="203864"/>
                </a:solidFill>
                <a:latin typeface="Arial"/>
              </a:rPr>
              <a:t>3. </a:t>
            </a:r>
            <a:r>
              <a:rPr sz="1400" b="0">
                <a:solidFill>
                  <a:srgbClr val="1B2230"/>
                </a:solidFill>
                <a:latin typeface="Arial"/>
              </a:rPr>
              <a:t>Tính công thức trên các dòng còn lại</a:t>
            </a:r>
          </a:p>
        </p:txBody>
      </p:sp>
      <p:sp>
        <p:nvSpPr>
          <p:cNvPr id="15" name="Image placeholder [CHỤP]"/>
          <p:cNvSpPr/>
          <p:nvPr/>
        </p:nvSpPr>
        <p:spPr>
          <a:xfrm>
            <a:off x="6373368" y="2926080"/>
            <a:ext cx="5276088" cy="315468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6556248" y="3017520"/>
            <a:ext cx="4910327" cy="297180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Pivot Rows Region · Columns Thang · Filters Nam = 2025, Quy = 1 · Values Total Revenue; ô Bắc × 3 = 90.210.000 đang chọn</a:t>
            </a:r>
          </a:p>
          <a:p>
            <a:pPr algn="ctr">
              <a:spcBef>
                <a:spcPts val="400"/>
              </a:spcBef>
            </a:pPr>
            <a:r>
              <a:rPr sz="1200" b="0">
                <a:solidFill>
                  <a:srgbClr val="6B6F76"/>
                </a:solidFill>
                <a:latin typeface="Arial"/>
              </a:rPr>
              <a:t>Sheet PV_Loc → S19_pivot_mien_thang.png</a:t>
            </a:r>
          </a:p>
        </p:txBody>
      </p:sp>
      <p:sp>
        <p:nvSpPr>
          <p:cNvPr id="17"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Hình xương sống Chuỗi C dùng lại từ B2/B3 · Ảnh: Demo/B5_Demo_DAX.xlsx, sheet PV_Loc. Đối chiếu: sheet KPI_SUMIFS, ô D6 và E9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Lọc bằng cột của lookup</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4 · FILTER CONTEXT</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000" b="1">
                <a:solidFill>
                  <a:srgbClr val="C00000"/>
                </a:solidFill>
                <a:latin typeface="Arial"/>
              </a:rPr>
              <a:t>Hide from Client Tools  (Power Pivot: chuột phải tiêu đề cột)</a:t>
            </a:r>
          </a:p>
        </p:txBody>
      </p:sp>
      <p:sp>
        <p:nvSpPr>
          <p:cNvPr id="5" name="Tool purpose"/>
          <p:cNvSpPr txBox="1"/>
          <p:nvPr/>
        </p:nvSpPr>
        <p:spPr>
          <a:xfrm>
            <a:off x="1527048" y="1874519"/>
            <a:ext cx="10122408" cy="502920"/>
          </a:xfrm>
          <a:prstGeom prst="rect">
            <a:avLst/>
          </a:prstGeom>
          <a:noFill/>
        </p:spPr>
        <p:txBody>
          <a:bodyPr wrap="square" lIns="0" rIns="0" tIns="0" bIns="0" anchor="t">
            <a:spAutoFit/>
          </a:bodyPr>
          <a:lstStyle/>
          <a:p>
            <a:r>
              <a:rPr sz="1600" b="0">
                <a:solidFill>
                  <a:srgbClr val="585858"/>
                </a:solidFill>
                <a:latin typeface="Arial"/>
              </a:rPr>
              <a:t>Ẩn cột khỏi danh sách trường của Pivot, để người dùng không kéo nhầm cột của bảng fact vào Rows / Columns.</a:t>
            </a:r>
          </a:p>
        </p:txBody>
      </p:sp>
      <p:sp>
        <p:nvSpPr>
          <p:cNvPr id="6" name="Image placeholder [CHỤP]"/>
          <p:cNvSpPr/>
          <p:nvPr/>
        </p:nvSpPr>
        <p:spPr>
          <a:xfrm>
            <a:off x="1527048" y="2468880"/>
            <a:ext cx="6309360" cy="260604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709928" y="2560320"/>
            <a:ext cx="5943600" cy="242316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Hai Pivot cạnh nhau (Nam = 2025): trái Rows Calendar[Thang] — đúng; phải Rows Sales[Thang] — Sum of Target 3.665.000.000 ở mọi dòng</a:t>
            </a:r>
          </a:p>
          <a:p>
            <a:pPr algn="ctr">
              <a:spcBef>
                <a:spcPts val="400"/>
              </a:spcBef>
            </a:pPr>
            <a:r>
              <a:rPr sz="1200" b="0">
                <a:solidFill>
                  <a:srgbClr val="6B6F76"/>
                </a:solidFill>
                <a:latin typeface="Arial"/>
              </a:rPr>
              <a:t>Sheet PV_Lookup_vs_Fact, trước khi ẩn cột → S20_lookup_vs_fact.png</a:t>
            </a:r>
          </a:p>
        </p:txBody>
      </p:sp>
      <p:sp>
        <p:nvSpPr>
          <p:cNvPr id="8" name="Rule card"/>
          <p:cNvSpPr/>
          <p:nvPr/>
        </p:nvSpPr>
        <p:spPr>
          <a:xfrm>
            <a:off x="8001000" y="2468880"/>
            <a:ext cx="3648456" cy="260604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165592" y="2578608"/>
            <a:ext cx="3319272" cy="2386584"/>
          </a:xfrm>
          <a:prstGeom prst="rect">
            <a:avLst/>
          </a:prstGeom>
          <a:noFill/>
        </p:spPr>
        <p:txBody>
          <a:bodyPr wrap="square" lIns="0" rIns="0" tIns="0" bIns="0" anchor="t">
            <a:spAutoFit/>
          </a:bodyPr>
          <a:lstStyle/>
          <a:p>
            <a:r>
              <a:rPr sz="1500" b="1">
                <a:solidFill>
                  <a:srgbClr val="203864"/>
                </a:solidFill>
                <a:latin typeface="Arial"/>
              </a:rPr>
              <a:t>Quy tắc</a:t>
            </a:r>
          </a:p>
          <a:p>
            <a:pPr>
              <a:spcBef>
                <a:spcPts val="500"/>
              </a:spcBef>
            </a:pPr>
            <a:r>
              <a:rPr sz="1400" b="0">
                <a:solidFill>
                  <a:srgbClr val="1B2230"/>
                </a:solidFill>
                <a:latin typeface="Arial"/>
              </a:rPr>
              <a:t>Rows, Columns, Filters, Slicer: lấy cột của LOOKUP (Calendar, Store, Product, Customer).</a:t>
            </a:r>
          </a:p>
          <a:p>
            <a:pPr>
              <a:spcBef>
                <a:spcPts val="500"/>
              </a:spcBef>
            </a:pPr>
            <a:r>
              <a:rPr sz="1400" b="1">
                <a:solidFill>
                  <a:srgbClr val="1B2230"/>
                </a:solidFill>
                <a:latin typeface="Arial"/>
              </a:rPr>
              <a:t>Sales[Thang] </a:t>
            </a:r>
            <a:r>
              <a:rPr sz="1400" b="0">
                <a:solidFill>
                  <a:srgbClr val="1B2230"/>
                </a:solidFill>
                <a:latin typeface="Arial"/>
              </a:rPr>
              <a:t>chỉ lọc được Sales — không chảy sang Target.</a:t>
            </a:r>
          </a:p>
        </p:txBody>
      </p:sp>
      <p:sp>
        <p:nvSpPr>
          <p:cNvPr id="10" name="TIP callout"/>
          <p:cNvSpPr/>
          <p:nvPr/>
        </p:nvSpPr>
        <p:spPr>
          <a:xfrm>
            <a:off x="1527048" y="5212080"/>
            <a:ext cx="101224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636776" y="532180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2212848" y="5303520"/>
            <a:ext cx="9326880" cy="731520"/>
          </a:xfrm>
          <a:prstGeom prst="rect">
            <a:avLst/>
          </a:prstGeom>
          <a:noFill/>
        </p:spPr>
        <p:txBody>
          <a:bodyPr wrap="square" lIns="0" rIns="0" tIns="0" bIns="0" anchor="t">
            <a:spAutoFit/>
          </a:bodyPr>
          <a:lstStyle/>
          <a:p>
            <a:r>
              <a:rPr sz="1600" b="0">
                <a:solidFill>
                  <a:srgbClr val="1B2230"/>
                </a:solidFill>
                <a:latin typeface="Arial"/>
              </a:rPr>
              <a:t>Ẩn: Sales[Nam], [Thang], [Order_Date], [Store_Code], [Product_Code], [Customer_ID] · Target[Store_Code], [Thang], [Ngay_Dau_Thang]. Cột ẩn chuyển màu xám trong Data View.</a:t>
            </a:r>
          </a:p>
        </p:txBody>
      </p:sp>
      <p:sp>
        <p:nvSpPr>
          <p:cNvPr id="13"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PV_Lookup_vs_Fact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CALCULATE và ALL: đổi bộ lọc có chủ đích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CALCULATE</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200" b="1">
                <a:solidFill>
                  <a:srgbClr val="C00000"/>
                </a:solidFill>
                <a:latin typeface="Arial"/>
              </a:rPr>
              <a:t>CALCULATE(&lt;biểu thức&gt;, &lt;bộ lọc 1&gt;, &lt;bộ lọc 2&gt;, …)</a:t>
            </a:r>
          </a:p>
        </p:txBody>
      </p:sp>
      <p:sp>
        <p:nvSpPr>
          <p:cNvPr id="5" name="Tool purpose"/>
          <p:cNvSpPr txBox="1"/>
          <p:nvPr/>
        </p:nvSpPr>
        <p:spPr>
          <a:xfrm>
            <a:off x="1527048" y="1874519"/>
            <a:ext cx="10122408" cy="548640"/>
          </a:xfrm>
          <a:prstGeom prst="rect">
            <a:avLst/>
          </a:prstGeom>
          <a:noFill/>
        </p:spPr>
        <p:txBody>
          <a:bodyPr wrap="square" lIns="0" rIns="0" tIns="0" bIns="0" anchor="t">
            <a:spAutoFit/>
          </a:bodyPr>
          <a:lstStyle/>
          <a:p>
            <a:r>
              <a:rPr sz="1600" b="0">
                <a:solidFill>
                  <a:srgbClr val="585858"/>
                </a:solidFill>
                <a:latin typeface="Arial"/>
              </a:rPr>
              <a:t>Tính biểu thức dưới bộ lọc mình đặt; bộ lọc trong CALCULATE GHI ĐÈ bộ lọc cùng cột của ô Pivot, các bộ lọc khác giữ nguyên.</a:t>
            </a:r>
          </a:p>
        </p:txBody>
      </p:sp>
      <p:sp>
        <p:nvSpPr>
          <p:cNvPr id="6" name="Formula bar"/>
          <p:cNvSpPr/>
          <p:nvPr/>
        </p:nvSpPr>
        <p:spPr>
          <a:xfrm>
            <a:off x="1527048" y="2560320"/>
            <a:ext cx="10122408" cy="41148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618488" y="2560320"/>
            <a:ext cx="411480" cy="411480"/>
          </a:xfrm>
          <a:prstGeom prst="rect">
            <a:avLst/>
          </a:prstGeom>
          <a:noFill/>
        </p:spPr>
        <p:txBody>
          <a:bodyPr wrap="square" lIns="0" rIns="0" tIns="0" bIns="0" anchor="ctr">
            <a:spAutoFit/>
          </a:bodyPr>
          <a:lstStyle/>
          <a:p>
            <a:r>
              <a:rPr sz="1400" b="0" i="1">
                <a:solidFill>
                  <a:srgbClr val="6B6F76"/>
                </a:solidFill>
                <a:latin typeface="Arial"/>
              </a:rPr>
              <a:t>fx</a:t>
            </a:r>
          </a:p>
        </p:txBody>
      </p:sp>
      <p:sp>
        <p:nvSpPr>
          <p:cNvPr id="8" name="Formula"/>
          <p:cNvSpPr txBox="1"/>
          <p:nvPr/>
        </p:nvSpPr>
        <p:spPr>
          <a:xfrm>
            <a:off x="2075688" y="2560320"/>
            <a:ext cx="9482328" cy="411480"/>
          </a:xfrm>
          <a:prstGeom prst="rect">
            <a:avLst/>
          </a:prstGeom>
          <a:noFill/>
        </p:spPr>
        <p:txBody>
          <a:bodyPr wrap="square" lIns="0" rIns="0" tIns="0" bIns="0" anchor="ctr">
            <a:spAutoFit/>
          </a:bodyPr>
          <a:lstStyle/>
          <a:p>
            <a:r>
              <a:rPr sz="1600" b="0">
                <a:solidFill>
                  <a:srgbClr val="1B2230"/>
                </a:solidFill>
                <a:latin typeface="Arial"/>
              </a:rPr>
              <a:t>Revenue Mien Nam := CALCULATE([Total Revenue], Store[Region] = "Nam")</a:t>
            </a:r>
          </a:p>
        </p:txBody>
      </p:sp>
      <p:sp>
        <p:nvSpPr>
          <p:cNvPr id="9" name="Image placeholder [CHỤP]"/>
          <p:cNvSpPr/>
          <p:nvPr/>
        </p:nvSpPr>
        <p:spPr>
          <a:xfrm>
            <a:off x="1527048" y="3154680"/>
            <a:ext cx="6309360" cy="210312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709928" y="3246120"/>
            <a:ext cx="5943600" cy="192023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PV_Loc (Q1/2025): Rows Region; Total Revenue và Revenue Mien Nam — 427.663.000 ở cả 3 dòng</a:t>
            </a:r>
          </a:p>
          <a:p>
            <a:pPr algn="ctr">
              <a:spcBef>
                <a:spcPts val="400"/>
              </a:spcBef>
            </a:pPr>
            <a:r>
              <a:rPr sz="1200" b="0">
                <a:solidFill>
                  <a:srgbClr val="6B6F76"/>
                </a:solidFill>
                <a:latin typeface="Arial"/>
              </a:rPr>
              <a:t>Sheet PV_Loc → S22_calculate.png</a:t>
            </a:r>
          </a:p>
        </p:txBody>
      </p:sp>
      <p:sp>
        <p:nvSpPr>
          <p:cNvPr id="11" name="Stat card"/>
          <p:cNvSpPr/>
          <p:nvPr/>
        </p:nvSpPr>
        <p:spPr>
          <a:xfrm>
            <a:off x="8001000" y="3154680"/>
            <a:ext cx="3648456" cy="210312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8183879" y="3246120"/>
            <a:ext cx="3282696" cy="1920239"/>
          </a:xfrm>
          <a:prstGeom prst="rect">
            <a:avLst/>
          </a:prstGeom>
          <a:noFill/>
        </p:spPr>
        <p:txBody>
          <a:bodyPr wrap="square" lIns="0" rIns="0" tIns="0" bIns="0" anchor="ctr">
            <a:spAutoFit/>
          </a:bodyPr>
          <a:lstStyle/>
          <a:p>
            <a:r>
              <a:rPr sz="1400" b="0">
                <a:solidFill>
                  <a:srgbClr val="585858"/>
                </a:solidFill>
                <a:latin typeface="Arial"/>
              </a:rPr>
              <a:t>Revenue Mien Nam ở dòng Bắc, Trung, Nam</a:t>
            </a:r>
          </a:p>
          <a:p>
            <a:pPr>
              <a:spcBef>
                <a:spcPts val="200"/>
              </a:spcBef>
            </a:pPr>
            <a:r>
              <a:rPr sz="2600" b="1">
                <a:solidFill>
                  <a:srgbClr val="203864"/>
                </a:solidFill>
                <a:latin typeface="Arial"/>
              </a:rPr>
              <a:t>427.663.000</a:t>
            </a:r>
          </a:p>
          <a:p>
            <a:pPr>
              <a:spcBef>
                <a:spcPts val="200"/>
              </a:spcBef>
            </a:pPr>
            <a:r>
              <a:rPr sz="1400" b="0">
                <a:solidFill>
                  <a:srgbClr val="1B2230"/>
                </a:solidFill>
                <a:latin typeface="Arial"/>
              </a:rPr>
              <a:t>Region bị thay bằng Nam; bộ lọc Quý 1 vẫn giữ</a:t>
            </a:r>
          </a:p>
        </p:txBody>
      </p:sp>
      <p:sp>
        <p:nvSpPr>
          <p:cNvPr id="13"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5"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Demo xong, xóa measure này: Power Pivot → Measures → Manage Measures → Delete.</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PV_Loc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ALL → % of Total</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sp>
        <p:nvSpPr>
          <p:cNvPr id="4" name="Tool name"/>
          <p:cNvSpPr txBox="1"/>
          <p:nvPr/>
        </p:nvSpPr>
        <p:spPr>
          <a:xfrm>
            <a:off x="1527048" y="1417320"/>
            <a:ext cx="10122408" cy="457200"/>
          </a:xfrm>
          <a:prstGeom prst="rect">
            <a:avLst/>
          </a:prstGeom>
          <a:noFill/>
        </p:spPr>
        <p:txBody>
          <a:bodyPr wrap="square" lIns="0" rIns="0" tIns="0" bIns="0" anchor="t">
            <a:spAutoFit/>
          </a:bodyPr>
          <a:lstStyle/>
          <a:p>
            <a:r>
              <a:rPr sz="2200" b="1">
                <a:solidFill>
                  <a:srgbClr val="C00000"/>
                </a:solidFill>
                <a:latin typeface="Arial"/>
              </a:rPr>
              <a:t>ALL(&lt;bảng hoặc cột&gt;)</a:t>
            </a:r>
          </a:p>
        </p:txBody>
      </p:sp>
      <p:sp>
        <p:nvSpPr>
          <p:cNvPr id="5" name="Tool purpose"/>
          <p:cNvSpPr txBox="1"/>
          <p:nvPr/>
        </p:nvSpPr>
        <p:spPr>
          <a:xfrm>
            <a:off x="1527048" y="1874519"/>
            <a:ext cx="10122408" cy="457200"/>
          </a:xfrm>
          <a:prstGeom prst="rect">
            <a:avLst/>
          </a:prstGeom>
          <a:noFill/>
        </p:spPr>
        <p:txBody>
          <a:bodyPr wrap="square" lIns="0" rIns="0" tIns="0" bIns="0" anchor="t">
            <a:spAutoFit/>
          </a:bodyPr>
          <a:lstStyle/>
          <a:p>
            <a:r>
              <a:rPr sz="1600" b="0">
                <a:solidFill>
                  <a:srgbClr val="585858"/>
                </a:solidFill>
                <a:latin typeface="Arial"/>
              </a:rPr>
              <a:t>Bỏ mọi bộ lọc trên bảng (hoặc cột) đó — dùng trong CALCULATE để lấy “mẫu số chung”.</a:t>
            </a:r>
          </a:p>
        </p:txBody>
      </p:sp>
      <p:graphicFrame>
        <p:nvGraphicFramePr>
          <p:cNvPr id="6" name="Measures"/>
          <p:cNvGraphicFramePr>
            <a:graphicFrameLocks noGrp="1"/>
          </p:cNvGraphicFramePr>
          <p:nvPr/>
        </p:nvGraphicFramePr>
        <p:xfrm>
          <a:off x="1527048" y="2423160"/>
          <a:ext cx="10122408" cy="1234440"/>
        </p:xfrm>
        <a:graphic>
          <a:graphicData uri="http://schemas.openxmlformats.org/drawingml/2006/table">
            <a:tbl>
              <a:tblPr firstRow="1" bandRow="0"/>
              <a:tblGrid>
                <a:gridCol w="2743200"/>
                <a:gridCol w="7379208"/>
              </a:tblGrid>
              <a:tr h="411480">
                <a:tc>
                  <a:txBody>
                    <a:bodyPr wrap="square"/>
                    <a:lstStyle/>
                    <a:p>
                      <a:r>
                        <a:rPr sz="14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r>
                        <a:rPr sz="1400" b="1">
                          <a:solidFill>
                            <a:srgbClr val="1B2230"/>
                          </a:solidFill>
                          <a:latin typeface="Arial"/>
                        </a:rPr>
                        <a:t>Revenue All Stores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CALCULATE([Total Revenue], ALL(Store))</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400" b="1">
                          <a:solidFill>
                            <a:srgbClr val="1B2230"/>
                          </a:solidFill>
                          <a:latin typeface="Arial"/>
                        </a:rPr>
                        <a:t>% Revenue Share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DIVIDE([Total Revenue], [Revenue All Stores])</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7" name="Image placeholder [CHỤP]"/>
          <p:cNvSpPr/>
          <p:nvPr/>
        </p:nvSpPr>
        <p:spPr>
          <a:xfrm>
            <a:off x="1527048" y="3749039"/>
            <a:ext cx="6309360" cy="15087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1709928" y="3840479"/>
            <a:ext cx="5943600" cy="132588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PV_Loc (Q1): Total Revenue · Revenue All Stores 941.454.000 mọi dòng · % Revenue Share</a:t>
            </a:r>
          </a:p>
          <a:p>
            <a:pPr algn="ctr">
              <a:spcBef>
                <a:spcPts val="400"/>
              </a:spcBef>
            </a:pPr>
            <a:r>
              <a:rPr sz="1200" b="0">
                <a:solidFill>
                  <a:srgbClr val="6B6F76"/>
                </a:solidFill>
                <a:latin typeface="Arial"/>
              </a:rPr>
              <a:t>Sheet PV_Loc → S23_pct_of_total.png</a:t>
            </a:r>
          </a:p>
        </p:txBody>
      </p:sp>
      <p:sp>
        <p:nvSpPr>
          <p:cNvPr id="9" name="Share Bắc"/>
          <p:cNvSpPr/>
          <p:nvPr/>
        </p:nvSpPr>
        <p:spPr>
          <a:xfrm>
            <a:off x="8001000" y="3749039"/>
            <a:ext cx="1170432" cy="15087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183879" y="3840479"/>
            <a:ext cx="804672" cy="1325880"/>
          </a:xfrm>
          <a:prstGeom prst="rect">
            <a:avLst/>
          </a:prstGeom>
          <a:noFill/>
        </p:spPr>
        <p:txBody>
          <a:bodyPr wrap="square" lIns="0" rIns="0" tIns="0" bIns="0" anchor="ctr">
            <a:spAutoFit/>
          </a:bodyPr>
          <a:lstStyle/>
          <a:p>
            <a:r>
              <a:rPr sz="1400" b="0">
                <a:solidFill>
                  <a:srgbClr val="585858"/>
                </a:solidFill>
                <a:latin typeface="Arial"/>
              </a:rPr>
              <a:t>Bắc</a:t>
            </a:r>
          </a:p>
          <a:p>
            <a:pPr>
              <a:spcBef>
                <a:spcPts val="200"/>
              </a:spcBef>
            </a:pPr>
            <a:r>
              <a:rPr sz="1800" b="1">
                <a:solidFill>
                  <a:srgbClr val="203864"/>
                </a:solidFill>
                <a:latin typeface="Arial"/>
              </a:rPr>
              <a:t>34,4%</a:t>
            </a:r>
          </a:p>
        </p:txBody>
      </p:sp>
      <p:sp>
        <p:nvSpPr>
          <p:cNvPr id="11" name="Share Trung"/>
          <p:cNvSpPr/>
          <p:nvPr/>
        </p:nvSpPr>
        <p:spPr>
          <a:xfrm>
            <a:off x="9244584" y="3749039"/>
            <a:ext cx="1170432" cy="15087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9427463" y="3840479"/>
            <a:ext cx="804672" cy="1325880"/>
          </a:xfrm>
          <a:prstGeom prst="rect">
            <a:avLst/>
          </a:prstGeom>
          <a:noFill/>
        </p:spPr>
        <p:txBody>
          <a:bodyPr wrap="square" lIns="0" rIns="0" tIns="0" bIns="0" anchor="ctr">
            <a:spAutoFit/>
          </a:bodyPr>
          <a:lstStyle/>
          <a:p>
            <a:r>
              <a:rPr sz="1400" b="0">
                <a:solidFill>
                  <a:srgbClr val="585858"/>
                </a:solidFill>
                <a:latin typeface="Arial"/>
              </a:rPr>
              <a:t>Trung</a:t>
            </a:r>
          </a:p>
          <a:p>
            <a:pPr>
              <a:spcBef>
                <a:spcPts val="200"/>
              </a:spcBef>
            </a:pPr>
            <a:r>
              <a:rPr sz="1800" b="1">
                <a:solidFill>
                  <a:srgbClr val="203864"/>
                </a:solidFill>
                <a:latin typeface="Arial"/>
              </a:rPr>
              <a:t>20,2%</a:t>
            </a:r>
          </a:p>
        </p:txBody>
      </p:sp>
      <p:sp>
        <p:nvSpPr>
          <p:cNvPr id="13" name="Share Nam"/>
          <p:cNvSpPr/>
          <p:nvPr/>
        </p:nvSpPr>
        <p:spPr>
          <a:xfrm>
            <a:off x="10488168" y="3749039"/>
            <a:ext cx="1170432" cy="150876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10671048" y="3840479"/>
            <a:ext cx="804672" cy="1325880"/>
          </a:xfrm>
          <a:prstGeom prst="rect">
            <a:avLst/>
          </a:prstGeom>
          <a:noFill/>
        </p:spPr>
        <p:txBody>
          <a:bodyPr wrap="square" lIns="0" rIns="0" tIns="0" bIns="0" anchor="ctr">
            <a:spAutoFit/>
          </a:bodyPr>
          <a:lstStyle/>
          <a:p>
            <a:r>
              <a:rPr sz="1400" b="0">
                <a:solidFill>
                  <a:srgbClr val="585858"/>
                </a:solidFill>
                <a:latin typeface="Arial"/>
              </a:rPr>
              <a:t>Nam</a:t>
            </a:r>
          </a:p>
          <a:p>
            <a:pPr>
              <a:spcBef>
                <a:spcPts val="200"/>
              </a:spcBef>
            </a:pPr>
            <a:r>
              <a:rPr sz="1800" b="1">
                <a:solidFill>
                  <a:srgbClr val="203864"/>
                </a:solidFill>
                <a:latin typeface="Arial"/>
              </a:rPr>
              <a:t>45,4%</a:t>
            </a:r>
          </a:p>
        </p:txBody>
      </p:sp>
      <p:sp>
        <p:nvSpPr>
          <p:cNvPr id="15"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7"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Đúng Pct_Share của Buổi 1. B1 khóa mẫu số bằng $B$5; DAX khóa bằng ALL. ALL(Store) bỏ lọc miền, cửa hàng — bộ lọc Calendar vẫn giữ.</a:t>
            </a:r>
          </a:p>
        </p:txBody>
      </p:sp>
      <p:sp>
        <p:nvSpPr>
          <p:cNvPr id="1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PV_Loc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Measure cho Target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graphicFrame>
        <p:nvGraphicFramePr>
          <p:cNvPr id="4" name="Measures"/>
          <p:cNvGraphicFramePr>
            <a:graphicFrameLocks noGrp="1"/>
          </p:cNvGraphicFramePr>
          <p:nvPr/>
        </p:nvGraphicFramePr>
        <p:xfrm>
          <a:off x="1527048" y="1417320"/>
          <a:ext cx="10122408" cy="1645920"/>
        </p:xfrm>
        <a:graphic>
          <a:graphicData uri="http://schemas.openxmlformats.org/drawingml/2006/table">
            <a:tbl>
              <a:tblPr firstRow="1" bandRow="0"/>
              <a:tblGrid>
                <a:gridCol w="2743200"/>
                <a:gridCol w="7379208"/>
              </a:tblGrid>
              <a:tr h="411480">
                <a:tc>
                  <a:txBody>
                    <a:bodyPr wrap="square"/>
                    <a:lstStyle/>
                    <a:p>
                      <a:r>
                        <a:rPr sz="14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4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r>
                        <a:rPr sz="1400" b="1">
                          <a:solidFill>
                            <a:srgbClr val="1B2230"/>
                          </a:solidFill>
                          <a:latin typeface="Arial"/>
                        </a:rPr>
                        <a:t>Total Target  (bảng Target)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SUM(Target[Target])</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400" b="1">
                          <a:solidFill>
                            <a:srgbClr val="1B2230"/>
                          </a:solidFill>
                          <a:latin typeface="Arial"/>
                        </a:rPr>
                        <a:t>Revenue vs Target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0">
                          <a:solidFill>
                            <a:srgbClr val="1B2230"/>
                          </a:solidFill>
                          <a:latin typeface="Arial"/>
                        </a:rPr>
                        <a:t>DIVIDE([Total Revenue], [Total Target])</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r>
                        <a:rPr sz="1400" b="1">
                          <a:solidFill>
                            <a:srgbClr val="1B2230"/>
                          </a:solidFill>
                          <a:latin typeface="Arial"/>
                        </a:rPr>
                        <a:t>Variance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400" b="1">
                          <a:solidFill>
                            <a:srgbClr val="C00000"/>
                          </a:solidFill>
                          <a:latin typeface="Arial"/>
                        </a:rPr>
                        <a:t>IF(ISBLANK([Total Revenue]), BLANK(), </a:t>
                      </a:r>
                      <a:r>
                        <a:rPr sz="1400" b="0">
                          <a:solidFill>
                            <a:srgbClr val="1B2230"/>
                          </a:solidFill>
                          <a:latin typeface="Arial"/>
                        </a:rPr>
                        <a:t>[Total Revenue] - [Total Target])</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Image placeholder [CHỤP]"/>
          <p:cNvSpPr/>
          <p:nvPr/>
        </p:nvSpPr>
        <p:spPr>
          <a:xfrm>
            <a:off x="1527048" y="3200400"/>
            <a:ext cx="6309360" cy="20574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3291840"/>
            <a:ext cx="5943600" cy="1874519"/>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PV_Target (Nam = 2025): Total Revenue, Total Target, Revenue vs Target %, Variance theo Calendar[Thang]; T5–T12 chỉ có target</a:t>
            </a:r>
          </a:p>
          <a:p>
            <a:pPr algn="ctr">
              <a:spcBef>
                <a:spcPts val="400"/>
              </a:spcBef>
            </a:pPr>
            <a:r>
              <a:rPr sz="1200" b="0">
                <a:solidFill>
                  <a:srgbClr val="6B6F76"/>
                </a:solidFill>
                <a:latin typeface="Arial"/>
              </a:rPr>
              <a:t>Sheet PV_Target → S24_target_thang.png</a:t>
            </a:r>
          </a:p>
        </p:txBody>
      </p:sp>
      <p:sp>
        <p:nvSpPr>
          <p:cNvPr id="7" name="Month T1"/>
          <p:cNvSpPr/>
          <p:nvPr/>
        </p:nvSpPr>
        <p:spPr>
          <a:xfrm>
            <a:off x="8001000" y="320040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183879" y="3291840"/>
            <a:ext cx="1426464" cy="822960"/>
          </a:xfrm>
          <a:prstGeom prst="rect">
            <a:avLst/>
          </a:prstGeom>
          <a:noFill/>
        </p:spPr>
        <p:txBody>
          <a:bodyPr wrap="square" lIns="0" rIns="0" tIns="0" bIns="0" anchor="ctr">
            <a:spAutoFit/>
          </a:bodyPr>
          <a:lstStyle/>
          <a:p>
            <a:r>
              <a:rPr sz="1400" b="0">
                <a:solidFill>
                  <a:srgbClr val="585858"/>
                </a:solidFill>
                <a:latin typeface="Arial"/>
              </a:rPr>
              <a:t>T1/2025</a:t>
            </a:r>
          </a:p>
          <a:p>
            <a:pPr>
              <a:spcBef>
                <a:spcPts val="200"/>
              </a:spcBef>
            </a:pPr>
            <a:r>
              <a:rPr sz="2000" b="1">
                <a:solidFill>
                  <a:srgbClr val="2E7D32"/>
                </a:solidFill>
                <a:latin typeface="Arial"/>
              </a:rPr>
              <a:t>120,6%</a:t>
            </a:r>
          </a:p>
        </p:txBody>
      </p:sp>
      <p:sp>
        <p:nvSpPr>
          <p:cNvPr id="9" name="Month T2"/>
          <p:cNvSpPr/>
          <p:nvPr/>
        </p:nvSpPr>
        <p:spPr>
          <a:xfrm>
            <a:off x="9857232" y="320040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10040111" y="3291840"/>
            <a:ext cx="1426464" cy="822960"/>
          </a:xfrm>
          <a:prstGeom prst="rect">
            <a:avLst/>
          </a:prstGeom>
          <a:noFill/>
        </p:spPr>
        <p:txBody>
          <a:bodyPr wrap="square" lIns="0" rIns="0" tIns="0" bIns="0" anchor="ctr">
            <a:spAutoFit/>
          </a:bodyPr>
          <a:lstStyle/>
          <a:p>
            <a:r>
              <a:rPr sz="1400" b="0">
                <a:solidFill>
                  <a:srgbClr val="585858"/>
                </a:solidFill>
                <a:latin typeface="Arial"/>
              </a:rPr>
              <a:t>T2/2025</a:t>
            </a:r>
          </a:p>
          <a:p>
            <a:pPr>
              <a:spcBef>
                <a:spcPts val="200"/>
              </a:spcBef>
            </a:pPr>
            <a:r>
              <a:rPr sz="2000" b="1">
                <a:solidFill>
                  <a:srgbClr val="9C0006"/>
                </a:solidFill>
                <a:latin typeface="Arial"/>
              </a:rPr>
              <a:t>82,5%</a:t>
            </a:r>
          </a:p>
        </p:txBody>
      </p:sp>
      <p:sp>
        <p:nvSpPr>
          <p:cNvPr id="11" name="Month T3"/>
          <p:cNvSpPr/>
          <p:nvPr/>
        </p:nvSpPr>
        <p:spPr>
          <a:xfrm>
            <a:off x="8001000" y="425196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p:cNvSpPr txBox="1"/>
          <p:nvPr/>
        </p:nvSpPr>
        <p:spPr>
          <a:xfrm>
            <a:off x="8183879" y="4343400"/>
            <a:ext cx="1426464" cy="822960"/>
          </a:xfrm>
          <a:prstGeom prst="rect">
            <a:avLst/>
          </a:prstGeom>
          <a:noFill/>
        </p:spPr>
        <p:txBody>
          <a:bodyPr wrap="square" lIns="0" rIns="0" tIns="0" bIns="0" anchor="ctr">
            <a:spAutoFit/>
          </a:bodyPr>
          <a:lstStyle/>
          <a:p>
            <a:r>
              <a:rPr sz="1400" b="0">
                <a:solidFill>
                  <a:srgbClr val="585858"/>
                </a:solidFill>
                <a:latin typeface="Arial"/>
              </a:rPr>
              <a:t>T3/2025</a:t>
            </a:r>
          </a:p>
          <a:p>
            <a:pPr>
              <a:spcBef>
                <a:spcPts val="200"/>
              </a:spcBef>
            </a:pPr>
            <a:r>
              <a:rPr sz="2000" b="1">
                <a:solidFill>
                  <a:srgbClr val="9C0006"/>
                </a:solidFill>
                <a:latin typeface="Arial"/>
              </a:rPr>
              <a:t>94,6%</a:t>
            </a:r>
          </a:p>
        </p:txBody>
      </p:sp>
      <p:sp>
        <p:nvSpPr>
          <p:cNvPr id="13" name="Month T4"/>
          <p:cNvSpPr/>
          <p:nvPr/>
        </p:nvSpPr>
        <p:spPr>
          <a:xfrm>
            <a:off x="9857232" y="4251960"/>
            <a:ext cx="1792224" cy="10058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p:cNvSpPr txBox="1"/>
          <p:nvPr/>
        </p:nvSpPr>
        <p:spPr>
          <a:xfrm>
            <a:off x="10040111" y="4343400"/>
            <a:ext cx="1426464" cy="822960"/>
          </a:xfrm>
          <a:prstGeom prst="rect">
            <a:avLst/>
          </a:prstGeom>
          <a:noFill/>
        </p:spPr>
        <p:txBody>
          <a:bodyPr wrap="square" lIns="0" rIns="0" tIns="0" bIns="0" anchor="ctr">
            <a:spAutoFit/>
          </a:bodyPr>
          <a:lstStyle/>
          <a:p>
            <a:r>
              <a:rPr sz="1400" b="0">
                <a:solidFill>
                  <a:srgbClr val="585858"/>
                </a:solidFill>
                <a:latin typeface="Arial"/>
              </a:rPr>
              <a:t>T4/2025</a:t>
            </a:r>
          </a:p>
          <a:p>
            <a:pPr>
              <a:spcBef>
                <a:spcPts val="200"/>
              </a:spcBef>
            </a:pPr>
            <a:r>
              <a:rPr sz="2000" b="1">
                <a:solidFill>
                  <a:srgbClr val="2E7D32"/>
                </a:solidFill>
                <a:latin typeface="Arial"/>
              </a:rPr>
              <a:t>103,1%</a:t>
            </a:r>
          </a:p>
        </p:txBody>
      </p:sp>
      <p:sp>
        <p:nvSpPr>
          <p:cNvPr id="15"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7"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Không có IF(ISBLANK…): Variance tháng 5 = −288.000.000 — “hụt 288 triệu” chỉ vì chưa có dữ liệu. T1 + T2 gộp: 103,2%. Tết 2025: 29/01 · Tết 2024: 10/02.</a:t>
            </a:r>
          </a:p>
        </p:txBody>
      </p:sp>
      <p:sp>
        <p:nvSpPr>
          <p:cNvPr id="18"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PV_Target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Target không lọc theo ngành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5 · CALCULATE &amp; ALL</a:t>
            </a:r>
          </a:p>
        </p:txBody>
      </p:sp>
      <p:sp>
        <p:nvSpPr>
          <p:cNvPr id="4" name="Card category"/>
          <p:cNvSpPr/>
          <p:nvPr/>
        </p:nvSpPr>
        <p:spPr>
          <a:xfrm>
            <a:off x="1527048" y="1463040"/>
            <a:ext cx="4206240" cy="379476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691639" y="1572768"/>
            <a:ext cx="3877055" cy="3575304"/>
          </a:xfrm>
          <a:prstGeom prst="rect">
            <a:avLst/>
          </a:prstGeom>
          <a:noFill/>
        </p:spPr>
        <p:txBody>
          <a:bodyPr wrap="square" lIns="0" rIns="0" tIns="0" bIns="0" anchor="t">
            <a:spAutoFit/>
          </a:bodyPr>
          <a:lstStyle/>
          <a:p>
            <a:r>
              <a:rPr sz="1500" b="1">
                <a:solidFill>
                  <a:srgbClr val="9C0006"/>
                </a:solidFill>
                <a:latin typeface="Arial"/>
              </a:rPr>
              <a:t>Rows = Product[Category] · Quý 1</a:t>
            </a:r>
          </a:p>
          <a:p>
            <a:pPr>
              <a:spcBef>
                <a:spcPts val="500"/>
              </a:spcBef>
            </a:pPr>
            <a:r>
              <a:rPr sz="1400" b="0">
                <a:solidFill>
                  <a:srgbClr val="1B2230"/>
                </a:solidFill>
                <a:latin typeface="Arial"/>
              </a:rPr>
              <a:t>Bánh kẹo 36,2% · Gia dụng 21,7% · Thực phẩm khô 18,0% · Đồ uống 11,8% · Chăm sóc cá nhân 11,2% · Sữa 1,8%</a:t>
            </a:r>
          </a:p>
          <a:p>
            <a:pPr>
              <a:spcBef>
                <a:spcPts val="500"/>
              </a:spcBef>
            </a:pPr>
            <a:r>
              <a:rPr sz="1400" b="1">
                <a:solidFill>
                  <a:srgbClr val="9C0006"/>
                </a:solidFill>
                <a:latin typeface="Arial"/>
              </a:rPr>
              <a:t>= doanh thu ngành ÷ target CẢ CHUỖI (936.000.000) → vô nghĩa</a:t>
            </a:r>
          </a:p>
          <a:p>
            <a:pPr>
              <a:spcBef>
                <a:spcPts val="500"/>
              </a:spcBef>
            </a:pPr>
            <a:r>
              <a:rPr sz="1400" b="0">
                <a:solidFill>
                  <a:srgbClr val="1B2230"/>
                </a:solidFill>
                <a:latin typeface="Arial"/>
              </a:rPr>
              <a:t>Measure không báo lỗi — người dùng phải biết giới hạn.</a:t>
            </a:r>
          </a:p>
        </p:txBody>
      </p:sp>
      <p:sp>
        <p:nvSpPr>
          <p:cNvPr id="6" name="Image placeholder [CHỤP]"/>
          <p:cNvSpPr/>
          <p:nvPr/>
        </p:nvSpPr>
        <p:spPr>
          <a:xfrm>
            <a:off x="5916168" y="1463040"/>
            <a:ext cx="3611880" cy="37947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099048" y="1554480"/>
            <a:ext cx="3246120" cy="361188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Rows Store_Code · Columns Thang 1–4 · Revenue vs Target %; ô ST07 × 3 = 44,9% đang chọn</a:t>
            </a:r>
          </a:p>
          <a:p>
            <a:pPr algn="ctr">
              <a:spcBef>
                <a:spcPts val="400"/>
              </a:spcBef>
            </a:pPr>
            <a:r>
              <a:rPr sz="1200" b="0">
                <a:solidFill>
                  <a:srgbClr val="6B6F76"/>
                </a:solidFill>
                <a:latin typeface="Arial"/>
              </a:rPr>
              <a:t>Sheet PV_Target → S25_store_thang.png</a:t>
            </a:r>
          </a:p>
        </p:txBody>
      </p:sp>
      <p:sp>
        <p:nvSpPr>
          <p:cNvPr id="8" name="Stat card"/>
          <p:cNvSpPr/>
          <p:nvPr/>
        </p:nvSpPr>
        <p:spPr>
          <a:xfrm>
            <a:off x="9665208" y="1463040"/>
            <a:ext cx="1984248" cy="18288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9848088" y="1554480"/>
            <a:ext cx="1618488" cy="1645920"/>
          </a:xfrm>
          <a:prstGeom prst="rect">
            <a:avLst/>
          </a:prstGeom>
          <a:noFill/>
        </p:spPr>
        <p:txBody>
          <a:bodyPr wrap="square" lIns="0" rIns="0" tIns="0" bIns="0" anchor="ctr">
            <a:spAutoFit/>
          </a:bodyPr>
          <a:lstStyle/>
          <a:p>
            <a:r>
              <a:rPr sz="1400" b="0">
                <a:solidFill>
                  <a:srgbClr val="585858"/>
                </a:solidFill>
                <a:latin typeface="Arial"/>
              </a:rPr>
              <a:t>ST07 · T3/2025</a:t>
            </a:r>
          </a:p>
          <a:p>
            <a:pPr>
              <a:spcBef>
                <a:spcPts val="200"/>
              </a:spcBef>
            </a:pPr>
            <a:r>
              <a:rPr sz="2400" b="1">
                <a:solidFill>
                  <a:srgbClr val="9C0006"/>
                </a:solidFill>
                <a:latin typeface="Arial"/>
              </a:rPr>
              <a:t>44,9%</a:t>
            </a:r>
          </a:p>
          <a:p>
            <a:pPr>
              <a:spcBef>
                <a:spcPts val="200"/>
              </a:spcBef>
            </a:pPr>
            <a:r>
              <a:rPr sz="1400" b="0">
                <a:solidFill>
                  <a:srgbClr val="1B2230"/>
                </a:solidFill>
                <a:latin typeface="Arial"/>
              </a:rPr>
              <a:t>8.539.000 / 19.000.000</a:t>
            </a:r>
          </a:p>
        </p:txBody>
      </p:sp>
      <p:sp>
        <p:nvSpPr>
          <p:cNvPr id="10" name="Stat card"/>
          <p:cNvSpPr/>
          <p:nvPr/>
        </p:nvSpPr>
        <p:spPr>
          <a:xfrm>
            <a:off x="9665208" y="3429000"/>
            <a:ext cx="1984248" cy="18288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9848088" y="3520440"/>
            <a:ext cx="1618488" cy="1645920"/>
          </a:xfrm>
          <a:prstGeom prst="rect">
            <a:avLst/>
          </a:prstGeom>
          <a:noFill/>
        </p:spPr>
        <p:txBody>
          <a:bodyPr wrap="square" lIns="0" rIns="0" tIns="0" bIns="0" anchor="ctr">
            <a:spAutoFit/>
          </a:bodyPr>
          <a:lstStyle/>
          <a:p>
            <a:r>
              <a:rPr sz="1400" b="0">
                <a:solidFill>
                  <a:srgbClr val="585858"/>
                </a:solidFill>
                <a:latin typeface="Arial"/>
              </a:rPr>
              <a:t>ST07 · T4/2025</a:t>
            </a:r>
          </a:p>
          <a:p>
            <a:pPr>
              <a:spcBef>
                <a:spcPts val="200"/>
              </a:spcBef>
            </a:pPr>
            <a:r>
              <a:rPr sz="2400" b="1">
                <a:solidFill>
                  <a:srgbClr val="2E7D32"/>
                </a:solidFill>
                <a:latin typeface="Arial"/>
              </a:rPr>
              <a:t>97,4%</a:t>
            </a:r>
          </a:p>
          <a:p>
            <a:pPr>
              <a:spcBef>
                <a:spcPts val="200"/>
              </a:spcBef>
            </a:pPr>
            <a:r>
              <a:rPr sz="1400" b="0">
                <a:solidFill>
                  <a:srgbClr val="1B2230"/>
                </a:solidFill>
                <a:latin typeface="Arial"/>
              </a:rPr>
              <a:t>hồi phục sau cải tạo</a:t>
            </a:r>
          </a:p>
        </p:txBody>
      </p:sp>
      <p:sp>
        <p:nvSpPr>
          <p:cNvPr id="12"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KPI dictionary ghi rõ: Revenue vs Target % lọc theo store, region, month — KHÔNG theo product/category.</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PV_Target · ST07 cải tạo 10–31/03/2025 (B3 Show Details)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Time intelligence: lũy kế và so với cùng kỳ</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YTD · cùng kỳ năm trước</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TIME INTELLIGENCE</a:t>
            </a:r>
          </a:p>
        </p:txBody>
      </p:sp>
      <p:graphicFrame>
        <p:nvGraphicFramePr>
          <p:cNvPr id="4" name="Table"/>
          <p:cNvGraphicFramePr>
            <a:graphicFrameLocks noGrp="1"/>
          </p:cNvGraphicFramePr>
          <p:nvPr/>
        </p:nvGraphicFramePr>
        <p:xfrm>
          <a:off x="1527048" y="1417320"/>
          <a:ext cx="6309360" cy="1755648"/>
        </p:xfrm>
        <a:graphic>
          <a:graphicData uri="http://schemas.openxmlformats.org/drawingml/2006/table">
            <a:tbl>
              <a:tblPr firstRow="1" bandRow="0"/>
              <a:tblGrid>
                <a:gridCol w="3017520"/>
                <a:gridCol w="3291840"/>
              </a:tblGrid>
              <a:tr h="438912">
                <a:tc>
                  <a:txBody>
                    <a:bodyPr wrap="square"/>
                    <a:lstStyle/>
                    <a:p>
                      <a:r>
                        <a:rPr sz="1200" b="1">
                          <a:solidFill>
                            <a:srgbClr val="FFFFFF"/>
                          </a:solidFill>
                          <a:latin typeface="Arial"/>
                        </a:rPr>
                        <a:t>Tên</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200" b="1">
                          <a:solidFill>
                            <a:srgbClr val="FFFFFF"/>
                          </a:solidFill>
                          <a:latin typeface="Arial"/>
                        </a:rPr>
                        <a:t>Mục đích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38912">
                <a:tc>
                  <a:txBody>
                    <a:bodyPr wrap="square"/>
                    <a:lstStyle/>
                    <a:p>
                      <a:r>
                        <a:rPr sz="1200" b="1">
                          <a:solidFill>
                            <a:srgbClr val="C00000"/>
                          </a:solidFill>
                          <a:latin typeface="Arial"/>
                        </a:rPr>
                        <a:t>Design → Mark as Date Table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Khai báo Calendar là bảng lịch: mỗi ngày một dòng, liên tục (731 ngày ✔)</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200" b="1">
                          <a:solidFill>
                            <a:srgbClr val="C00000"/>
                          </a:solidFill>
                          <a:latin typeface="Arial"/>
                        </a:rPr>
                        <a:t>DATESYTD(Calendar[Date])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Từ đầu năm tới ngày cuối của ô → lũy kế</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200" b="1">
                          <a:solidFill>
                            <a:srgbClr val="C00000"/>
                          </a:solidFill>
                          <a:latin typeface="Arial"/>
                        </a:rPr>
                        <a:t>DATEADD(Calendar[Date], -1, YEAR)</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200" b="0">
                          <a:solidFill>
                            <a:srgbClr val="1B2230"/>
                          </a:solidFill>
                          <a:latin typeface="Arial"/>
                        </a:rPr>
                        <a:t>Lùi các ngày của ô một năm → cùng kỳ</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Image placeholder [CHỤP]"/>
          <p:cNvSpPr/>
          <p:nvPr/>
        </p:nvSpPr>
        <p:spPr>
          <a:xfrm>
            <a:off x="8001000" y="1417320"/>
            <a:ext cx="3648456" cy="17373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8183879" y="1508760"/>
            <a:ext cx="3282696" cy="155448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Hộp Mark as Date Table, Date column = Date</a:t>
            </a:r>
          </a:p>
          <a:p>
            <a:pPr algn="ctr">
              <a:spcBef>
                <a:spcPts val="400"/>
              </a:spcBef>
            </a:pPr>
            <a:r>
              <a:rPr sz="1200" b="0">
                <a:solidFill>
                  <a:srgbClr val="6B6F76"/>
                </a:solidFill>
                <a:latin typeface="Arial"/>
              </a:rPr>
              <a:t>Power Pivot, tab Calendar → Design → S27a_mark_date_table.png</a:t>
            </a:r>
          </a:p>
        </p:txBody>
      </p:sp>
      <p:graphicFrame>
        <p:nvGraphicFramePr>
          <p:cNvPr id="7" name="Measures"/>
          <p:cNvGraphicFramePr>
            <a:graphicFrameLocks noGrp="1"/>
          </p:cNvGraphicFramePr>
          <p:nvPr/>
        </p:nvGraphicFramePr>
        <p:xfrm>
          <a:off x="1527048" y="3291840"/>
          <a:ext cx="6309360" cy="1755648"/>
        </p:xfrm>
        <a:graphic>
          <a:graphicData uri="http://schemas.openxmlformats.org/drawingml/2006/table">
            <a:tbl>
              <a:tblPr firstRow="1" bandRow="0"/>
              <a:tblGrid>
                <a:gridCol w="1600200"/>
                <a:gridCol w="4709160"/>
              </a:tblGrid>
              <a:tr h="438912">
                <a:tc>
                  <a:txBody>
                    <a:bodyPr wrap="square"/>
                    <a:lstStyle/>
                    <a:p>
                      <a:r>
                        <a:rPr sz="1100" b="1">
                          <a:solidFill>
                            <a:srgbClr val="FFFFFF"/>
                          </a:solidFill>
                          <a:latin typeface="Arial"/>
                        </a:rPr>
                        <a:t>Measure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38912">
                <a:tc>
                  <a:txBody>
                    <a:bodyPr wrap="square"/>
                    <a:lstStyle/>
                    <a:p>
                      <a:r>
                        <a:rPr sz="1100" b="1">
                          <a:solidFill>
                            <a:srgbClr val="1B2230"/>
                          </a:solidFill>
                          <a:latin typeface="Arial"/>
                        </a:rPr>
                        <a:t>Revenue YTD</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CALCULATE([Total Revenue], DATESYTD(Calendar[Date]))</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100" b="1">
                          <a:solidFill>
                            <a:srgbClr val="1B2230"/>
                          </a:solidFill>
                          <a:latin typeface="Arial"/>
                        </a:rPr>
                        <a:t>Revenue LY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CALCULATE([Total Revenue], DATEADD(Calendar[Date], -1, YEAR))</a:t>
                      </a:r>
                    </a:p>
                  </a:txBody>
                  <a:tcPr marL="73152" marR="73152" marT="27432" marB="27432" anchor="ctr">
                    <a:lnL w="0">
                      <a:noFill/>
                    </a:lnL>
                    <a:lnR w="0">
                      <a:noFill/>
                    </a:lnR>
                    <a:lnT w="12700">
                      <a:solidFill>
                        <a:srgbClr val="D9DEE8"/>
                      </a:solidFill>
                    </a:lnT>
                    <a:lnB w="12700">
                      <a:solidFill>
                        <a:srgbClr val="D9DEE8"/>
                      </a:solidFill>
                    </a:lnB>
                    <a:noFill/>
                  </a:tcPr>
                </a:tc>
              </a:tr>
              <a:tr h="438912">
                <a:tc>
                  <a:txBody>
                    <a:bodyPr wrap="square"/>
                    <a:lstStyle/>
                    <a:p>
                      <a:r>
                        <a:rPr sz="1100" b="1">
                          <a:solidFill>
                            <a:srgbClr val="1B2230"/>
                          </a:solidFill>
                          <a:latin typeface="Arial"/>
                        </a:rPr>
                        <a:t>Revenue YoY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IF(ISBLANK([Total Revenue]), BLANK(), DIVIDE([Total Revenue] - [Revenue LY], [Revenue LY]))</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8" name="Image placeholder [CHỤP]"/>
          <p:cNvSpPr/>
          <p:nvPr/>
        </p:nvSpPr>
        <p:spPr>
          <a:xfrm>
            <a:off x="8001000" y="3291840"/>
            <a:ext cx="3648456" cy="18288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183879" y="3383280"/>
            <a:ext cx="3282696" cy="164592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PV_YoY T1–T4/2025: Revenue, LY, YTD, YoY %; YTD T4 1.238.419.000</a:t>
            </a:r>
          </a:p>
          <a:p>
            <a:pPr algn="ctr">
              <a:spcBef>
                <a:spcPts val="400"/>
              </a:spcBef>
            </a:pPr>
            <a:r>
              <a:rPr sz="1200" b="0">
                <a:solidFill>
                  <a:srgbClr val="6B6F76"/>
                </a:solidFill>
                <a:latin typeface="Arial"/>
              </a:rPr>
              <a:t>Sheet PV_YoY → S27b_yoy_ytd.png</a:t>
            </a:r>
          </a:p>
        </p:txBody>
      </p:sp>
      <p:sp>
        <p:nvSpPr>
          <p:cNvPr id="10" name="TIP callout"/>
          <p:cNvSpPr/>
          <p:nvPr/>
        </p:nvSpPr>
        <p:spPr>
          <a:xfrm>
            <a:off x="1527048" y="5257800"/>
            <a:ext cx="5120640"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636776" y="536752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2" name="TIP text"/>
          <p:cNvSpPr txBox="1"/>
          <p:nvPr/>
        </p:nvSpPr>
        <p:spPr>
          <a:xfrm>
            <a:off x="2212848" y="5349240"/>
            <a:ext cx="4325112" cy="731520"/>
          </a:xfrm>
          <a:prstGeom prst="rect">
            <a:avLst/>
          </a:prstGeom>
          <a:noFill/>
        </p:spPr>
        <p:txBody>
          <a:bodyPr wrap="square" lIns="0" rIns="0" tIns="0" bIns="0" anchor="t">
            <a:spAutoFit/>
          </a:bodyPr>
          <a:lstStyle/>
          <a:p>
            <a:r>
              <a:rPr sz="1600" b="0">
                <a:solidFill>
                  <a:srgbClr val="1B2230"/>
                </a:solidFill>
                <a:latin typeface="Arial"/>
              </a:rPr>
              <a:t>YoY T1 +42,8% · T2 −0,9% · T3 +13,7% · T4 +24,0%; YTD T4 +21,0%. Không chặn ô trống: T5 = −100%.</a:t>
            </a:r>
          </a:p>
        </p:txBody>
      </p:sp>
      <p:sp>
        <p:nvSpPr>
          <p:cNvPr id="13" name="PRO TIP callout"/>
          <p:cNvSpPr/>
          <p:nvPr/>
        </p:nvSpPr>
        <p:spPr>
          <a:xfrm>
            <a:off x="6784848" y="5257800"/>
            <a:ext cx="4864608" cy="9144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RO TIP chip"/>
          <p:cNvSpPr/>
          <p:nvPr/>
        </p:nvSpPr>
        <p:spPr>
          <a:xfrm>
            <a:off x="6894576" y="5367528"/>
            <a:ext cx="1005840" cy="320040"/>
          </a:xfrm>
          <a:prstGeom prst="roundRect">
            <a:avLst>
              <a:gd name="adj" fmla="val 20000"/>
            </a:avLst>
          </a:prstGeom>
          <a:solidFill>
            <a:srgbClr val="FFC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B2230"/>
                </a:solidFill>
                <a:latin typeface="Arial"/>
              </a:rPr>
              <a:t>PRO TIP</a:t>
            </a:r>
          </a:p>
        </p:txBody>
      </p:sp>
      <p:sp>
        <p:nvSpPr>
          <p:cNvPr id="15" name="PRO TIP text"/>
          <p:cNvSpPr txBox="1"/>
          <p:nvPr/>
        </p:nvSpPr>
        <p:spPr>
          <a:xfrm>
            <a:off x="7991856" y="5349240"/>
            <a:ext cx="3547872" cy="731520"/>
          </a:xfrm>
          <a:prstGeom prst="rect">
            <a:avLst/>
          </a:prstGeom>
          <a:noFill/>
        </p:spPr>
        <p:txBody>
          <a:bodyPr wrap="square" lIns="0" rIns="0" tIns="0" bIns="0" anchor="t">
            <a:spAutoFit/>
          </a:bodyPr>
          <a:lstStyle/>
          <a:p>
            <a:r>
              <a:rPr sz="1600" b="0">
                <a:solidFill>
                  <a:srgbClr val="1B2230"/>
                </a:solidFill>
                <a:latin typeface="Arial"/>
              </a:rPr>
              <a:t>SAMEPERIODLASTYEAR cho cùng kết quả với DATEADD lùi 1 năm.</a:t>
            </a:r>
          </a:p>
        </p:txBody>
      </p:sp>
      <p:sp>
        <p:nvSpPr>
          <p:cNvPr id="16"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Power Pivot → Design → Mark as Date Table; sheet PV_YoY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Like-for-like: ST12 và ô YoY trống</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6 · TIME INTELLIGENCE</a:t>
            </a:r>
          </a:p>
        </p:txBody>
      </p:sp>
      <p:sp>
        <p:nvSpPr>
          <p:cNvPr id="4" name="Image placeholder [CHỤP]"/>
          <p:cNvSpPr/>
          <p:nvPr/>
        </p:nvSpPr>
        <p:spPr>
          <a:xfrm>
            <a:off x="1527048" y="1463040"/>
            <a:ext cx="6309360" cy="379476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p:cNvSpPr txBox="1"/>
          <p:nvPr/>
        </p:nvSpPr>
        <p:spPr>
          <a:xfrm>
            <a:off x="1709928" y="1554480"/>
            <a:ext cx="5943600" cy="361188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PV_YoY: Rows Store_Code, Filters Nam = 2025 và Thang 1–4; Total Revenue, Revenue LY, Revenue YoY %; dòng ST12 hai ô trống</a:t>
            </a:r>
          </a:p>
          <a:p>
            <a:pPr algn="ctr">
              <a:spcBef>
                <a:spcPts val="400"/>
              </a:spcBef>
            </a:pPr>
            <a:r>
              <a:rPr sz="1200" b="0">
                <a:solidFill>
                  <a:srgbClr val="6B6F76"/>
                </a:solidFill>
                <a:latin typeface="Arial"/>
              </a:rPr>
              <a:t>Sheet PV_YoY → S28_yoy_cua_hang.png</a:t>
            </a:r>
          </a:p>
        </p:txBody>
      </p:sp>
      <p:sp>
        <p:nvSpPr>
          <p:cNvPr id="6" name="Stat card"/>
          <p:cNvSpPr/>
          <p:nvPr/>
        </p:nvSpPr>
        <p:spPr>
          <a:xfrm>
            <a:off x="8001000" y="1463040"/>
            <a:ext cx="3648456"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8183879" y="1554480"/>
            <a:ext cx="3282696" cy="960120"/>
          </a:xfrm>
          <a:prstGeom prst="rect">
            <a:avLst/>
          </a:prstGeom>
          <a:noFill/>
        </p:spPr>
        <p:txBody>
          <a:bodyPr wrap="square" lIns="0" rIns="0" tIns="0" bIns="0" anchor="ctr">
            <a:spAutoFit/>
          </a:bodyPr>
          <a:lstStyle/>
          <a:p>
            <a:r>
              <a:rPr sz="1400" b="0">
                <a:solidFill>
                  <a:srgbClr val="585858"/>
                </a:solidFill>
                <a:latin typeface="Arial"/>
              </a:rPr>
              <a:t>ST12 khai trương 01/06/2024</a:t>
            </a:r>
          </a:p>
          <a:p>
            <a:pPr>
              <a:spcBef>
                <a:spcPts val="200"/>
              </a:spcBef>
            </a:pPr>
            <a:r>
              <a:rPr sz="2200" b="1">
                <a:solidFill>
                  <a:srgbClr val="203864"/>
                </a:solidFill>
                <a:latin typeface="Arial"/>
              </a:rPr>
              <a:t>79.399.000</a:t>
            </a:r>
          </a:p>
          <a:p>
            <a:pPr>
              <a:spcBef>
                <a:spcPts val="200"/>
              </a:spcBef>
            </a:pPr>
            <a:r>
              <a:rPr sz="1400" b="0">
                <a:solidFill>
                  <a:srgbClr val="1B2230"/>
                </a:solidFill>
                <a:latin typeface="Arial"/>
              </a:rPr>
              <a:t>T1–T4/2025 · không có kỳ gốc</a:t>
            </a:r>
          </a:p>
        </p:txBody>
      </p:sp>
      <p:sp>
        <p:nvSpPr>
          <p:cNvPr id="8" name="Stat card"/>
          <p:cNvSpPr/>
          <p:nvPr/>
        </p:nvSpPr>
        <p:spPr>
          <a:xfrm>
            <a:off x="8001000" y="2743200"/>
            <a:ext cx="3648456" cy="114300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8183879" y="2834640"/>
            <a:ext cx="3282696" cy="960120"/>
          </a:xfrm>
          <a:prstGeom prst="rect">
            <a:avLst/>
          </a:prstGeom>
          <a:noFill/>
        </p:spPr>
        <p:txBody>
          <a:bodyPr wrap="square" lIns="0" rIns="0" tIns="0" bIns="0" anchor="ctr">
            <a:spAutoFit/>
          </a:bodyPr>
          <a:lstStyle/>
          <a:p>
            <a:r>
              <a:rPr sz="1400" b="0">
                <a:solidFill>
                  <a:srgbClr val="585858"/>
                </a:solidFill>
                <a:latin typeface="Arial"/>
              </a:rPr>
              <a:t>YTD T4 · cả chuỗi 12 cửa hàng</a:t>
            </a:r>
          </a:p>
          <a:p>
            <a:pPr>
              <a:spcBef>
                <a:spcPts val="200"/>
              </a:spcBef>
            </a:pPr>
            <a:r>
              <a:rPr sz="2400" b="1">
                <a:solidFill>
                  <a:srgbClr val="9C0006"/>
                </a:solidFill>
                <a:latin typeface="Arial"/>
              </a:rPr>
              <a:t>+21,0%</a:t>
            </a:r>
          </a:p>
          <a:p>
            <a:pPr>
              <a:spcBef>
                <a:spcPts val="200"/>
              </a:spcBef>
            </a:pPr>
            <a:r>
              <a:rPr sz="1400" b="0">
                <a:solidFill>
                  <a:srgbClr val="1B2230"/>
                </a:solidFill>
                <a:latin typeface="Arial"/>
              </a:rPr>
              <a:t>gồm cả ST12</a:t>
            </a:r>
          </a:p>
        </p:txBody>
      </p:sp>
      <p:sp>
        <p:nvSpPr>
          <p:cNvPr id="10" name="Stat card"/>
          <p:cNvSpPr/>
          <p:nvPr/>
        </p:nvSpPr>
        <p:spPr>
          <a:xfrm>
            <a:off x="8001000" y="4023360"/>
            <a:ext cx="3648456" cy="1234440"/>
          </a:xfrm>
          <a:prstGeom prst="roundRect">
            <a:avLst>
              <a:gd name="adj" fmla="val 6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8183879" y="4114800"/>
            <a:ext cx="3282696" cy="1051560"/>
          </a:xfrm>
          <a:prstGeom prst="rect">
            <a:avLst/>
          </a:prstGeom>
          <a:noFill/>
        </p:spPr>
        <p:txBody>
          <a:bodyPr wrap="square" lIns="0" rIns="0" tIns="0" bIns="0" anchor="ctr">
            <a:spAutoFit/>
          </a:bodyPr>
          <a:lstStyle/>
          <a:p>
            <a:r>
              <a:rPr sz="1400" b="0">
                <a:solidFill>
                  <a:srgbClr val="585858"/>
                </a:solidFill>
                <a:latin typeface="Arial"/>
              </a:rPr>
              <a:t>YTD T4 · like-for-like 11 cửa hàng</a:t>
            </a:r>
          </a:p>
          <a:p>
            <a:pPr>
              <a:spcBef>
                <a:spcPts val="200"/>
              </a:spcBef>
            </a:pPr>
            <a:r>
              <a:rPr sz="2400" b="1">
                <a:solidFill>
                  <a:srgbClr val="2E7D32"/>
                </a:solidFill>
                <a:latin typeface="Arial"/>
              </a:rPr>
              <a:t>+13,3%</a:t>
            </a:r>
          </a:p>
          <a:p>
            <a:pPr>
              <a:spcBef>
                <a:spcPts val="200"/>
              </a:spcBef>
            </a:pPr>
            <a:r>
              <a:rPr sz="1400" b="0">
                <a:solidFill>
                  <a:srgbClr val="1B2230"/>
                </a:solidFill>
                <a:latin typeface="Arial"/>
              </a:rPr>
              <a:t>chỉ cửa hàng có đủ hai kỳ</a:t>
            </a:r>
          </a:p>
        </p:txBody>
      </p:sp>
      <p:sp>
        <p:nvSpPr>
          <p:cNvPr id="12" name="TIP callout"/>
          <p:cNvSpPr/>
          <p:nvPr/>
        </p:nvSpPr>
        <p:spPr>
          <a:xfrm>
            <a:off x="1527048" y="5394960"/>
            <a:ext cx="10122408" cy="73152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1636776" y="5504688"/>
            <a:ext cx="548640" cy="320040"/>
          </a:xfrm>
          <a:prstGeom prst="rect">
            <a:avLst/>
          </a:prstGeom>
          <a:noFill/>
        </p:spPr>
        <p:txBody>
          <a:bodyPr wrap="square" lIns="0" rIns="0" tIns="0" bIns="0" anchor="ctr">
            <a:spAutoFit/>
          </a:bodyPr>
          <a:lstStyle/>
          <a:p>
            <a:r>
              <a:rPr sz="1400" b="1">
                <a:solidFill>
                  <a:srgbClr val="203864"/>
                </a:solidFill>
                <a:latin typeface="Arial"/>
              </a:rPr>
              <a:t>TIP</a:t>
            </a:r>
          </a:p>
        </p:txBody>
      </p:sp>
      <p:sp>
        <p:nvSpPr>
          <p:cNvPr id="14" name="TIP text"/>
          <p:cNvSpPr txBox="1"/>
          <p:nvPr/>
        </p:nvSpPr>
        <p:spPr>
          <a:xfrm>
            <a:off x="2212848" y="5486400"/>
            <a:ext cx="9326880" cy="548640"/>
          </a:xfrm>
          <a:prstGeom prst="rect">
            <a:avLst/>
          </a:prstGeom>
          <a:noFill/>
        </p:spPr>
        <p:txBody>
          <a:bodyPr wrap="square" lIns="0" rIns="0" tIns="0" bIns="0" anchor="t">
            <a:spAutoFit/>
          </a:bodyPr>
          <a:lstStyle/>
          <a:p>
            <a:r>
              <a:rPr sz="1600" b="0">
                <a:solidFill>
                  <a:srgbClr val="1B2230"/>
                </a:solidFill>
                <a:latin typeface="Arial"/>
              </a:rPr>
              <a:t>D2: thấy ô trống, hỏi vì sao trước khi kết luận; thấy tổng đẹp, hỏi tổng gồm những gì. ST10 +37,9% · ST07 −3,2% · ST04 −1,5%.</a:t>
            </a:r>
          </a:p>
        </p:txBody>
      </p:sp>
      <p:sp>
        <p:nvSpPr>
          <p:cNvPr id="15"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Ảnh: Demo/B5_Demo_DAX.xlsx, sheet PV_YoY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KPI dictionary: một định nghĩa, mọi báo cáo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KPI dictionary</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7 · KPI DICTIONARY</a:t>
            </a:r>
          </a:p>
        </p:txBody>
      </p:sp>
      <p:graphicFrame>
        <p:nvGraphicFramePr>
          <p:cNvPr id="4" name="KPI dictionary"/>
          <p:cNvGraphicFramePr>
            <a:graphicFrameLocks noGrp="1"/>
          </p:cNvGraphicFramePr>
          <p:nvPr/>
        </p:nvGraphicFramePr>
        <p:xfrm>
          <a:off x="1527048" y="1371600"/>
          <a:ext cx="10122408" cy="3072384"/>
        </p:xfrm>
        <a:graphic>
          <a:graphicData uri="http://schemas.openxmlformats.org/drawingml/2006/table">
            <a:tbl>
              <a:tblPr firstRow="1" bandRow="0"/>
              <a:tblGrid>
                <a:gridCol w="2057400"/>
                <a:gridCol w="4023360"/>
                <a:gridCol w="2377440"/>
                <a:gridCol w="1664208"/>
              </a:tblGrid>
              <a:tr h="384048">
                <a:tc>
                  <a:txBody>
                    <a:bodyPr wrap="square"/>
                    <a:lstStyle/>
                    <a:p>
                      <a:r>
                        <a:rPr sz="1100" b="1">
                          <a:solidFill>
                            <a:srgbClr val="FFFFFF"/>
                          </a:solidFill>
                          <a:latin typeface="Arial"/>
                        </a:rPr>
                        <a:t>KPI</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Measure (DAX)</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Dimensions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r>
                        <a:rPr sz="1100" b="1">
                          <a:solidFill>
                            <a:srgbClr val="FFFFFF"/>
                          </a:solidFill>
                          <a:latin typeface="Arial"/>
                        </a:rPr>
                        <a:t>Target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384048">
                <a:tc>
                  <a:txBody>
                    <a:bodyPr wrap="square"/>
                    <a:lstStyle/>
                    <a:p>
                      <a:r>
                        <a:rPr sz="1100" b="1">
                          <a:solidFill>
                            <a:srgbClr val="1B2230"/>
                          </a:solidFill>
                          <a:latin typeface="Arial"/>
                        </a:rPr>
                        <a:t>Total 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SUM(Sales[Revenue])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store, category,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 Total Target</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Total Orders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DISTINCTCOUNT(Sales[Order_ID])</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store,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1.000 đơn/tháng</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Avg Order Value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[Total Orders])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store,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300.000</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Gross Margin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 [Total COGS], [Total Revenue])</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category, region,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33%</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Revenue YoY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 [Revenue LY], [Revenue LY])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category,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+10%</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Active Customers</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DISTINCTCOUNT(Sales[Customer_ID])</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region, segment, month</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700 KH/tháng</a:t>
                      </a:r>
                    </a:p>
                  </a:txBody>
                  <a:tcPr marL="73152" marR="73152" marT="27432" marB="27432" anchor="ctr">
                    <a:lnL w="0">
                      <a:noFill/>
                    </a:lnL>
                    <a:lnR w="0">
                      <a:noFill/>
                    </a:lnR>
                    <a:lnT w="12700">
                      <a:solidFill>
                        <a:srgbClr val="D9DEE8"/>
                      </a:solidFill>
                    </a:lnT>
                    <a:lnB w="12700">
                      <a:solidFill>
                        <a:srgbClr val="D9DEE8"/>
                      </a:solidFill>
                    </a:lnB>
                    <a:noFill/>
                  </a:tcPr>
                </a:tc>
              </a:tr>
              <a:tr h="384048">
                <a:tc>
                  <a:txBody>
                    <a:bodyPr wrap="square"/>
                    <a:lstStyle/>
                    <a:p>
                      <a:r>
                        <a:rPr sz="1100" b="1">
                          <a:solidFill>
                            <a:srgbClr val="1B2230"/>
                          </a:solidFill>
                          <a:latin typeface="Arial"/>
                        </a:rPr>
                        <a:t>Revenue vs Target %</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DIVIDE([Total Revenue], [Total Target])</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1">
                          <a:solidFill>
                            <a:srgbClr val="9C0006"/>
                          </a:solidFill>
                          <a:latin typeface="Arial"/>
                        </a:rPr>
                        <a:t>store, region, month — KHÔNG category</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r>
                        <a:rPr sz="1100" b="0">
                          <a:solidFill>
                            <a:srgbClr val="1B2230"/>
                          </a:solidFill>
                          <a:latin typeface="Arial"/>
                        </a:rPr>
                        <a:t>100%</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5" name="Image placeholder [CHỤP]"/>
          <p:cNvSpPr/>
          <p:nvPr/>
        </p:nvSpPr>
        <p:spPr>
          <a:xfrm>
            <a:off x="1527048" y="4526280"/>
            <a:ext cx="3017520" cy="1600200"/>
          </a:xfrm>
          <a:prstGeom prst="rect">
            <a:avLst/>
          </a:prstGeom>
          <a:solidFill>
            <a:srgbClr val="F3F5F9"/>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p:cNvSpPr txBox="1"/>
          <p:nvPr/>
        </p:nvSpPr>
        <p:spPr>
          <a:xfrm>
            <a:off x="1709928" y="4617720"/>
            <a:ext cx="2651760" cy="1417320"/>
          </a:xfrm>
          <a:prstGeom prst="rect">
            <a:avLst/>
          </a:prstGeom>
          <a:noFill/>
        </p:spPr>
        <p:txBody>
          <a:bodyPr wrap="square" lIns="0" rIns="0" tIns="0" bIns="0" anchor="ctr">
            <a:spAutoFit/>
          </a:bodyPr>
          <a:lstStyle/>
          <a:p>
            <a:pPr algn="ctr"/>
            <a:r>
              <a:rPr sz="1400" b="1">
                <a:solidFill>
                  <a:srgbClr val="203864"/>
                </a:solidFill>
                <a:latin typeface="Arial"/>
              </a:rPr>
              <a:t>[CHỤP] </a:t>
            </a:r>
            <a:r>
              <a:rPr sz="1400" b="0">
                <a:solidFill>
                  <a:srgbClr val="585858"/>
                </a:solidFill>
                <a:latin typeface="Arial"/>
              </a:rPr>
              <a:t>Rows Calendar[Nam]: Gross Margin % 31,2% · 34,1%</a:t>
            </a:r>
          </a:p>
          <a:p>
            <a:pPr algn="ctr">
              <a:spcBef>
                <a:spcPts val="400"/>
              </a:spcBef>
            </a:pPr>
            <a:r>
              <a:rPr sz="1200" b="0">
                <a:solidFill>
                  <a:srgbClr val="6B6F76"/>
                </a:solidFill>
                <a:latin typeface="Arial"/>
              </a:rPr>
              <a:t>Sheet PV_YoY → S30_gm_theo_nam.png</a:t>
            </a:r>
          </a:p>
        </p:txBody>
      </p:sp>
      <p:sp>
        <p:nvSpPr>
          <p:cNvPr id="7" name="Card D2"/>
          <p:cNvSpPr/>
          <p:nvPr/>
        </p:nvSpPr>
        <p:spPr>
          <a:xfrm>
            <a:off x="4681728" y="4526280"/>
            <a:ext cx="6967728" cy="1600200"/>
          </a:xfrm>
          <a:prstGeom prst="roundRect">
            <a:avLst>
              <a:gd name="adj" fmla="val 5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4846320" y="4636008"/>
            <a:ext cx="6638544" cy="1380744"/>
          </a:xfrm>
          <a:prstGeom prst="rect">
            <a:avLst/>
          </a:prstGeom>
          <a:noFill/>
        </p:spPr>
        <p:txBody>
          <a:bodyPr wrap="square" lIns="0" rIns="0" tIns="0" bIns="0" anchor="t">
            <a:spAutoFit/>
          </a:bodyPr>
          <a:lstStyle/>
          <a:p>
            <a:r>
              <a:rPr sz="1400" b="1">
                <a:solidFill>
                  <a:srgbClr val="203864"/>
                </a:solidFill>
                <a:latin typeface="Arial"/>
              </a:rPr>
              <a:t>D2 — kiểm giả định (câu chuyện #5)</a:t>
            </a:r>
          </a:p>
          <a:p>
            <a:pPr>
              <a:spcBef>
                <a:spcPts val="500"/>
              </a:spcBef>
            </a:pPr>
            <a:r>
              <a:rPr sz="1300" b="0">
                <a:solidFill>
                  <a:srgbClr val="1B2230"/>
                </a:solidFill>
                <a:latin typeface="Arial"/>
              </a:rPr>
              <a:t>GM% 2024: 31,2% → 2025: 34,1%. Giá vốn chỉ có MỘT bảng (Product[Unit_Cost]) cho cả hai năm, giá bán 2025 cao hơn 2024 khoảng 3,9% → ghi vào cột “Giới hạn”.</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Course Plan, Phụ lục C · owner, ngưỡng Warning/Critical: KPI Definition Card (B2) · Ảnh: Demo/B5_Demo_DAX.xlsx, sheet PV_YoY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1: Hoàn thành bộ 6 KPI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THỰC HÀNH</a:t>
            </a:r>
          </a:p>
        </p:txBody>
      </p:sp>
      <p:sp>
        <p:nvSpPr>
          <p:cNvPr id="4" name="Time chip"/>
          <p:cNvSpPr/>
          <p:nvPr/>
        </p:nvSpPr>
        <p:spPr>
          <a:xfrm>
            <a:off x="1527048" y="141732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10 phút</a:t>
            </a:r>
          </a:p>
        </p:txBody>
      </p:sp>
      <p:sp>
        <p:nvSpPr>
          <p:cNvPr id="5" name="TextBox"/>
          <p:cNvSpPr txBox="1"/>
          <p:nvPr/>
        </p:nvSpPr>
        <p:spPr>
          <a:xfrm>
            <a:off x="1527048" y="1920240"/>
            <a:ext cx="4846320" cy="274320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Viết 3 measure (bảng Sales): Total Orders = DISTINCTCOUNT(Sales[Order_ID]) · Avg Order Value = DIVIDE([Total Revenue], [Total Orders]) · Active Customers = DISTINCTCOUNT(Sales[Customer_ID]).</a:t>
            </a:r>
          </a:p>
          <a:p>
            <a:pPr>
              <a:spcBef>
                <a:spcPts val="1000"/>
              </a:spcBef>
            </a:pPr>
            <a:r>
              <a:rPr sz="1400" b="1">
                <a:solidFill>
                  <a:srgbClr val="203864"/>
                </a:solidFill>
                <a:latin typeface="Arial"/>
              </a:rPr>
              <a:t>2. </a:t>
            </a:r>
            <a:r>
              <a:rPr sz="1400" b="0">
                <a:solidFill>
                  <a:srgbClr val="1B2230"/>
                </a:solidFill>
                <a:latin typeface="Arial"/>
              </a:rPr>
              <a:t>Sheet mới PV_KPI_Thang (From Data Model): Filters Calendar[Nam] = 2025 · Rows Calendar[Thang] (lọc 1–4) · Values: 6 KPI.</a:t>
            </a:r>
          </a:p>
          <a:p>
            <a:pPr>
              <a:spcBef>
                <a:spcPts val="1000"/>
              </a:spcBef>
            </a:pPr>
            <a:r>
              <a:rPr sz="1400" b="1">
                <a:solidFill>
                  <a:srgbClr val="203864"/>
                </a:solidFill>
                <a:latin typeface="Arial"/>
              </a:rPr>
              <a:t>3. </a:t>
            </a:r>
            <a:r>
              <a:rPr sz="1400" b="0">
                <a:solidFill>
                  <a:srgbClr val="1B2230"/>
                </a:solidFill>
                <a:latin typeface="Arial"/>
              </a:rPr>
              <a:t>Kiểm tay AOV: lọc Product[Category] = Bánh kẹo, Calendar[Quy] = 1 → Total Revenue ÷ Total Orders = AOV?</a:t>
            </a:r>
          </a:p>
        </p:txBody>
      </p:sp>
      <p:graphicFrame>
        <p:nvGraphicFramePr>
          <p:cNvPr id="6" name="Check table"/>
          <p:cNvGraphicFramePr>
            <a:graphicFrameLocks noGrp="1"/>
          </p:cNvGraphicFramePr>
          <p:nvPr/>
        </p:nvGraphicFramePr>
        <p:xfrm>
          <a:off x="6556248" y="1417320"/>
          <a:ext cx="5093208" cy="2057400"/>
        </p:xfrm>
        <a:graphic>
          <a:graphicData uri="http://schemas.openxmlformats.org/drawingml/2006/table">
            <a:tbl>
              <a:tblPr firstRow="1" bandRow="0"/>
              <a:tblGrid>
                <a:gridCol w="411480"/>
                <a:gridCol w="1188720"/>
                <a:gridCol w="685800"/>
                <a:gridCol w="822960"/>
                <a:gridCol w="685800"/>
                <a:gridCol w="731520"/>
                <a:gridCol w="566928"/>
              </a:tblGrid>
              <a:tr h="411480">
                <a:tc>
                  <a:txBody>
                    <a:bodyPr wrap="square"/>
                    <a:lstStyle/>
                    <a:p>
                      <a:pPr algn="ctr"/>
                      <a:r>
                        <a:rPr sz="1100" b="1">
                          <a:solidFill>
                            <a:srgbClr val="FFFFFF"/>
                          </a:solidFill>
                          <a:latin typeface="Arial"/>
                        </a:rPr>
                        <a:t>T</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Revenue</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Orders</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AOV</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GM %</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YoY %</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c>
                  <a:txBody>
                    <a:bodyPr wrap="square"/>
                    <a:lstStyle/>
                    <a:p>
                      <a:pPr algn="r"/>
                      <a:r>
                        <a:rPr sz="1100" b="1">
                          <a:solidFill>
                            <a:srgbClr val="FFFFFF"/>
                          </a:solidFill>
                          <a:latin typeface="Arial"/>
                        </a:rPr>
                        <a:t>KH</a:t>
                      </a:r>
                    </a:p>
                  </a:txBody>
                  <a:tcPr marL="73152" marR="73152" marT="27432" marB="27432" anchor="ctr">
                    <a:lnL w="0">
                      <a:noFill/>
                    </a:lnL>
                    <a:lnR w="0">
                      <a:noFill/>
                    </a:lnR>
                    <a:lnT w="12700">
                      <a:solidFill>
                        <a:srgbClr val="D9DEE8"/>
                      </a:solidFill>
                    </a:lnT>
                    <a:lnB w="12700">
                      <a:solidFill>
                        <a:srgbClr val="D9DEE8"/>
                      </a:solidFill>
                    </a:lnB>
                    <a:solidFill>
                      <a:srgbClr val="203864"/>
                    </a:solidFill>
                  </a:tcPr>
                </a:tc>
              </a:tr>
              <a:tr h="411480">
                <a:tc>
                  <a:txBody>
                    <a:bodyPr wrap="square"/>
                    <a:lstStyle/>
                    <a:p>
                      <a:pPr algn="ctr"/>
                      <a:r>
                        <a:rPr sz="1100" b="0">
                          <a:solidFill>
                            <a:srgbClr val="1B2230"/>
                          </a:solidFill>
                          <a:latin typeface="Arial"/>
                        </a:rPr>
                        <a:t>1</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425.850.000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1.398</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304.614</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35,2%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+42,8%</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831</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pPr algn="ctr"/>
                      <a:r>
                        <a:rPr sz="1100" b="0">
                          <a:solidFill>
                            <a:srgbClr val="1B2230"/>
                          </a:solidFill>
                          <a:latin typeface="Arial"/>
                        </a:rPr>
                        <a:t>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245.996.000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823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298.902</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33,7%</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−0,9%</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605</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pPr algn="ctr"/>
                      <a:r>
                        <a:rPr sz="1100" b="0">
                          <a:solidFill>
                            <a:srgbClr val="1B2230"/>
                          </a:solidFill>
                          <a:latin typeface="Arial"/>
                        </a:rPr>
                        <a:t>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269.608.000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923</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292.100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33,1%</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+13,7%</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637</a:t>
                      </a:r>
                    </a:p>
                  </a:txBody>
                  <a:tcPr marL="73152" marR="73152" marT="27432" marB="27432" anchor="ctr">
                    <a:lnL w="0">
                      <a:noFill/>
                    </a:lnL>
                    <a:lnR w="0">
                      <a:noFill/>
                    </a:lnR>
                    <a:lnT w="12700">
                      <a:solidFill>
                        <a:srgbClr val="D9DEE8"/>
                      </a:solidFill>
                    </a:lnT>
                    <a:lnB w="12700">
                      <a:solidFill>
                        <a:srgbClr val="D9DEE8"/>
                      </a:solidFill>
                    </a:lnB>
                    <a:noFill/>
                  </a:tcPr>
                </a:tc>
              </a:tr>
              <a:tr h="411480">
                <a:tc>
                  <a:txBody>
                    <a:bodyPr wrap="square"/>
                    <a:lstStyle/>
                    <a:p>
                      <a:pPr algn="ctr"/>
                      <a:r>
                        <a:rPr sz="1100" b="0">
                          <a:solidFill>
                            <a:srgbClr val="1B2230"/>
                          </a:solidFill>
                          <a:latin typeface="Arial"/>
                        </a:rPr>
                        <a:t>4</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296.965.000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966</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307.417</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33,8%</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+24,0%</a:t>
                      </a:r>
                    </a:p>
                  </a:txBody>
                  <a:tcPr marL="73152" marR="73152" marT="27432" marB="27432" anchor="ctr">
                    <a:lnL w="0">
                      <a:noFill/>
                    </a:lnL>
                    <a:lnR w="0">
                      <a:noFill/>
                    </a:lnR>
                    <a:lnT w="12700">
                      <a:solidFill>
                        <a:srgbClr val="D9DEE8"/>
                      </a:solidFill>
                    </a:lnT>
                    <a:lnB w="12700">
                      <a:solidFill>
                        <a:srgbClr val="D9DEE8"/>
                      </a:solidFill>
                    </a:lnB>
                    <a:noFill/>
                  </a:tcPr>
                </a:tc>
                <a:tc>
                  <a:txBody>
                    <a:bodyPr wrap="square"/>
                    <a:lstStyle/>
                    <a:p>
                      <a:pPr algn="r"/>
                      <a:r>
                        <a:rPr sz="1100" b="0">
                          <a:solidFill>
                            <a:srgbClr val="1B2230"/>
                          </a:solidFill>
                          <a:latin typeface="Arial"/>
                        </a:rPr>
                        <a:t>670</a:t>
                      </a:r>
                    </a:p>
                  </a:txBody>
                  <a:tcPr marL="73152" marR="73152" marT="27432" marB="27432" anchor="ctr">
                    <a:lnL w="0">
                      <a:noFill/>
                    </a:lnL>
                    <a:lnR w="0">
                      <a:noFill/>
                    </a:lnR>
                    <a:lnT w="12700">
                      <a:solidFill>
                        <a:srgbClr val="D9DEE8"/>
                      </a:solidFill>
                    </a:lnT>
                    <a:lnB w="12700">
                      <a:solidFill>
                        <a:srgbClr val="D9DEE8"/>
                      </a:solidFill>
                    </a:lnB>
                    <a:noFill/>
                  </a:tcPr>
                </a:tc>
              </a:tr>
            </a:tbl>
          </a:graphicData>
        </a:graphic>
      </p:graphicFrame>
      <p:sp>
        <p:nvSpPr>
          <p:cNvPr id="7" name="AOV check"/>
          <p:cNvSpPr/>
          <p:nvPr/>
        </p:nvSpPr>
        <p:spPr>
          <a:xfrm>
            <a:off x="6556248" y="3657600"/>
            <a:ext cx="5093208" cy="1600200"/>
          </a:xfrm>
          <a:prstGeom prst="roundRect">
            <a:avLst>
              <a:gd name="adj" fmla="val 5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6739128" y="3749039"/>
            <a:ext cx="4727448" cy="1417320"/>
          </a:xfrm>
          <a:prstGeom prst="rect">
            <a:avLst/>
          </a:prstGeom>
          <a:noFill/>
        </p:spPr>
        <p:txBody>
          <a:bodyPr wrap="square" lIns="0" rIns="0" tIns="0" bIns="0" anchor="t">
            <a:spAutoFit/>
          </a:bodyPr>
          <a:lstStyle/>
          <a:p>
            <a:r>
              <a:rPr sz="1500" b="1">
                <a:solidFill>
                  <a:srgbClr val="203864"/>
                </a:solidFill>
                <a:latin typeface="Arial"/>
              </a:rPr>
              <a:t>Kiểm tay — Bánh kẹo, Quý 1</a:t>
            </a:r>
          </a:p>
          <a:p>
            <a:pPr>
              <a:spcBef>
                <a:spcPts val="400"/>
              </a:spcBef>
            </a:pPr>
            <a:r>
              <a:rPr sz="1500" b="0">
                <a:solidFill>
                  <a:srgbClr val="1B2230"/>
                </a:solidFill>
                <a:latin typeface="Arial"/>
              </a:rPr>
              <a:t>338.733.000 ÷ 1.739 đơn = </a:t>
            </a:r>
            <a:r>
              <a:rPr sz="1500" b="1">
                <a:solidFill>
                  <a:srgbClr val="2E7D32"/>
                </a:solidFill>
                <a:latin typeface="Arial"/>
              </a:rPr>
              <a:t>194.786</a:t>
            </a:r>
          </a:p>
          <a:p>
            <a:pPr>
              <a:spcBef>
                <a:spcPts val="400"/>
              </a:spcBef>
            </a:pPr>
            <a:r>
              <a:rPr sz="1300" b="0">
                <a:solidFill>
                  <a:srgbClr val="585858"/>
                </a:solidFill>
                <a:latin typeface="Arial"/>
              </a:rPr>
              <a:t>AVERAGE(Sales[Revenue]) = 153.830 — trung bình một DÒNG, không phải một ĐƠN</a:t>
            </a:r>
          </a:p>
        </p:txBody>
      </p:sp>
      <p:sp>
        <p:nvSpPr>
          <p:cNvPr id="9"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Kiểm tra: Filters Calendar[Nam] = 2025, Rows Calendar[Thang] 1–4 · KH = Active Customers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Thực hành 2: Đối soát với KPI_SUMIFS</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8 · THỰC HÀNH</a:t>
            </a:r>
          </a:p>
        </p:txBody>
      </p:sp>
      <p:sp>
        <p:nvSpPr>
          <p:cNvPr id="4" name="Time chip"/>
          <p:cNvSpPr/>
          <p:nvPr/>
        </p:nvSpPr>
        <p:spPr>
          <a:xfrm>
            <a:off x="1527048" y="1417320"/>
            <a:ext cx="1399032" cy="365760"/>
          </a:xfrm>
          <a:prstGeom prst="roundRect">
            <a:avLst>
              <a:gd name="adj" fmla="val 20000"/>
            </a:avLst>
          </a:prstGeom>
          <a:no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10 phút</a:t>
            </a:r>
          </a:p>
        </p:txBody>
      </p:sp>
      <p:sp>
        <p:nvSpPr>
          <p:cNvPr id="5" name="TextBox"/>
          <p:cNvSpPr txBox="1"/>
          <p:nvPr/>
        </p:nvSpPr>
        <p:spPr>
          <a:xfrm>
            <a:off x="1527048" y="1920240"/>
            <a:ext cx="6309360" cy="2194560"/>
          </a:xfrm>
          <a:prstGeom prst="rect">
            <a:avLst/>
          </a:prstGeom>
          <a:noFill/>
        </p:spPr>
        <p:txBody>
          <a:bodyPr wrap="square" lIns="0" rIns="0" tIns="0" bIns="0" anchor="t">
            <a:spAutoFit/>
          </a:bodyPr>
          <a:lstStyle/>
          <a:p>
            <a:r>
              <a:rPr sz="1400" b="1">
                <a:solidFill>
                  <a:srgbClr val="203864"/>
                </a:solidFill>
                <a:latin typeface="Arial"/>
              </a:rPr>
              <a:t>1. </a:t>
            </a:r>
            <a:r>
              <a:rPr sz="1400" b="0">
                <a:solidFill>
                  <a:srgbClr val="1B2230"/>
                </a:solidFill>
                <a:latin typeface="Arial"/>
              </a:rPr>
              <a:t>Sheet mới PV_DoiSoat_B2 (From Data Model): Filters Nam = 2025, Quy = 1 · Rows Store[Region] · Columns Calendar[Thang] · Values: Total Revenue, Total Orders, Avg Order Value, Gross Margin %.</a:t>
            </a:r>
          </a:p>
          <a:p>
            <a:pPr>
              <a:spcBef>
                <a:spcPts val="1000"/>
              </a:spcBef>
            </a:pPr>
            <a:r>
              <a:rPr sz="1400" b="1">
                <a:solidFill>
                  <a:srgbClr val="203864"/>
                </a:solidFill>
                <a:latin typeface="Arial"/>
              </a:rPr>
              <a:t>2. </a:t>
            </a:r>
            <a:r>
              <a:rPr sz="1400" b="0">
                <a:solidFill>
                  <a:srgbClr val="1B2230"/>
                </a:solidFill>
                <a:latin typeface="Arial"/>
              </a:rPr>
              <a:t>GETPIVOTDATA (gõ =, bấm ô Pivot) trừ ô KPI_SUMIFS: Bắc × 3 (D6) · Doanh thu Quý 1 (E9) · Số đơn (E16) · GM% (E30) → phải bằng 0.</a:t>
            </a:r>
          </a:p>
        </p:txBody>
      </p:sp>
      <p:sp>
        <p:nvSpPr>
          <p:cNvPr id="6" name="Checkbox 1"/>
          <p:cNvSpPr/>
          <p:nvPr/>
        </p:nvSpPr>
        <p:spPr>
          <a:xfrm>
            <a:off x="1527048" y="4279392"/>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1984248" y="4160520"/>
            <a:ext cx="5852160" cy="512064"/>
          </a:xfrm>
          <a:prstGeom prst="rect">
            <a:avLst/>
          </a:prstGeom>
          <a:noFill/>
        </p:spPr>
        <p:txBody>
          <a:bodyPr wrap="square" lIns="0" rIns="0" tIns="0" bIns="0" anchor="ctr">
            <a:spAutoFit/>
          </a:bodyPr>
          <a:lstStyle/>
          <a:p>
            <a:r>
              <a:rPr sz="1400" b="0">
                <a:solidFill>
                  <a:srgbClr val="1B2230"/>
                </a:solidFill>
                <a:latin typeface="Arial"/>
              </a:rPr>
              <a:t>Diagram View: hình ngôi sao, 6 bảng, 6 relationship; Sales và Target gặp nhau qua Store, Calendar</a:t>
            </a:r>
          </a:p>
        </p:txBody>
      </p:sp>
      <p:sp>
        <p:nvSpPr>
          <p:cNvPr id="8" name="Checkbox 2"/>
          <p:cNvSpPr/>
          <p:nvPr/>
        </p:nvSpPr>
        <p:spPr>
          <a:xfrm>
            <a:off x="1527048" y="4846320"/>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p:cNvSpPr txBox="1"/>
          <p:nvPr/>
        </p:nvSpPr>
        <p:spPr>
          <a:xfrm>
            <a:off x="1984248" y="4727448"/>
            <a:ext cx="5852160" cy="512064"/>
          </a:xfrm>
          <a:prstGeom prst="rect">
            <a:avLst/>
          </a:prstGeom>
          <a:noFill/>
        </p:spPr>
        <p:txBody>
          <a:bodyPr wrap="square" lIns="0" rIns="0" tIns="0" bIns="0" anchor="ctr">
            <a:spAutoFit/>
          </a:bodyPr>
          <a:lstStyle/>
          <a:p>
            <a:r>
              <a:rPr sz="1400" b="0">
                <a:solidFill>
                  <a:srgbClr val="1B2230"/>
                </a:solidFill>
                <a:latin typeface="Arial"/>
              </a:rPr>
              <a:t>6 KPI + Total Target, Revenue vs Target %, Variance là explicit measure, có định dạng</a:t>
            </a:r>
          </a:p>
        </p:txBody>
      </p:sp>
      <p:sp>
        <p:nvSpPr>
          <p:cNvPr id="10" name="Checkbox 3"/>
          <p:cNvSpPr/>
          <p:nvPr/>
        </p:nvSpPr>
        <p:spPr>
          <a:xfrm>
            <a:off x="1527048" y="5413248"/>
            <a:ext cx="274320" cy="274320"/>
          </a:xfrm>
          <a:prstGeom prst="rect">
            <a:avLst/>
          </a:prstGeom>
          <a:solidFill>
            <a:srgbClr val="FFFFFF"/>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p:cNvSpPr txBox="1"/>
          <p:nvPr/>
        </p:nvSpPr>
        <p:spPr>
          <a:xfrm>
            <a:off x="1984248" y="5294376"/>
            <a:ext cx="5852160" cy="512064"/>
          </a:xfrm>
          <a:prstGeom prst="rect">
            <a:avLst/>
          </a:prstGeom>
          <a:noFill/>
        </p:spPr>
        <p:txBody>
          <a:bodyPr wrap="square" lIns="0" rIns="0" tIns="0" bIns="0" anchor="ctr">
            <a:spAutoFit/>
          </a:bodyPr>
          <a:lstStyle/>
          <a:p>
            <a:r>
              <a:rPr sz="1400" b="0">
                <a:solidFill>
                  <a:srgbClr val="1B2230"/>
                </a:solidFill>
                <a:latin typeface="Arial"/>
              </a:rPr>
              <a:t>Đối soát với KPI_SUMIFS: chênh lệch 0</a:t>
            </a:r>
          </a:p>
        </p:txBody>
      </p:sp>
      <p:sp>
        <p:nvSpPr>
          <p:cNvPr id="12" name="Check box"/>
          <p:cNvSpPr/>
          <p:nvPr/>
        </p:nvSpPr>
        <p:spPr>
          <a:xfrm>
            <a:off x="8110727" y="1417320"/>
            <a:ext cx="3538728" cy="4617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p:cNvSpPr txBox="1"/>
          <p:nvPr/>
        </p:nvSpPr>
        <p:spPr>
          <a:xfrm>
            <a:off x="8293608" y="1554480"/>
            <a:ext cx="3172968" cy="4389120"/>
          </a:xfrm>
          <a:prstGeom prst="rect">
            <a:avLst/>
          </a:prstGeom>
          <a:noFill/>
        </p:spPr>
        <p:txBody>
          <a:bodyPr wrap="square" lIns="0" rIns="0" tIns="0" bIns="0" anchor="t">
            <a:spAutoFit/>
          </a:bodyPr>
          <a:lstStyle/>
          <a:p>
            <a:r>
              <a:rPr sz="1600" b="1">
                <a:solidFill>
                  <a:srgbClr val="203864"/>
                </a:solidFill>
                <a:latin typeface="Arial"/>
              </a:rPr>
              <a:t>Kiểm tra — Quý 1/2025</a:t>
            </a:r>
          </a:p>
          <a:p>
            <a:pPr>
              <a:spcBef>
                <a:spcPts val="800"/>
              </a:spcBef>
            </a:pPr>
            <a:r>
              <a:rPr sz="2400" b="1">
                <a:solidFill>
                  <a:srgbClr val="203864"/>
                </a:solidFill>
                <a:latin typeface="Arial"/>
              </a:rPr>
              <a:t>941.454.000</a:t>
            </a:r>
          </a:p>
          <a:p>
            <a:pPr>
              <a:spcBef>
                <a:spcPts val="800"/>
              </a:spcBef>
            </a:pPr>
            <a:r>
              <a:rPr sz="1500" b="0">
                <a:solidFill>
                  <a:srgbClr val="1B2230"/>
                </a:solidFill>
                <a:latin typeface="Arial"/>
              </a:rPr>
              <a:t>3.144 đơn · AOV 299.445</a:t>
            </a:r>
          </a:p>
          <a:p>
            <a:pPr>
              <a:spcBef>
                <a:spcPts val="800"/>
              </a:spcBef>
            </a:pPr>
            <a:r>
              <a:rPr sz="1500" b="0">
                <a:solidFill>
                  <a:srgbClr val="1B2230"/>
                </a:solidFill>
                <a:latin typeface="Arial"/>
              </a:rPr>
              <a:t>Gross Margin 34,18%</a:t>
            </a:r>
          </a:p>
          <a:p>
            <a:pPr>
              <a:spcBef>
                <a:spcPts val="800"/>
              </a:spcBef>
            </a:pPr>
            <a:r>
              <a:rPr sz="1500" b="0">
                <a:solidFill>
                  <a:srgbClr val="1B2230"/>
                </a:solidFill>
                <a:latin typeface="Arial"/>
              </a:rPr>
              <a:t>Bắc × 3: 90.210.000</a:t>
            </a:r>
          </a:p>
          <a:p>
            <a:pPr>
              <a:spcBef>
                <a:spcPts val="800"/>
              </a:spcBef>
            </a:pPr>
            <a:r>
              <a:rPr sz="1500" b="1">
                <a:solidFill>
                  <a:srgbClr val="2E7D32"/>
                </a:solidFill>
                <a:latin typeface="Arial"/>
              </a:rPr>
              <a:t>Khớp = B2 và B5 cùng nói một sự thật</a:t>
            </a:r>
          </a:p>
        </p:txBody>
      </p:sp>
      <p:sp>
        <p:nvSpPr>
          <p:cNvPr id="14" name="Footnote"/>
          <p:cNvSpPr txBox="1"/>
          <p:nvPr/>
        </p:nvSpPr>
        <p:spPr>
          <a:xfrm>
            <a:off x="1527048" y="6217920"/>
            <a:ext cx="10122408" cy="320040"/>
          </a:xfrm>
          <a:prstGeom prst="rect">
            <a:avLst/>
          </a:prstGeom>
          <a:noFill/>
        </p:spPr>
        <p:txBody>
          <a:bodyPr wrap="square" lIns="0" rIns="0" tIns="0" bIns="0" anchor="b">
            <a:spAutoFit/>
          </a:bodyPr>
          <a:lstStyle/>
          <a:p>
            <a:r>
              <a:rPr sz="1200" b="0">
                <a:solidFill>
                  <a:srgbClr val="6B6F76"/>
                </a:solidFill>
                <a:latin typeface="Arial"/>
              </a:rPr>
              <a:t>Đối chiếu: Practice/B5_MCI_Mart_Answer.xlsx, sheet Kiem_tra_B5 (đủ 64 ô Miền × Tháng × 4 KPI)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Excel Quiz Challenge</a:t>
            </a:r>
          </a:p>
        </p:txBody>
      </p:sp>
      <p:sp>
        <p:nvSpPr>
          <p:cNvPr id="3" name="Text Placeholder 2"/>
          <p:cNvSpPr>
            <a:spLocks noGrp="1"/>
          </p:cNvSpPr>
          <p:nvPr>
            <p:ph type="body" idx="1"/>
          </p:nvPr>
        </p:nvSpPr>
        <p:spPr/>
        <p:txBody>
          <a:bodyPr/>
          <a:lstStyle/>
          <a:p>
            <a:r>
              <a:t>4 câu hỏi nhanh · câu 3–4 là tình huống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1: Measure vs Column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KPI Gross Margin % nên viết thế nào trong Data Model?</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Calculated column GM từng dòng, rồi lấy Average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Calculated column GM từng dòng, rồi lấy Sum</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Measure: DIVIDE(tổng doanh thu − tổng giá vốn, tổng doanh thu)</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Implicit measure Average of Revenue</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2: Hai bảng fact</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200" b="0">
                <a:solidFill>
                  <a:srgbClr val="1B2230"/>
                </a:solidFill>
                <a:latin typeface="Arial"/>
              </a:rPr>
              <a:t>Sales và Target đều có cột Store_Code. Nối thế nào để phân tích doanh thu so với target theo cửa hàng?</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500" b="0">
                <a:solidFill>
                  <a:srgbClr val="1B2230"/>
                </a:solidFill>
                <a:latin typeface="Arial"/>
              </a:rPr>
              <a:t>Relationship thẳng giữa Sales[Store_Code] và Target[Store_Code]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nswer highlight B"/>
          <p:cNvSpPr/>
          <p:nvPr/>
        </p:nvSpPr>
        <p:spPr>
          <a:xfrm>
            <a:off x="6702552" y="2606040"/>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1" name="Answer letter B"/>
          <p:cNvSpPr/>
          <p:nvPr/>
        </p:nvSpPr>
        <p:spPr>
          <a:xfrm>
            <a:off x="6885432" y="2926080"/>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2" name="TextBox"/>
          <p:cNvSpPr txBox="1"/>
          <p:nvPr/>
        </p:nvSpPr>
        <p:spPr>
          <a:xfrm>
            <a:off x="7616952" y="2606040"/>
            <a:ext cx="3941064" cy="1188720"/>
          </a:xfrm>
          <a:prstGeom prst="rect">
            <a:avLst/>
          </a:prstGeom>
          <a:noFill/>
        </p:spPr>
        <p:txBody>
          <a:bodyPr wrap="square" lIns="0" rIns="0" tIns="0" bIns="0" anchor="ctr">
            <a:spAutoFit/>
          </a:bodyPr>
          <a:lstStyle/>
          <a:p>
            <a:r>
              <a:rPr sz="1500" b="0">
                <a:solidFill>
                  <a:srgbClr val="1B2230"/>
                </a:solidFill>
                <a:latin typeface="Arial"/>
              </a:rPr>
              <a:t>Nối cả hai vào lookup chung Store (và Calendar), lọc qua lookup</a:t>
            </a:r>
          </a:p>
        </p:txBody>
      </p:sp>
      <p:sp>
        <p:nvSpPr>
          <p:cNvPr id="13"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500" b="0">
                <a:solidFill>
                  <a:srgbClr val="1B2230"/>
                </a:solidFill>
                <a:latin typeface="Arial"/>
              </a:rPr>
              <a:t>Merge Target vào Sales bằng Power Query</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500" b="0">
                <a:solidFill>
                  <a:srgbClr val="1B2230"/>
                </a:solidFill>
                <a:latin typeface="Arial"/>
              </a:rPr>
              <a:t>Không nối được, phải dùng SUMIFS</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C"/>
          <p:cNvSpPr/>
          <p:nvPr/>
        </p:nvSpPr>
        <p:spPr>
          <a:xfrm>
            <a:off x="1527048"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10186416" y="2423160"/>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400"/>
                                        <p:tgtEl>
                                          <p:spTgt spid="9"/>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9" grpId="0" animBg="1"/>
      <p:bldP spid="20" grpId="0" animBg="1"/>
      <p:bldP spid="21" grpId="0" animBg="1"/>
      <p:bldP spid="22"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3: Tình huống — Con số lặp lại</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Pivot Quý 1/2025: Rows = Product[Category], Values = Total Target. Sáu dòng đều ra 936.000.000. Vì sao?</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400" b="0">
                <a:solidFill>
                  <a:srgbClr val="1B2230"/>
                </a:solidFill>
                <a:latin typeface="Arial"/>
              </a:rPr>
              <a:t>Thiếu Mark as Date Table</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400" b="0">
                <a:solidFill>
                  <a:srgbClr val="1B2230"/>
                </a:solidFill>
                <a:latin typeface="Arial"/>
              </a:rPr>
              <a:t>Measure Total Target viết sai</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400" b="0">
                <a:solidFill>
                  <a:srgbClr val="1B2230"/>
                </a:solidFill>
                <a:latin typeface="Arial"/>
              </a:rPr>
              <a:t>Target có grain tháng × cửa hàng, không có chiều sản phẩm; Product không lọc được Target</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400" b="0">
                <a:solidFill>
                  <a:srgbClr val="1B2230"/>
                </a:solidFill>
                <a:latin typeface="Arial"/>
              </a:rPr>
              <a:t>Phải Refresh All</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 4: Tình huống — Tổng lệch</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10122408" cy="914400"/>
          </a:xfrm>
          <a:prstGeom prst="rect">
            <a:avLst/>
          </a:prstGeom>
          <a:noFill/>
        </p:spPr>
        <p:txBody>
          <a:bodyPr wrap="square" lIns="0" rIns="0" tIns="0" bIns="0" anchor="t">
            <a:spAutoFit/>
          </a:bodyPr>
          <a:lstStyle/>
          <a:p>
            <a:r>
              <a:rPr sz="2000" b="0">
                <a:solidFill>
                  <a:srgbClr val="1B2230"/>
                </a:solidFill>
                <a:latin typeface="Arial"/>
              </a:rPr>
              <a:t>Active Customers Quý 1 theo miền: 492 + 307 + 657 = 1.456. Nhưng Grand Total ghi 1.208. Kết luận nào đúng?</a:t>
            </a:r>
          </a:p>
        </p:txBody>
      </p:sp>
      <p:sp>
        <p:nvSpPr>
          <p:cNvPr id="5" name="Option A"/>
          <p:cNvSpPr/>
          <p:nvPr/>
        </p:nvSpPr>
        <p:spPr>
          <a:xfrm>
            <a:off x="1527048"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tter A"/>
          <p:cNvSpPr/>
          <p:nvPr/>
        </p:nvSpPr>
        <p:spPr>
          <a:xfrm>
            <a:off x="1709928"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A</a:t>
            </a:r>
          </a:p>
        </p:txBody>
      </p:sp>
      <p:sp>
        <p:nvSpPr>
          <p:cNvPr id="7" name="TextBox"/>
          <p:cNvSpPr txBox="1"/>
          <p:nvPr/>
        </p:nvSpPr>
        <p:spPr>
          <a:xfrm>
            <a:off x="2441448" y="2606040"/>
            <a:ext cx="3941064" cy="1188720"/>
          </a:xfrm>
          <a:prstGeom prst="rect">
            <a:avLst/>
          </a:prstGeom>
          <a:noFill/>
        </p:spPr>
        <p:txBody>
          <a:bodyPr wrap="square" lIns="0" rIns="0" tIns="0" bIns="0" anchor="ctr">
            <a:spAutoFit/>
          </a:bodyPr>
          <a:lstStyle/>
          <a:p>
            <a:r>
              <a:rPr sz="1400" b="0">
                <a:solidFill>
                  <a:srgbClr val="1B2230"/>
                </a:solidFill>
                <a:latin typeface="Arial"/>
              </a:rPr>
              <a:t>Pivot bị lỗi, phải Refresh</a:t>
            </a:r>
          </a:p>
        </p:txBody>
      </p:sp>
      <p:sp>
        <p:nvSpPr>
          <p:cNvPr id="8" name="Option B"/>
          <p:cNvSpPr/>
          <p:nvPr/>
        </p:nvSpPr>
        <p:spPr>
          <a:xfrm>
            <a:off x="6702552" y="2606040"/>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tter B"/>
          <p:cNvSpPr/>
          <p:nvPr/>
        </p:nvSpPr>
        <p:spPr>
          <a:xfrm>
            <a:off x="6885432" y="2926080"/>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B</a:t>
            </a:r>
          </a:p>
        </p:txBody>
      </p:sp>
      <p:sp>
        <p:nvSpPr>
          <p:cNvPr id="10" name="TextBox"/>
          <p:cNvSpPr txBox="1"/>
          <p:nvPr/>
        </p:nvSpPr>
        <p:spPr>
          <a:xfrm>
            <a:off x="7616952" y="2606040"/>
            <a:ext cx="3941064" cy="1188720"/>
          </a:xfrm>
          <a:prstGeom prst="rect">
            <a:avLst/>
          </a:prstGeom>
          <a:noFill/>
        </p:spPr>
        <p:txBody>
          <a:bodyPr wrap="square" lIns="0" rIns="0" tIns="0" bIns="0" anchor="ctr">
            <a:spAutoFit/>
          </a:bodyPr>
          <a:lstStyle/>
          <a:p>
            <a:r>
              <a:rPr sz="1400" b="0">
                <a:solidFill>
                  <a:srgbClr val="1B2230"/>
                </a:solidFill>
                <a:latin typeface="Arial"/>
              </a:rPr>
              <a:t>Thiếu relationship Sales – Customer</a:t>
            </a:r>
          </a:p>
        </p:txBody>
      </p:sp>
      <p:sp>
        <p:nvSpPr>
          <p:cNvPr id="11" name="Option C"/>
          <p:cNvSpPr/>
          <p:nvPr/>
        </p:nvSpPr>
        <p:spPr>
          <a:xfrm>
            <a:off x="1527048"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nswer highlight C"/>
          <p:cNvSpPr/>
          <p:nvPr/>
        </p:nvSpPr>
        <p:spPr>
          <a:xfrm>
            <a:off x="1527048" y="3977639"/>
            <a:ext cx="4946904" cy="1188720"/>
          </a:xfrm>
          <a:prstGeom prst="rect">
            <a:avLst/>
          </a:prstGeom>
          <a:solidFill>
            <a:srgbClr val="E8F5E9"/>
          </a:solidFill>
          <a:ln w="381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tter C"/>
          <p:cNvSpPr/>
          <p:nvPr/>
        </p:nvSpPr>
        <p:spPr>
          <a:xfrm>
            <a:off x="1709928"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4" name="Answer letter C"/>
          <p:cNvSpPr/>
          <p:nvPr/>
        </p:nvSpPr>
        <p:spPr>
          <a:xfrm>
            <a:off x="1709928" y="4297679"/>
            <a:ext cx="548640" cy="54864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C</a:t>
            </a:r>
          </a:p>
        </p:txBody>
      </p:sp>
      <p:sp>
        <p:nvSpPr>
          <p:cNvPr id="15" name="TextBox"/>
          <p:cNvSpPr txBox="1"/>
          <p:nvPr/>
        </p:nvSpPr>
        <p:spPr>
          <a:xfrm>
            <a:off x="2441448" y="3977639"/>
            <a:ext cx="3941064" cy="1188720"/>
          </a:xfrm>
          <a:prstGeom prst="rect">
            <a:avLst/>
          </a:prstGeom>
          <a:noFill/>
        </p:spPr>
        <p:txBody>
          <a:bodyPr wrap="square" lIns="0" rIns="0" tIns="0" bIns="0" anchor="ctr">
            <a:spAutoFit/>
          </a:bodyPr>
          <a:lstStyle/>
          <a:p>
            <a:r>
              <a:rPr sz="1400" b="0">
                <a:solidFill>
                  <a:srgbClr val="1B2230"/>
                </a:solidFill>
                <a:latin typeface="Arial"/>
              </a:rPr>
              <a:t>Không lỗi: khách mua ở nhiều miền chỉ đếm một lần ở dòng tổng; DISTINCTCOUNT không cộng dồn</a:t>
            </a:r>
          </a:p>
        </p:txBody>
      </p:sp>
      <p:sp>
        <p:nvSpPr>
          <p:cNvPr id="16" name="Option D"/>
          <p:cNvSpPr/>
          <p:nvPr/>
        </p:nvSpPr>
        <p:spPr>
          <a:xfrm>
            <a:off x="6702552" y="3977639"/>
            <a:ext cx="4946904" cy="11887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tter D"/>
          <p:cNvSpPr/>
          <p:nvPr/>
        </p:nvSpPr>
        <p:spPr>
          <a:xfrm>
            <a:off x="6885432" y="4297679"/>
            <a:ext cx="548640" cy="54864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D</a:t>
            </a:r>
          </a:p>
        </p:txBody>
      </p:sp>
      <p:sp>
        <p:nvSpPr>
          <p:cNvPr id="18" name="TextBox"/>
          <p:cNvSpPr txBox="1"/>
          <p:nvPr/>
        </p:nvSpPr>
        <p:spPr>
          <a:xfrm>
            <a:off x="7616952" y="3977639"/>
            <a:ext cx="3941064" cy="1188720"/>
          </a:xfrm>
          <a:prstGeom prst="rect">
            <a:avLst/>
          </a:prstGeom>
          <a:noFill/>
        </p:spPr>
        <p:txBody>
          <a:bodyPr wrap="square" lIns="0" rIns="0" tIns="0" bIns="0" anchor="ctr">
            <a:spAutoFit/>
          </a:bodyPr>
          <a:lstStyle/>
          <a:p>
            <a:r>
              <a:rPr sz="1400" b="0">
                <a:solidFill>
                  <a:srgbClr val="1B2230"/>
                </a:solidFill>
                <a:latin typeface="Arial"/>
              </a:rPr>
              <a:t>Phải đổi sang SUM(Sales[Customer_ID])</a:t>
            </a:r>
          </a:p>
        </p:txBody>
      </p:sp>
      <p:sp>
        <p:nvSpPr>
          <p:cNvPr id="19" name="Dim A"/>
          <p:cNvSpPr/>
          <p:nvPr/>
        </p:nvSpPr>
        <p:spPr>
          <a:xfrm>
            <a:off x="1527048"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m B"/>
          <p:cNvSpPr/>
          <p:nvPr/>
        </p:nvSpPr>
        <p:spPr>
          <a:xfrm>
            <a:off x="6702552" y="2606040"/>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m D"/>
          <p:cNvSpPr/>
          <p:nvPr/>
        </p:nvSpPr>
        <p:spPr>
          <a:xfrm>
            <a:off x="6702552" y="3977639"/>
            <a:ext cx="4946904" cy="1188720"/>
          </a:xfrm>
          <a:prstGeom prst="rect">
            <a:avLst/>
          </a:prstGeom>
          <a:solidFill>
            <a:srgbClr val="FFFFF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nswer chip"/>
          <p:cNvSpPr/>
          <p:nvPr/>
        </p:nvSpPr>
        <p:spPr>
          <a:xfrm>
            <a:off x="5010912" y="3794759"/>
            <a:ext cx="1325880" cy="292608"/>
          </a:xfrm>
          <a:prstGeom prst="roundRect">
            <a:avLst>
              <a:gd name="adj" fmla="val 2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Arial"/>
              </a:rPr>
              <a:t>✓ Đáp án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922" fill="hold">
                            <p:stCondLst>
                              <p:cond delay="0"/>
                            </p:stCondLst>
                            <p:childTnLst>
                              <p:par>
                                <p:cTn id="4" presetID="10" presetClass="entr" presetSubtype="0" fill="hold" grpId="0" nodeType="clickEffect">
                                  <p:stCondLst>
                                    <p:cond delay="0"/>
                                  </p:stCondLst>
                                  <p:childTnLst>
                                    <p:set>
                                      <p:cBhvr>
                                        <p:cTn id="5" dur="1" fill="hold">
                                          <p:stCondLst>
                                            <p:cond delay="0"/>
                                          </p:stCondLst>
                                        </p:cTn>
                                        <p:tgtEl>
                                          <p:spTgt spid="12"/>
                                        </p:tgtEl>
                                        <p:attrNameLst>
                                          <p:attrName>style.visibility</p:attrName>
                                        </p:attrNameLst>
                                      </p:cBhvr>
                                      <p:to>
                                        <p:strVal val="visible"/>
                                      </p:to>
                                    </p:set>
                                    <p:animEffect transition="in" filter="fade">
                                      <p:cBhvr>
                                        <p:cTn id="6" dur="400"/>
                                        <p:tgtEl>
                                          <p:spTgt spid="12"/>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9" grpId="0" animBg="1"/>
      <p:bldP spid="20" grpId="0" animBg="1"/>
      <p:bldP spid="21" grpId="0" animBg="1"/>
      <p:bldP spid="22"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kết &amp; insight của bạn</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4846320" cy="411480"/>
          </a:xfrm>
          <a:prstGeom prst="rect">
            <a:avLst/>
          </a:prstGeom>
          <a:noFill/>
        </p:spPr>
        <p:txBody>
          <a:bodyPr wrap="square" lIns="0" rIns="0" tIns="0" bIns="0" anchor="t">
            <a:spAutoFit/>
          </a:bodyPr>
          <a:lstStyle/>
          <a:p>
            <a:r>
              <a:rPr sz="1800" b="1">
                <a:solidFill>
                  <a:srgbClr val="203864"/>
                </a:solidFill>
                <a:latin typeface="Arial"/>
              </a:rPr>
              <a:t>Điểm chính cần nhớ</a:t>
            </a:r>
          </a:p>
        </p:txBody>
      </p:sp>
      <p:sp>
        <p:nvSpPr>
          <p:cNvPr id="5" name="TextBox"/>
          <p:cNvSpPr txBox="1"/>
          <p:nvPr/>
        </p:nvSpPr>
        <p:spPr>
          <a:xfrm>
            <a:off x="1527048" y="2011680"/>
            <a:ext cx="4846320" cy="4114800"/>
          </a:xfrm>
          <a:prstGeom prst="rect">
            <a:avLst/>
          </a:prstGeom>
          <a:noFill/>
        </p:spPr>
        <p:txBody>
          <a:bodyPr wrap="square" lIns="0" rIns="0" tIns="0" bIns="0" anchor="t">
            <a:spAutoFit/>
          </a:bodyPr>
          <a:lstStyle/>
          <a:p>
            <a:r>
              <a:rPr sz="1500" b="0">
                <a:solidFill>
                  <a:srgbClr val="1B2230"/>
                </a:solidFill>
                <a:latin typeface="Arial"/>
              </a:rPr>
              <a:t>(1) Star schema: fact ở giữa, lookup xung quanh, 1-*; bộ lọc chảy lookup → fact. Hai fact gặp nhau qua lookup chung.</a:t>
            </a:r>
          </a:p>
          <a:p>
            <a:pPr>
              <a:spcBef>
                <a:spcPts val="900"/>
              </a:spcBef>
            </a:pPr>
            <a:r>
              <a:rPr sz="1500" b="0">
                <a:solidFill>
                  <a:srgbClr val="1B2230"/>
                </a:solidFill>
                <a:latin typeface="Arial"/>
              </a:rPr>
              <a:t>(2) Calculated column tính từng dòng; MEASURE tính từng ô. Tỷ lệ và đếm phân biệt luôn là measure.</a:t>
            </a:r>
          </a:p>
          <a:p>
            <a:pPr>
              <a:spcBef>
                <a:spcPts val="900"/>
              </a:spcBef>
            </a:pPr>
            <a:r>
              <a:rPr sz="1500" b="0">
                <a:solidFill>
                  <a:srgbClr val="1B2230"/>
                </a:solidFill>
                <a:latin typeface="Arial"/>
              </a:rPr>
              <a:t>(3) Filter context = tọa độ của ô. CALCULATE đổi bộ lọc; ALL bỏ bộ lọc.</a:t>
            </a:r>
          </a:p>
          <a:p>
            <a:pPr>
              <a:spcBef>
                <a:spcPts val="900"/>
              </a:spcBef>
            </a:pPr>
            <a:r>
              <a:rPr sz="1500" b="0">
                <a:solidFill>
                  <a:srgbClr val="1B2230"/>
                </a:solidFill>
                <a:latin typeface="Arial"/>
              </a:rPr>
              <a:t>(4) Time intelligence cần Calendar liên tục; hàng/cột lấy từ Calendar, không lấy từ fact.</a:t>
            </a:r>
          </a:p>
          <a:p>
            <a:pPr>
              <a:spcBef>
                <a:spcPts val="900"/>
              </a:spcBef>
            </a:pPr>
            <a:r>
              <a:rPr sz="1500" b="0">
                <a:solidFill>
                  <a:srgbClr val="1B2230"/>
                </a:solidFill>
                <a:latin typeface="Arial"/>
              </a:rPr>
              <a:t>(5) KPI dictionary: mỗi KPI một measure, một định nghĩa, kèm giới hạn — đối soát trước khi dùng.</a:t>
            </a:r>
          </a:p>
        </p:txBody>
      </p:sp>
      <p:sp>
        <p:nvSpPr>
          <p:cNvPr id="6" name="Insight box"/>
          <p:cNvSpPr/>
          <p:nvPr/>
        </p:nvSpPr>
        <p:spPr>
          <a:xfrm>
            <a:off x="6373368" y="1508760"/>
            <a:ext cx="5276088" cy="3474720"/>
          </a:xfrm>
          <a:prstGeom prst="roundRect">
            <a:avLst>
              <a:gd name="adj" fmla="val 3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p:cNvSpPr txBox="1"/>
          <p:nvPr/>
        </p:nvSpPr>
        <p:spPr>
          <a:xfrm>
            <a:off x="6556248" y="1645920"/>
            <a:ext cx="4910328" cy="411480"/>
          </a:xfrm>
          <a:prstGeom prst="rect">
            <a:avLst/>
          </a:prstGeom>
          <a:noFill/>
        </p:spPr>
        <p:txBody>
          <a:bodyPr wrap="square" lIns="0" rIns="0" tIns="0" bIns="0" anchor="t">
            <a:spAutoFit/>
          </a:bodyPr>
          <a:lstStyle/>
          <a:p>
            <a:r>
              <a:rPr sz="1800" b="1">
                <a:solidFill>
                  <a:srgbClr val="203864"/>
                </a:solidFill>
                <a:latin typeface="Arial"/>
              </a:rPr>
              <a:t>Insight của bạn (1 câu)</a:t>
            </a:r>
          </a:p>
        </p:txBody>
      </p:sp>
      <p:sp>
        <p:nvSpPr>
          <p:cNvPr id="8" name="TextBox"/>
          <p:cNvSpPr txBox="1"/>
          <p:nvPr/>
        </p:nvSpPr>
        <p:spPr>
          <a:xfrm>
            <a:off x="6556248" y="2148840"/>
            <a:ext cx="4910328" cy="2011680"/>
          </a:xfrm>
          <a:prstGeom prst="rect">
            <a:avLst/>
          </a:prstGeom>
          <a:noFill/>
        </p:spPr>
        <p:txBody>
          <a:bodyPr wrap="square" lIns="0" rIns="0" tIns="0" bIns="0" anchor="t">
            <a:spAutoFit/>
          </a:bodyPr>
          <a:lstStyle/>
          <a:p>
            <a:r>
              <a:rPr sz="1900" b="0">
                <a:solidFill>
                  <a:srgbClr val="1B2230"/>
                </a:solidFill>
                <a:latin typeface="Arial"/>
              </a:rPr>
              <a:t>“Theo Revenue vs Target %, ___ (con số), nguyên nhân khả dĩ là ___, nên ___ (hàm ý).”</a:t>
            </a:r>
          </a:p>
        </p:txBody>
      </p:sp>
      <p:sp>
        <p:nvSpPr>
          <p:cNvPr id="9" name="Tag Con số"/>
          <p:cNvSpPr/>
          <p:nvPr/>
        </p:nvSpPr>
        <p:spPr>
          <a:xfrm>
            <a:off x="6556248"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Con số</a:t>
            </a:r>
          </a:p>
        </p:txBody>
      </p:sp>
      <p:sp>
        <p:nvSpPr>
          <p:cNvPr id="10" name="Tag Nguyên nhân"/>
          <p:cNvSpPr/>
          <p:nvPr/>
        </p:nvSpPr>
        <p:spPr>
          <a:xfrm>
            <a:off x="8238744"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Nguyên nhân</a:t>
            </a:r>
          </a:p>
        </p:txBody>
      </p:sp>
      <p:sp>
        <p:nvSpPr>
          <p:cNvPr id="11" name="Tag Hàm ý"/>
          <p:cNvSpPr/>
          <p:nvPr/>
        </p:nvSpPr>
        <p:spPr>
          <a:xfrm>
            <a:off x="9921240" y="4389120"/>
            <a:ext cx="1545336" cy="411480"/>
          </a:xfrm>
          <a:prstGeom prst="roundRect">
            <a:avLst>
              <a:gd name="adj" fmla="val 20000"/>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3864"/>
                </a:solidFill>
                <a:latin typeface="Arial"/>
              </a:rPr>
              <a:t>Hàm ý</a:t>
            </a:r>
          </a:p>
        </p:txBody>
      </p:sp>
      <p:sp>
        <p:nvSpPr>
          <p:cNvPr id="12" name="TextBox"/>
          <p:cNvSpPr txBox="1"/>
          <p:nvPr/>
        </p:nvSpPr>
        <p:spPr>
          <a:xfrm>
            <a:off x="6373368" y="5120640"/>
            <a:ext cx="5276088" cy="822960"/>
          </a:xfrm>
          <a:prstGeom prst="rect">
            <a:avLst/>
          </a:prstGeom>
          <a:noFill/>
        </p:spPr>
        <p:txBody>
          <a:bodyPr wrap="square" lIns="0" rIns="0" tIns="0" bIns="0" anchor="t">
            <a:spAutoFit/>
          </a:bodyPr>
          <a:lstStyle/>
          <a:p>
            <a:r>
              <a:rPr sz="1400" b="0">
                <a:solidFill>
                  <a:srgbClr val="585858"/>
                </a:solidFill>
                <a:latin typeface="Arial"/>
              </a:rPr>
              <a:t>Gợi ý: so tháng 1 với tháng 2, rồi mở Calendar xem Tết rơi vào ngày nào.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Buổi sau: Dashboard</a:t>
            </a:r>
          </a:p>
        </p:txBody>
      </p:sp>
      <p:sp>
        <p:nvSpPr>
          <p:cNvPr id="3" name="Rail label"/>
          <p:cNvSpPr txBox="1"/>
          <p:nvPr/>
        </p:nvSpPr>
        <p:spPr>
          <a:xfrm>
            <a:off x="0" y="1371600"/>
            <a:ext cx="978408" cy="4800600"/>
          </a:xfrm>
          <a:prstGeom prst="rect">
            <a:avLst/>
          </a:prstGeom>
          <a:noFill/>
        </p:spPr>
        <p:txBody>
          <a:bodyPr wrap="square" lIns="0" rIns="0" tIns="0" bIns="0" anchor="ctr" vert="vert270">
            <a:spAutoFit/>
          </a:bodyPr>
          <a:lstStyle/>
          <a:p>
            <a:pPr algn="ctr"/>
            <a:r>
              <a:rPr sz="1400" b="1">
                <a:solidFill>
                  <a:srgbClr val="FFFFFF"/>
                </a:solidFill>
                <a:latin typeface="Arial"/>
              </a:rPr>
              <a:t>PHẦN 9 · QUIZ &amp; TỔNG KẾT</a:t>
            </a:r>
          </a:p>
        </p:txBody>
      </p:sp>
      <p:sp>
        <p:nvSpPr>
          <p:cNvPr id="4" name="TextBox"/>
          <p:cNvSpPr txBox="1"/>
          <p:nvPr/>
        </p:nvSpPr>
        <p:spPr>
          <a:xfrm>
            <a:off x="1527048" y="1508760"/>
            <a:ext cx="6400800" cy="822960"/>
          </a:xfrm>
          <a:prstGeom prst="rect">
            <a:avLst/>
          </a:prstGeom>
          <a:noFill/>
        </p:spPr>
        <p:txBody>
          <a:bodyPr wrap="square" lIns="0" rIns="0" tIns="0" bIns="0" anchor="t">
            <a:spAutoFit/>
          </a:bodyPr>
          <a:lstStyle/>
          <a:p>
            <a:r>
              <a:rPr sz="2000" b="1">
                <a:solidFill>
                  <a:srgbClr val="203864"/>
                </a:solidFill>
                <a:latin typeface="Arial"/>
              </a:rPr>
              <a:t>“Giám đốc bán hàng có 5 giây. Họ cần thấy gì đầu tiên?”</a:t>
            </a:r>
          </a:p>
        </p:txBody>
      </p:sp>
      <p:sp>
        <p:nvSpPr>
          <p:cNvPr id="5" name="TextBox"/>
          <p:cNvSpPr txBox="1"/>
          <p:nvPr/>
        </p:nvSpPr>
        <p:spPr>
          <a:xfrm>
            <a:off x="1527048" y="2331720"/>
            <a:ext cx="6400800" cy="914400"/>
          </a:xfrm>
          <a:prstGeom prst="rect">
            <a:avLst/>
          </a:prstGeom>
          <a:noFill/>
        </p:spPr>
        <p:txBody>
          <a:bodyPr wrap="square" lIns="0" rIns="0" tIns="0" bIns="0" anchor="t">
            <a:spAutoFit/>
          </a:bodyPr>
          <a:lstStyle/>
          <a:p>
            <a:r>
              <a:rPr sz="1500" b="1">
                <a:solidFill>
                  <a:srgbClr val="1B2230"/>
                </a:solidFill>
                <a:latin typeface="Arial"/>
              </a:rPr>
              <a:t>Hôm nay số đã đúng và thống nhất. </a:t>
            </a:r>
            <a:r>
              <a:rPr sz="1500" b="0">
                <a:solidFill>
                  <a:srgbClr val="1B2230"/>
                </a:solidFill>
                <a:latin typeface="Arial"/>
              </a:rPr>
              <a:t>Buổi 6: trình bày cho người ra quyết định — KPI card bằng CUBEVALUE đọc thẳng các measure hôm nay.</a:t>
            </a:r>
          </a:p>
        </p:txBody>
      </p:sp>
      <p:sp>
        <p:nvSpPr>
          <p:cNvPr id="6" name="TextBox"/>
          <p:cNvSpPr txBox="1"/>
          <p:nvPr/>
        </p:nvSpPr>
        <p:spPr>
          <a:xfrm>
            <a:off x="1527048" y="3291840"/>
            <a:ext cx="6400800" cy="2834640"/>
          </a:xfrm>
          <a:prstGeom prst="rect">
            <a:avLst/>
          </a:prstGeom>
          <a:noFill/>
        </p:spPr>
        <p:txBody>
          <a:bodyPr wrap="square" lIns="0" rIns="0" tIns="0" bIns="0" anchor="t">
            <a:spAutoFit/>
          </a:bodyPr>
          <a:lstStyle/>
          <a:p>
            <a:r>
              <a:rPr sz="1400" b="1">
                <a:solidFill>
                  <a:srgbClr val="203864"/>
                </a:solidFill>
                <a:latin typeface="Arial"/>
              </a:rPr>
              <a:t>Về nhà</a:t>
            </a:r>
          </a:p>
          <a:p>
            <a:pPr>
              <a:spcBef>
                <a:spcPts val="600"/>
              </a:spcBef>
            </a:pPr>
            <a:r>
              <a:rPr sz="1400" b="1">
                <a:solidFill>
                  <a:srgbClr val="1B2230"/>
                </a:solidFill>
                <a:latin typeface="Arial"/>
              </a:rPr>
              <a:t>Bài tập về nhà (bắt buộc): </a:t>
            </a:r>
            <a:r>
              <a:rPr sz="1400" b="0">
                <a:solidFill>
                  <a:srgbClr val="1B2230"/>
                </a:solidFill>
                <a:latin typeface="Arial"/>
              </a:rPr>
              <a:t>B5_BTVN_MCI_Mart_KPI_T1_T4_2025.xlsx — báo cáo tháng 1–4 của phòng Kinh doanh lệch số Tài chính: đối soát, tìm 4 lỗi, sửa mô hình và measure, KPI dictionary, 3 câu hỏi cho Sales Director, 1 câu insight</a:t>
            </a:r>
          </a:p>
          <a:p>
            <a:pPr>
              <a:spcBef>
                <a:spcPts val="600"/>
              </a:spcBef>
            </a:pPr>
            <a:r>
              <a:rPr sz="1400" b="1">
                <a:solidFill>
                  <a:srgbClr val="1B2230"/>
                </a:solidFill>
                <a:latin typeface="Arial"/>
              </a:rPr>
              <a:t>Tập trước capstone: </a:t>
            </a:r>
            <a:r>
              <a:rPr sz="1400" b="0">
                <a:solidFill>
                  <a:srgbClr val="1B2230"/>
                </a:solidFill>
                <a:latin typeface="Arial"/>
              </a:rPr>
              <a:t>C3 Mô hình · C4 KPI</a:t>
            </a:r>
          </a:p>
          <a:p>
            <a:pPr>
              <a:spcBef>
                <a:spcPts val="600"/>
              </a:spcBef>
            </a:pPr>
            <a:r>
              <a:rPr sz="1400" b="0">
                <a:solidFill>
                  <a:srgbClr val="1B2230"/>
                </a:solidFill>
                <a:latin typeface="Arial"/>
              </a:rPr>
              <a:t>Nộp trước Buổi 6 tại hocvien.mcivietnam.com · đọc handout B5 · tick “Checklist trước Buổi 6”</a:t>
            </a:r>
          </a:p>
        </p:txBody>
      </p:sp>
      <p:sp>
        <p:nvSpPr>
          <p:cNvPr id="7" name="Brick B5"/>
          <p:cNvSpPr/>
          <p:nvPr/>
        </p:nvSpPr>
        <p:spPr>
          <a:xfrm>
            <a:off x="8293608" y="4206240"/>
            <a:ext cx="3355848" cy="9144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p:cNvSpPr txBox="1"/>
          <p:nvPr/>
        </p:nvSpPr>
        <p:spPr>
          <a:xfrm>
            <a:off x="8385048" y="4206240"/>
            <a:ext cx="3172968" cy="914400"/>
          </a:xfrm>
          <a:prstGeom prst="rect">
            <a:avLst/>
          </a:prstGeom>
          <a:noFill/>
        </p:spPr>
        <p:txBody>
          <a:bodyPr wrap="square" lIns="0" rIns="0" tIns="0" bIns="0" anchor="ctr">
            <a:spAutoFit/>
          </a:bodyPr>
          <a:lstStyle/>
          <a:p>
            <a:r>
              <a:rPr sz="1800" b="1">
                <a:solidFill>
                  <a:srgbClr val="FFFFFF"/>
                </a:solidFill>
                <a:latin typeface="Arial"/>
              </a:rPr>
              <a:t>✓  B5 · Star schema + DAX</a:t>
            </a:r>
          </a:p>
        </p:txBody>
      </p:sp>
      <p:sp>
        <p:nvSpPr>
          <p:cNvPr id="9" name="Brick B6"/>
          <p:cNvSpPr/>
          <p:nvPr/>
        </p:nvSpPr>
        <p:spPr>
          <a:xfrm>
            <a:off x="8293608" y="3017520"/>
            <a:ext cx="3355848" cy="914400"/>
          </a:xfrm>
          <a:prstGeom prst="rect">
            <a:avLst/>
          </a:prstGeom>
          <a:solidFill>
            <a:srgbClr val="FFFFFF"/>
          </a:solidFill>
          <a:ln w="2857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p:cNvSpPr txBox="1"/>
          <p:nvPr/>
        </p:nvSpPr>
        <p:spPr>
          <a:xfrm>
            <a:off x="8385048" y="3017520"/>
            <a:ext cx="3172968" cy="914400"/>
          </a:xfrm>
          <a:prstGeom prst="rect">
            <a:avLst/>
          </a:prstGeom>
          <a:noFill/>
        </p:spPr>
        <p:txBody>
          <a:bodyPr wrap="square" lIns="0" rIns="0" tIns="0" bIns="0" anchor="ctr">
            <a:spAutoFit/>
          </a:bodyPr>
          <a:lstStyle/>
          <a:p>
            <a:r>
              <a:rPr sz="1800" b="1">
                <a:solidFill>
                  <a:srgbClr val="203864"/>
                </a:solidFill>
                <a:latin typeface="Arial"/>
              </a:rPr>
              <a:t>B6 · Dashboard</a:t>
            </a:r>
          </a:p>
        </p:txBody>
      </p:sp>
      <p:sp>
        <p:nvSpPr>
          <p:cNvPr id="11" name="TextBox"/>
          <p:cNvSpPr txBox="1"/>
          <p:nvPr/>
        </p:nvSpPr>
        <p:spPr>
          <a:xfrm>
            <a:off x="8293608" y="5212080"/>
            <a:ext cx="3355848" cy="457200"/>
          </a:xfrm>
          <a:prstGeom prst="rect">
            <a:avLst/>
          </a:prstGeom>
          <a:noFill/>
        </p:spPr>
        <p:txBody>
          <a:bodyPr wrap="square" lIns="0" rIns="0" tIns="0" bIns="0" anchor="t">
            <a:spAutoFit/>
          </a:bodyPr>
          <a:lstStyle/>
          <a:p>
            <a:r>
              <a:rPr sz="1300" b="0">
                <a:solidFill>
                  <a:srgbClr val="585858"/>
                </a:solidFill>
                <a:latin typeface="Arial"/>
              </a:rPr>
              <a:t>File đáp án B5 (Practice/B5_MCI_Mart_Answer.xlsx) là file khởi đầu Buổi 6.</a:t>
            </a:r>
          </a:p>
        </p:txBody>
      </p:sp>
    </p:spTree>
  </p:cSld>
  <p:clrMapOvr>
    <a:masterClrMapping/>
  </p:clrMapOvr>
</p:sld>
</file>

<file path=ppt/theme/theme1.xml><?xml version="1.0" encoding="utf-8"?>
<a:theme xmlns:a="http://schemas.openxmlformats.org/drawingml/2006/main" name="Office Theme [1790271072606]">
  <a:themeElements>
    <a:clrScheme name="MCI Excel BI">
      <a:dk1>
        <a:srgbClr val="1B2230"/>
      </a:dk1>
      <a:lt1>
        <a:srgbClr val="FFFFFF"/>
      </a:lt1>
      <a:dk2>
        <a:srgbClr val="203864"/>
      </a:dk2>
      <a:lt2>
        <a:srgbClr val="F3F5F9"/>
      </a:lt2>
      <a:accent1>
        <a:srgbClr val="2A78D6"/>
      </a:accent1>
      <a:accent2>
        <a:srgbClr val="EB6834"/>
      </a:accent2>
      <a:accent3>
        <a:srgbClr val="1BAF7A"/>
      </a:accent3>
      <a:accent4>
        <a:srgbClr val="EDA100"/>
      </a:accent4>
      <a:accent5>
        <a:srgbClr val="E87BA4"/>
      </a:accent5>
      <a:accent6>
        <a:srgbClr val="4A3AA7"/>
      </a:accent6>
      <a:hlink>
        <a:srgbClr val="1F6FB2"/>
      </a:hlink>
      <a:folHlink>
        <a:srgbClr val="4A3AA7"/>
      </a:folHlink>
    </a:clrScheme>
    <a:fontScheme name="MCI Excel BI">
      <a:majorFont>
        <a:latin typeface="Arial" panose="020B06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panose="020B06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CE0948F-3C23-C840-978A-6EB6AAFD5E15}">
  <we:reference id="WA200010725" version="1.0.0.1" store="Omex" storeType="OMEX"/>
  <we:alternateReferences>
    <we:reference id="WA200010725" version="1.0.0.1" store="WA200010725" storeType="OMEX"/>
  </we:alternateReferences>
  <we:properties>
    <we:property name="claude.fileId" value="&quot;3f0c363d-f4d0-4e96-80cc-6a7c60642f0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10047</Words>
  <Application>Microsoft Office PowerPoint</Application>
  <PresentationFormat>Widescreen</PresentationFormat>
  <Paragraphs>707</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Aptos</vt:lpstr>
      <vt:lpstr>Arial</vt:lpstr>
      <vt:lpstr>Office Theme [1790271072606]</vt:lpstr>
      <vt:lpstr>Excel for Business Intelligence Analyst</vt:lpstr>
      <vt:lpstr>Câu hỏi mở buổi</vt:lpstr>
      <vt:lpstr>Quy trình BI 5 bước</vt:lpstr>
      <vt:lpstr>Bản đồ 7 viên gạch &amp; thang 5 tầng câu hỏi</vt:lpstr>
      <vt:lpstr>Case khóa học: chuỗi bán lẻ MCI Mart</vt:lpstr>
      <vt:lpstr>1. Excel dùng cho BI: phiên bản &amp; chuẩn bị máy</vt:lpstr>
      <vt:lpstr>So sánh phiên bản Excel cho BI</vt:lpstr>
      <vt:lpstr>Xác nhận kiểm tra máy</vt:lpstr>
      <vt:lpstr>2. Giao diện Excel: những gì người làm BI dùng hằng ngày</vt:lpstr>
      <vt:lpstr>Giao diện chính</vt:lpstr>
      <vt:lpstr>8 tab Ribbon: tab nào dùng ở buổi nào</vt:lpstr>
      <vt:lpstr>3. Phím tắt: làm việc với dữ liệu lớn không cần chuột</vt:lpstr>
      <vt:lpstr>Ctrl Shortcuts</vt:lpstr>
      <vt:lpstr>Fn Shortcuts</vt:lpstr>
      <vt:lpstr>Alt Key Tips &amp; Quick Access Toolbar</vt:lpstr>
      <vt:lpstr>Nghỉ 10 phút</vt:lpstr>
      <vt:lpstr>4. Công thức: viết đúng, sao chép đúng, tìm lỗi nhanh</vt:lpstr>
      <vt:lpstr>Formula Syntax</vt:lpstr>
      <vt:lpstr>Reference Types</vt:lpstr>
      <vt:lpstr>Common Errors</vt:lpstr>
      <vt:lpstr>Auditing Tools (1)</vt:lpstr>
      <vt:lpstr>Auditing Tools (2)</vt:lpstr>
      <vt:lpstr>Chốt Phần 4</vt:lpstr>
      <vt:lpstr>5. Dữ liệu "sạch về cấu trúc": nền móng của mọi phân tích</vt:lpstr>
      <vt:lpstr>Good vs Bad Data Structure</vt:lpstr>
      <vt:lpstr>Excel Table</vt:lpstr>
      <vt:lpstr>Data Validation: chặn dữ liệu sai từ gốc</vt:lpstr>
      <vt:lpstr>Circle Invalid Data: tìm lỗi đã có sẵn</vt:lpstr>
      <vt:lpstr>Thực hành 1: Làm sạch cấu trúc file case</vt:lpstr>
      <vt:lpstr>Thực hành 2: Công thức &amp; kiểm soát</vt:lpstr>
      <vt:lpstr>Chữa bài nhanh: checklist brick output B1</vt:lpstr>
      <vt:lpstr>Excel Quiz Challenge</vt:lpstr>
      <vt:lpstr>Question 1: Cell References</vt:lpstr>
      <vt:lpstr>Question 2: Cell References</vt:lpstr>
      <vt:lpstr>Question 3: Shortcuts</vt:lpstr>
      <vt:lpstr>Question 4: Auditing</vt:lpstr>
      <vt:lpstr>Question 5: Common Errors</vt:lpstr>
      <vt:lpstr>Question 6: Tình huống — Data Structure</vt:lpstr>
      <vt:lpstr>Question 7: Tình huống — Automation</vt:lpstr>
      <vt:lpstr>Tổng kết &amp; insight của bạn</vt:lpstr>
      <vt:lpstr>Buổi sau: định nghĩa KPI và tính bằng SUMIFS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Nhan Le</dc:creator>
  <cp:lastModifiedBy>Leo Pham</cp:lastModifiedBy>
  <cp:revision>1</cp:revision>
  <dcterms:created xsi:type="dcterms:W3CDTF">2026-09-24T17:25:29Z</dcterms:created>
  <dcterms:modified xsi:type="dcterms:W3CDTF">2026-09-27T12:46:07Z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2026-09-24T17:26:47Z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4d9052f2-e654-41cc-b328-7191ea09daba</vt:lpwstr>
  </property>
  <property fmtid="{D5CDD505-2E9C-101B-9397-08002B2CF9AE}" pid="7" name="MSIP_Label_defa4170-0d19-0005-0004-bc88714345d2_ActionId">
    <vt:lpwstr>c1eb70c7-4859-476b-af0b-43240bcea39d</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