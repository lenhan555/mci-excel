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3"/>
  </p:notesMasterIdLst>
  <p:sldIdLst>
    <p:sldId id="302" r:id="rId2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9"/>
    <p:sldId id="337" r:id="rId8"/>
    <p:sldId id="338" r:id="rId7"/>
    <p:sldId id="339" r:id="rId6"/>
    <p:sldId id="34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59BD-AC51-4C4E-B5CF-7451A28AFD30}" v="26" dt="2026-09-27T06:48:4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an Pham Le" userId="6366da15f1f739f9" providerId="LiveId" clId="{B7E72FC1-F79A-4602-B51C-6ED1DC3BF548}"/>
    <pc:docChg chg="undo custSel modSld">
      <pc:chgData name="Nhan Pham Le" userId="6366da15f1f739f9" providerId="LiveId" clId="{B7E72FC1-F79A-4602-B51C-6ED1DC3BF548}" dt="2026-09-27T12:45:57.791" v="170" actId="1076"/>
      <pc:docMkLst>
        <pc:docMk/>
      </pc:docMkLst>
      <pc:sldChg chg="modSp mod">
        <pc:chgData name="Nhan Pham Le" userId="6366da15f1f739f9" providerId="LiveId" clId="{B7E72FC1-F79A-4602-B51C-6ED1DC3BF548}" dt="2026-09-27T06:10:51.550" v="155" actId="20577"/>
        <pc:sldMkLst>
          <pc:docMk/>
          <pc:sldMk cId="2243051540" sldId="302"/>
        </pc:sldMkLst>
        <pc:spChg chg="mod">
          <ac:chgData name="Nhan Pham Le" userId="6366da15f1f739f9" providerId="LiveId" clId="{B7E72FC1-F79A-4602-B51C-6ED1DC3BF548}" dt="2026-09-27T06:10:51.550" v="155" actId="20577"/>
          <ac:spMkLst>
            <pc:docMk/>
            <pc:sldMk cId="2243051540" sldId="302"/>
            <ac:spMk id="15" creationId="{00000000-0000-0000-0000-000000000000}"/>
          </ac:spMkLst>
        </pc:spChg>
      </pc:sldChg>
      <pc:sldChg chg="modNotesTx">
        <pc:chgData name="Nhan Pham Le" userId="6366da15f1f739f9" providerId="LiveId" clId="{B7E72FC1-F79A-4602-B51C-6ED1DC3BF548}" dt="2026-09-27T04:16:20.387" v="153" actId="20577"/>
        <pc:sldMkLst>
          <pc:docMk/>
          <pc:sldMk cId="2890397441" sldId="305"/>
        </pc:sldMkLst>
      </pc:sldChg>
      <pc:sldChg chg="modSp mod">
        <pc:chgData name="Nhan Pham Le" userId="6366da15f1f739f9" providerId="LiveId" clId="{B7E72FC1-F79A-4602-B51C-6ED1DC3BF548}" dt="2026-09-27T06:48:42.492" v="164" actId="20577"/>
        <pc:sldMkLst>
          <pc:docMk/>
          <pc:sldMk cId="1101845905" sldId="308"/>
        </pc:sldMkLst>
        <pc:spChg chg="mod">
          <ac:chgData name="Nhan Pham Le" userId="6366da15f1f739f9" providerId="LiveId" clId="{B7E72FC1-F79A-4602-B51C-6ED1DC3BF548}" dt="2026-09-27T06:48:42.492" v="164" actId="20577"/>
          <ac:spMkLst>
            <pc:docMk/>
            <pc:sldMk cId="1101845905" sldId="308"/>
            <ac:spMk id="16" creationId="{00000000-0000-0000-0000-000000000000}"/>
          </ac:spMkLst>
        </pc:spChg>
      </pc:sldChg>
      <pc:sldChg chg="addSp delSp modSp mod">
        <pc:chgData name="Nhan Pham Le" userId="6366da15f1f739f9" providerId="LiveId" clId="{B7E72FC1-F79A-4602-B51C-6ED1DC3BF548}" dt="2026-09-26T03:51:11.711" v="79" actId="1076"/>
        <pc:sldMkLst>
          <pc:docMk/>
          <pc:sldMk cId="2305079537" sldId="309"/>
        </pc:sldMkLst>
        <pc:spChg chg="del">
          <ac:chgData name="Nhan Pham Le" userId="6366da15f1f739f9" providerId="LiveId" clId="{B7E72FC1-F79A-4602-B51C-6ED1DC3BF548}" dt="2026-09-26T03:50:42.316" v="71" actId="478"/>
          <ac:spMkLst>
            <pc:docMk/>
            <pc:sldMk cId="2305079537" sldId="309"/>
            <ac:spMk id="15" creationId="{00000000-0000-0000-0000-000000000000}"/>
          </ac:spMkLst>
        </pc:spChg>
        <pc:spChg chg="add del">
          <ac:chgData name="Nhan Pham Le" userId="6366da15f1f739f9" providerId="LiveId" clId="{B7E72FC1-F79A-4602-B51C-6ED1DC3BF548}" dt="2026-09-26T03:50:12.435" v="55" actId="478"/>
          <ac:spMkLst>
            <pc:docMk/>
            <pc:sldMk cId="2305079537" sldId="309"/>
            <ac:spMk id="19" creationId="{00000000-0000-0000-0000-000000000000}"/>
          </ac:spMkLst>
        </pc:spChg>
        <pc:spChg chg="del">
          <ac:chgData name="Nhan Pham Le" userId="6366da15f1f739f9" providerId="LiveId" clId="{B7E72FC1-F79A-4602-B51C-6ED1DC3BF548}" dt="2026-09-26T03:49:31.084" v="23" actId="478"/>
          <ac:spMkLst>
            <pc:docMk/>
            <pc:sldMk cId="2305079537" sldId="309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1:00.474" v="73" actId="1076"/>
          <ac:picMkLst>
            <pc:docMk/>
            <pc:sldMk cId="2305079537" sldId="309"/>
            <ac:picMk id="3" creationId="{3C617E78-B8BD-D553-69B2-2A5B3120DB34}"/>
          </ac:picMkLst>
        </pc:picChg>
        <pc:picChg chg="add del mod">
          <ac:chgData name="Nhan Pham Le" userId="6366da15f1f739f9" providerId="LiveId" clId="{B7E72FC1-F79A-4602-B51C-6ED1DC3BF548}" dt="2026-09-26T03:49:54.698" v="51" actId="931"/>
          <ac:picMkLst>
            <pc:docMk/>
            <pc:sldMk cId="2305079537" sldId="309"/>
            <ac:picMk id="5" creationId="{989499CC-C265-5E62-B7BC-31A300092470}"/>
          </ac:picMkLst>
        </pc:picChg>
        <pc:picChg chg="add mod">
          <ac:chgData name="Nhan Pham Le" userId="6366da15f1f739f9" providerId="LiveId" clId="{B7E72FC1-F79A-4602-B51C-6ED1DC3BF548}" dt="2026-09-26T03:50:39.909" v="70" actId="1076"/>
          <ac:picMkLst>
            <pc:docMk/>
            <pc:sldMk cId="2305079537" sldId="309"/>
            <ac:picMk id="6" creationId="{DD883AE4-6470-0C84-0E26-C702578F279A}"/>
          </ac:picMkLst>
        </pc:picChg>
        <pc:picChg chg="add mod">
          <ac:chgData name="Nhan Pham Le" userId="6366da15f1f739f9" providerId="LiveId" clId="{B7E72FC1-F79A-4602-B51C-6ED1DC3BF548}" dt="2026-09-26T03:51:11.711" v="79" actId="1076"/>
          <ac:picMkLst>
            <pc:docMk/>
            <pc:sldMk cId="2305079537" sldId="309"/>
            <ac:picMk id="8" creationId="{3F45C3E1-B429-9813-BF6A-49EEE0488E98}"/>
          </ac:picMkLst>
        </pc:picChg>
      </pc:sldChg>
      <pc:sldChg chg="addSp delSp modSp mod">
        <pc:chgData name="Nhan Pham Le" userId="6366da15f1f739f9" providerId="LiveId" clId="{B7E72FC1-F79A-4602-B51C-6ED1DC3BF548}" dt="2026-09-27T12:45:57.791" v="170" actId="1076"/>
        <pc:sldMkLst>
          <pc:docMk/>
          <pc:sldMk cId="581420438" sldId="311"/>
        </pc:sldMkLst>
        <pc:spChg chg="del">
          <ac:chgData name="Nhan Pham Le" userId="6366da15f1f739f9" providerId="LiveId" clId="{B7E72FC1-F79A-4602-B51C-6ED1DC3BF548}" dt="2026-09-26T03:24:48.767" v="5" actId="478"/>
          <ac:spMkLst>
            <pc:docMk/>
            <pc:sldMk cId="581420438" sldId="311"/>
            <ac:spMk id="1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7T12:45:57.791" v="170" actId="1076"/>
          <ac:picMkLst>
            <pc:docMk/>
            <pc:sldMk cId="581420438" sldId="311"/>
            <ac:picMk id="2" creationId="{98605493-0F18-F786-A36C-68C4B37DD16E}"/>
          </ac:picMkLst>
        </pc:picChg>
      </pc:sldChg>
      <pc:sldChg chg="addSp modSp mod">
        <pc:chgData name="Nhan Pham Le" userId="6366da15f1f739f9" providerId="LiveId" clId="{B7E72FC1-F79A-4602-B51C-6ED1DC3BF548}" dt="2026-09-26T04:33:33.870" v="123" actId="1076"/>
        <pc:sldMkLst>
          <pc:docMk/>
          <pc:sldMk cId="4276141528" sldId="312"/>
        </pc:sldMkLst>
        <pc:picChg chg="add mod">
          <ac:chgData name="Nhan Pham Le" userId="6366da15f1f739f9" providerId="LiveId" clId="{B7E72FC1-F79A-4602-B51C-6ED1DC3BF548}" dt="2026-09-26T04:33:33.870" v="123" actId="1076"/>
          <ac:picMkLst>
            <pc:docMk/>
            <pc:sldMk cId="4276141528" sldId="312"/>
            <ac:picMk id="3" creationId="{86E05C74-85F6-F0AB-5F35-FCEC61971E81}"/>
          </ac:picMkLst>
        </pc:picChg>
      </pc:sldChg>
      <pc:sldChg chg="addSp delSp modSp mod">
        <pc:chgData name="Nhan Pham Le" userId="6366da15f1f739f9" providerId="LiveId" clId="{B7E72FC1-F79A-4602-B51C-6ED1DC3BF548}" dt="2026-09-26T03:58:45.692" v="88" actId="1076"/>
        <pc:sldMkLst>
          <pc:docMk/>
          <pc:sldMk cId="2738025778" sldId="313"/>
        </pc:sldMkLst>
        <pc:spChg chg="del mod">
          <ac:chgData name="Nhan Pham Le" userId="6366da15f1f739f9" providerId="LiveId" clId="{B7E72FC1-F79A-4602-B51C-6ED1DC3BF548}" dt="2026-09-26T03:58:36.896" v="84" actId="478"/>
          <ac:spMkLst>
            <pc:docMk/>
            <pc:sldMk cId="2738025778" sldId="313"/>
            <ac:spMk id="21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8:45.692" v="88" actId="1076"/>
          <ac:picMkLst>
            <pc:docMk/>
            <pc:sldMk cId="2738025778" sldId="313"/>
            <ac:picMk id="2" creationId="{AAB78CDC-E109-F1A3-2B4E-ECC07A0591AD}"/>
          </ac:picMkLst>
        </pc:picChg>
      </pc:sldChg>
      <pc:sldChg chg="addSp delSp modSp mod">
        <pc:chgData name="Nhan Pham Le" userId="6366da15f1f739f9" providerId="LiveId" clId="{B7E72FC1-F79A-4602-B51C-6ED1DC3BF548}" dt="2026-09-26T04:17:16.854" v="110"/>
        <pc:sldMkLst>
          <pc:docMk/>
          <pc:sldMk cId="3127729708" sldId="314"/>
        </pc:sldMkLst>
        <pc:spChg chg="del">
          <ac:chgData name="Nhan Pham Le" userId="6366da15f1f739f9" providerId="LiveId" clId="{B7E72FC1-F79A-4602-B51C-6ED1DC3BF548}" dt="2026-09-26T04:08:34.452" v="92" actId="478"/>
          <ac:spMkLst>
            <pc:docMk/>
            <pc:sldMk cId="3127729708" sldId="314"/>
            <ac:spMk id="15" creationId="{00000000-0000-0000-0000-000000000000}"/>
          </ac:spMkLst>
        </pc:spChg>
        <pc:spChg chg="del">
          <ac:chgData name="Nhan Pham Le" userId="6366da15f1f739f9" providerId="LiveId" clId="{B7E72FC1-F79A-4602-B51C-6ED1DC3BF548}" dt="2026-09-26T04:09:20.617" v="96" actId="478"/>
          <ac:spMkLst>
            <pc:docMk/>
            <pc:sldMk cId="3127729708" sldId="314"/>
            <ac:spMk id="2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17:16.854" v="106"/>
          <ac:picMkLst>
            <pc:docMk/>
            <pc:sldMk cId="3127729708" sldId="314"/>
            <ac:picMk id="2" creationId="{D9B43E15-821C-27C4-802B-45F8A890A497}"/>
          </ac:picMkLst>
        </pc:picChg>
        <pc:picChg chg="add mod">
          <ac:chgData name="Nhan Pham Le" userId="6366da15f1f739f9" providerId="LiveId" clId="{B7E72FC1-F79A-4602-B51C-6ED1DC3BF548}" dt="2026-09-26T04:17:16.854" v="110"/>
          <ac:picMkLst>
            <pc:docMk/>
            <pc:sldMk cId="3127729708" sldId="314"/>
            <ac:picMk id="4" creationId="{90577642-D658-1AD2-2A99-A06066F85288}"/>
          </ac:picMkLst>
        </pc:picChg>
      </pc:sldChg>
      <pc:sldChg chg="addSp modSp mod">
        <pc:chgData name="Nhan Pham Le" userId="6366da15f1f739f9" providerId="LiveId" clId="{B7E72FC1-F79A-4602-B51C-6ED1DC3BF548}" dt="2026-09-26T04:31:35.753" v="119" actId="1076"/>
        <pc:sldMkLst>
          <pc:docMk/>
          <pc:sldMk cId="3367633301" sldId="315"/>
        </pc:sldMkLst>
        <pc:picChg chg="add mod">
          <ac:chgData name="Nhan Pham Le" userId="6366da15f1f739f9" providerId="LiveId" clId="{B7E72FC1-F79A-4602-B51C-6ED1DC3BF548}" dt="2026-09-26T04:29:20.508" v="114" actId="1076"/>
          <ac:picMkLst>
            <pc:docMk/>
            <pc:sldMk cId="3367633301" sldId="315"/>
            <ac:picMk id="3" creationId="{2C4DBD73-1E69-54EA-EE3A-DDB5DAA27206}"/>
          </ac:picMkLst>
        </pc:picChg>
        <pc:picChg chg="add mod">
          <ac:chgData name="Nhan Pham Le" userId="6366da15f1f739f9" providerId="LiveId" clId="{B7E72FC1-F79A-4602-B51C-6ED1DC3BF548}" dt="2026-09-26T04:31:35.753" v="119" actId="1076"/>
          <ac:picMkLst>
            <pc:docMk/>
            <pc:sldMk cId="3367633301" sldId="315"/>
            <ac:picMk id="5" creationId="{4271772C-46F6-5A6B-E0CD-7A39AFBB231A}"/>
          </ac:picMkLst>
        </pc:picChg>
      </pc:sldChg>
      <pc:sldChg chg="addSp delSp modSp mod">
        <pc:chgData name="Nhan Pham Le" userId="6366da15f1f739f9" providerId="LiveId" clId="{B7E72FC1-F79A-4602-B51C-6ED1DC3BF548}" dt="2026-09-26T04:36:52.633" v="131" actId="1076"/>
        <pc:sldMkLst>
          <pc:docMk/>
          <pc:sldMk cId="4045343611" sldId="318"/>
        </pc:sldMkLst>
        <pc:spChg chg="del">
          <ac:chgData name="Nhan Pham Le" userId="6366da15f1f739f9" providerId="LiveId" clId="{B7E72FC1-F79A-4602-B51C-6ED1DC3BF548}" dt="2026-09-26T04:36:45.842" v="127" actId="478"/>
          <ac:spMkLst>
            <pc:docMk/>
            <pc:sldMk cId="4045343611" sldId="318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36:52.633" v="131" actId="1076"/>
          <ac:picMkLst>
            <pc:docMk/>
            <pc:sldMk cId="4045343611" sldId="318"/>
            <ac:picMk id="3" creationId="{AFC4F2DD-C53F-E88B-10F6-C3CEBA05A009}"/>
          </ac:picMkLst>
        </pc:picChg>
      </pc:sldChg>
      <pc:sldChg chg="addSp delSp modSp mod">
        <pc:chgData name="Nhan Pham Le" userId="6366da15f1f739f9" providerId="LiveId" clId="{B7E72FC1-F79A-4602-B51C-6ED1DC3BF548}" dt="2026-09-26T10:32:30.127" v="141" actId="962"/>
        <pc:sldMkLst>
          <pc:docMk/>
          <pc:sldMk cId="3317628156" sldId="322"/>
        </pc:sldMkLst>
        <pc:spChg chg="del">
          <ac:chgData name="Nhan Pham Le" userId="6366da15f1f739f9" providerId="LiveId" clId="{B7E72FC1-F79A-4602-B51C-6ED1DC3BF548}" dt="2026-09-26T10:32:04.859" v="139" actId="478"/>
          <ac:spMkLst>
            <pc:docMk/>
            <pc:sldMk cId="3317628156" sldId="322"/>
            <ac:spMk id="15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10:32:30.127" v="141" actId="962"/>
          <ac:picMkLst>
            <pc:docMk/>
            <pc:sldMk cId="3317628156" sldId="322"/>
            <ac:picMk id="3" creationId="{EBEEDFE3-3F9B-C84C-2D4E-2A98C806E7C3}"/>
          </ac:picMkLst>
        </pc:picChg>
      </pc:sldChg>
      <pc:sldChg chg="modSp mod">
        <pc:chgData name="Nhan Pham Le" userId="6366da15f1f739f9" providerId="LiveId" clId="{B7E72FC1-F79A-4602-B51C-6ED1DC3BF548}" dt="2026-09-27T06:47:11.517" v="162" actId="20577"/>
        <pc:sldMkLst>
          <pc:docMk/>
          <pc:sldMk cId="866443025" sldId="342"/>
        </pc:sldMkLst>
        <pc:spChg chg="mod">
          <ac:chgData name="Nhan Pham Le" userId="6366da15f1f739f9" providerId="LiveId" clId="{B7E72FC1-F79A-4602-B51C-6ED1DC3BF548}" dt="2026-09-27T06:47:11.517" v="162" actId="20577"/>
          <ac:spMkLst>
            <pc:docMk/>
            <pc:sldMk cId="866443025" sldId="342"/>
            <ac:spMk id="15" creationId="{00000000-0000-0000-0000-000000000000}"/>
          </ac:spMkLst>
        </pc:spChg>
      </pc:sldChg>
      <pc:sldChg chg="modSp mod">
        <pc:chgData name="Nhan Pham Le" userId="6366da15f1f739f9" providerId="LiveId" clId="{B7E72FC1-F79A-4602-B51C-6ED1DC3BF548}" dt="2026-09-27T06:37:38.965" v="161" actId="1036"/>
        <pc:sldMkLst>
          <pc:docMk/>
          <pc:sldMk cId="1573090695" sldId="344"/>
        </pc:sldMkLst>
        <pc:spChg chg="mod">
          <ac:chgData name="Nhan Pham Le" userId="6366da15f1f739f9" providerId="LiveId" clId="{B7E72FC1-F79A-4602-B51C-6ED1DC3BF548}" dt="2026-09-27T06:37:38.965" v="161" actId="1036"/>
          <ac:spMkLst>
            <pc:docMk/>
            <pc:sldMk cId="1573090695" sldId="344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4C46-C12C-FA42-B2D3-1CBB24092E48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7CC85-BE76-EA4B-8DBD-E5CC9E8FE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664-F3C6-6151-5EEA-86A461E82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011680"/>
            <a:ext cx="10302240" cy="17373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D9FC-D4AA-338A-F692-F1B120AC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3931920"/>
            <a:ext cx="10302240" cy="109728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85858"/>
                </a:solidFill>
              </a:defRPr>
            </a:lvl1pPr>
            <a:lvl2pPr marL="457200" indent="0" algn="ctr">
              <a:buNone/>
              <a:defRPr sz="2000">
                <a:solidFill>
                  <a:srgbClr val="585858"/>
                </a:solidFill>
              </a:defRPr>
            </a:lvl2pPr>
            <a:lvl3pPr marL="914400" indent="0" algn="ctr">
              <a:buNone/>
              <a:defRPr sz="1800">
                <a:solidFill>
                  <a:srgbClr val="585858"/>
                </a:solidFill>
              </a:defRPr>
            </a:lvl3pPr>
            <a:lvl4pPr marL="1371600" indent="0" algn="ctr">
              <a:buNone/>
              <a:defRPr sz="1600">
                <a:solidFill>
                  <a:srgbClr val="585858"/>
                </a:solidFill>
              </a:defRPr>
            </a:lvl4pPr>
            <a:lvl5pPr marL="1828800" indent="0" algn="ctr">
              <a:buNone/>
              <a:defRPr sz="1600">
                <a:solidFill>
                  <a:srgbClr val="585858"/>
                </a:solidFill>
              </a:defRPr>
            </a:lvl5pPr>
            <a:lvl6pPr marL="2286000" indent="0" algn="ctr">
              <a:buNone/>
              <a:defRPr sz="1600">
                <a:solidFill>
                  <a:srgbClr val="585858"/>
                </a:solidFill>
              </a:defRPr>
            </a:lvl6pPr>
            <a:lvl7pPr marL="2743200" indent="0" algn="ctr">
              <a:buNone/>
              <a:defRPr sz="1600">
                <a:solidFill>
                  <a:srgbClr val="585858"/>
                </a:solidFill>
              </a:defRPr>
            </a:lvl7pPr>
            <a:lvl8pPr marL="3200400" indent="0" algn="ctr">
              <a:buNone/>
              <a:defRPr sz="1600">
                <a:solidFill>
                  <a:srgbClr val="585858"/>
                </a:solidFill>
              </a:defRPr>
            </a:lvl8pPr>
            <a:lvl9pPr marL="3657600" indent="0" algn="ctr">
              <a:buNone/>
              <a:defRPr sz="1600">
                <a:solidFill>
                  <a:srgbClr val="585858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1E18-61FE-3D83-17A2-F3939106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BF97-2C91-ED2E-CD8F-3CAC10D5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BB26-71FB-8170-009A-EF8735C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MCI Wordmark"/>
          <p:cNvSpPr txBox="1"/>
          <p:nvPr userDrawn="1"/>
        </p:nvSpPr>
        <p:spPr>
          <a:xfrm>
            <a:off x="1432560" y="548640"/>
            <a:ext cx="2743200" cy="548640"/>
          </a:xfrm>
          <a:prstGeom prst="rect">
            <a:avLst/>
          </a:prstGeom>
          <a:noFill/>
        </p:spPr>
        <p:txBody>
          <a:bodyPr wrap="none" lIns="91440" anchor="t"/>
          <a:lstStyle/>
          <a:p>
            <a:r>
              <a:rPr lang="en-US" sz="2800" b="1">
                <a:solidFill>
                  <a:srgbClr val="203864"/>
                </a:solidFill>
                <a:latin typeface="Arial"/>
              </a:rPr>
              <a:t>MCI</a:t>
            </a:r>
          </a:p>
        </p:txBody>
      </p:sp>
    </p:spTree>
    <p:extLst>
      <p:ext uri="{BB962C8B-B14F-4D97-AF65-F5344CB8AC3E}">
        <p14:creationId xmlns:p14="http://schemas.microsoft.com/office/powerpoint/2010/main" val="286849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C69-77BA-2FF0-04BC-65E5F21C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7FBA-36F6-5941-AE5A-3C28ABD97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C48E-6F94-484B-3886-58203F542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8334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1DA5-559C-410C-9CC7-0933837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1E9D-60B2-BB85-7303-C28EBFC2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12A5-3FB3-1E06-8027-6B8BD1AA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CI wordmark"/>
          <p:cNvSpPr txBox="1"/>
          <p:nvPr userDrawn="1"/>
        </p:nvSpPr>
        <p:spPr>
          <a:xfrm>
            <a:off x="914400" y="640080"/>
            <a:ext cx="6400800" cy="45720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r>
              <a:rPr lang="en-US" sz="2400" b="1">
                <a:solidFill>
                  <a:srgbClr val="FFFFFF"/>
                </a:solidFill>
              </a:rPr>
              <a:t>MCI</a:t>
            </a:r>
            <a:r>
              <a:rPr lang="en-US" sz="1200" spc="200">
                <a:solidFill>
                  <a:srgbClr val="FFFFFF"/>
                </a:solidFill>
              </a:rPr>
              <a:t>   MAGIC CODE INSTITUTE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914400" y="4480560"/>
            <a:ext cx="109728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10363200" cy="2011680"/>
          </a:xfrm>
        </p:spPr>
        <p:txBody>
          <a:bodyPr lIns="0" anchor="b">
            <a:norm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709160"/>
            <a:ext cx="10363200" cy="914400"/>
          </a:xfrm>
        </p:spPr>
        <p:txBody>
          <a:bodyPr lIns="0">
            <a:normAutofit/>
          </a:bodyPr>
          <a:lstStyle>
            <a:lvl1pPr marL="0" indent="0">
              <a:buNone/>
              <a:defRPr sz="2000">
                <a:solidFill>
                  <a:srgbClr val="D9DEE8"/>
                </a:solidFill>
              </a:defRPr>
            </a:lvl1pPr>
          </a:lstStyle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3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857-DF32-3922-EA31-5B12F1B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9F92-7EED-D73E-34B9-2B5BEA02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4116" y="1681163"/>
            <a:ext cx="50531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207B-D76F-1445-6E60-70B87DB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116" y="2505075"/>
            <a:ext cx="505313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C473-0CB1-0F03-79FD-FCFC188E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8334" y="1681163"/>
            <a:ext cx="50780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ADC17-123C-1B98-9C55-4D7D4984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8334" y="2505075"/>
            <a:ext cx="50780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5B6DB-77BD-9C6E-5E6D-A7BE7833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678BE-8847-6D2F-3F45-91CA985A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A3EE-6065-DD56-6A88-F914D5B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3570-678E-8041-1DC8-86B01C4F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AD-B058-70BE-DBC1-78AA991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D8CAC-8260-A67D-8732-DD7230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77EE-C1CB-3D64-07B4-8AA2153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4EAE-A436-DD75-26A9-7E4EF0E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AE991-C68F-060D-534A-2D1CFE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77B5-CCC9-8A85-1F45-60EE6365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B96-0970-502F-414D-7E067632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074C-7090-612E-5DF9-E393D6B4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3B6C-C8CA-B03D-EAFC-66D24F36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8C85-7E3A-1BF3-57B7-67DC512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9792-564A-D064-DC38-377FE5F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A526-D348-A6A7-D6D8-765874A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2A28-28CD-FDCB-9BDE-BBD7761D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02B5F-EA9B-1AF8-17E8-85154BC8C3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558-CC71-6A22-1E4F-81F961813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ABD8-1DA1-C358-4422-ED8A78AC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271F-39F3-E81F-443B-21DC458C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C95-36D3-1FDC-12F9-75C4D3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102-A4A5-EF09-43CF-6253ED7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998EF-69FA-C77A-8A76-22992DE7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66E2-7B90-931F-632B-D59F9901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00D8-8910-5148-4843-3D52384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BED4-5DB4-45F1-5ACC-643FFD8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F3541-96FF-94D7-F45B-F634CD3B4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9240" y="365125"/>
            <a:ext cx="257556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BC46-4E1A-B46B-F1C8-4E24A201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32560" y="365125"/>
            <a:ext cx="7577372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504C-0F86-E102-3E0C-290A4BB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F48-5867-0DF6-F507-5379E890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3CD6-4795-CA01-149F-B154B45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I Rail"/>
          <p:cNvSpPr/>
          <p:nvPr userDrawn="1"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3FA29-7399-D724-95CF-8F2F56D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0" y="365760"/>
            <a:ext cx="1030224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95C9-A218-9682-28A0-7A7C9527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560" y="1554480"/>
            <a:ext cx="103022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865D-4C91-A852-2C9F-A2DE3730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0" y="630936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B6F76"/>
                </a:solidFill>
              </a:defRPr>
            </a:lvl1pPr>
          </a:lstStyle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8BC-A677-96B0-5B2E-4AEDE18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640" y="6309360"/>
            <a:ext cx="618744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B6F7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6B6-86C7-AF0E-2F2F-E4F6A0757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7520" y="6309360"/>
            <a:ext cx="109728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6F76"/>
                </a:solidFill>
              </a:defRPr>
            </a:lvl1pPr>
          </a:lstStyle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700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"/>
          <p:cNvSpPr txBox="1"/>
          <p:nvPr/>
        </p:nvSpPr>
        <p:spPr>
          <a:xfrm>
            <a:off x="1524000" y="155448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400" b="1" spc="200">
                <a:solidFill>
                  <a:srgbClr val="585858"/>
                </a:solidFill>
              </a:rPr>
              <a:t>CONSULTING &amp; ANALYTICS</a:t>
            </a:r>
            <a:endParaRPr lang="vi-VN" sz="1400"/>
          </a:p>
        </p:txBody>
      </p:sp>
      <p:sp>
        <p:nvSpPr>
          <p:cNvPr id="12" name="ctrTitle 1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/>
              <a:t>Excel for Business Intelligence Analyst</a:t>
            </a:r>
          </a:p>
        </p:txBody>
      </p:sp>
      <p:sp>
        <p:nvSpPr>
          <p:cNvPr id="13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/>
              <a:t>Buổi 5: Mô hình dữ liệu &amp; DAX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524000" y="566928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5" name="TextBox"/>
          <p:cNvSpPr txBox="1"/>
          <p:nvPr/>
        </p:nvSpPr>
        <p:spPr>
          <a:xfrm>
            <a:off x="1524000" y="57607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Bắt buộc máy Windows có Power Pivot (Data → Manage Data Model)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Mở sẵn: file khởi đầu B4_MCI_Mart_Answer.xlsx (đáp án Buổi 4)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2430515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mở buổi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101224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03864"/>
                </a:solidFill>
                <a:latin typeface="Arial"/>
              </a:rPr>
              <a:t>“Doanh thu tháng này đạt bao nhiêu % mục tiêu, và vì sao mỗi báo cáo cũ lại ra một con số khác nhau?”</a:t>
            </a:r>
          </a:p>
        </p:txBody>
      </p:sp>
      <p:sp>
        <p:nvSpPr>
          <p:cNvPr id="5" name="Tier chip"/>
          <p:cNvSpPr/>
          <p:nvPr/>
        </p:nvSpPr>
        <p:spPr>
          <a:xfrm>
            <a:off x="1527048" y="3017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Tầng 3 — Diagnostic</a:t>
            </a:r>
          </a:p>
        </p:txBody>
      </p:sp>
      <p:sp>
        <p:nvSpPr>
          <p:cNvPr id="6" name="Stat A"/>
          <p:cNvSpPr/>
          <p:nvPr/>
        </p:nvSpPr>
        <p:spPr>
          <a:xfrm>
            <a:off x="1527048" y="3657600"/>
            <a:ext cx="42062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3749039"/>
            <a:ext cx="3840479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Báo cáo A · Gross Margin % Quý 1/2025</a:t>
            </a:r>
          </a:p>
          <a:p>
            <a:pPr>
              <a:spcBef>
                <a:spcPts val="200"/>
              </a:spcBef>
            </a:pPr>
            <a:r>
              <a:rPr sz="3400" b="1">
                <a:solidFill>
                  <a:srgbClr val="203864"/>
                </a:solidFill>
                <a:latin typeface="Arial"/>
              </a:rPr>
              <a:t>34,18%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tổng lợi nhuận ÷ tổng doanh thu</a:t>
            </a:r>
          </a:p>
        </p:txBody>
      </p:sp>
      <p:sp>
        <p:nvSpPr>
          <p:cNvPr id="8" name="Not equal"/>
          <p:cNvSpPr txBox="1"/>
          <p:nvPr/>
        </p:nvSpPr>
        <p:spPr>
          <a:xfrm>
            <a:off x="5824728" y="3657600"/>
            <a:ext cx="9144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>
                <a:solidFill>
                  <a:srgbClr val="9C0006"/>
                </a:solidFill>
                <a:latin typeface="Arial"/>
              </a:rPr>
              <a:t>≠</a:t>
            </a:r>
          </a:p>
        </p:txBody>
      </p:sp>
      <p:sp>
        <p:nvSpPr>
          <p:cNvPr id="9" name="Stat B"/>
          <p:cNvSpPr/>
          <p:nvPr/>
        </p:nvSpPr>
        <p:spPr>
          <a:xfrm>
            <a:off x="6830568" y="3657600"/>
            <a:ext cx="42062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7013448" y="3749039"/>
            <a:ext cx="3840479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Báo cáo B · Gross Margin % Quý 1/2025</a:t>
            </a:r>
          </a:p>
          <a:p>
            <a:pPr>
              <a:spcBef>
                <a:spcPts val="200"/>
              </a:spcBef>
            </a:pPr>
            <a:r>
              <a:rPr sz="3400" b="1">
                <a:solidFill>
                  <a:srgbClr val="9C0006"/>
                </a:solidFill>
                <a:latin typeface="Arial"/>
              </a:rPr>
              <a:t>33,77%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trung bình biên lợi nhuận từng dòng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527048" y="55321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Cùng một dữ liệu. Không ai bịa số — chỉ là hai công thức khác nhau.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Buổi 4 &amp; file khởi đầu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6492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Viên gạch B4: </a:t>
            </a:r>
            <a:r>
              <a:rPr sz="1800" b="0">
                <a:solidFill>
                  <a:srgbClr val="1B2230"/>
                </a:solidFill>
                <a:latin typeface="Arial"/>
              </a:rPr>
              <a:t>6 bảng sạch trong Data Model — Sales 30.247 dòng (4.436.849.500), Product 40, Store 12, Customer 1.500, Target 144, Calendar 731. Refresh tự cập nhật.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Bài về nhà B4: </a:t>
            </a:r>
            <a:r>
              <a:rPr sz="1800" b="0">
                <a:solidFill>
                  <a:srgbClr val="1B2230"/>
                </a:solidFill>
                <a:latin typeface="Arial"/>
              </a:rPr>
              <a:t>đối soát trước khi tính % target — ST07 tháng 4 thiếu file bổ sung chỉ đạt 54,3%, đủ file đạt 97,4%; cả chuỗi 103,1%.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File khởi đầu hôm nay </a:t>
            </a:r>
            <a:r>
              <a:rPr sz="1800" b="0">
                <a:solidFill>
                  <a:srgbClr val="1B2230"/>
                </a:solidFill>
                <a:latin typeface="Arial"/>
              </a:rPr>
              <a:t>= đáp án B4 (B4_MCI_Mart_Answer.xlsx). Lưu thành B5_&lt;HoTen&gt;.xlsx. KHÔNG bấm Refresh All.</a:t>
            </a:r>
          </a:p>
        </p:txBody>
      </p:sp>
      <p:sp>
        <p:nvSpPr>
          <p:cNvPr id="5" name="Brick B4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B4 · Pipeline Power Query</a:t>
            </a:r>
          </a:p>
        </p:txBody>
      </p:sp>
      <p:sp>
        <p:nvSpPr>
          <p:cNvPr id="7" name="Brick B5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B5 · Star schema + DAX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Demo: ../B4_Power_Query/Practice/B4_MCI_Mart_Answer.xlsx (sheet Kiem_tra_B4) · ../B4_Power_Query/Homework/B4_BTVN_MCI_Mart_T4_2025_Answer.xlsx (sheet KetQua_T4)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Data Model: nhiều bảng, một mô hình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View · Diagram View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82880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→ Manage Data Model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Mở cửa sổ Power Pivot — nơi chứa Data Model, tách riêng khỏi worksheet (hoặc Power Pivot → Manage)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Mỗi bảng một tab; xem dữ liệu, thêm calculated column; dòng Record ghi số dòng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Diagram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Mỗi bảng là một hộp; relationship là đường nối giữa các hộp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3337560"/>
            <a:ext cx="4965192" cy="1874519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3429000"/>
            <a:ext cx="4599431" cy="1691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Data View, tab Sales: 6 tab bảng ở dưới, Record 1 of 30,247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Demo/B5_Demo_Model.xlsx · Data → Manage Data Model → S05a_data_view.png</a:t>
            </a:r>
          </a:p>
        </p:txBody>
      </p:sp>
      <p:sp>
        <p:nvSpPr>
          <p:cNvPr id="7" name="Image placeholder [CHỤP]"/>
          <p:cNvSpPr/>
          <p:nvPr/>
        </p:nvSpPr>
        <p:spPr>
          <a:xfrm>
            <a:off x="6684264" y="3337560"/>
            <a:ext cx="4965192" cy="1874519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867144" y="3429000"/>
            <a:ext cx="4599431" cy="1691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Diagram View: 6 hộp bảng, CHƯA có đường nối nào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Demo/B5_Demo_Model.xlsx · Home → Diagram View → S05b_diagram_roi.png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5303520"/>
            <a:ext cx="6309360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394959"/>
            <a:ext cx="55138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thấy Manage Data Model: bật add-in Power Pivot (File → Options → COM Add-ins).</a:t>
            </a:r>
          </a:p>
        </p:txBody>
      </p:sp>
      <p:sp>
        <p:nvSpPr>
          <p:cNvPr id="12" name="PRO TIP callout"/>
          <p:cNvSpPr/>
          <p:nvPr/>
        </p:nvSpPr>
        <p:spPr>
          <a:xfrm>
            <a:off x="8001000" y="5303520"/>
            <a:ext cx="3648456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 TIP chip"/>
          <p:cNvSpPr/>
          <p:nvPr/>
        </p:nvSpPr>
        <p:spPr>
          <a:xfrm>
            <a:off x="8110727" y="541324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4" name="PRO TIP text"/>
          <p:cNvSpPr txBox="1"/>
          <p:nvPr/>
        </p:nvSpPr>
        <p:spPr>
          <a:xfrm>
            <a:off x="9208008" y="5394959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Diagram View: kéo lookup bao quanh fact.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Demo/B5_Demo_Model.xlsx, Data → Manage Data Model (Data View, Diagram View)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· Fact vs 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Normalization: </a:t>
            </a:r>
            <a:r>
              <a:rPr sz="1600" b="0">
                <a:solidFill>
                  <a:srgbClr val="1B2230"/>
                </a:solidFill>
                <a:latin typeface="Arial"/>
              </a:rPr>
              <a:t>mỗi thông tin lưu đúng MỘT chỗ — tên ngành nằm ở Product, không lặp lại trên từng dòng bán hàng.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574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Fact — ghi sự kiện, có số để cộng</a:t>
            </a:r>
          </a:p>
        </p:txBody>
      </p:sp>
      <p:sp>
        <p:nvSpPr>
          <p:cNvPr id="6" name="Fact Sales"/>
          <p:cNvSpPr/>
          <p:nvPr/>
        </p:nvSpPr>
        <p:spPr>
          <a:xfrm>
            <a:off x="1527048" y="2468880"/>
            <a:ext cx="4480560" cy="105156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514600"/>
            <a:ext cx="4297680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Sales · 30.247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grain: 1 sản phẩm trong 1 đơn</a:t>
            </a:r>
          </a:p>
        </p:txBody>
      </p:sp>
      <p:sp>
        <p:nvSpPr>
          <p:cNvPr id="8" name="Fact Target"/>
          <p:cNvSpPr/>
          <p:nvPr/>
        </p:nvSpPr>
        <p:spPr>
          <a:xfrm>
            <a:off x="1527048" y="3657600"/>
            <a:ext cx="4480560" cy="105156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18488" y="3703320"/>
            <a:ext cx="4297680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Target · 144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grain: tháng × cửa hàng — fact thứ hai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373368" y="2057400"/>
            <a:ext cx="5276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Lookup — mô tả, mỗi đối tượng một dòng</a:t>
            </a:r>
          </a:p>
        </p:txBody>
      </p:sp>
      <p:sp>
        <p:nvSpPr>
          <p:cNvPr id="11" name="Lookup Product"/>
          <p:cNvSpPr/>
          <p:nvPr/>
        </p:nvSpPr>
        <p:spPr>
          <a:xfrm>
            <a:off x="6373368" y="246888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6464807" y="251460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Product · 40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sản phẩm</a:t>
            </a:r>
          </a:p>
        </p:txBody>
      </p:sp>
      <p:sp>
        <p:nvSpPr>
          <p:cNvPr id="13" name="Lookup Store"/>
          <p:cNvSpPr/>
          <p:nvPr/>
        </p:nvSpPr>
        <p:spPr>
          <a:xfrm>
            <a:off x="9070848" y="246888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9162288" y="251460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Store · 12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cửa hàng</a:t>
            </a:r>
          </a:p>
        </p:txBody>
      </p:sp>
      <p:sp>
        <p:nvSpPr>
          <p:cNvPr id="15" name="Lookup Customer"/>
          <p:cNvSpPr/>
          <p:nvPr/>
        </p:nvSpPr>
        <p:spPr>
          <a:xfrm>
            <a:off x="6373368" y="365760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6464807" y="370332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Customer · 1.500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khách hàng</a:t>
            </a:r>
          </a:p>
        </p:txBody>
      </p:sp>
      <p:sp>
        <p:nvSpPr>
          <p:cNvPr id="17" name="Lookup Calendar"/>
          <p:cNvSpPr/>
          <p:nvPr/>
        </p:nvSpPr>
        <p:spPr>
          <a:xfrm>
            <a:off x="9070848" y="365760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9162288" y="370332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Calendar · 731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ngày</a:t>
            </a:r>
          </a:p>
        </p:txBody>
      </p:sp>
      <p:sp>
        <p:nvSpPr>
          <p:cNvPr id="19" name="TIP callout"/>
          <p:cNvSpPr/>
          <p:nvPr/>
        </p:nvSpPr>
        <p:spPr>
          <a:xfrm>
            <a:off x="1527048" y="507492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1636776" y="51846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1" name="TIP text"/>
          <p:cNvSpPr txBox="1"/>
          <p:nvPr/>
        </p:nvSpPr>
        <p:spPr>
          <a:xfrm>
            <a:off x="2212848" y="5166359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Bảng fact dài, có cột số (Quantity, Revenue). Bảng lookup ngắn, chủ yếu là chữ. Target là fact: nó ghi một con số kế hoạch — nhưng không có cột sản phẩm.</a:t>
            </a:r>
          </a:p>
        </p:txBody>
      </p:sp>
      <p:sp>
        <p:nvSpPr>
          <p:cNvPr id="2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Số dòng: Data Model của file khởi đầu (Power Pivot → Data View)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key · Foreign key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2514600"/>
        </p:xfrm>
        <a:graphic>
          <a:graphicData uri="http://schemas.openxmlformats.org/drawingml/2006/table">
            <a:tbl>
              <a:tblPr firstRow="1" bandRow="0"/>
              <a:tblGrid>
                <a:gridCol w="2011680"/>
                <a:gridCol w="3108960"/>
                <a:gridCol w="500176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Bảng lookup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Primary key (duy nhất)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Foreign key ở bảng fact (lặp lại)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Product_Code — 40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Sales[Product_Code]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Store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Store_Code — 12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Sales[Store_Code] · Target[Store_Code]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Customer_ID — 1.500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Sales[Customer_ID]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Calendar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Date — 731 ngày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Sales[Order_Date] · Target[Ngay_Dau_Thang]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Stat card"/>
          <p:cNvSpPr/>
          <p:nvPr/>
        </p:nvSpPr>
        <p:spPr>
          <a:xfrm>
            <a:off x="1527048" y="4160520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4251959"/>
            <a:ext cx="4599431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Khóa chính phải DUY NHẤT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P021 (B2) · P015 (B4)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trùng thì không tạo được quan hệ</a:t>
            </a:r>
          </a:p>
        </p:txBody>
      </p:sp>
      <p:sp>
        <p:nvSpPr>
          <p:cNvPr id="7" name="Stat card"/>
          <p:cNvSpPr/>
          <p:nvPr/>
        </p:nvSpPr>
        <p:spPr>
          <a:xfrm>
            <a:off x="6684264" y="4160520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867144" y="4251959"/>
            <a:ext cx="4599431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Khóa ngoại không có trong lookup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E7D32"/>
                </a:solidFill>
                <a:latin typeface="Arial"/>
              </a:rPr>
              <a:t>0 dòng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đã kiểm bằng Left Anti ở B4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5486400"/>
            <a:ext cx="10122408" cy="685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5961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57784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Ngay_Dau_Thang (B4 thêm vào Target) là cái móc để Target nối vào Calendar.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 vs Merged tables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sp>
        <p:nvSpPr>
          <p:cNvPr id="4" name="Card Merge"/>
          <p:cNvSpPr/>
          <p:nvPr/>
        </p:nvSpPr>
        <p:spPr>
          <a:xfrm>
            <a:off x="1527048" y="1463040"/>
            <a:ext cx="49651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91639" y="1572768"/>
            <a:ext cx="463600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Merge (Buổi 4)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Kéo cột của lookup vào bảng fact → một bảng to, thông tin lặp lại trên mọi dòng.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Lookup trùng khóa → số dòng phình ra (28.328 → 29.408), không báo lỗi.</a:t>
            </a:r>
          </a:p>
        </p:txBody>
      </p:sp>
      <p:sp>
        <p:nvSpPr>
          <p:cNvPr id="6" name="Card Relationship"/>
          <p:cNvSpPr/>
          <p:nvPr/>
        </p:nvSpPr>
        <p:spPr>
          <a:xfrm>
            <a:off x="6684264" y="1463040"/>
            <a:ext cx="49651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848855" y="1572768"/>
            <a:ext cx="463600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E7D32"/>
                </a:solidFill>
                <a:latin typeface="Arial"/>
              </a:rPr>
              <a:t>Relationship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Giữ các bảng riêng, nối bằng khóa; Pivot lấy cột từ bảng nào cũng được.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Mỗi thông tin một chỗ → mô hình hình ngôi sao (star schema).</a:t>
            </a:r>
          </a:p>
        </p:txBody>
      </p:sp>
      <p:sp>
        <p:nvSpPr>
          <p:cNvPr id="8" name="Stat card"/>
          <p:cNvSpPr/>
          <p:nvPr/>
        </p:nvSpPr>
        <p:spPr>
          <a:xfrm>
            <a:off x="1527048" y="3749039"/>
            <a:ext cx="496519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3840479"/>
            <a:ext cx="4599431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Merge Product, Store, Customer vào Sales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9C0006"/>
                </a:solidFill>
                <a:latin typeface="Arial"/>
              </a:rPr>
              <a:t>453.705 ô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30.247 dòng × 15 cột mô tả, lặp lại</a:t>
            </a:r>
          </a:p>
        </p:txBody>
      </p:sp>
      <p:sp>
        <p:nvSpPr>
          <p:cNvPr id="10" name="Stat card"/>
          <p:cNvSpPr/>
          <p:nvPr/>
        </p:nvSpPr>
        <p:spPr>
          <a:xfrm>
            <a:off x="6684264" y="3749039"/>
            <a:ext cx="496519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6867144" y="3840479"/>
            <a:ext cx="4599431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Giữ lookup riêng + relationship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2E7D32"/>
                </a:solidFill>
                <a:latin typeface="Arial"/>
              </a:rPr>
              <a:t>9.220 ô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Product 40×4 · Store 12×5 · Customer 1.500×6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Star schema: fact ở giữa, lookup xung quanh — mình dựng nó ở Phần 2.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Số ô tính từ Data Model của file khởi đầu (build_b5_meta.json)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Relationship: nối bảng bằng khóa, không bằng công thức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Tạo và quản lý Relationship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755648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Kéo thả trong Diagram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Kéo cột khóa ngoại của bảng fact, thả lên khóa chính của bảng lookup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Design → Create Relationship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Hộp thoại chọn bảng và cột hai bên — khi sơ đồ quá rối để kéo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Design → Manage Relationships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Xem, sửa, xóa từng relationship (ngoài Excel: Data → Relationships)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3291840"/>
            <a:ext cx="4206240" cy="19659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3383280"/>
            <a:ext cx="3840479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Create Relationship: Sales / Order_Date ↔ Calendar / Date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Power Pivot → Design → Create Relationship → S10a_create_relationship.png</a:t>
            </a:r>
          </a:p>
        </p:txBody>
      </p:sp>
      <p:sp>
        <p:nvSpPr>
          <p:cNvPr id="7" name="Image placeholder [CHỤP]"/>
          <p:cNvSpPr/>
          <p:nvPr/>
        </p:nvSpPr>
        <p:spPr>
          <a:xfrm>
            <a:off x="5916168" y="3291840"/>
            <a:ext cx="5733288" cy="19659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099048" y="3383280"/>
            <a:ext cx="5367527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Diagram View: Sales ở giữa, 4 đường nối có ký hiệu 1 (lookup) và * (Sales)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Sau khi tạo 4 relationship của Sales → S10b_diagram_sales.png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534924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440679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Hai cột phải CÙNG KIỂU dữ liệu (Order_Date và Date đều là Date nhờ Using Locale ở B4). Báo trùng giá trị = khóa lookup bị trùng → Remove Duplicates trong Power Query.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Demo/B5_Demo_Model.xlsx, Power Pivot → Diagram View; Design → Create Relationship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Cardinality 1-* · Filter direction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sp>
        <p:nvSpPr>
          <p:cNvPr id="4" name="Diagram Store"/>
          <p:cNvSpPr/>
          <p:nvPr/>
        </p:nvSpPr>
        <p:spPr>
          <a:xfrm>
            <a:off x="2075688" y="16002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2167128" y="16459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Store · 12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Region = Nam</a:t>
            </a:r>
          </a:p>
        </p:txBody>
      </p:sp>
      <p:sp>
        <p:nvSpPr>
          <p:cNvPr id="6" name="Diagram Sales"/>
          <p:cNvSpPr/>
          <p:nvPr/>
        </p:nvSpPr>
        <p:spPr>
          <a:xfrm>
            <a:off x="2075688" y="3977639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2167128" y="4023359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Sales · 30.247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chỉ còn dòng cửa hàng miền Nam</a:t>
            </a:r>
          </a:p>
        </p:txBody>
      </p:sp>
      <p:cxnSp>
        <p:nvCxnSpPr>
          <p:cNvPr id="8" name="Filter arrow"/>
          <p:cNvCxnSpPr/>
          <p:nvPr/>
        </p:nvCxnSpPr>
        <p:spPr>
          <a:xfrm>
            <a:off x="3447288" y="2560320"/>
            <a:ext cx="0" cy="1371600"/>
          </a:xfrm>
          <a:prstGeom prst="line">
            <a:avLst/>
          </a:prstGeom>
          <a:ln w="38100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rd one"/>
          <p:cNvSpPr txBox="1"/>
          <p:nvPr/>
        </p:nvSpPr>
        <p:spPr>
          <a:xfrm>
            <a:off x="3630168" y="2606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203864"/>
                </a:solidFill>
                <a:latin typeface="Arial"/>
              </a:rPr>
              <a:t>1</a:t>
            </a:r>
          </a:p>
        </p:txBody>
      </p:sp>
      <p:sp>
        <p:nvSpPr>
          <p:cNvPr id="10" name="Card many"/>
          <p:cNvSpPr txBox="1"/>
          <p:nvPr/>
        </p:nvSpPr>
        <p:spPr>
          <a:xfrm>
            <a:off x="3630168" y="3520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03864"/>
                </a:solidFill>
                <a:latin typeface="Arial"/>
              </a:rPr>
              <a:t>*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486400" y="1554480"/>
            <a:ext cx="6163056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Arial"/>
              </a:rPr>
              <a:t>Cardinality: </a:t>
            </a:r>
            <a:r>
              <a:rPr sz="1600" b="0">
                <a:solidFill>
                  <a:srgbClr val="1B2230"/>
                </a:solidFill>
                <a:latin typeface="Arial"/>
              </a:rPr>
              <a:t>mức độ duy nhất của khóa ở hai đầu — 1 (lookup, duy nhất) – * (fact, lặp lại). Data Model chỉ nhận 1-1 và 1-*; khóa trùng ở cả hai đầu (nhiều–nhiều) không tạo được.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C00000"/>
                </a:solidFill>
                <a:latin typeface="Arial"/>
              </a:rPr>
              <a:t>Filter direction: </a:t>
            </a:r>
            <a:r>
              <a:rPr sz="1600" b="0">
                <a:solidFill>
                  <a:srgbClr val="1B2230"/>
                </a:solidFill>
                <a:latin typeface="Arial"/>
              </a:rPr>
              <a:t>bộ lọc chảy TỪ LOOKUP XUỐNG FACT. Chọn Region = Nam ở Store → Sales chỉ còn dòng của cửa hàng miền Nam. Chiều ngược lại không có.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Quy tắc vàng: </a:t>
            </a:r>
            <a:r>
              <a:rPr sz="1600" b="0">
                <a:solidFill>
                  <a:srgbClr val="1B2230"/>
                </a:solidFill>
                <a:latin typeface="Arial"/>
              </a:rPr>
              <a:t>không bao giờ nối thẳng hai bảng fact. Sales và Target gặp nhau qua lookup chung.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Bộ lọc chảy như nước, từ trên xuống: lookup ở trên, fact ở dưới.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Sơ đồ khái niệm: bộ lọc từ Store chảy xuống Sales qua relationship Store_Code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thứ hai: Target lọc qua lookup chung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Insert → PivotTable ▾ → From Data Model  ·  relationship cho Target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Pivot đọc thẳng Data Model. Target chỉ lọc được qua lookup CHUNG với Sales: Target[Store_Code] → Store · Target[Ngay_Dau_Thang] → Calendar.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560320"/>
            <a:ext cx="4343400" cy="26060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651760"/>
            <a:ext cx="3977639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Category × Sum of Target: 6 dòng đều 3.665.000.000; thanh vàng “Relationships between tables may be needed”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PV_Grain, TRƯỚC khi nối Target → S12a_target_lap.png</a:t>
            </a:r>
          </a:p>
        </p:txBody>
      </p:sp>
      <p:sp>
        <p:nvSpPr>
          <p:cNvPr id="8" name="Image placeholder [CHỤP]"/>
          <p:cNvSpPr/>
          <p:nvPr/>
        </p:nvSpPr>
        <p:spPr>
          <a:xfrm>
            <a:off x="6007608" y="2560320"/>
            <a:ext cx="3291840" cy="26060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6190488" y="2651760"/>
            <a:ext cx="292608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Diagram View: 6 bảng, 6 relationship; Sales và Target cùng nối Store, Calendar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Sau Slide 12 → S12b_diagram_hai_fact.png</a:t>
            </a:r>
          </a:p>
        </p:txBody>
      </p:sp>
      <p:sp>
        <p:nvSpPr>
          <p:cNvPr id="10" name="Stat card"/>
          <p:cNvSpPr/>
          <p:nvPr/>
        </p:nvSpPr>
        <p:spPr>
          <a:xfrm>
            <a:off x="9436608" y="2560320"/>
            <a:ext cx="221284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619488" y="2651760"/>
            <a:ext cx="1847088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Chưa nối · mọi ngành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3.665 tr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= target cả năm</a:t>
            </a:r>
          </a:p>
        </p:txBody>
      </p:sp>
      <p:sp>
        <p:nvSpPr>
          <p:cNvPr id="12" name="Stat card"/>
          <p:cNvSpPr/>
          <p:nvPr/>
        </p:nvSpPr>
        <p:spPr>
          <a:xfrm>
            <a:off x="9436608" y="3931920"/>
            <a:ext cx="221284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9619488" y="4023359"/>
            <a:ext cx="1847088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Đã nối · theo miền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2E7D32"/>
                </a:solidFill>
                <a:latin typeface="Arial"/>
              </a:rPr>
              <a:t>1.227 · 753 · 1.685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triệu (Bắc · Trung · Nam)</a:t>
            </a:r>
          </a:p>
        </p:txBody>
      </p:sp>
      <p:sp>
        <p:nvSpPr>
          <p:cNvPr id="14" name="TIP callout"/>
          <p:cNvSpPr/>
          <p:nvPr/>
        </p:nvSpPr>
        <p:spPr>
          <a:xfrm>
            <a:off x="1527048" y="530352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6" name="TIP text"/>
          <p:cNvSpPr txBox="1"/>
          <p:nvPr/>
        </p:nvSpPr>
        <p:spPr>
          <a:xfrm>
            <a:off x="2212848" y="5394959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Cùng một con số ở MỌI dòng = trường ở Rows không lọc được bảng của trường ở Values. Kiểm tra Diagram View. Target không có cột sản phẩm: ngành hàng lặp lại là ĐÚNG.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Demo/B5_Demo_Model.xlsx, sheet PV_Grain (Insert → PivotTable → From Data Model); Power Pivot → Diagram 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Nghỉ 10 phút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Trước khi quay lại: mở Diagram View, kiểm tra đủ 6 relationship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Calculated Column và Measure: tính từng dòng hay tính từng 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Column · RELATED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50876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Calculated Column</a:t>
                      </a:r>
                      <a:r>
                        <a:rPr sz="1400" b="0">
                          <a:solidFill>
                            <a:srgbClr val="585858"/>
                          </a:solidFill>
                          <a:latin typeface="Arial"/>
                        </a:rPr>
                        <a:t> (Data View → Add Column)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Công thức tính cho TỪNG DÒNG, kết quả LƯU thành một cột của bảng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RELATED(&lt;cột ở bảng lookup&gt;)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Lấy giá trị từ bảng lookup theo relationship — XLOOKUP của Data Model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Formula bar"/>
          <p:cNvSpPr/>
          <p:nvPr/>
        </p:nvSpPr>
        <p:spPr>
          <a:xfrm>
            <a:off x="1527048" y="306324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618488" y="30632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7" name="Formula"/>
          <p:cNvSpPr txBox="1"/>
          <p:nvPr/>
        </p:nvSpPr>
        <p:spPr>
          <a:xfrm>
            <a:off x="2075688" y="306324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= Sales[Quantity] * RELATED(Product[Unit_Cost])        → đổi tên cột: COGS</a:t>
            </a:r>
          </a:p>
        </p:txBody>
      </p:sp>
      <p:sp>
        <p:nvSpPr>
          <p:cNvPr id="8" name="Image placeholder [CHỤP]"/>
          <p:cNvSpPr/>
          <p:nvPr/>
        </p:nvSpPr>
        <p:spPr>
          <a:xfrm>
            <a:off x="1527048" y="3611880"/>
            <a:ext cx="6309360" cy="16916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3703320"/>
            <a:ext cx="594360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Data View bảng Sales: cột COGS ở cuối, thanh công thức =Sales[Quantity]*RELATED(Product[Unit_Cost])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Power Pivot → Data View → Sales → S15_cot_cogs.png</a:t>
            </a:r>
          </a:p>
        </p:txBody>
      </p:sp>
      <p:sp>
        <p:nvSpPr>
          <p:cNvPr id="10" name="TIP callout"/>
          <p:cNvSpPr/>
          <p:nvPr/>
        </p:nvSpPr>
        <p:spPr>
          <a:xfrm>
            <a:off x="8001000" y="3611880"/>
            <a:ext cx="3648456" cy="1691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110727" y="3721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8686800" y="3703320"/>
            <a:ext cx="285292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có địa chỉ ô kiểu A1: công thức viết theo tên cột, áp cho cả cột. Đổi tên: double-click tiêu đề.</a:t>
            </a:r>
          </a:p>
        </p:txBody>
      </p:sp>
      <p:sp>
        <p:nvSpPr>
          <p:cNvPr id="13" name="PRO 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 TIP chip"/>
          <p:cNvSpPr/>
          <p:nvPr/>
        </p:nvSpPr>
        <p:spPr>
          <a:xfrm>
            <a:off x="1636776" y="550468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5" name="PRO TIP text"/>
          <p:cNvSpPr txBox="1"/>
          <p:nvPr/>
        </p:nvSpPr>
        <p:spPr>
          <a:xfrm>
            <a:off x="2734056" y="5486400"/>
            <a:ext cx="8805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RELATED chỉ chạy khi ĐÃ CÓ relationship, và đi từ fact sang lookup (phía “nhiều” sang phía “một”).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Power Pivot → Data View, bảng Sales, cột COGS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Vì sao KPI tỷ lệ phải là measure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sp>
        <p:nvSpPr>
          <p:cNvPr id="4" name="Formula bar"/>
          <p:cNvSpPr/>
          <p:nvPr/>
        </p:nvSpPr>
        <p:spPr>
          <a:xfrm>
            <a:off x="1527048" y="141732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18488" y="1417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6" name="Formula"/>
          <p:cNvSpPr txBox="1"/>
          <p:nvPr/>
        </p:nvSpPr>
        <p:spPr>
          <a:xfrm>
            <a:off x="2075688" y="141732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GM_Dong = DIVIDE(Sales[Revenue] - Sales[COGS], Sales[Revenue])      (calculated column, thêm tạm)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1527048" y="1965960"/>
          <a:ext cx="6309360" cy="2057400"/>
        </p:xfrm>
        <a:graphic>
          <a:graphicData uri="http://schemas.openxmlformats.org/drawingml/2006/table">
            <a:tbl>
              <a:tblPr firstRow="1" bandRow="0"/>
              <a:tblGrid>
                <a:gridCol w="1828800"/>
                <a:gridCol w="2240280"/>
                <a:gridCol w="22402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Calculated Column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Tính theo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từng dòng (row context)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từng ô Pivot (filter context)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Lưu trong mô hình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có — tốn bộ nhớ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không — tính khi cần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Dùng ở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Rows, Columns, Filters, Slicer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chỉ ở Values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Hợp với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thuộc tính của một dòng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KPI, tổng, TỶ LỆ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tat card"/>
          <p:cNvSpPr/>
          <p:nvPr/>
        </p:nvSpPr>
        <p:spPr>
          <a:xfrm>
            <a:off x="1527048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Average of GM_Dong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33,77%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trung bình của tỷ lệ</a:t>
            </a:r>
          </a:p>
        </p:txBody>
      </p:sp>
      <p:sp>
        <p:nvSpPr>
          <p:cNvPr id="10" name="Stat card"/>
          <p:cNvSpPr/>
          <p:nvPr/>
        </p:nvSpPr>
        <p:spPr>
          <a:xfrm>
            <a:off x="3675887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385876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Sum of GM_Dong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208.904%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vô nghĩa</a:t>
            </a:r>
          </a:p>
        </p:txBody>
      </p:sp>
      <p:sp>
        <p:nvSpPr>
          <p:cNvPr id="12" name="Stat card"/>
          <p:cNvSpPr/>
          <p:nvPr/>
        </p:nvSpPr>
        <p:spPr>
          <a:xfrm>
            <a:off x="5824728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600760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Đúng (B2, ô E30)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34,18%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tổng LN ÷ tổng DT</a:t>
            </a:r>
          </a:p>
        </p:txBody>
      </p:sp>
      <p:sp>
        <p:nvSpPr>
          <p:cNvPr id="14" name="Image placeholder [CHỤP]"/>
          <p:cNvSpPr/>
          <p:nvPr/>
        </p:nvSpPr>
        <p:spPr>
          <a:xfrm>
            <a:off x="8001000" y="1965960"/>
            <a:ext cx="3648456" cy="35204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8183879" y="2057400"/>
            <a:ext cx="3282696" cy="3337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 PV_Loc lọc Nam = 2025, Quy = 1: Average of GM_Dong 33,77% và Sum of GM_Dong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PV_Loc → S16_gm_dong.png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PV_Loc (cột GM_Dong thêm tạm, xóa sau demo). Đối chiếu: sheet KPI_SUMIFS, ô E30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vs Explicit measure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82880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Implicit 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Tick cột số vào Values → “Sum of …” tự tạo: không tên, không định dạng, KHÔNG dùng lại được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Power Pivot → Measures → New Measure…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Explicit measure: tự đặt tên, viết DAX, chọn định dạng; dùng lại trong measure khác và CUBEVALUE (B6)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DIVIDE(tử, mẫu)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Phép chia an toàn: mẫu bằng 0 hoặc trống → ô trống thay vì lỗi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Measures"/>
          <p:cNvGraphicFramePr>
            <a:graphicFrameLocks noGrp="1"/>
          </p:cNvGraphicFramePr>
          <p:nvPr/>
        </p:nvGraphicFramePr>
        <p:xfrm>
          <a:off x="1527048" y="3337560"/>
          <a:ext cx="6309360" cy="1536192"/>
        </p:xfrm>
        <a:graphic>
          <a:graphicData uri="http://schemas.openxmlformats.org/drawingml/2006/table">
            <a:tbl>
              <a:tblPr firstRow="1" bandRow="0"/>
              <a:tblGrid>
                <a:gridCol w="21031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Measure (bảng Sales)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Total 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SUM(Sales[Revenue])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Total COGS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SUM(Sales[COGS])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Gross Margin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[Total COGS], [Total 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Image placeholder [CHỤP]"/>
          <p:cNvSpPr/>
          <p:nvPr/>
        </p:nvSpPr>
        <p:spPr>
          <a:xfrm>
            <a:off x="8001000" y="3337560"/>
            <a:ext cx="3648456" cy="19202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183879" y="3429000"/>
            <a:ext cx="3282696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Hộp Measure: Gross Margin %, Formula, Check formula, Category Percentage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Power Pivot → Measures → New Measure → S17_measure_dialog.png</a:t>
            </a:r>
          </a:p>
        </p:txBody>
      </p:sp>
      <p:sp>
        <p:nvSpPr>
          <p:cNvPr id="8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Cột luôn kèm tên bảng: Sales[Revenue]. Measure ghi trần: [Total Revenue]. Quý 1/2025: 941.454.000 · 619.663.000 · 34,2%.</a:t>
            </a:r>
          </a:p>
        </p:txBody>
      </p:sp>
      <p:sp>
        <p:nvSpPr>
          <p:cNvPr id="1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Power Pivot → Measures → New Measure (Gross Margin 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Filter context: ô này đang bị lọc bởi những gì?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 context — Chuỗi C lần 3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FILTER CONTEXT</a:t>
            </a:r>
          </a:p>
        </p:txBody>
      </p:sp>
      <p:sp>
        <p:nvSpPr>
          <p:cNvPr id="4" name="Spine cell"/>
          <p:cNvSpPr/>
          <p:nvPr/>
        </p:nvSpPr>
        <p:spPr>
          <a:xfrm>
            <a:off x="1527048" y="1554480"/>
            <a:ext cx="2103120" cy="109728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527048" y="1554480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90.210.000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một ô Pivot</a:t>
            </a:r>
          </a:p>
        </p:txBody>
      </p:sp>
      <p:sp>
        <p:nvSpPr>
          <p:cNvPr id="6" name="Filter 1"/>
          <p:cNvSpPr/>
          <p:nvPr/>
        </p:nvSpPr>
        <p:spPr>
          <a:xfrm>
            <a:off x="4041648" y="14630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Store[Region] = Bắc</a:t>
            </a:r>
          </a:p>
        </p:txBody>
      </p:sp>
      <p:sp>
        <p:nvSpPr>
          <p:cNvPr id="7" name="Filter 2"/>
          <p:cNvSpPr/>
          <p:nvPr/>
        </p:nvSpPr>
        <p:spPr>
          <a:xfrm>
            <a:off x="4041648" y="19202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Calendar[Nam] = 2025</a:t>
            </a:r>
          </a:p>
        </p:txBody>
      </p:sp>
      <p:sp>
        <p:nvSpPr>
          <p:cNvPr id="8" name="Filter 3"/>
          <p:cNvSpPr/>
          <p:nvPr/>
        </p:nvSpPr>
        <p:spPr>
          <a:xfrm>
            <a:off x="4041648" y="23774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Calendar[Thang] = 3</a:t>
            </a:r>
          </a:p>
        </p:txBody>
      </p:sp>
      <p:sp>
        <p:nvSpPr>
          <p:cNvPr id="9" name="Spine sum"/>
          <p:cNvSpPr/>
          <p:nvPr/>
        </p:nvSpPr>
        <p:spPr>
          <a:xfrm>
            <a:off x="6830568" y="16916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6830568" y="169164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SUM(Sales[Revenue])</a:t>
            </a:r>
          </a:p>
        </p:txBody>
      </p:sp>
      <p:cxnSp>
        <p:nvCxnSpPr>
          <p:cNvPr id="11" name="Arrow 1"/>
          <p:cNvCxnSpPr/>
          <p:nvPr/>
        </p:nvCxnSpPr>
        <p:spPr>
          <a:xfrm flipH="1">
            <a:off x="3675887" y="2103120"/>
            <a:ext cx="320041" cy="0"/>
          </a:xfrm>
          <a:prstGeom prst="line">
            <a:avLst/>
          </a:prstGeom>
          <a:ln w="28575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 2"/>
          <p:cNvCxnSpPr/>
          <p:nvPr/>
        </p:nvCxnSpPr>
        <p:spPr>
          <a:xfrm flipH="1">
            <a:off x="6464808" y="2103120"/>
            <a:ext cx="320040" cy="0"/>
          </a:xfrm>
          <a:prstGeom prst="line">
            <a:avLst/>
          </a:prstGeom>
          <a:ln w="28575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hree times"/>
          <p:cNvGraphicFramePr>
            <a:graphicFrameLocks noGrp="1"/>
          </p:cNvGraphicFramePr>
          <p:nvPr/>
        </p:nvGraphicFramePr>
        <p:xfrm>
          <a:off x="1527048" y="2926080"/>
          <a:ext cx="4663440" cy="1536192"/>
        </p:xfrm>
        <a:graphic>
          <a:graphicData uri="http://schemas.openxmlformats.org/drawingml/2006/table">
            <a:tbl>
              <a:tblPr firstRow="1" bandRow="0"/>
              <a:tblGrid>
                <a:gridCol w="1188720"/>
                <a:gridCol w="3474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Buổi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Cùng một ý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tiêu chí SUMIFS (KPI_SUMIFS!D6)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tọa độ ô Pivot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filter context của 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"/>
          <p:cNvSpPr txBox="1"/>
          <p:nvPr/>
        </p:nvSpPr>
        <p:spPr>
          <a:xfrm>
            <a:off x="1527048" y="461772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Đọc tọa độ ô: hàng, cột, Filters, Slicer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Bộ lọc chảy theo relationship, lookup → Sales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3. </a:t>
            </a:r>
            <a:r>
              <a:rPr sz="1400" b="0">
                <a:solidFill>
                  <a:srgbClr val="1B2230"/>
                </a:solidFill>
                <a:latin typeface="Arial"/>
              </a:rPr>
              <a:t>Tính công thức trên các dòng còn lại</a:t>
            </a:r>
          </a:p>
        </p:txBody>
      </p:sp>
      <p:sp>
        <p:nvSpPr>
          <p:cNvPr id="15" name="Image placeholder [CHỤP]"/>
          <p:cNvSpPr/>
          <p:nvPr/>
        </p:nvSpPr>
        <p:spPr>
          <a:xfrm>
            <a:off x="6373368" y="2926080"/>
            <a:ext cx="5276088" cy="315468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6556248" y="3017520"/>
            <a:ext cx="4910327" cy="297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 Rows Region · Columns Thang · Filters Nam = 2025, Quy = 1 · Values Total Revenue; ô Bắc × 3 = 90.210.000 đang chọn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PV_Loc → S19_pivot_mien_thang.png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Hình xương sống Chuỗi C dùng lại từ B2/B3 · Ảnh: Demo/B5_Demo_DAX.xlsx, sheet PV_Loc. Đối chiếu: sheet KPI_SUMIFS, ô D6 và E9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Lọc bằng cột của 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FILTER CONTEXT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Hide from Client Tools  (Power Pivot: chuột phải tiêu đề cột)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Ẩn cột khỏi danh sách trường của Pivot, để người dùng không kéo nhầm cột của bảng fact vào Rows / Columns.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468880"/>
            <a:ext cx="6309360" cy="26060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560320"/>
            <a:ext cx="5943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Hai Pivot cạnh nhau (Nam = 2025): trái Rows Calendar[Thang] — đúng; phải Rows Sales[Thang] — Sum of Target 3.665.000.000 ở mọi dòng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PV_Lookup_vs_Fact, trước khi ẩn cột → S20_lookup_vs_fact.png</a:t>
            </a:r>
          </a:p>
        </p:txBody>
      </p:sp>
      <p:sp>
        <p:nvSpPr>
          <p:cNvPr id="8" name="Rule card"/>
          <p:cNvSpPr/>
          <p:nvPr/>
        </p:nvSpPr>
        <p:spPr>
          <a:xfrm>
            <a:off x="8001000" y="2468880"/>
            <a:ext cx="3648456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165592" y="2578608"/>
            <a:ext cx="3319272" cy="2386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Quy tắc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Rows, Columns, Filters, Slicer: lấy cột của LOOKUP (Calendar, Store, Product, Customer).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Sales[Thang] </a:t>
            </a:r>
            <a:r>
              <a:rPr sz="1400" b="0">
                <a:solidFill>
                  <a:srgbClr val="1B2230"/>
                </a:solidFill>
                <a:latin typeface="Arial"/>
              </a:rPr>
              <a:t>chỉ lọc được Sales — không chảy sang Target.</a:t>
            </a:r>
          </a:p>
        </p:txBody>
      </p:sp>
      <p:sp>
        <p:nvSpPr>
          <p:cNvPr id="10" name="TIP callout"/>
          <p:cNvSpPr/>
          <p:nvPr/>
        </p:nvSpPr>
        <p:spPr>
          <a:xfrm>
            <a:off x="1527048" y="521208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30352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Ẩn: Sales[Nam], [Thang], [Order_Date], [Store_Code], [Product_Code], [Customer_ID] · Target[Store_Code], [Thang], [Ngay_Dau_Thang]. Cột ẩn chuyển màu xám trong Data View.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PV_Lookup_vs_Fact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CALCULATE và ALL: đổi bộ lọc có chủ đích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CALCULATE(&lt;biểu thức&gt;, &lt;bộ lọc 1&gt;, &lt;bộ lọc 2&gt;, …)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Tính biểu thức dưới bộ lọc mình đặt; bộ lọc trong CALCULATE GHI ĐÈ bộ lọc cùng cột của ô Pivot, các bộ lọc khác giữ nguyên.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56032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56032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Revenue Mien Nam := CALCULATE([Total Revenue], Store[Region] = "Nam")</a:t>
            </a:r>
          </a:p>
        </p:txBody>
      </p:sp>
      <p:sp>
        <p:nvSpPr>
          <p:cNvPr id="9" name="Image placeholder [CHỤP]"/>
          <p:cNvSpPr/>
          <p:nvPr/>
        </p:nvSpPr>
        <p:spPr>
          <a:xfrm>
            <a:off x="1527048" y="3154680"/>
            <a:ext cx="6309360" cy="210312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709928" y="3246120"/>
            <a:ext cx="5943600" cy="1920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PV_Loc (Q1/2025): Rows Region; Total Revenue và Revenue Mien Nam — 427.663.000 ở cả 3 dòng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PV_Loc → S22_calculate.png</a:t>
            </a:r>
          </a:p>
        </p:txBody>
      </p:sp>
      <p:sp>
        <p:nvSpPr>
          <p:cNvPr id="11" name="Stat card"/>
          <p:cNvSpPr/>
          <p:nvPr/>
        </p:nvSpPr>
        <p:spPr>
          <a:xfrm>
            <a:off x="8001000" y="3154680"/>
            <a:ext cx="364845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8183879" y="3246120"/>
            <a:ext cx="3282696" cy="1920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Revenue Mien Nam ở dòng Bắc, Trung, Nam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427.663.000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Region bị thay bằng Nam; bộ lọc Quý 1 vẫn giữ</a:t>
            </a:r>
          </a:p>
        </p:txBody>
      </p:sp>
      <p:sp>
        <p:nvSpPr>
          <p:cNvPr id="13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5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Demo xong, xóa measure này: Power Pivot → Measures → Manage Measures → Delete.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→ % of Total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ALL(&lt;bảng hoặc cột&gt;)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Bỏ mọi bộ lọc trên bảng (hoặc cột) đó — dùng trong CALCULATE để lấy “mẫu số chung”.</a:t>
            </a:r>
          </a:p>
        </p:txBody>
      </p:sp>
      <p:graphicFrame>
        <p:nvGraphicFramePr>
          <p:cNvPr id="6" name="Measures"/>
          <p:cNvGraphicFramePr>
            <a:graphicFrameLocks noGrp="1"/>
          </p:cNvGraphicFramePr>
          <p:nvPr/>
        </p:nvGraphicFramePr>
        <p:xfrm>
          <a:off x="1527048" y="2423160"/>
          <a:ext cx="10122408" cy="1234440"/>
        </p:xfrm>
        <a:graphic>
          <a:graphicData uri="http://schemas.openxmlformats.org/drawingml/2006/table">
            <a:tbl>
              <a:tblPr firstRow="1" bandRow="0"/>
              <a:tblGrid>
                <a:gridCol w="2743200"/>
                <a:gridCol w="7379208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Revenue All Stores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ALL(Store))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% Revenue Share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[Revenue All Stores])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Image placeholder [CHỤP]"/>
          <p:cNvSpPr/>
          <p:nvPr/>
        </p:nvSpPr>
        <p:spPr>
          <a:xfrm>
            <a:off x="1527048" y="3749039"/>
            <a:ext cx="6309360" cy="1508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709928" y="3840479"/>
            <a:ext cx="59436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PV_Loc (Q1): Total Revenue · Revenue All Stores 941.454.000 mọi dòng · % Revenue Share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PV_Loc → S23_pct_of_total.png</a:t>
            </a:r>
          </a:p>
        </p:txBody>
      </p:sp>
      <p:sp>
        <p:nvSpPr>
          <p:cNvPr id="9" name="Share Bắc"/>
          <p:cNvSpPr/>
          <p:nvPr/>
        </p:nvSpPr>
        <p:spPr>
          <a:xfrm>
            <a:off x="8001000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183879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Bắc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34,4%</a:t>
            </a:r>
          </a:p>
        </p:txBody>
      </p:sp>
      <p:sp>
        <p:nvSpPr>
          <p:cNvPr id="11" name="Share Trung"/>
          <p:cNvSpPr/>
          <p:nvPr/>
        </p:nvSpPr>
        <p:spPr>
          <a:xfrm>
            <a:off x="9244584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9427463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Trung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20,2%</a:t>
            </a:r>
          </a:p>
        </p:txBody>
      </p:sp>
      <p:sp>
        <p:nvSpPr>
          <p:cNvPr id="13" name="Share Nam"/>
          <p:cNvSpPr/>
          <p:nvPr/>
        </p:nvSpPr>
        <p:spPr>
          <a:xfrm>
            <a:off x="10488168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10671048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Nam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45,4%</a:t>
            </a:r>
          </a:p>
        </p:txBody>
      </p:sp>
      <p:sp>
        <p:nvSpPr>
          <p:cNvPr id="15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7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Đúng Pct_Share của Buổi 1. B1 khóa mẫu số bằng $B$5; DAX khóa bằng ALL. ALL(Store) bỏ lọc miền, cửa hàng — bộ lọc Calendar vẫn giữ.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 cho Target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graphicFrame>
        <p:nvGraphicFramePr>
          <p:cNvPr id="4" name="Measures"/>
          <p:cNvGraphicFramePr>
            <a:graphicFrameLocks noGrp="1"/>
          </p:cNvGraphicFramePr>
          <p:nvPr/>
        </p:nvGraphicFramePr>
        <p:xfrm>
          <a:off x="1527048" y="1417320"/>
          <a:ext cx="10122408" cy="1645920"/>
        </p:xfrm>
        <a:graphic>
          <a:graphicData uri="http://schemas.openxmlformats.org/drawingml/2006/table">
            <a:tbl>
              <a:tblPr firstRow="1" bandRow="0"/>
              <a:tblGrid>
                <a:gridCol w="2743200"/>
                <a:gridCol w="7379208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Total Target  (bảng Target)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SUM(Target[Target])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Revenue vs Target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IF(ISBLANK([Total Revenue]), BLANK(), </a:t>
                      </a:r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[Total Revenue] -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3200400"/>
            <a:ext cx="6309360" cy="20574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3291840"/>
            <a:ext cx="5943600" cy="1874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PV_Target (Nam = 2025): Total Revenue, Total Target, Revenue vs Target %, Variance theo Calendar[Thang]; T5–T12 chỉ có target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PV_Target → S24_target_thang.png</a:t>
            </a:r>
          </a:p>
        </p:txBody>
      </p:sp>
      <p:sp>
        <p:nvSpPr>
          <p:cNvPr id="7" name="Month T1"/>
          <p:cNvSpPr/>
          <p:nvPr/>
        </p:nvSpPr>
        <p:spPr>
          <a:xfrm>
            <a:off x="8001000" y="320040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183879" y="329184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T1/2025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2E7D32"/>
                </a:solidFill>
                <a:latin typeface="Arial"/>
              </a:rPr>
              <a:t>120,6%</a:t>
            </a:r>
          </a:p>
        </p:txBody>
      </p:sp>
      <p:sp>
        <p:nvSpPr>
          <p:cNvPr id="9" name="Month T2"/>
          <p:cNvSpPr/>
          <p:nvPr/>
        </p:nvSpPr>
        <p:spPr>
          <a:xfrm>
            <a:off x="9857232" y="320040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0040111" y="329184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T2/2025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9C0006"/>
                </a:solidFill>
                <a:latin typeface="Arial"/>
              </a:rPr>
              <a:t>82,5%</a:t>
            </a:r>
          </a:p>
        </p:txBody>
      </p:sp>
      <p:sp>
        <p:nvSpPr>
          <p:cNvPr id="11" name="Month T3"/>
          <p:cNvSpPr/>
          <p:nvPr/>
        </p:nvSpPr>
        <p:spPr>
          <a:xfrm>
            <a:off x="8001000" y="425196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8183879" y="434340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T3/2025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9C0006"/>
                </a:solidFill>
                <a:latin typeface="Arial"/>
              </a:rPr>
              <a:t>94,6%</a:t>
            </a:r>
          </a:p>
        </p:txBody>
      </p:sp>
      <p:sp>
        <p:nvSpPr>
          <p:cNvPr id="13" name="Month T4"/>
          <p:cNvSpPr/>
          <p:nvPr/>
        </p:nvSpPr>
        <p:spPr>
          <a:xfrm>
            <a:off x="9857232" y="425196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10040111" y="434340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T4/2025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2E7D32"/>
                </a:solidFill>
                <a:latin typeface="Arial"/>
              </a:rPr>
              <a:t>103,1%</a:t>
            </a:r>
          </a:p>
        </p:txBody>
      </p:sp>
      <p:sp>
        <p:nvSpPr>
          <p:cNvPr id="15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7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có IF(ISBLANK…): Variance tháng 5 = −288.000.000 — “hụt 288 triệu” chỉ vì chưa có dữ liệu. T1 + T2 gộp: 103,2%. Tết 2025: 29/01 · Tết 2024: 10/02.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PV_Target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không lọc theo ngành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Card category"/>
          <p:cNvSpPr/>
          <p:nvPr/>
        </p:nvSpPr>
        <p:spPr>
          <a:xfrm>
            <a:off x="1527048" y="1463040"/>
            <a:ext cx="42062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91639" y="1572768"/>
            <a:ext cx="3877055" cy="3575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9C0006"/>
                </a:solidFill>
                <a:latin typeface="Arial"/>
              </a:rPr>
              <a:t>Rows = Product[Category] · Quý 1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Bánh kẹo 36,2% · Gia dụng 21,7% · Thực phẩm khô 18,0% · Đồ uống 11,8% · Chăm sóc cá nhân 11,2% · Sữa 1,8%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9C0006"/>
                </a:solidFill>
                <a:latin typeface="Arial"/>
              </a:rPr>
              <a:t>= doanh thu ngành ÷ target CẢ CHUỖI (936.000.000) → vô nghĩa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Measure không báo lỗi — người dùng phải biết giới hạn.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5916168" y="1463040"/>
            <a:ext cx="3611880" cy="3794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099048" y="155448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Rows Store_Code · Columns Thang 1–4 · Revenue vs Target %; ô ST07 × 3 = 44,9% đang chọn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PV_Target → S25_store_thang.png</a:t>
            </a:r>
          </a:p>
        </p:txBody>
      </p:sp>
      <p:sp>
        <p:nvSpPr>
          <p:cNvPr id="8" name="Stat card"/>
          <p:cNvSpPr/>
          <p:nvPr/>
        </p:nvSpPr>
        <p:spPr>
          <a:xfrm>
            <a:off x="9665208" y="1463040"/>
            <a:ext cx="198424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9848088" y="1554480"/>
            <a:ext cx="1618488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ST07 · T3/2025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44,9%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8.539.000 / 19.000.000</a:t>
            </a:r>
          </a:p>
        </p:txBody>
      </p:sp>
      <p:sp>
        <p:nvSpPr>
          <p:cNvPr id="10" name="Stat card"/>
          <p:cNvSpPr/>
          <p:nvPr/>
        </p:nvSpPr>
        <p:spPr>
          <a:xfrm>
            <a:off x="9665208" y="3429000"/>
            <a:ext cx="198424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848088" y="3520440"/>
            <a:ext cx="1618488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ST07 · T4/2025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97,4%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hồi phục sau cải tạo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KPI dictionary ghi rõ: Revenue vs Target % lọc theo store, region, month — KHÔNG theo product/category.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PV_Target · ST07 cải tạo 10–31/03/2025 (B3 Show Details)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Time intelligence: lũy kế và so với cùng kỳ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YTD · cùng kỳ năm trước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TIME INTELLIGENCE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6309360" cy="1755648"/>
        </p:xfrm>
        <a:graphic>
          <a:graphicData uri="http://schemas.openxmlformats.org/drawingml/2006/table">
            <a:tbl>
              <a:tblPr firstRow="1" bandRow="0"/>
              <a:tblGrid>
                <a:gridCol w="3017520"/>
                <a:gridCol w="32918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Design → Mark as Date Table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Khai báo Calendar là bảng lịch: mỗi ngày một dòng, liên tục (731 ngày ✔)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DATESYTD(Calendar[Date])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Từ đầu năm tới ngày cuối của ô → lũy kế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DATEADD(Calendar[Date], -1, YEAR)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Lùi các ngày của ô một năm → cùng kỳ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8001000" y="1417320"/>
            <a:ext cx="3648456" cy="17373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183879" y="1508760"/>
            <a:ext cx="3282696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Hộp Mark as Date Table, Date column = Date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Power Pivot, tab Calendar → Design → S27a_mark_date_table.png</a:t>
            </a:r>
          </a:p>
        </p:txBody>
      </p:sp>
      <p:graphicFrame>
        <p:nvGraphicFramePr>
          <p:cNvPr id="7" name="Measures"/>
          <p:cNvGraphicFramePr>
            <a:graphicFrameLocks noGrp="1"/>
          </p:cNvGraphicFramePr>
          <p:nvPr/>
        </p:nvGraphicFramePr>
        <p:xfrm>
          <a:off x="1527048" y="3291840"/>
          <a:ext cx="6309360" cy="1755648"/>
        </p:xfrm>
        <a:graphic>
          <a:graphicData uri="http://schemas.openxmlformats.org/drawingml/2006/table">
            <a:tbl>
              <a:tblPr firstRow="1" bandRow="0"/>
              <a:tblGrid>
                <a:gridCol w="1600200"/>
                <a:gridCol w="470916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YTD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DATESYTD(Calendar[Date]))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DATEADD(Calendar[Date], -1, YEAR))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IF(ISBLANK([Total Revenue]), BLANK(), DIVIDE([Total Revenue] - [Revenue LY], [Revenue LY]))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Image placeholder [CHỤP]"/>
          <p:cNvSpPr/>
          <p:nvPr/>
        </p:nvSpPr>
        <p:spPr>
          <a:xfrm>
            <a:off x="8001000" y="3291840"/>
            <a:ext cx="3648456" cy="18288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183879" y="3383280"/>
            <a:ext cx="3282696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PV_YoY T1–T4/2025: Revenue, LY, YTD, YoY %; YTD T4 1.238.419.000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PV_YoY → S27b_yoy_ytd.png</a:t>
            </a:r>
          </a:p>
        </p:txBody>
      </p:sp>
      <p:sp>
        <p:nvSpPr>
          <p:cNvPr id="10" name="TIP callout"/>
          <p:cNvSpPr/>
          <p:nvPr/>
        </p:nvSpPr>
        <p:spPr>
          <a:xfrm>
            <a:off x="1527048" y="525780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349240"/>
            <a:ext cx="4325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YoY T1 +42,8% · T2 −0,9% · T3 +13,7% · T4 +24,0%; YTD T4 +21,0%. Không chặn ô trống: T5 = −100%.</a:t>
            </a:r>
          </a:p>
        </p:txBody>
      </p:sp>
      <p:sp>
        <p:nvSpPr>
          <p:cNvPr id="13" name="PRO TIP callout"/>
          <p:cNvSpPr/>
          <p:nvPr/>
        </p:nvSpPr>
        <p:spPr>
          <a:xfrm>
            <a:off x="6784848" y="5257800"/>
            <a:ext cx="48646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 TIP chip"/>
          <p:cNvSpPr/>
          <p:nvPr/>
        </p:nvSpPr>
        <p:spPr>
          <a:xfrm>
            <a:off x="6894576" y="536752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5" name="PRO TIP text"/>
          <p:cNvSpPr txBox="1"/>
          <p:nvPr/>
        </p:nvSpPr>
        <p:spPr>
          <a:xfrm>
            <a:off x="7991856" y="534924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SAMEPERIODLASTYEAR cho cùng kết quả với DATEADD lùi 1 năm.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Power Pivot → Design → Mark as Date Table; sheet PV_YoY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Like-for-like: ST12 và ô YoY trống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TIME INTELLIGENCE</a:t>
            </a:r>
          </a:p>
        </p:txBody>
      </p:sp>
      <p:sp>
        <p:nvSpPr>
          <p:cNvPr id="4" name="Image placeholder [CHỤP]"/>
          <p:cNvSpPr/>
          <p:nvPr/>
        </p:nvSpPr>
        <p:spPr>
          <a:xfrm>
            <a:off x="1527048" y="1463040"/>
            <a:ext cx="6309360" cy="3794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709928" y="1554480"/>
            <a:ext cx="5943600" cy="3611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PV_YoY: Rows Store_Code, Filters Nam = 2025 và Thang 1–4; Total Revenue, Revenue LY, Revenue YoY %; dòng ST12 hai ô trống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PV_YoY → S28_yoy_cua_hang.png</a:t>
            </a:r>
          </a:p>
        </p:txBody>
      </p:sp>
      <p:sp>
        <p:nvSpPr>
          <p:cNvPr id="6" name="Stat card"/>
          <p:cNvSpPr/>
          <p:nvPr/>
        </p:nvSpPr>
        <p:spPr>
          <a:xfrm>
            <a:off x="8001000" y="1463040"/>
            <a:ext cx="3648456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183879" y="1554480"/>
            <a:ext cx="328269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ST12 khai trương 01/06/2024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79.399.000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T1–T4/2025 · không có kỳ gốc</a:t>
            </a:r>
          </a:p>
        </p:txBody>
      </p:sp>
      <p:sp>
        <p:nvSpPr>
          <p:cNvPr id="8" name="Stat card"/>
          <p:cNvSpPr/>
          <p:nvPr/>
        </p:nvSpPr>
        <p:spPr>
          <a:xfrm>
            <a:off x="8001000" y="2743200"/>
            <a:ext cx="3648456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183879" y="2834640"/>
            <a:ext cx="328269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YTD T4 · cả chuỗi 12 cửa hàng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+21,0%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gồm cả ST12</a:t>
            </a:r>
          </a:p>
        </p:txBody>
      </p:sp>
      <p:sp>
        <p:nvSpPr>
          <p:cNvPr id="10" name="Stat card"/>
          <p:cNvSpPr/>
          <p:nvPr/>
        </p:nvSpPr>
        <p:spPr>
          <a:xfrm>
            <a:off x="8001000" y="4023360"/>
            <a:ext cx="3648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183879" y="4114800"/>
            <a:ext cx="32826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YTD T4 · like-for-like 11 cửa hàng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+13,3%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chỉ cửa hàng có đủ hai kỳ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D2: thấy ô trống, hỏi vì sao trước khi kết luận; thấy tổng đẹp, hỏi tổng gồm những gì. ST10 +37,9% · ST07 −3,2% · ST04 −1,5%.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PV_YoY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KPI dictionary: một định nghĩa, mọi báo cáo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dictionary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KPI DICTIONARY</a:t>
            </a:r>
          </a:p>
        </p:txBody>
      </p:sp>
      <p:graphicFrame>
        <p:nvGraphicFramePr>
          <p:cNvPr id="4" name="KPI dictionary"/>
          <p:cNvGraphicFramePr>
            <a:graphicFrameLocks noGrp="1"/>
          </p:cNvGraphicFramePr>
          <p:nvPr/>
        </p:nvGraphicFramePr>
        <p:xfrm>
          <a:off x="1527048" y="1371600"/>
          <a:ext cx="10122408" cy="3072384"/>
        </p:xfrm>
        <a:graphic>
          <a:graphicData uri="http://schemas.openxmlformats.org/drawingml/2006/table">
            <a:tbl>
              <a:tblPr firstRow="1" bandRow="0"/>
              <a:tblGrid>
                <a:gridCol w="2057400"/>
                <a:gridCol w="4023360"/>
                <a:gridCol w="2377440"/>
                <a:gridCol w="166420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Measure (DAX)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Dimensions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Total 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SUM(Sales[Revenue])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category,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= Total 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Total Orders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DISTINCTCOUNT(Sales[Order_ID])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1.000 đơn/tháng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Avg Order Value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Orders])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300.000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Gross Margin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[Total COGS], [Total 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category, region,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[Revenue LY], [Revenue LY])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category,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+10%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Active Customers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DISTINCTCOUNT(Sales[Customer_ID])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segment,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700 KH/tháng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vs Target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C0006"/>
                          </a:solidFill>
                          <a:latin typeface="Arial"/>
                        </a:rPr>
                        <a:t>store, region, month — KHÔNG category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4526280"/>
            <a:ext cx="3017520" cy="16002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4617720"/>
            <a:ext cx="26517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Rows Calendar[Nam]: Gross Margin % 31,2% · 34,1%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PV_YoY → S30_gm_theo_nam.png</a:t>
            </a:r>
          </a:p>
        </p:txBody>
      </p:sp>
      <p:sp>
        <p:nvSpPr>
          <p:cNvPr id="7" name="Card D2"/>
          <p:cNvSpPr/>
          <p:nvPr/>
        </p:nvSpPr>
        <p:spPr>
          <a:xfrm>
            <a:off x="4681728" y="4526280"/>
            <a:ext cx="6967728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4846320" y="4636008"/>
            <a:ext cx="6638544" cy="1380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D2 — kiểm giả định (câu chuyện #5)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B2230"/>
                </a:solidFill>
                <a:latin typeface="Arial"/>
              </a:rPr>
              <a:t>GM% 2024: 31,2% → 2025: 34,1%. Giá vốn chỉ có MỘT bảng (Product[Unit_Cost]) cho cả hai năm, giá bán 2025 cao hơn 2024 khoảng 3,9% → ghi vào cột “Giới hạn”.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Course Plan, Phụ lục C · owner, ngưỡng Warning/Critical: KPI Definition Card (B2) · Ảnh: Demo/B5_Demo_DAX.xlsx, sheet PV_YoY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1: Hoàn thành bộ 6 KPI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1732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192024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Viết 3 measure (bảng Sales): Total Orders = DISTINCTCOUNT(Sales[Order_ID]) · Avg Order Value = DIVIDE([Total Revenue], [Total Orders]) · Active Customers = DISTINCTCOUNT(Sales[Customer_ID]).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Sheet mới PV_KPI_Thang (From Data Model): Filters Calendar[Nam] = 2025 · Rows Calendar[Thang] (lọc 1–4) · Values: 6 KPI.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3. </a:t>
            </a:r>
            <a:r>
              <a:rPr sz="1400" b="0">
                <a:solidFill>
                  <a:srgbClr val="1B2230"/>
                </a:solidFill>
                <a:latin typeface="Arial"/>
              </a:rPr>
              <a:t>Kiểm tay AOV: lọc Product[Category] = Bánh kẹo, Calendar[Quy] = 1 → Total Revenue ÷ Total Orders = AOV?</a:t>
            </a:r>
          </a:p>
        </p:txBody>
      </p:sp>
      <p:graphicFrame>
        <p:nvGraphicFramePr>
          <p:cNvPr id="6" name="Check table"/>
          <p:cNvGraphicFramePr>
            <a:graphicFrameLocks noGrp="1"/>
          </p:cNvGraphicFramePr>
          <p:nvPr/>
        </p:nvGraphicFramePr>
        <p:xfrm>
          <a:off x="6556248" y="1417320"/>
          <a:ext cx="5093208" cy="2057400"/>
        </p:xfrm>
        <a:graphic>
          <a:graphicData uri="http://schemas.openxmlformats.org/drawingml/2006/table">
            <a:tbl>
              <a:tblPr firstRow="1" bandRow="0"/>
              <a:tblGrid>
                <a:gridCol w="411480"/>
                <a:gridCol w="1188720"/>
                <a:gridCol w="685800"/>
                <a:gridCol w="822960"/>
                <a:gridCol w="685800"/>
                <a:gridCol w="731520"/>
                <a:gridCol w="566928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Orders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AOV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GM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425.850.000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1.398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304.614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+42,8%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245.996.000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823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298.902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−0,9%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605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269.608.000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923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292.100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296.965.000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966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307.417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OV check"/>
          <p:cNvSpPr/>
          <p:nvPr/>
        </p:nvSpPr>
        <p:spPr>
          <a:xfrm>
            <a:off x="6556248" y="3657600"/>
            <a:ext cx="5093208" cy="160020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739128" y="3749039"/>
            <a:ext cx="472744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Kiểm tay — Bánh kẹo, Quý 1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338.733.000 ÷ 1.739 đơn = </a:t>
            </a:r>
            <a:r>
              <a:rPr sz="1500" b="1">
                <a:solidFill>
                  <a:srgbClr val="2E7D32"/>
                </a:solidFill>
                <a:latin typeface="Arial"/>
              </a:rPr>
              <a:t>194.786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AVERAGE(Sales[Revenue]) = 153.830 — trung bình một DÒNG, không phải một ĐƠN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Kiểm tra: Filters Calendar[Nam] = 2025, Rows Calendar[Thang] 1–4 · KH = Active Customers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2: Đối soát với KPI_SUMIFS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1732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1920240"/>
            <a:ext cx="6309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Sheet mới PV_DoiSoat_B2 (From Data Model): Filters Nam = 2025, Quy = 1 · Rows Store[Region] · Columns Calendar[Thang] · Values: Total Revenue, Total Orders, Avg Order Value, Gross Margin %.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GETPIVOTDATA (gõ =, bấm ô Pivot) trừ ô KPI_SUMIFS: Bắc × 3 (D6) · Doanh thu Quý 1 (E9) · Số đơn (E16) · GM% (E30) → phải bằng 0.</a:t>
            </a:r>
          </a:p>
        </p:txBody>
      </p:sp>
      <p:sp>
        <p:nvSpPr>
          <p:cNvPr id="6" name="Checkbox 1"/>
          <p:cNvSpPr/>
          <p:nvPr/>
        </p:nvSpPr>
        <p:spPr>
          <a:xfrm>
            <a:off x="1527048" y="427939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984248" y="4160520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Diagram View: hình ngôi sao, 6 bảng, 6 relationship; Sales và Target gặp nhau qua Store, Calendar</a:t>
            </a:r>
          </a:p>
        </p:txBody>
      </p:sp>
      <p:sp>
        <p:nvSpPr>
          <p:cNvPr id="8" name="Checkbox 2"/>
          <p:cNvSpPr/>
          <p:nvPr/>
        </p:nvSpPr>
        <p:spPr>
          <a:xfrm>
            <a:off x="1527048" y="484632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984248" y="4727448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6 KPI + Total Target, Revenue vs Target %, Variance là explicit measure, có định dạng</a:t>
            </a:r>
          </a:p>
        </p:txBody>
      </p:sp>
      <p:sp>
        <p:nvSpPr>
          <p:cNvPr id="10" name="Checkbox 3"/>
          <p:cNvSpPr/>
          <p:nvPr/>
        </p:nvSpPr>
        <p:spPr>
          <a:xfrm>
            <a:off x="1527048" y="541324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984248" y="5294376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Đối soát với KPI_SUMIFS: chênh lệch 0</a:t>
            </a:r>
          </a:p>
        </p:txBody>
      </p:sp>
      <p:sp>
        <p:nvSpPr>
          <p:cNvPr id="12" name="Check box"/>
          <p:cNvSpPr/>
          <p:nvPr/>
        </p:nvSpPr>
        <p:spPr>
          <a:xfrm>
            <a:off x="8110727" y="1417320"/>
            <a:ext cx="3538728" cy="4617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8293608" y="1554480"/>
            <a:ext cx="317296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 — Quý 1/2025</a:t>
            </a:r>
          </a:p>
          <a:p>
            <a:pPr>
              <a:spcBef>
                <a:spcPts val="800"/>
              </a:spcBef>
            </a:pPr>
            <a:r>
              <a:rPr sz="2400" b="1">
                <a:solidFill>
                  <a:srgbClr val="203864"/>
                </a:solidFill>
                <a:latin typeface="Arial"/>
              </a:rPr>
              <a:t>941.454.000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3.144 đơn · AOV 299.445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Gross Margin 34,18%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Bắc × 3: 90.210.000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2E7D32"/>
                </a:solidFill>
                <a:latin typeface="Arial"/>
              </a:rPr>
              <a:t>Khớp = B2 và B5 cùng nói một sự thật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Đối chiếu: Practice/B5_MCI_Mart_Answer.xlsx, sheet Kiem_tra_B5 (đủ 64 ô Miền × Tháng × 4 KPI)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Quiz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câu hỏi nhanh · câu 3–4 là tình huống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1: Measure vs Column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KPI Gross Margin % nên viết thế nào trong Data Model?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Calculated column GM từng dòng, rồi lấy Average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Calculated column GM từng dòng, rồi lấy Sum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Measure: DIVIDE(tổng doanh thu − tổng giá vốn, tổng doanh thu)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Implicit measure Average of Revenue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2: Hai bảng fact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Sales và Target đều có cột Store_Code. Nối thế nào để phân tích doanh thu so với target theo cửa hàng?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Relationship thẳng giữa Sales[Store_Code] và Target[Store_Code]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Nối cả hai vào lookup chung Store (và Calendar), lọc qua lookup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Merge Target vào Sales bằng Power Query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Không nối được, phải dùng SUMIFS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Tình huống — Con số lặp lại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Pivot Quý 1/2025: Rows = Product[Category], Values = Total Target. Sáu dòng đều ra 936.000.000. Vì sao?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Thiếu Mark as Date Table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Measure Total Target viết sai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Target có grain tháng × cửa hàng, không có chiều sản phẩm; Product không lọc được Target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Phải Refresh All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Tình huống — Tổng lệch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Active Customers Quý 1 theo miền: 492 + 307 + 657 = 1.456. Nhưng Grand Total ghi 1.208. Kết luận nào đúng?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Pivot bị lỗi, phải Refresh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Thiếu relationship Sales – Customer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Không lỗi: khách mua ở nhiều miền chỉ đếm một lần ở dòng tổng; DISTINCTCOUNT không cộng dồn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Phải đổi sang SUM(Sales[Customer_ID])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&amp; insight của bạn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Điểm chính cần nhớ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(1) Star schema: fact ở giữa, lookup xung quanh, 1-*; bộ lọc chảy lookup → fact. Hai fact gặp nhau qua lookup chung.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(2) Calculated column tính từng dòng; MEASURE tính từng ô. Tỷ lệ và đếm phân biệt luôn là measure.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(3) Filter context = tọa độ của ô. CALCULATE đổi bộ lọc; ALL bỏ bộ lọc.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(4) Time intelligence cần Calendar liên tục; hàng/cột lấy từ Calendar, không lấy từ fact.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(5) KPI dictionary: mỗi KPI một measure, một định nghĩa, kèm giới hạn — đối soát trước khi dùng.</a:t>
            </a:r>
          </a:p>
        </p:txBody>
      </p:sp>
      <p:sp>
        <p:nvSpPr>
          <p:cNvPr id="6" name="Insight box"/>
          <p:cNvSpPr/>
          <p:nvPr/>
        </p:nvSpPr>
        <p:spPr>
          <a:xfrm>
            <a:off x="6373368" y="1508760"/>
            <a:ext cx="5276088" cy="3474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556248" y="1645920"/>
            <a:ext cx="49103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Insight của bạn (1 câu)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556248" y="2148840"/>
            <a:ext cx="49103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B2230"/>
                </a:solidFill>
                <a:latin typeface="Arial"/>
              </a:rPr>
              <a:t>“Theo Revenue vs Target %, ___ (con số), nguyên nhân khả dĩ là ___, nên ___ (hàm ý).”</a:t>
            </a:r>
          </a:p>
        </p:txBody>
      </p:sp>
      <p:sp>
        <p:nvSpPr>
          <p:cNvPr id="9" name="Tag Con số"/>
          <p:cNvSpPr/>
          <p:nvPr/>
        </p:nvSpPr>
        <p:spPr>
          <a:xfrm>
            <a:off x="6556248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Con số</a:t>
            </a:r>
          </a:p>
        </p:txBody>
      </p:sp>
      <p:sp>
        <p:nvSpPr>
          <p:cNvPr id="10" name="Tag Nguyên nhân"/>
          <p:cNvSpPr/>
          <p:nvPr/>
        </p:nvSpPr>
        <p:spPr>
          <a:xfrm>
            <a:off x="8238744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Nguyên nhân</a:t>
            </a:r>
          </a:p>
        </p:txBody>
      </p:sp>
      <p:sp>
        <p:nvSpPr>
          <p:cNvPr id="11" name="Tag Hàm ý"/>
          <p:cNvSpPr/>
          <p:nvPr/>
        </p:nvSpPr>
        <p:spPr>
          <a:xfrm>
            <a:off x="9921240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Hàm ý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373368" y="5120640"/>
            <a:ext cx="5276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Gợi ý: so tháng 1 với tháng 2, rồi mở Calendar xem Tết rơi vào ngày nào.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Buổi sau: Dashboard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203864"/>
                </a:solidFill>
                <a:latin typeface="Arial"/>
              </a:rPr>
              <a:t>“Giám đốc bán hàng có 5 giây. Họ cần thấy gì đầu tiên?”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3317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1B2230"/>
                </a:solidFill>
                <a:latin typeface="Arial"/>
              </a:rPr>
              <a:t>Hôm nay số đã đúng và thống nhất. </a:t>
            </a:r>
            <a:r>
              <a:rPr sz="1500" b="0">
                <a:solidFill>
                  <a:srgbClr val="1B2230"/>
                </a:solidFill>
                <a:latin typeface="Arial"/>
              </a:rPr>
              <a:t>Buổi 6: trình bày cho người ra quyết định — KPI card bằng CUBEVALUE đọc thẳng các measure hôm nay.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291840"/>
            <a:ext cx="64008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Về nhà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Bài tập về nhà (bắt buộc): </a:t>
            </a:r>
            <a:r>
              <a:rPr sz="1400" b="0">
                <a:solidFill>
                  <a:srgbClr val="1B2230"/>
                </a:solidFill>
                <a:latin typeface="Arial"/>
              </a:rPr>
              <a:t>B5_BTVN_MCI_Mart_KPI_T1_T4_2025.xlsx — báo cáo tháng 1–4 của phòng Kinh doanh lệch số Tài chính: đối soát, tìm 4 lỗi, sửa mô hình và measure, KPI dictionary, 3 câu hỏi cho Sales Director, 1 câu insight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Tập trước capstone: </a:t>
            </a:r>
            <a:r>
              <a:rPr sz="1400" b="0">
                <a:solidFill>
                  <a:srgbClr val="1B2230"/>
                </a:solidFill>
                <a:latin typeface="Arial"/>
              </a:rPr>
              <a:t>C3 Mô hình · C4 KPI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Nộp trước Buổi 6 tại hocvien.mcivietnam.com · đọc handout B5 · tick “Checklist trước Buổi 6”</a:t>
            </a:r>
          </a:p>
        </p:txBody>
      </p:sp>
      <p:sp>
        <p:nvSpPr>
          <p:cNvPr id="7" name="Brick B5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B5 · Star schema + DAX</a:t>
            </a:r>
          </a:p>
        </p:txBody>
      </p:sp>
      <p:sp>
        <p:nvSpPr>
          <p:cNvPr id="9" name="Brick B6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B6 · Dashboard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293608" y="52120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File đáp án B5 (Practice/B5_MCI_Mart_Answer.xlsx) là file khởi đầu Buổi 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271072606]">
  <a:themeElements>
    <a:clrScheme name="MCI Excel BI">
      <a:dk1>
        <a:srgbClr val="1B2230"/>
      </a:dk1>
      <a:lt1>
        <a:srgbClr val="FFFFFF"/>
      </a:lt1>
      <a:dk2>
        <a:srgbClr val="203864"/>
      </a:dk2>
      <a:lt2>
        <a:srgbClr val="F3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1F6FB2"/>
      </a:hlink>
      <a:folHlink>
        <a:srgbClr val="4A3AA7"/>
      </a:folHlink>
    </a:clrScheme>
    <a:fontScheme name="MCI Excel BI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E0948F-3C23-C840-978A-6EB6AAFD5E1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0c363d-f4d0-4e96-80cc-6a7c60642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10047</Words>
  <Application>Microsoft Office PowerPoint</Application>
  <PresentationFormat>Widescreen</PresentationFormat>
  <Paragraphs>707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 [1790271072606]</vt:lpstr>
      <vt:lpstr>Excel for Business Intelligence Analyst</vt:lpstr>
      <vt:lpstr>Câu hỏi mở buổi</vt:lpstr>
      <vt:lpstr>Quy trình BI 5 bước</vt:lpstr>
      <vt:lpstr>Bản đồ 7 viên gạch &amp; thang 5 tầng câu hỏi</vt:lpstr>
      <vt:lpstr>Case khóa học: chuỗi bán lẻ MCI Mart</vt:lpstr>
      <vt:lpstr>1. Excel dùng cho BI: phiên bản &amp; chuẩn bị máy</vt:lpstr>
      <vt:lpstr>So sánh phiên bản Excel cho BI</vt:lpstr>
      <vt:lpstr>Xác nhận kiểm tra máy</vt:lpstr>
      <vt:lpstr>2. Giao diện Excel: những gì người làm BI dùng hằng ngày</vt:lpstr>
      <vt:lpstr>Giao diện chính</vt:lpstr>
      <vt:lpstr>8 tab Ribbon: tab nào dùng ở buổi nào</vt:lpstr>
      <vt:lpstr>3. Phím tắt: làm việc với dữ liệu lớn không cần chuột</vt:lpstr>
      <vt:lpstr>Ctrl Shortcuts</vt:lpstr>
      <vt:lpstr>Fn Shortcuts</vt:lpstr>
      <vt:lpstr>Alt Key Tips &amp; Quick Access Toolbar</vt:lpstr>
      <vt:lpstr>Nghỉ 10 phút</vt:lpstr>
      <vt:lpstr>4. Công thức: viết đúng, sao chép đúng, tìm lỗi nhanh</vt:lpstr>
      <vt:lpstr>Formula Syntax</vt:lpstr>
      <vt:lpstr>Reference Types</vt:lpstr>
      <vt:lpstr>Common Errors</vt:lpstr>
      <vt:lpstr>Auditing Tools (1)</vt:lpstr>
      <vt:lpstr>Auditing Tools (2)</vt:lpstr>
      <vt:lpstr>Chốt Phần 4</vt:lpstr>
      <vt:lpstr>5. Dữ liệu "sạch về cấu trúc": nền móng của mọi phân tích</vt:lpstr>
      <vt:lpstr>Good vs Bad Data Structure</vt:lpstr>
      <vt:lpstr>Excel Table</vt:lpstr>
      <vt:lpstr>Data Validation: chặn dữ liệu sai từ gốc</vt:lpstr>
      <vt:lpstr>Circle Invalid Data: tìm lỗi đã có sẵn</vt:lpstr>
      <vt:lpstr>Thực hành 1: Làm sạch cấu trúc file case</vt:lpstr>
      <vt:lpstr>Thực hành 2: Công thức &amp; kiểm soát</vt:lpstr>
      <vt:lpstr>Chữa bài nhanh: checklist brick output B1</vt:lpstr>
      <vt:lpstr>Excel Quiz Challenge</vt:lpstr>
      <vt:lpstr>Question 1: Cell References</vt:lpstr>
      <vt:lpstr>Question 2: Cell References</vt:lpstr>
      <vt:lpstr>Question 3: Shortcuts</vt:lpstr>
      <vt:lpstr>Question 4: Auditing</vt:lpstr>
      <vt:lpstr>Question 5: Common Errors</vt:lpstr>
      <vt:lpstr>Question 6: Tình huống — Data Structure</vt:lpstr>
      <vt:lpstr>Question 7: Tình huống — Automation</vt:lpstr>
      <vt:lpstr>Tổng kết &amp; insight của bạn</vt:lpstr>
      <vt:lpstr>Buổi sau: định nghĩa KPI và tính bằng SUMIFS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Nhan Le</dc:creator>
  <cp:lastModifiedBy>Leo Pham</cp:lastModifiedBy>
  <cp:revision>1</cp:revision>
  <dcterms:created xsi:type="dcterms:W3CDTF">2026-09-24T17:25:29Z</dcterms:created>
  <dcterms:modified xsi:type="dcterms:W3CDTF">2026-09-27T12:46:07Z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2026-09-24T17:26:47Z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4d9052f2-e654-41cc-b328-7191ea09daba</vt:lpwstr>
  </property>
  <property fmtid="{D5CDD505-2E9C-101B-9397-08002B2CF9AE}" pid="7" name="MSIP_Label_defa4170-0d19-0005-0004-bc88714345d2_ActionId">
    <vt:lpwstr>c1eb70c7-4859-476b-af0b-43240bcea39d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