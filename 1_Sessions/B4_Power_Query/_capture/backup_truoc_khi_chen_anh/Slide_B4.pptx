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3"/>
  </p:notesMasterIdLst>
  <p:sldIdLst>
    <p:sldId id="302" r:id="rId2"/>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9"/>
    <p:sldId id="337" r:id="rId8"/>
    <p:sldId id="338" r:id="rId7"/>
    <p:sldId id="339" r:id="rId6"/>
    <p:sldId id="34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359BD-AC51-4C4E-B5CF-7451A28AFD30}" v="26" dt="2026-09-27T06:48:4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39.xml"/><Relationship Id="rId6" Type="http://schemas.openxmlformats.org/officeDocument/2006/relationships/slide" Target="slides/slide38.xml"/><Relationship Id="rId7" Type="http://schemas.openxmlformats.org/officeDocument/2006/relationships/slide" Target="slides/slide37.xml"/><Relationship Id="rId8" Type="http://schemas.openxmlformats.org/officeDocument/2006/relationships/slide" Target="slides/slide36.xml"/><Relationship Id="rId9" Type="http://schemas.openxmlformats.org/officeDocument/2006/relationships/slide" Target="slides/slide35.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6/11/relationships/changesInfo" Target="changesInfos/changesInfo1.xml"/><Relationship Id="rId4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n Pham Le" userId="6366da15f1f739f9" providerId="LiveId" clId="{B7E72FC1-F79A-4602-B51C-6ED1DC3BF548}"/>
    <pc:docChg chg="undo custSel modSld">
      <pc:chgData name="Nhan Pham Le" userId="6366da15f1f739f9" providerId="LiveId" clId="{B7E72FC1-F79A-4602-B51C-6ED1DC3BF548}" dt="2026-09-27T12:45:57.791" v="170" actId="1076"/>
      <pc:docMkLst>
        <pc:docMk/>
      </pc:docMkLst>
      <pc:sldChg chg="modSp mod">
        <pc:chgData name="Nhan Pham Le" userId="6366da15f1f739f9" providerId="LiveId" clId="{B7E72FC1-F79A-4602-B51C-6ED1DC3BF548}" dt="2026-09-27T06:10:51.550" v="155" actId="20577"/>
        <pc:sldMkLst>
          <pc:docMk/>
          <pc:sldMk cId="2243051540" sldId="302"/>
        </pc:sldMkLst>
        <pc:spChg chg="mod">
          <ac:chgData name="Nhan Pham Le" userId="6366da15f1f739f9" providerId="LiveId" clId="{B7E72FC1-F79A-4602-B51C-6ED1DC3BF548}" dt="2026-09-27T06:10:51.550" v="155" actId="20577"/>
          <ac:spMkLst>
            <pc:docMk/>
            <pc:sldMk cId="2243051540" sldId="302"/>
            <ac:spMk id="15" creationId="{00000000-0000-0000-0000-000000000000}"/>
          </ac:spMkLst>
        </pc:spChg>
      </pc:sldChg>
      <pc:sldChg chg="modNotesTx">
        <pc:chgData name="Nhan Pham Le" userId="6366da15f1f739f9" providerId="LiveId" clId="{B7E72FC1-F79A-4602-B51C-6ED1DC3BF548}" dt="2026-09-27T04:16:20.387" v="153" actId="20577"/>
        <pc:sldMkLst>
          <pc:docMk/>
          <pc:sldMk cId="2890397441" sldId="305"/>
        </pc:sldMkLst>
      </pc:sldChg>
      <pc:sldChg chg="modSp mod">
        <pc:chgData name="Nhan Pham Le" userId="6366da15f1f739f9" providerId="LiveId" clId="{B7E72FC1-F79A-4602-B51C-6ED1DC3BF548}" dt="2026-09-27T06:48:42.492" v="164" actId="20577"/>
        <pc:sldMkLst>
          <pc:docMk/>
          <pc:sldMk cId="1101845905" sldId="308"/>
        </pc:sldMkLst>
        <pc:spChg chg="mod">
          <ac:chgData name="Nhan Pham Le" userId="6366da15f1f739f9" providerId="LiveId" clId="{B7E72FC1-F79A-4602-B51C-6ED1DC3BF548}" dt="2026-09-27T06:48:42.492" v="164" actId="20577"/>
          <ac:spMkLst>
            <pc:docMk/>
            <pc:sldMk cId="1101845905" sldId="308"/>
            <ac:spMk id="16" creationId="{00000000-0000-0000-0000-000000000000}"/>
          </ac:spMkLst>
        </pc:spChg>
      </pc:sldChg>
      <pc:sldChg chg="addSp delSp modSp mod">
        <pc:chgData name="Nhan Pham Le" userId="6366da15f1f739f9" providerId="LiveId" clId="{B7E72FC1-F79A-4602-B51C-6ED1DC3BF548}" dt="2026-09-26T03:51:11.711" v="79" actId="1076"/>
        <pc:sldMkLst>
          <pc:docMk/>
          <pc:sldMk cId="2305079537" sldId="309"/>
        </pc:sldMkLst>
        <pc:spChg chg="del">
          <ac:chgData name="Nhan Pham Le" userId="6366da15f1f739f9" providerId="LiveId" clId="{B7E72FC1-F79A-4602-B51C-6ED1DC3BF548}" dt="2026-09-26T03:50:42.316" v="71" actId="478"/>
          <ac:spMkLst>
            <pc:docMk/>
            <pc:sldMk cId="2305079537" sldId="309"/>
            <ac:spMk id="15" creationId="{00000000-0000-0000-0000-000000000000}"/>
          </ac:spMkLst>
        </pc:spChg>
        <pc:spChg chg="add del">
          <ac:chgData name="Nhan Pham Le" userId="6366da15f1f739f9" providerId="LiveId" clId="{B7E72FC1-F79A-4602-B51C-6ED1DC3BF548}" dt="2026-09-26T03:50:12.435" v="55" actId="478"/>
          <ac:spMkLst>
            <pc:docMk/>
            <pc:sldMk cId="2305079537" sldId="309"/>
            <ac:spMk id="19" creationId="{00000000-0000-0000-0000-000000000000}"/>
          </ac:spMkLst>
        </pc:spChg>
        <pc:spChg chg="del">
          <ac:chgData name="Nhan Pham Le" userId="6366da15f1f739f9" providerId="LiveId" clId="{B7E72FC1-F79A-4602-B51C-6ED1DC3BF548}" dt="2026-09-26T03:49:31.084" v="23" actId="478"/>
          <ac:spMkLst>
            <pc:docMk/>
            <pc:sldMk cId="2305079537" sldId="309"/>
            <ac:spMk id="26" creationId="{00000000-0000-0000-0000-000000000000}"/>
          </ac:spMkLst>
        </pc:spChg>
        <pc:picChg chg="add mod">
          <ac:chgData name="Nhan Pham Le" userId="6366da15f1f739f9" providerId="LiveId" clId="{B7E72FC1-F79A-4602-B51C-6ED1DC3BF548}" dt="2026-09-26T03:51:00.474" v="73" actId="1076"/>
          <ac:picMkLst>
            <pc:docMk/>
            <pc:sldMk cId="2305079537" sldId="309"/>
            <ac:picMk id="3" creationId="{3C617E78-B8BD-D553-69B2-2A5B3120DB34}"/>
          </ac:picMkLst>
        </pc:picChg>
        <pc:picChg chg="add del mod">
          <ac:chgData name="Nhan Pham Le" userId="6366da15f1f739f9" providerId="LiveId" clId="{B7E72FC1-F79A-4602-B51C-6ED1DC3BF548}" dt="2026-09-26T03:49:54.698" v="51" actId="931"/>
          <ac:picMkLst>
            <pc:docMk/>
            <pc:sldMk cId="2305079537" sldId="309"/>
            <ac:picMk id="5" creationId="{989499CC-C265-5E62-B7BC-31A300092470}"/>
          </ac:picMkLst>
        </pc:picChg>
        <pc:picChg chg="add mod">
          <ac:chgData name="Nhan Pham Le" userId="6366da15f1f739f9" providerId="LiveId" clId="{B7E72FC1-F79A-4602-B51C-6ED1DC3BF548}" dt="2026-09-26T03:50:39.909" v="70" actId="1076"/>
          <ac:picMkLst>
            <pc:docMk/>
            <pc:sldMk cId="2305079537" sldId="309"/>
            <ac:picMk id="6" creationId="{DD883AE4-6470-0C84-0E26-C702578F279A}"/>
          </ac:picMkLst>
        </pc:picChg>
        <pc:picChg chg="add mod">
          <ac:chgData name="Nhan Pham Le" userId="6366da15f1f739f9" providerId="LiveId" clId="{B7E72FC1-F79A-4602-B51C-6ED1DC3BF548}" dt="2026-09-26T03:51:11.711" v="79" actId="1076"/>
          <ac:picMkLst>
            <pc:docMk/>
            <pc:sldMk cId="2305079537" sldId="309"/>
            <ac:picMk id="8" creationId="{3F45C3E1-B429-9813-BF6A-49EEE0488E98}"/>
          </ac:picMkLst>
        </pc:picChg>
      </pc:sldChg>
      <pc:sldChg chg="addSp delSp modSp mod">
        <pc:chgData name="Nhan Pham Le" userId="6366da15f1f739f9" providerId="LiveId" clId="{B7E72FC1-F79A-4602-B51C-6ED1DC3BF548}" dt="2026-09-27T12:45:57.791" v="170" actId="1076"/>
        <pc:sldMkLst>
          <pc:docMk/>
          <pc:sldMk cId="581420438" sldId="311"/>
        </pc:sldMkLst>
        <pc:spChg chg="del">
          <ac:chgData name="Nhan Pham Le" userId="6366da15f1f739f9" providerId="LiveId" clId="{B7E72FC1-F79A-4602-B51C-6ED1DC3BF548}" dt="2026-09-26T03:24:48.767" v="5" actId="478"/>
          <ac:spMkLst>
            <pc:docMk/>
            <pc:sldMk cId="581420438" sldId="311"/>
            <ac:spMk id="13" creationId="{00000000-0000-0000-0000-000000000000}"/>
          </ac:spMkLst>
        </pc:spChg>
        <pc:picChg chg="add mod">
          <ac:chgData name="Nhan Pham Le" userId="6366da15f1f739f9" providerId="LiveId" clId="{B7E72FC1-F79A-4602-B51C-6ED1DC3BF548}" dt="2026-09-27T12:45:57.791" v="170" actId="1076"/>
          <ac:picMkLst>
            <pc:docMk/>
            <pc:sldMk cId="581420438" sldId="311"/>
            <ac:picMk id="2" creationId="{98605493-0F18-F786-A36C-68C4B37DD16E}"/>
          </ac:picMkLst>
        </pc:picChg>
      </pc:sldChg>
      <pc:sldChg chg="addSp modSp mod">
        <pc:chgData name="Nhan Pham Le" userId="6366da15f1f739f9" providerId="LiveId" clId="{B7E72FC1-F79A-4602-B51C-6ED1DC3BF548}" dt="2026-09-26T04:33:33.870" v="123" actId="1076"/>
        <pc:sldMkLst>
          <pc:docMk/>
          <pc:sldMk cId="4276141528" sldId="312"/>
        </pc:sldMkLst>
        <pc:picChg chg="add mod">
          <ac:chgData name="Nhan Pham Le" userId="6366da15f1f739f9" providerId="LiveId" clId="{B7E72FC1-F79A-4602-B51C-6ED1DC3BF548}" dt="2026-09-26T04:33:33.870" v="123" actId="1076"/>
          <ac:picMkLst>
            <pc:docMk/>
            <pc:sldMk cId="4276141528" sldId="312"/>
            <ac:picMk id="3" creationId="{86E05C74-85F6-F0AB-5F35-FCEC61971E81}"/>
          </ac:picMkLst>
        </pc:picChg>
      </pc:sldChg>
      <pc:sldChg chg="addSp delSp modSp mod">
        <pc:chgData name="Nhan Pham Le" userId="6366da15f1f739f9" providerId="LiveId" clId="{B7E72FC1-F79A-4602-B51C-6ED1DC3BF548}" dt="2026-09-26T03:58:45.692" v="88" actId="1076"/>
        <pc:sldMkLst>
          <pc:docMk/>
          <pc:sldMk cId="2738025778" sldId="313"/>
        </pc:sldMkLst>
        <pc:spChg chg="del mod">
          <ac:chgData name="Nhan Pham Le" userId="6366da15f1f739f9" providerId="LiveId" clId="{B7E72FC1-F79A-4602-B51C-6ED1DC3BF548}" dt="2026-09-26T03:58:36.896" v="84" actId="478"/>
          <ac:spMkLst>
            <pc:docMk/>
            <pc:sldMk cId="2738025778" sldId="313"/>
            <ac:spMk id="21" creationId="{00000000-0000-0000-0000-000000000000}"/>
          </ac:spMkLst>
        </pc:spChg>
        <pc:picChg chg="add mod">
          <ac:chgData name="Nhan Pham Le" userId="6366da15f1f739f9" providerId="LiveId" clId="{B7E72FC1-F79A-4602-B51C-6ED1DC3BF548}" dt="2026-09-26T03:58:45.692" v="88" actId="1076"/>
          <ac:picMkLst>
            <pc:docMk/>
            <pc:sldMk cId="2738025778" sldId="313"/>
            <ac:picMk id="2" creationId="{AAB78CDC-E109-F1A3-2B4E-ECC07A0591AD}"/>
          </ac:picMkLst>
        </pc:picChg>
      </pc:sldChg>
      <pc:sldChg chg="addSp delSp modSp mod">
        <pc:chgData name="Nhan Pham Le" userId="6366da15f1f739f9" providerId="LiveId" clId="{B7E72FC1-F79A-4602-B51C-6ED1DC3BF548}" dt="2026-09-26T04:17:16.854" v="110"/>
        <pc:sldMkLst>
          <pc:docMk/>
          <pc:sldMk cId="3127729708" sldId="314"/>
        </pc:sldMkLst>
        <pc:spChg chg="del">
          <ac:chgData name="Nhan Pham Le" userId="6366da15f1f739f9" providerId="LiveId" clId="{B7E72FC1-F79A-4602-B51C-6ED1DC3BF548}" dt="2026-09-26T04:08:34.452" v="92" actId="478"/>
          <ac:spMkLst>
            <pc:docMk/>
            <pc:sldMk cId="3127729708" sldId="314"/>
            <ac:spMk id="15" creationId="{00000000-0000-0000-0000-000000000000}"/>
          </ac:spMkLst>
        </pc:spChg>
        <pc:spChg chg="del">
          <ac:chgData name="Nhan Pham Le" userId="6366da15f1f739f9" providerId="LiveId" clId="{B7E72FC1-F79A-4602-B51C-6ED1DC3BF548}" dt="2026-09-26T04:09:20.617" v="96" actId="478"/>
          <ac:spMkLst>
            <pc:docMk/>
            <pc:sldMk cId="3127729708" sldId="314"/>
            <ac:spMk id="23" creationId="{00000000-0000-0000-0000-000000000000}"/>
          </ac:spMkLst>
        </pc:spChg>
        <pc:picChg chg="add mod">
          <ac:chgData name="Nhan Pham Le" userId="6366da15f1f739f9" providerId="LiveId" clId="{B7E72FC1-F79A-4602-B51C-6ED1DC3BF548}" dt="2026-09-26T04:17:16.854" v="106"/>
          <ac:picMkLst>
            <pc:docMk/>
            <pc:sldMk cId="3127729708" sldId="314"/>
            <ac:picMk id="2" creationId="{D9B43E15-821C-27C4-802B-45F8A890A497}"/>
          </ac:picMkLst>
        </pc:picChg>
        <pc:picChg chg="add mod">
          <ac:chgData name="Nhan Pham Le" userId="6366da15f1f739f9" providerId="LiveId" clId="{B7E72FC1-F79A-4602-B51C-6ED1DC3BF548}" dt="2026-09-26T04:17:16.854" v="110"/>
          <ac:picMkLst>
            <pc:docMk/>
            <pc:sldMk cId="3127729708" sldId="314"/>
            <ac:picMk id="4" creationId="{90577642-D658-1AD2-2A99-A06066F85288}"/>
          </ac:picMkLst>
        </pc:picChg>
      </pc:sldChg>
      <pc:sldChg chg="addSp modSp mod">
        <pc:chgData name="Nhan Pham Le" userId="6366da15f1f739f9" providerId="LiveId" clId="{B7E72FC1-F79A-4602-B51C-6ED1DC3BF548}" dt="2026-09-26T04:31:35.753" v="119" actId="1076"/>
        <pc:sldMkLst>
          <pc:docMk/>
          <pc:sldMk cId="3367633301" sldId="315"/>
        </pc:sldMkLst>
        <pc:picChg chg="add mod">
          <ac:chgData name="Nhan Pham Le" userId="6366da15f1f739f9" providerId="LiveId" clId="{B7E72FC1-F79A-4602-B51C-6ED1DC3BF548}" dt="2026-09-26T04:29:20.508" v="114" actId="1076"/>
          <ac:picMkLst>
            <pc:docMk/>
            <pc:sldMk cId="3367633301" sldId="315"/>
            <ac:picMk id="3" creationId="{2C4DBD73-1E69-54EA-EE3A-DDB5DAA27206}"/>
          </ac:picMkLst>
        </pc:picChg>
        <pc:picChg chg="add mod">
          <ac:chgData name="Nhan Pham Le" userId="6366da15f1f739f9" providerId="LiveId" clId="{B7E72FC1-F79A-4602-B51C-6ED1DC3BF548}" dt="2026-09-26T04:31:35.753" v="119" actId="1076"/>
          <ac:picMkLst>
            <pc:docMk/>
            <pc:sldMk cId="3367633301" sldId="315"/>
            <ac:picMk id="5" creationId="{4271772C-46F6-5A6B-E0CD-7A39AFBB231A}"/>
          </ac:picMkLst>
        </pc:picChg>
      </pc:sldChg>
      <pc:sldChg chg="addSp delSp modSp mod">
        <pc:chgData name="Nhan Pham Le" userId="6366da15f1f739f9" providerId="LiveId" clId="{B7E72FC1-F79A-4602-B51C-6ED1DC3BF548}" dt="2026-09-26T04:36:52.633" v="131" actId="1076"/>
        <pc:sldMkLst>
          <pc:docMk/>
          <pc:sldMk cId="4045343611" sldId="318"/>
        </pc:sldMkLst>
        <pc:spChg chg="del">
          <ac:chgData name="Nhan Pham Le" userId="6366da15f1f739f9" providerId="LiveId" clId="{B7E72FC1-F79A-4602-B51C-6ED1DC3BF548}" dt="2026-09-26T04:36:45.842" v="127" actId="478"/>
          <ac:spMkLst>
            <pc:docMk/>
            <pc:sldMk cId="4045343611" sldId="318"/>
            <ac:spMk id="26" creationId="{00000000-0000-0000-0000-000000000000}"/>
          </ac:spMkLst>
        </pc:spChg>
        <pc:picChg chg="add mod">
          <ac:chgData name="Nhan Pham Le" userId="6366da15f1f739f9" providerId="LiveId" clId="{B7E72FC1-F79A-4602-B51C-6ED1DC3BF548}" dt="2026-09-26T04:36:52.633" v="131" actId="1076"/>
          <ac:picMkLst>
            <pc:docMk/>
            <pc:sldMk cId="4045343611" sldId="318"/>
            <ac:picMk id="3" creationId="{AFC4F2DD-C53F-E88B-10F6-C3CEBA05A009}"/>
          </ac:picMkLst>
        </pc:picChg>
      </pc:sldChg>
      <pc:sldChg chg="addSp delSp modSp mod">
        <pc:chgData name="Nhan Pham Le" userId="6366da15f1f739f9" providerId="LiveId" clId="{B7E72FC1-F79A-4602-B51C-6ED1DC3BF548}" dt="2026-09-26T10:32:30.127" v="141" actId="962"/>
        <pc:sldMkLst>
          <pc:docMk/>
          <pc:sldMk cId="3317628156" sldId="322"/>
        </pc:sldMkLst>
        <pc:spChg chg="del">
          <ac:chgData name="Nhan Pham Le" userId="6366da15f1f739f9" providerId="LiveId" clId="{B7E72FC1-F79A-4602-B51C-6ED1DC3BF548}" dt="2026-09-26T10:32:04.859" v="139" actId="478"/>
          <ac:spMkLst>
            <pc:docMk/>
            <pc:sldMk cId="3317628156" sldId="322"/>
            <ac:spMk id="15" creationId="{00000000-0000-0000-0000-000000000000}"/>
          </ac:spMkLst>
        </pc:spChg>
        <pc:picChg chg="add mod">
          <ac:chgData name="Nhan Pham Le" userId="6366da15f1f739f9" providerId="LiveId" clId="{B7E72FC1-F79A-4602-B51C-6ED1DC3BF548}" dt="2026-09-26T10:32:30.127" v="141" actId="962"/>
          <ac:picMkLst>
            <pc:docMk/>
            <pc:sldMk cId="3317628156" sldId="322"/>
            <ac:picMk id="3" creationId="{EBEEDFE3-3F9B-C84C-2D4E-2A98C806E7C3}"/>
          </ac:picMkLst>
        </pc:picChg>
      </pc:sldChg>
      <pc:sldChg chg="modSp mod">
        <pc:chgData name="Nhan Pham Le" userId="6366da15f1f739f9" providerId="LiveId" clId="{B7E72FC1-F79A-4602-B51C-6ED1DC3BF548}" dt="2026-09-27T06:47:11.517" v="162" actId="20577"/>
        <pc:sldMkLst>
          <pc:docMk/>
          <pc:sldMk cId="866443025" sldId="342"/>
        </pc:sldMkLst>
        <pc:spChg chg="mod">
          <ac:chgData name="Nhan Pham Le" userId="6366da15f1f739f9" providerId="LiveId" clId="{B7E72FC1-F79A-4602-B51C-6ED1DC3BF548}" dt="2026-09-27T06:47:11.517" v="162" actId="20577"/>
          <ac:spMkLst>
            <pc:docMk/>
            <pc:sldMk cId="866443025" sldId="342"/>
            <ac:spMk id="15" creationId="{00000000-0000-0000-0000-000000000000}"/>
          </ac:spMkLst>
        </pc:spChg>
      </pc:sldChg>
      <pc:sldChg chg="modSp mod">
        <pc:chgData name="Nhan Pham Le" userId="6366da15f1f739f9" providerId="LiveId" clId="{B7E72FC1-F79A-4602-B51C-6ED1DC3BF548}" dt="2026-09-27T06:37:38.965" v="161" actId="1036"/>
        <pc:sldMkLst>
          <pc:docMk/>
          <pc:sldMk cId="1573090695" sldId="344"/>
        </pc:sldMkLst>
        <pc:spChg chg="mod">
          <ac:chgData name="Nhan Pham Le" userId="6366da15f1f739f9" providerId="LiveId" clId="{B7E72FC1-F79A-4602-B51C-6ED1DC3BF548}" dt="2026-09-27T06:37:38.965" v="161" actId="1036"/>
          <ac:spMkLst>
            <pc:docMk/>
            <pc:sldMk cId="1573090695" sldId="344"/>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E4C46-C12C-FA42-B2D3-1CBB24092E48}" type="datetimeFigureOut">
              <a:rPr lang="en-US" smtClean="0"/>
              <a:t>27/9/2026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7CC85-BE76-EA4B-8DBD-E5CC9E8FEA7A}" type="slidenum">
              <a:rPr lang="en-US" smtClean="0"/>
              <a:t>‹#›</a:t>
            </a:fld>
            <a:endParaRPr lang="en-US"/>
          </a:p>
        </p:txBody>
      </p:sp>
    </p:spTree>
    <p:extLst>
      <p:ext uri="{BB962C8B-B14F-4D97-AF65-F5344CB8AC3E}">
        <p14:creationId xmlns:p14="http://schemas.microsoft.com/office/powerpoint/2010/main" val="10910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0,5 phút.</a:t>
            </a:r>
          </a:p>
          <a:p>
            <a:r>
              <a:t>LỜI GIẢNG</a:t>
            </a:r>
          </a:p>
          <a:p>
            <a:r>
              <a:t>Chào cả lớp, chào mừng đến Buổi 4. Ba buổi trước mình đã có một bảng dữ liệu sạch, một bộ KPI, và một báo cáo Pivot rất đẹp. Nhưng có một điều bí mật: dữ liệu đó đã được ai đó dọn sẵn. Hôm nay mình học công cụ để tự dọn, và dọn đúng một lần.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Tháng nào công ty cũng có file bán hàng mới. Nếu tháng nào cũng copy-paste, sửa ngày, sửa mã cửa hàng bằng tay, thì đây là công việc không có hồi kết, và càng làm nhiều lần càng dễ sai. Câu hỏi hôm nay: làm sao dọn dữ liệu một lần, ghi lại các bước đó, để tháng sau chỉ cần bấm một nút?</a:t>
            </a:r>
          </a:p>
          <a:p>
            <a:r>
              <a:t>Buổi này không có tầng câu hỏi riêng trên thang 5 tầng. Nó là nền móng: nếu dữ liệu không sạch và không tự cập nhật, mọi con số ở các tầng sau đều không đáng tin.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Nhắc nhanh buổi trước. (→ mở ../B3_PivotTable/Practice/B3_MCI_Mart_Q1_2025_Answer.xlsx, sheet Kiem_tra) Đây là báo cáo Pivot hoàn chỉnh: tổng doanh thu Quý 1 941 triệu 454 nghìn, 14 dòng đối soát đều tick xanh.</a:t>
            </a:r>
          </a:p>
          <a:p>
            <a:r>
              <a:t>Bài về nhà Buổi 3 các bạn vừa nộp: dữ liệu 4 tháng, có sẵn 6 ô Quantity dạng chữ, và câu hỏi ST07 đã hồi phục sau đợt cải tạo tháng 3 chưa. (→ nếu còn thời gian: mở ../B3_PivotTable/Homework/B3_BTVN_MCI_Mart_T1_T4_2025_Answer.xlsx, sheet Kiem_tra, chữa nhanh câu 1)</a:t>
            </a:r>
          </a:p>
          <a:p>
            <a:r>
              <a:t>File khởi đầu hôm nay vẫn là đáp án Buổi 3. Các bạn lưu thành B4_&lt;HoTen&gt;.xlsx, giữ nguyên mọi sheet cũ. Hôm nay mình chỉ thêm vào, không xóa gì cả.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mở lần lượt Practice/Data_Sales/Sales_2025-01.csv, Sales_2025-02.csv, Sales_2025-03.csv bằng Excel, View → Arrange All → Vertical) Ba file, ba tháng, tổng gần sáu nghìn hai trăm dòng. Nếu làm tay: mở từng file, copy, dán nối tiếp, rồi sửa. Sửa gì? (→ trong Sales_2025-01.csv, Ctrl+F tìm ST07  có dấu cách) 25 dòng mỗi file có mã cửa hàng dính khoảng trắng thừa ở cuối — nhìn bằng mắt không thấy, nhưng máy tính coi "ST07 " khác "ST07". (→ trỏ cột Order_Date và Unit_Price) Ngày viết kiểu Việt Nam ngày/tháng/năm, giá viết "19.000" có dấu chấm ngăn nghìn. Máy các bạn để Region tiếng Anh thì Excel đã đọc sai ngay lúc mở: giá thành 19, ngày 13 trở đi thành chữ. Và mỗi file có đúng 1 dòng bị trùng hoàn toàn.</a:t>
            </a:r>
          </a:p>
          <a:p>
            <a:r>
              <a:t>Câu hỏi cho lớp: nếu tháng sau có file thứ tư, các bạn phải làm gì? (→ chờ) Làm lại đúng như vậy, từ đầu. Đây là giới hạn Buổi 3 đã nói tới: dữ liệu sạch không tự nhiên mà có. Buổi 1 các bạn đã dọn tay một file Quý 1 bẩn; hôm nay Power Query ghi lại các bước dọn đó một lần, tháng sau chỉ bấm Refresh. Cuối buổi các bạn sẽ tự tay chứng kiến. (→ đóng ba file, không lưu)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1: nhìn toàn cảnh quy trình, trước khi bấm vào chi tiết.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Đây là bức tranh lớn. Dữ liệu thô ở bất cứ đâu — file, thư mục, database — đi qua Power Query để làm sạch và biến đổi. Sạch rồi thì vào Data Model, nơi các bảng được nối với nhau bằng quan hệ, không phải bằng XLOOKUP hay gộp thành một bảng khổng lồ. Cuối cùng, Power Pivot đọc từ Data Model để phân tích và viết công thức DAX.</a:t>
            </a:r>
          </a:p>
          <a:p>
            <a:r>
              <a:t>Hôm nay mình ở khối thứ hai: Power Query. Buổi 5 mới sang khối ba và bốn. Nhớ thứ tự: sạch trước, nối sau, phân tích cuối cùng.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Vì sao không cứ SUMIFS và Pivot mà dùng? Vì ba buổi trước dữ liệu của các bạn đã sạch, và chỉ có một file. Ngoài đời, dữ liệu thật thường là nhiều file, mỗi tháng một file, có khi hàng triệu dòng. Một worksheet chỉ chứa được khoảng một triệu dòng; Data Model thì chứa hàng chục triệu dòng, giới hạn chỉ còn là bộ nhớ máy.</a:t>
            </a:r>
          </a:p>
          <a:p>
            <a:r>
              <a:t>Và đây là lý do Buổi 1 mình đã nhắc: Power Pivot không chạy trên Mac. Bạn nào dùng Mac mà chưa có máy Windows hoặc máy ảo, đây là hạn chót — gặp trợ giảng ngay giờ nghỉ.</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2: mở cánh cửa vào Power Query, và làm quen với màn hình Query Editor.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9,5 phút.</a:t>
            </a:r>
          </a:p>
          <a:p>
            <a:r>
              <a:t>LỜI GIẢNG</a:t>
            </a:r>
          </a:p>
          <a:p>
            <a:r>
              <a:t>(→ trên B4_&lt;HoTen&gt;.xlsx: Data → Get Data → From File → From Text/CSV → chọn Practice/Data_Sales/Sales_2025-01.csv) Đây là cửa vào Power Query. Hộp thoại cho xem trước dữ liệu, rồi có hai nút: Load nạp thẳng, hoặc Transform Data để mở Query Editor trước. Mình luôn chọn Transform Data, vì mình cần sửa trước khi nạp.</a:t>
            </a:r>
          </a:p>
          <a:p>
            <a:r>
              <a:t>(→ bấm Transform Data; ô Name bên phải đổi Sales_2025-01 thành Sales_T1) Đây là Query Editor, một cửa sổ riêng. Giữa màn hình là bảng xem trước. Bên phải là ô quan trọng nhất buổi hôm nay: Applied Steps. Power Query đã tự làm ba bước: Source (mở file), Promoted Headers (lấy dòng 1 làm tên cột) và Changed Type (tự đoán kiểu dữ liệu mỗi cột). (→ bấm lần lượt vào từng bước, chỉ thanh công thức phía trên bảng) Mỗi bước là một dòng công thức, viết bằng ngôn ngữ M. Bấm vào bước nào, bảng hiện dữ liệu tại thời điểm đó.</a:t>
            </a:r>
          </a:p>
          <a:p>
            <a:r>
              <a:t>Câu hỏi cho lớp: bước Changed Type do máy tự đoán. Máy đoán dựa vào đâu? (→ chờ) Dựa vào 200 dòng đầu và định dạng vùng miền của máy đang chạy. Nghĩa là cùng một file, máy tiếng Anh và máy tiếng Việt có thể đoán khác nhau. Giữ câu hỏi này, lát nữa ở Phần 3 mình sẽ thấy nó quan trọng thế nào.</a:t>
            </a:r>
          </a:p>
          <a:p>
            <a:r>
              <a:t>Buổi 2 các bạn viết công thức trong ô; hôm nay Power Query ghi công thức thành một danh sách bước, và chạy lại toàn bộ danh sách đó mỗi khi bấm Refresh. Một lưu ý: Query Editor không có Undo. Muốn bỏ một bước thì bấm dấu X cạnh bước đó.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dài nhất buổi. Trước khi sửa, mình phải nhìn thấy dữ liệu đang sai ở đâu — đó là data profiling.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trong Query Editor của Sales_T1: View → tick Column quality, Column distribution, Column profile; bấm dòng "Column profiling based on top 1000 rows" ở góc dưới → chọn entire data set) Ba công cụ này là bản đồ sức khỏe dữ liệu. Ngay dưới tên mỗi cột là một vạch: xanh là Valid, đỏ là Error, xám là Empty.</a:t>
            </a:r>
          </a:p>
          <a:p>
            <a:r>
              <a:t>(→ bấm tiêu đề cột Store_Code, nhìn Column distribution và khung Column statistics phía dưới) Nhìn Store_Code: đáng lẽ chỉ có 12 cửa hàng, ST01 đến ST12, nhưng profiling đếm ra 23 giá trị khác nhau. Vì "ST07" và "ST07 " có dấu cách bị đếm là hai. Đây là cách phát hiện lỗi trước khi đọc từng dòng bằng mắt.</a:t>
            </a:r>
          </a:p>
          <a:p>
            <a:r>
              <a:t>(→ bấm cột Unit_Price) Máy nào để Region tiếng Anh sẽ thấy cột giá 100% xanh — không lỗi nào. Nhưng nhìn Min, Max: từ 10 đến 650. Một sản phẩm giá 10 đồng? (→ bấm cột Order_Date) Và Order_Date có hơn nửa cột đỏ. Máy để tiếng Việt thì các cột này đều đúng. Đó chính là bước Changed Type tự đoán theo máy mà mình vừa hỏi. Slide sau mình sửa tận gốc.</a:t>
            </a:r>
          </a:p>
          <a:p>
            <a:r>
              <a:t>Câu hỏi cho lớp: profiling giúp gì mà Ctrl+F không giúp được? (→ chờ) Ctrl+F phải biết trước mình tìm gì. Profiling cho biết cột nào có vấn đề mà chưa cần đoán trước lỗi. Và "100% Valid" chưa chắc là đúng — phải nhìn cả Min, Max. Đây là thói quen D2: hoài nghi dữ liệu, nhìn tổng quan trước, sửa sau.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Đây là lỗi các bạn chắc chắn gặp khi làm việc với dữ liệu Việt Nam. Trước hết, (→ trong Applied Steps của Sales_T1: bấm X cạnh bước Changed Type) mình xóa bước Changed Type tự động. Mọi cột trở về dạng chữ, biểu tượng ABC trên tiêu đề cột. Giờ mình tự đổi kiểu, có kiểm soát.</a:t>
            </a:r>
          </a:p>
          <a:p>
            <a:r>
              <a:t>Để cả lớp cùng thấy lỗi, dù máy để tiếng Anh hay tiếng Việt, mình cố tình đọc theo kiểu Mỹ: (→ chuột phải Order_Date → Change Type → Using Locale → Data Type: Date, Locale: English (United States) → OK) Nhìn Column quality: cột đỏ gần hai phần ba. Đúng 1.735 trên 2.726 dòng lỗi, vì kiểu Mỹ đọc tháng trước ngày sau, mà không có tháng 13. Còn nguy hiểm hơn: (→ trỏ một dòng ngày 02/01/2025) ngày 2 tháng 1 bị đọc thành 1 tháng 2 — không báo lỗi gì cả. 991 dòng như thế.</a:t>
            </a:r>
          </a:p>
          <a:p>
            <a:r>
              <a:t>(→ bấm X xóa bước vừa tạo; chuột phải Order_Date → Change Type → Using Locale → Date, Vietnamese (Vietnam) → OK) Nói cho Excel biết dữ liệu này viết kiểu Việt Nam, ngày trước tháng sau. Cột xanh 100%, và ngày 2 tháng 1 đúng là ngày 2 tháng 1.</a:t>
            </a:r>
          </a:p>
          <a:p>
            <a:r>
              <a:t>Cột giá: (→ chuột phải Unit_Price → Change Type → Using Locale → Whole Number, English (United States)) kiểu Mỹ coi dấu chấm là dấu thập phân: 19.000 thành 19. Không một dấu đỏ nào. Đây là lỗi nguy hiểm nhất buổi: sai 1.000 lần mà không có gì báo. (→ xóa bước; Using Locale → Whole Number, Vietnamese (Vietnam)) Đúng Locale thì 19.000 thành 19000. (→ chọn Line_No và Quantity, Ctrl, chuột phải → Change Type → Whole Number) Hai cột số nguyên không có dấu ngăn nghìn thì đổi kiểu thường là đủ.</a:t>
            </a:r>
          </a:p>
          <a:p>
            <a:r>
              <a:t>Quy tắc nhớ đời: xóa Changed Type tự động; mọi cột ngày và cột số của dữ liệu Việt Nam, đổi kiểu bằng Using Locale. Làm vậy thì file chạy đúng trên máy nào cũng được, kể cả máy đồng nghiệp để tiếng Anh.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Với file CSV có tên cột ở dòng 1, bước Promoted Headers Power Query đã tự làm — mình vừa thấy trong Applied Steps. Khi nào phải bấm tay Use First Row as Headers? Khi file có dòng tiêu đề báo cáo phía trên, như bảng Target sau giờ nghỉ.</a:t>
            </a:r>
          </a:p>
          <a:p>
            <a:r>
              <a:t>(→ chuột phải cột Store_Code → Transform → Trim) 25 dòng có khoảng trắng thừa giờ đã sạch. (→ nhìn lại Column distribution / Column statistics) Đếm lại: đúng 12 giá trị. Bước này quan trọng hơn vẻ ngoài: khoảng trắng thừa sẽ làm Merge không khớp ở Phần 5 — hai mã trông giống hệt nhau trên màn hình nhưng máy không khớp được.</a:t>
            </a:r>
          </a:p>
          <a:p>
            <a:r>
              <a:t>[có thể rút gọn] (→ Add Column → Conditional Column; New column name: Nhom_SL; If Quantity is greater than 3 then "Nhiều", Else "Ít" → OK) Conditional Column là IF/THEN không cần gõ công thức: chọn cột, điều kiện, kết quả. Buổi 2 các bạn viết =IF(...); đây là bản kéo-thả của chính hàm đó, áp cho cả cột mỗi lần Refresh.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Hai cách dùng Remove Duplicates, phải phân biệt rõ. (→ trên Sales_T1: bấm vào bảng xem trước, Ctrl+A chọn mọi cột → Home → Remove Rows → Remove Duplicates) Cách một: xóa dòng trùng tuyệt đối trong bảng giao dịch. Số dòng? Góc dưới chỉ ghi "999+ rows", nên mình đếm: (→ Transform → Count Rows) 2.725 — bớt đúng 1 dòng so với 2.726. (→ bấm X xóa bước Counted Rows) Đếm xong nhớ xóa bước đếm, kẻo query chỉ còn một con số.</a:t>
            </a:r>
          </a:p>
          <a:p>
            <a:r>
              <a:t>(→ trong Query Editor: Home → New Source → File → Excel Workbook → Practice/B4_Lookups.xlsx → tick "Select multiple items" → tick 3 bảng Product, Store, Customer → OK) Cách hai, quan trọng hơn cho Buổi 5. Mình lấy luôn ba bảng lookup một lượt. Bảng Product có 41 dòng nhưng chỉ 40 sản phẩm — P015 bị trùng. (→ trên query Product: chọn cột Product_Code → Remove Duplicates → Count Rows = 40 → xóa bước đếm) Còn 40.</a:t>
            </a:r>
          </a:p>
          <a:p>
            <a:r>
              <a:t>Câu hỏi cho lớp: nếu bỏ qua bước này, lát nữa Merge Sales với Product sẽ ra sao? (→ chờ) Mỗi dòng Sales mua P015 khớp với cả hai dòng P015, nên bị nhân đôi: bảng Sales 28.328 dòng sẽ phình thành 29.408 dòng. Doanh thu cũng bị cộng thừa. Quy tắc: Remove Duplicates ở lookup trước khi Merge hoặc trước khi tạo Relationship — Buổi 5 dùng lại nguyên vẹn.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Tình huống thật: đồng nghiệp gửi file đã đổi kiểu sai, cột ngày có hơn một nghìn bảy trăm ô lỗi. Làm gì? Mình dựng lại tình huống đó trên một bản sao, để không làm hỏng query chính. (→ khung Queries bên trái: chuột phải Sales_T1 → Duplicate; trong Sales_T1 (2): chuột phải bước ngay sau Promoted Headers → Delete Until End (xóa bước đó và mọi bước sau, còn lại Source và Promoted Headers); chuột phải Order_Date → Change Type → Using Locale → Date, English (United States)) Cột ngày lại đỏ.</a:t>
            </a:r>
          </a:p>
          <a:p>
            <a:r>
              <a:t>(→ Home → Keep Rows → Keep Errors → Count Rows = 1.735 → xóa bước đếm) Bảng chỉ còn 1.735 dòng lỗi, để xem chúng là gì. (→ bấm vào khoảng trắng cạnh chữ Error trong một ô) Khung chi tiết cho biết: không đọc được chuỗi ngày theo định dạng đang chọn. Nhìn các ngày: toàn ngày 13 trở đi.</a:t>
            </a:r>
          </a:p>
          <a:p>
            <a:r>
              <a:t>Xử lý đúng ở đây là Remove Errors hay sửa lại kiểu dữ liệu? (→ chờ) Sửa lại Locale, như Slide 12. Remove Errors ở đây là xóa mất 1.735 dòng doanh thu — tổng tháng 1 hụt hơn nửa mà không ai biết. Remove Errors chỉ dùng khi dòng đó thật sự nên bỏ, ví dụ vài dòng rác không sửa được. Lỗi hiện ra là cơ hội tìm nguyên nhân gốc. (→ chuột phải Sales_T1 (2) → Delete)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a:t>
            </a:r>
          </a:p>
          <a:p>
            <a:r>
              <a:t>Nghỉ 10 phút. Nửa sau buổi mình xoay bảng kế hoạch, gộp hai năm dữ liệu bằng From Folder, nối bảng bằng Merge, và dựng Calendar.</a:t>
            </a:r>
          </a:p>
          <a:p>
            <a:r>
              <a:t>(→ trong giờ nghỉ: đi vòng kiểm tra Sales_T1 của học viên đã xóa Changed Type tự động, Order_Date và Unit_Price đổi bằng Using Locale Vietnamese, đã Trim Store_Code, Remove Duplicates; Product còn 40 dòng)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4: xoay bảng kế hoạch từ nằm ngang thành đứng dọc — đúng tư duy tidy data của Buổi 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8,5 phút.</a:t>
            </a:r>
          </a:p>
          <a:p>
            <a:r>
              <a:t>LỜI GIẢNG</a:t>
            </a:r>
          </a:p>
          <a:p>
            <a:r>
              <a:t>(→ Home → New Source → File → Excel Workbook → Practice/B4_Target_2025.xlsx → chọn sheet Target_2025 → OK; đổi tên query thành Target) Bảng kế hoạch nằm ngang: mỗi cửa hàng một dòng, mỗi tháng một cột. Đẹp để in, nhưng không tidy: Buổi 1 mình học mỗi dòng một bản ghi, mỗi cột một biến — ở đây "tháng" đang nằm trong tên cột, không phải giá trị.</a:t>
            </a:r>
          </a:p>
          <a:p>
            <a:r>
              <a:t>Dòng 1 là tiêu đề báo cáo, tên cột thật ở dòng 3. (→ nếu Applied Steps có bước Promoted Headers / Changed Type tự động: xóa cả hai; Home → Remove Rows → Remove Top Rows → 2; Home → Use First Row as Headers) Đây là lúc dùng tay Use First Row as Headers.</a:t>
            </a:r>
          </a:p>
          <a:p>
            <a:r>
              <a:t>(→ chọn cột Store_Code, giữ Ctrl chọn Store_Name → Transform → Unpivot Columns ▾ → Unpivot Other Columns) Chọn hai cột giữ nguyên, rồi xoay mọi cột còn lại. (→ đổi tên: Attribute → Thang, Value → Target) Cột Thang đang là chữ "Tháng 1". (→ chọn Thang → Transform → Extract → Text After Delimiter → dấu cách → OK; đổi kiểu Whole Number; Target → Whole Number; chuột phải Store_Name → Remove) Lấy phần số, bỏ Store_Name vì tên cửa hàng đã có ở bảng Store. (→ Add Column → Custom Column: tên Ngay_Dau_Thang, công thức #date(2025, [Thang], 1) → OK → đổi kiểu Date) Cột ngày đầu tháng này để Buổi 5 nối Target với Calendar. (→ Transform → Count Rows = 144 → xóa bước đếm) 144 dòng: 12 cửa hàng nhân 12 tháng.</a:t>
            </a:r>
          </a:p>
          <a:p>
            <a:r>
              <a:t>Câu hỏi cho lớp: nếu để nguyên dạng cột-tháng, Buổi 5 có làm được Pivot "Doanh thu so với Target theo tháng" không? (→ chờ) Rất khó, vì Pivot cần "tháng" nằm trong một cột giá trị để lọc và nối, không phải rải ra 12 cột. Đây là Chuỗi A, lần thứ tư.</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Nhìn nhanh tổng Target theo tháng. (→ trên query Target: Transform → Group By → Basic; Group by Thang; New column name Tong_Target, Operation Sum, Column Target → OK) Group By kiểu Basic: một cột nhóm, một phép tính. 12 dòng. Tháng 1 kế hoạch 353 triệu, thực tế 425,85 triệu — vượt khoảng 21%. Tháng 2 kế hoạch 298 triệu, thực tế chỉ 246 triệu — hụt khoảng 17%. Cùng một công ty, hai tháng liền kề, một tháng vượt xa, một tháng hụt. Vì sao? Nhớ hai con số này, cuối buổi mình quay lại. (→ bấm X xóa bước Grouped Rows: Target trở lại 144 dòng)</a:t>
            </a:r>
          </a:p>
          <a:p>
            <a:r>
              <a:t>Giờ dùng Group By để đối soát. (→ trên Sales_T1: Add Column → Custom Column: tên Revenue, công thức [Quantity]  [Unit_Price] → đổi kiểu Whole Number) Thêm cột doanh thu. (→ khung Queries: chuột phải Sales_T1 → Reference; đổi tên query mới thành DoiSoat_T1) Reference tạo một query mới đọc kết quả của Sales_T1 — Sales_T1 đổi thì nó đổi theo. (→ Transform → Group By → Advanced; Group by Store_Code; So_dong = Count Rows; Add aggregation: Doanh_thu = Sum of Revenue → OK)* 12 dòng: mỗi cửa hàng một số dòng và một tổng doanh thu tháng 1. Cao nhất ST08, 345 dòng, 52,8 triệu. Cộng lại đúng 2.725 dòng, 425.850.000. Đây là bảng đối soát: có số liệu hệ thống thì so từng cửa hàng trước khi nạp dữ liệu đi đâu cả.</a:t>
            </a:r>
          </a:p>
          <a:p>
            <a:r>
              <a:t>Khác Pivot: Group By tạo một bảng cố định, không kéo thả được nữa. Dùng khi cần một bảng tổng hợp để đối soát, để Merge, hoặc làm nguồn cho biểu đồ — ví dụ bảng doanh thu theo ngày cho Forecast ở Buổi 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5, trái tim của buổi hôm nay: gộp nhiều file bằng From Folder, và nối bảng bằng Merge.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 phút.</a:t>
            </a:r>
          </a:p>
          <a:p>
            <a:r>
              <a:t>LỜI GIẢNG</a:t>
            </a:r>
          </a:p>
          <a:p>
            <a:r>
              <a:t>Giờ làm đúng việc của Slide 4, nhưng cho cả thư mục. (→ Home → New Source → File → Folder → chọn Practice/Data_Sales/ → OK) Power Query liệt kê đủ 4 file: năm 2024 và ba tháng 2025. (→ Combine ▾ → Combine &amp; Transform Data → File mẫu: First file → OK; đổi tên query Data_Sales thành Sales) Power Query nối cả 4 file thành một bảng. Bên trái có thêm một nhóm query trợ giúp — đừng xóa, chúng là "máy đọc từng file".</a:t>
            </a:r>
          </a:p>
          <a:p>
            <a:r>
              <a:t>Bảng gộp này vẫn bẩn y như Sales_T1 lúc đầu. Mình làm sạch lại — lần này nhanh vì các bạn đã biết từng bước, và đây là lần cuối cùng: (→ trên Sales: bấm X xóa bước Changed Type cuối cùng; chuột phải cột Source.Name → Remove; Store_Code → Transform → Trim; Order_Date → Using Locale → Date, Vietnamese; Unit_Price → Using Locale → Whole Number, Vietnamese; Line_No, Quantity → Whole Number; Order_ID, Store_Code, Customer_ID, Product_Code → Text; Ctrl+A → Remove Duplicates; Add Column → Custom Column Revenue = [Quantity]  [Unit_Price], Whole Number; chọn Order_Date → Add Column → Date → Year → Year, đổi tên Nam; Add Column → Date → Month → Month, đổi tên Thang)*</a:t>
            </a:r>
          </a:p>
          <a:p>
            <a:r>
              <a:t>Đối soát ngay tại đây. (→ Transform → Count Rows) 28.328 dòng: 22.141 của năm 2024 cộng 2.725, 1.595, 1.867 của ba tháng 2025. (→ xóa bước đếm; chọn cột Revenue → Transform → Statistics → Sum) Doanh thu 4.139.884.500. (→ xóa bước Sum) Ghi hai con số này lại: lát nữa thả file tháng 4 vào, mình so trước và sau.</a:t>
            </a:r>
          </a:p>
          <a:p>
            <a:r>
              <a:t>Append Queries là nối dọc các query đã có, ví dụ Sales_T1 với một query tháng 2. From Folder làm việc đó cho cả thư mục, và tự đón file mới. Có một cái bẫy: nếu nối file CSV mà không lấy dòng đầu làm tên cột cho từng file, tên cột của file sau — chữ "Order_ID", "Store_Code" — sẽ lẫn vào giữa dữ liệu. Combine &amp; Transform đã lo việc đó trong query trợ giúp; nếu gặp, lọc bỏ dòng có Order_ID bằng đúng chữ "Order_ID".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phút.</a:t>
            </a:r>
          </a:p>
          <a:p>
            <a:r>
              <a:t>LỜI GIẢNG</a:t>
            </a:r>
          </a:p>
          <a:p>
            <a:r>
              <a:t>Buổi 2 các bạn lấy Category từ bảng Product sang Sales bằng XLOOKUP, từng ô một. Merge làm việc đó cho cả bảng cùng lúc. (→ chọn query Sales → Home → Merge Queries ▾ → Merge Queries as New) Mình chọn "as New" để tạo một query riêng, không đụng vào Sales.</a:t>
            </a:r>
          </a:p>
          <a:p>
            <a:r>
              <a:t>(→ bảng trên: Sales, bấm cột Product_Code; bảng dưới: Product, bấm cột Product_Code; Join Kind: Left Outer → nhìn dòng xác nhận ở dưới) Chọn cột khóa ở hai bảng, chọn kiểu nối. Power Query báo ngay: khớp 28.328 trên 28.328 dòng. (→ nếu hiện dải vàng "Information is required about data privacy": Continue → đặt cả hai nguồn là Organizational → Save; giải thích ở handout mục 9) Hai bảng đến từ hai nguồn khác nhau — thư mục CSV và file Excel — nên lần đầu nối, Power Query có thể hỏi mức riêng tư của từng nguồn. (→ OK; đổi tên query thành Sales_Merge_Demo; bấm nút hai mũi tên ở tiêu đề cột Product → chỉ tick Category, bỏ tick "Use original column name as prefix" → OK) Mỗi dòng Sales giờ có thêm ngành hàng. (→ Transform → Count Rows) Vẫn 28.328 dòng — nhờ Product đã bỏ P015 trùng. Chưa bỏ thì ra 29.408.</a:t>
            </a:r>
          </a:p>
          <a:p>
            <a:r>
              <a:t>Câu hỏi cho lớp: số dòng tăng sau Merge nghĩa là gì? (→ chờ) Nghĩa là bảng bên phải có khóa trùng. Đó là lý do phải đối soát số dòng sau mỗi bước: số dòng tăng sau Merge thì dừng lại, kiểm tra lookup ngay.</a:t>
            </a:r>
          </a:p>
          <a:p>
            <a:r>
              <a:t>Nhưng nhớ TIP quan trọng nhất slide này: mình Merge chỉ để hiểu cơ chế. (→ chuột phải Sales_Merge_Demo → Delete) Trong file thật, Product, Store, Customer đứng riêng. Gộp Category, Region, Segment… vào Sales thì mỗi dòng trong 28 nghìn dòng lặp lại cùng một thông tin. Buổi 5 dùng Relationship để nối mà không nhân bản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Merge có nhiều kiểu nối. (→ chỉ bảng trên slide) Left Outer, mình vừa dùng, giữ nguyên toàn bộ Sales. Inner chỉ giữ dòng khớp ở cả hai bên. Right Outer ngược lại với Left. Và một kiểu đặc biệt: Left Anti — chỉ giữ dòng không khớp.</a:t>
            </a:r>
          </a:p>
          <a:p>
            <a:r>
              <a:t>Câu hỏi cho lớp: muốn kiểm tra có đơn hàng nào ghi mã sản phẩm sai, không có trong danh mục Product, dùng Join Kind nào? (→ chờ) Left Anti. Merge Sales với Product bằng Left Anti: ra 0 dòng nghĩa là mọi mã đều hợp lệ; ra vài dòng thì đó chính là các dòng cần sửa. Trên dữ liệu hôm nay kết quả là 0. Bài tập về nhà các bạn sẽ gặp trường hợp không phải 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6, ngắn nhưng rất quan trọng cho Buổi 5: dựng một bảng ngày tháng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9,5 phút.</a:t>
            </a:r>
          </a:p>
          <a:p>
            <a:r>
              <a:t>LỜI GIẢNG</a:t>
            </a:r>
          </a:p>
          <a:p>
            <a:r>
              <a:t>(→ Home → New Source → Other Sources → Blank Query; đổi tên thành Calendar) Bảng Calendar không lấy từ file nào — mình dựng bằng công thức. (→ gõ vào thanh công thức: = List.Dates(#date(2024,1,1), 731, #duration(1,0,0,0)) → Enter) Nghĩa là: bắt đầu từ 01/01/2024, sinh 731 giá trị, mỗi giá trị cách nhau 1 ngày. Vì sao 731? Năm 2024 là năm nhuận, 366 ngày, cộng 365 ngày của 2025.</a:t>
            </a:r>
          </a:p>
          <a:p>
            <a:r>
              <a:t>Câu hỏi cho lớp: vì sao không lấy Calendar từ cột Order_Date của Sales cho nhanh? (→ chờ) Vì ngày nào không có đơn hàng thì ngày đó biến mất khỏi Order_Date — Calendar bị thủng lỗ, và các phép lũy kế, so cùng kỳ ở Buổi 5 sai ngay từ những ngày trống. Và vì sao tới tận cuối năm 2025, khi dữ liệu bán hàng mới tới tháng 4? Vì Target có đủ 12 tháng 2025. Calendar phải phủ trọn các năm của mọi bảng cần phân tích.</a:t>
            </a:r>
          </a:p>
          <a:p>
            <a:r>
              <a:t>(→ Transform → To Table → OK; đổi tên Column1 thành Date, kiểu Date; chọn Date → Add Column → Date → Year → Year (đổi tên Nam); Month → Month (Thang); Quarter → Quarter of Year (Quy); Day → Name of Day (Thu); Count Rows = 731 → xóa bước đếm) Vài cú nhấp, mình có Năm, Tháng, Quý, Thứ cho một trục thời gian dùng chung. Tên thứ hiện theo ngôn ngữ máy: máy tiếng Anh ra Monday, máy tiếng Việt ra Thứ Hai.</a:t>
            </a:r>
          </a:p>
          <a:p>
            <a:r>
              <a:t>Một điều nhìn thấy ngay khi có Calendar hai năm: (→ cuộn tới dòng 10/02/2024 và 29/01/2025 của query Calendar, hoặc chỉ trên slide) Mùng 1 Tết năm 2024 là 10/02, năm 2025 là 29/01. Tết năm ngoái rơi vào tháng 2, năm nay rơi vào tháng 1. Nhớ lại hai con số Target tháng 1 và tháng 2 ở Phần 4 — mình sẽ nối hai điều này ở phần tổng kết.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7: quyết định mỗi bảng nạp ra đâu, và chốt lại bằng một bước không thể bỏ qua — đối soát.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9,5 phút.</a:t>
            </a:r>
          </a:p>
          <a:p>
            <a:r>
              <a:t>LỜI GIẢNG</a:t>
            </a:r>
          </a:p>
          <a:p>
            <a:r>
              <a:t>Trước khi nạp, dọn các query tập. (→ khung Queries: chuột phải DoiSoat_T1 → Delete, rồi chuột phải Sales_T1 → Delete — xóa query phụ thuộc trước) Sales_T1 đã hoàn thành nhiệm vụ: query Sales làm lại đúng các bước đó cho cả thư mục. Còn lại 6 bảng: Sales, Product, Store, Customer, Target, Calendar.</a:t>
            </a:r>
          </a:p>
          <a:p>
            <a:r>
              <a:t>(→ Home → Close &amp; Load ▾ → Close &amp; Load To… → Only Create Connection → OK) Chọn cách an toàn nhất: chỉ tạo kết nối, chưa bảng nào ra sheet. Giờ chỉnh nơi nạp của từng bảng trong khung Queries &amp; Connections. (→ Data → Queries &amp; Connections; chuột phải Sales → Load To… → Table, New worksheet, tick Add this data to the Data Model → OK; đổi tên sheet mới thành Sales_PQ) Sales ra Table để dựng Pivot ngay, đồng thời vào Data Model cho Buổi 5.</a:t>
            </a:r>
          </a:p>
          <a:p>
            <a:r>
              <a:t>(→ lần lượt chuột phải Product, Store, Customer, Target, Calendar → Load To… → Only Create Connection, tick Add this data to the Data Model → OK) Năm bảng còn lại: chỉ kết nối + Data Model. Không ra sheet, không Merge vào Sales, nhưng đã nằm sẵn trong Data Model — chuẩn bị cho mô hình hình ngôi sao Buổi 5.</a:t>
            </a:r>
          </a:p>
          <a:p>
            <a:r>
              <a:t>(→ chuột phải Sales → Properties → bỏ tick Enable background refresh → OK) Một thiết lập nhỏ nhưng quyết định khoảnh khắc lát nữa: tắt refresh chạy nền, để Refresh All chạy xong query rồi mới cập nhật Pivot.</a:t>
            </a:r>
          </a:p>
          <a:p>
            <a:r>
              <a:t>(→ chọn một ô trong bảng Sales ở sheet Sales_PQ → Insert → PivotTable → New Worksheet, đổi tên sheet PV_Refresh; Rows: Nam, Thang; Values: Order_ID (Count, đổi tên So_dong), Revenue (Sum, đổi tên Doanh_thu); Filters: Store_Code) Pivot đối soát theo tháng. Nhìn khung Queries &amp; Connections: Sales ghi 28.328 rows loaded. Grand Total của Pivot: 28.328 dòng, 4.139.884.500 — khớp hai con số mình ghi ở Phần 5. Nếu một con số không khớp — ví dụ 28.329 — dừng lại, tìm nguyên nhân trước khi làm tiếp.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 (giao bài)</a:t>
            </a:r>
          </a:p>
          <a:p>
            <a:r>
              <a:t>Đây là khoảnh khắc cả buổi hôm nay hướng tới. (→ học viên tự làm 10 phút) Trước tiên, ghi lại Grand Total của Pivot PV_Refresh. Sau đó copy file Sales_2025-04.csv từ Practice/New_Month/ vào đúng thư mục Practice/Data_Sales/ — thư mục mà query Sales của các bạn đang đọc.</a:t>
            </a:r>
          </a:p>
          <a:p>
            <a:r>
              <a:t>Rồi bấm Refresh All. Không mở Query Editor. Không sửa gì. Chỉ một nút. Xem điều gì xảy ra với Pivot.</a:t>
            </a:r>
          </a:p>
          <a:p>
            <a:r>
              <a:t>GHI CHÚ GIẢNG VIÊN</a:t>
            </a:r>
          </a:p>
          <a:p>
            <a:r>
              <a:t>Lỗi hay gặp nhất: chép nhầm thư mục (vào New_Month hoặc thư mục khác), Refresh không đổi gì. Kiểm tra đường dẫn: Data → Queries &amp; Connections → di chuột lên query Sales.</a:t>
            </a:r>
          </a:p>
          <a:p>
            <a:r>
              <a:t>Pivot không đổi sau lần Refresh All đầu: chưa tắt Enable background refresh ở Slide 27 — bấm Refresh All lần nữa, rồi tắt thiết lập đó.</a:t>
            </a:r>
          </a:p>
          <a:p>
            <a:r>
              <a:t>File tháng 4 có cùng dạng lỗi (giá "19.000", ngày dd/mm, 25 mã dính khoảng trắng, 1 dòng trùng). Applied Steps viết theo tên cột nên tự làm sạch file mới. Refresh báo lỗi thì xem Applied Steps có bước nào gọi đích danh một giá trị cụ thể, hoặc còn sót bước Changed Type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a:t>
            </a:r>
          </a:p>
          <a:p>
            <a:r>
              <a:t>(→ đi vòng lớp, xem số trên máy học viên) Con số chuẩn: từ 28.328 lên 30.247 dòng, từ 4.139.884.500 lên 4.436.849.500. Dòng mới 2025 tháng 4: 1.919 dòng, 296.965.000 — đúng bằng doanh thu tháng 4 các bạn đã tính bằng SUMIFS ở bài về nhà Buổi 2. Số khác thì đừng vội sửa query: kiểm tra đã chép đúng thư mục chưa, đã Refresh All chưa.</a:t>
            </a:r>
          </a:p>
          <a:p>
            <a:r>
              <a:t>(→ hỏi lớp) Bạn nào Refresh xong không phải sửa một bước nào? Đó là câu trả lời cho câu hỏi mở buổi: dọn dữ liệu một lần, từ đó chỉ bấm Refresh.</a:t>
            </a:r>
          </a:p>
          <a:p>
            <a:r>
              <a:t>(→ mở Practice/B4_MCI_Mart_Answer.xlsx, sheet Kiem_tra_B4) File đáp án có đủ 10 dòng đối soát. Việc cuối: 5 bảng còn lại phải là Only Create Connection + Data Model, đứng riêng, chờ Relationship của Buổi 5 nối lại. Và file đáp án này chính là file khởi đầu Buổi 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0,2 phút.</a:t>
            </a:r>
          </a:p>
          <a:p>
            <a:r>
              <a:t>LỜI GIẢNG</a:t>
            </a:r>
          </a:p>
          <a:p>
            <a:r>
              <a:t>7 câu hỏi nhanh. Câu 6 và 7 là tình huống thật giống hôm nay các bạn vừa làm.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A.</a:t>
            </a:r>
          </a:p>
          <a:p>
            <a:r>
              <a:t>LỜI GIẢNG</a:t>
            </a:r>
          </a:p>
          <a:p>
            <a:r>
              <a:t>A. Applied Steps là danh sách bước được ghi lại và chạy lại tự động mỗi lần Refresh — như một macro.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C.</a:t>
            </a:r>
          </a:p>
          <a:p>
            <a:r>
              <a:t>LỜI GIẢNG</a:t>
            </a:r>
          </a:p>
          <a:p>
            <a:r>
              <a:t>C. Ngày 13 không phải tháng hợp lệ theo kiểu Mỹ mm/dd, nên báo lỗi. Sửa bằng Change Type → Using Locale → Vietnamese (Vietnam). Và nhớ: các ngày từ 12 trở xuống không báo lỗi nhưng bị đảo ngày–tháng.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D.</a:t>
            </a:r>
          </a:p>
          <a:p>
            <a:r>
              <a:t>LỜI GIẢNG</a:t>
            </a:r>
          </a:p>
          <a:p>
            <a:r>
              <a:t>D. Mỗi dòng Sales có Product_Code = P015 khớp với cả hai dòng P015 bên Product: 28.328 dòng thành 29.408. Đối soát số dòng sau Merge bắt được lỗi này.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Unpivot Columns biến nhiều cột cùng loại thành hai cột (tên cột cũ và giá trị). Transpose chỉ lật ngang-dọc cả bảng; Pivot Column làm chiều ngược lại.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A.</a:t>
            </a:r>
          </a:p>
          <a:p>
            <a:r>
              <a:t>LỜI GIẢNG</a:t>
            </a:r>
          </a:p>
          <a:p>
            <a:r>
              <a:t>A. Cùng cấu trúc cột, nối theo chiều dọc (thêm dòng) là Append; From Folder làm việc đó cho cả thư mục. Merge dùng khi nối theo chiều ngang (thêm cột) dựa trên khóa chung.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D.</a:t>
            </a:r>
          </a:p>
          <a:p>
            <a:r>
              <a:t>LỜI GIẢNG</a:t>
            </a:r>
          </a:p>
          <a:p>
            <a:r>
              <a:t>D. Các bước trong Applied Steps tham chiếu tên cột cụ thể; nguồn đổi tên cột thì bước đó không tìm thấy cột và báo lỗi "The column 'Store_Code' of the table wasn't found". Cách xử lý: đổi lại tên cột ngay sau bước gộp (Rename Columns), rồi các bước sau chạy như cũ. Mỗi khi nguồn đổi cấu trúc, kiểm tra Applied Steps từ trên xuống.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C.</a:t>
            </a:r>
          </a:p>
          <a:p>
            <a:r>
              <a:t>LỜI GIẢNG</a:t>
            </a:r>
          </a:p>
          <a:p>
            <a:r>
              <a:t>C. Left Anti chỉ giữ lại các dòng bên trái không khớp được bên phải — ra 0 dòng nghĩa là mọi mã đều hợp lệ, ra vài dòng thì đó chính là các dòng cần sửa.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Tổng kết 5 điều cần nhớ (→ đọc lướt 5 ý trên slide).</a:t>
            </a:r>
          </a:p>
          <a:p>
            <a:r>
              <a:t>Giờ viết câu insight, 1 phút. Gợi ý: trên Pivot PV_Refresh, kéo Store_Code ở vùng Filters, chọn lần lượt từng cửa hàng — có một cửa hàng hoàn toàn không có dòng nào suốt 5 tháng đầu năm 2024.</a:t>
            </a:r>
          </a:p>
          <a:p>
            <a:r>
              <a:t>(→ chờ 1 phút, gọi 2–3 bạn đọc)</a:t>
            </a:r>
          </a:p>
          <a:p>
            <a:r>
              <a:t>Câu mẫu: "Sau khi gộp Sales_2024 và Quý 1/2025 rồi thả thêm tháng 4, Sales có 30.247 dòng, 4.436.849.500, khớp đối soát; lọc ST12 thì dòng đầu tiên là tháng 6/2024 với 75 dòng, không có dòng nào trước đó — đây là cửa hàng mới khai trương 01/06/2024, không phải lỗi mất dữ liệu, nên Buổi 5 khi tính tăng trưởng cùng kỳ phải so riêng ST12 hoặc chỉ so các cửa hàng có đủ hai kỳ."</a:t>
            </a:r>
          </a:p>
          <a:p>
            <a:r>
              <a:t>Để ý: câu này dùng đúng kỹ năng D2 — thấy dòng trống thì tìm nguyên nhân trước khi kết luận "mất dữ liệu". Và một câu chuyện nữa đang chờ: Target tháng 1 là 353 triệu, thực tế 425,85 triệu, vượt 21%; tháng 2 ngược lại, hụt 17%. Calendar vừa cho thấy Tết năm ngoái rơi vào tháng 2, năm nay rơi vào tháng 1. Target được lập thế nào mà lệch như vậy? Buổi 5 mình đo chính xác bằng measure Revenue vs Target %.</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 phút.</a:t>
            </a:r>
          </a:p>
          <a:p>
            <a:r>
              <a:t>LỜI GIẢNG</a:t>
            </a:r>
          </a:p>
          <a:p>
            <a:r>
              <a:t>Hôm nay các bạn đã tự tay biến bốn file CSV bẩn và một bảng kế hoạch nằm ngang thành sáu bảng sạch, ghi lại bằng Applied Steps, và thấy Refresh cập nhật toàn bộ mà không sửa một bước. Đó là năng lực D3 — tự động hóa — ở mức Competent.</a:t>
            </a:r>
          </a:p>
          <a:p>
            <a:r>
              <a:t>Nhưng nhìn lại: sáu bảng đang đứng riêng. Muốn biết doanh thu so với target theo cửa hàng, theo tháng, phải nối Sales với Target, với Calendar, với Store — nối bằng Merge thì ra một bảng khổng lồ, trùng lặp ở mọi dòng. Buổi 5 học cách nối đúng: Relationship trong Data Model, và viết DAX để mọi báo cáo dùng chung một định nghĩa KPI.</a:t>
            </a:r>
          </a:p>
          <a:p>
            <a:r>
              <a:t>Bài về nhà: tháng 4, hệ thống POS xuất mỗi cửa hàng một file. Các bạn dựng pipeline, làm sạch, và đối soát với số liệu hệ thống trước khi tính % đạt target. Có một bất ngờ đang chờ ở bước đối soát. Nộp trước Buổi 5. Cảm ơn cả lớp, hẹn gặp lại!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2664-F3C6-6151-5EEA-86A461E82C44}"/>
              </a:ext>
            </a:extLst>
          </p:cNvPr>
          <p:cNvSpPr>
            <a:spLocks noGrp="1"/>
          </p:cNvSpPr>
          <p:nvPr>
            <p:ph type="ctrTitle"/>
          </p:nvPr>
        </p:nvSpPr>
        <p:spPr>
          <a:xfrm>
            <a:off x="1432560" y="2011680"/>
            <a:ext cx="10302240" cy="1737360"/>
          </a:xfrm>
        </p:spPr>
        <p:txBody>
          <a:bodyPr anchor="b"/>
          <a:lstStyle>
            <a:lvl1pPr algn="l">
              <a:defRPr sz="4800" b="1"/>
            </a:lvl1pPr>
          </a:lstStyle>
          <a:p>
            <a:r>
              <a:rPr lang="en-GB"/>
              <a:t>Click to edit Master title style</a:t>
            </a:r>
            <a:endParaRPr lang="en-US"/>
          </a:p>
        </p:txBody>
      </p:sp>
      <p:sp>
        <p:nvSpPr>
          <p:cNvPr id="3" name="Subtitle 2">
            <a:extLst>
              <a:ext uri="{FF2B5EF4-FFF2-40B4-BE49-F238E27FC236}">
                <a16:creationId xmlns:a16="http://schemas.microsoft.com/office/drawing/2014/main" id="{55A5D9FC-D4AA-338A-F692-F1B120AC9F9B}"/>
              </a:ext>
            </a:extLst>
          </p:cNvPr>
          <p:cNvSpPr>
            <a:spLocks noGrp="1"/>
          </p:cNvSpPr>
          <p:nvPr>
            <p:ph type="subTitle" idx="1"/>
          </p:nvPr>
        </p:nvSpPr>
        <p:spPr>
          <a:xfrm>
            <a:off x="1432560" y="3931920"/>
            <a:ext cx="10302240" cy="1097280"/>
          </a:xfrm>
        </p:spPr>
        <p:txBody>
          <a:bodyPr/>
          <a:lstStyle>
            <a:lvl1pPr marL="0" indent="0" algn="l">
              <a:buNone/>
              <a:defRPr sz="2400">
                <a:solidFill>
                  <a:srgbClr val="585858"/>
                </a:solidFill>
              </a:defRPr>
            </a:lvl1pPr>
            <a:lvl2pPr marL="457200" indent="0" algn="ctr">
              <a:buNone/>
              <a:defRPr sz="2000">
                <a:solidFill>
                  <a:srgbClr val="585858"/>
                </a:solidFill>
              </a:defRPr>
            </a:lvl2pPr>
            <a:lvl3pPr marL="914400" indent="0" algn="ctr">
              <a:buNone/>
              <a:defRPr sz="1800">
                <a:solidFill>
                  <a:srgbClr val="585858"/>
                </a:solidFill>
              </a:defRPr>
            </a:lvl3pPr>
            <a:lvl4pPr marL="1371600" indent="0" algn="ctr">
              <a:buNone/>
              <a:defRPr sz="1600">
                <a:solidFill>
                  <a:srgbClr val="585858"/>
                </a:solidFill>
              </a:defRPr>
            </a:lvl4pPr>
            <a:lvl5pPr marL="1828800" indent="0" algn="ctr">
              <a:buNone/>
              <a:defRPr sz="1600">
                <a:solidFill>
                  <a:srgbClr val="585858"/>
                </a:solidFill>
              </a:defRPr>
            </a:lvl5pPr>
            <a:lvl6pPr marL="2286000" indent="0" algn="ctr">
              <a:buNone/>
              <a:defRPr sz="1600">
                <a:solidFill>
                  <a:srgbClr val="585858"/>
                </a:solidFill>
              </a:defRPr>
            </a:lvl6pPr>
            <a:lvl7pPr marL="2743200" indent="0" algn="ctr">
              <a:buNone/>
              <a:defRPr sz="1600">
                <a:solidFill>
                  <a:srgbClr val="585858"/>
                </a:solidFill>
              </a:defRPr>
            </a:lvl7pPr>
            <a:lvl8pPr marL="3200400" indent="0" algn="ctr">
              <a:buNone/>
              <a:defRPr sz="1600">
                <a:solidFill>
                  <a:srgbClr val="585858"/>
                </a:solidFill>
              </a:defRPr>
            </a:lvl8pPr>
            <a:lvl9pPr marL="3657600" indent="0" algn="ctr">
              <a:buNone/>
              <a:defRPr sz="1600">
                <a:solidFill>
                  <a:srgbClr val="585858"/>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E1E18-61FE-3D83-17A2-F3939106825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0AB0BF97-2C91-ED2E-CD8F-3CAC10D59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BB26-71FB-8170-009A-EF8735C76EBF}"/>
              </a:ext>
            </a:extLst>
          </p:cNvPr>
          <p:cNvSpPr>
            <a:spLocks noGrp="1"/>
          </p:cNvSpPr>
          <p:nvPr>
            <p:ph type="sldNum" sz="quarter" idx="12"/>
          </p:nvPr>
        </p:nvSpPr>
        <p:spPr/>
        <p:txBody>
          <a:bodyPr/>
          <a:lstStyle/>
          <a:p>
            <a:fld id="{7A9419BB-C971-F34B-8B82-C5E9A3ED8678}" type="slidenum">
              <a:rPr lang="en-US" smtClean="0"/>
              <a:t>‹#›</a:t>
            </a:fld>
            <a:endParaRPr lang="en-US"/>
          </a:p>
        </p:txBody>
      </p:sp>
      <p:sp>
        <p:nvSpPr>
          <p:cNvPr id="30" name="MCI Wordmark"/>
          <p:cNvSpPr txBox="1"/>
          <p:nvPr userDrawn="1"/>
        </p:nvSpPr>
        <p:spPr>
          <a:xfrm>
            <a:off x="1432560" y="548640"/>
            <a:ext cx="2743200" cy="548640"/>
          </a:xfrm>
          <a:prstGeom prst="rect">
            <a:avLst/>
          </a:prstGeom>
          <a:noFill/>
        </p:spPr>
        <p:txBody>
          <a:bodyPr wrap="none" lIns="91440" anchor="t"/>
          <a:lstStyle/>
          <a:p>
            <a:r>
              <a:rPr lang="en-US" sz="2800" b="1">
                <a:solidFill>
                  <a:srgbClr val="203864"/>
                </a:solidFill>
                <a:latin typeface="Arial"/>
              </a:rPr>
              <a:t>MCI</a:t>
            </a:r>
          </a:p>
        </p:txBody>
      </p:sp>
    </p:spTree>
    <p:extLst>
      <p:ext uri="{BB962C8B-B14F-4D97-AF65-F5344CB8AC3E}">
        <p14:creationId xmlns:p14="http://schemas.microsoft.com/office/powerpoint/2010/main" val="286849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25951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9C69-77BA-2FF0-04BC-65E5F21C410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A047FBA-36F6-5941-AE5A-3C28ABD9791D}"/>
              </a:ext>
            </a:extLst>
          </p:cNvPr>
          <p:cNvSpPr>
            <a:spLocks noGrp="1"/>
          </p:cNvSpPr>
          <p:nvPr>
            <p:ph sz="half" idx="1"/>
          </p:nvPr>
        </p:nvSpPr>
        <p:spPr>
          <a:xfrm>
            <a:off x="1432560"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3C48E-6F94-484B-3886-58203F5425D9}"/>
              </a:ext>
            </a:extLst>
          </p:cNvPr>
          <p:cNvSpPr>
            <a:spLocks noGrp="1"/>
          </p:cNvSpPr>
          <p:nvPr>
            <p:ph sz="half" idx="2"/>
          </p:nvPr>
        </p:nvSpPr>
        <p:spPr>
          <a:xfrm>
            <a:off x="6658334"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AA01DA5-559C-410C-9CC7-0933837962D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D24F1E9D-60B2-BB85-7303-C28EBFC26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712A5-3FB3-1E06-8027-6B8BD1AA8F2A}"/>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9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rgbClr val="203864"/>
        </a:solidFill>
        <a:effectLst/>
      </p:bgPr>
    </p:bg>
    <p:spTree>
      <p:nvGrpSpPr>
        <p:cNvPr id="1" name=""/>
        <p:cNvGrpSpPr/>
        <p:nvPr/>
      </p:nvGrpSpPr>
      <p:grpSpPr>
        <a:xfrm>
          <a:off x="0" y="0"/>
          <a:ext cx="0" cy="0"/>
          <a:chOff x="0" y="0"/>
          <a:chExt cx="0" cy="0"/>
        </a:xfrm>
      </p:grpSpPr>
      <p:sp>
        <p:nvSpPr>
          <p:cNvPr id="7" name="MCI wordmark"/>
          <p:cNvSpPr txBox="1"/>
          <p:nvPr userDrawn="1"/>
        </p:nvSpPr>
        <p:spPr>
          <a:xfrm>
            <a:off x="914400" y="640080"/>
            <a:ext cx="6400800" cy="457200"/>
          </a:xfrm>
          <a:prstGeom prst="rect">
            <a:avLst/>
          </a:prstGeom>
          <a:noFill/>
        </p:spPr>
        <p:txBody>
          <a:bodyPr wrap="none" lIns="0" rIns="0" anchor="ctr"/>
          <a:lstStyle/>
          <a:p>
            <a:r>
              <a:rPr lang="en-US" sz="2400" b="1">
                <a:solidFill>
                  <a:srgbClr val="FFFFFF"/>
                </a:solidFill>
              </a:rPr>
              <a:t>MCI</a:t>
            </a:r>
            <a:r>
              <a:rPr lang="en-US" sz="1200" spc="200">
                <a:solidFill>
                  <a:srgbClr val="FFFFFF"/>
                </a:solidFill>
              </a:rPr>
              <a:t>   MAGIC CODE INSTITUTE</a:t>
            </a:r>
          </a:p>
        </p:txBody>
      </p:sp>
      <p:sp>
        <p:nvSpPr>
          <p:cNvPr id="8" name="Gold rule"/>
          <p:cNvSpPr/>
          <p:nvPr userDrawn="1"/>
        </p:nvSpPr>
        <p:spPr>
          <a:xfrm>
            <a:off x="914400" y="4480560"/>
            <a:ext cx="1097280" cy="54864"/>
          </a:xfrm>
          <a:prstGeom prst="rect">
            <a:avLst/>
          </a:prstGeom>
          <a:solidFill>
            <a:srgbClr val="FFC000"/>
          </a:solidFill>
          <a:ln>
            <a:noFill/>
          </a:ln>
        </p:spPr>
      </p:sp>
      <p:sp>
        <p:nvSpPr>
          <p:cNvPr id="2" name="Title 1"/>
          <p:cNvSpPr>
            <a:spLocks noGrp="1"/>
          </p:cNvSpPr>
          <p:nvPr>
            <p:ph type="title"/>
          </p:nvPr>
        </p:nvSpPr>
        <p:spPr>
          <a:xfrm>
            <a:off x="914400" y="2286000"/>
            <a:ext cx="10363200" cy="2011680"/>
          </a:xfrm>
        </p:spPr>
        <p:txBody>
          <a:bodyPr lIns="0" anchor="b">
            <a:normAutofit/>
          </a:bodyPr>
          <a:lstStyle>
            <a:lvl1pPr algn="l">
              <a:defRPr sz="3200" b="1">
                <a:solidFill>
                  <a:srgbClr val="FFFFFF"/>
                </a:solidFill>
              </a:defRPr>
            </a:lvl1pPr>
          </a:lstStyle>
          <a:p>
            <a:r>
              <a:rPr lang="en-GB"/>
              <a:t>Click to edit Master title style</a:t>
            </a:r>
          </a:p>
        </p:txBody>
      </p:sp>
      <p:sp>
        <p:nvSpPr>
          <p:cNvPr id="3" name="Text Placeholder 2"/>
          <p:cNvSpPr>
            <a:spLocks noGrp="1"/>
          </p:cNvSpPr>
          <p:nvPr>
            <p:ph type="body" idx="1"/>
          </p:nvPr>
        </p:nvSpPr>
        <p:spPr>
          <a:xfrm>
            <a:off x="914400" y="4709160"/>
            <a:ext cx="10363200" cy="914400"/>
          </a:xfrm>
        </p:spPr>
        <p:txBody>
          <a:bodyPr lIns="0">
            <a:normAutofit/>
          </a:bodyPr>
          <a:lstStyle>
            <a:lvl1pPr marL="0" indent="0">
              <a:buNone/>
              <a:defRPr sz="2000">
                <a:solidFill>
                  <a:srgbClr val="D9DEE8"/>
                </a:solidFill>
              </a:defRPr>
            </a:lvl1pPr>
          </a:lstStyle>
          <a:p>
            <a:r>
              <a:rPr lang="en-GB"/>
              <a:t>Click to edit Master text styles</a:t>
            </a:r>
          </a:p>
        </p:txBody>
      </p:sp>
    </p:spTree>
    <p:extLst>
      <p:ext uri="{BB962C8B-B14F-4D97-AF65-F5344CB8AC3E}">
        <p14:creationId xmlns:p14="http://schemas.microsoft.com/office/powerpoint/2010/main" val="13138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F857-DF32-3922-EA31-5B12F1BF389B}"/>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679F92-7EED-D73E-34B9-2B5BEA02D8D5}"/>
              </a:ext>
            </a:extLst>
          </p:cNvPr>
          <p:cNvSpPr>
            <a:spLocks noGrp="1"/>
          </p:cNvSpPr>
          <p:nvPr>
            <p:ph type="body" idx="1"/>
          </p:nvPr>
        </p:nvSpPr>
        <p:spPr>
          <a:xfrm>
            <a:off x="1434116" y="1681163"/>
            <a:ext cx="50531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62207B-D76F-1445-6E60-70B87DB80392}"/>
              </a:ext>
            </a:extLst>
          </p:cNvPr>
          <p:cNvSpPr>
            <a:spLocks noGrp="1"/>
          </p:cNvSpPr>
          <p:nvPr>
            <p:ph sz="half" idx="2"/>
          </p:nvPr>
        </p:nvSpPr>
        <p:spPr>
          <a:xfrm>
            <a:off x="1434116" y="2505075"/>
            <a:ext cx="505313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A2C473-0CB1-0F03-79FD-FCFC188E51A4}"/>
              </a:ext>
            </a:extLst>
          </p:cNvPr>
          <p:cNvSpPr>
            <a:spLocks noGrp="1"/>
          </p:cNvSpPr>
          <p:nvPr>
            <p:ph type="body" sz="quarter" idx="3"/>
          </p:nvPr>
        </p:nvSpPr>
        <p:spPr>
          <a:xfrm>
            <a:off x="6658334" y="1681163"/>
            <a:ext cx="507802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AADC17-123C-1B98-9C55-4D7D49845E27}"/>
              </a:ext>
            </a:extLst>
          </p:cNvPr>
          <p:cNvSpPr>
            <a:spLocks noGrp="1"/>
          </p:cNvSpPr>
          <p:nvPr>
            <p:ph sz="quarter" idx="4"/>
          </p:nvPr>
        </p:nvSpPr>
        <p:spPr>
          <a:xfrm>
            <a:off x="6658334" y="2505075"/>
            <a:ext cx="507802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65B6DB-77BD-9C6E-5E6D-A7BE78333BB6}"/>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8" name="Footer Placeholder 7">
            <a:extLst>
              <a:ext uri="{FF2B5EF4-FFF2-40B4-BE49-F238E27FC236}">
                <a16:creationId xmlns:a16="http://schemas.microsoft.com/office/drawing/2014/main" id="{20E678BE-8847-6D2F-3F45-91CA985AB5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D1A3EE-6065-DD56-6A88-F914D5B4C1CD}"/>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10104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3570-678E-8041-1DC8-86B01C4FBA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9A16AD-B058-70BE-DBC1-78AA9918405A}"/>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a:extLst>
              <a:ext uri="{FF2B5EF4-FFF2-40B4-BE49-F238E27FC236}">
                <a16:creationId xmlns:a16="http://schemas.microsoft.com/office/drawing/2014/main" id="{1B6D8CAC-8260-A67D-8732-DD7230794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877EE-C1CB-3D64-07B4-8AA215343EB2}"/>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33194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E4EAE-A436-DD75-26A9-7E4EF0EABAB8}"/>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3" name="Footer Placeholder 2">
            <a:extLst>
              <a:ext uri="{FF2B5EF4-FFF2-40B4-BE49-F238E27FC236}">
                <a16:creationId xmlns:a16="http://schemas.microsoft.com/office/drawing/2014/main" id="{F04AE991-C68F-060D-534A-2D1CFE379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A977B5-CCC9-8A85-1F45-60EE63654905}"/>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69755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B96-0970-502F-414D-7E067632F191}"/>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A5074C-7090-612E-5DF9-E393D6B4F569}"/>
              </a:ext>
            </a:extLst>
          </p:cNvPr>
          <p:cNvSpPr>
            <a:spLocks noGrp="1"/>
          </p:cNvSpPr>
          <p:nvPr>
            <p:ph idx="1"/>
          </p:nvPr>
        </p:nvSpPr>
        <p:spPr>
          <a:xfrm>
            <a:off x="5689389" y="987425"/>
            <a:ext cx="604696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13B6C-C8CA-B03D-EAFC-66D24F36F00D}"/>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F8C85-7E3A-1BF3-57B7-67DC51295901}"/>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C1759792-564A-D064-DC38-377FE5F36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2A526-D348-A6A7-D6D8-765874ABCCF7}"/>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46744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2A28-28CD-FDCB-9BDE-BBD7761D9F80}"/>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202B5F-EA9B-1AF8-17E8-85154BC8C380}"/>
              </a:ext>
            </a:extLst>
          </p:cNvPr>
          <p:cNvSpPr>
            <a:spLocks noGrp="1" noChangeAspect="1"/>
          </p:cNvSpPr>
          <p:nvPr>
            <p:ph type="pic" idx="1"/>
          </p:nvPr>
        </p:nvSpPr>
        <p:spPr>
          <a:xfrm>
            <a:off x="5689389" y="987425"/>
            <a:ext cx="604696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5D4558-CC71-6A22-1E4F-81F961813C80}"/>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ABD8-1DA1-C358-4422-ED8A78AC2C6E}"/>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8E16271F-39F3-E81F-443B-21DC458CD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28C95-36D3-1FDC-12F9-75C4D3BE95B3}"/>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9165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C102-A4A5-EF09-43CF-6253ED77A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E998EF-69FA-C77A-8A76-22992DE77A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B466E2-7B90-931F-632B-D59F99017C2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3A3200D8-8910-5148-4843-3D52384B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2BED4-5DB4-45F1-5ACC-643FFD821F64}"/>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0741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FF3541-96FF-94D7-F45B-F634CD3B44BF}"/>
              </a:ext>
            </a:extLst>
          </p:cNvPr>
          <p:cNvSpPr>
            <a:spLocks noGrp="1"/>
          </p:cNvSpPr>
          <p:nvPr>
            <p:ph type="title" orient="vert"/>
          </p:nvPr>
        </p:nvSpPr>
        <p:spPr>
          <a:xfrm>
            <a:off x="9159240" y="365125"/>
            <a:ext cx="257556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A22BC46-4E1A-B46B-F1C8-4E24A201B337}"/>
              </a:ext>
            </a:extLst>
          </p:cNvPr>
          <p:cNvSpPr>
            <a:spLocks noGrp="1"/>
          </p:cNvSpPr>
          <p:nvPr>
            <p:ph type="body" orient="vert" idx="1"/>
          </p:nvPr>
        </p:nvSpPr>
        <p:spPr>
          <a:xfrm>
            <a:off x="1432560" y="365125"/>
            <a:ext cx="7577372"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63504C-0F86-E102-3E0C-290A4BB0A6D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12A90F48-5867-0DF6-F507-5379E890B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93CD6-4795-CA01-149F-B154B4516B3C}"/>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684304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MCI Rail"/>
          <p:cNvSpPr/>
          <p:nvPr userDrawn="1"/>
        </p:nvSpPr>
        <p:spPr>
          <a:xfrm>
            <a:off x="0" y="0"/>
            <a:ext cx="975360" cy="6858000"/>
          </a:xfrm>
          <a:prstGeom prst="rect">
            <a:avLst/>
          </a:prstGeom>
          <a:solidFill>
            <a:srgbClr val="203864"/>
          </a:solidFill>
          <a:ln>
            <a:noFill/>
          </a:ln>
        </p:spPr>
        <p:txBody>
          <a:bodyPr/>
          <a:lstStyle/>
          <a:p>
            <a:endParaRPr lang="en-US"/>
          </a:p>
        </p:txBody>
      </p:sp>
      <p:sp>
        <p:nvSpPr>
          <p:cNvPr id="2" name="Title Placeholder 1">
            <a:extLst>
              <a:ext uri="{FF2B5EF4-FFF2-40B4-BE49-F238E27FC236}">
                <a16:creationId xmlns:a16="http://schemas.microsoft.com/office/drawing/2014/main" id="{5773FA29-7399-D724-95CF-8F2F56D526D4}"/>
              </a:ext>
            </a:extLst>
          </p:cNvPr>
          <p:cNvSpPr>
            <a:spLocks noGrp="1"/>
          </p:cNvSpPr>
          <p:nvPr>
            <p:ph type="title"/>
          </p:nvPr>
        </p:nvSpPr>
        <p:spPr>
          <a:xfrm>
            <a:off x="1432560" y="365760"/>
            <a:ext cx="10302240" cy="100584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F95C9-A218-9682-28A0-7A7C952763F2}"/>
              </a:ext>
            </a:extLst>
          </p:cNvPr>
          <p:cNvSpPr>
            <a:spLocks noGrp="1"/>
          </p:cNvSpPr>
          <p:nvPr>
            <p:ph type="body" idx="1"/>
          </p:nvPr>
        </p:nvSpPr>
        <p:spPr>
          <a:xfrm>
            <a:off x="1432560" y="1554480"/>
            <a:ext cx="10302240" cy="4572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9F865D-4C91-A852-2C9F-A2DE37302B15}"/>
              </a:ext>
            </a:extLst>
          </p:cNvPr>
          <p:cNvSpPr>
            <a:spLocks noGrp="1"/>
          </p:cNvSpPr>
          <p:nvPr>
            <p:ph type="dt" sz="half" idx="2"/>
          </p:nvPr>
        </p:nvSpPr>
        <p:spPr>
          <a:xfrm>
            <a:off x="1432560" y="6309360"/>
            <a:ext cx="2743200" cy="320040"/>
          </a:xfrm>
          <a:prstGeom prst="rect">
            <a:avLst/>
          </a:prstGeom>
        </p:spPr>
        <p:txBody>
          <a:bodyPr vert="horz" lIns="91440" tIns="45720" rIns="91440" bIns="45720" rtlCol="0" anchor="ctr"/>
          <a:lstStyle>
            <a:lvl1pPr algn="l">
              <a:defRPr sz="1200">
                <a:solidFill>
                  <a:srgbClr val="6B6F76"/>
                </a:solidFill>
              </a:defRPr>
            </a:lvl1p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D75018BC-A677-96B0-5B2E-4AEDE18B0ABF}"/>
              </a:ext>
            </a:extLst>
          </p:cNvPr>
          <p:cNvSpPr>
            <a:spLocks noGrp="1"/>
          </p:cNvSpPr>
          <p:nvPr>
            <p:ph type="ftr" sz="quarter" idx="3"/>
          </p:nvPr>
        </p:nvSpPr>
        <p:spPr>
          <a:xfrm>
            <a:off x="4358640" y="6309360"/>
            <a:ext cx="6187440" cy="320040"/>
          </a:xfrm>
          <a:prstGeom prst="rect">
            <a:avLst/>
          </a:prstGeom>
        </p:spPr>
        <p:txBody>
          <a:bodyPr vert="horz" lIns="91440" tIns="45720" rIns="91440" bIns="45720" rtlCol="0" anchor="ctr"/>
          <a:lstStyle>
            <a:lvl1pPr algn="ctr">
              <a:defRPr sz="1200">
                <a:solidFill>
                  <a:srgbClr val="6B6F76"/>
                </a:solidFill>
              </a:defRPr>
            </a:lvl1pPr>
          </a:lstStyle>
          <a:p>
            <a:endParaRPr lang="en-US"/>
          </a:p>
        </p:txBody>
      </p:sp>
      <p:sp>
        <p:nvSpPr>
          <p:cNvPr id="6" name="Slide Number Placeholder 5">
            <a:extLst>
              <a:ext uri="{FF2B5EF4-FFF2-40B4-BE49-F238E27FC236}">
                <a16:creationId xmlns:a16="http://schemas.microsoft.com/office/drawing/2014/main" id="{E03E26B6-86C7-AF0E-2F2F-E4F6A075784B}"/>
              </a:ext>
            </a:extLst>
          </p:cNvPr>
          <p:cNvSpPr>
            <a:spLocks noGrp="1"/>
          </p:cNvSpPr>
          <p:nvPr>
            <p:ph type="sldNum" sz="quarter" idx="4"/>
          </p:nvPr>
        </p:nvSpPr>
        <p:spPr>
          <a:xfrm>
            <a:off x="10637520" y="6309360"/>
            <a:ext cx="1097280" cy="320040"/>
          </a:xfrm>
          <a:prstGeom prst="rect">
            <a:avLst/>
          </a:prstGeom>
        </p:spPr>
        <p:txBody>
          <a:bodyPr vert="horz" lIns="91440" tIns="45720" rIns="91440" bIns="45720" rtlCol="0" anchor="ctr"/>
          <a:lstStyle>
            <a:lvl1pPr algn="r">
              <a:defRPr sz="1200">
                <a:solidFill>
                  <a:srgbClr val="6B6F76"/>
                </a:solidFill>
              </a:defRPr>
            </a:lvl1pPr>
          </a:lstStyle>
          <a:p>
            <a:fld id="{7A9419BB-C971-F34B-8B82-C5E9A3ED8678}" type="slidenum">
              <a:rPr lang="en-US" smtClean="0"/>
              <a:t>‹#›</a:t>
            </a:fld>
            <a:endParaRPr lang="en-US"/>
          </a:p>
        </p:txBody>
      </p:sp>
    </p:spTree>
    <p:extLst>
      <p:ext uri="{BB962C8B-B14F-4D97-AF65-F5344CB8AC3E}">
        <p14:creationId xmlns:p14="http://schemas.microsoft.com/office/powerpoint/2010/main" val="2916804908"/>
      </p:ext>
    </p:extLst>
  </p:cSld>
  <p:clrMap bg1="lt1" tx1="dk1" bg2="lt2" tx2="dk2" accent1="accent1" accent2="accent2" accent3="accent3" accent4="accent4" accent5="accent5" accent6="accent6" hlink="hlink" folHlink="folHlink"/>
  <p:sldLayoutIdLst>
    <p:sldLayoutId id="2147483699" r:id="rId1"/>
    <p:sldLayoutId id="2147483696" r:id="rId2"/>
    <p:sldLayoutId id="2147483700" r:id="rId3"/>
    <p:sldLayoutId id="2147483697"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1524000" y="1554480"/>
            <a:ext cx="10119360" cy="320040"/>
          </a:xfrm>
          <a:prstGeom prst="rect">
            <a:avLst/>
          </a:prstGeom>
          <a:noFill/>
          <a:ln>
            <a:noFill/>
          </a:ln>
        </p:spPr>
        <p:txBody>
          <a:bodyPr wrap="square" lIns="0" tIns="0" rIns="0" bIns="0" rtlCol="0" anchor="b">
            <a:noAutofit/>
          </a:bodyPr>
          <a:lstStyle/>
          <a:p>
            <a:pPr marL="0" indent="0">
              <a:buNone/>
            </a:pPr>
            <a:r>
              <a:rPr lang="vi-VN" sz="1400" b="1" spc="200">
                <a:solidFill>
                  <a:srgbClr val="585858"/>
                </a:solidFill>
              </a:rPr>
              <a:t>CONSULTING &amp; ANALYTICS</a:t>
            </a:r>
            <a:endParaRPr lang="vi-VN" sz="1400"/>
          </a:p>
        </p:txBody>
      </p:sp>
      <p:sp>
        <p:nvSpPr>
          <p:cNvPr id="12" name="ctrTitle 12"/>
          <p:cNvSpPr>
            <a:spLocks noGrp="1"/>
          </p:cNvSpPr>
          <p:nvPr>
            <p:ph type="ctrTitle"/>
          </p:nvPr>
        </p:nvSpPr>
        <p:spPr/>
        <p:txBody>
          <a:bodyPr>
            <a:normAutofit/>
          </a:bodyPr>
          <a:lstStyle/>
          <a:p>
            <a:r>
              <a:rPr lang="vi-VN"/>
              <a:t>Excel for Business Intelligence Analyst</a:t>
            </a:r>
          </a:p>
        </p:txBody>
      </p:sp>
      <p:sp>
        <p:nvSpPr>
          <p:cNvPr id="13" name="subTitle 13"/>
          <p:cNvSpPr>
            <a:spLocks noGrp="1"/>
          </p:cNvSpPr>
          <p:nvPr>
            <p:ph type="subTitle" idx="1"/>
          </p:nvPr>
        </p:nvSpPr>
        <p:spPr/>
        <p:txBody>
          <a:bodyPr>
            <a:normAutofit/>
          </a:bodyPr>
          <a:lstStyle/>
          <a:p>
            <a:r>
              <a:rPr lang="vi-VN"/>
              <a:t>Buổi 4: Tiền xử lý dữ liệu với Power Query</a:t>
            </a:r>
          </a:p>
        </p:txBody>
      </p:sp>
      <p:cxnSp>
        <p:nvCxnSpPr>
          <p:cNvPr id="14" name="Line 14"/>
          <p:cNvCxnSpPr/>
          <p:nvPr/>
        </p:nvCxnSpPr>
        <p:spPr>
          <a:xfrm>
            <a:off x="1524000" y="5669280"/>
            <a:ext cx="10119360" cy="0"/>
          </a:xfrm>
          <a:prstGeom prst="line">
            <a:avLst/>
          </a:prstGeom>
          <a:ln w="12700">
            <a:solidFill>
              <a:srgbClr val="D9DEE8"/>
            </a:solidFill>
          </a:ln>
        </p:spPr>
      </p:cxnSp>
      <p:sp>
        <p:nvSpPr>
          <p:cNvPr id="15" name="TextBox"/>
          <p:cNvSpPr txBox="1"/>
          <p:nvPr/>
        </p:nvSpPr>
        <p:spPr>
          <a:xfrm>
            <a:off x="1524000" y="5760720"/>
            <a:ext cx="10119360" cy="457200"/>
          </a:xfrm>
          <a:prstGeom prst="rect">
            <a:avLst/>
          </a:prstGeom>
          <a:noFill/>
          <a:ln>
            <a:noFill/>
          </a:ln>
        </p:spPr>
        <p:txBody>
          <a:bodyPr wrap="square" lIns="0" tIns="0" rIns="0" bIns="0" rtlCol="0" anchor="t">
            <a:noAutofit/>
          </a:bodyPr>
          <a:lstStyle/>
          <a:p>
            <a:pPr marL="0" indent="0">
              <a:buNone/>
            </a:pPr>
            <a:r>
              <a:rPr lang="vi-VN" sz="1400">
                <a:solidFill>
                  <a:srgbClr val="585858"/>
                </a:solidFill>
              </a:rPr>
              <a:t>Bắt buộc máy Windows có Power Query (Data → Get Data)</a:t>
            </a:r>
            <a:r>
              <a:rPr lang="vi-VN" sz="1400" b="1">
                <a:solidFill>
                  <a:srgbClr val="1B2230"/>
                </a:solidFill>
              </a:rPr>
              <a:t/>
            </a:r>
            <a:r>
              <a:rPr lang="vi-VN" sz="1400">
                <a:solidFill>
                  <a:srgbClr val="585858"/>
                </a:solidFill>
              </a:rPr>
              <a:t/>
            </a:r>
            <a:endParaRPr lang="vi-VN" sz="1400"/>
          </a:p>
        </p:txBody>
      </p:sp>
    </p:spTree>
    <p:extLst>
      <p:ext uri="{BB962C8B-B14F-4D97-AF65-F5344CB8AC3E}">
        <p14:creationId xmlns:p14="http://schemas.microsoft.com/office/powerpoint/2010/main" val="22430515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Câu hỏi mở buổi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737360"/>
            <a:ext cx="8961120" cy="2011680"/>
          </a:xfrm>
          <a:prstGeom prst="rect">
            <a:avLst/>
          </a:prstGeom>
          <a:noFill/>
        </p:spPr>
        <p:txBody>
          <a:bodyPr wrap="square" lIns="0" rIns="0" tIns="0" bIns="0" anchor="t">
            <a:spAutoFit/>
          </a:bodyPr>
          <a:lstStyle/>
          <a:p>
            <a:r>
              <a:rPr sz="3000" b="1">
                <a:solidFill>
                  <a:srgbClr val="203864"/>
                </a:solidFill>
                <a:latin typeface="Arial"/>
              </a:rPr>
              <a:t>“Làm sao để việc làm sạch dữ liệu chỉ làm MỘT LẦN,</a:t>
            </a:r>
          </a:p>
          <a:p>
            <a:pPr>
              <a:spcBef>
                <a:spcPts val="600"/>
              </a:spcBef>
            </a:pPr>
            <a:r>
              <a:rPr sz="3000" b="1">
                <a:solidFill>
                  <a:srgbClr val="203864"/>
                </a:solidFill>
                <a:latin typeface="Arial"/>
              </a:rPr>
              <a:t>từ đó chỉ cần bấm Refresh?”</a:t>
            </a:r>
          </a:p>
        </p:txBody>
      </p:sp>
      <p:sp>
        <p:nvSpPr>
          <p:cNvPr id="5" name="Explainer"/>
          <p:cNvSpPr/>
          <p:nvPr/>
        </p:nvSpPr>
        <p:spPr>
          <a:xfrm>
            <a:off x="1527048" y="3931920"/>
            <a:ext cx="8961120" cy="17373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55648" y="4114800"/>
            <a:ext cx="8503920" cy="1371600"/>
          </a:xfrm>
          <a:prstGeom prst="rect">
            <a:avLst/>
          </a:prstGeom>
          <a:noFill/>
        </p:spPr>
        <p:txBody>
          <a:bodyPr wrap="square" lIns="0" rIns="0" tIns="0" bIns="0" anchor="t">
            <a:spAutoFit/>
          </a:bodyPr>
          <a:lstStyle/>
          <a:p>
            <a:r>
              <a:rPr sz="1700" b="0">
                <a:solidFill>
                  <a:srgbClr val="585858"/>
                </a:solidFill>
                <a:latin typeface="Arial"/>
              </a:rPr>
              <a:t>Tháng nào công ty cũng có file bán hàng mới. Copy-paste, sửa ngày, sửa mã cửa hàng bằng tay mỗi tháng là công việc không có hồi kết — càng làm nhiều lần càng dễ sai.</a:t>
            </a:r>
          </a:p>
        </p:txBody>
      </p:sp>
      <p:sp>
        <p:nvSpPr>
          <p:cNvPr id="7" name="Refresh icon"/>
          <p:cNvSpPr/>
          <p:nvPr/>
        </p:nvSpPr>
        <p:spPr>
          <a:xfrm>
            <a:off x="10607040" y="1737360"/>
            <a:ext cx="1005840" cy="10058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10607040" y="1737360"/>
            <a:ext cx="1005840" cy="1005840"/>
          </a:xfrm>
          <a:prstGeom prst="rect">
            <a:avLst/>
          </a:prstGeom>
          <a:noFill/>
        </p:spPr>
        <p:txBody>
          <a:bodyPr wrap="square" lIns="0" rIns="0" tIns="0" bIns="0" anchor="ctr">
            <a:spAutoFit/>
          </a:bodyPr>
          <a:lstStyle/>
          <a:p>
            <a:pPr algn="ctr"/>
            <a:r>
              <a:rPr sz="4000" b="1">
                <a:solidFill>
                  <a:srgbClr val="FFFFFF"/>
                </a:solidFill>
                <a:latin typeface="Aria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 Buổi 3 &amp; file khởi đầu</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6492240" cy="4206240"/>
          </a:xfrm>
          <a:prstGeom prst="rect">
            <a:avLst/>
          </a:prstGeom>
          <a:noFill/>
        </p:spPr>
        <p:txBody>
          <a:bodyPr wrap="square" lIns="0" rIns="0" tIns="0" bIns="0" anchor="t">
            <a:spAutoFit/>
          </a:bodyPr>
          <a:lstStyle/>
          <a:p>
            <a:r>
              <a:rPr sz="1800" b="1">
                <a:solidFill>
                  <a:srgbClr val="203864"/>
                </a:solidFill>
                <a:latin typeface="Arial"/>
              </a:rPr>
              <a:t>•  </a:t>
            </a:r>
            <a:r>
              <a:rPr sz="1800" b="1">
                <a:solidFill>
                  <a:srgbClr val="203864"/>
                </a:solidFill>
                <a:latin typeface="Arial"/>
              </a:rPr>
              <a:t>Viên gạch B3: </a:t>
            </a:r>
            <a:r>
              <a:rPr sz="1800" b="0">
                <a:solidFill>
                  <a:srgbClr val="1B2230"/>
                </a:solidFill>
                <a:latin typeface="Arial"/>
              </a:rPr>
              <a:t>Pivot Miền × Tháng (tổng 941.454.000), Slicer nối 3 Pivot, PivotChart theo ngày.</a:t>
            </a:r>
          </a:p>
          <a:p>
            <a:pPr>
              <a:spcBef>
                <a:spcPts val="1600"/>
              </a:spcBef>
            </a:pPr>
            <a:r>
              <a:rPr sz="1800" b="1">
                <a:solidFill>
                  <a:srgbClr val="203864"/>
                </a:solidFill>
                <a:latin typeface="Arial"/>
              </a:rPr>
              <a:t>•  </a:t>
            </a:r>
            <a:r>
              <a:rPr sz="1800" b="1">
                <a:solidFill>
                  <a:srgbClr val="203864"/>
                </a:solidFill>
                <a:latin typeface="Arial"/>
              </a:rPr>
              <a:t>Bài về nhà B3 (4 tháng đầu năm): </a:t>
            </a:r>
            <a:r>
              <a:rPr sz="1800" b="0">
                <a:solidFill>
                  <a:srgbClr val="1B2230"/>
                </a:solidFill>
                <a:latin typeface="Arial"/>
              </a:rPr>
              <a:t>đối soát Pivot với số liệu hệ thống, 6 ô Quantity dạng chữ cài sẵn tháng 4, câu hỏi “ST07 đã hồi phục chưa”.</a:t>
            </a:r>
          </a:p>
          <a:p>
            <a:pPr>
              <a:spcBef>
                <a:spcPts val="1600"/>
              </a:spcBef>
            </a:pPr>
            <a:r>
              <a:rPr sz="1800" b="1">
                <a:solidFill>
                  <a:srgbClr val="203864"/>
                </a:solidFill>
                <a:latin typeface="Arial"/>
              </a:rPr>
              <a:t>•  </a:t>
            </a:r>
            <a:r>
              <a:rPr sz="1800" b="1">
                <a:solidFill>
                  <a:srgbClr val="203864"/>
                </a:solidFill>
                <a:latin typeface="Arial"/>
              </a:rPr>
              <a:t>File khởi đầu hôm nay </a:t>
            </a:r>
            <a:r>
              <a:rPr sz="1800" b="0">
                <a:solidFill>
                  <a:srgbClr val="1B2230"/>
                </a:solidFill>
                <a:latin typeface="Arial"/>
              </a:rPr>
              <a:t>= đáp án B3 (B3_MCI_Mart_Q1_2025_Answer.xlsx). Lưu thành B4_&lt;HoTen&gt;.xlsx. GIỮ NGUYÊN mọi sheet cũ — hôm nay chỉ thêm vào.</a:t>
            </a:r>
          </a:p>
        </p:txBody>
      </p:sp>
      <p:sp>
        <p:nvSpPr>
          <p:cNvPr id="5" name="Brick B3"/>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B3 · Báo cáo Pivot</a:t>
            </a:r>
          </a:p>
        </p:txBody>
      </p:sp>
      <p:sp>
        <p:nvSpPr>
          <p:cNvPr id="7" name="Brick B4"/>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B4 · Pipeline Power Query</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Demo: ../B3_PivotTable/Practice/B3_MCI_Mart_Q1_2025_Answer.xlsx (sheet Kiem_tra) · ../B3_PivotTable/Homework/B3_BTVN_MCI_Mart_T1_T4_2025_Answer.xlsx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“Nỗi đau” — làm tay ba file CSV</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File 1"/>
          <p:cNvSpPr/>
          <p:nvPr/>
        </p:nvSpPr>
        <p:spPr>
          <a:xfrm>
            <a:off x="1527048" y="1463040"/>
            <a:ext cx="3200400" cy="10972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64207" y="1572768"/>
            <a:ext cx="2926080" cy="914400"/>
          </a:xfrm>
          <a:prstGeom prst="rect">
            <a:avLst/>
          </a:prstGeom>
          <a:noFill/>
        </p:spPr>
        <p:txBody>
          <a:bodyPr wrap="square" lIns="0" rIns="0" tIns="0" bIns="0" anchor="t">
            <a:spAutoFit/>
          </a:bodyPr>
          <a:lstStyle/>
          <a:p>
            <a:r>
              <a:rPr sz="1600" b="1">
                <a:solidFill>
                  <a:srgbClr val="203864"/>
                </a:solidFill>
                <a:latin typeface="Arial"/>
              </a:rPr>
              <a:t>Sales_2025-01.csv</a:t>
            </a:r>
          </a:p>
          <a:p>
            <a:pPr>
              <a:spcBef>
                <a:spcPts val="400"/>
              </a:spcBef>
            </a:pPr>
            <a:r>
              <a:rPr sz="1400" b="0">
                <a:solidFill>
                  <a:srgbClr val="585858"/>
                </a:solidFill>
                <a:latin typeface="Arial"/>
              </a:rPr>
              <a:t>2.726 dòng</a:t>
            </a:r>
          </a:p>
        </p:txBody>
      </p:sp>
      <p:sp>
        <p:nvSpPr>
          <p:cNvPr id="6" name="File 2"/>
          <p:cNvSpPr/>
          <p:nvPr/>
        </p:nvSpPr>
        <p:spPr>
          <a:xfrm>
            <a:off x="4956048" y="1463040"/>
            <a:ext cx="3200400" cy="10972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5093208" y="1572768"/>
            <a:ext cx="2926080" cy="914400"/>
          </a:xfrm>
          <a:prstGeom prst="rect">
            <a:avLst/>
          </a:prstGeom>
          <a:noFill/>
        </p:spPr>
        <p:txBody>
          <a:bodyPr wrap="square" lIns="0" rIns="0" tIns="0" bIns="0" anchor="t">
            <a:spAutoFit/>
          </a:bodyPr>
          <a:lstStyle/>
          <a:p>
            <a:r>
              <a:rPr sz="1600" b="1">
                <a:solidFill>
                  <a:srgbClr val="203864"/>
                </a:solidFill>
                <a:latin typeface="Arial"/>
              </a:rPr>
              <a:t>Sales_2025-02.csv</a:t>
            </a:r>
          </a:p>
          <a:p>
            <a:pPr>
              <a:spcBef>
                <a:spcPts val="400"/>
              </a:spcBef>
            </a:pPr>
            <a:r>
              <a:rPr sz="1400" b="0">
                <a:solidFill>
                  <a:srgbClr val="585858"/>
                </a:solidFill>
                <a:latin typeface="Arial"/>
              </a:rPr>
              <a:t>1.596 dòng</a:t>
            </a:r>
          </a:p>
        </p:txBody>
      </p:sp>
      <p:sp>
        <p:nvSpPr>
          <p:cNvPr id="8" name="File 3"/>
          <p:cNvSpPr/>
          <p:nvPr/>
        </p:nvSpPr>
        <p:spPr>
          <a:xfrm>
            <a:off x="8385048" y="1463040"/>
            <a:ext cx="3200400" cy="109728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522208" y="1572768"/>
            <a:ext cx="2926080" cy="914400"/>
          </a:xfrm>
          <a:prstGeom prst="rect">
            <a:avLst/>
          </a:prstGeom>
          <a:noFill/>
        </p:spPr>
        <p:txBody>
          <a:bodyPr wrap="square" lIns="0" rIns="0" tIns="0" bIns="0" anchor="t">
            <a:spAutoFit/>
          </a:bodyPr>
          <a:lstStyle/>
          <a:p>
            <a:r>
              <a:rPr sz="1600" b="1">
                <a:solidFill>
                  <a:srgbClr val="203864"/>
                </a:solidFill>
                <a:latin typeface="Arial"/>
              </a:rPr>
              <a:t>Sales_2025-03.csv</a:t>
            </a:r>
          </a:p>
          <a:p>
            <a:pPr>
              <a:spcBef>
                <a:spcPts val="400"/>
              </a:spcBef>
            </a:pPr>
            <a:r>
              <a:rPr sz="1400" b="0">
                <a:solidFill>
                  <a:srgbClr val="585858"/>
                </a:solidFill>
                <a:latin typeface="Arial"/>
              </a:rPr>
              <a:t>1.868 dòng</a:t>
            </a:r>
          </a:p>
        </p:txBody>
      </p:sp>
      <p:sp>
        <p:nvSpPr>
          <p:cNvPr id="10" name="Image placeholder [CHỤP]"/>
          <p:cNvSpPr/>
          <p:nvPr/>
        </p:nvSpPr>
        <p:spPr>
          <a:xfrm>
            <a:off x="1527048" y="2743200"/>
            <a:ext cx="10122408" cy="233172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709928" y="2834640"/>
            <a:ext cx="9756648" cy="214883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Ba cửa sổ Excel mở đồng thời 3 file CSV tháng 1–3/2025, xếp cạnh nhau</a:t>
            </a:r>
          </a:p>
          <a:p>
            <a:pPr algn="ctr">
              <a:spcBef>
                <a:spcPts val="400"/>
              </a:spcBef>
            </a:pPr>
            <a:r>
              <a:rPr sz="1200" b="0">
                <a:solidFill>
                  <a:srgbClr val="6B6F76"/>
                </a:solidFill>
                <a:latin typeface="Arial"/>
              </a:rPr>
              <a:t>Practice/Data_Sales/Sales_2025-01/02/03.csv → S04_ba_file_csv.png</a:t>
            </a:r>
          </a:p>
        </p:txBody>
      </p:sp>
      <p:sp>
        <p:nvSpPr>
          <p:cNvPr id="12" name="TIP callout"/>
          <p:cNvSpPr/>
          <p:nvPr/>
        </p:nvSpPr>
        <p:spPr>
          <a:xfrm>
            <a:off x="1527048" y="5257800"/>
            <a:ext cx="10122408"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3675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349240"/>
            <a:ext cx="9326880" cy="640080"/>
          </a:xfrm>
          <a:prstGeom prst="rect">
            <a:avLst/>
          </a:prstGeom>
          <a:noFill/>
        </p:spPr>
        <p:txBody>
          <a:bodyPr wrap="square" lIns="0" rIns="0" tIns="0" bIns="0" anchor="t">
            <a:spAutoFit/>
          </a:bodyPr>
          <a:lstStyle/>
          <a:p>
            <a:r>
              <a:rPr sz="1600" b="0">
                <a:solidFill>
                  <a:srgbClr val="1B2230"/>
                </a:solidFill>
                <a:latin typeface="Arial"/>
              </a:rPr>
              <a:t>Việc phải làm bằng tay mỗi tháng: mở file → copy → dán nối tiếp → sửa 25 mã cửa hàng dính dấu cách → sửa ngày dd/mm và giá “19.000” → tìm và xóa dòng trùng.</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Practice/Data_Sales/Sales_2025-01.csv, -02.csv, -03.csv mở bằng Excel (View → Arrange All → Vertical)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Quy trình Power Excel: từ dữ liệu thô đến báo cáo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Raw Data → Power Query → Data Model → Power Pivot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QUY TRÌNH POWER EXCEL</a:t>
            </a:r>
          </a:p>
        </p:txBody>
      </p:sp>
      <p:sp>
        <p:nvSpPr>
          <p:cNvPr id="4" name="Block 1"/>
          <p:cNvSpPr/>
          <p:nvPr/>
        </p:nvSpPr>
        <p:spPr>
          <a:xfrm>
            <a:off x="1527048" y="1920240"/>
            <a:ext cx="2331720" cy="2468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64207" y="2057400"/>
            <a:ext cx="2057400" cy="2194560"/>
          </a:xfrm>
          <a:prstGeom prst="rect">
            <a:avLst/>
          </a:prstGeom>
          <a:noFill/>
        </p:spPr>
        <p:txBody>
          <a:bodyPr wrap="square" lIns="0" rIns="0" tIns="0" bIns="0" anchor="t">
            <a:spAutoFit/>
          </a:bodyPr>
          <a:lstStyle/>
          <a:p>
            <a:r>
              <a:rPr sz="1400" b="0">
                <a:solidFill>
                  <a:srgbClr val="6B6F76"/>
                </a:solidFill>
                <a:latin typeface="Arial"/>
              </a:rPr>
              <a:t>1  </a:t>
            </a:r>
            <a:r>
              <a:rPr sz="1700" b="1">
                <a:solidFill>
                  <a:srgbClr val="203864"/>
                </a:solidFill>
                <a:latin typeface="Arial"/>
              </a:rPr>
              <a:t>Raw Data</a:t>
            </a:r>
          </a:p>
          <a:p>
            <a:pPr>
              <a:spcBef>
                <a:spcPts val="800"/>
              </a:spcBef>
            </a:pPr>
            <a:r>
              <a:rPr sz="1300" b="0">
                <a:solidFill>
                  <a:srgbClr val="585858"/>
                </a:solidFill>
                <a:latin typeface="Arial"/>
              </a:rPr>
              <a:t>CSV/TXT, Excel Table, database, cả một thư mục file, web…</a:t>
            </a:r>
          </a:p>
        </p:txBody>
      </p:sp>
      <p:cxnSp>
        <p:nvCxnSpPr>
          <p:cNvPr id="6" name="Connector 5"/>
          <p:cNvCxnSpPr/>
          <p:nvPr/>
        </p:nvCxnSpPr>
        <p:spPr>
          <a:xfrm>
            <a:off x="3886200" y="3154680"/>
            <a:ext cx="173735" cy="0"/>
          </a:xfrm>
          <a:prstGeom prst="line">
            <a:avLst/>
          </a:prstGeom>
          <a:ln w="31750">
            <a:solidFill>
              <a:srgbClr val="3398DA"/>
            </a:solidFill>
          </a:ln>
        </p:spPr>
        <p:style>
          <a:lnRef idx="2">
            <a:schemeClr val="accent1"/>
          </a:lnRef>
          <a:fillRef idx="0">
            <a:schemeClr val="accent1"/>
          </a:fillRef>
          <a:effectRef idx="1">
            <a:schemeClr val="accent1"/>
          </a:effectRef>
          <a:fontRef idx="minor">
            <a:schemeClr val="tx1"/>
          </a:fontRef>
        </p:style>
      </p:cxnSp>
      <p:sp>
        <p:nvSpPr>
          <p:cNvPr id="7" name="Block 2"/>
          <p:cNvSpPr/>
          <p:nvPr/>
        </p:nvSpPr>
        <p:spPr>
          <a:xfrm>
            <a:off x="4087368" y="1920240"/>
            <a:ext cx="2331720" cy="2468880"/>
          </a:xfrm>
          <a:prstGeom prst="roundRect">
            <a:avLst>
              <a:gd name="adj" fmla="val 6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4224528" y="2057400"/>
            <a:ext cx="2057400" cy="2194560"/>
          </a:xfrm>
          <a:prstGeom prst="rect">
            <a:avLst/>
          </a:prstGeom>
          <a:noFill/>
        </p:spPr>
        <p:txBody>
          <a:bodyPr wrap="square" lIns="0" rIns="0" tIns="0" bIns="0" anchor="t">
            <a:spAutoFit/>
          </a:bodyPr>
          <a:lstStyle/>
          <a:p>
            <a:r>
              <a:rPr sz="1400" b="0">
                <a:solidFill>
                  <a:srgbClr val="CDE2FB"/>
                </a:solidFill>
                <a:latin typeface="Arial"/>
              </a:rPr>
              <a:t>2  </a:t>
            </a:r>
            <a:r>
              <a:rPr sz="1700" b="1">
                <a:solidFill>
                  <a:srgbClr val="FFFFFF"/>
                </a:solidFill>
                <a:latin typeface="Arial"/>
              </a:rPr>
              <a:t>Power Query</a:t>
            </a:r>
          </a:p>
          <a:p>
            <a:pPr>
              <a:spcBef>
                <a:spcPts val="800"/>
              </a:spcBef>
            </a:pPr>
            <a:r>
              <a:rPr sz="1300" b="0">
                <a:solidFill>
                  <a:srgbClr val="E3ECF7"/>
                </a:solidFill>
                <a:latin typeface="Arial"/>
              </a:rPr>
              <a:t>Kết nối, làm sạch, biến đổi — ETL (Extract – Transform – Load)</a:t>
            </a:r>
          </a:p>
        </p:txBody>
      </p:sp>
      <p:cxnSp>
        <p:nvCxnSpPr>
          <p:cNvPr id="9" name="Connector 8"/>
          <p:cNvCxnSpPr/>
          <p:nvPr/>
        </p:nvCxnSpPr>
        <p:spPr>
          <a:xfrm>
            <a:off x="6446520" y="3154680"/>
            <a:ext cx="173736" cy="0"/>
          </a:xfrm>
          <a:prstGeom prst="line">
            <a:avLst/>
          </a:prstGeom>
          <a:ln w="31750">
            <a:solidFill>
              <a:srgbClr val="3398DA"/>
            </a:solidFill>
          </a:ln>
        </p:spPr>
        <p:style>
          <a:lnRef idx="2">
            <a:schemeClr val="accent1"/>
          </a:lnRef>
          <a:fillRef idx="0">
            <a:schemeClr val="accent1"/>
          </a:fillRef>
          <a:effectRef idx="1">
            <a:schemeClr val="accent1"/>
          </a:effectRef>
          <a:fontRef idx="minor">
            <a:schemeClr val="tx1"/>
          </a:fontRef>
        </p:style>
      </p:cxnSp>
      <p:sp>
        <p:nvSpPr>
          <p:cNvPr id="10" name="Block 3"/>
          <p:cNvSpPr/>
          <p:nvPr/>
        </p:nvSpPr>
        <p:spPr>
          <a:xfrm>
            <a:off x="6647688" y="1920240"/>
            <a:ext cx="2331720" cy="2468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6784848" y="2057400"/>
            <a:ext cx="2057400" cy="2194560"/>
          </a:xfrm>
          <a:prstGeom prst="rect">
            <a:avLst/>
          </a:prstGeom>
          <a:noFill/>
        </p:spPr>
        <p:txBody>
          <a:bodyPr wrap="square" lIns="0" rIns="0" tIns="0" bIns="0" anchor="t">
            <a:spAutoFit/>
          </a:bodyPr>
          <a:lstStyle/>
          <a:p>
            <a:r>
              <a:rPr sz="1400" b="0">
                <a:solidFill>
                  <a:srgbClr val="6B6F76"/>
                </a:solidFill>
                <a:latin typeface="Arial"/>
              </a:rPr>
              <a:t>3  </a:t>
            </a:r>
            <a:r>
              <a:rPr sz="1700" b="1">
                <a:solidFill>
                  <a:srgbClr val="203864"/>
                </a:solidFill>
                <a:latin typeface="Arial"/>
              </a:rPr>
              <a:t>Data Model</a:t>
            </a:r>
          </a:p>
          <a:p>
            <a:pPr>
              <a:spcBef>
                <a:spcPts val="800"/>
              </a:spcBef>
            </a:pPr>
            <a:r>
              <a:rPr sz="1300" b="0">
                <a:solidFill>
                  <a:srgbClr val="585858"/>
                </a:solidFill>
                <a:latin typeface="Arial"/>
              </a:rPr>
              <a:t>Các bảng đã sạch, nối bằng quan hệ, không gộp thành một bảng khổng lồ (B5)</a:t>
            </a:r>
          </a:p>
        </p:txBody>
      </p:sp>
      <p:cxnSp>
        <p:nvCxnSpPr>
          <p:cNvPr id="12" name="Connector 11"/>
          <p:cNvCxnSpPr/>
          <p:nvPr/>
        </p:nvCxnSpPr>
        <p:spPr>
          <a:xfrm>
            <a:off x="9006840" y="3154680"/>
            <a:ext cx="173736" cy="0"/>
          </a:xfrm>
          <a:prstGeom prst="line">
            <a:avLst/>
          </a:prstGeom>
          <a:ln w="31750">
            <a:solidFill>
              <a:srgbClr val="3398DA"/>
            </a:solidFill>
          </a:ln>
        </p:spPr>
        <p:style>
          <a:lnRef idx="2">
            <a:schemeClr val="accent1"/>
          </a:lnRef>
          <a:fillRef idx="0">
            <a:schemeClr val="accent1"/>
          </a:fillRef>
          <a:effectRef idx="1">
            <a:schemeClr val="accent1"/>
          </a:effectRef>
          <a:fontRef idx="minor">
            <a:schemeClr val="tx1"/>
          </a:fontRef>
        </p:style>
      </p:cxnSp>
      <p:sp>
        <p:nvSpPr>
          <p:cNvPr id="13" name="Block 4"/>
          <p:cNvSpPr/>
          <p:nvPr/>
        </p:nvSpPr>
        <p:spPr>
          <a:xfrm>
            <a:off x="9208007" y="1920240"/>
            <a:ext cx="2331720" cy="2468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9345167" y="2057400"/>
            <a:ext cx="2057400" cy="2194560"/>
          </a:xfrm>
          <a:prstGeom prst="rect">
            <a:avLst/>
          </a:prstGeom>
          <a:noFill/>
        </p:spPr>
        <p:txBody>
          <a:bodyPr wrap="square" lIns="0" rIns="0" tIns="0" bIns="0" anchor="t">
            <a:spAutoFit/>
          </a:bodyPr>
          <a:lstStyle/>
          <a:p>
            <a:r>
              <a:rPr sz="1400" b="0">
                <a:solidFill>
                  <a:srgbClr val="6B6F76"/>
                </a:solidFill>
                <a:latin typeface="Arial"/>
              </a:rPr>
              <a:t>4  </a:t>
            </a:r>
            <a:r>
              <a:rPr sz="1700" b="1">
                <a:solidFill>
                  <a:srgbClr val="203864"/>
                </a:solidFill>
                <a:latin typeface="Arial"/>
              </a:rPr>
              <a:t>Power Pivot &amp; Pivot</a:t>
            </a:r>
          </a:p>
          <a:p>
            <a:pPr>
              <a:spcBef>
                <a:spcPts val="800"/>
              </a:spcBef>
            </a:pPr>
            <a:r>
              <a:rPr sz="1300" b="0">
                <a:solidFill>
                  <a:srgbClr val="585858"/>
                </a:solidFill>
                <a:latin typeface="Arial"/>
              </a:rPr>
              <a:t>Phân tích, viết DAX (B5–B6)</a:t>
            </a:r>
          </a:p>
        </p:txBody>
      </p:sp>
      <p:sp>
        <p:nvSpPr>
          <p:cNvPr id="15" name="TIP callout"/>
          <p:cNvSpPr/>
          <p:nvPr/>
        </p:nvSpPr>
        <p:spPr>
          <a:xfrm>
            <a:off x="1527048" y="475488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1636776" y="48646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7" name="TIP text"/>
          <p:cNvSpPr txBox="1"/>
          <p:nvPr/>
        </p:nvSpPr>
        <p:spPr>
          <a:xfrm>
            <a:off x="2212848" y="4846320"/>
            <a:ext cx="9326880" cy="594359"/>
          </a:xfrm>
          <a:prstGeom prst="rect">
            <a:avLst/>
          </a:prstGeom>
          <a:noFill/>
        </p:spPr>
        <p:txBody>
          <a:bodyPr wrap="square" lIns="0" rIns="0" tIns="0" bIns="0" anchor="t">
            <a:spAutoFit/>
          </a:bodyPr>
          <a:lstStyle/>
          <a:p>
            <a:r>
              <a:rPr sz="1600" b="0">
                <a:solidFill>
                  <a:srgbClr val="1B2230"/>
                </a:solidFill>
                <a:latin typeface="Arial"/>
              </a:rPr>
              <a:t>Tất cả nằm sẵn trong Excel (tab Data), không cần cài thêm phần mềm. Hôm nay ở khối 2; Buổi 5 sang khối 3 và 4: sạch trước, nối sau, phân tích cuối cùng.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Khi nào dùng Power Query / Power Pivot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QUY TRÌNH POWER EXCEL</a:t>
            </a:r>
          </a:p>
        </p:txBody>
      </p:sp>
      <p:sp>
        <p:nvSpPr>
          <p:cNvPr id="4" name="Reason 1"/>
          <p:cNvSpPr/>
          <p:nvPr/>
        </p:nvSpPr>
        <p:spPr>
          <a:xfrm>
            <a:off x="1527048" y="1600200"/>
            <a:ext cx="6675120" cy="77724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755648" y="1600200"/>
            <a:ext cx="6217920" cy="777240"/>
          </a:xfrm>
          <a:prstGeom prst="rect">
            <a:avLst/>
          </a:prstGeom>
          <a:noFill/>
        </p:spPr>
        <p:txBody>
          <a:bodyPr wrap="square" lIns="0" rIns="0" tIns="0" bIns="0" anchor="ctr">
            <a:spAutoFit/>
          </a:bodyPr>
          <a:lstStyle/>
          <a:p>
            <a:r>
              <a:rPr sz="1600" b="0">
                <a:solidFill>
                  <a:srgbClr val="1B2230"/>
                </a:solidFill>
                <a:latin typeface="Arial"/>
              </a:rPr>
              <a:t>Dữ liệu nhiều hơn một triệu dòng (vượt giới hạn worksheet)</a:t>
            </a:r>
          </a:p>
        </p:txBody>
      </p:sp>
      <p:sp>
        <p:nvSpPr>
          <p:cNvPr id="6" name="Reason 2"/>
          <p:cNvSpPr/>
          <p:nvPr/>
        </p:nvSpPr>
        <p:spPr>
          <a:xfrm>
            <a:off x="1527048" y="2514600"/>
            <a:ext cx="6675120" cy="77724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55648" y="2514600"/>
            <a:ext cx="6217920" cy="777240"/>
          </a:xfrm>
          <a:prstGeom prst="rect">
            <a:avLst/>
          </a:prstGeom>
          <a:noFill/>
        </p:spPr>
        <p:txBody>
          <a:bodyPr wrap="square" lIns="0" rIns="0" tIns="0" bIns="0" anchor="ctr">
            <a:spAutoFit/>
          </a:bodyPr>
          <a:lstStyle/>
          <a:p>
            <a:r>
              <a:rPr sz="1600" b="0">
                <a:solidFill>
                  <a:srgbClr val="1B2230"/>
                </a:solidFill>
                <a:latin typeface="Arial"/>
              </a:rPr>
              <a:t>Dữ liệu nằm ở nhiều nguồn (nhiều file, database, thư mục)</a:t>
            </a:r>
          </a:p>
        </p:txBody>
      </p:sp>
      <p:sp>
        <p:nvSpPr>
          <p:cNvPr id="8" name="Reason 3"/>
          <p:cNvSpPr/>
          <p:nvPr/>
        </p:nvSpPr>
        <p:spPr>
          <a:xfrm>
            <a:off x="1527048" y="3429000"/>
            <a:ext cx="6675120" cy="77724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55648" y="3429000"/>
            <a:ext cx="6217920" cy="777240"/>
          </a:xfrm>
          <a:prstGeom prst="rect">
            <a:avLst/>
          </a:prstGeom>
          <a:noFill/>
        </p:spPr>
        <p:txBody>
          <a:bodyPr wrap="square" lIns="0" rIns="0" tIns="0" bIns="0" anchor="ctr">
            <a:spAutoFit/>
          </a:bodyPr>
          <a:lstStyle/>
          <a:p>
            <a:r>
              <a:rPr sz="1600" b="0">
                <a:solidFill>
                  <a:srgbClr val="1B2230"/>
                </a:solidFill>
                <a:latin typeface="Arial"/>
              </a:rPr>
              <a:t>Cần tự động hoá: mỗi lần có dữ liệu mới, chỉ Refresh</a:t>
            </a:r>
          </a:p>
        </p:txBody>
      </p:sp>
      <p:sp>
        <p:nvSpPr>
          <p:cNvPr id="10" name="Reason 4"/>
          <p:cNvSpPr/>
          <p:nvPr/>
        </p:nvSpPr>
        <p:spPr>
          <a:xfrm>
            <a:off x="1527048" y="4343400"/>
            <a:ext cx="6675120" cy="77724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755648" y="4343400"/>
            <a:ext cx="6217920" cy="777240"/>
          </a:xfrm>
          <a:prstGeom prst="rect">
            <a:avLst/>
          </a:prstGeom>
          <a:noFill/>
        </p:spPr>
        <p:txBody>
          <a:bodyPr wrap="square" lIns="0" rIns="0" tIns="0" bIns="0" anchor="ctr">
            <a:spAutoFit/>
          </a:bodyPr>
          <a:lstStyle/>
          <a:p>
            <a:r>
              <a:rPr sz="1600" b="0">
                <a:solidFill>
                  <a:srgbClr val="1B2230"/>
                </a:solidFill>
                <a:latin typeface="Arial"/>
              </a:rPr>
              <a:t>Cần kết hợp nhiều bảng mà không muốn nhân bản dữ liệu</a:t>
            </a:r>
          </a:p>
        </p:txBody>
      </p:sp>
      <p:sp>
        <p:nvSpPr>
          <p:cNvPr id="12" name="Row limit card"/>
          <p:cNvSpPr/>
          <p:nvPr/>
        </p:nvSpPr>
        <p:spPr>
          <a:xfrm>
            <a:off x="8503920" y="1600200"/>
            <a:ext cx="3145536" cy="29260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8686800" y="1737360"/>
            <a:ext cx="2779776" cy="2651760"/>
          </a:xfrm>
          <a:prstGeom prst="rect">
            <a:avLst/>
          </a:prstGeom>
          <a:noFill/>
        </p:spPr>
        <p:txBody>
          <a:bodyPr wrap="square" lIns="0" rIns="0" tIns="0" bIns="0" anchor="t">
            <a:spAutoFit/>
          </a:bodyPr>
          <a:lstStyle/>
          <a:p>
            <a:r>
              <a:rPr sz="1400" b="0">
                <a:solidFill>
                  <a:srgbClr val="585858"/>
                </a:solidFill>
                <a:latin typeface="Arial"/>
              </a:rPr>
              <a:t>Excel worksheet</a:t>
            </a:r>
          </a:p>
          <a:p>
            <a:pPr>
              <a:spcBef>
                <a:spcPts val="600"/>
              </a:spcBef>
            </a:pPr>
            <a:r>
              <a:rPr sz="2600" b="1">
                <a:solidFill>
                  <a:srgbClr val="9C0006"/>
                </a:solidFill>
                <a:latin typeface="Arial"/>
              </a:rPr>
              <a:t>1.048.576</a:t>
            </a:r>
          </a:p>
          <a:p>
            <a:pPr>
              <a:spcBef>
                <a:spcPts val="600"/>
              </a:spcBef>
            </a:pPr>
            <a:r>
              <a:rPr sz="1800" b="0">
                <a:solidFill>
                  <a:srgbClr val="1B2230"/>
                </a:solidFill>
                <a:latin typeface="Arial"/>
              </a:rPr>
              <a:t>dòng tối đa</a:t>
            </a:r>
          </a:p>
          <a:p>
            <a:pPr>
              <a:spcBef>
                <a:spcPts val="600"/>
              </a:spcBef>
            </a:pPr>
            <a:r>
              <a:rPr sz="1400" b="0">
                <a:solidFill>
                  <a:srgbClr val="585858"/>
                </a:solidFill>
                <a:latin typeface="Arial"/>
              </a:rPr>
              <a:t>Data Model</a:t>
            </a:r>
          </a:p>
          <a:p>
            <a:pPr>
              <a:spcBef>
                <a:spcPts val="600"/>
              </a:spcBef>
            </a:pPr>
            <a:r>
              <a:rPr sz="1800" b="1">
                <a:solidFill>
                  <a:srgbClr val="2E7D32"/>
                </a:solidFill>
                <a:latin typeface="Arial"/>
              </a:rPr>
              <a:t>Hàng chục triệu dòng</a:t>
            </a:r>
          </a:p>
          <a:p>
            <a:pPr>
              <a:spcBef>
                <a:spcPts val="600"/>
              </a:spcBef>
            </a:pPr>
            <a:r>
              <a:rPr sz="1200" b="0">
                <a:solidFill>
                  <a:srgbClr val="585858"/>
                </a:solidFill>
                <a:latin typeface="Arial"/>
              </a:rPr>
              <a:t>giới hạn bởi bộ nhớ máy (Excel 64-bit)</a:t>
            </a:r>
          </a:p>
        </p:txBody>
      </p:sp>
      <p:sp>
        <p:nvSpPr>
          <p:cNvPr id="14" name="TIP callout"/>
          <p:cNvSpPr/>
          <p:nvPr/>
        </p:nvSpPr>
        <p:spPr>
          <a:xfrm>
            <a:off x="1527048" y="534924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1636776" y="54589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6" name="TIP text"/>
          <p:cNvSpPr txBox="1"/>
          <p:nvPr/>
        </p:nvSpPr>
        <p:spPr>
          <a:xfrm>
            <a:off x="2212848" y="5440679"/>
            <a:ext cx="9326880" cy="594359"/>
          </a:xfrm>
          <a:prstGeom prst="rect">
            <a:avLst/>
          </a:prstGeom>
          <a:noFill/>
        </p:spPr>
        <p:txBody>
          <a:bodyPr wrap="square" lIns="0" rIns="0" tIns="0" bIns="0" anchor="t">
            <a:spAutoFit/>
          </a:bodyPr>
          <a:lstStyle/>
          <a:p>
            <a:r>
              <a:rPr sz="1600" b="0">
                <a:solidFill>
                  <a:srgbClr val="1B2230"/>
                </a:solidFill>
                <a:latin typeface="Arial"/>
              </a:rPr>
              <a:t>Power Pivot KHÔNG chạy trên Mac và Excel Online — lý do B1 đã nhắc yêu cầu máy Windows từ B4. Chưa chuẩn bị được: gặp trợ giảng ngay giờ nghỉ.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Get Data &amp; Query Editor: nơi mọi bước làm sạch được ghi lại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 Data · Query Editor · Applied Steps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GET DATA &amp; QUERY EDITOR</a:t>
            </a:r>
          </a:p>
        </p:txBody>
      </p:sp>
      <p:graphicFrame>
        <p:nvGraphicFramePr>
          <p:cNvPr id="4" name="Table"/>
          <p:cNvGraphicFramePr>
            <a:graphicFrameLocks noGrp="1"/>
          </p:cNvGraphicFramePr>
          <p:nvPr/>
        </p:nvGraphicFramePr>
        <p:xfrm>
          <a:off x="1527048" y="1417320"/>
          <a:ext cx="10122408" cy="1828800"/>
        </p:xfrm>
        <a:graphic>
          <a:graphicData uri="http://schemas.openxmlformats.org/drawingml/2006/table">
            <a:tbl>
              <a:tblPr firstRow="1" bandRow="0"/>
              <a:tblGrid>
                <a:gridCol w="4572000"/>
                <a:gridCol w="5550408"/>
              </a:tblGrid>
              <a:tr h="457200">
                <a:tc>
                  <a:txBody>
                    <a:bodyPr wrap="square"/>
                    <a:lstStyle/>
                    <a:p>
                      <a:r>
                        <a:rPr sz="1400" b="1">
                          <a:solidFill>
                            <a:srgbClr val="FFFFFF"/>
                          </a:solidFill>
                          <a:latin typeface="Arial"/>
                        </a:rPr>
                        <a:t>Tên (đỏ)</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400" b="1">
                          <a:solidFill>
                            <a:srgbClr val="C00000"/>
                          </a:solidFill>
                          <a:latin typeface="Arial"/>
                        </a:rPr>
                        <a:t>Data → Get Data → From File → From Text/CSV</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Kết nối tới một file; bấm Transform Data để mở Query Editor trước khi nạp</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Query Editor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Bảng xem trước ở giữa, Applied Steps bên phải, 4 tab Home / Transform / Add Column / View</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Applied Steps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Danh sách các bước đã làm, chạy lại TỰ ĐỘNG mỗi lần Refresh — như một macro</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1527048" y="3611880"/>
            <a:ext cx="5486400" cy="246888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3703320"/>
            <a:ext cx="5120640" cy="228600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Query Editor: bảng xem trước, thanh công thức, Applied Steps 3 bước tự động Source · Promoted Headers · Changed Type</a:t>
            </a:r>
          </a:p>
          <a:p>
            <a:pPr algn="ctr">
              <a:spcBef>
                <a:spcPts val="400"/>
              </a:spcBef>
            </a:pPr>
            <a:r>
              <a:rPr sz="1200" b="0">
                <a:solidFill>
                  <a:srgbClr val="6B6F76"/>
                </a:solidFill>
                <a:latin typeface="Arial"/>
              </a:rPr>
              <a:t>Query Sales_T1 (Practice/Data_Sales/Sales_2025-01.csv) ngay sau Transform Data → S09_query_editor.png</a:t>
            </a:r>
          </a:p>
        </p:txBody>
      </p:sp>
      <p:sp>
        <p:nvSpPr>
          <p:cNvPr id="7" name="TIP callout"/>
          <p:cNvSpPr/>
          <p:nvPr/>
        </p:nvSpPr>
        <p:spPr>
          <a:xfrm>
            <a:off x="7086600" y="3611880"/>
            <a:ext cx="4562856" cy="11430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7196328" y="37216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9" name="TIP text"/>
          <p:cNvSpPr txBox="1"/>
          <p:nvPr/>
        </p:nvSpPr>
        <p:spPr>
          <a:xfrm>
            <a:off x="7772400" y="3703320"/>
            <a:ext cx="3767328" cy="960120"/>
          </a:xfrm>
          <a:prstGeom prst="rect">
            <a:avLst/>
          </a:prstGeom>
          <a:noFill/>
        </p:spPr>
        <p:txBody>
          <a:bodyPr wrap="square" lIns="0" rIns="0" tIns="0" bIns="0" anchor="t">
            <a:spAutoFit/>
          </a:bodyPr>
          <a:lstStyle/>
          <a:p>
            <a:r>
              <a:rPr sz="1600" b="0">
                <a:solidFill>
                  <a:srgbClr val="1B2230"/>
                </a:solidFill>
                <a:latin typeface="Arial"/>
              </a:rPr>
              <a:t>Query Editor KHÔNG có Undo: bỏ một bước = bấm dấu X cạnh bước đó. Bấm một bước ở giữa để xem dữ liệu tại bước đó.</a:t>
            </a:r>
          </a:p>
        </p:txBody>
      </p:sp>
      <p:sp>
        <p:nvSpPr>
          <p:cNvPr id="10" name="PRO TIP callout"/>
          <p:cNvSpPr/>
          <p:nvPr/>
        </p:nvSpPr>
        <p:spPr>
          <a:xfrm>
            <a:off x="7086600" y="4846320"/>
            <a:ext cx="4562856" cy="12344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 TIP chip"/>
          <p:cNvSpPr/>
          <p:nvPr/>
        </p:nvSpPr>
        <p:spPr>
          <a:xfrm>
            <a:off x="7196328" y="495604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2" name="PRO TIP text"/>
          <p:cNvSpPr txBox="1"/>
          <p:nvPr/>
        </p:nvSpPr>
        <p:spPr>
          <a:xfrm>
            <a:off x="8293608" y="4937759"/>
            <a:ext cx="3246120" cy="1051560"/>
          </a:xfrm>
          <a:prstGeom prst="rect">
            <a:avLst/>
          </a:prstGeom>
          <a:noFill/>
        </p:spPr>
        <p:txBody>
          <a:bodyPr wrap="square" lIns="0" rIns="0" tIns="0" bIns="0" anchor="t">
            <a:spAutoFit/>
          </a:bodyPr>
          <a:lstStyle/>
          <a:p>
            <a:r>
              <a:rPr sz="1600" b="0">
                <a:solidFill>
                  <a:srgbClr val="1B2230"/>
                </a:solidFill>
                <a:latin typeface="Arial"/>
              </a:rPr>
              <a:t>Đặt tên query rõ ràng NGAY TỪ ĐẦU (ô Name, ví dụ Sales_T1) — đổi tên sau khi query khác đã tham chiếu tới sẽ rất phiền.</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Practice/Data_Sales/Sales_2025-01.csv → Data → Get Data → From Text/CSV → Transform Data (query Sales_T1)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Làm sạch dữ liệu: nhìn trước khi sửa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profiling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LÀM SẠCH DỮ LIỆU</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View → Column quality / Column distribution / Column profile</a:t>
            </a:r>
          </a:p>
        </p:txBody>
      </p:sp>
      <p:sp>
        <p:nvSpPr>
          <p:cNvPr id="5" name="Tool purpose"/>
          <p:cNvSpPr txBox="1"/>
          <p:nvPr/>
        </p:nvSpPr>
        <p:spPr>
          <a:xfrm>
            <a:off x="1527048" y="1920240"/>
            <a:ext cx="10122408" cy="548640"/>
          </a:xfrm>
          <a:prstGeom prst="rect">
            <a:avLst/>
          </a:prstGeom>
          <a:noFill/>
        </p:spPr>
        <p:txBody>
          <a:bodyPr wrap="square" lIns="0" rIns="0" tIns="0" bIns="0" anchor="t">
            <a:spAutoFit/>
          </a:bodyPr>
          <a:lstStyle/>
          <a:p>
            <a:r>
              <a:rPr sz="1600" b="0">
                <a:solidFill>
                  <a:srgbClr val="585858"/>
                </a:solidFill>
                <a:latin typeface="Arial"/>
              </a:rPr>
              <a:t>Xem nhanh sức khoẻ từng cột: % Valid / Error / Empty, số giá trị khác nhau, Min / Max, giá trị hay gặp — trước khi mất công sửa mò.</a:t>
            </a:r>
          </a:p>
        </p:txBody>
      </p:sp>
      <p:sp>
        <p:nvSpPr>
          <p:cNvPr id="6" name="Image placeholder [CHỤP]"/>
          <p:cNvSpPr/>
          <p:nvPr/>
        </p:nvSpPr>
        <p:spPr>
          <a:xfrm>
            <a:off x="1527048" y="2606040"/>
            <a:ext cx="4965192" cy="2651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697480"/>
            <a:ext cx="4599431" cy="24688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Unit_Price 100% Valid nhưng Min 10, Max 650; Order_Date có Error (máy English US)</a:t>
            </a:r>
          </a:p>
          <a:p>
            <a:pPr algn="ctr">
              <a:spcBef>
                <a:spcPts val="400"/>
              </a:spcBef>
            </a:pPr>
            <a:r>
              <a:rPr sz="1200" b="0">
                <a:solidFill>
                  <a:srgbClr val="6B6F76"/>
                </a:solidFill>
                <a:latin typeface="Arial"/>
              </a:rPr>
              <a:t>Query Sales_T1, bước Changed Type tự động, profiling entire data set → S11a_column_quality.png</a:t>
            </a:r>
          </a:p>
        </p:txBody>
      </p:sp>
      <p:sp>
        <p:nvSpPr>
          <p:cNvPr id="8" name="Image placeholder [CHỤP]"/>
          <p:cNvSpPr/>
          <p:nvPr/>
        </p:nvSpPr>
        <p:spPr>
          <a:xfrm>
            <a:off x="6684264" y="2606040"/>
            <a:ext cx="4965192" cy="2651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6867144" y="2697480"/>
            <a:ext cx="4599431" cy="24688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Store_Code trước Trim: 23 giá trị khác nhau thay vì 12 (“ST07” và “ST07 ” đếm là hai)</a:t>
            </a:r>
          </a:p>
          <a:p>
            <a:pPr algn="ctr">
              <a:spcBef>
                <a:spcPts val="400"/>
              </a:spcBef>
            </a:pPr>
            <a:r>
              <a:rPr sz="1200" b="0">
                <a:solidFill>
                  <a:srgbClr val="6B6F76"/>
                </a:solidFill>
                <a:latin typeface="Arial"/>
              </a:rPr>
              <a:t>Query Sales_T1, Column statistics của Store_Code → S11b_column_distribution.png</a:t>
            </a:r>
          </a:p>
        </p:txBody>
      </p:sp>
      <p:sp>
        <p:nvSpPr>
          <p:cNvPr id="10" name="TIP callout"/>
          <p:cNvSpPr/>
          <p:nvPr/>
        </p:nvSpPr>
        <p:spPr>
          <a:xfrm>
            <a:off x="1527048" y="539496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2212848" y="5486400"/>
            <a:ext cx="9326880" cy="594359"/>
          </a:xfrm>
          <a:prstGeom prst="rect">
            <a:avLst/>
          </a:prstGeom>
          <a:noFill/>
        </p:spPr>
        <p:txBody>
          <a:bodyPr wrap="square" lIns="0" rIns="0" tIns="0" bIns="0" anchor="t">
            <a:spAutoFit/>
          </a:bodyPr>
          <a:lstStyle/>
          <a:p>
            <a:r>
              <a:rPr sz="1600" b="0">
                <a:solidFill>
                  <a:srgbClr val="1B2230"/>
                </a:solidFill>
                <a:latin typeface="Arial"/>
              </a:rPr>
              <a:t>Góc dưới trái ghi “Column profiling based on top 1000 rows”: bấm vào, chọn entire data set để đếm trên cả file. 100% Valid chưa chắc đúng — nhìn cả Min / Max.</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Editor, query Sales_T1 (Practice/Data_Sales/Sales_2025-01.csv), bước Changed Type tự động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 Type → Using Locale…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LÀM SẠCH DỮ LIỆU</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400" b="1">
                <a:solidFill>
                  <a:srgbClr val="C00000"/>
                </a:solidFill>
                <a:latin typeface="Arial"/>
              </a:rPr>
              <a:t>Change Type → Using Locale…</a:t>
            </a:r>
          </a:p>
        </p:txBody>
      </p:sp>
      <p:sp>
        <p:nvSpPr>
          <p:cNvPr id="5" name="Tool purpose"/>
          <p:cNvSpPr txBox="1"/>
          <p:nvPr/>
        </p:nvSpPr>
        <p:spPr>
          <a:xfrm>
            <a:off x="1527048" y="1874519"/>
            <a:ext cx="10122408" cy="502920"/>
          </a:xfrm>
          <a:prstGeom prst="rect">
            <a:avLst/>
          </a:prstGeom>
          <a:noFill/>
        </p:spPr>
        <p:txBody>
          <a:bodyPr wrap="square" lIns="0" rIns="0" tIns="0" bIns="0" anchor="t">
            <a:spAutoFit/>
          </a:bodyPr>
          <a:lstStyle/>
          <a:p>
            <a:r>
              <a:rPr sz="1600" b="0">
                <a:solidFill>
                  <a:srgbClr val="585858"/>
                </a:solidFill>
                <a:latin typeface="Arial"/>
              </a:rPr>
              <a:t>Đổi kiểu dữ liệu THEO ĐÚNG định dạng vùng miền của dữ liệu nguồn — không phải định dạng máy đang chạy Excel.</a:t>
            </a:r>
          </a:p>
        </p:txBody>
      </p:sp>
      <p:sp>
        <p:nvSpPr>
          <p:cNvPr id="6" name="Stat card"/>
          <p:cNvSpPr/>
          <p:nvPr/>
        </p:nvSpPr>
        <p:spPr>
          <a:xfrm>
            <a:off x="1527048" y="2468880"/>
            <a:ext cx="3246120" cy="14173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560320"/>
            <a:ext cx="2880360" cy="1234440"/>
          </a:xfrm>
          <a:prstGeom prst="rect">
            <a:avLst/>
          </a:prstGeom>
          <a:noFill/>
        </p:spPr>
        <p:txBody>
          <a:bodyPr wrap="square" lIns="0" rIns="0" tIns="0" bIns="0" anchor="ctr">
            <a:spAutoFit/>
          </a:bodyPr>
          <a:lstStyle/>
          <a:p>
            <a:r>
              <a:rPr sz="1400" b="0">
                <a:solidFill>
                  <a:srgbClr val="585858"/>
                </a:solidFill>
                <a:latin typeface="Arial"/>
              </a:rPr>
              <a:t>Đọc kiểu Mỹ mm/dd (Order_Date)</a:t>
            </a:r>
          </a:p>
          <a:p>
            <a:pPr>
              <a:spcBef>
                <a:spcPts val="200"/>
              </a:spcBef>
            </a:pPr>
            <a:r>
              <a:rPr sz="2600" b="1">
                <a:solidFill>
                  <a:srgbClr val="9C0006"/>
                </a:solidFill>
                <a:latin typeface="Arial"/>
              </a:rPr>
              <a:t>1.735 / 2.726</a:t>
            </a:r>
          </a:p>
          <a:p>
            <a:pPr>
              <a:spcBef>
                <a:spcPts val="200"/>
              </a:spcBef>
            </a:pPr>
            <a:r>
              <a:rPr sz="1400" b="0">
                <a:solidFill>
                  <a:srgbClr val="1B2230"/>
                </a:solidFill>
                <a:latin typeface="Arial"/>
              </a:rPr>
              <a:t>dòng Error; 991 dòng đảo ngày–tháng</a:t>
            </a:r>
          </a:p>
        </p:txBody>
      </p:sp>
      <p:sp>
        <p:nvSpPr>
          <p:cNvPr id="8" name="Image placeholder [CHỤP]"/>
          <p:cNvSpPr/>
          <p:nvPr/>
        </p:nvSpPr>
        <p:spPr>
          <a:xfrm>
            <a:off x="4983480" y="2468880"/>
            <a:ext cx="3017520" cy="27432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5166360" y="2560320"/>
            <a:ext cx="2651760" cy="25603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Change Type with Locale: Date, Vietnamese (Vietnam) → Order_Date 100% Valid</a:t>
            </a:r>
          </a:p>
          <a:p>
            <a:pPr algn="ctr">
              <a:spcBef>
                <a:spcPts val="400"/>
              </a:spcBef>
            </a:pPr>
            <a:r>
              <a:rPr sz="1200" b="0">
                <a:solidFill>
                  <a:srgbClr val="6B6F76"/>
                </a:solidFill>
                <a:latin typeface="Arial"/>
              </a:rPr>
              <a:t>Query Sales_T1 → S12a_locale_date.png</a:t>
            </a:r>
          </a:p>
        </p:txBody>
      </p:sp>
      <p:sp>
        <p:nvSpPr>
          <p:cNvPr id="10" name="Image placeholder [CHỤP]"/>
          <p:cNvSpPr/>
          <p:nvPr/>
        </p:nvSpPr>
        <p:spPr>
          <a:xfrm>
            <a:off x="8211312" y="2468880"/>
            <a:ext cx="3438144" cy="27432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394192" y="2560320"/>
            <a:ext cx="3072384" cy="25603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Unit_Price sau Using Locale → Whole Number, Vietnamese: 19.000 → 19000</a:t>
            </a:r>
          </a:p>
          <a:p>
            <a:pPr algn="ctr">
              <a:spcBef>
                <a:spcPts val="400"/>
              </a:spcBef>
            </a:pPr>
            <a:r>
              <a:rPr sz="1200" b="0">
                <a:solidFill>
                  <a:srgbClr val="6B6F76"/>
                </a:solidFill>
                <a:latin typeface="Arial"/>
              </a:rPr>
              <a:t>Query Sales_T1 → S12b_locale_price.png</a:t>
            </a:r>
          </a:p>
        </p:txBody>
      </p:sp>
      <p:sp>
        <p:nvSpPr>
          <p:cNvPr id="12" name="TextBox"/>
          <p:cNvSpPr txBox="1"/>
          <p:nvPr/>
        </p:nvSpPr>
        <p:spPr>
          <a:xfrm>
            <a:off x="1527048" y="4023360"/>
            <a:ext cx="3246120" cy="1188720"/>
          </a:xfrm>
          <a:prstGeom prst="rect">
            <a:avLst/>
          </a:prstGeom>
          <a:noFill/>
        </p:spPr>
        <p:txBody>
          <a:bodyPr wrap="square" lIns="0" rIns="0" tIns="0" bIns="0" anchor="t">
            <a:spAutoFit/>
          </a:bodyPr>
          <a:lstStyle/>
          <a:p>
            <a:r>
              <a:rPr sz="1300" b="0">
                <a:solidFill>
                  <a:srgbClr val="585858"/>
                </a:solidFill>
                <a:latin typeface="Arial"/>
              </a:rPr>
              <a:t>Đọc kiểu Mỹ (Unit_Price)</a:t>
            </a:r>
          </a:p>
          <a:p>
            <a:pPr>
              <a:spcBef>
                <a:spcPts val="400"/>
              </a:spcBef>
            </a:pPr>
            <a:r>
              <a:rPr sz="2000" b="1">
                <a:solidFill>
                  <a:srgbClr val="9C0006"/>
                </a:solidFill>
                <a:latin typeface="Arial"/>
              </a:rPr>
              <a:t>19.000 → 19</a:t>
            </a:r>
          </a:p>
          <a:p>
            <a:pPr>
              <a:spcBef>
                <a:spcPts val="400"/>
              </a:spcBef>
            </a:pPr>
            <a:r>
              <a:rPr sz="1800" b="0">
                <a:solidFill>
                  <a:srgbClr val="1B2230"/>
                </a:solidFill>
                <a:latin typeface="Arial"/>
              </a:rPr>
              <a:t>sai 1.000 lần, KHÔNG báo lỗi</a:t>
            </a:r>
          </a:p>
        </p:txBody>
      </p:sp>
      <p:sp>
        <p:nvSpPr>
          <p:cNvPr id="13" name="TIP callout"/>
          <p:cNvSpPr/>
          <p:nvPr/>
        </p:nvSpPr>
        <p:spPr>
          <a:xfrm>
            <a:off x="1527048" y="539496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5" name="TIP text"/>
          <p:cNvSpPr txBox="1"/>
          <p:nvPr/>
        </p:nvSpPr>
        <p:spPr>
          <a:xfrm>
            <a:off x="2212848" y="5486400"/>
            <a:ext cx="9326880" cy="594359"/>
          </a:xfrm>
          <a:prstGeom prst="rect">
            <a:avLst/>
          </a:prstGeom>
          <a:noFill/>
        </p:spPr>
        <p:txBody>
          <a:bodyPr wrap="square" lIns="0" rIns="0" tIns="0" bIns="0" anchor="t">
            <a:spAutoFit/>
          </a:bodyPr>
          <a:lstStyle/>
          <a:p>
            <a:r>
              <a:rPr sz="1600" b="0">
                <a:solidFill>
                  <a:srgbClr val="1B2230"/>
                </a:solidFill>
                <a:latin typeface="Arial"/>
              </a:rPr>
              <a:t>Quy tắc nhớ đời: XÓA bước Changed Type tự động, rồi đổi kiểu cột ngày và cột số bằng Using Locale → Vietnamese (Vietnam).</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Editor, query Sales_T1 (Practice/Data_Sales/Sales_2025-01.csv), cột Order_Date và Unit_Price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Headers · Trim · Conditional Column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LÀM SẠCH DỮ LIỆU</a:t>
            </a:r>
          </a:p>
        </p:txBody>
      </p:sp>
      <p:graphicFrame>
        <p:nvGraphicFramePr>
          <p:cNvPr id="4" name="Table"/>
          <p:cNvGraphicFramePr>
            <a:graphicFrameLocks noGrp="1"/>
          </p:cNvGraphicFramePr>
          <p:nvPr/>
        </p:nvGraphicFramePr>
        <p:xfrm>
          <a:off x="1527048" y="1417320"/>
          <a:ext cx="10122408" cy="2121408"/>
        </p:xfrm>
        <a:graphic>
          <a:graphicData uri="http://schemas.openxmlformats.org/drawingml/2006/table">
            <a:tbl>
              <a:tblPr firstRow="1" bandRow="0"/>
              <a:tblGrid>
                <a:gridCol w="3566160"/>
                <a:gridCol w="6556248"/>
              </a:tblGrid>
              <a:tr h="530352">
                <a:tc>
                  <a:txBody>
                    <a:bodyPr wrap="square"/>
                    <a:lstStyle/>
                    <a:p>
                      <a:r>
                        <a:rPr sz="1400" b="1">
                          <a:solidFill>
                            <a:srgbClr val="FFFFFF"/>
                          </a:solidFill>
                          <a:latin typeface="Arial"/>
                        </a:rPr>
                        <a:t>Tên (đỏ)</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30352">
                <a:tc>
                  <a:txBody>
                    <a:bodyPr wrap="square"/>
                    <a:lstStyle/>
                    <a:p>
                      <a:r>
                        <a:rPr sz="1400" b="1">
                          <a:solidFill>
                            <a:srgbClr val="C00000"/>
                          </a:solidFill>
                          <a:latin typeface="Arial"/>
                        </a:rPr>
                        <a:t>Home → Use First Row as Headers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Biến dòng đầu của bảng thành tên cột</a:t>
                      </a:r>
                    </a:p>
                  </a:txBody>
                  <a:tcPr marL="73152" marR="73152" marT="27432" marB="27432" anchor="ctr">
                    <a:lnL w="0">
                      <a:noFill/>
                    </a:lnL>
                    <a:lnR w="0">
                      <a:noFill/>
                    </a:lnR>
                    <a:lnT w="12700">
                      <a:solidFill>
                        <a:srgbClr val="D9DEE8"/>
                      </a:solidFill>
                    </a:lnT>
                    <a:lnB w="12700">
                      <a:solidFill>
                        <a:srgbClr val="D9DEE8"/>
                      </a:solidFill>
                    </a:lnB>
                    <a:noFill/>
                  </a:tcPr>
                </a:tc>
              </a:tr>
              <a:tr h="530352">
                <a:tc>
                  <a:txBody>
                    <a:bodyPr wrap="square"/>
                    <a:lstStyle/>
                    <a:p>
                      <a:r>
                        <a:rPr sz="1400" b="1">
                          <a:solidFill>
                            <a:srgbClr val="C00000"/>
                          </a:solidFill>
                          <a:latin typeface="Arial"/>
                        </a:rPr>
                        <a:t>Transform → Format → Trim / Clean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Xoá khoảng trắng đầu/cuối (Trim) hoặc ký tự ẩn (Clean)</a:t>
                      </a:r>
                    </a:p>
                  </a:txBody>
                  <a:tcPr marL="73152" marR="73152" marT="27432" marB="27432" anchor="ctr">
                    <a:lnL w="0">
                      <a:noFill/>
                    </a:lnL>
                    <a:lnR w="0">
                      <a:noFill/>
                    </a:lnR>
                    <a:lnT w="12700">
                      <a:solidFill>
                        <a:srgbClr val="D9DEE8"/>
                      </a:solidFill>
                    </a:lnT>
                    <a:lnB w="12700">
                      <a:solidFill>
                        <a:srgbClr val="D9DEE8"/>
                      </a:solidFill>
                    </a:lnB>
                    <a:noFill/>
                  </a:tcPr>
                </a:tc>
              </a:tr>
              <a:tr h="530352">
                <a:tc>
                  <a:txBody>
                    <a:bodyPr wrap="square"/>
                    <a:lstStyle/>
                    <a:p>
                      <a:r>
                        <a:rPr sz="1400" b="1">
                          <a:solidFill>
                            <a:srgbClr val="C00000"/>
                          </a:solidFill>
                          <a:latin typeface="Arial"/>
                        </a:rPr>
                        <a:t>Add Column → Conditional Column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Tạo cột mới theo quy tắc IF/THEN, không cần viết hàm</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1527048" y="3611880"/>
            <a:ext cx="4965192" cy="24231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3703320"/>
            <a:ext cx="4599431" cy="22402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Store_Code sau Trim: còn đúng 12 giá trị (trước là 23)</a:t>
            </a:r>
          </a:p>
          <a:p>
            <a:pPr algn="ctr">
              <a:spcBef>
                <a:spcPts val="400"/>
              </a:spcBef>
            </a:pPr>
            <a:r>
              <a:rPr sz="1200" b="0">
                <a:solidFill>
                  <a:srgbClr val="6B6F76"/>
                </a:solidFill>
                <a:latin typeface="Arial"/>
              </a:rPr>
              <a:t>Query Sales_T1 → S13a_trim.png</a:t>
            </a:r>
          </a:p>
        </p:txBody>
      </p:sp>
      <p:sp>
        <p:nvSpPr>
          <p:cNvPr id="7" name="Image placeholder [CHỤP]"/>
          <p:cNvSpPr/>
          <p:nvPr/>
        </p:nvSpPr>
        <p:spPr>
          <a:xfrm>
            <a:off x="6684264" y="3611880"/>
            <a:ext cx="4965192" cy="24231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867144" y="3703320"/>
            <a:ext cx="4599431" cy="22402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Add Conditional Column: Nhom_SL — If Quantity &gt; 3 then “Nhiều” else “Ít”</a:t>
            </a:r>
          </a:p>
          <a:p>
            <a:pPr algn="ctr">
              <a:spcBef>
                <a:spcPts val="400"/>
              </a:spcBef>
            </a:pPr>
            <a:r>
              <a:rPr sz="1200" b="0">
                <a:solidFill>
                  <a:srgbClr val="6B6F76"/>
                </a:solidFill>
                <a:latin typeface="Arial"/>
              </a:rPr>
              <a:t>Query Sales_T1 → S13b_conditional_column.png</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Sales_T1 (Practice/Data_Sales/Sales_2025-01.csv) · Trim/Clean có ở cả Transform (sửa cột) và Add Column (tạo cột mới)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Remove Duplicates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LÀM SẠCH DỮ LIỆU</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400" b="1">
                <a:solidFill>
                  <a:srgbClr val="C00000"/>
                </a:solidFill>
                <a:latin typeface="Arial"/>
              </a:rPr>
              <a:t>Home → Remove Rows → Remove Duplicates</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Xoá các dòng GIỐNG HỆT NHAU trên các cột đang chọn — dùng cho bảng giao dịch (trùng tuyệt đối) lẫn bảng lookup (khoá trùng).</a:t>
            </a:r>
          </a:p>
        </p:txBody>
      </p:sp>
      <p:sp>
        <p:nvSpPr>
          <p:cNvPr id="6" name="Image placeholder [CHỤP]"/>
          <p:cNvSpPr/>
          <p:nvPr/>
        </p:nvSpPr>
        <p:spPr>
          <a:xfrm>
            <a:off x="1527048" y="2560320"/>
            <a:ext cx="4965192" cy="2651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651760"/>
            <a:ext cx="4599431" cy="24688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Sales_T1: Remove Duplicates (mọi cột) → Count Rows = 2.725 (trước 2.726)</a:t>
            </a:r>
          </a:p>
          <a:p>
            <a:pPr algn="ctr">
              <a:spcBef>
                <a:spcPts val="400"/>
              </a:spcBef>
            </a:pPr>
            <a:r>
              <a:rPr sz="1200" b="0">
                <a:solidFill>
                  <a:srgbClr val="6B6F76"/>
                </a:solidFill>
                <a:latin typeface="Arial"/>
              </a:rPr>
              <a:t>Query Sales_T1 → S14a_remove_dup_sales.png</a:t>
            </a:r>
          </a:p>
        </p:txBody>
      </p:sp>
      <p:sp>
        <p:nvSpPr>
          <p:cNvPr id="8" name="Image placeholder [CHỤP]"/>
          <p:cNvSpPr/>
          <p:nvPr/>
        </p:nvSpPr>
        <p:spPr>
          <a:xfrm>
            <a:off x="6684264" y="2560320"/>
            <a:ext cx="4965192" cy="2651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6867144" y="2651760"/>
            <a:ext cx="4599431" cy="24688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Product: Remove Duplicates theo Product_Code → Count Rows = 40 (trước 41)</a:t>
            </a:r>
          </a:p>
          <a:p>
            <a:pPr algn="ctr">
              <a:spcBef>
                <a:spcPts val="400"/>
              </a:spcBef>
            </a:pPr>
            <a:r>
              <a:rPr sz="1200" b="0">
                <a:solidFill>
                  <a:srgbClr val="6B6F76"/>
                </a:solidFill>
                <a:latin typeface="Arial"/>
              </a:rPr>
              <a:t>Query Product (Practice/B4_Lookups.xlsx) → S14b_remove_dup_product.png</a:t>
            </a:r>
          </a:p>
        </p:txBody>
      </p:sp>
      <p:sp>
        <p:nvSpPr>
          <p:cNvPr id="10" name="TIP callout"/>
          <p:cNvSpPr/>
          <p:nvPr/>
        </p:nvSpPr>
        <p:spPr>
          <a:xfrm>
            <a:off x="1527048" y="5349240"/>
            <a:ext cx="10122408"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636776" y="54589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2212848" y="5440679"/>
            <a:ext cx="9326880" cy="640080"/>
          </a:xfrm>
          <a:prstGeom prst="rect">
            <a:avLst/>
          </a:prstGeom>
          <a:noFill/>
        </p:spPr>
        <p:txBody>
          <a:bodyPr wrap="square" lIns="0" rIns="0" tIns="0" bIns="0" anchor="t">
            <a:spAutoFit/>
          </a:bodyPr>
          <a:lstStyle/>
          <a:p>
            <a:r>
              <a:rPr sz="1600" b="0">
                <a:solidFill>
                  <a:srgbClr val="1B2230"/>
                </a:solidFill>
                <a:latin typeface="Arial"/>
              </a:rPr>
              <a:t>Chưa bỏ P015 trùng mà Merge Sales × Product: 29.408 dòng thay vì 28.328. Đếm dòng ngay trong PQ: Transform → Count Rows, xem xong xóa bước đếm.</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Sales_T1 (Practice/Data_Sales/Sales_2025-01.csv) · query Product (Practice/B4_Lookups.xlsx, bảng Product)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Keep Errors · Remove Errors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LÀM SẠCH DỮ LIỆU</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000" b="1">
                <a:solidFill>
                  <a:srgbClr val="C00000"/>
                </a:solidFill>
                <a:latin typeface="Arial"/>
              </a:rPr>
              <a:t>Home → Keep Rows → Keep Errors  ·  Remove Rows → Remove Errors</a:t>
            </a:r>
          </a:p>
        </p:txBody>
      </p:sp>
      <p:sp>
        <p:nvSpPr>
          <p:cNvPr id="5" name="Tool purpose"/>
          <p:cNvSpPr txBox="1"/>
          <p:nvPr/>
        </p:nvSpPr>
        <p:spPr>
          <a:xfrm>
            <a:off x="1527048" y="1920240"/>
            <a:ext cx="10122408" cy="548640"/>
          </a:xfrm>
          <a:prstGeom prst="rect">
            <a:avLst/>
          </a:prstGeom>
          <a:noFill/>
        </p:spPr>
        <p:txBody>
          <a:bodyPr wrap="square" lIns="0" rIns="0" tIns="0" bIns="0" anchor="t">
            <a:spAutoFit/>
          </a:bodyPr>
          <a:lstStyle/>
          <a:p>
            <a:r>
              <a:rPr sz="1600" b="0">
                <a:solidFill>
                  <a:srgbClr val="585858"/>
                </a:solidFill>
                <a:latin typeface="Arial"/>
              </a:rPr>
              <a:t>Tách riêng các dòng có ô lỗi (Error) để XEM trước khi quyết định xoá hay sửa — không xoá mù.</a:t>
            </a:r>
          </a:p>
        </p:txBody>
      </p:sp>
      <p:sp>
        <p:nvSpPr>
          <p:cNvPr id="6" name="Image placeholder [CHỤP]"/>
          <p:cNvSpPr/>
          <p:nvPr/>
        </p:nvSpPr>
        <p:spPr>
          <a:xfrm>
            <a:off x="1527048" y="2606040"/>
            <a:ext cx="5760720" cy="2651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697480"/>
            <a:ext cx="5394959" cy="24688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Order_Date đọc kiểu English (US) → Keep Errors còn 1.735 dòng; chi tiết lỗi của một ô</a:t>
            </a:r>
          </a:p>
          <a:p>
            <a:pPr algn="ctr">
              <a:spcBef>
                <a:spcPts val="400"/>
              </a:spcBef>
            </a:pPr>
            <a:r>
              <a:rPr sz="1200" b="0">
                <a:solidFill>
                  <a:srgbClr val="6B6F76"/>
                </a:solidFill>
                <a:latin typeface="Arial"/>
              </a:rPr>
              <a:t>Query Sales_T1 (2) — bản sao của Sales_T1 → S15_keep_errors.png</a:t>
            </a:r>
          </a:p>
        </p:txBody>
      </p:sp>
      <p:sp>
        <p:nvSpPr>
          <p:cNvPr id="8" name="Rule card"/>
          <p:cNvSpPr/>
          <p:nvPr/>
        </p:nvSpPr>
        <p:spPr>
          <a:xfrm>
            <a:off x="7452360" y="2606040"/>
            <a:ext cx="4197096" cy="265176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7635240" y="2743200"/>
            <a:ext cx="3831336" cy="2377440"/>
          </a:xfrm>
          <a:prstGeom prst="rect">
            <a:avLst/>
          </a:prstGeom>
          <a:noFill/>
        </p:spPr>
        <p:txBody>
          <a:bodyPr wrap="square" lIns="0" rIns="0" tIns="0" bIns="0" anchor="t">
            <a:spAutoFit/>
          </a:bodyPr>
          <a:lstStyle/>
          <a:p>
            <a:r>
              <a:rPr sz="1500" b="1">
                <a:solidFill>
                  <a:srgbClr val="203864"/>
                </a:solidFill>
                <a:latin typeface="Arial"/>
              </a:rPr>
              <a:t>Keep Errors</a:t>
            </a:r>
          </a:p>
          <a:p>
            <a:pPr>
              <a:spcBef>
                <a:spcPts val="800"/>
              </a:spcBef>
            </a:pPr>
            <a:r>
              <a:rPr sz="1500" b="0">
                <a:solidFill>
                  <a:srgbClr val="1B2230"/>
                </a:solidFill>
                <a:latin typeface="Arial"/>
              </a:rPr>
              <a:t>Xem và hiểu lỗi TRƯỚC</a:t>
            </a:r>
          </a:p>
          <a:p>
            <a:pPr>
              <a:spcBef>
                <a:spcPts val="800"/>
              </a:spcBef>
            </a:pPr>
            <a:r>
              <a:rPr sz="1500" b="1">
                <a:solidFill>
                  <a:srgbClr val="9C0006"/>
                </a:solidFill>
                <a:latin typeface="Arial"/>
              </a:rPr>
              <a:t>Remove Errors</a:t>
            </a:r>
          </a:p>
          <a:p>
            <a:pPr>
              <a:spcBef>
                <a:spcPts val="800"/>
              </a:spcBef>
            </a:pPr>
            <a:r>
              <a:rPr sz="1500" b="0">
                <a:solidFill>
                  <a:srgbClr val="1B2230"/>
                </a:solidFill>
                <a:latin typeface="Arial"/>
              </a:rPr>
              <a:t>Chỉ dùng khi chắc chắn dòng đó nên bỏ</a:t>
            </a:r>
          </a:p>
          <a:p>
            <a:pPr>
              <a:spcBef>
                <a:spcPts val="800"/>
              </a:spcBef>
            </a:pPr>
            <a:r>
              <a:rPr sz="1500" b="1">
                <a:solidFill>
                  <a:srgbClr val="1B2230"/>
                </a:solidFill>
                <a:latin typeface="Arial"/>
              </a:rPr>
              <a:t>Xoá nhầm = mất dữ liệu âm thầm</a:t>
            </a:r>
          </a:p>
        </p:txBody>
      </p:sp>
      <p:sp>
        <p:nvSpPr>
          <p:cNvPr id="10" name="TIP callout"/>
          <p:cNvSpPr/>
          <p:nvPr/>
        </p:nvSpPr>
        <p:spPr>
          <a:xfrm>
            <a:off x="1527048" y="539496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2212848" y="5486400"/>
            <a:ext cx="9326880" cy="594359"/>
          </a:xfrm>
          <a:prstGeom prst="rect">
            <a:avLst/>
          </a:prstGeom>
          <a:noFill/>
        </p:spPr>
        <p:txBody>
          <a:bodyPr wrap="square" lIns="0" rIns="0" tIns="0" bIns="0" anchor="t">
            <a:spAutoFit/>
          </a:bodyPr>
          <a:lstStyle/>
          <a:p>
            <a:r>
              <a:rPr sz="1600" b="0">
                <a:solidFill>
                  <a:srgbClr val="1B2230"/>
                </a:solidFill>
                <a:latin typeface="Arial"/>
              </a:rPr>
              <a:t>Lỗi do sai Locale: sửa lại bằng Using Locale (Slide 12), KHÔNG Remove Errors — xóa là mất 1.735 dòng doanh thu mà không ai biết.</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bản sao query Sales_T1 (Practice/Data_Sales/Sales_2025-01.csv), Order_Date đọc bằng Locale English (United States)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Nghỉ 10 phút</a:t>
            </a:r>
          </a:p>
        </p:txBody>
      </p:sp>
      <p:sp>
        <p:nvSpPr>
          <p:cNvPr id="3" name="Text Placeholder 2"/>
          <p:cNvSpPr>
            <a:spLocks noGrp="1"/>
          </p:cNvSpPr>
          <p:nvPr>
            <p:ph type="body" idx="1"/>
          </p:nvPr>
        </p:nvSpPr>
        <p:spPr/>
        <p:txBody>
          <a:bodyPr/>
          <a:lstStyle/>
          <a:p>
            <a:r>
              <a:t>Trước khi quay lại: mở sẵn Query Editor (Data → Get Data → Launch Power Query Editor)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Unpivot &amp; Group By: đổi hình dạng bảng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Unpivot Columns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UNPIVOT &amp; GROUP BY</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400" b="1">
                <a:solidFill>
                  <a:srgbClr val="C00000"/>
                </a:solidFill>
                <a:latin typeface="Arial"/>
              </a:rPr>
              <a:t>Transform → Unpivot Columns ▾ → Unpivot Other Columns</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Biến NHIỀU CỘT CÙNG LOẠI (Tháng 1…Tháng 12) thành hai cột: tên cột cũ và giá trị — ngược lại của Pivot.</a:t>
            </a:r>
          </a:p>
        </p:txBody>
      </p:sp>
      <p:sp>
        <p:nvSpPr>
          <p:cNvPr id="6" name="Image placeholder [CHỤP]"/>
          <p:cNvSpPr/>
          <p:nvPr/>
        </p:nvSpPr>
        <p:spPr>
          <a:xfrm>
            <a:off x="1527048" y="2560320"/>
            <a:ext cx="4114800" cy="25146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651760"/>
            <a:ext cx="3749039" cy="23317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Trước Unpivot: tiêu đề ở dòng 1, tên cột ở dòng 3, Tháng 1…12 nằm ngang</a:t>
            </a:r>
          </a:p>
          <a:p>
            <a:pPr algn="ctr">
              <a:spcBef>
                <a:spcPts val="400"/>
              </a:spcBef>
            </a:pPr>
            <a:r>
              <a:rPr sz="1200" b="0">
                <a:solidFill>
                  <a:srgbClr val="6B6F76"/>
                </a:solidFill>
                <a:latin typeface="Arial"/>
              </a:rPr>
              <a:t>Query Target, bước Navigation → S18a_target_before.png</a:t>
            </a:r>
          </a:p>
        </p:txBody>
      </p:sp>
      <p:sp>
        <p:nvSpPr>
          <p:cNvPr id="8" name="Image placeholder [CHỤP]"/>
          <p:cNvSpPr/>
          <p:nvPr/>
        </p:nvSpPr>
        <p:spPr>
          <a:xfrm>
            <a:off x="5779008" y="2560320"/>
            <a:ext cx="4114800" cy="25146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5961888" y="2651760"/>
            <a:ext cx="3749039" cy="23317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Sau Unpivot và làm gọn: Store_Code · Thang (số) · Target · Ngay_Dau_Thang</a:t>
            </a:r>
          </a:p>
          <a:p>
            <a:pPr algn="ctr">
              <a:spcBef>
                <a:spcPts val="400"/>
              </a:spcBef>
            </a:pPr>
            <a:r>
              <a:rPr sz="1200" b="0">
                <a:solidFill>
                  <a:srgbClr val="6B6F76"/>
                </a:solidFill>
                <a:latin typeface="Arial"/>
              </a:rPr>
              <a:t>Query Target, bước cuối → S18b_target_after.png</a:t>
            </a:r>
          </a:p>
        </p:txBody>
      </p:sp>
      <p:sp>
        <p:nvSpPr>
          <p:cNvPr id="10" name="TextBox"/>
          <p:cNvSpPr txBox="1"/>
          <p:nvPr/>
        </p:nvSpPr>
        <p:spPr>
          <a:xfrm>
            <a:off x="5641848" y="3566160"/>
            <a:ext cx="182880" cy="457200"/>
          </a:xfrm>
          <a:prstGeom prst="rect">
            <a:avLst/>
          </a:prstGeom>
          <a:noFill/>
        </p:spPr>
        <p:txBody>
          <a:bodyPr wrap="square" lIns="0" rIns="0" tIns="0" bIns="0" anchor="ctr">
            <a:spAutoFit/>
          </a:bodyPr>
          <a:lstStyle/>
          <a:p>
            <a:pPr algn="ctr"/>
            <a:r>
              <a:rPr sz="2000" b="1">
                <a:solidFill>
                  <a:srgbClr val="3398DA"/>
                </a:solidFill>
                <a:latin typeface="Arial"/>
              </a:rPr>
              <a:t>→</a:t>
            </a:r>
          </a:p>
        </p:txBody>
      </p:sp>
      <p:sp>
        <p:nvSpPr>
          <p:cNvPr id="11" name="Stat card"/>
          <p:cNvSpPr/>
          <p:nvPr/>
        </p:nvSpPr>
        <p:spPr>
          <a:xfrm>
            <a:off x="10058400" y="2560320"/>
            <a:ext cx="1591056" cy="25146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10241280" y="2651760"/>
            <a:ext cx="1225295" cy="2331720"/>
          </a:xfrm>
          <a:prstGeom prst="rect">
            <a:avLst/>
          </a:prstGeom>
          <a:noFill/>
        </p:spPr>
        <p:txBody>
          <a:bodyPr wrap="square" lIns="0" rIns="0" tIns="0" bIns="0" anchor="ctr">
            <a:spAutoFit/>
          </a:bodyPr>
          <a:lstStyle/>
          <a:p>
            <a:r>
              <a:rPr sz="1400" b="0">
                <a:solidFill>
                  <a:srgbClr val="585858"/>
                </a:solidFill>
                <a:latin typeface="Arial"/>
              </a:rPr>
              <a:t>Kết quả</a:t>
            </a:r>
          </a:p>
          <a:p>
            <a:pPr>
              <a:spcBef>
                <a:spcPts val="200"/>
              </a:spcBef>
            </a:pPr>
            <a:r>
              <a:rPr sz="3000" b="1">
                <a:solidFill>
                  <a:srgbClr val="203864"/>
                </a:solidFill>
                <a:latin typeface="Arial"/>
              </a:rPr>
              <a:t>144</a:t>
            </a:r>
          </a:p>
          <a:p>
            <a:pPr>
              <a:spcBef>
                <a:spcPts val="200"/>
              </a:spcBef>
            </a:pPr>
            <a:r>
              <a:rPr sz="1400" b="0">
                <a:solidFill>
                  <a:srgbClr val="1B2230"/>
                </a:solidFill>
                <a:latin typeface="Arial"/>
              </a:rPr>
              <a:t>dòng = 12 cửa hàng × 12 tháng</a:t>
            </a:r>
          </a:p>
        </p:txBody>
      </p:sp>
      <p:sp>
        <p:nvSpPr>
          <p:cNvPr id="13" name="TIP callout"/>
          <p:cNvSpPr/>
          <p:nvPr/>
        </p:nvSpPr>
        <p:spPr>
          <a:xfrm>
            <a:off x="1527048" y="521208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1636776" y="53218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5" name="TIP text"/>
          <p:cNvSpPr txBox="1"/>
          <p:nvPr/>
        </p:nvSpPr>
        <p:spPr>
          <a:xfrm>
            <a:off x="2212848" y="5303520"/>
            <a:ext cx="9326880" cy="731520"/>
          </a:xfrm>
          <a:prstGeom prst="rect">
            <a:avLst/>
          </a:prstGeom>
          <a:noFill/>
        </p:spPr>
        <p:txBody>
          <a:bodyPr wrap="square" lIns="0" rIns="0" tIns="0" bIns="0" anchor="t">
            <a:spAutoFit/>
          </a:bodyPr>
          <a:lstStyle/>
          <a:p>
            <a:r>
              <a:rPr sz="1600" b="0">
                <a:solidFill>
                  <a:srgbClr val="1B2230"/>
                </a:solidFill>
                <a:latin typeface="Arial"/>
              </a:rPr>
              <a:t>Chọn cột GIỮ NGUYÊN (Store_Code, Store_Name) rồi Unpivot Other Columns: tháng mới thêm vào file tự được xoay. Thang → Extract Text After Delimiter → số; thêm Ngay_Dau_Thang = #date(2025, [Thang], 1) để B5 nối với Calendar.</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Practice/B4_Target_2025.xlsx, sheet Target_2025 (query Target) · Chuỗi A lần 4: Table (B1) → Dimension/Measure (B2) → Pivot (B3) → Unpivot (B4) → Star schema (B5)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Group By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UNPIVOT &amp; GROUP BY</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Transform → Group By (Basic / Advanced)</a:t>
            </a:r>
          </a:p>
        </p:txBody>
      </p:sp>
      <p:sp>
        <p:nvSpPr>
          <p:cNvPr id="5" name="Tool purpose"/>
          <p:cNvSpPr txBox="1"/>
          <p:nvPr/>
        </p:nvSpPr>
        <p:spPr>
          <a:xfrm>
            <a:off x="1527048" y="1920240"/>
            <a:ext cx="10122408" cy="594360"/>
          </a:xfrm>
          <a:prstGeom prst="rect">
            <a:avLst/>
          </a:prstGeom>
          <a:noFill/>
        </p:spPr>
        <p:txBody>
          <a:bodyPr wrap="square" lIns="0" rIns="0" tIns="0" bIns="0" anchor="t">
            <a:spAutoFit/>
          </a:bodyPr>
          <a:lstStyle/>
          <a:p>
            <a:r>
              <a:rPr sz="1600" b="0">
                <a:solidFill>
                  <a:srgbClr val="585858"/>
                </a:solidFill>
                <a:latin typeface="Arial"/>
              </a:rPr>
              <a:t>Tổng hợp dữ liệu LÊN MỨC CHI TIẾT KHÁC — từ dòng giao dịch lên theo cửa hàng, theo tháng — ngay trong Power Query, ra một BẢNG MỚI.</a:t>
            </a:r>
          </a:p>
        </p:txBody>
      </p:sp>
      <p:sp>
        <p:nvSpPr>
          <p:cNvPr id="6" name="Image placeholder [CHỤP]"/>
          <p:cNvSpPr/>
          <p:nvPr/>
        </p:nvSpPr>
        <p:spPr>
          <a:xfrm>
            <a:off x="1527048" y="2651760"/>
            <a:ext cx="6309360" cy="26060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743200"/>
            <a:ext cx="5943600" cy="24231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Group By (Advanced): Store_Code; So_dong = Count Rows; Doanh_thu = Sum of Revenue → 12 dòng</a:t>
            </a:r>
          </a:p>
          <a:p>
            <a:pPr algn="ctr">
              <a:spcBef>
                <a:spcPts val="400"/>
              </a:spcBef>
            </a:pPr>
            <a:r>
              <a:rPr sz="1200" b="0">
                <a:solidFill>
                  <a:srgbClr val="6B6F76"/>
                </a:solidFill>
                <a:latin typeface="Arial"/>
              </a:rPr>
              <a:t>Query DoiSoat_T1 (Reference của Sales_T1) → S19_group_by.png</a:t>
            </a:r>
          </a:p>
        </p:txBody>
      </p:sp>
      <p:sp>
        <p:nvSpPr>
          <p:cNvPr id="8" name="Stat card"/>
          <p:cNvSpPr/>
          <p:nvPr/>
        </p:nvSpPr>
        <p:spPr>
          <a:xfrm>
            <a:off x="8001000" y="2651760"/>
            <a:ext cx="3648456"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183879" y="2743200"/>
            <a:ext cx="3282696" cy="1051560"/>
          </a:xfrm>
          <a:prstGeom prst="rect">
            <a:avLst/>
          </a:prstGeom>
          <a:noFill/>
        </p:spPr>
        <p:txBody>
          <a:bodyPr wrap="square" lIns="0" rIns="0" tIns="0" bIns="0" anchor="ctr">
            <a:spAutoFit/>
          </a:bodyPr>
          <a:lstStyle/>
          <a:p>
            <a:r>
              <a:rPr sz="1400" b="0">
                <a:solidFill>
                  <a:srgbClr val="585858"/>
                </a:solidFill>
                <a:latin typeface="Arial"/>
              </a:rPr>
              <a:t>Target tháng 1 (Group By Thang)</a:t>
            </a:r>
          </a:p>
          <a:p>
            <a:pPr>
              <a:spcBef>
                <a:spcPts val="200"/>
              </a:spcBef>
            </a:pPr>
            <a:r>
              <a:rPr sz="2400" b="1">
                <a:solidFill>
                  <a:srgbClr val="203864"/>
                </a:solidFill>
                <a:latin typeface="Arial"/>
              </a:rPr>
              <a:t>353 tr</a:t>
            </a:r>
          </a:p>
          <a:p>
            <a:pPr>
              <a:spcBef>
                <a:spcPts val="200"/>
              </a:spcBef>
            </a:pPr>
            <a:r>
              <a:rPr sz="1400" b="0">
                <a:solidFill>
                  <a:srgbClr val="1B2230"/>
                </a:solidFill>
                <a:latin typeface="Arial"/>
              </a:rPr>
              <a:t>thực tế 425,85 tr · 120,6%</a:t>
            </a:r>
          </a:p>
        </p:txBody>
      </p:sp>
      <p:sp>
        <p:nvSpPr>
          <p:cNvPr id="10" name="Stat card"/>
          <p:cNvSpPr/>
          <p:nvPr/>
        </p:nvSpPr>
        <p:spPr>
          <a:xfrm>
            <a:off x="8001000" y="4023360"/>
            <a:ext cx="3648456"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183879" y="4114800"/>
            <a:ext cx="3282696" cy="1051560"/>
          </a:xfrm>
          <a:prstGeom prst="rect">
            <a:avLst/>
          </a:prstGeom>
          <a:noFill/>
        </p:spPr>
        <p:txBody>
          <a:bodyPr wrap="square" lIns="0" rIns="0" tIns="0" bIns="0" anchor="ctr">
            <a:spAutoFit/>
          </a:bodyPr>
          <a:lstStyle/>
          <a:p>
            <a:r>
              <a:rPr sz="1400" b="0">
                <a:solidFill>
                  <a:srgbClr val="585858"/>
                </a:solidFill>
                <a:latin typeface="Arial"/>
              </a:rPr>
              <a:t>Target tháng 2</a:t>
            </a:r>
          </a:p>
          <a:p>
            <a:pPr>
              <a:spcBef>
                <a:spcPts val="200"/>
              </a:spcBef>
            </a:pPr>
            <a:r>
              <a:rPr sz="2400" b="1">
                <a:solidFill>
                  <a:srgbClr val="9C0006"/>
                </a:solidFill>
                <a:latin typeface="Arial"/>
              </a:rPr>
              <a:t>298 tr</a:t>
            </a:r>
          </a:p>
          <a:p>
            <a:pPr>
              <a:spcBef>
                <a:spcPts val="200"/>
              </a:spcBef>
            </a:pPr>
            <a:r>
              <a:rPr sz="1400" b="0">
                <a:solidFill>
                  <a:srgbClr val="1B2230"/>
                </a:solidFill>
                <a:latin typeface="Arial"/>
              </a:rPr>
              <a:t>thực tế 246,0 tr · 82,5%</a:t>
            </a:r>
          </a:p>
        </p:txBody>
      </p:sp>
      <p:sp>
        <p:nvSpPr>
          <p:cNvPr id="12" name="PRO TIP callout"/>
          <p:cNvSpPr/>
          <p:nvPr/>
        </p:nvSpPr>
        <p:spPr>
          <a:xfrm>
            <a:off x="1527048" y="539496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RO TIP chip"/>
          <p:cNvSpPr/>
          <p:nvPr/>
        </p:nvSpPr>
        <p:spPr>
          <a:xfrm>
            <a:off x="1636776" y="550468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4" name="PRO TIP text"/>
          <p:cNvSpPr txBox="1"/>
          <p:nvPr/>
        </p:nvSpPr>
        <p:spPr>
          <a:xfrm>
            <a:off x="2734056" y="5486400"/>
            <a:ext cx="8805672" cy="594359"/>
          </a:xfrm>
          <a:prstGeom prst="rect">
            <a:avLst/>
          </a:prstGeom>
          <a:noFill/>
        </p:spPr>
        <p:txBody>
          <a:bodyPr wrap="square" lIns="0" rIns="0" tIns="0" bIns="0" anchor="t">
            <a:spAutoFit/>
          </a:bodyPr>
          <a:lstStyle/>
          <a:p>
            <a:r>
              <a:rPr sz="1600" b="0">
                <a:solidFill>
                  <a:srgbClr val="1B2230"/>
                </a:solidFill>
                <a:latin typeface="Arial"/>
              </a:rPr>
              <a:t>Reference: query mới đọc kết quả của query gốc, gốc đổi thì đổi theo. Duplicate: chép rời mọi bước. Bảng đối soát, bảng tổng hợp → dùng Reference.</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DoiSoat_T1 (Reference của Sales_T1, Practice/Data_Sales/Sales_2025-01.csv)</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Append &amp; Merge: nối dọc và nối ngang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Folder · Append Queries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APPEND &amp; MERGE</a:t>
            </a:r>
          </a:p>
        </p:txBody>
      </p:sp>
      <p:graphicFrame>
        <p:nvGraphicFramePr>
          <p:cNvPr id="4" name="Table"/>
          <p:cNvGraphicFramePr>
            <a:graphicFrameLocks noGrp="1"/>
          </p:cNvGraphicFramePr>
          <p:nvPr/>
        </p:nvGraphicFramePr>
        <p:xfrm>
          <a:off x="1527048" y="1417320"/>
          <a:ext cx="10122408" cy="1508760"/>
        </p:xfrm>
        <a:graphic>
          <a:graphicData uri="http://schemas.openxmlformats.org/drawingml/2006/table">
            <a:tbl>
              <a:tblPr firstRow="1" bandRow="0"/>
              <a:tblGrid>
                <a:gridCol w="5029200"/>
                <a:gridCol w="5093208"/>
              </a:tblGrid>
              <a:tr h="502920">
                <a:tc>
                  <a:txBody>
                    <a:bodyPr wrap="square"/>
                    <a:lstStyle/>
                    <a:p>
                      <a:r>
                        <a:rPr sz="1400" b="1">
                          <a:solidFill>
                            <a:srgbClr val="FFFFFF"/>
                          </a:solidFill>
                          <a:latin typeface="Arial"/>
                        </a:rPr>
                        <a:t>Tên (đỏ)</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02920">
                <a:tc>
                  <a:txBody>
                    <a:bodyPr wrap="square"/>
                    <a:lstStyle/>
                    <a:p>
                      <a:r>
                        <a:rPr sz="1400" b="1">
                          <a:solidFill>
                            <a:srgbClr val="C00000"/>
                          </a:solidFill>
                          <a:latin typeface="Arial"/>
                        </a:rPr>
                        <a:t>Data → Get Data → From File → From Folder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Đọc và nối MỌI FILE cùng cấu trúc trong một thư mục; file mới thả vào tự được đọc khi Refresh</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400" b="1">
                          <a:solidFill>
                            <a:srgbClr val="C00000"/>
                          </a:solidFill>
                          <a:latin typeface="Arial"/>
                        </a:rPr>
                        <a:t>Home → Append Queries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Nối dọc hai (hoặc nhiều) query có CÙNG TÊN CỘT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1527048" y="3154680"/>
            <a:ext cx="6309360" cy="210312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3246120"/>
            <a:ext cx="5943600" cy="192023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Danh sách 4 file của Practice/Data_Sales/ và nút Combine ▾ → Combine &amp; Transform Data</a:t>
            </a:r>
          </a:p>
          <a:p>
            <a:pPr algn="ctr">
              <a:spcBef>
                <a:spcPts val="400"/>
              </a:spcBef>
            </a:pPr>
            <a:r>
              <a:rPr sz="1200" b="0">
                <a:solidFill>
                  <a:srgbClr val="6B6F76"/>
                </a:solidFill>
                <a:latin typeface="Arial"/>
              </a:rPr>
              <a:t>Data → Get Data → From Folder → S21_from_folder.png</a:t>
            </a:r>
          </a:p>
        </p:txBody>
      </p:sp>
      <p:sp>
        <p:nvSpPr>
          <p:cNvPr id="7" name="Stat card"/>
          <p:cNvSpPr/>
          <p:nvPr/>
        </p:nvSpPr>
        <p:spPr>
          <a:xfrm>
            <a:off x="8001000" y="3154680"/>
            <a:ext cx="3648456"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183879" y="3246120"/>
            <a:ext cx="3282696" cy="822960"/>
          </a:xfrm>
          <a:prstGeom prst="rect">
            <a:avLst/>
          </a:prstGeom>
          <a:noFill/>
        </p:spPr>
        <p:txBody>
          <a:bodyPr wrap="square" lIns="0" rIns="0" tIns="0" bIns="0" anchor="ctr">
            <a:spAutoFit/>
          </a:bodyPr>
          <a:lstStyle/>
          <a:p>
            <a:r>
              <a:rPr sz="1400" b="0">
                <a:solidFill>
                  <a:srgbClr val="585858"/>
                </a:solidFill>
                <a:latin typeface="Arial"/>
              </a:rPr>
              <a:t>Sau Combine + làm sạch</a:t>
            </a:r>
          </a:p>
          <a:p>
            <a:pPr>
              <a:spcBef>
                <a:spcPts val="200"/>
              </a:spcBef>
            </a:pPr>
            <a:r>
              <a:rPr sz="2400" b="1">
                <a:solidFill>
                  <a:srgbClr val="203864"/>
                </a:solidFill>
                <a:latin typeface="Arial"/>
              </a:rPr>
              <a:t>28.328 dòng</a:t>
            </a:r>
          </a:p>
          <a:p>
            <a:pPr>
              <a:spcBef>
                <a:spcPts val="200"/>
              </a:spcBef>
            </a:pPr>
            <a:r>
              <a:rPr sz="1400" b="0">
                <a:solidFill>
                  <a:srgbClr val="1B2230"/>
                </a:solidFill>
                <a:latin typeface="Arial"/>
              </a:rPr>
              <a:t>doanh thu 4.139.884.500</a:t>
            </a:r>
          </a:p>
        </p:txBody>
      </p:sp>
      <p:sp>
        <p:nvSpPr>
          <p:cNvPr id="9" name="TIP callout"/>
          <p:cNvSpPr/>
          <p:nvPr/>
        </p:nvSpPr>
        <p:spPr>
          <a:xfrm>
            <a:off x="8001000" y="4251960"/>
            <a:ext cx="3648456" cy="10058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110727" y="4361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8686800" y="4343400"/>
            <a:ext cx="2852928" cy="822960"/>
          </a:xfrm>
          <a:prstGeom prst="rect">
            <a:avLst/>
          </a:prstGeom>
          <a:noFill/>
        </p:spPr>
        <p:txBody>
          <a:bodyPr wrap="square" lIns="0" rIns="0" tIns="0" bIns="0" anchor="t">
            <a:spAutoFit/>
          </a:bodyPr>
          <a:lstStyle/>
          <a:p>
            <a:r>
              <a:rPr sz="1600" b="0">
                <a:solidFill>
                  <a:srgbClr val="1B2230"/>
                </a:solidFill>
                <a:latin typeface="Arial"/>
              </a:rPr>
              <a:t>Nhóm query trợ giúp (Sample File, Transform File…): ĐỪNG XÓA. Làm sạch trên query gộp Sales.</a:t>
            </a:r>
          </a:p>
        </p:txBody>
      </p:sp>
      <p:sp>
        <p:nvSpPr>
          <p:cNvPr id="12" name="PRO TIP callout"/>
          <p:cNvSpPr/>
          <p:nvPr/>
        </p:nvSpPr>
        <p:spPr>
          <a:xfrm>
            <a:off x="1527048" y="534924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RO TIP chip"/>
          <p:cNvSpPr/>
          <p:nvPr/>
        </p:nvSpPr>
        <p:spPr>
          <a:xfrm>
            <a:off x="1636776" y="545896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4" name="PRO TIP text"/>
          <p:cNvSpPr txBox="1"/>
          <p:nvPr/>
        </p:nvSpPr>
        <p:spPr>
          <a:xfrm>
            <a:off x="2734056" y="5440679"/>
            <a:ext cx="8805672" cy="594359"/>
          </a:xfrm>
          <a:prstGeom prst="rect">
            <a:avLst/>
          </a:prstGeom>
          <a:noFill/>
        </p:spPr>
        <p:txBody>
          <a:bodyPr wrap="square" lIns="0" rIns="0" tIns="0" bIns="0" anchor="t">
            <a:spAutoFit/>
          </a:bodyPr>
          <a:lstStyle/>
          <a:p>
            <a:r>
              <a:rPr sz="1600" b="0">
                <a:solidFill>
                  <a:srgbClr val="1B2230"/>
                </a:solidFill>
                <a:latin typeface="Arial"/>
              </a:rPr>
              <a:t>Tham số hóa đường dẫn thư mục (Home → Manage Parameters): chuyển máy chỉ sửa một chỗ — xem handout.</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Data → Get Data → From File → From Folder → Practice/Data_Sales/ · đếm: Transform → Count Rows; tổng: Statistics → Sum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Merge Queries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APPEND &amp; MERGE</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400" b="1">
                <a:solidFill>
                  <a:srgbClr val="C00000"/>
                </a:solidFill>
                <a:latin typeface="Arial"/>
              </a:rPr>
              <a:t>Home → Merge Queries ▾ → Merge Queries as New</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Nối NGANG hai bảng theo cột chung — đúng như XLOOKUP nhưng làm ở CẤP CẢ BẢNG, không phải từng ô.</a:t>
            </a:r>
          </a:p>
        </p:txBody>
      </p:sp>
      <p:sp>
        <p:nvSpPr>
          <p:cNvPr id="6" name="Image placeholder [CHỤP]"/>
          <p:cNvSpPr/>
          <p:nvPr/>
        </p:nvSpPr>
        <p:spPr>
          <a:xfrm>
            <a:off x="1527048" y="2560320"/>
            <a:ext cx="4965192" cy="2651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651760"/>
            <a:ext cx="4599431" cy="24688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Merge: Sales × Product theo Product_Code, Left Outer — “matches 28328 of 28328 rows”</a:t>
            </a:r>
          </a:p>
          <a:p>
            <a:pPr algn="ctr">
              <a:spcBef>
                <a:spcPts val="400"/>
              </a:spcBef>
            </a:pPr>
            <a:r>
              <a:rPr sz="1200" b="0">
                <a:solidFill>
                  <a:srgbClr val="6B6F76"/>
                </a:solidFill>
                <a:latin typeface="Arial"/>
              </a:rPr>
              <a:t>Merge Queries as New → S22a_merge_dialog.png</a:t>
            </a:r>
          </a:p>
        </p:txBody>
      </p:sp>
      <p:sp>
        <p:nvSpPr>
          <p:cNvPr id="8" name="Image placeholder [CHỤP]"/>
          <p:cNvSpPr/>
          <p:nvPr/>
        </p:nvSpPr>
        <p:spPr>
          <a:xfrm>
            <a:off x="6684264" y="2560320"/>
            <a:ext cx="4965192" cy="2651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6867144" y="2651760"/>
            <a:ext cx="4599431" cy="24688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Sales_Merge_Demo sau Expand: thêm cột Category, không dòng null, vẫn 28.328 dòng</a:t>
            </a:r>
          </a:p>
          <a:p>
            <a:pPr algn="ctr">
              <a:spcBef>
                <a:spcPts val="400"/>
              </a:spcBef>
            </a:pPr>
            <a:r>
              <a:rPr sz="1200" b="0">
                <a:solidFill>
                  <a:srgbClr val="6B6F76"/>
                </a:solidFill>
                <a:latin typeface="Arial"/>
              </a:rPr>
              <a:t>Query Sales_Merge_Demo → S22b_merge_expand.png</a:t>
            </a:r>
          </a:p>
        </p:txBody>
      </p:sp>
      <p:sp>
        <p:nvSpPr>
          <p:cNvPr id="10" name="TIP callout"/>
          <p:cNvSpPr/>
          <p:nvPr/>
        </p:nvSpPr>
        <p:spPr>
          <a:xfrm>
            <a:off x="1527048" y="534924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636776" y="54589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2212848" y="5440679"/>
            <a:ext cx="9326880" cy="685800"/>
          </a:xfrm>
          <a:prstGeom prst="rect">
            <a:avLst/>
          </a:prstGeom>
          <a:noFill/>
        </p:spPr>
        <p:txBody>
          <a:bodyPr wrap="square" lIns="0" rIns="0" tIns="0" bIns="0" anchor="t">
            <a:spAutoFit/>
          </a:bodyPr>
          <a:lstStyle/>
          <a:p>
            <a:r>
              <a:rPr sz="1600" b="0">
                <a:solidFill>
                  <a:srgbClr val="1B2230"/>
                </a:solidFill>
                <a:latin typeface="Arial"/>
              </a:rPr>
              <a:t>Merge ở đây CHỈ ĐỂ MINH HỌA (Merge as New, xem xong xóa). Product/Store/Customer load riêng, B5 nối bằng Relationship. Số dòng TĂNG sau Merge = lookup có khóa trùng (29.408 thay vì 28.328).</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Sales_Merge_Demo (Sales × Product, Practice/B4_Lookups.xlsx)</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Các kiểu Join (Merge)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APPEND &amp; MERGE</a:t>
            </a:r>
          </a:p>
        </p:txBody>
      </p:sp>
      <p:graphicFrame>
        <p:nvGraphicFramePr>
          <p:cNvPr id="4" name="Table"/>
          <p:cNvGraphicFramePr>
            <a:graphicFrameLocks noGrp="1"/>
          </p:cNvGraphicFramePr>
          <p:nvPr/>
        </p:nvGraphicFramePr>
        <p:xfrm>
          <a:off x="1527048" y="1463040"/>
          <a:ext cx="10122408" cy="3291840"/>
        </p:xfrm>
        <a:graphic>
          <a:graphicData uri="http://schemas.openxmlformats.org/drawingml/2006/table">
            <a:tbl>
              <a:tblPr firstRow="1" bandRow="0"/>
              <a:tblGrid>
                <a:gridCol w="1463040"/>
                <a:gridCol w="1920240"/>
                <a:gridCol w="3931920"/>
                <a:gridCol w="2807208"/>
              </a:tblGrid>
              <a:tr h="658368">
                <a:tc>
                  <a:txBody>
                    <a:bodyPr wrap="square"/>
                    <a:lstStyle/>
                    <a:p>
                      <a:r>
                        <a:rPr sz="1400" b="1">
                          <a:solidFill>
                            <a:srgbClr val="FFFFFF"/>
                          </a:solidFill>
                          <a:latin typeface="Arial"/>
                        </a:rPr>
                        <a:t>Phần giữ lại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Join Kind</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Kết quả</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Giống</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658368">
                <a:tc>
                  <a:txBody>
                    <a:bodyPr wrap="square"/>
                    <a:lstStyle/>
                    <a:p>
                      <a:r>
                        <a:rPr sz="1400" b="0">
                          <a:solidFill>
                            <a:srgbClr val="1B2230"/>
                          </a:solidFill>
                          <a:latin typeface="Arial"/>
                        </a:rPr>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Left Outer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Giữ hết bảng trái, thêm cột nếu khớp bảng phải</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XLOOKUP (không thấy → null)</a:t>
                      </a:r>
                    </a:p>
                  </a:txBody>
                  <a:tcPr marL="73152" marR="73152" marT="27432" marB="27432" anchor="ctr">
                    <a:lnL w="0">
                      <a:noFill/>
                    </a:lnL>
                    <a:lnR w="0">
                      <a:noFill/>
                    </a:lnR>
                    <a:lnT w="12700">
                      <a:solidFill>
                        <a:srgbClr val="D9DEE8"/>
                      </a:solidFill>
                    </a:lnT>
                    <a:lnB w="12700">
                      <a:solidFill>
                        <a:srgbClr val="D9DEE8"/>
                      </a:solidFill>
                    </a:lnB>
                    <a:noFill/>
                  </a:tcPr>
                </a:tc>
              </a:tr>
              <a:tr h="658368">
                <a:tc>
                  <a:txBody>
                    <a:bodyPr wrap="square"/>
                    <a:lstStyle/>
                    <a:p>
                      <a:r>
                        <a:rPr sz="1400" b="0">
                          <a:solidFill>
                            <a:srgbClr val="1B2230"/>
                          </a:solidFill>
                          <a:latin typeface="Arial"/>
                        </a:rPr>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Inner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Chỉ giữ dòng khớp ở CẢ HAI bảng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INNER JOIN (SQL)</a:t>
                      </a:r>
                    </a:p>
                  </a:txBody>
                  <a:tcPr marL="73152" marR="73152" marT="27432" marB="27432" anchor="ctr">
                    <a:lnL w="0">
                      <a:noFill/>
                    </a:lnL>
                    <a:lnR w="0">
                      <a:noFill/>
                    </a:lnR>
                    <a:lnT w="12700">
                      <a:solidFill>
                        <a:srgbClr val="D9DEE8"/>
                      </a:solidFill>
                    </a:lnT>
                    <a:lnB w="12700">
                      <a:solidFill>
                        <a:srgbClr val="D9DEE8"/>
                      </a:solidFill>
                    </a:lnB>
                    <a:noFill/>
                  </a:tcPr>
                </a:tc>
              </a:tr>
              <a:tr h="658368">
                <a:tc>
                  <a:txBody>
                    <a:bodyPr wrap="square"/>
                    <a:lstStyle/>
                    <a:p>
                      <a:r>
                        <a:rPr sz="1400" b="0">
                          <a:solidFill>
                            <a:srgbClr val="1B2230"/>
                          </a:solidFill>
                          <a:latin typeface="Arial"/>
                        </a:rPr>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Right Outer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Giữ hết bảng phải, thêm cột từ bảng trái nếu khớp</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Left Outer đổi chiều</a:t>
                      </a:r>
                    </a:p>
                  </a:txBody>
                  <a:tcPr marL="73152" marR="73152" marT="27432" marB="27432" anchor="ctr">
                    <a:lnL w="0">
                      <a:noFill/>
                    </a:lnL>
                    <a:lnR w="0">
                      <a:noFill/>
                    </a:lnR>
                    <a:lnT w="12700">
                      <a:solidFill>
                        <a:srgbClr val="D9DEE8"/>
                      </a:solidFill>
                    </a:lnT>
                    <a:lnB w="12700">
                      <a:solidFill>
                        <a:srgbClr val="D9DEE8"/>
                      </a:solidFill>
                    </a:lnB>
                    <a:noFill/>
                  </a:tcPr>
                </a:tc>
              </a:tr>
              <a:tr h="658368">
                <a:tc>
                  <a:txBody>
                    <a:bodyPr wrap="square"/>
                    <a:lstStyle/>
                    <a:p>
                      <a:r>
                        <a:rPr sz="1400" b="0">
                          <a:solidFill>
                            <a:srgbClr val="1B2230"/>
                          </a:solidFill>
                          <a:latin typeface="Arial"/>
                        </a:rPr>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Left Anti</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Chỉ giữ dòng bảng trái KHÔNG khớp bảng phải</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Tìm “dòng mồ côi”</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Venn left trái"/>
          <p:cNvSpPr/>
          <p:nvPr/>
        </p:nvSpPr>
        <p:spPr>
          <a:xfrm>
            <a:off x="1865376" y="2212848"/>
            <a:ext cx="475488" cy="47548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Venn left phải"/>
          <p:cNvSpPr/>
          <p:nvPr/>
        </p:nvSpPr>
        <p:spPr>
          <a:xfrm>
            <a:off x="2174443" y="2212848"/>
            <a:ext cx="475488" cy="4754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Venn left giao"/>
          <p:cNvSpPr/>
          <p:nvPr/>
        </p:nvSpPr>
        <p:spPr>
          <a:xfrm>
            <a:off x="2174443" y="2269906"/>
            <a:ext cx="166420" cy="36137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enn left viền trái"/>
          <p:cNvSpPr/>
          <p:nvPr/>
        </p:nvSpPr>
        <p:spPr>
          <a:xfrm>
            <a:off x="1865376" y="2212848"/>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enn left viền phải"/>
          <p:cNvSpPr/>
          <p:nvPr/>
        </p:nvSpPr>
        <p:spPr>
          <a:xfrm>
            <a:off x="2174443" y="2212848"/>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Venn inner trái"/>
          <p:cNvSpPr/>
          <p:nvPr/>
        </p:nvSpPr>
        <p:spPr>
          <a:xfrm>
            <a:off x="1865376" y="2871216"/>
            <a:ext cx="475488" cy="4754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Venn inner phải"/>
          <p:cNvSpPr/>
          <p:nvPr/>
        </p:nvSpPr>
        <p:spPr>
          <a:xfrm>
            <a:off x="2174443" y="2871216"/>
            <a:ext cx="475488" cy="4754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Venn inner giao"/>
          <p:cNvSpPr/>
          <p:nvPr/>
        </p:nvSpPr>
        <p:spPr>
          <a:xfrm>
            <a:off x="2174443" y="2928274"/>
            <a:ext cx="166420" cy="36137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enn inner viền trái"/>
          <p:cNvSpPr/>
          <p:nvPr/>
        </p:nvSpPr>
        <p:spPr>
          <a:xfrm>
            <a:off x="1865376" y="2871216"/>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Venn inner viền phải"/>
          <p:cNvSpPr/>
          <p:nvPr/>
        </p:nvSpPr>
        <p:spPr>
          <a:xfrm>
            <a:off x="2174443" y="2871216"/>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Venn right trái"/>
          <p:cNvSpPr/>
          <p:nvPr/>
        </p:nvSpPr>
        <p:spPr>
          <a:xfrm>
            <a:off x="1865376" y="3529584"/>
            <a:ext cx="475488" cy="4754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Venn right phải"/>
          <p:cNvSpPr/>
          <p:nvPr/>
        </p:nvSpPr>
        <p:spPr>
          <a:xfrm>
            <a:off x="2174443" y="3529584"/>
            <a:ext cx="475488" cy="47548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enn right giao"/>
          <p:cNvSpPr/>
          <p:nvPr/>
        </p:nvSpPr>
        <p:spPr>
          <a:xfrm>
            <a:off x="2174443" y="3586642"/>
            <a:ext cx="166420" cy="36137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enn right viền trái"/>
          <p:cNvSpPr/>
          <p:nvPr/>
        </p:nvSpPr>
        <p:spPr>
          <a:xfrm>
            <a:off x="1865376" y="3529584"/>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Venn right viền phải"/>
          <p:cNvSpPr/>
          <p:nvPr/>
        </p:nvSpPr>
        <p:spPr>
          <a:xfrm>
            <a:off x="2174443" y="3529584"/>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Venn anti trái"/>
          <p:cNvSpPr/>
          <p:nvPr/>
        </p:nvSpPr>
        <p:spPr>
          <a:xfrm>
            <a:off x="1865376" y="4187952"/>
            <a:ext cx="475488" cy="475488"/>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enn anti phải"/>
          <p:cNvSpPr/>
          <p:nvPr/>
        </p:nvSpPr>
        <p:spPr>
          <a:xfrm>
            <a:off x="2174443" y="4187952"/>
            <a:ext cx="475488" cy="4754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Venn anti giao"/>
          <p:cNvSpPr/>
          <p:nvPr/>
        </p:nvSpPr>
        <p:spPr>
          <a:xfrm>
            <a:off x="2174443" y="4245010"/>
            <a:ext cx="166420" cy="36137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Venn anti viền trái"/>
          <p:cNvSpPr/>
          <p:nvPr/>
        </p:nvSpPr>
        <p:spPr>
          <a:xfrm>
            <a:off x="1865376" y="4187952"/>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enn anti viền phải"/>
          <p:cNvSpPr/>
          <p:nvPr/>
        </p:nvSpPr>
        <p:spPr>
          <a:xfrm>
            <a:off x="2174443" y="4187952"/>
            <a:ext cx="475488" cy="475488"/>
          </a:xfrm>
          <a:prstGeom prst="ellipse">
            <a:avLst/>
          </a:prstGeom>
          <a:no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IP callout"/>
          <p:cNvSpPr/>
          <p:nvPr/>
        </p:nvSpPr>
        <p:spPr>
          <a:xfrm>
            <a:off x="1527048" y="5074920"/>
            <a:ext cx="10122408" cy="10515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p:cNvSpPr txBox="1"/>
          <p:nvPr/>
        </p:nvSpPr>
        <p:spPr>
          <a:xfrm>
            <a:off x="1636776" y="51846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27" name="TIP text"/>
          <p:cNvSpPr txBox="1"/>
          <p:nvPr/>
        </p:nvSpPr>
        <p:spPr>
          <a:xfrm>
            <a:off x="2212848" y="5166359"/>
            <a:ext cx="9326880" cy="868680"/>
          </a:xfrm>
          <a:prstGeom prst="rect">
            <a:avLst/>
          </a:prstGeom>
          <a:noFill/>
        </p:spPr>
        <p:txBody>
          <a:bodyPr wrap="square" lIns="0" rIns="0" tIns="0" bIns="0" anchor="t">
            <a:spAutoFit/>
          </a:bodyPr>
          <a:lstStyle/>
          <a:p>
            <a:r>
              <a:rPr sz="1600" b="0">
                <a:solidFill>
                  <a:srgbClr val="1B2230"/>
                </a:solidFill>
                <a:latin typeface="Arial"/>
              </a:rPr>
              <a:t>Kiểm tra chất lượng bằng Left Anti: Merge Sales × Product, Join Kind = Left Anti — ra 0 dòng nghĩa là mọi Product_Code trong Sales đều có trong danh mục.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Bảng Calendar: trục thời gian cho mọi bảng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Calendar: Blank Query → List.Dates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CALENDAR</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000" b="1">
                <a:solidFill>
                  <a:srgbClr val="C00000"/>
                </a:solidFill>
                <a:latin typeface="Arial"/>
              </a:rPr>
              <a:t>New Source → Blank Query · List.Dates · Add Column → Date</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Bảng có ĐỦ MỌI NGÀY LIÊN TỤC trong các năm cần phân tích, kèm Năm / Tháng / Quý / Thứ — trục thời gian chung cho Sales và Target ở B5.</a:t>
            </a:r>
          </a:p>
        </p:txBody>
      </p:sp>
      <p:sp>
        <p:nvSpPr>
          <p:cNvPr id="6" name="Formula bar"/>
          <p:cNvSpPr/>
          <p:nvPr/>
        </p:nvSpPr>
        <p:spPr>
          <a:xfrm>
            <a:off x="1527048" y="2514600"/>
            <a:ext cx="6309360"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51460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514600"/>
            <a:ext cx="5669280" cy="411480"/>
          </a:xfrm>
          <a:prstGeom prst="rect">
            <a:avLst/>
          </a:prstGeom>
          <a:noFill/>
        </p:spPr>
        <p:txBody>
          <a:bodyPr wrap="square" lIns="0" rIns="0" tIns="0" bIns="0" anchor="ctr">
            <a:spAutoFit/>
          </a:bodyPr>
          <a:lstStyle/>
          <a:p>
            <a:r>
              <a:rPr sz="1400" b="0">
                <a:solidFill>
                  <a:srgbClr val="1B2230"/>
                </a:solidFill>
                <a:latin typeface="Arial"/>
              </a:rPr>
              <a:t>= List.Dates(#date(2024,1,1), 731, #duration(1,0,0,0))</a:t>
            </a:r>
          </a:p>
        </p:txBody>
      </p:sp>
      <p:sp>
        <p:nvSpPr>
          <p:cNvPr id="9" name="Image placeholder [CHỤP]"/>
          <p:cNvSpPr/>
          <p:nvPr/>
        </p:nvSpPr>
        <p:spPr>
          <a:xfrm>
            <a:off x="1527048" y="3063240"/>
            <a:ext cx="6309360" cy="21945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709928" y="3154680"/>
            <a:ext cx="5943600" cy="201167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Calendar: Date, Nam, Thang, Quy, Thu</a:t>
            </a:r>
          </a:p>
          <a:p>
            <a:pPr algn="ctr">
              <a:spcBef>
                <a:spcPts val="400"/>
              </a:spcBef>
            </a:pPr>
            <a:r>
              <a:rPr sz="1200" b="0">
                <a:solidFill>
                  <a:srgbClr val="6B6F76"/>
                </a:solidFill>
                <a:latin typeface="Arial"/>
              </a:rPr>
              <a:t>Query Calendar (Blank Query) → S25_calendar.png</a:t>
            </a:r>
          </a:p>
        </p:txBody>
      </p:sp>
      <p:sp>
        <p:nvSpPr>
          <p:cNvPr id="11" name="Stat card"/>
          <p:cNvSpPr/>
          <p:nvPr/>
        </p:nvSpPr>
        <p:spPr>
          <a:xfrm>
            <a:off x="8001000" y="2514600"/>
            <a:ext cx="3648456" cy="1325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8183879" y="2606040"/>
            <a:ext cx="3282696" cy="1143000"/>
          </a:xfrm>
          <a:prstGeom prst="rect">
            <a:avLst/>
          </a:prstGeom>
          <a:noFill/>
        </p:spPr>
        <p:txBody>
          <a:bodyPr wrap="square" lIns="0" rIns="0" tIns="0" bIns="0" anchor="ctr">
            <a:spAutoFit/>
          </a:bodyPr>
          <a:lstStyle/>
          <a:p>
            <a:r>
              <a:rPr sz="1400" b="0">
                <a:solidFill>
                  <a:srgbClr val="585858"/>
                </a:solidFill>
                <a:latin typeface="Arial"/>
              </a:rPr>
              <a:t>01/01/2024 – 31/12/2025</a:t>
            </a:r>
          </a:p>
          <a:p>
            <a:pPr>
              <a:spcBef>
                <a:spcPts val="200"/>
              </a:spcBef>
            </a:pPr>
            <a:r>
              <a:rPr sz="2600" b="1">
                <a:solidFill>
                  <a:srgbClr val="203864"/>
                </a:solidFill>
                <a:latin typeface="Arial"/>
              </a:rPr>
              <a:t>731 dòng</a:t>
            </a:r>
          </a:p>
          <a:p>
            <a:pPr>
              <a:spcBef>
                <a:spcPts val="200"/>
              </a:spcBef>
            </a:pPr>
            <a:r>
              <a:rPr sz="1400" b="0">
                <a:solidFill>
                  <a:srgbClr val="1B2230"/>
                </a:solidFill>
                <a:latin typeface="Arial"/>
              </a:rPr>
              <a:t>2024 nhuận 366 + 2025 365</a:t>
            </a:r>
          </a:p>
        </p:txBody>
      </p:sp>
      <p:sp>
        <p:nvSpPr>
          <p:cNvPr id="13" name="TIP callout"/>
          <p:cNvSpPr/>
          <p:nvPr/>
        </p:nvSpPr>
        <p:spPr>
          <a:xfrm>
            <a:off x="8001000" y="3977639"/>
            <a:ext cx="3648456" cy="12801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8110727" y="40873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5" name="TIP text"/>
          <p:cNvSpPr txBox="1"/>
          <p:nvPr/>
        </p:nvSpPr>
        <p:spPr>
          <a:xfrm>
            <a:off x="8686800" y="4069079"/>
            <a:ext cx="2852928" cy="1097280"/>
          </a:xfrm>
          <a:prstGeom prst="rect">
            <a:avLst/>
          </a:prstGeom>
          <a:noFill/>
        </p:spPr>
        <p:txBody>
          <a:bodyPr wrap="square" lIns="0" rIns="0" tIns="0" bIns="0" anchor="t">
            <a:spAutoFit/>
          </a:bodyPr>
          <a:lstStyle/>
          <a:p>
            <a:r>
              <a:rPr sz="1600" b="0">
                <a:solidFill>
                  <a:srgbClr val="1B2230"/>
                </a:solidFill>
                <a:latin typeface="Arial"/>
              </a:rPr>
              <a:t>Liên tục, phủ trọn các năm của mọi bảng fact (Target đủ 12 tháng 2025). Mùng 1 Tết: 10/02/2024 · 29/01/2025.</a:t>
            </a:r>
          </a:p>
        </p:txBody>
      </p:sp>
      <p:sp>
        <p:nvSpPr>
          <p:cNvPr id="16" name="PRO 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RO TIP chip"/>
          <p:cNvSpPr/>
          <p:nvPr/>
        </p:nvSpPr>
        <p:spPr>
          <a:xfrm>
            <a:off x="1636776" y="550468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8" name="PRO TIP text"/>
          <p:cNvSpPr txBox="1"/>
          <p:nvPr/>
        </p:nvSpPr>
        <p:spPr>
          <a:xfrm>
            <a:off x="2734056" y="5486400"/>
            <a:ext cx="8805672" cy="548640"/>
          </a:xfrm>
          <a:prstGeom prst="rect">
            <a:avLst/>
          </a:prstGeom>
          <a:noFill/>
        </p:spPr>
        <p:txBody>
          <a:bodyPr wrap="square" lIns="0" rIns="0" tIns="0" bIns="0" anchor="t">
            <a:spAutoFit/>
          </a:bodyPr>
          <a:lstStyle/>
          <a:p>
            <a:r>
              <a:rPr sz="1600" b="0">
                <a:solidFill>
                  <a:srgbClr val="1B2230"/>
                </a:solidFill>
                <a:latin typeface="Arial"/>
              </a:rPr>
              <a:t>Rolling calendar: điểm cuối tự lấy theo ngày hiện tại bằng DateTime.LocalNow() — xem handout.</a:t>
            </a:r>
          </a:p>
        </p:txBody>
      </p:sp>
      <p:sp>
        <p:nvSpPr>
          <p:cNvPr id="1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query Calendar (Blank Query) trong B4_&lt;HoTen&gt;.xlsx · không lấy Calendar từ Order_Date: ngày không có đơn sẽ bị thiếu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Load: đưa các bảng sạch vào đúng chỗ</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Close &amp; Load To · Data Model</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LOAD &amp; ĐỐI SOÁT</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000" b="1">
                <a:solidFill>
                  <a:srgbClr val="C00000"/>
                </a:solidFill>
                <a:latin typeface="Arial"/>
              </a:rPr>
              <a:t>Close &amp; Load To…  ·  chuột phải query → Load To…</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Chọn nơi mỗi query đi tới: Table (ra sheet) · Only Create Connection (chỉ lưu các bước) · ☑ Add this data to the Data Model.</a:t>
            </a:r>
          </a:p>
        </p:txBody>
      </p:sp>
      <p:sp>
        <p:nvSpPr>
          <p:cNvPr id="6" name="Image placeholder [CHỤP]"/>
          <p:cNvSpPr/>
          <p:nvPr/>
        </p:nvSpPr>
        <p:spPr>
          <a:xfrm>
            <a:off x="1527048" y="2606040"/>
            <a:ext cx="6309360" cy="256032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697480"/>
            <a:ext cx="5943600" cy="237743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Queries &amp; Connections: 6 query + nhóm trợ giúp của From Folder; “28,328 rows loaded” dưới Sales</a:t>
            </a:r>
          </a:p>
          <a:p>
            <a:pPr algn="ctr">
              <a:spcBef>
                <a:spcPts val="400"/>
              </a:spcBef>
            </a:pPr>
            <a:r>
              <a:rPr sz="1200" b="0">
                <a:solidFill>
                  <a:srgbClr val="6B6F76"/>
                </a:solidFill>
                <a:latin typeface="Arial"/>
              </a:rPr>
              <a:t>B4_&lt;HoTen&gt;.xlsx, Data → Queries &amp; Connections → S27_queries_pane.png</a:t>
            </a:r>
          </a:p>
        </p:txBody>
      </p:sp>
      <p:graphicFrame>
        <p:nvGraphicFramePr>
          <p:cNvPr id="8" name="Row counts"/>
          <p:cNvGraphicFramePr>
            <a:graphicFrameLocks noGrp="1"/>
          </p:cNvGraphicFramePr>
          <p:nvPr/>
        </p:nvGraphicFramePr>
        <p:xfrm>
          <a:off x="8001000" y="2606040"/>
          <a:ext cx="3648456" cy="2560320"/>
        </p:xfrm>
        <a:graphic>
          <a:graphicData uri="http://schemas.openxmlformats.org/drawingml/2006/table">
            <a:tbl>
              <a:tblPr firstRow="1" bandRow="0"/>
              <a:tblGrid>
                <a:gridCol w="2011680"/>
                <a:gridCol w="1636776"/>
              </a:tblGrid>
              <a:tr h="365760">
                <a:tc>
                  <a:txBody>
                    <a:bodyPr wrap="square"/>
                    <a:lstStyle/>
                    <a:p>
                      <a:r>
                        <a:rPr sz="1300" b="1">
                          <a:solidFill>
                            <a:srgbClr val="FFFFFF"/>
                          </a:solidFill>
                          <a:latin typeface="Arial"/>
                        </a:rPr>
                        <a:t>Bảng</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Số dòng</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65760">
                <a:tc>
                  <a:txBody>
                    <a:bodyPr wrap="square"/>
                    <a:lstStyle/>
                    <a:p>
                      <a:r>
                        <a:rPr sz="1300" b="0">
                          <a:solidFill>
                            <a:srgbClr val="1B2230"/>
                          </a:solidFill>
                          <a:latin typeface="Arial"/>
                        </a:rPr>
                        <a:t>Sales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28.328</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300" b="0">
                          <a:solidFill>
                            <a:srgbClr val="1B2230"/>
                          </a:solidFill>
                          <a:latin typeface="Arial"/>
                        </a:rPr>
                        <a:t>Product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40</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300" b="0">
                          <a:solidFill>
                            <a:srgbClr val="1B2230"/>
                          </a:solidFill>
                          <a:latin typeface="Arial"/>
                        </a:rPr>
                        <a:t>Store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12</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300" b="0">
                          <a:solidFill>
                            <a:srgbClr val="1B2230"/>
                          </a:solidFill>
                          <a:latin typeface="Arial"/>
                        </a:rPr>
                        <a:t>Customer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1.500</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300" b="0">
                          <a:solidFill>
                            <a:srgbClr val="1B2230"/>
                          </a:solidFill>
                          <a:latin typeface="Arial"/>
                        </a:rPr>
                        <a:t>Target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144</a:t>
                      </a:r>
                    </a:p>
                  </a:txBody>
                  <a:tcPr marL="73152" marR="73152" marT="27432" marB="27432" anchor="ctr">
                    <a:lnL w="0">
                      <a:noFill/>
                    </a:lnL>
                    <a:lnR w="0">
                      <a:noFill/>
                    </a:lnR>
                    <a:lnT w="12700">
                      <a:solidFill>
                        <a:srgbClr val="D9DEE8"/>
                      </a:solidFill>
                    </a:lnT>
                    <a:lnB w="12700">
                      <a:solidFill>
                        <a:srgbClr val="D9DEE8"/>
                      </a:solidFill>
                    </a:lnB>
                    <a:noFill/>
                  </a:tcPr>
                </a:tc>
              </a:tr>
              <a:tr h="365760">
                <a:tc>
                  <a:txBody>
                    <a:bodyPr wrap="square"/>
                    <a:lstStyle/>
                    <a:p>
                      <a:r>
                        <a:rPr sz="1300" b="0">
                          <a:solidFill>
                            <a:srgbClr val="1B2230"/>
                          </a:solidFill>
                          <a:latin typeface="Arial"/>
                        </a:rPr>
                        <a:t>Calendar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731</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9" name="TIP callout"/>
          <p:cNvSpPr/>
          <p:nvPr/>
        </p:nvSpPr>
        <p:spPr>
          <a:xfrm>
            <a:off x="1527048" y="530352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413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394959"/>
            <a:ext cx="9326880" cy="685800"/>
          </a:xfrm>
          <a:prstGeom prst="rect">
            <a:avLst/>
          </a:prstGeom>
          <a:noFill/>
        </p:spPr>
        <p:txBody>
          <a:bodyPr wrap="square" lIns="0" rIns="0" tIns="0" bIns="0" anchor="t">
            <a:spAutoFit/>
          </a:bodyPr>
          <a:lstStyle/>
          <a:p>
            <a:r>
              <a:rPr sz="1600" b="0">
                <a:solidFill>
                  <a:srgbClr val="1B2230"/>
                </a:solidFill>
                <a:latin typeface="Arial"/>
              </a:rPr>
              <a:t>Sales → Table + Data Model. Product/Store/Customer/Target/Calendar → Only Create Connection + Data Model, KHÔNG Merge vào Sales. Sales → Properties → bỏ tick Enable background refresh.</a:t>
            </a:r>
          </a:p>
        </p:txBody>
      </p:sp>
      <p:sp>
        <p:nvSpPr>
          <p:cNvPr id="1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B4_&lt;HoTen&gt;.xlsx, Data → Queries &amp; Connections · Pivot PV_Refresh (Nam × Thang) phải ra 28.328 dòng, 4.139.884.500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1: Thả tháng 4, Refresh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THỰC HÀNH</a:t>
            </a:r>
          </a:p>
        </p:txBody>
      </p:sp>
      <p:sp>
        <p:nvSpPr>
          <p:cNvPr id="4" name="Time chip"/>
          <p:cNvSpPr/>
          <p:nvPr/>
        </p:nvSpPr>
        <p:spPr>
          <a:xfrm>
            <a:off x="1527048" y="146304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10 phút</a:t>
            </a:r>
          </a:p>
        </p:txBody>
      </p:sp>
      <p:sp>
        <p:nvSpPr>
          <p:cNvPr id="5" name="TextBox"/>
          <p:cNvSpPr txBox="1"/>
          <p:nvPr/>
        </p:nvSpPr>
        <p:spPr>
          <a:xfrm>
            <a:off x="1527048" y="2011680"/>
            <a:ext cx="6309360" cy="4114800"/>
          </a:xfrm>
          <a:prstGeom prst="rect">
            <a:avLst/>
          </a:prstGeom>
          <a:noFill/>
        </p:spPr>
        <p:txBody>
          <a:bodyPr wrap="square" lIns="0" rIns="0" tIns="0" bIns="0" anchor="t">
            <a:spAutoFit/>
          </a:bodyPr>
          <a:lstStyle/>
          <a:p>
            <a:r>
              <a:rPr sz="1600" b="1">
                <a:solidFill>
                  <a:srgbClr val="203864"/>
                </a:solidFill>
                <a:latin typeface="Arial"/>
              </a:rPr>
              <a:t>1. </a:t>
            </a:r>
            <a:r>
              <a:rPr sz="1600" b="0">
                <a:solidFill>
                  <a:srgbClr val="1B2230"/>
                </a:solidFill>
                <a:latin typeface="Arial"/>
              </a:rPr>
              <a:t>Ghi lại TRƯỚC khi Refresh: Grand Total của PV_Refresh (28.328 dòng · 4.139.884.500).</a:t>
            </a:r>
          </a:p>
          <a:p>
            <a:pPr>
              <a:spcBef>
                <a:spcPts val="1200"/>
              </a:spcBef>
            </a:pPr>
            <a:r>
              <a:rPr sz="1600" b="1">
                <a:solidFill>
                  <a:srgbClr val="203864"/>
                </a:solidFill>
                <a:latin typeface="Arial"/>
              </a:rPr>
              <a:t>2. </a:t>
            </a:r>
            <a:r>
              <a:rPr sz="1600" b="0">
                <a:solidFill>
                  <a:srgbClr val="1B2230"/>
                </a:solidFill>
                <a:latin typeface="Arial"/>
              </a:rPr>
              <a:t>Copy Practice/New_Month/Sales_2025-04.csv vào ĐÚNG thư mục Practice/Data_Sales/.</a:t>
            </a:r>
          </a:p>
          <a:p>
            <a:pPr>
              <a:spcBef>
                <a:spcPts val="1200"/>
              </a:spcBef>
            </a:pPr>
            <a:r>
              <a:rPr sz="1600" b="1">
                <a:solidFill>
                  <a:srgbClr val="203864"/>
                </a:solidFill>
                <a:latin typeface="Arial"/>
              </a:rPr>
              <a:t>3. </a:t>
            </a:r>
            <a:r>
              <a:rPr sz="1600" b="0">
                <a:solidFill>
                  <a:srgbClr val="1B2230"/>
                </a:solidFill>
                <a:latin typeface="Arial"/>
              </a:rPr>
              <a:t>Data → Refresh All (hoặc Ctrl+Alt+F5).</a:t>
            </a:r>
          </a:p>
          <a:p>
            <a:pPr>
              <a:spcBef>
                <a:spcPts val="1200"/>
              </a:spcBef>
            </a:pPr>
            <a:r>
              <a:rPr sz="1600" b="1">
                <a:solidFill>
                  <a:srgbClr val="203864"/>
                </a:solidFill>
                <a:latin typeface="Arial"/>
              </a:rPr>
              <a:t>4. </a:t>
            </a:r>
            <a:r>
              <a:rPr sz="1600" b="0">
                <a:solidFill>
                  <a:srgbClr val="1B2230"/>
                </a:solidFill>
                <a:latin typeface="Arial"/>
              </a:rPr>
              <a:t>Quan sát: PV_Refresh có thêm dòng 2025 · 4, Grand Total tự đổi — KHÔNG sửa một bước nào.</a:t>
            </a:r>
          </a:p>
        </p:txBody>
      </p:sp>
      <p:sp>
        <p:nvSpPr>
          <p:cNvPr id="6" name="Check box"/>
          <p:cNvSpPr/>
          <p:nvPr/>
        </p:nvSpPr>
        <p:spPr>
          <a:xfrm>
            <a:off x="8110727" y="1463040"/>
            <a:ext cx="3538728" cy="457200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293608" y="1600200"/>
            <a:ext cx="3172968" cy="4297680"/>
          </a:xfrm>
          <a:prstGeom prst="rect">
            <a:avLst/>
          </a:prstGeom>
          <a:noFill/>
        </p:spPr>
        <p:txBody>
          <a:bodyPr wrap="square" lIns="0" rIns="0" tIns="0" bIns="0" anchor="t">
            <a:spAutoFit/>
          </a:bodyPr>
          <a:lstStyle/>
          <a:p>
            <a:r>
              <a:rPr sz="1600" b="1">
                <a:solidFill>
                  <a:srgbClr val="203864"/>
                </a:solidFill>
                <a:latin typeface="Arial"/>
              </a:rPr>
              <a:t>Kiểm tra sau Refresh</a:t>
            </a:r>
          </a:p>
          <a:p>
            <a:pPr>
              <a:spcBef>
                <a:spcPts val="800"/>
              </a:spcBef>
            </a:pPr>
            <a:r>
              <a:rPr sz="2600" b="1">
                <a:solidFill>
                  <a:srgbClr val="203864"/>
                </a:solidFill>
                <a:latin typeface="Arial"/>
              </a:rPr>
              <a:t>30.247 dòng</a:t>
            </a:r>
          </a:p>
          <a:p>
            <a:pPr>
              <a:spcBef>
                <a:spcPts val="800"/>
              </a:spcBef>
            </a:pPr>
            <a:r>
              <a:rPr sz="2000" b="1">
                <a:solidFill>
                  <a:srgbClr val="203864"/>
                </a:solidFill>
                <a:latin typeface="Arial"/>
              </a:rPr>
              <a:t>4.436.849.500</a:t>
            </a:r>
          </a:p>
          <a:p>
            <a:pPr>
              <a:spcBef>
                <a:spcPts val="800"/>
              </a:spcBef>
            </a:pPr>
            <a:r>
              <a:rPr sz="1500" b="0">
                <a:solidFill>
                  <a:srgbClr val="1B2230"/>
                </a:solidFill>
                <a:latin typeface="Arial"/>
              </a:rPr>
              <a:t>Dòng 2025 · 4: 1.919 dòng · 296.965.000</a:t>
            </a:r>
          </a:p>
          <a:p>
            <a:pPr>
              <a:spcBef>
                <a:spcPts val="800"/>
              </a:spcBef>
            </a:pPr>
            <a:r>
              <a:rPr sz="1500" b="0">
                <a:solidFill>
                  <a:srgbClr val="1B2230"/>
                </a:solidFill>
                <a:latin typeface="Arial"/>
              </a:rPr>
              <a:t>Đây là khoảnh khắc D3 của khóa học</a:t>
            </a:r>
          </a:p>
        </p:txBody>
      </p:sp>
      <p:sp>
        <p:nvSpPr>
          <p:cNvPr id="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File tháng 4: Practice/New_Month/Sales_2025-04.csv (1.920 dòng thô)</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2: Đối soát &amp; chữa bài nhanh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THỰC HÀNH</a:t>
            </a:r>
          </a:p>
        </p:txBody>
      </p:sp>
      <p:sp>
        <p:nvSpPr>
          <p:cNvPr id="4" name="Time chip"/>
          <p:cNvSpPr/>
          <p:nvPr/>
        </p:nvSpPr>
        <p:spPr>
          <a:xfrm>
            <a:off x="1527048" y="146304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10 phút</a:t>
            </a:r>
          </a:p>
        </p:txBody>
      </p:sp>
      <p:sp>
        <p:nvSpPr>
          <p:cNvPr id="5" name="Checkbox 1"/>
          <p:cNvSpPr/>
          <p:nvPr/>
        </p:nvSpPr>
        <p:spPr>
          <a:xfrm>
            <a:off x="1527048" y="224028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2075688" y="2011680"/>
            <a:ext cx="9573768" cy="777240"/>
          </a:xfrm>
          <a:prstGeom prst="rect">
            <a:avLst/>
          </a:prstGeom>
          <a:noFill/>
        </p:spPr>
        <p:txBody>
          <a:bodyPr wrap="square" lIns="0" rIns="0" tIns="0" bIns="0" anchor="ctr">
            <a:spAutoFit/>
          </a:bodyPr>
          <a:lstStyle/>
          <a:p>
            <a:r>
              <a:rPr sz="1600" b="0">
                <a:solidFill>
                  <a:srgbClr val="1B2230"/>
                </a:solidFill>
                <a:latin typeface="Arial"/>
              </a:rPr>
              <a:t>Sales sau Refresh: 30.247 dòng, 4.436.849.500 (tăng đúng 1.919 dòng, 296.965.000)</a:t>
            </a:r>
          </a:p>
        </p:txBody>
      </p:sp>
      <p:sp>
        <p:nvSpPr>
          <p:cNvPr id="7" name="Checkbox 2"/>
          <p:cNvSpPr/>
          <p:nvPr/>
        </p:nvSpPr>
        <p:spPr>
          <a:xfrm>
            <a:off x="1527048" y="315468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2075688" y="2926080"/>
            <a:ext cx="9573768" cy="777240"/>
          </a:xfrm>
          <a:prstGeom prst="rect">
            <a:avLst/>
          </a:prstGeom>
          <a:noFill/>
        </p:spPr>
        <p:txBody>
          <a:bodyPr wrap="square" lIns="0" rIns="0" tIns="0" bIns="0" anchor="ctr">
            <a:spAutoFit/>
          </a:bodyPr>
          <a:lstStyle/>
          <a:p>
            <a:r>
              <a:rPr sz="1600" b="0">
                <a:solidFill>
                  <a:srgbClr val="1B2230"/>
                </a:solidFill>
                <a:latin typeface="Arial"/>
              </a:rPr>
              <a:t>PV_Refresh tự có dòng 2025 · 4 mà không sửa bước nào; lọc Store_Code = ST12: dòng đầu tiên là 06/2024</a:t>
            </a:r>
          </a:p>
        </p:txBody>
      </p:sp>
      <p:sp>
        <p:nvSpPr>
          <p:cNvPr id="9" name="Checkbox 3"/>
          <p:cNvSpPr/>
          <p:nvPr/>
        </p:nvSpPr>
        <p:spPr>
          <a:xfrm>
            <a:off x="1527048" y="406908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2075688" y="3840480"/>
            <a:ext cx="9573768" cy="777240"/>
          </a:xfrm>
          <a:prstGeom prst="rect">
            <a:avLst/>
          </a:prstGeom>
          <a:noFill/>
        </p:spPr>
        <p:txBody>
          <a:bodyPr wrap="square" lIns="0" rIns="0" tIns="0" bIns="0" anchor="ctr">
            <a:spAutoFit/>
          </a:bodyPr>
          <a:lstStyle/>
          <a:p>
            <a:r>
              <a:rPr sz="1600" b="0">
                <a:solidFill>
                  <a:srgbClr val="1B2230"/>
                </a:solidFill>
                <a:latin typeface="Arial"/>
              </a:rPr>
              <a:t>Product 40 dòng · Store 12 · Customer 1.500 · Target 144 · Calendar 731</a:t>
            </a:r>
          </a:p>
        </p:txBody>
      </p:sp>
      <p:sp>
        <p:nvSpPr>
          <p:cNvPr id="11" name="Checkbox 4"/>
          <p:cNvSpPr/>
          <p:nvPr/>
        </p:nvSpPr>
        <p:spPr>
          <a:xfrm>
            <a:off x="1527048" y="498348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2075688" y="4754880"/>
            <a:ext cx="9573768" cy="777240"/>
          </a:xfrm>
          <a:prstGeom prst="rect">
            <a:avLst/>
          </a:prstGeom>
          <a:noFill/>
        </p:spPr>
        <p:txBody>
          <a:bodyPr wrap="square" lIns="0" rIns="0" tIns="0" bIns="0" anchor="ctr">
            <a:spAutoFit/>
          </a:bodyPr>
          <a:lstStyle/>
          <a:p>
            <a:r>
              <a:rPr sz="1600" b="0">
                <a:solidFill>
                  <a:srgbClr val="1B2230"/>
                </a:solidFill>
                <a:latin typeface="Arial"/>
              </a:rPr>
              <a:t>Product/Store/Customer/Target/Calendar: Only Create Connection + Data Model, không Merge vào Sales</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Ghi số dòng và doanh thu trước / sau Refresh cạnh PV_Refresh · Đối chiếu: Practice/B4_MCI_Mart_Answer.xlsx, sheet Kiem_tra_B4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Excel Quiz Challenge</a:t>
            </a:r>
          </a:p>
        </p:txBody>
      </p:sp>
      <p:sp>
        <p:nvSpPr>
          <p:cNvPr id="3" name="Text Placeholder 2"/>
          <p:cNvSpPr>
            <a:spLocks noGrp="1"/>
          </p:cNvSpPr>
          <p:nvPr>
            <p:ph type="body" idx="1"/>
          </p:nvPr>
        </p:nvSpPr>
        <p:spPr/>
        <p:txBody>
          <a:bodyPr/>
          <a:lstStyle/>
          <a:p>
            <a:r>
              <a:t>7 câu hỏi nhanh · câu 6–7 là tình huống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 Applied Steps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Refresh một query sau khi file nguồn có dữ liệu mới. Các bước làm sạch có phải làm lại bằng tay không?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swer highlight A"/>
          <p:cNvSpPr/>
          <p:nvPr/>
        </p:nvSpPr>
        <p:spPr>
          <a:xfrm>
            <a:off x="1527048"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8" name="Answer letter A"/>
          <p:cNvSpPr/>
          <p:nvPr/>
        </p:nvSpPr>
        <p:spPr>
          <a:xfrm>
            <a:off x="1709928"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9" name="TextBox"/>
          <p:cNvSpPr txBox="1"/>
          <p:nvPr/>
        </p:nvSpPr>
        <p:spPr>
          <a:xfrm>
            <a:off x="2441448" y="2606040"/>
            <a:ext cx="3941064" cy="1188720"/>
          </a:xfrm>
          <a:prstGeom prst="rect">
            <a:avLst/>
          </a:prstGeom>
          <a:noFill/>
        </p:spPr>
        <p:txBody>
          <a:bodyPr wrap="square" lIns="0" rIns="0" tIns="0" bIns="0" anchor="ctr">
            <a:spAutoFit/>
          </a:bodyPr>
          <a:lstStyle/>
          <a:p>
            <a:r>
              <a:rPr sz="1600" b="0">
                <a:solidFill>
                  <a:srgbClr val="1B2230"/>
                </a:solidFill>
                <a:latin typeface="Arial"/>
              </a:rPr>
              <a:t>Không, Applied Steps tự chạy lại theo đúng thứ tự đã ghi</a:t>
            </a:r>
          </a:p>
        </p:txBody>
      </p:sp>
      <p:sp>
        <p:nvSpPr>
          <p:cNvPr id="10"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600" b="0">
                <a:solidFill>
                  <a:srgbClr val="1B2230"/>
                </a:solidFill>
                <a:latin typeface="Arial"/>
              </a:rPr>
              <a:t>Có, mỗi lần Refresh phải làm lại từ đầu</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600" b="0">
                <a:solidFill>
                  <a:srgbClr val="1B2230"/>
                </a:solidFill>
                <a:latin typeface="Arial"/>
              </a:rPr>
              <a:t>Chỉ bước đầu tiên tự chạy lại</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600" b="0">
                <a:solidFill>
                  <a:srgbClr val="1B2230"/>
                </a:solidFill>
                <a:latin typeface="Arial"/>
              </a:rPr>
              <a:t>Chỉ khi mở lại Query Editor</a:t>
            </a:r>
          </a:p>
        </p:txBody>
      </p:sp>
      <p:sp>
        <p:nvSpPr>
          <p:cNvPr id="19"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400"/>
                                        <p:tgtEl>
                                          <p:spTgt spid="6"/>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400"/>
                                        <p:tgtEl>
                                          <p:spTgt spid="8"/>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9" grpId="0" animBg="1"/>
      <p:bldP spid="20" grpId="0" animBg="1"/>
      <p:bldP spid="21" grpId="0" animBg="1"/>
      <p:bldP spid="22"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 Locale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Cột ngày 13/01/2025 (dd/mm/yyyy) bị báo lỗi khi Change Type sang Date. Nguyên nhân khả dĩ nhất?</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File bị hỏng</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Cột đang là số</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Đang đổi kiểu theo locale mặc định (mm/dd), không phải Using Locale kiểu Việt Nam</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Thiếu bước Trim</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 Remove Duplicates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Product có mã P015 xuất hiện 2 dòng. Nếu Merge Sales với Product mà CHƯA Remove Duplicates, hậu quả là gì?</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Merge báo lỗi ngay</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Cột Category bị để trống</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3"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Không ảnh hưởng gì</a:t>
            </a:r>
          </a:p>
        </p:txBody>
      </p:sp>
      <p:sp>
        <p:nvSpPr>
          <p:cNvPr id="14"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nswer highlight D"/>
          <p:cNvSpPr/>
          <p:nvPr/>
        </p:nvSpPr>
        <p:spPr>
          <a:xfrm>
            <a:off x="6702552"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7" name="Answer letter D"/>
          <p:cNvSpPr/>
          <p:nvPr/>
        </p:nvSpPr>
        <p:spPr>
          <a:xfrm>
            <a:off x="6885432"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Số dòng Sales sau Merge tăng lên (dòng P015 bị nhân đôi)</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5"/>
                                        </p:tgtEl>
                                        <p:attrNameLst>
                                          <p:attrName>style.visibility</p:attrName>
                                        </p:attrNameLst>
                                      </p:cBhvr>
                                      <p:to>
                                        <p:strVal val="visible"/>
                                      </p:to>
                                    </p:set>
                                    <p:animEffect transition="in" filter="fade">
                                      <p:cBhvr>
                                        <p:cTn id="6" dur="400"/>
                                        <p:tgtEl>
                                          <p:spTgt spid="15"/>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400"/>
                                        <p:tgtEl>
                                          <p:spTgt spid="17"/>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0" grpId="0" animBg="1"/>
      <p:bldP spid="21" grpId="0" animBg="1"/>
      <p:bldP spid="22"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 Unpivot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Bảng Target_2025 có các cột Tháng 1 … Tháng 12. Muốn đưa về dạng tidy (Store_Code, Thang, Target), dùng công cụ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Pivot Column</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Unpivot Columns</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Transpose</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Group By</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 Append vs Merge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Bốn file CSV theo tháng, cùng 8 cột, muốn gộp thành một bảng dài hơn. Nên dùng công cụ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swer highlight A"/>
          <p:cNvSpPr/>
          <p:nvPr/>
        </p:nvSpPr>
        <p:spPr>
          <a:xfrm>
            <a:off x="1527048"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8" name="Answer letter A"/>
          <p:cNvSpPr/>
          <p:nvPr/>
        </p:nvSpPr>
        <p:spPr>
          <a:xfrm>
            <a:off x="1709928"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9"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Append Queries (hoặc From Folder)</a:t>
            </a:r>
          </a:p>
        </p:txBody>
      </p:sp>
      <p:sp>
        <p:nvSpPr>
          <p:cNvPr id="10"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Merge Queries</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Group By</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Unpivot</a:t>
            </a:r>
          </a:p>
        </p:txBody>
      </p:sp>
      <p:sp>
        <p:nvSpPr>
          <p:cNvPr id="19"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400"/>
                                        <p:tgtEl>
                                          <p:spTgt spid="6"/>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400"/>
                                        <p:tgtEl>
                                          <p:spTgt spid="8"/>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9" grpId="0" animBg="1"/>
      <p:bldP spid="20" grpId="0" animBg="1"/>
      <p:bldP spid="21" grpId="0" animBg="1"/>
      <p:bldP spid="22"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 Tình huống — Refresh lỗi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File CSV mới đổi tên cột Store_Code thành StoreCode. Refresh báo lỗi ở bước Trim cột Store_Code. Nguyên nhân?</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400" b="0">
                <a:solidFill>
                  <a:srgbClr val="1B2230"/>
                </a:solidFill>
                <a:latin typeface="Arial"/>
              </a:rPr>
              <a:t>File bị hỏng</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400" b="0">
                <a:solidFill>
                  <a:srgbClr val="1B2230"/>
                </a:solidFill>
                <a:latin typeface="Arial"/>
              </a:rPr>
              <a:t>Do chưa Remove Duplicates</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3" name="TextBox"/>
          <p:cNvSpPr txBox="1"/>
          <p:nvPr/>
        </p:nvSpPr>
        <p:spPr>
          <a:xfrm>
            <a:off x="2441448" y="3977639"/>
            <a:ext cx="3941064" cy="1188720"/>
          </a:xfrm>
          <a:prstGeom prst="rect">
            <a:avLst/>
          </a:prstGeom>
          <a:noFill/>
        </p:spPr>
        <p:txBody>
          <a:bodyPr wrap="square" lIns="0" rIns="0" tIns="0" bIns="0" anchor="ctr">
            <a:spAutoFit/>
          </a:bodyPr>
          <a:lstStyle/>
          <a:p>
            <a:r>
              <a:rPr sz="1400" b="0">
                <a:solidFill>
                  <a:srgbClr val="1B2230"/>
                </a:solidFill>
                <a:latin typeface="Arial"/>
              </a:rPr>
              <a:t>Do thiếu Using Locale</a:t>
            </a:r>
          </a:p>
        </p:txBody>
      </p:sp>
      <p:sp>
        <p:nvSpPr>
          <p:cNvPr id="14"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nswer highlight D"/>
          <p:cNvSpPr/>
          <p:nvPr/>
        </p:nvSpPr>
        <p:spPr>
          <a:xfrm>
            <a:off x="6702552"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7" name="Answer letter D"/>
          <p:cNvSpPr/>
          <p:nvPr/>
        </p:nvSpPr>
        <p:spPr>
          <a:xfrm>
            <a:off x="6885432"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400" b="0">
                <a:solidFill>
                  <a:srgbClr val="1B2230"/>
                </a:solidFill>
                <a:latin typeface="Arial"/>
              </a:rPr>
              <a:t>Bước Trim gọi đích danh tên cột Store_Code, cột đó không còn tồn tại với tên mới</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5"/>
                                        </p:tgtEl>
                                        <p:attrNameLst>
                                          <p:attrName>style.visibility</p:attrName>
                                        </p:attrNameLst>
                                      </p:cBhvr>
                                      <p:to>
                                        <p:strVal val="visible"/>
                                      </p:to>
                                    </p:set>
                                    <p:animEffect transition="in" filter="fade">
                                      <p:cBhvr>
                                        <p:cTn id="6" dur="400"/>
                                        <p:tgtEl>
                                          <p:spTgt spid="15"/>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400"/>
                                        <p:tgtEl>
                                          <p:spTgt spid="17"/>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0" grpId="0" animBg="1"/>
      <p:bldP spid="21" grpId="0" animBg="1"/>
      <p:bldP spid="2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 Tình huống — Chọn công cụ</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Nghi ngờ vài dòng Sales ghi Product_Code sai chính tả, không khớp Product nào. Cách kiểm tra nhanh nhất?</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Đọc từng dòng bằng mắt</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Group By theo Product_Code</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Merge Sales với Product, Join Kind = Left Anti, xem có dòng nào không</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Xoá cột Product_Code</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&amp; insight của bạn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4846320" cy="411480"/>
          </a:xfrm>
          <a:prstGeom prst="rect">
            <a:avLst/>
          </a:prstGeom>
          <a:noFill/>
        </p:spPr>
        <p:txBody>
          <a:bodyPr wrap="square" lIns="0" rIns="0" tIns="0" bIns="0" anchor="t">
            <a:spAutoFit/>
          </a:bodyPr>
          <a:lstStyle/>
          <a:p>
            <a:r>
              <a:rPr sz="1800" b="1">
                <a:solidFill>
                  <a:srgbClr val="203864"/>
                </a:solidFill>
                <a:latin typeface="Arial"/>
              </a:rPr>
              <a:t>Điểm chính cần nhớ</a:t>
            </a:r>
          </a:p>
        </p:txBody>
      </p:sp>
      <p:sp>
        <p:nvSpPr>
          <p:cNvPr id="5" name="TextBox"/>
          <p:cNvSpPr txBox="1"/>
          <p:nvPr/>
        </p:nvSpPr>
        <p:spPr>
          <a:xfrm>
            <a:off x="1527048" y="2011680"/>
            <a:ext cx="4846320" cy="4023360"/>
          </a:xfrm>
          <a:prstGeom prst="rect">
            <a:avLst/>
          </a:prstGeom>
          <a:noFill/>
        </p:spPr>
        <p:txBody>
          <a:bodyPr wrap="square" lIns="0" rIns="0" tIns="0" bIns="0" anchor="t">
            <a:spAutoFit/>
          </a:bodyPr>
          <a:lstStyle/>
          <a:p>
            <a:r>
              <a:rPr sz="1600" b="0">
                <a:solidFill>
                  <a:srgbClr val="1B2230"/>
                </a:solidFill>
                <a:latin typeface="Arial"/>
              </a:rPr>
              <a:t>(1) Applied Steps = công thức làm sạch được ghi lại, tự chạy lại khi Refresh.</a:t>
            </a:r>
          </a:p>
          <a:p>
            <a:pPr>
              <a:spcBef>
                <a:spcPts val="1000"/>
              </a:spcBef>
            </a:pPr>
            <a:r>
              <a:rPr sz="1600" b="0">
                <a:solidFill>
                  <a:srgbClr val="1B2230"/>
                </a:solidFill>
                <a:latin typeface="Arial"/>
              </a:rPr>
              <a:t>(2) Xóa Changed Type tự động; ngày và số của dữ liệu Việt Nam đổi kiểu bằng Using Locale.</a:t>
            </a:r>
          </a:p>
          <a:p>
            <a:pPr>
              <a:spcBef>
                <a:spcPts val="1000"/>
              </a:spcBef>
            </a:pPr>
            <a:r>
              <a:rPr sz="1600" b="0">
                <a:solidFill>
                  <a:srgbClr val="1B2230"/>
                </a:solidFill>
                <a:latin typeface="Arial"/>
              </a:rPr>
              <a:t>(3) Remove Duplicates ở lookup TRƯỚC khi Merge hoặc tạo Relationship.</a:t>
            </a:r>
          </a:p>
          <a:p>
            <a:pPr>
              <a:spcBef>
                <a:spcPts val="1000"/>
              </a:spcBef>
            </a:pPr>
            <a:r>
              <a:rPr sz="1600" b="0">
                <a:solidFill>
                  <a:srgbClr val="1B2230"/>
                </a:solidFill>
                <a:latin typeface="Arial"/>
              </a:rPr>
              <a:t>(4) Unpivot đưa bảng cột-tháng về tidy; Append / From Folder nối dọc, Merge nối ngang.</a:t>
            </a:r>
          </a:p>
          <a:p>
            <a:pPr>
              <a:spcBef>
                <a:spcPts val="1000"/>
              </a:spcBef>
            </a:pPr>
            <a:r>
              <a:rPr sz="1600" b="0">
                <a:solidFill>
                  <a:srgbClr val="1B2230"/>
                </a:solidFill>
                <a:latin typeface="Arial"/>
              </a:rPr>
              <a:t>(5) Đối soát số dòng/tổng sau mỗi bước; lookup load riêng (Only Create Connection + Data Model).</a:t>
            </a:r>
          </a:p>
        </p:txBody>
      </p:sp>
      <p:sp>
        <p:nvSpPr>
          <p:cNvPr id="6" name="Insight box"/>
          <p:cNvSpPr/>
          <p:nvPr/>
        </p:nvSpPr>
        <p:spPr>
          <a:xfrm>
            <a:off x="6373368" y="1508760"/>
            <a:ext cx="5276088" cy="3474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556248" y="1645920"/>
            <a:ext cx="4910328" cy="411480"/>
          </a:xfrm>
          <a:prstGeom prst="rect">
            <a:avLst/>
          </a:prstGeom>
          <a:noFill/>
        </p:spPr>
        <p:txBody>
          <a:bodyPr wrap="square" lIns="0" rIns="0" tIns="0" bIns="0" anchor="t">
            <a:spAutoFit/>
          </a:bodyPr>
          <a:lstStyle/>
          <a:p>
            <a:r>
              <a:rPr sz="1800" b="1">
                <a:solidFill>
                  <a:srgbClr val="203864"/>
                </a:solidFill>
                <a:latin typeface="Arial"/>
              </a:rPr>
              <a:t>Insight của bạn (1 câu)</a:t>
            </a:r>
          </a:p>
        </p:txBody>
      </p:sp>
      <p:sp>
        <p:nvSpPr>
          <p:cNvPr id="8" name="TextBox"/>
          <p:cNvSpPr txBox="1"/>
          <p:nvPr/>
        </p:nvSpPr>
        <p:spPr>
          <a:xfrm>
            <a:off x="6556248" y="2148840"/>
            <a:ext cx="4910328" cy="2011680"/>
          </a:xfrm>
          <a:prstGeom prst="rect">
            <a:avLst/>
          </a:prstGeom>
          <a:noFill/>
        </p:spPr>
        <p:txBody>
          <a:bodyPr wrap="square" lIns="0" rIns="0" tIns="0" bIns="0" anchor="t">
            <a:spAutoFit/>
          </a:bodyPr>
          <a:lstStyle/>
          <a:p>
            <a:r>
              <a:rPr sz="1900" b="0">
                <a:solidFill>
                  <a:srgbClr val="1B2230"/>
                </a:solidFill>
                <a:latin typeface="Arial"/>
              </a:rPr>
              <a:t>“Sau khi gộp và Refresh, ___ (con số), phát hiện ___ (bất thường), nên ___ (hàm ý).”</a:t>
            </a:r>
          </a:p>
        </p:txBody>
      </p:sp>
      <p:sp>
        <p:nvSpPr>
          <p:cNvPr id="9" name="Tag Con số"/>
          <p:cNvSpPr/>
          <p:nvPr/>
        </p:nvSpPr>
        <p:spPr>
          <a:xfrm>
            <a:off x="6556248"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Con số</a:t>
            </a:r>
          </a:p>
        </p:txBody>
      </p:sp>
      <p:sp>
        <p:nvSpPr>
          <p:cNvPr id="10" name="Tag Bất thường"/>
          <p:cNvSpPr/>
          <p:nvPr/>
        </p:nvSpPr>
        <p:spPr>
          <a:xfrm>
            <a:off x="8238744"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Bất thường</a:t>
            </a:r>
          </a:p>
        </p:txBody>
      </p:sp>
      <p:sp>
        <p:nvSpPr>
          <p:cNvPr id="11" name="Tag Hàm ý"/>
          <p:cNvSpPr/>
          <p:nvPr/>
        </p:nvSpPr>
        <p:spPr>
          <a:xfrm>
            <a:off x="9921240"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Hàm ý</a:t>
            </a:r>
          </a:p>
        </p:txBody>
      </p:sp>
      <p:sp>
        <p:nvSpPr>
          <p:cNvPr id="12" name="TextBox"/>
          <p:cNvSpPr txBox="1"/>
          <p:nvPr/>
        </p:nvSpPr>
        <p:spPr>
          <a:xfrm>
            <a:off x="6373368" y="5120640"/>
            <a:ext cx="5276088" cy="822960"/>
          </a:xfrm>
          <a:prstGeom prst="rect">
            <a:avLst/>
          </a:prstGeom>
          <a:noFill/>
        </p:spPr>
        <p:txBody>
          <a:bodyPr wrap="square" lIns="0" rIns="0" tIns="0" bIns="0" anchor="t">
            <a:spAutoFit/>
          </a:bodyPr>
          <a:lstStyle/>
          <a:p>
            <a:r>
              <a:rPr sz="1400" b="0">
                <a:solidFill>
                  <a:srgbClr val="585858"/>
                </a:solidFill>
                <a:latin typeface="Arial"/>
              </a:rPr>
              <a:t>Gợi ý: lọc PV_Refresh theo từng cửa hàng — một cửa hàng không có dòng nào suốt 5 tháng đầu 2024.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Buổi sau: Data Model &amp; DAX</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6400800" cy="1005840"/>
          </a:xfrm>
          <a:prstGeom prst="rect">
            <a:avLst/>
          </a:prstGeom>
          <a:noFill/>
        </p:spPr>
        <p:txBody>
          <a:bodyPr wrap="square" lIns="0" rIns="0" tIns="0" bIns="0" anchor="t">
            <a:spAutoFit/>
          </a:bodyPr>
          <a:lstStyle/>
          <a:p>
            <a:r>
              <a:rPr sz="1800" b="1">
                <a:solidFill>
                  <a:srgbClr val="203864"/>
                </a:solidFill>
                <a:latin typeface="Arial"/>
              </a:rPr>
              <a:t>“Doanh thu tháng này đạt bao nhiêu % mục tiêu, và vì sao mỗi báo cáo cũ lại ra một con số khác nhau?”</a:t>
            </a:r>
          </a:p>
        </p:txBody>
      </p:sp>
      <p:sp>
        <p:nvSpPr>
          <p:cNvPr id="5" name="TextBox"/>
          <p:cNvSpPr txBox="1"/>
          <p:nvPr/>
        </p:nvSpPr>
        <p:spPr>
          <a:xfrm>
            <a:off x="1527048" y="2606040"/>
            <a:ext cx="6400800" cy="914400"/>
          </a:xfrm>
          <a:prstGeom prst="rect">
            <a:avLst/>
          </a:prstGeom>
          <a:noFill/>
        </p:spPr>
        <p:txBody>
          <a:bodyPr wrap="square" lIns="0" rIns="0" tIns="0" bIns="0" anchor="t">
            <a:spAutoFit/>
          </a:bodyPr>
          <a:lstStyle/>
          <a:p>
            <a:r>
              <a:rPr sz="1500" b="1">
                <a:solidFill>
                  <a:srgbClr val="1B2230"/>
                </a:solidFill>
                <a:latin typeface="Arial"/>
              </a:rPr>
              <a:t>Giới hạn hôm nay: </a:t>
            </a:r>
            <a:r>
              <a:rPr sz="1500" b="0">
                <a:solidFill>
                  <a:srgbClr val="1B2230"/>
                </a:solidFill>
                <a:latin typeface="Arial"/>
              </a:rPr>
              <a:t>6 bảng sạch nhưng đứng rời nhau. Muốn phân tích Sales và Target cùng lúc mà không gộp thành một bảng khổng lồ?</a:t>
            </a:r>
          </a:p>
        </p:txBody>
      </p:sp>
      <p:sp>
        <p:nvSpPr>
          <p:cNvPr id="6" name="TextBox"/>
          <p:cNvSpPr txBox="1"/>
          <p:nvPr/>
        </p:nvSpPr>
        <p:spPr>
          <a:xfrm>
            <a:off x="1527048" y="3566160"/>
            <a:ext cx="6400800" cy="2560320"/>
          </a:xfrm>
          <a:prstGeom prst="rect">
            <a:avLst/>
          </a:prstGeom>
          <a:noFill/>
        </p:spPr>
        <p:txBody>
          <a:bodyPr wrap="square" lIns="0" rIns="0" tIns="0" bIns="0" anchor="t">
            <a:spAutoFit/>
          </a:bodyPr>
          <a:lstStyle/>
          <a:p>
            <a:r>
              <a:rPr sz="1500" b="1">
                <a:solidFill>
                  <a:srgbClr val="203864"/>
                </a:solidFill>
                <a:latin typeface="Arial"/>
              </a:rPr>
              <a:t>Về nhà</a:t>
            </a:r>
          </a:p>
          <a:p>
            <a:pPr>
              <a:spcBef>
                <a:spcPts val="600"/>
              </a:spcBef>
            </a:pPr>
            <a:r>
              <a:rPr sz="1500" b="1">
                <a:solidFill>
                  <a:srgbClr val="1B2230"/>
                </a:solidFill>
                <a:latin typeface="Arial"/>
              </a:rPr>
              <a:t>Bài tập về nhà (bắt buộc): </a:t>
            </a:r>
            <a:r>
              <a:rPr sz="1500" b="0">
                <a:solidFill>
                  <a:srgbClr val="1B2230"/>
                </a:solidFill>
                <a:latin typeface="Arial"/>
              </a:rPr>
              <a:t>B4_BTVN_MCI_Mart_T4_2025.xlsx + thư mục B4_BTVN_Du_lieu — 12 file CSV tháng 4, mỗi cửa hàng một file: From Folder, làm sạch, Left Anti, đối soát với hệ thống, % đạt target</a:t>
            </a:r>
          </a:p>
          <a:p>
            <a:pPr>
              <a:spcBef>
                <a:spcPts val="600"/>
              </a:spcBef>
            </a:pPr>
            <a:r>
              <a:rPr sz="1500" b="0">
                <a:solidFill>
                  <a:srgbClr val="1B2230"/>
                </a:solidFill>
                <a:latin typeface="Arial"/>
              </a:rPr>
              <a:t>Nộp trước Buổi 5 tại hocvien.mcivietnam.com · đọc handout B4 · tick “Checklist trước Buổi 5”</a:t>
            </a:r>
          </a:p>
        </p:txBody>
      </p:sp>
      <p:sp>
        <p:nvSpPr>
          <p:cNvPr id="7" name="Brick B4"/>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B4 · Pipeline Power Query</a:t>
            </a:r>
          </a:p>
        </p:txBody>
      </p:sp>
      <p:sp>
        <p:nvSpPr>
          <p:cNvPr id="9" name="Brick B5"/>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B5 · Star schema + DAX</a:t>
            </a:r>
          </a:p>
        </p:txBody>
      </p:sp>
      <p:sp>
        <p:nvSpPr>
          <p:cNvPr id="11" name="TextBox"/>
          <p:cNvSpPr txBox="1"/>
          <p:nvPr/>
        </p:nvSpPr>
        <p:spPr>
          <a:xfrm>
            <a:off x="8293608" y="5212080"/>
            <a:ext cx="3355848" cy="457200"/>
          </a:xfrm>
          <a:prstGeom prst="rect">
            <a:avLst/>
          </a:prstGeom>
          <a:noFill/>
        </p:spPr>
        <p:txBody>
          <a:bodyPr wrap="square" lIns="0" rIns="0" tIns="0" bIns="0" anchor="t">
            <a:spAutoFit/>
          </a:bodyPr>
          <a:lstStyle/>
          <a:p>
            <a:r>
              <a:rPr sz="1300" b="0">
                <a:solidFill>
                  <a:srgbClr val="585858"/>
                </a:solidFill>
                <a:latin typeface="Arial"/>
              </a:rPr>
              <a:t>File đáp án B4 (Practice/B4_MCI_Mart_Answer.xlsx) là file khởi đầu Buổi 5.</a:t>
            </a:r>
          </a:p>
        </p:txBody>
      </p:sp>
    </p:spTree>
  </p:cSld>
  <p:clrMapOvr>
    <a:masterClrMapping/>
  </p:clrMapOvr>
</p:sld>
</file>

<file path=ppt/theme/theme1.xml><?xml version="1.0" encoding="utf-8"?>
<a:theme xmlns:a="http://schemas.openxmlformats.org/drawingml/2006/main" name="Office Theme [1790271072606]">
  <a:themeElements>
    <a:clrScheme name="MCI Excel BI">
      <a:dk1>
        <a:srgbClr val="1B2230"/>
      </a:dk1>
      <a:lt1>
        <a:srgbClr val="FFFFFF"/>
      </a:lt1>
      <a:dk2>
        <a:srgbClr val="203864"/>
      </a:dk2>
      <a:lt2>
        <a:srgbClr val="F3F5F9"/>
      </a:lt2>
      <a:accent1>
        <a:srgbClr val="2A78D6"/>
      </a:accent1>
      <a:accent2>
        <a:srgbClr val="EB6834"/>
      </a:accent2>
      <a:accent3>
        <a:srgbClr val="1BAF7A"/>
      </a:accent3>
      <a:accent4>
        <a:srgbClr val="EDA100"/>
      </a:accent4>
      <a:accent5>
        <a:srgbClr val="E87BA4"/>
      </a:accent5>
      <a:accent6>
        <a:srgbClr val="4A3AA7"/>
      </a:accent6>
      <a:hlink>
        <a:srgbClr val="1F6FB2"/>
      </a:hlink>
      <a:folHlink>
        <a:srgbClr val="4A3AA7"/>
      </a:folHlink>
    </a:clrScheme>
    <a:fontScheme name="MCI Excel BI">
      <a:majorFont>
        <a:latin typeface="Arial" panose="020B06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B06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CE0948F-3C23-C840-978A-6EB6AAFD5E15}">
  <we:reference id="WA200010725" version="1.0.0.1" store="Omex" storeType="OMEX"/>
  <we:alternateReferences>
    <we:reference id="WA200010725" version="1.0.0.1" store="WA200010725" storeType="OMEX"/>
  </we:alternateReferences>
  <we:properties>
    <we:property name="claude.fileId" value="&quot;3f0c363d-f4d0-4e96-80cc-6a7c60642f0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10047</Words>
  <Application>Microsoft Office PowerPoint</Application>
  <PresentationFormat>Widescreen</PresentationFormat>
  <Paragraphs>707</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Arial</vt:lpstr>
      <vt:lpstr>Office Theme [1790271072606]</vt:lpstr>
      <vt:lpstr>Excel for Business Intelligence Analyst</vt:lpstr>
      <vt:lpstr>Câu hỏi mở buổi</vt:lpstr>
      <vt:lpstr>Quy trình BI 5 bước</vt:lpstr>
      <vt:lpstr>Bản đồ 7 viên gạch &amp; thang 5 tầng câu hỏi</vt:lpstr>
      <vt:lpstr>Case khóa học: chuỗi bán lẻ MCI Mart</vt:lpstr>
      <vt:lpstr>1. Excel dùng cho BI: phiên bản &amp; chuẩn bị máy</vt:lpstr>
      <vt:lpstr>So sánh phiên bản Excel cho BI</vt:lpstr>
      <vt:lpstr>Xác nhận kiểm tra máy</vt:lpstr>
      <vt:lpstr>2. Giao diện Excel: những gì người làm BI dùng hằng ngày</vt:lpstr>
      <vt:lpstr>Giao diện chính</vt:lpstr>
      <vt:lpstr>8 tab Ribbon: tab nào dùng ở buổi nào</vt:lpstr>
      <vt:lpstr>3. Phím tắt: làm việc với dữ liệu lớn không cần chuột</vt:lpstr>
      <vt:lpstr>Ctrl Shortcuts</vt:lpstr>
      <vt:lpstr>Fn Shortcuts</vt:lpstr>
      <vt:lpstr>Alt Key Tips &amp; Quick Access Toolbar</vt:lpstr>
      <vt:lpstr>Nghỉ 10 phút</vt:lpstr>
      <vt:lpstr>4. Công thức: viết đúng, sao chép đúng, tìm lỗi nhanh</vt:lpstr>
      <vt:lpstr>Formula Syntax</vt:lpstr>
      <vt:lpstr>Reference Types</vt:lpstr>
      <vt:lpstr>Common Errors</vt:lpstr>
      <vt:lpstr>Auditing Tools (1)</vt:lpstr>
      <vt:lpstr>Auditing Tools (2)</vt:lpstr>
      <vt:lpstr>Chốt Phần 4</vt:lpstr>
      <vt:lpstr>5. Dữ liệu "sạch về cấu trúc": nền móng của mọi phân tích</vt:lpstr>
      <vt:lpstr>Good vs Bad Data Structure</vt:lpstr>
      <vt:lpstr>Excel Table</vt:lpstr>
      <vt:lpstr>Data Validation: chặn dữ liệu sai từ gốc</vt:lpstr>
      <vt:lpstr>Circle Invalid Data: tìm lỗi đã có sẵn</vt:lpstr>
      <vt:lpstr>Thực hành 1: Làm sạch cấu trúc file case</vt:lpstr>
      <vt:lpstr>Thực hành 2: Công thức &amp; kiểm soát</vt:lpstr>
      <vt:lpstr>Chữa bài nhanh: checklist brick output B1</vt:lpstr>
      <vt:lpstr>Excel Quiz Challenge</vt:lpstr>
      <vt:lpstr>Question 1: Cell References</vt:lpstr>
      <vt:lpstr>Question 2: Cell References</vt:lpstr>
      <vt:lpstr>Question 3: Shortcuts</vt:lpstr>
      <vt:lpstr>Question 4: Auditing</vt:lpstr>
      <vt:lpstr>Question 5: Common Errors</vt:lpstr>
      <vt:lpstr>Question 6: Tình huống — Data Structure</vt:lpstr>
      <vt:lpstr>Question 7: Tình huống — Automation</vt:lpstr>
      <vt:lpstr>Tổng kết &amp; insight của bạn</vt:lpstr>
      <vt:lpstr>Buổi sau: định nghĩa KPI và tính bằng SUMIFS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Nhan Le</dc:creator>
  <cp:lastModifiedBy>Leo Pham</cp:lastModifiedBy>
  <cp:revision>1</cp:revision>
  <dcterms:created xsi:type="dcterms:W3CDTF">2026-09-24T17:25:29Z</dcterms:created>
  <dcterms:modified xsi:type="dcterms:W3CDTF">2026-09-27T12:46:07Z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2026-09-24T17:26:47Z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4d9052f2-e654-41cc-b328-7191ea09daba</vt:lpwstr>
  </property>
  <property fmtid="{D5CDD505-2E9C-101B-9397-08002B2CF9AE}" pid="7" name="MSIP_Label_defa4170-0d19-0005-0004-bc88714345d2_ActionId">
    <vt:lpwstr>c1eb70c7-4859-476b-af0b-43240bcea39d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