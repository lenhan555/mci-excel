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8" r:id="rId1"/>
  </p:sldMasterIdLst>
  <p:notesMasterIdLst>
    <p:notesMasterId r:id="rId43"/>
  </p:notesMasterIdLst>
  <p:sldIdLst>
    <p:sldId id="302" r:id="rId2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1" r:id="rId18"/>
    <p:sldId id="312" r:id="rId19"/>
    <p:sldId id="313" r:id="rId20"/>
    <p:sldId id="314" r:id="rId21"/>
    <p:sldId id="315" r:id="rId22"/>
    <p:sldId id="316" r:id="rId23"/>
    <p:sldId id="317" r:id="rId24"/>
    <p:sldId id="318" r:id="rId25"/>
    <p:sldId id="319" r:id="rId26"/>
    <p:sldId id="320" r:id="rId27"/>
    <p:sldId id="321" r:id="rId28"/>
    <p:sldId id="322" r:id="rId29"/>
    <p:sldId id="323" r:id="rId30"/>
    <p:sldId id="324" r:id="rId31"/>
    <p:sldId id="325" r:id="rId32"/>
    <p:sldId id="326" r:id="rId33"/>
    <p:sldId id="327" r:id="rId34"/>
    <p:sldId id="328" r:id="rId35"/>
    <p:sldId id="329" r:id="rId36"/>
    <p:sldId id="330" r:id="rId37"/>
    <p:sldId id="331" r:id="rId38"/>
    <p:sldId id="332" r:id="rId39"/>
    <p:sldId id="333" r:id="rId40"/>
    <p:sldId id="334" r:id="rId41"/>
    <p:sldId id="335" r:id="rId42"/>
    <p:sldId id="336" r:id="rId9"/>
    <p:sldId id="337" r:id="rId8"/>
    <p:sldId id="338" r:id="rId7"/>
    <p:sldId id="339" r:id="rId6"/>
    <p:sldId id="34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B359BD-AC51-4C4E-B5CF-7451A28AFD30}" v="26" dt="2026-09-27T06:48:42.4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39.xml"/><Relationship Id="rId6" Type="http://schemas.openxmlformats.org/officeDocument/2006/relationships/slide" Target="slides/slide38.xml"/><Relationship Id="rId7" Type="http://schemas.openxmlformats.org/officeDocument/2006/relationships/slide" Target="slides/slide37.xml"/><Relationship Id="rId8" Type="http://schemas.openxmlformats.org/officeDocument/2006/relationships/slide" Target="slides/slide36.xml"/><Relationship Id="rId9" Type="http://schemas.openxmlformats.org/officeDocument/2006/relationships/slide" Target="slides/slide35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microsoft.com/office/2016/11/relationships/changesInfo" Target="changesInfos/changesInfo1.xml"/><Relationship Id="rId4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han Pham Le" userId="6366da15f1f739f9" providerId="LiveId" clId="{B7E72FC1-F79A-4602-B51C-6ED1DC3BF548}"/>
    <pc:docChg chg="undo custSel modSld">
      <pc:chgData name="Nhan Pham Le" userId="6366da15f1f739f9" providerId="LiveId" clId="{B7E72FC1-F79A-4602-B51C-6ED1DC3BF548}" dt="2026-09-27T12:45:57.791" v="170" actId="1076"/>
      <pc:docMkLst>
        <pc:docMk/>
      </pc:docMkLst>
      <pc:sldChg chg="modSp mod">
        <pc:chgData name="Nhan Pham Le" userId="6366da15f1f739f9" providerId="LiveId" clId="{B7E72FC1-F79A-4602-B51C-6ED1DC3BF548}" dt="2026-09-27T06:10:51.550" v="155" actId="20577"/>
        <pc:sldMkLst>
          <pc:docMk/>
          <pc:sldMk cId="2243051540" sldId="302"/>
        </pc:sldMkLst>
        <pc:spChg chg="mod">
          <ac:chgData name="Nhan Pham Le" userId="6366da15f1f739f9" providerId="LiveId" clId="{B7E72FC1-F79A-4602-B51C-6ED1DC3BF548}" dt="2026-09-27T06:10:51.550" v="155" actId="20577"/>
          <ac:spMkLst>
            <pc:docMk/>
            <pc:sldMk cId="2243051540" sldId="302"/>
            <ac:spMk id="15" creationId="{00000000-0000-0000-0000-000000000000}"/>
          </ac:spMkLst>
        </pc:spChg>
      </pc:sldChg>
      <pc:sldChg chg="modNotesTx">
        <pc:chgData name="Nhan Pham Le" userId="6366da15f1f739f9" providerId="LiveId" clId="{B7E72FC1-F79A-4602-B51C-6ED1DC3BF548}" dt="2026-09-27T04:16:20.387" v="153" actId="20577"/>
        <pc:sldMkLst>
          <pc:docMk/>
          <pc:sldMk cId="2890397441" sldId="305"/>
        </pc:sldMkLst>
      </pc:sldChg>
      <pc:sldChg chg="modSp mod">
        <pc:chgData name="Nhan Pham Le" userId="6366da15f1f739f9" providerId="LiveId" clId="{B7E72FC1-F79A-4602-B51C-6ED1DC3BF548}" dt="2026-09-27T06:48:42.492" v="164" actId="20577"/>
        <pc:sldMkLst>
          <pc:docMk/>
          <pc:sldMk cId="1101845905" sldId="308"/>
        </pc:sldMkLst>
        <pc:spChg chg="mod">
          <ac:chgData name="Nhan Pham Le" userId="6366da15f1f739f9" providerId="LiveId" clId="{B7E72FC1-F79A-4602-B51C-6ED1DC3BF548}" dt="2026-09-27T06:48:42.492" v="164" actId="20577"/>
          <ac:spMkLst>
            <pc:docMk/>
            <pc:sldMk cId="1101845905" sldId="308"/>
            <ac:spMk id="16" creationId="{00000000-0000-0000-0000-000000000000}"/>
          </ac:spMkLst>
        </pc:spChg>
      </pc:sldChg>
      <pc:sldChg chg="addSp delSp modSp mod">
        <pc:chgData name="Nhan Pham Le" userId="6366da15f1f739f9" providerId="LiveId" clId="{B7E72FC1-F79A-4602-B51C-6ED1DC3BF548}" dt="2026-09-26T03:51:11.711" v="79" actId="1076"/>
        <pc:sldMkLst>
          <pc:docMk/>
          <pc:sldMk cId="2305079537" sldId="309"/>
        </pc:sldMkLst>
        <pc:spChg chg="del">
          <ac:chgData name="Nhan Pham Le" userId="6366da15f1f739f9" providerId="LiveId" clId="{B7E72FC1-F79A-4602-B51C-6ED1DC3BF548}" dt="2026-09-26T03:50:42.316" v="71" actId="478"/>
          <ac:spMkLst>
            <pc:docMk/>
            <pc:sldMk cId="2305079537" sldId="309"/>
            <ac:spMk id="15" creationId="{00000000-0000-0000-0000-000000000000}"/>
          </ac:spMkLst>
        </pc:spChg>
        <pc:spChg chg="add del">
          <ac:chgData name="Nhan Pham Le" userId="6366da15f1f739f9" providerId="LiveId" clId="{B7E72FC1-F79A-4602-B51C-6ED1DC3BF548}" dt="2026-09-26T03:50:12.435" v="55" actId="478"/>
          <ac:spMkLst>
            <pc:docMk/>
            <pc:sldMk cId="2305079537" sldId="309"/>
            <ac:spMk id="19" creationId="{00000000-0000-0000-0000-000000000000}"/>
          </ac:spMkLst>
        </pc:spChg>
        <pc:spChg chg="del">
          <ac:chgData name="Nhan Pham Le" userId="6366da15f1f739f9" providerId="LiveId" clId="{B7E72FC1-F79A-4602-B51C-6ED1DC3BF548}" dt="2026-09-26T03:49:31.084" v="23" actId="478"/>
          <ac:spMkLst>
            <pc:docMk/>
            <pc:sldMk cId="2305079537" sldId="309"/>
            <ac:spMk id="26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3:51:00.474" v="73" actId="1076"/>
          <ac:picMkLst>
            <pc:docMk/>
            <pc:sldMk cId="2305079537" sldId="309"/>
            <ac:picMk id="3" creationId="{3C617E78-B8BD-D553-69B2-2A5B3120DB34}"/>
          </ac:picMkLst>
        </pc:picChg>
        <pc:picChg chg="add del mod">
          <ac:chgData name="Nhan Pham Le" userId="6366da15f1f739f9" providerId="LiveId" clId="{B7E72FC1-F79A-4602-B51C-6ED1DC3BF548}" dt="2026-09-26T03:49:54.698" v="51" actId="931"/>
          <ac:picMkLst>
            <pc:docMk/>
            <pc:sldMk cId="2305079537" sldId="309"/>
            <ac:picMk id="5" creationId="{989499CC-C265-5E62-B7BC-31A300092470}"/>
          </ac:picMkLst>
        </pc:picChg>
        <pc:picChg chg="add mod">
          <ac:chgData name="Nhan Pham Le" userId="6366da15f1f739f9" providerId="LiveId" clId="{B7E72FC1-F79A-4602-B51C-6ED1DC3BF548}" dt="2026-09-26T03:50:39.909" v="70" actId="1076"/>
          <ac:picMkLst>
            <pc:docMk/>
            <pc:sldMk cId="2305079537" sldId="309"/>
            <ac:picMk id="6" creationId="{DD883AE4-6470-0C84-0E26-C702578F279A}"/>
          </ac:picMkLst>
        </pc:picChg>
        <pc:picChg chg="add mod">
          <ac:chgData name="Nhan Pham Le" userId="6366da15f1f739f9" providerId="LiveId" clId="{B7E72FC1-F79A-4602-B51C-6ED1DC3BF548}" dt="2026-09-26T03:51:11.711" v="79" actId="1076"/>
          <ac:picMkLst>
            <pc:docMk/>
            <pc:sldMk cId="2305079537" sldId="309"/>
            <ac:picMk id="8" creationId="{3F45C3E1-B429-9813-BF6A-49EEE0488E98}"/>
          </ac:picMkLst>
        </pc:picChg>
      </pc:sldChg>
      <pc:sldChg chg="addSp delSp modSp mod">
        <pc:chgData name="Nhan Pham Le" userId="6366da15f1f739f9" providerId="LiveId" clId="{B7E72FC1-F79A-4602-B51C-6ED1DC3BF548}" dt="2026-09-27T12:45:57.791" v="170" actId="1076"/>
        <pc:sldMkLst>
          <pc:docMk/>
          <pc:sldMk cId="581420438" sldId="311"/>
        </pc:sldMkLst>
        <pc:spChg chg="del">
          <ac:chgData name="Nhan Pham Le" userId="6366da15f1f739f9" providerId="LiveId" clId="{B7E72FC1-F79A-4602-B51C-6ED1DC3BF548}" dt="2026-09-26T03:24:48.767" v="5" actId="478"/>
          <ac:spMkLst>
            <pc:docMk/>
            <pc:sldMk cId="581420438" sldId="311"/>
            <ac:spMk id="13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7T12:45:57.791" v="170" actId="1076"/>
          <ac:picMkLst>
            <pc:docMk/>
            <pc:sldMk cId="581420438" sldId="311"/>
            <ac:picMk id="2" creationId="{98605493-0F18-F786-A36C-68C4B37DD16E}"/>
          </ac:picMkLst>
        </pc:picChg>
      </pc:sldChg>
      <pc:sldChg chg="addSp modSp mod">
        <pc:chgData name="Nhan Pham Le" userId="6366da15f1f739f9" providerId="LiveId" clId="{B7E72FC1-F79A-4602-B51C-6ED1DC3BF548}" dt="2026-09-26T04:33:33.870" v="123" actId="1076"/>
        <pc:sldMkLst>
          <pc:docMk/>
          <pc:sldMk cId="4276141528" sldId="312"/>
        </pc:sldMkLst>
        <pc:picChg chg="add mod">
          <ac:chgData name="Nhan Pham Le" userId="6366da15f1f739f9" providerId="LiveId" clId="{B7E72FC1-F79A-4602-B51C-6ED1DC3BF548}" dt="2026-09-26T04:33:33.870" v="123" actId="1076"/>
          <ac:picMkLst>
            <pc:docMk/>
            <pc:sldMk cId="4276141528" sldId="312"/>
            <ac:picMk id="3" creationId="{86E05C74-85F6-F0AB-5F35-FCEC61971E81}"/>
          </ac:picMkLst>
        </pc:picChg>
      </pc:sldChg>
      <pc:sldChg chg="addSp delSp modSp mod">
        <pc:chgData name="Nhan Pham Le" userId="6366da15f1f739f9" providerId="LiveId" clId="{B7E72FC1-F79A-4602-B51C-6ED1DC3BF548}" dt="2026-09-26T03:58:45.692" v="88" actId="1076"/>
        <pc:sldMkLst>
          <pc:docMk/>
          <pc:sldMk cId="2738025778" sldId="313"/>
        </pc:sldMkLst>
        <pc:spChg chg="del mod">
          <ac:chgData name="Nhan Pham Le" userId="6366da15f1f739f9" providerId="LiveId" clId="{B7E72FC1-F79A-4602-B51C-6ED1DC3BF548}" dt="2026-09-26T03:58:36.896" v="84" actId="478"/>
          <ac:spMkLst>
            <pc:docMk/>
            <pc:sldMk cId="2738025778" sldId="313"/>
            <ac:spMk id="21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3:58:45.692" v="88" actId="1076"/>
          <ac:picMkLst>
            <pc:docMk/>
            <pc:sldMk cId="2738025778" sldId="313"/>
            <ac:picMk id="2" creationId="{AAB78CDC-E109-F1A3-2B4E-ECC07A0591AD}"/>
          </ac:picMkLst>
        </pc:picChg>
      </pc:sldChg>
      <pc:sldChg chg="addSp delSp modSp mod">
        <pc:chgData name="Nhan Pham Le" userId="6366da15f1f739f9" providerId="LiveId" clId="{B7E72FC1-F79A-4602-B51C-6ED1DC3BF548}" dt="2026-09-26T04:17:16.854" v="110"/>
        <pc:sldMkLst>
          <pc:docMk/>
          <pc:sldMk cId="3127729708" sldId="314"/>
        </pc:sldMkLst>
        <pc:spChg chg="del">
          <ac:chgData name="Nhan Pham Le" userId="6366da15f1f739f9" providerId="LiveId" clId="{B7E72FC1-F79A-4602-B51C-6ED1DC3BF548}" dt="2026-09-26T04:08:34.452" v="92" actId="478"/>
          <ac:spMkLst>
            <pc:docMk/>
            <pc:sldMk cId="3127729708" sldId="314"/>
            <ac:spMk id="15" creationId="{00000000-0000-0000-0000-000000000000}"/>
          </ac:spMkLst>
        </pc:spChg>
        <pc:spChg chg="del">
          <ac:chgData name="Nhan Pham Le" userId="6366da15f1f739f9" providerId="LiveId" clId="{B7E72FC1-F79A-4602-B51C-6ED1DC3BF548}" dt="2026-09-26T04:09:20.617" v="96" actId="478"/>
          <ac:spMkLst>
            <pc:docMk/>
            <pc:sldMk cId="3127729708" sldId="314"/>
            <ac:spMk id="23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4:17:16.854" v="106"/>
          <ac:picMkLst>
            <pc:docMk/>
            <pc:sldMk cId="3127729708" sldId="314"/>
            <ac:picMk id="2" creationId="{D9B43E15-821C-27C4-802B-45F8A890A497}"/>
          </ac:picMkLst>
        </pc:picChg>
        <pc:picChg chg="add mod">
          <ac:chgData name="Nhan Pham Le" userId="6366da15f1f739f9" providerId="LiveId" clId="{B7E72FC1-F79A-4602-B51C-6ED1DC3BF548}" dt="2026-09-26T04:17:16.854" v="110"/>
          <ac:picMkLst>
            <pc:docMk/>
            <pc:sldMk cId="3127729708" sldId="314"/>
            <ac:picMk id="4" creationId="{90577642-D658-1AD2-2A99-A06066F85288}"/>
          </ac:picMkLst>
        </pc:picChg>
      </pc:sldChg>
      <pc:sldChg chg="addSp modSp mod">
        <pc:chgData name="Nhan Pham Le" userId="6366da15f1f739f9" providerId="LiveId" clId="{B7E72FC1-F79A-4602-B51C-6ED1DC3BF548}" dt="2026-09-26T04:31:35.753" v="119" actId="1076"/>
        <pc:sldMkLst>
          <pc:docMk/>
          <pc:sldMk cId="3367633301" sldId="315"/>
        </pc:sldMkLst>
        <pc:picChg chg="add mod">
          <ac:chgData name="Nhan Pham Le" userId="6366da15f1f739f9" providerId="LiveId" clId="{B7E72FC1-F79A-4602-B51C-6ED1DC3BF548}" dt="2026-09-26T04:29:20.508" v="114" actId="1076"/>
          <ac:picMkLst>
            <pc:docMk/>
            <pc:sldMk cId="3367633301" sldId="315"/>
            <ac:picMk id="3" creationId="{2C4DBD73-1E69-54EA-EE3A-DDB5DAA27206}"/>
          </ac:picMkLst>
        </pc:picChg>
        <pc:picChg chg="add mod">
          <ac:chgData name="Nhan Pham Le" userId="6366da15f1f739f9" providerId="LiveId" clId="{B7E72FC1-F79A-4602-B51C-6ED1DC3BF548}" dt="2026-09-26T04:31:35.753" v="119" actId="1076"/>
          <ac:picMkLst>
            <pc:docMk/>
            <pc:sldMk cId="3367633301" sldId="315"/>
            <ac:picMk id="5" creationId="{4271772C-46F6-5A6B-E0CD-7A39AFBB231A}"/>
          </ac:picMkLst>
        </pc:picChg>
      </pc:sldChg>
      <pc:sldChg chg="addSp delSp modSp mod">
        <pc:chgData name="Nhan Pham Le" userId="6366da15f1f739f9" providerId="LiveId" clId="{B7E72FC1-F79A-4602-B51C-6ED1DC3BF548}" dt="2026-09-26T04:36:52.633" v="131" actId="1076"/>
        <pc:sldMkLst>
          <pc:docMk/>
          <pc:sldMk cId="4045343611" sldId="318"/>
        </pc:sldMkLst>
        <pc:spChg chg="del">
          <ac:chgData name="Nhan Pham Le" userId="6366da15f1f739f9" providerId="LiveId" clId="{B7E72FC1-F79A-4602-B51C-6ED1DC3BF548}" dt="2026-09-26T04:36:45.842" v="127" actId="478"/>
          <ac:spMkLst>
            <pc:docMk/>
            <pc:sldMk cId="4045343611" sldId="318"/>
            <ac:spMk id="26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4:36:52.633" v="131" actId="1076"/>
          <ac:picMkLst>
            <pc:docMk/>
            <pc:sldMk cId="4045343611" sldId="318"/>
            <ac:picMk id="3" creationId="{AFC4F2DD-C53F-E88B-10F6-C3CEBA05A009}"/>
          </ac:picMkLst>
        </pc:picChg>
      </pc:sldChg>
      <pc:sldChg chg="addSp delSp modSp mod">
        <pc:chgData name="Nhan Pham Le" userId="6366da15f1f739f9" providerId="LiveId" clId="{B7E72FC1-F79A-4602-B51C-6ED1DC3BF548}" dt="2026-09-26T10:32:30.127" v="141" actId="962"/>
        <pc:sldMkLst>
          <pc:docMk/>
          <pc:sldMk cId="3317628156" sldId="322"/>
        </pc:sldMkLst>
        <pc:spChg chg="del">
          <ac:chgData name="Nhan Pham Le" userId="6366da15f1f739f9" providerId="LiveId" clId="{B7E72FC1-F79A-4602-B51C-6ED1DC3BF548}" dt="2026-09-26T10:32:04.859" v="139" actId="478"/>
          <ac:spMkLst>
            <pc:docMk/>
            <pc:sldMk cId="3317628156" sldId="322"/>
            <ac:spMk id="15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10:32:30.127" v="141" actId="962"/>
          <ac:picMkLst>
            <pc:docMk/>
            <pc:sldMk cId="3317628156" sldId="322"/>
            <ac:picMk id="3" creationId="{EBEEDFE3-3F9B-C84C-2D4E-2A98C806E7C3}"/>
          </ac:picMkLst>
        </pc:picChg>
      </pc:sldChg>
      <pc:sldChg chg="modSp mod">
        <pc:chgData name="Nhan Pham Le" userId="6366da15f1f739f9" providerId="LiveId" clId="{B7E72FC1-F79A-4602-B51C-6ED1DC3BF548}" dt="2026-09-27T06:47:11.517" v="162" actId="20577"/>
        <pc:sldMkLst>
          <pc:docMk/>
          <pc:sldMk cId="866443025" sldId="342"/>
        </pc:sldMkLst>
        <pc:spChg chg="mod">
          <ac:chgData name="Nhan Pham Le" userId="6366da15f1f739f9" providerId="LiveId" clId="{B7E72FC1-F79A-4602-B51C-6ED1DC3BF548}" dt="2026-09-27T06:47:11.517" v="162" actId="20577"/>
          <ac:spMkLst>
            <pc:docMk/>
            <pc:sldMk cId="866443025" sldId="342"/>
            <ac:spMk id="15" creationId="{00000000-0000-0000-0000-000000000000}"/>
          </ac:spMkLst>
        </pc:spChg>
      </pc:sldChg>
      <pc:sldChg chg="modSp mod">
        <pc:chgData name="Nhan Pham Le" userId="6366da15f1f739f9" providerId="LiveId" clId="{B7E72FC1-F79A-4602-B51C-6ED1DC3BF548}" dt="2026-09-27T06:37:38.965" v="161" actId="1036"/>
        <pc:sldMkLst>
          <pc:docMk/>
          <pc:sldMk cId="1573090695" sldId="344"/>
        </pc:sldMkLst>
        <pc:spChg chg="mod">
          <ac:chgData name="Nhan Pham Le" userId="6366da15f1f739f9" providerId="LiveId" clId="{B7E72FC1-F79A-4602-B51C-6ED1DC3BF548}" dt="2026-09-27T06:37:38.965" v="161" actId="1036"/>
          <ac:spMkLst>
            <pc:docMk/>
            <pc:sldMk cId="1573090695" sldId="344"/>
            <ac:spMk id="16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E4C46-C12C-FA42-B2D3-1CBB24092E48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47CC85-BE76-EA4B-8DBD-E5CC9E8FE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028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F2664-F3C6-6151-5EEA-86A461E82C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2560" y="2011680"/>
            <a:ext cx="10302240" cy="1737360"/>
          </a:xfrm>
        </p:spPr>
        <p:txBody>
          <a:bodyPr anchor="b"/>
          <a:lstStyle>
            <a:lvl1pPr algn="l">
              <a:defRPr sz="48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A5D9FC-D4AA-338A-F692-F1B120AC9F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2560" y="3931920"/>
            <a:ext cx="10302240" cy="1097280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585858"/>
                </a:solidFill>
              </a:defRPr>
            </a:lvl1pPr>
            <a:lvl2pPr marL="457200" indent="0" algn="ctr">
              <a:buNone/>
              <a:defRPr sz="2000">
                <a:solidFill>
                  <a:srgbClr val="585858"/>
                </a:solidFill>
              </a:defRPr>
            </a:lvl2pPr>
            <a:lvl3pPr marL="914400" indent="0" algn="ctr">
              <a:buNone/>
              <a:defRPr sz="1800">
                <a:solidFill>
                  <a:srgbClr val="585858"/>
                </a:solidFill>
              </a:defRPr>
            </a:lvl3pPr>
            <a:lvl4pPr marL="1371600" indent="0" algn="ctr">
              <a:buNone/>
              <a:defRPr sz="1600">
                <a:solidFill>
                  <a:srgbClr val="585858"/>
                </a:solidFill>
              </a:defRPr>
            </a:lvl4pPr>
            <a:lvl5pPr marL="1828800" indent="0" algn="ctr">
              <a:buNone/>
              <a:defRPr sz="1600">
                <a:solidFill>
                  <a:srgbClr val="585858"/>
                </a:solidFill>
              </a:defRPr>
            </a:lvl5pPr>
            <a:lvl6pPr marL="2286000" indent="0" algn="ctr">
              <a:buNone/>
              <a:defRPr sz="1600">
                <a:solidFill>
                  <a:srgbClr val="585858"/>
                </a:solidFill>
              </a:defRPr>
            </a:lvl6pPr>
            <a:lvl7pPr marL="2743200" indent="0" algn="ctr">
              <a:buNone/>
              <a:defRPr sz="1600">
                <a:solidFill>
                  <a:srgbClr val="585858"/>
                </a:solidFill>
              </a:defRPr>
            </a:lvl7pPr>
            <a:lvl8pPr marL="3200400" indent="0" algn="ctr">
              <a:buNone/>
              <a:defRPr sz="1600">
                <a:solidFill>
                  <a:srgbClr val="585858"/>
                </a:solidFill>
              </a:defRPr>
            </a:lvl8pPr>
            <a:lvl9pPr marL="3657600" indent="0" algn="ctr">
              <a:buNone/>
              <a:defRPr sz="1600">
                <a:solidFill>
                  <a:srgbClr val="585858"/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E1E18-61FE-3D83-17A2-F39391068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0BF97-2C91-ED2E-CD8F-3CAC10D59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FBB26-71FB-8170-009A-EF8735C76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  <p:sp>
        <p:nvSpPr>
          <p:cNvPr id="30" name="MCI Wordmark"/>
          <p:cNvSpPr txBox="1"/>
          <p:nvPr userDrawn="1"/>
        </p:nvSpPr>
        <p:spPr>
          <a:xfrm>
            <a:off x="1432560" y="548640"/>
            <a:ext cx="2743200" cy="548640"/>
          </a:xfrm>
          <a:prstGeom prst="rect">
            <a:avLst/>
          </a:prstGeom>
          <a:noFill/>
        </p:spPr>
        <p:txBody>
          <a:bodyPr wrap="none" lIns="91440" anchor="t"/>
          <a:lstStyle/>
          <a:p>
            <a:r>
              <a:rPr lang="en-US" sz="2800" b="1">
                <a:solidFill>
                  <a:srgbClr val="203864"/>
                </a:solidFill>
                <a:latin typeface="Arial"/>
              </a:rPr>
              <a:t>MCI</a:t>
            </a:r>
          </a:p>
        </p:txBody>
      </p:sp>
    </p:spTree>
    <p:extLst>
      <p:ext uri="{BB962C8B-B14F-4D97-AF65-F5344CB8AC3E}">
        <p14:creationId xmlns:p14="http://schemas.microsoft.com/office/powerpoint/2010/main" val="2868496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17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99C69-77BA-2FF0-04BC-65E5F21C4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47FBA-36F6-5941-AE5A-3C28ABD979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32560" y="1825625"/>
            <a:ext cx="5076466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3C48E-6F94-484B-3886-58203F542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58334" y="1825625"/>
            <a:ext cx="5076466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01DA5-559C-410C-9CC7-09338379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F1E9D-60B2-BB85-7303-C28EBFC26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712A5-3FB3-1E06-8027-6B8BD1AA8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bg>
      <p:bgPr>
        <a:solidFill>
          <a:srgbClr val="20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CI wordmark"/>
          <p:cNvSpPr txBox="1"/>
          <p:nvPr userDrawn="1"/>
        </p:nvSpPr>
        <p:spPr>
          <a:xfrm>
            <a:off x="914400" y="640080"/>
            <a:ext cx="6400800" cy="45720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r>
              <a:rPr lang="en-US" sz="2400" b="1">
                <a:solidFill>
                  <a:srgbClr val="FFFFFF"/>
                </a:solidFill>
              </a:rPr>
              <a:t>MCI</a:t>
            </a:r>
            <a:r>
              <a:rPr lang="en-US" sz="1200" spc="200">
                <a:solidFill>
                  <a:srgbClr val="FFFFFF"/>
                </a:solidFill>
              </a:rPr>
              <a:t>   MAGIC CODE INSTITUTE</a:t>
            </a:r>
          </a:p>
        </p:txBody>
      </p:sp>
      <p:sp>
        <p:nvSpPr>
          <p:cNvPr id="8" name="Gold rule"/>
          <p:cNvSpPr/>
          <p:nvPr userDrawn="1"/>
        </p:nvSpPr>
        <p:spPr>
          <a:xfrm>
            <a:off x="914400" y="4480560"/>
            <a:ext cx="1097280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10363200" cy="2011680"/>
          </a:xfrm>
        </p:spPr>
        <p:txBody>
          <a:bodyPr lIns="0" anchor="b">
            <a:normAutofit/>
          </a:bodyPr>
          <a:lstStyle>
            <a:lvl1pPr algn="l">
              <a:defRPr sz="3200" b="1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709160"/>
            <a:ext cx="10363200" cy="914400"/>
          </a:xfrm>
        </p:spPr>
        <p:txBody>
          <a:bodyPr lIns="0">
            <a:normAutofit/>
          </a:bodyPr>
          <a:lstStyle>
            <a:lvl1pPr marL="0" indent="0">
              <a:buNone/>
              <a:defRPr sz="2000">
                <a:solidFill>
                  <a:srgbClr val="D9DEE8"/>
                </a:solidFill>
              </a:defRPr>
            </a:lvl1pPr>
          </a:lstStyle>
          <a:p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3849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EF857-DF32-3922-EA31-5B12F1BF3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679F92-7EED-D73E-34B9-2B5BEA02D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4116" y="1681163"/>
            <a:ext cx="505313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2207B-D76F-1445-6E60-70B87DB80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34116" y="2505075"/>
            <a:ext cx="5053136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A2C473-0CB1-0F03-79FD-FCFC188E51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58334" y="1681163"/>
            <a:ext cx="507802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AADC17-123C-1B98-9C55-4D7D49845E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8334" y="2505075"/>
            <a:ext cx="5078022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65B6DB-77BD-9C6E-5E6D-A7BE78333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E678BE-8847-6D2F-3F45-91CA985AB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D1A3EE-6065-DD56-6A88-F914D5B4C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045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3570-678E-8041-1DC8-86B01C4FB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9A16AD-B058-70BE-DBC1-78AA99184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6D8CAC-8260-A67D-8732-DD7230794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877EE-C1CB-3D64-07B4-8AA21534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5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BE4EAE-A436-DD75-26A9-7E4EF0EAB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4AE991-C68F-060D-534A-2D1CFE379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977B5-CCC9-8A85-1F45-60EE63654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557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23B96-0970-502F-414D-7E067632F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116" y="457200"/>
            <a:ext cx="385245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5074C-7090-612E-5DF9-E393D6B4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9389" y="987425"/>
            <a:ext cx="6046967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913B6C-C8CA-B03D-EAFC-66D24F36F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4116" y="2057400"/>
            <a:ext cx="385245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F8C85-7E3A-1BF3-57B7-67DC51295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59792-564A-D064-DC38-377FE5F36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2A526-D348-A6A7-D6D8-765874ABC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445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02A28-28CD-FDCB-9BDE-BBD7761D9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116" y="457200"/>
            <a:ext cx="385245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202B5F-EA9B-1AF8-17E8-85154BC8C38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689389" y="987425"/>
            <a:ext cx="6046967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5D4558-CC71-6A22-1E4F-81F961813C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4116" y="2057400"/>
            <a:ext cx="385245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F5ABD8-1DA1-C358-4422-ED8A78AC2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6271F-39F3-E81F-443B-21DC458CD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728C95-36D3-1FDC-12F9-75C4D3BE9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657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4C102-A4A5-EF09-43CF-6253ED77A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E998EF-69FA-C77A-8A76-22992DE77A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466E2-7B90-931F-632B-D59F99017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200D8-8910-5148-4843-3D52384BF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2BED4-5DB4-45F1-5ACC-643FFD821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418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FF3541-96FF-94D7-F45B-F634CD3B44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59240" y="365125"/>
            <a:ext cx="257556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2BC46-4E1A-B46B-F1C8-4E24A201B3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32560" y="365125"/>
            <a:ext cx="7577372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3504C-0F86-E102-3E0C-290A4BB0A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90F48-5867-0DF6-F507-5379E890B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93CD6-4795-CA01-149F-B154B451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4304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CI Rail"/>
          <p:cNvSpPr/>
          <p:nvPr userDrawn="1"/>
        </p:nvSpPr>
        <p:spPr>
          <a:xfrm>
            <a:off x="0" y="0"/>
            <a:ext cx="975360" cy="6858000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73FA29-7399-D724-95CF-8F2F56D52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560" y="365760"/>
            <a:ext cx="10302240" cy="1005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F95C9-A218-9682-28A0-7A7C95276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2560" y="1554480"/>
            <a:ext cx="1030224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F865D-4C91-A852-2C9F-A2DE3730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2560" y="630936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B6F76"/>
                </a:solidFill>
              </a:defRPr>
            </a:lvl1pPr>
          </a:lstStyle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018BC-A677-96B0-5B2E-4AEDE18B0A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8640" y="6309360"/>
            <a:ext cx="618744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6B6F76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E26B6-86C7-AF0E-2F2F-E4F6A0757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7520" y="6309360"/>
            <a:ext cx="109728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6B6F76"/>
                </a:solidFill>
              </a:defRPr>
            </a:lvl1pPr>
          </a:lstStyle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804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696" r:id="rId2"/>
    <p:sldLayoutId id="2147483700" r:id="rId3"/>
    <p:sldLayoutId id="2147483697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"/>
          <p:cNvSpPr txBox="1"/>
          <p:nvPr/>
        </p:nvSpPr>
        <p:spPr>
          <a:xfrm>
            <a:off x="1524000" y="1554480"/>
            <a:ext cx="101193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>
              <a:buNone/>
            </a:pPr>
            <a:r>
              <a:rPr lang="vi-VN" sz="1400" b="1" spc="200">
                <a:solidFill>
                  <a:srgbClr val="585858"/>
                </a:solidFill>
              </a:rPr>
              <a:t>CONSULTING &amp; ANALYTICS</a:t>
            </a:r>
            <a:endParaRPr lang="vi-VN" sz="1400"/>
          </a:p>
        </p:txBody>
      </p:sp>
      <p:sp>
        <p:nvSpPr>
          <p:cNvPr id="12" name="ctrTitle 1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vi-VN"/>
              <a:t>Excel for Business Intelligence Analyst</a:t>
            </a:r>
          </a:p>
        </p:txBody>
      </p:sp>
      <p:sp>
        <p:nvSpPr>
          <p:cNvPr id="13" name="subTitle 1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vi-VN"/>
              <a:t>Buổi 4: Tiền xử lý dữ liệu với Power Query</a:t>
            </a:r>
          </a:p>
        </p:txBody>
      </p:sp>
      <p:cxnSp>
        <p:nvCxnSpPr>
          <p:cNvPr id="14" name="Line 14"/>
          <p:cNvCxnSpPr/>
          <p:nvPr/>
        </p:nvCxnSpPr>
        <p:spPr>
          <a:xfrm>
            <a:off x="1524000" y="5669280"/>
            <a:ext cx="10119360" cy="0"/>
          </a:xfrm>
          <a:prstGeom prst="line">
            <a:avLst/>
          </a:prstGeom>
          <a:ln w="12700">
            <a:solidFill>
              <a:srgbClr val="D9DEE8"/>
            </a:solidFill>
          </a:ln>
        </p:spPr>
      </p:cxnSp>
      <p:sp>
        <p:nvSpPr>
          <p:cNvPr id="15" name="TextBox"/>
          <p:cNvSpPr txBox="1"/>
          <p:nvPr/>
        </p:nvSpPr>
        <p:spPr>
          <a:xfrm>
            <a:off x="1524000" y="5760720"/>
            <a:ext cx="10119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1400">
                <a:solidFill>
                  <a:srgbClr val="585858"/>
                </a:solidFill>
              </a:rPr>
              <a:t>Bắt buộc máy Windows có Power Query (Data → Get Data)</a:t>
            </a:r>
            <a:r>
              <a:rPr lang="vi-VN" sz="1400" b="1">
                <a:solidFill>
                  <a:srgbClr val="1B2230"/>
                </a:solidFill>
              </a:rPr>
              <a:t/>
            </a:r>
            <a:r>
              <a:rPr lang="vi-VN" sz="1400">
                <a:solidFill>
                  <a:srgbClr val="585858"/>
                </a:solidFill>
              </a:rPr>
              <a:t/>
            </a:r>
            <a:endParaRPr lang="vi-VN" sz="1400"/>
          </a:p>
        </p:txBody>
      </p:sp>
    </p:spTree>
    <p:extLst>
      <p:ext uri="{BB962C8B-B14F-4D97-AF65-F5344CB8AC3E}">
        <p14:creationId xmlns:p14="http://schemas.microsoft.com/office/powerpoint/2010/main" val="2243051540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Câu hỏi mở buổi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0 · MỞ ĐẦU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737360"/>
            <a:ext cx="89611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203864"/>
                </a:solidFill>
                <a:latin typeface="Arial"/>
              </a:rPr>
              <a:t>“Làm sao để việc làm sạch dữ liệu chỉ làm MỘT LẦN,</a:t>
            </a:r>
          </a:p>
          <a:p>
            <a:pPr>
              <a:spcBef>
                <a:spcPts val="600"/>
              </a:spcBef>
            </a:pPr>
            <a:r>
              <a:rPr sz="3000" b="1">
                <a:solidFill>
                  <a:srgbClr val="203864"/>
                </a:solidFill>
                <a:latin typeface="Arial"/>
              </a:rPr>
              <a:t>từ đó chỉ cần bấm Refresh?”</a:t>
            </a:r>
          </a:p>
        </p:txBody>
      </p:sp>
      <p:sp>
        <p:nvSpPr>
          <p:cNvPr id="5" name="Explainer"/>
          <p:cNvSpPr/>
          <p:nvPr/>
        </p:nvSpPr>
        <p:spPr>
          <a:xfrm>
            <a:off x="1527048" y="3931920"/>
            <a:ext cx="8961120" cy="17373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1755648" y="4114800"/>
            <a:ext cx="85039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>
                <a:solidFill>
                  <a:srgbClr val="585858"/>
                </a:solidFill>
                <a:latin typeface="Arial"/>
              </a:rPr>
              <a:t>Tháng nào công ty cũng có file bán hàng mới. Copy-paste, sửa ngày, sửa mã cửa hàng bằng tay mỗi tháng là công việc không có hồi kết — càng làm nhiều lần càng dễ sai.</a:t>
            </a:r>
          </a:p>
        </p:txBody>
      </p:sp>
      <p:sp>
        <p:nvSpPr>
          <p:cNvPr id="7" name="Refresh icon"/>
          <p:cNvSpPr/>
          <p:nvPr/>
        </p:nvSpPr>
        <p:spPr>
          <a:xfrm>
            <a:off x="10607040" y="1737360"/>
            <a:ext cx="1005840" cy="10058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10607040" y="173736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Buổi 3 &amp; file khởi đầu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0 · MỞ ĐẦU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600200"/>
            <a:ext cx="64922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•  </a:t>
            </a:r>
            <a:r>
              <a:rPr sz="1800" b="1">
                <a:solidFill>
                  <a:srgbClr val="203864"/>
                </a:solidFill>
                <a:latin typeface="Arial"/>
              </a:rPr>
              <a:t>Viên gạch B3: </a:t>
            </a:r>
            <a:r>
              <a:rPr sz="1800" b="0">
                <a:solidFill>
                  <a:srgbClr val="1B2230"/>
                </a:solidFill>
                <a:latin typeface="Arial"/>
              </a:rPr>
              <a:t>Pivot Miền × Tháng (tổng 941.454.000), Slicer nối 3 Pivot, PivotChart theo ngày.</a:t>
            </a:r>
          </a:p>
          <a:p>
            <a:pPr>
              <a:spcBef>
                <a:spcPts val="1600"/>
              </a:spcBef>
            </a:pPr>
            <a:r>
              <a:rPr sz="1800" b="1">
                <a:solidFill>
                  <a:srgbClr val="203864"/>
                </a:solidFill>
                <a:latin typeface="Arial"/>
              </a:rPr>
              <a:t>•  </a:t>
            </a:r>
            <a:r>
              <a:rPr sz="1800" b="1">
                <a:solidFill>
                  <a:srgbClr val="203864"/>
                </a:solidFill>
                <a:latin typeface="Arial"/>
              </a:rPr>
              <a:t>Bài về nhà B3 (4 tháng đầu năm): </a:t>
            </a:r>
            <a:r>
              <a:rPr sz="1800" b="0">
                <a:solidFill>
                  <a:srgbClr val="1B2230"/>
                </a:solidFill>
                <a:latin typeface="Arial"/>
              </a:rPr>
              <a:t>đối soát Pivot với số liệu hệ thống, 6 ô Quantity dạng chữ cài sẵn tháng 4, câu hỏi “ST07 đã hồi phục chưa”.</a:t>
            </a:r>
          </a:p>
          <a:p>
            <a:pPr>
              <a:spcBef>
                <a:spcPts val="1600"/>
              </a:spcBef>
            </a:pPr>
            <a:r>
              <a:rPr sz="1800" b="1">
                <a:solidFill>
                  <a:srgbClr val="203864"/>
                </a:solidFill>
                <a:latin typeface="Arial"/>
              </a:rPr>
              <a:t>•  </a:t>
            </a:r>
            <a:r>
              <a:rPr sz="1800" b="1">
                <a:solidFill>
                  <a:srgbClr val="203864"/>
                </a:solidFill>
                <a:latin typeface="Arial"/>
              </a:rPr>
              <a:t>File khởi đầu hôm nay </a:t>
            </a:r>
            <a:r>
              <a:rPr sz="1800" b="0">
                <a:solidFill>
                  <a:srgbClr val="1B2230"/>
                </a:solidFill>
                <a:latin typeface="Arial"/>
              </a:rPr>
              <a:t>= đáp án B3 (B3_MCI_Mart_Q1_2025_Answer.xlsx). Lưu thành B4_&lt;HoTen&gt;.xlsx. GIỮ NGUYÊN mọi sheet cũ — hôm nay chỉ thêm vào.</a:t>
            </a:r>
          </a:p>
        </p:txBody>
      </p:sp>
      <p:sp>
        <p:nvSpPr>
          <p:cNvPr id="5" name="Brick B3"/>
          <p:cNvSpPr/>
          <p:nvPr/>
        </p:nvSpPr>
        <p:spPr>
          <a:xfrm>
            <a:off x="8293608" y="4206240"/>
            <a:ext cx="3355848" cy="91440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8385048" y="420624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✓  B3 · Báo cáo Pivot</a:t>
            </a:r>
          </a:p>
        </p:txBody>
      </p:sp>
      <p:sp>
        <p:nvSpPr>
          <p:cNvPr id="7" name="Brick B4"/>
          <p:cNvSpPr/>
          <p:nvPr/>
        </p:nvSpPr>
        <p:spPr>
          <a:xfrm>
            <a:off x="8293608" y="3017520"/>
            <a:ext cx="3355848" cy="914400"/>
          </a:xfrm>
          <a:prstGeom prst="rect">
            <a:avLst/>
          </a:prstGeom>
          <a:solidFill>
            <a:srgbClr val="FFFFFF"/>
          </a:solidFill>
          <a:ln w="285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8385048" y="301752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B4 · Pipeline Power Query</a:t>
            </a:r>
          </a:p>
        </p:txBody>
      </p:sp>
      <p:sp>
        <p:nvSpPr>
          <p:cNvPr id="9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Demo: ../B3_PivotTable/Practice/B3_MCI_Mart_Q1_2025_Answer.xlsx (sheet Kiem_tra) · ../B3_PivotTable/Homework/B3_BTVN_MCI_Mart_T1_T4_2025_Answer.xlsx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“Nỗi đau” — làm tay ba file CSV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0 · MỞ ĐẦU</a:t>
            </a:r>
          </a:p>
        </p:txBody>
      </p:sp>
      <p:sp>
        <p:nvSpPr>
          <p:cNvPr id="4" name="File 1"/>
          <p:cNvSpPr/>
          <p:nvPr/>
        </p:nvSpPr>
        <p:spPr>
          <a:xfrm>
            <a:off x="1527048" y="1463040"/>
            <a:ext cx="3200400" cy="109728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1664207" y="1572768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Sales_2025-01.csv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585858"/>
                </a:solidFill>
                <a:latin typeface="Arial"/>
              </a:rPr>
              <a:t>2.726 dòng</a:t>
            </a:r>
          </a:p>
        </p:txBody>
      </p:sp>
      <p:sp>
        <p:nvSpPr>
          <p:cNvPr id="6" name="File 2"/>
          <p:cNvSpPr/>
          <p:nvPr/>
        </p:nvSpPr>
        <p:spPr>
          <a:xfrm>
            <a:off x="4956048" y="1463040"/>
            <a:ext cx="3200400" cy="109728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5093208" y="1572768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Sales_2025-02.csv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585858"/>
                </a:solidFill>
                <a:latin typeface="Arial"/>
              </a:rPr>
              <a:t>1.596 dòng</a:t>
            </a:r>
          </a:p>
        </p:txBody>
      </p:sp>
      <p:sp>
        <p:nvSpPr>
          <p:cNvPr id="8" name="File 3"/>
          <p:cNvSpPr/>
          <p:nvPr/>
        </p:nvSpPr>
        <p:spPr>
          <a:xfrm>
            <a:off x="8385048" y="1463040"/>
            <a:ext cx="3200400" cy="109728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8522208" y="1572768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Sales_2025-03.csv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585858"/>
                </a:solidFill>
                <a:latin typeface="Arial"/>
              </a:rPr>
              <a:t>1.868 dòng</a:t>
            </a:r>
          </a:p>
        </p:txBody>
      </p:sp>
      <p:sp>
        <p:nvSpPr>
          <p:cNvPr id="10" name="Image placeholder [CHỤP]"/>
          <p:cNvSpPr/>
          <p:nvPr/>
        </p:nvSpPr>
        <p:spPr>
          <a:xfrm>
            <a:off x="1527048" y="2743200"/>
            <a:ext cx="10122408" cy="233172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1709928" y="2834640"/>
            <a:ext cx="9756648" cy="21488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Ba cửa sổ Excel mở đồng thời 3 file CSV tháng 1–3/2025, xếp cạnh nhau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Practice/Data_Sales/Sales_2025-01/02/03.csv → S04_ba_file_csv.png</a:t>
            </a:r>
          </a:p>
        </p:txBody>
      </p:sp>
      <p:sp>
        <p:nvSpPr>
          <p:cNvPr id="12" name="TIP callout"/>
          <p:cNvSpPr/>
          <p:nvPr/>
        </p:nvSpPr>
        <p:spPr>
          <a:xfrm>
            <a:off x="1527048" y="5257800"/>
            <a:ext cx="10122408" cy="8229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1636776" y="536752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4" name="TIP text"/>
          <p:cNvSpPr txBox="1"/>
          <p:nvPr/>
        </p:nvSpPr>
        <p:spPr>
          <a:xfrm>
            <a:off x="2212848" y="5349240"/>
            <a:ext cx="9326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Việc phải làm bằng tay mỗi tháng: mở file → copy → dán nối tiếp → sửa 25 mã cửa hàng dính dấu cách → sửa ngày dd/mm và giá “19.000” → tìm và xóa dòng trùng.</a:t>
            </a:r>
          </a:p>
        </p:txBody>
      </p:sp>
      <p:sp>
        <p:nvSpPr>
          <p:cNvPr id="15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Practice/Data_Sales/Sales_2025-01.csv, -02.csv, -03.csv mở bằng Excel (View → Arrange All → Vertical)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Quy trình Power Excel: từ dữ liệu thô đến báo cáo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Raw Data → Power Query → Data Model → Power Pivot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1 · QUY TRÌNH POWER EXCEL</a:t>
            </a:r>
          </a:p>
        </p:txBody>
      </p:sp>
      <p:sp>
        <p:nvSpPr>
          <p:cNvPr id="4" name="Block 1"/>
          <p:cNvSpPr/>
          <p:nvPr/>
        </p:nvSpPr>
        <p:spPr>
          <a:xfrm>
            <a:off x="1527048" y="1920240"/>
            <a:ext cx="233172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1664207" y="2057400"/>
            <a:ext cx="2057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6B6F76"/>
                </a:solidFill>
                <a:latin typeface="Arial"/>
              </a:rPr>
              <a:t>1  </a:t>
            </a:r>
            <a:r>
              <a:rPr sz="1700" b="1">
                <a:solidFill>
                  <a:srgbClr val="203864"/>
                </a:solidFill>
                <a:latin typeface="Arial"/>
              </a:rPr>
              <a:t>Raw Data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85858"/>
                </a:solidFill>
                <a:latin typeface="Arial"/>
              </a:rPr>
              <a:t>CSV/TXT, Excel Table, database, cả một thư mục file, web…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86200" y="3154680"/>
            <a:ext cx="173735" cy="0"/>
          </a:xfrm>
          <a:prstGeom prst="line">
            <a:avLst/>
          </a:prstGeom>
          <a:ln w="31750">
            <a:solidFill>
              <a:srgbClr val="339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Block 2"/>
          <p:cNvSpPr/>
          <p:nvPr/>
        </p:nvSpPr>
        <p:spPr>
          <a:xfrm>
            <a:off x="4087368" y="1920240"/>
            <a:ext cx="2331720" cy="2468880"/>
          </a:xfrm>
          <a:prstGeom prst="roundRect">
            <a:avLst>
              <a:gd name="adj" fmla="val 6000"/>
            </a:avLst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4224528" y="2057400"/>
            <a:ext cx="2057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CDE2FB"/>
                </a:solidFill>
                <a:latin typeface="Arial"/>
              </a:rPr>
              <a:t>2  </a:t>
            </a:r>
            <a:r>
              <a:rPr sz="1700" b="1">
                <a:solidFill>
                  <a:srgbClr val="FFFFFF"/>
                </a:solidFill>
                <a:latin typeface="Arial"/>
              </a:rPr>
              <a:t>Power Query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E3ECF7"/>
                </a:solidFill>
                <a:latin typeface="Arial"/>
              </a:rPr>
              <a:t>Kết nối, làm sạch, biến đổi — ETL (Extract – Transform – Load)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46520" y="3154680"/>
            <a:ext cx="173736" cy="0"/>
          </a:xfrm>
          <a:prstGeom prst="line">
            <a:avLst/>
          </a:prstGeom>
          <a:ln w="31750">
            <a:solidFill>
              <a:srgbClr val="339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Block 3"/>
          <p:cNvSpPr/>
          <p:nvPr/>
        </p:nvSpPr>
        <p:spPr>
          <a:xfrm>
            <a:off x="6647688" y="1920240"/>
            <a:ext cx="233172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6784848" y="2057400"/>
            <a:ext cx="2057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6B6F76"/>
                </a:solidFill>
                <a:latin typeface="Arial"/>
              </a:rPr>
              <a:t>3  </a:t>
            </a:r>
            <a:r>
              <a:rPr sz="1700" b="1">
                <a:solidFill>
                  <a:srgbClr val="203864"/>
                </a:solidFill>
                <a:latin typeface="Arial"/>
              </a:rPr>
              <a:t>Data Model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85858"/>
                </a:solidFill>
                <a:latin typeface="Arial"/>
              </a:rPr>
              <a:t>Các bảng đã sạch, nối bằng quan hệ, không gộp thành một bảng khổng lồ (B5)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006840" y="3154680"/>
            <a:ext cx="173736" cy="0"/>
          </a:xfrm>
          <a:prstGeom prst="line">
            <a:avLst/>
          </a:prstGeom>
          <a:ln w="31750">
            <a:solidFill>
              <a:srgbClr val="339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Block 4"/>
          <p:cNvSpPr/>
          <p:nvPr/>
        </p:nvSpPr>
        <p:spPr>
          <a:xfrm>
            <a:off x="9208007" y="1920240"/>
            <a:ext cx="233172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"/>
          <p:cNvSpPr txBox="1"/>
          <p:nvPr/>
        </p:nvSpPr>
        <p:spPr>
          <a:xfrm>
            <a:off x="9345167" y="2057400"/>
            <a:ext cx="2057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6B6F76"/>
                </a:solidFill>
                <a:latin typeface="Arial"/>
              </a:rPr>
              <a:t>4  </a:t>
            </a:r>
            <a:r>
              <a:rPr sz="1700" b="1">
                <a:solidFill>
                  <a:srgbClr val="203864"/>
                </a:solidFill>
                <a:latin typeface="Arial"/>
              </a:rPr>
              <a:t>Power Pivot &amp; Pivot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85858"/>
                </a:solidFill>
                <a:latin typeface="Arial"/>
              </a:rPr>
              <a:t>Phân tích, viết DAX (B5–B6)</a:t>
            </a:r>
          </a:p>
        </p:txBody>
      </p:sp>
      <p:sp>
        <p:nvSpPr>
          <p:cNvPr id="15" name="TIP callout"/>
          <p:cNvSpPr/>
          <p:nvPr/>
        </p:nvSpPr>
        <p:spPr>
          <a:xfrm>
            <a:off x="1527048" y="4754880"/>
            <a:ext cx="10122408" cy="7772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"/>
          <p:cNvSpPr txBox="1"/>
          <p:nvPr/>
        </p:nvSpPr>
        <p:spPr>
          <a:xfrm>
            <a:off x="1636776" y="486460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7" name="TIP text"/>
          <p:cNvSpPr txBox="1"/>
          <p:nvPr/>
        </p:nvSpPr>
        <p:spPr>
          <a:xfrm>
            <a:off x="2212848" y="4846320"/>
            <a:ext cx="932688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Tất cả nằm sẵn trong Excel (tab Data), không cần cài thêm phần mềm. Hôm nay ở khối 2; Buổi 5 sang khối 3 và 4: sạch trước, nối sau, phân tích cuối cùng.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Khi nào dùng Power Query / Power Pivot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1 · QUY TRÌNH POWER EXCEL</a:t>
            </a:r>
          </a:p>
        </p:txBody>
      </p:sp>
      <p:sp>
        <p:nvSpPr>
          <p:cNvPr id="4" name="Reason 1"/>
          <p:cNvSpPr/>
          <p:nvPr/>
        </p:nvSpPr>
        <p:spPr>
          <a:xfrm>
            <a:off x="1527048" y="1600200"/>
            <a:ext cx="6675120" cy="777240"/>
          </a:xfrm>
          <a:prstGeom prst="roundRect">
            <a:avLst>
              <a:gd name="adj" fmla="val 1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1755648" y="1600200"/>
            <a:ext cx="6217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Dữ liệu nhiều hơn một triệu dòng (vượt giới hạn worksheet)</a:t>
            </a:r>
          </a:p>
        </p:txBody>
      </p:sp>
      <p:sp>
        <p:nvSpPr>
          <p:cNvPr id="6" name="Reason 2"/>
          <p:cNvSpPr/>
          <p:nvPr/>
        </p:nvSpPr>
        <p:spPr>
          <a:xfrm>
            <a:off x="1527048" y="2514600"/>
            <a:ext cx="6675120" cy="777240"/>
          </a:xfrm>
          <a:prstGeom prst="roundRect">
            <a:avLst>
              <a:gd name="adj" fmla="val 1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755648" y="2514600"/>
            <a:ext cx="6217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Dữ liệu nằm ở nhiều nguồn (nhiều file, database, thư mục)</a:t>
            </a:r>
          </a:p>
        </p:txBody>
      </p:sp>
      <p:sp>
        <p:nvSpPr>
          <p:cNvPr id="8" name="Reason 3"/>
          <p:cNvSpPr/>
          <p:nvPr/>
        </p:nvSpPr>
        <p:spPr>
          <a:xfrm>
            <a:off x="1527048" y="3429000"/>
            <a:ext cx="6675120" cy="777240"/>
          </a:xfrm>
          <a:prstGeom prst="roundRect">
            <a:avLst>
              <a:gd name="adj" fmla="val 1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1755648" y="3429000"/>
            <a:ext cx="6217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Cần tự động hoá: mỗi lần có dữ liệu mới, chỉ Refresh</a:t>
            </a:r>
          </a:p>
        </p:txBody>
      </p:sp>
      <p:sp>
        <p:nvSpPr>
          <p:cNvPr id="10" name="Reason 4"/>
          <p:cNvSpPr/>
          <p:nvPr/>
        </p:nvSpPr>
        <p:spPr>
          <a:xfrm>
            <a:off x="1527048" y="4343400"/>
            <a:ext cx="6675120" cy="777240"/>
          </a:xfrm>
          <a:prstGeom prst="roundRect">
            <a:avLst>
              <a:gd name="adj" fmla="val 1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1755648" y="4343400"/>
            <a:ext cx="6217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Cần kết hợp nhiều bảng mà không muốn nhân bản dữ liệu</a:t>
            </a:r>
          </a:p>
        </p:txBody>
      </p:sp>
      <p:sp>
        <p:nvSpPr>
          <p:cNvPr id="12" name="Row limit card"/>
          <p:cNvSpPr/>
          <p:nvPr/>
        </p:nvSpPr>
        <p:spPr>
          <a:xfrm>
            <a:off x="8503920" y="1600200"/>
            <a:ext cx="3145536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8686800" y="1737360"/>
            <a:ext cx="2779776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Excel worksheet</a:t>
            </a:r>
          </a:p>
          <a:p>
            <a:pPr>
              <a:spcBef>
                <a:spcPts val="600"/>
              </a:spcBef>
            </a:pPr>
            <a:r>
              <a:rPr sz="2600" b="1">
                <a:solidFill>
                  <a:srgbClr val="9C0006"/>
                </a:solidFill>
                <a:latin typeface="Arial"/>
              </a:rPr>
              <a:t>1.048.576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1B2230"/>
                </a:solidFill>
                <a:latin typeface="Arial"/>
              </a:rPr>
              <a:t>dòng tối đa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85858"/>
                </a:solidFill>
                <a:latin typeface="Arial"/>
              </a:rPr>
              <a:t>Data Model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2E7D32"/>
                </a:solidFill>
                <a:latin typeface="Arial"/>
              </a:rPr>
              <a:t>Hàng chục triệu dòng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585858"/>
                </a:solidFill>
                <a:latin typeface="Arial"/>
              </a:rPr>
              <a:t>giới hạn bởi bộ nhớ máy (Excel 64-bit)</a:t>
            </a:r>
          </a:p>
        </p:txBody>
      </p:sp>
      <p:sp>
        <p:nvSpPr>
          <p:cNvPr id="14" name="TIP callout"/>
          <p:cNvSpPr/>
          <p:nvPr/>
        </p:nvSpPr>
        <p:spPr>
          <a:xfrm>
            <a:off x="1527048" y="5349240"/>
            <a:ext cx="10122408" cy="7772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"/>
          <p:cNvSpPr txBox="1"/>
          <p:nvPr/>
        </p:nvSpPr>
        <p:spPr>
          <a:xfrm>
            <a:off x="1636776" y="545896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6" name="TIP text"/>
          <p:cNvSpPr txBox="1"/>
          <p:nvPr/>
        </p:nvSpPr>
        <p:spPr>
          <a:xfrm>
            <a:off x="2212848" y="5440679"/>
            <a:ext cx="932688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Power Pivot KHÔNG chạy trên Mac và Excel Online — lý do B1 đã nhắc yêu cầu máy Windows từ B4. Chưa chuẩn bị được: gặp trợ giảng ngay giờ nghỉ.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Get Data &amp; Query Editor: nơi mọi bước làm sạch được ghi lại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 Data · Query Editor · Applied Steps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2 · GET DATA &amp; QUERY EDITOR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527048" y="1417320"/>
          <a:ext cx="10122408" cy="1828800"/>
        </p:xfrm>
        <a:graphic>
          <a:graphicData uri="http://schemas.openxmlformats.org/drawingml/2006/table">
            <a:tbl>
              <a:tblPr firstRow="1" bandRow="0"/>
              <a:tblGrid>
                <a:gridCol w="4572000"/>
                <a:gridCol w="555040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Tên (đỏ)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Mục đích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Data → Get Data → From File → From Text/CSV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Kết nối tới một file; bấm Transform Data để mở Query Editor trước khi nạp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Query Editor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Bảng xem trước ở giữa, Applied Steps bên phải, 4 tab Home / Transform / Add Column / View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Applied Steps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Danh sách các bước đã làm, chạy lại TỰ ĐỘNG mỗi lần Refresh — như một macro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Image placeholder [CHỤP]"/>
          <p:cNvSpPr/>
          <p:nvPr/>
        </p:nvSpPr>
        <p:spPr>
          <a:xfrm>
            <a:off x="1527048" y="3611880"/>
            <a:ext cx="5486400" cy="246888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1709928" y="3703320"/>
            <a:ext cx="512064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Query Editor: bảng xem trước, thanh công thức, Applied Steps 3 bước tự động Source · Promoted Headers · Changed Type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Query Sales_T1 (Practice/Data_Sales/Sales_2025-01.csv) ngay sau Transform Data → S09_query_editor.png</a:t>
            </a:r>
          </a:p>
        </p:txBody>
      </p:sp>
      <p:sp>
        <p:nvSpPr>
          <p:cNvPr id="7" name="TIP callout"/>
          <p:cNvSpPr/>
          <p:nvPr/>
        </p:nvSpPr>
        <p:spPr>
          <a:xfrm>
            <a:off x="7086600" y="3611880"/>
            <a:ext cx="4562856" cy="11430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7196328" y="372160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9" name="TIP text"/>
          <p:cNvSpPr txBox="1"/>
          <p:nvPr/>
        </p:nvSpPr>
        <p:spPr>
          <a:xfrm>
            <a:off x="7772400" y="3703320"/>
            <a:ext cx="376732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Query Editor KHÔNG có Undo: bỏ một bước = bấm dấu X cạnh bước đó. Bấm một bước ở giữa để xem dữ liệu tại bước đó.</a:t>
            </a:r>
          </a:p>
        </p:txBody>
      </p:sp>
      <p:sp>
        <p:nvSpPr>
          <p:cNvPr id="10" name="PRO TIP callout"/>
          <p:cNvSpPr/>
          <p:nvPr/>
        </p:nvSpPr>
        <p:spPr>
          <a:xfrm>
            <a:off x="7086600" y="4846320"/>
            <a:ext cx="4562856" cy="12344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RO TIP chip"/>
          <p:cNvSpPr/>
          <p:nvPr/>
        </p:nvSpPr>
        <p:spPr>
          <a:xfrm>
            <a:off x="7196328" y="4956048"/>
            <a:ext cx="1005840" cy="320040"/>
          </a:xfrm>
          <a:prstGeom prst="roundRect">
            <a:avLst>
              <a:gd name="adj" fmla="val 2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230"/>
                </a:solidFill>
                <a:latin typeface="Arial"/>
              </a:rPr>
              <a:t>PRO TIP</a:t>
            </a:r>
          </a:p>
        </p:txBody>
      </p:sp>
      <p:sp>
        <p:nvSpPr>
          <p:cNvPr id="12" name="PRO TIP text"/>
          <p:cNvSpPr txBox="1"/>
          <p:nvPr/>
        </p:nvSpPr>
        <p:spPr>
          <a:xfrm>
            <a:off x="8293608" y="4937759"/>
            <a:ext cx="3246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Đặt tên query rõ ràng NGAY TỪ ĐẦU (ô Name, ví dụ Sales_T1) — đổi tên sau khi query khác đã tham chiếu tới sẽ rất phiền.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Practice/Data_Sales/Sales_2025-01.csv → Data → Get Data → From Text/CSV → Transform Data (query Sales_T1)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Làm sạch dữ liệu: nhìn trước khi sửa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profiling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3 · LÀM SẠCH DỮ LIỆU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View → Column quality / Column distribution / Column profile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101224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Xem nhanh sức khoẻ từng cột: % Valid / Error / Empty, số giá trị khác nhau, Min / Max, giá trị hay gặp — trước khi mất công sửa mò.</a:t>
            </a:r>
          </a:p>
        </p:txBody>
      </p:sp>
      <p:sp>
        <p:nvSpPr>
          <p:cNvPr id="6" name="Image placeholder [CHỤP]"/>
          <p:cNvSpPr/>
          <p:nvPr/>
        </p:nvSpPr>
        <p:spPr>
          <a:xfrm>
            <a:off x="1527048" y="2606040"/>
            <a:ext cx="4965192" cy="265176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709928" y="2697480"/>
            <a:ext cx="4599431" cy="24688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Unit_Price 100% Valid nhưng Min 10, Max 650; Order_Date có Error (máy English US)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Query Sales_T1, bước Changed Type tự động, profiling entire data set → S11a_column_quality.png</a:t>
            </a:r>
          </a:p>
        </p:txBody>
      </p:sp>
      <p:sp>
        <p:nvSpPr>
          <p:cNvPr id="8" name="Image placeholder [CHỤP]"/>
          <p:cNvSpPr/>
          <p:nvPr/>
        </p:nvSpPr>
        <p:spPr>
          <a:xfrm>
            <a:off x="6684264" y="2606040"/>
            <a:ext cx="4965192" cy="265176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6867144" y="2697480"/>
            <a:ext cx="4599431" cy="24688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Store_Code trước Trim: 23 giá trị khác nhau thay vì 12 (“ST07” và “ST07 ” đếm là hai)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Query Sales_T1, Column statistics của Store_Code → S11b_column_distribution.png</a:t>
            </a:r>
          </a:p>
        </p:txBody>
      </p:sp>
      <p:sp>
        <p:nvSpPr>
          <p:cNvPr id="10" name="TIP callout"/>
          <p:cNvSpPr/>
          <p:nvPr/>
        </p:nvSpPr>
        <p:spPr>
          <a:xfrm>
            <a:off x="1527048" y="5394960"/>
            <a:ext cx="10122408" cy="7772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2" name="TIP text"/>
          <p:cNvSpPr txBox="1"/>
          <p:nvPr/>
        </p:nvSpPr>
        <p:spPr>
          <a:xfrm>
            <a:off x="2212848" y="5486400"/>
            <a:ext cx="932688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Góc dưới trái ghi “Column profiling based on top 1000 rows”: bấm vào, chọn entire data set để đếm trên cả file. 100% Valid chưa chắc đúng — nhìn cả Min / Max.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Query Editor, query Sales_T1 (Practice/Data_Sales/Sales_2025-01.csv), bước Changed Type tự động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Change Type → Using Locale…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3 · LÀM SẠCH DỮ LIỆU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1732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Change Type → Using Locale…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874519"/>
            <a:ext cx="101224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Đổi kiểu dữ liệu THEO ĐÚNG định dạng vùng miền của dữ liệu nguồn — không phải định dạng máy đang chạy Excel.</a:t>
            </a:r>
          </a:p>
        </p:txBody>
      </p:sp>
      <p:sp>
        <p:nvSpPr>
          <p:cNvPr id="6" name="Stat card"/>
          <p:cNvSpPr/>
          <p:nvPr/>
        </p:nvSpPr>
        <p:spPr>
          <a:xfrm>
            <a:off x="1527048" y="2468880"/>
            <a:ext cx="32461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709928" y="2560320"/>
            <a:ext cx="288036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Đọc kiểu Mỹ mm/dd (Order_Date)</a:t>
            </a:r>
          </a:p>
          <a:p>
            <a:pPr>
              <a:spcBef>
                <a:spcPts val="200"/>
              </a:spcBef>
            </a:pPr>
            <a:r>
              <a:rPr sz="2600" b="1">
                <a:solidFill>
                  <a:srgbClr val="9C0006"/>
                </a:solidFill>
                <a:latin typeface="Arial"/>
              </a:rPr>
              <a:t>1.735 / 2.726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dòng Error; 991 dòng đảo ngày–tháng</a:t>
            </a:r>
          </a:p>
        </p:txBody>
      </p:sp>
      <p:sp>
        <p:nvSpPr>
          <p:cNvPr id="8" name="Image placeholder [CHỤP]"/>
          <p:cNvSpPr/>
          <p:nvPr/>
        </p:nvSpPr>
        <p:spPr>
          <a:xfrm>
            <a:off x="4983480" y="2468880"/>
            <a:ext cx="3017520" cy="274320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5166360" y="2560320"/>
            <a:ext cx="2651760" cy="2560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Change Type with Locale: Date, Vietnamese (Vietnam) → Order_Date 100% Valid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Query Sales_T1 → S12a_locale_date.png</a:t>
            </a:r>
          </a:p>
        </p:txBody>
      </p:sp>
      <p:sp>
        <p:nvSpPr>
          <p:cNvPr id="10" name="Image placeholder [CHỤP]"/>
          <p:cNvSpPr/>
          <p:nvPr/>
        </p:nvSpPr>
        <p:spPr>
          <a:xfrm>
            <a:off x="8211312" y="2468880"/>
            <a:ext cx="3438144" cy="274320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8394192" y="2560320"/>
            <a:ext cx="3072384" cy="2560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Unit_Price sau Using Locale → Whole Number, Vietnamese: 19.000 → 19000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Query Sales_T1 → S12b_locale_price.png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1527048" y="4023360"/>
            <a:ext cx="32461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585858"/>
                </a:solidFill>
                <a:latin typeface="Arial"/>
              </a:rPr>
              <a:t>Đọc kiểu Mỹ (Unit_Price)</a:t>
            </a:r>
          </a:p>
          <a:p>
            <a:pPr>
              <a:spcBef>
                <a:spcPts val="400"/>
              </a:spcBef>
            </a:pPr>
            <a:r>
              <a:rPr sz="2000" b="1">
                <a:solidFill>
                  <a:srgbClr val="9C0006"/>
                </a:solidFill>
                <a:latin typeface="Arial"/>
              </a:rPr>
              <a:t>19.000 → 19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2230"/>
                </a:solidFill>
                <a:latin typeface="Arial"/>
              </a:rPr>
              <a:t>sai 1.000 lần, KHÔNG báo lỗi</a:t>
            </a:r>
          </a:p>
        </p:txBody>
      </p:sp>
      <p:sp>
        <p:nvSpPr>
          <p:cNvPr id="13" name="TIP callout"/>
          <p:cNvSpPr/>
          <p:nvPr/>
        </p:nvSpPr>
        <p:spPr>
          <a:xfrm>
            <a:off x="1527048" y="5394960"/>
            <a:ext cx="10122408" cy="7772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5" name="TIP text"/>
          <p:cNvSpPr txBox="1"/>
          <p:nvPr/>
        </p:nvSpPr>
        <p:spPr>
          <a:xfrm>
            <a:off x="2212848" y="5486400"/>
            <a:ext cx="932688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Quy tắc nhớ đời: XÓA bước Changed Type tự động, rồi đổi kiểu cột ngày và cột số bằng Using Locale → Vietnamese (Vietnam).</a:t>
            </a:r>
          </a:p>
        </p:txBody>
      </p:sp>
      <p:sp>
        <p:nvSpPr>
          <p:cNvPr id="16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Query Editor, query Sales_T1 (Practice/Data_Sales/Sales_2025-01.csv), cột Order_Date và Unit_Price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Headers · Trim · Conditional Column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3 · LÀM SẠCH DỮ LIỆU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527048" y="1417320"/>
          <a:ext cx="10122408" cy="2121408"/>
        </p:xfrm>
        <a:graphic>
          <a:graphicData uri="http://schemas.openxmlformats.org/drawingml/2006/table">
            <a:tbl>
              <a:tblPr firstRow="1" bandRow="0"/>
              <a:tblGrid>
                <a:gridCol w="3566160"/>
                <a:gridCol w="6556248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Tên (đỏ)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Mục đích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Home → Use First Row as Headers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Biến dòng đầu của bảng thành tên cột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Transform → Format → Trim / Clean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Xoá khoảng trắng đầu/cuối (Trim) hoặc ký tự ẩn (Clean)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Add Column → Conditional Column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Tạo cột mới theo quy tắc IF/THEN, không cần viết hàm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Image placeholder [CHỤP]"/>
          <p:cNvSpPr/>
          <p:nvPr/>
        </p:nvSpPr>
        <p:spPr>
          <a:xfrm>
            <a:off x="1527048" y="3611880"/>
            <a:ext cx="4965192" cy="242316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1709928" y="3703320"/>
            <a:ext cx="4599431" cy="2240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Store_Code sau Trim: còn đúng 12 giá trị (trước là 23)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Query Sales_T1 → S13a_trim.png</a:t>
            </a:r>
          </a:p>
        </p:txBody>
      </p:sp>
      <p:sp>
        <p:nvSpPr>
          <p:cNvPr id="7" name="Image placeholder [CHỤP]"/>
          <p:cNvSpPr/>
          <p:nvPr/>
        </p:nvSpPr>
        <p:spPr>
          <a:xfrm>
            <a:off x="6684264" y="3611880"/>
            <a:ext cx="4965192" cy="242316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6867144" y="3703320"/>
            <a:ext cx="4599431" cy="2240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Add Conditional Column: Nhom_SL — If Quantity &gt; 3 then “Nhiều” else “Ít”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Query Sales_T1 → S13b_conditional_column.png</a:t>
            </a:r>
          </a:p>
        </p:txBody>
      </p:sp>
      <p:sp>
        <p:nvSpPr>
          <p:cNvPr id="9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query Sales_T1 (Practice/Data_Sales/Sales_2025-01.csv) · Trim/Clean có ở cả Transform (sửa cột) và Add Column (tạo cột mới)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Remove Duplicates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3 · LÀM SẠCH DỮ LIỆU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1732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Home → Remove Rows → Remove Duplicates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874519"/>
            <a:ext cx="101224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Xoá các dòng GIỐNG HỆT NHAU trên các cột đang chọn — dùng cho bảng giao dịch (trùng tuyệt đối) lẫn bảng lookup (khoá trùng).</a:t>
            </a:r>
          </a:p>
        </p:txBody>
      </p:sp>
      <p:sp>
        <p:nvSpPr>
          <p:cNvPr id="6" name="Image placeholder [CHỤP]"/>
          <p:cNvSpPr/>
          <p:nvPr/>
        </p:nvSpPr>
        <p:spPr>
          <a:xfrm>
            <a:off x="1527048" y="2560320"/>
            <a:ext cx="4965192" cy="265176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709928" y="2651760"/>
            <a:ext cx="4599431" cy="24688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Sales_T1: Remove Duplicates (mọi cột) → Count Rows = 2.725 (trước 2.726)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Query Sales_T1 → S14a_remove_dup_sales.png</a:t>
            </a:r>
          </a:p>
        </p:txBody>
      </p:sp>
      <p:sp>
        <p:nvSpPr>
          <p:cNvPr id="8" name="Image placeholder [CHỤP]"/>
          <p:cNvSpPr/>
          <p:nvPr/>
        </p:nvSpPr>
        <p:spPr>
          <a:xfrm>
            <a:off x="6684264" y="2560320"/>
            <a:ext cx="4965192" cy="265176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6867144" y="2651760"/>
            <a:ext cx="4599431" cy="24688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Product: Remove Duplicates theo Product_Code → Count Rows = 40 (trước 41)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Query Product (Practice/B4_Lookups.xlsx) → S14b_remove_dup_product.png</a:t>
            </a:r>
          </a:p>
        </p:txBody>
      </p:sp>
      <p:sp>
        <p:nvSpPr>
          <p:cNvPr id="10" name="TIP callout"/>
          <p:cNvSpPr/>
          <p:nvPr/>
        </p:nvSpPr>
        <p:spPr>
          <a:xfrm>
            <a:off x="1527048" y="5349240"/>
            <a:ext cx="10122408" cy="8229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1636776" y="545896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2" name="TIP text"/>
          <p:cNvSpPr txBox="1"/>
          <p:nvPr/>
        </p:nvSpPr>
        <p:spPr>
          <a:xfrm>
            <a:off x="2212848" y="5440679"/>
            <a:ext cx="9326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Chưa bỏ P015 trùng mà Merge Sales × Product: 29.408 dòng thay vì 28.328. Đếm dòng ngay trong PQ: Transform → Count Rows, xem xong xóa bước đếm.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query Sales_T1 (Practice/Data_Sales/Sales_2025-01.csv) · query Product (Practice/B4_Lookups.xlsx, bảng Product)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Keep Errors · Remove Errors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3 · LÀM SẠCH DỮ LIỆU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rgbClr val="C00000"/>
                </a:solidFill>
                <a:latin typeface="Arial"/>
              </a:rPr>
              <a:t>Home → Keep Rows → Keep Errors  ·  Remove Rows → Remove Errors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101224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Tách riêng các dòng có ô lỗi (Error) để XEM trước khi quyết định xoá hay sửa — không xoá mù.</a:t>
            </a:r>
          </a:p>
        </p:txBody>
      </p:sp>
      <p:sp>
        <p:nvSpPr>
          <p:cNvPr id="6" name="Image placeholder [CHỤP]"/>
          <p:cNvSpPr/>
          <p:nvPr/>
        </p:nvSpPr>
        <p:spPr>
          <a:xfrm>
            <a:off x="1527048" y="2606040"/>
            <a:ext cx="5760720" cy="265176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709928" y="2697480"/>
            <a:ext cx="5394959" cy="24688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Order_Date đọc kiểu English (US) → Keep Errors còn 1.735 dòng; chi tiết lỗi của một ô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Query Sales_T1 (2) — bản sao của Sales_T1 → S15_keep_errors.png</a:t>
            </a:r>
          </a:p>
        </p:txBody>
      </p:sp>
      <p:sp>
        <p:nvSpPr>
          <p:cNvPr id="8" name="Rule card"/>
          <p:cNvSpPr/>
          <p:nvPr/>
        </p:nvSpPr>
        <p:spPr>
          <a:xfrm>
            <a:off x="7452360" y="2606040"/>
            <a:ext cx="4197096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7635240" y="2743200"/>
            <a:ext cx="38313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203864"/>
                </a:solidFill>
                <a:latin typeface="Arial"/>
              </a:rPr>
              <a:t>Keep Errors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Xem và hiểu lỗi TRƯỚC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9C0006"/>
                </a:solidFill>
                <a:latin typeface="Arial"/>
              </a:rPr>
              <a:t>Remove Errors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Chỉ dùng khi chắc chắn dòng đó nên bỏ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B2230"/>
                </a:solidFill>
                <a:latin typeface="Arial"/>
              </a:rPr>
              <a:t>Xoá nhầm = mất dữ liệu âm thầm</a:t>
            </a:r>
          </a:p>
        </p:txBody>
      </p:sp>
      <p:sp>
        <p:nvSpPr>
          <p:cNvPr id="10" name="TIP callout"/>
          <p:cNvSpPr/>
          <p:nvPr/>
        </p:nvSpPr>
        <p:spPr>
          <a:xfrm>
            <a:off x="1527048" y="5394960"/>
            <a:ext cx="10122408" cy="7772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2" name="TIP text"/>
          <p:cNvSpPr txBox="1"/>
          <p:nvPr/>
        </p:nvSpPr>
        <p:spPr>
          <a:xfrm>
            <a:off x="2212848" y="5486400"/>
            <a:ext cx="932688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Lỗi do sai Locale: sửa lại bằng Using Locale (Slide 12), KHÔNG Remove Errors — xóa là mất 1.735 dòng doanh thu mà không ai biết.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bản sao query Sales_T1 (Practice/Data_Sales/Sales_2025-01.csv), Order_Date đọc bằng Locale English (United States)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Nghỉ 10 phút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Trước khi quay lại: mở sẵn Query Editor (Data → Get Data → Launch Power Query Editor)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Unpivot &amp; Group By: đổi hình dạng bảng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Unpivot Columns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4 · UNPIVOT &amp; GROUP BY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1732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Transform → Unpivot Columns ▾ → Unpivot Other Columns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874519"/>
            <a:ext cx="101224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Biến NHIỀU CỘT CÙNG LOẠI (Tháng 1…Tháng 12) thành hai cột: tên cột cũ và giá trị — ngược lại của Pivot.</a:t>
            </a:r>
          </a:p>
        </p:txBody>
      </p:sp>
      <p:sp>
        <p:nvSpPr>
          <p:cNvPr id="6" name="Image placeholder [CHỤP]"/>
          <p:cNvSpPr/>
          <p:nvPr/>
        </p:nvSpPr>
        <p:spPr>
          <a:xfrm>
            <a:off x="1527048" y="2560320"/>
            <a:ext cx="4114800" cy="251460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709928" y="2651760"/>
            <a:ext cx="3749039" cy="2331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Trước Unpivot: tiêu đề ở dòng 1, tên cột ở dòng 3, Tháng 1…12 nằm ngang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Query Target, bước Navigation → S18a_target_before.png</a:t>
            </a:r>
          </a:p>
        </p:txBody>
      </p:sp>
      <p:sp>
        <p:nvSpPr>
          <p:cNvPr id="8" name="Image placeholder [CHỤP]"/>
          <p:cNvSpPr/>
          <p:nvPr/>
        </p:nvSpPr>
        <p:spPr>
          <a:xfrm>
            <a:off x="5779008" y="2560320"/>
            <a:ext cx="4114800" cy="251460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5961888" y="2651760"/>
            <a:ext cx="3749039" cy="2331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Sau Unpivot và làm gọn: Store_Code · Thang (số) · Target · Ngay_Dau_Thang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Query Target, bước cuối → S18b_target_after.png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5641848" y="3566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3398DA"/>
                </a:solidFill>
                <a:latin typeface="Arial"/>
              </a:rPr>
              <a:t>→</a:t>
            </a:r>
          </a:p>
        </p:txBody>
      </p:sp>
      <p:sp>
        <p:nvSpPr>
          <p:cNvPr id="11" name="Stat card"/>
          <p:cNvSpPr/>
          <p:nvPr/>
        </p:nvSpPr>
        <p:spPr>
          <a:xfrm>
            <a:off x="10058400" y="2560320"/>
            <a:ext cx="1591056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"/>
          <p:cNvSpPr txBox="1"/>
          <p:nvPr/>
        </p:nvSpPr>
        <p:spPr>
          <a:xfrm>
            <a:off x="10241280" y="2651760"/>
            <a:ext cx="1225295" cy="2331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Kết quả</a:t>
            </a:r>
          </a:p>
          <a:p>
            <a:pPr>
              <a:spcBef>
                <a:spcPts val="200"/>
              </a:spcBef>
            </a:pPr>
            <a:r>
              <a:rPr sz="3000" b="1">
                <a:solidFill>
                  <a:srgbClr val="203864"/>
                </a:solidFill>
                <a:latin typeface="Arial"/>
              </a:rPr>
              <a:t>144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dòng = 12 cửa hàng × 12 tháng</a:t>
            </a:r>
          </a:p>
        </p:txBody>
      </p:sp>
      <p:sp>
        <p:nvSpPr>
          <p:cNvPr id="13" name="TIP callout"/>
          <p:cNvSpPr/>
          <p:nvPr/>
        </p:nvSpPr>
        <p:spPr>
          <a:xfrm>
            <a:off x="1527048" y="5212080"/>
            <a:ext cx="10122408" cy="9144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"/>
          <p:cNvSpPr txBox="1"/>
          <p:nvPr/>
        </p:nvSpPr>
        <p:spPr>
          <a:xfrm>
            <a:off x="1636776" y="532180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5" name="TIP text"/>
          <p:cNvSpPr txBox="1"/>
          <p:nvPr/>
        </p:nvSpPr>
        <p:spPr>
          <a:xfrm>
            <a:off x="2212848" y="5303520"/>
            <a:ext cx="9326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Chọn cột GIỮ NGUYÊN (Store_Code, Store_Name) rồi Unpivot Other Columns: tháng mới thêm vào file tự được xoay. Thang → Extract Text After Delimiter → số; thêm Ngay_Dau_Thang = #date(2025, [Thang], 1) để B5 nối với Calendar.</a:t>
            </a:r>
          </a:p>
        </p:txBody>
      </p:sp>
      <p:sp>
        <p:nvSpPr>
          <p:cNvPr id="16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Practice/B4_Target_2025.xlsx, sheet Target_2025 (query Target) · Chuỗi A lần 4: Table (B1) → Dimension/Measure (B2) → Pivot (B3) → Unpivot (B4) → Star schema (B5)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 By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4 · UNPIVOT &amp; GROUP BY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Transform → Group By (Basic / Advanced)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1012240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Tổng hợp dữ liệu LÊN MỨC CHI TIẾT KHÁC — từ dòng giao dịch lên theo cửa hàng, theo tháng — ngay trong Power Query, ra một BẢNG MỚI.</a:t>
            </a:r>
          </a:p>
        </p:txBody>
      </p:sp>
      <p:sp>
        <p:nvSpPr>
          <p:cNvPr id="6" name="Image placeholder [CHỤP]"/>
          <p:cNvSpPr/>
          <p:nvPr/>
        </p:nvSpPr>
        <p:spPr>
          <a:xfrm>
            <a:off x="1527048" y="2651760"/>
            <a:ext cx="6309360" cy="260604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709928" y="2743200"/>
            <a:ext cx="5943600" cy="242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Group By (Advanced): Store_Code; So_dong = Count Rows; Doanh_thu = Sum of Revenue → 12 dòng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Query DoiSoat_T1 (Reference của Sales_T1) → S19_group_by.png</a:t>
            </a:r>
          </a:p>
        </p:txBody>
      </p:sp>
      <p:sp>
        <p:nvSpPr>
          <p:cNvPr id="8" name="Stat card"/>
          <p:cNvSpPr/>
          <p:nvPr/>
        </p:nvSpPr>
        <p:spPr>
          <a:xfrm>
            <a:off x="8001000" y="2651760"/>
            <a:ext cx="3648456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8183879" y="2743200"/>
            <a:ext cx="3282696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Target tháng 1 (Group By Thang)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203864"/>
                </a:solidFill>
                <a:latin typeface="Arial"/>
              </a:rPr>
              <a:t>353 tr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thực tế 425,85 tr · 120,6%</a:t>
            </a:r>
          </a:p>
        </p:txBody>
      </p:sp>
      <p:sp>
        <p:nvSpPr>
          <p:cNvPr id="10" name="Stat card"/>
          <p:cNvSpPr/>
          <p:nvPr/>
        </p:nvSpPr>
        <p:spPr>
          <a:xfrm>
            <a:off x="8001000" y="4023360"/>
            <a:ext cx="3648456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8183879" y="4114800"/>
            <a:ext cx="3282696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Target tháng 2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9C0006"/>
                </a:solidFill>
                <a:latin typeface="Arial"/>
              </a:rPr>
              <a:t>298 tr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thực tế 246,0 tr · 82,5%</a:t>
            </a:r>
          </a:p>
        </p:txBody>
      </p:sp>
      <p:sp>
        <p:nvSpPr>
          <p:cNvPr id="12" name="PRO TIP callout"/>
          <p:cNvSpPr/>
          <p:nvPr/>
        </p:nvSpPr>
        <p:spPr>
          <a:xfrm>
            <a:off x="1527048" y="5394960"/>
            <a:ext cx="10122408" cy="7772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 TIP chip"/>
          <p:cNvSpPr/>
          <p:nvPr/>
        </p:nvSpPr>
        <p:spPr>
          <a:xfrm>
            <a:off x="1636776" y="5504688"/>
            <a:ext cx="1005840" cy="320040"/>
          </a:xfrm>
          <a:prstGeom prst="roundRect">
            <a:avLst>
              <a:gd name="adj" fmla="val 2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230"/>
                </a:solidFill>
                <a:latin typeface="Arial"/>
              </a:rPr>
              <a:t>PRO TIP</a:t>
            </a:r>
          </a:p>
        </p:txBody>
      </p:sp>
      <p:sp>
        <p:nvSpPr>
          <p:cNvPr id="14" name="PRO TIP text"/>
          <p:cNvSpPr txBox="1"/>
          <p:nvPr/>
        </p:nvSpPr>
        <p:spPr>
          <a:xfrm>
            <a:off x="2734056" y="5486400"/>
            <a:ext cx="8805672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Reference: query mới đọc kết quả của query gốc, gốc đổi thì đổi theo. Duplicate: chép rời mọi bước. Bảng đối soát, bảng tổng hợp → dùng Reference.</a:t>
            </a:r>
          </a:p>
        </p:txBody>
      </p:sp>
      <p:sp>
        <p:nvSpPr>
          <p:cNvPr id="15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query DoiSoat_T1 (Reference của Sales_T1, Practice/Data_Sales/Sales_2025-01.csv)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Append &amp; Merge: nối dọc và nối ngang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Folder · Append Queries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5 · APPEND &amp; MERGE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527048" y="1417320"/>
          <a:ext cx="10122408" cy="1508760"/>
        </p:xfrm>
        <a:graphic>
          <a:graphicData uri="http://schemas.openxmlformats.org/drawingml/2006/table">
            <a:tbl>
              <a:tblPr firstRow="1" bandRow="0"/>
              <a:tblGrid>
                <a:gridCol w="5029200"/>
                <a:gridCol w="509320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Tên (đỏ)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Mục đích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Data → Get Data → From File → From Folder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Đọc và nối MỌI FILE cùng cấu trúc trong một thư mục; file mới thả vào tự được đọc khi Refresh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Home → Append Queries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Nối dọc hai (hoặc nhiều) query có CÙNG TÊN CỘT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Image placeholder [CHỤP]"/>
          <p:cNvSpPr/>
          <p:nvPr/>
        </p:nvSpPr>
        <p:spPr>
          <a:xfrm>
            <a:off x="1527048" y="3154680"/>
            <a:ext cx="6309360" cy="210312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1709928" y="3246120"/>
            <a:ext cx="5943600" cy="19202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Danh sách 4 file của Practice/Data_Sales/ và nút Combine ▾ → Combine &amp; Transform Data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Data → Get Data → From Folder → S21_from_folder.png</a:t>
            </a:r>
          </a:p>
        </p:txBody>
      </p:sp>
      <p:sp>
        <p:nvSpPr>
          <p:cNvPr id="7" name="Stat card"/>
          <p:cNvSpPr/>
          <p:nvPr/>
        </p:nvSpPr>
        <p:spPr>
          <a:xfrm>
            <a:off x="8001000" y="3154680"/>
            <a:ext cx="3648456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8183879" y="3246120"/>
            <a:ext cx="3282696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Sau Combine + làm sạch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203864"/>
                </a:solidFill>
                <a:latin typeface="Arial"/>
              </a:rPr>
              <a:t>28.328 dòng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doanh thu 4.139.884.500</a:t>
            </a:r>
          </a:p>
        </p:txBody>
      </p:sp>
      <p:sp>
        <p:nvSpPr>
          <p:cNvPr id="9" name="TIP callout"/>
          <p:cNvSpPr/>
          <p:nvPr/>
        </p:nvSpPr>
        <p:spPr>
          <a:xfrm>
            <a:off x="8001000" y="4251960"/>
            <a:ext cx="3648456" cy="10058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8110727" y="4361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1" name="TIP text"/>
          <p:cNvSpPr txBox="1"/>
          <p:nvPr/>
        </p:nvSpPr>
        <p:spPr>
          <a:xfrm>
            <a:off x="8686800" y="4343400"/>
            <a:ext cx="28529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Nhóm query trợ giúp (Sample File, Transform File…): ĐỪNG XÓA. Làm sạch trên query gộp Sales.</a:t>
            </a:r>
          </a:p>
        </p:txBody>
      </p:sp>
      <p:sp>
        <p:nvSpPr>
          <p:cNvPr id="12" name="PRO TIP callout"/>
          <p:cNvSpPr/>
          <p:nvPr/>
        </p:nvSpPr>
        <p:spPr>
          <a:xfrm>
            <a:off x="1527048" y="5349240"/>
            <a:ext cx="10122408" cy="7772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 TIP chip"/>
          <p:cNvSpPr/>
          <p:nvPr/>
        </p:nvSpPr>
        <p:spPr>
          <a:xfrm>
            <a:off x="1636776" y="5458968"/>
            <a:ext cx="1005840" cy="320040"/>
          </a:xfrm>
          <a:prstGeom prst="roundRect">
            <a:avLst>
              <a:gd name="adj" fmla="val 2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230"/>
                </a:solidFill>
                <a:latin typeface="Arial"/>
              </a:rPr>
              <a:t>PRO TIP</a:t>
            </a:r>
          </a:p>
        </p:txBody>
      </p:sp>
      <p:sp>
        <p:nvSpPr>
          <p:cNvPr id="14" name="PRO TIP text"/>
          <p:cNvSpPr txBox="1"/>
          <p:nvPr/>
        </p:nvSpPr>
        <p:spPr>
          <a:xfrm>
            <a:off x="2734056" y="5440679"/>
            <a:ext cx="8805672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Tham số hóa đường dẫn thư mục (Home → Manage Parameters): chuyển máy chỉ sửa một chỗ — xem handout.</a:t>
            </a:r>
          </a:p>
        </p:txBody>
      </p:sp>
      <p:sp>
        <p:nvSpPr>
          <p:cNvPr id="15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Data → Get Data → From File → From Folder → Practice/Data_Sales/ · đếm: Transform → Count Rows; tổng: Statistics → Sum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Merge Queries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5 · APPEND &amp; MERGE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1732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Home → Merge Queries ▾ → Merge Queries as New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874519"/>
            <a:ext cx="101224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Nối NGANG hai bảng theo cột chung — đúng như XLOOKUP nhưng làm ở CẤP CẢ BẢNG, không phải từng ô.</a:t>
            </a:r>
          </a:p>
        </p:txBody>
      </p:sp>
      <p:sp>
        <p:nvSpPr>
          <p:cNvPr id="6" name="Image placeholder [CHỤP]"/>
          <p:cNvSpPr/>
          <p:nvPr/>
        </p:nvSpPr>
        <p:spPr>
          <a:xfrm>
            <a:off x="1527048" y="2560320"/>
            <a:ext cx="4965192" cy="265176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709928" y="2651760"/>
            <a:ext cx="4599431" cy="24688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Merge: Sales × Product theo Product_Code, Left Outer — “matches 28328 of 28328 rows”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Merge Queries as New → S22a_merge_dialog.png</a:t>
            </a:r>
          </a:p>
        </p:txBody>
      </p:sp>
      <p:sp>
        <p:nvSpPr>
          <p:cNvPr id="8" name="Image placeholder [CHỤP]"/>
          <p:cNvSpPr/>
          <p:nvPr/>
        </p:nvSpPr>
        <p:spPr>
          <a:xfrm>
            <a:off x="6684264" y="2560320"/>
            <a:ext cx="4965192" cy="265176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6867144" y="2651760"/>
            <a:ext cx="4599431" cy="24688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Sales_Merge_Demo sau Expand: thêm cột Category, không dòng null, vẫn 28.328 dòng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Query Sales_Merge_Demo → S22b_merge_expand.png</a:t>
            </a:r>
          </a:p>
        </p:txBody>
      </p:sp>
      <p:sp>
        <p:nvSpPr>
          <p:cNvPr id="10" name="TIP callout"/>
          <p:cNvSpPr/>
          <p:nvPr/>
        </p:nvSpPr>
        <p:spPr>
          <a:xfrm>
            <a:off x="1527048" y="5349240"/>
            <a:ext cx="10122408" cy="868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1636776" y="545896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2" name="TIP text"/>
          <p:cNvSpPr txBox="1"/>
          <p:nvPr/>
        </p:nvSpPr>
        <p:spPr>
          <a:xfrm>
            <a:off x="2212848" y="5440679"/>
            <a:ext cx="9326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Merge ở đây CHỈ ĐỂ MINH HỌA (Merge as New, xem xong xóa). Product/Store/Customer load riêng, B5 nối bằng Relationship. Số dòng TĂNG sau Merge = lookup có khóa trùng (29.408 thay vì 28.328).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query Sales_Merge_Demo (Sales × Product, Practice/B4_Lookups.xlsx)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Các kiểu Join (Merge)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5 · APPEND &amp; MERGE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527048" y="1463040"/>
          <a:ext cx="10122408" cy="3291840"/>
        </p:xfrm>
        <a:graphic>
          <a:graphicData uri="http://schemas.openxmlformats.org/drawingml/2006/table">
            <a:tbl>
              <a:tblPr firstRow="1" bandRow="0"/>
              <a:tblGrid>
                <a:gridCol w="1463040"/>
                <a:gridCol w="1920240"/>
                <a:gridCol w="3931920"/>
                <a:gridCol w="2807208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Phần giữ lại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Join Kind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Kết quả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Giống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Left Outer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Giữ hết bảng trái, thêm cột nếu khớp bảng phải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XLOOKUP (không thấy → null)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Inner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Chỉ giữ dòng khớp ở CẢ HAI bảng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INNER JOIN (SQL)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Right Outer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Giữ hết bảng phải, thêm cột từ bảng trái nếu khớp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Left Outer đổi chiều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Left Anti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Chỉ giữ dòng bảng trái KHÔNG khớp bảng phải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Tìm “dòng mồ côi”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Venn left trái"/>
          <p:cNvSpPr/>
          <p:nvPr/>
        </p:nvSpPr>
        <p:spPr>
          <a:xfrm>
            <a:off x="1865376" y="2212848"/>
            <a:ext cx="475488" cy="47548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enn left phải"/>
          <p:cNvSpPr/>
          <p:nvPr/>
        </p:nvSpPr>
        <p:spPr>
          <a:xfrm>
            <a:off x="2174443" y="2212848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Venn left giao"/>
          <p:cNvSpPr/>
          <p:nvPr/>
        </p:nvSpPr>
        <p:spPr>
          <a:xfrm>
            <a:off x="2174443" y="2269906"/>
            <a:ext cx="166420" cy="36137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Venn left viền trái"/>
          <p:cNvSpPr/>
          <p:nvPr/>
        </p:nvSpPr>
        <p:spPr>
          <a:xfrm>
            <a:off x="1865376" y="2212848"/>
            <a:ext cx="475488" cy="475488"/>
          </a:xfrm>
          <a:prstGeom prst="ellipse">
            <a:avLst/>
          </a:prstGeom>
          <a:noFill/>
          <a:ln w="15875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enn left viền phải"/>
          <p:cNvSpPr/>
          <p:nvPr/>
        </p:nvSpPr>
        <p:spPr>
          <a:xfrm>
            <a:off x="2174443" y="2212848"/>
            <a:ext cx="475488" cy="475488"/>
          </a:xfrm>
          <a:prstGeom prst="ellipse">
            <a:avLst/>
          </a:prstGeom>
          <a:noFill/>
          <a:ln w="15875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enn inner trái"/>
          <p:cNvSpPr/>
          <p:nvPr/>
        </p:nvSpPr>
        <p:spPr>
          <a:xfrm>
            <a:off x="1865376" y="2871216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Venn inner phải"/>
          <p:cNvSpPr/>
          <p:nvPr/>
        </p:nvSpPr>
        <p:spPr>
          <a:xfrm>
            <a:off x="2174443" y="2871216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Venn inner giao"/>
          <p:cNvSpPr/>
          <p:nvPr/>
        </p:nvSpPr>
        <p:spPr>
          <a:xfrm>
            <a:off x="2174443" y="2928274"/>
            <a:ext cx="166420" cy="36137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Venn inner viền trái"/>
          <p:cNvSpPr/>
          <p:nvPr/>
        </p:nvSpPr>
        <p:spPr>
          <a:xfrm>
            <a:off x="1865376" y="2871216"/>
            <a:ext cx="475488" cy="475488"/>
          </a:xfrm>
          <a:prstGeom prst="ellipse">
            <a:avLst/>
          </a:prstGeom>
          <a:noFill/>
          <a:ln w="15875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enn inner viền phải"/>
          <p:cNvSpPr/>
          <p:nvPr/>
        </p:nvSpPr>
        <p:spPr>
          <a:xfrm>
            <a:off x="2174443" y="2871216"/>
            <a:ext cx="475488" cy="475488"/>
          </a:xfrm>
          <a:prstGeom prst="ellipse">
            <a:avLst/>
          </a:prstGeom>
          <a:noFill/>
          <a:ln w="15875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Venn right trái"/>
          <p:cNvSpPr/>
          <p:nvPr/>
        </p:nvSpPr>
        <p:spPr>
          <a:xfrm>
            <a:off x="1865376" y="3529584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Venn right phải"/>
          <p:cNvSpPr/>
          <p:nvPr/>
        </p:nvSpPr>
        <p:spPr>
          <a:xfrm>
            <a:off x="2174443" y="3529584"/>
            <a:ext cx="475488" cy="47548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Venn right giao"/>
          <p:cNvSpPr/>
          <p:nvPr/>
        </p:nvSpPr>
        <p:spPr>
          <a:xfrm>
            <a:off x="2174443" y="3586642"/>
            <a:ext cx="166420" cy="36137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enn right viền trái"/>
          <p:cNvSpPr/>
          <p:nvPr/>
        </p:nvSpPr>
        <p:spPr>
          <a:xfrm>
            <a:off x="1865376" y="3529584"/>
            <a:ext cx="475488" cy="475488"/>
          </a:xfrm>
          <a:prstGeom prst="ellipse">
            <a:avLst/>
          </a:prstGeom>
          <a:noFill/>
          <a:ln w="15875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Venn right viền phải"/>
          <p:cNvSpPr/>
          <p:nvPr/>
        </p:nvSpPr>
        <p:spPr>
          <a:xfrm>
            <a:off x="2174443" y="3529584"/>
            <a:ext cx="475488" cy="475488"/>
          </a:xfrm>
          <a:prstGeom prst="ellipse">
            <a:avLst/>
          </a:prstGeom>
          <a:noFill/>
          <a:ln w="15875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enn anti trái"/>
          <p:cNvSpPr/>
          <p:nvPr/>
        </p:nvSpPr>
        <p:spPr>
          <a:xfrm>
            <a:off x="1865376" y="4187952"/>
            <a:ext cx="475488" cy="47548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enn anti phải"/>
          <p:cNvSpPr/>
          <p:nvPr/>
        </p:nvSpPr>
        <p:spPr>
          <a:xfrm>
            <a:off x="2174443" y="4187952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enn anti giao"/>
          <p:cNvSpPr/>
          <p:nvPr/>
        </p:nvSpPr>
        <p:spPr>
          <a:xfrm>
            <a:off x="2174443" y="4245010"/>
            <a:ext cx="166420" cy="36137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enn anti viền trái"/>
          <p:cNvSpPr/>
          <p:nvPr/>
        </p:nvSpPr>
        <p:spPr>
          <a:xfrm>
            <a:off x="1865376" y="4187952"/>
            <a:ext cx="475488" cy="475488"/>
          </a:xfrm>
          <a:prstGeom prst="ellipse">
            <a:avLst/>
          </a:prstGeom>
          <a:noFill/>
          <a:ln w="15875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enn anti viền phải"/>
          <p:cNvSpPr/>
          <p:nvPr/>
        </p:nvSpPr>
        <p:spPr>
          <a:xfrm>
            <a:off x="2174443" y="4187952"/>
            <a:ext cx="475488" cy="475488"/>
          </a:xfrm>
          <a:prstGeom prst="ellipse">
            <a:avLst/>
          </a:prstGeom>
          <a:noFill/>
          <a:ln w="15875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IP callout"/>
          <p:cNvSpPr/>
          <p:nvPr/>
        </p:nvSpPr>
        <p:spPr>
          <a:xfrm>
            <a:off x="1527048" y="5074920"/>
            <a:ext cx="10122408" cy="10515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"/>
          <p:cNvSpPr txBox="1"/>
          <p:nvPr/>
        </p:nvSpPr>
        <p:spPr>
          <a:xfrm>
            <a:off x="1636776" y="518464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27" name="TIP text"/>
          <p:cNvSpPr txBox="1"/>
          <p:nvPr/>
        </p:nvSpPr>
        <p:spPr>
          <a:xfrm>
            <a:off x="2212848" y="5166359"/>
            <a:ext cx="9326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Kiểm tra chất lượng bằng Left Anti: Merge Sales × Product, Join Kind = Left Anti — ra 0 dòng nghĩa là mọi Product_Code trong Sales đều có trong danh mục.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Bảng Calendar: trục thời gian cho mọi bảng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Calendar: Blank Query → List.Dates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6 · CALENDAR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1732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rgbClr val="C00000"/>
                </a:solidFill>
                <a:latin typeface="Arial"/>
              </a:rPr>
              <a:t>New Source → Blank Query · List.Dates · Add Column → Date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874519"/>
            <a:ext cx="101224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Bảng có ĐỦ MỌI NGÀY LIÊN TỤC trong các năm cần phân tích, kèm Năm / Tháng / Quý / Thứ — trục thời gian chung cho Sales và Target ở B5.</a:t>
            </a:r>
          </a:p>
        </p:txBody>
      </p:sp>
      <p:sp>
        <p:nvSpPr>
          <p:cNvPr id="6" name="Formula bar"/>
          <p:cNvSpPr/>
          <p:nvPr/>
        </p:nvSpPr>
        <p:spPr>
          <a:xfrm>
            <a:off x="1527048" y="2514600"/>
            <a:ext cx="6309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618488" y="2514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 i="1">
                <a:solidFill>
                  <a:srgbClr val="6B6F76"/>
                </a:solidFill>
                <a:latin typeface="Arial"/>
              </a:rPr>
              <a:t>fx</a:t>
            </a:r>
          </a:p>
        </p:txBody>
      </p:sp>
      <p:sp>
        <p:nvSpPr>
          <p:cNvPr id="8" name="Formula"/>
          <p:cNvSpPr txBox="1"/>
          <p:nvPr/>
        </p:nvSpPr>
        <p:spPr>
          <a:xfrm>
            <a:off x="2075688" y="2514600"/>
            <a:ext cx="5669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= List.Dates(#date(2024,1,1), 731, #duration(1,0,0,0))</a:t>
            </a:r>
          </a:p>
        </p:txBody>
      </p:sp>
      <p:sp>
        <p:nvSpPr>
          <p:cNvPr id="9" name="Image placeholder [CHỤP]"/>
          <p:cNvSpPr/>
          <p:nvPr/>
        </p:nvSpPr>
        <p:spPr>
          <a:xfrm>
            <a:off x="1527048" y="3063240"/>
            <a:ext cx="6309360" cy="219456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1709928" y="3154680"/>
            <a:ext cx="5943600" cy="20116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Calendar: Date, Nam, Thang, Quy, Thu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Query Calendar (Blank Query) → S25_calendar.png</a:t>
            </a:r>
          </a:p>
        </p:txBody>
      </p:sp>
      <p:sp>
        <p:nvSpPr>
          <p:cNvPr id="11" name="Stat card"/>
          <p:cNvSpPr/>
          <p:nvPr/>
        </p:nvSpPr>
        <p:spPr>
          <a:xfrm>
            <a:off x="8001000" y="2514600"/>
            <a:ext cx="3648456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"/>
          <p:cNvSpPr txBox="1"/>
          <p:nvPr/>
        </p:nvSpPr>
        <p:spPr>
          <a:xfrm>
            <a:off x="8183879" y="2606040"/>
            <a:ext cx="3282696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01/01/2024 – 31/12/2025</a:t>
            </a:r>
          </a:p>
          <a:p>
            <a:pPr>
              <a:spcBef>
                <a:spcPts val="200"/>
              </a:spcBef>
            </a:pPr>
            <a:r>
              <a:rPr sz="2600" b="1">
                <a:solidFill>
                  <a:srgbClr val="203864"/>
                </a:solidFill>
                <a:latin typeface="Arial"/>
              </a:rPr>
              <a:t>731 dòng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2024 nhuận 366 + 2025 365</a:t>
            </a:r>
          </a:p>
        </p:txBody>
      </p:sp>
      <p:sp>
        <p:nvSpPr>
          <p:cNvPr id="13" name="TIP callout"/>
          <p:cNvSpPr/>
          <p:nvPr/>
        </p:nvSpPr>
        <p:spPr>
          <a:xfrm>
            <a:off x="8001000" y="3977639"/>
            <a:ext cx="3648456" cy="12801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"/>
          <p:cNvSpPr txBox="1"/>
          <p:nvPr/>
        </p:nvSpPr>
        <p:spPr>
          <a:xfrm>
            <a:off x="8110727" y="408736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5" name="TIP text"/>
          <p:cNvSpPr txBox="1"/>
          <p:nvPr/>
        </p:nvSpPr>
        <p:spPr>
          <a:xfrm>
            <a:off x="8686800" y="4069079"/>
            <a:ext cx="285292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Liên tục, phủ trọn các năm của mọi bảng fact (Target đủ 12 tháng 2025). Mùng 1 Tết: 10/02/2024 · 29/01/2025.</a:t>
            </a:r>
          </a:p>
        </p:txBody>
      </p:sp>
      <p:sp>
        <p:nvSpPr>
          <p:cNvPr id="16" name="PRO 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RO TIP chip"/>
          <p:cNvSpPr/>
          <p:nvPr/>
        </p:nvSpPr>
        <p:spPr>
          <a:xfrm>
            <a:off x="1636776" y="5504688"/>
            <a:ext cx="1005840" cy="320040"/>
          </a:xfrm>
          <a:prstGeom prst="roundRect">
            <a:avLst>
              <a:gd name="adj" fmla="val 2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230"/>
                </a:solidFill>
                <a:latin typeface="Arial"/>
              </a:rPr>
              <a:t>PRO TIP</a:t>
            </a:r>
          </a:p>
        </p:txBody>
      </p:sp>
      <p:sp>
        <p:nvSpPr>
          <p:cNvPr id="18" name="PRO TIP text"/>
          <p:cNvSpPr txBox="1"/>
          <p:nvPr/>
        </p:nvSpPr>
        <p:spPr>
          <a:xfrm>
            <a:off x="2734056" y="5486400"/>
            <a:ext cx="8805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Rolling calendar: điểm cuối tự lấy theo ngày hiện tại bằng DateTime.LocalNow() — xem handout.</a:t>
            </a:r>
          </a:p>
        </p:txBody>
      </p:sp>
      <p:sp>
        <p:nvSpPr>
          <p:cNvPr id="19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query Calendar (Blank Query) trong B4_&lt;HoTen&gt;.xlsx · không lấy Calendar từ Order_Date: ngày không có đơn sẽ bị thiếu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Load: đưa các bảng sạch vào đúng chỗ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Close &amp; Load To · Data Model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7 · LOAD &amp; ĐỐI SOÁT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1732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rgbClr val="C00000"/>
                </a:solidFill>
                <a:latin typeface="Arial"/>
              </a:rPr>
              <a:t>Close &amp; Load To…  ·  chuột phải query → Load To…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874519"/>
            <a:ext cx="101224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Chọn nơi mỗi query đi tới: Table (ra sheet) · Only Create Connection (chỉ lưu các bước) · ☑ Add this data to the Data Model.</a:t>
            </a:r>
          </a:p>
        </p:txBody>
      </p:sp>
      <p:sp>
        <p:nvSpPr>
          <p:cNvPr id="6" name="Image placeholder [CHỤP]"/>
          <p:cNvSpPr/>
          <p:nvPr/>
        </p:nvSpPr>
        <p:spPr>
          <a:xfrm>
            <a:off x="1527048" y="2606040"/>
            <a:ext cx="6309360" cy="256032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709928" y="2697480"/>
            <a:ext cx="5943600" cy="2377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Queries &amp; Connections: 6 query + nhóm trợ giúp của From Folder; “28,328 rows loaded” dưới Sales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B4_&lt;HoTen&gt;.xlsx, Data → Queries &amp; Connections → S27_queries_pane.png</a:t>
            </a:r>
          </a:p>
        </p:txBody>
      </p:sp>
      <p:graphicFrame>
        <p:nvGraphicFramePr>
          <p:cNvPr id="8" name="Row counts"/>
          <p:cNvGraphicFramePr>
            <a:graphicFrameLocks noGrp="1"/>
          </p:cNvGraphicFramePr>
          <p:nvPr/>
        </p:nvGraphicFramePr>
        <p:xfrm>
          <a:off x="8001000" y="2606040"/>
          <a:ext cx="3648456" cy="2560320"/>
        </p:xfrm>
        <a:graphic>
          <a:graphicData uri="http://schemas.openxmlformats.org/drawingml/2006/table">
            <a:tbl>
              <a:tblPr firstRow="1" bandRow="0"/>
              <a:tblGrid>
                <a:gridCol w="2011680"/>
                <a:gridCol w="1636776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Bảng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Số dòng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Sales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28.328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Product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Store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Customer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1.500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Calendar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731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IP callout"/>
          <p:cNvSpPr/>
          <p:nvPr/>
        </p:nvSpPr>
        <p:spPr>
          <a:xfrm>
            <a:off x="1527048" y="5303520"/>
            <a:ext cx="10122408" cy="868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1636776" y="541324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1" name="TIP text"/>
          <p:cNvSpPr txBox="1"/>
          <p:nvPr/>
        </p:nvSpPr>
        <p:spPr>
          <a:xfrm>
            <a:off x="2212848" y="5394959"/>
            <a:ext cx="9326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Sales → Table + Data Model. Product/Store/Customer/Target/Calendar → Only Create Connection + Data Model, KHÔNG Merge vào Sales. Sales → Properties → bỏ tick Enable background refresh.</a:t>
            </a:r>
          </a:p>
        </p:txBody>
      </p:sp>
      <p:sp>
        <p:nvSpPr>
          <p:cNvPr id="12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B4_&lt;HoTen&gt;.xlsx, Data → Queries &amp; Connections · Pivot PV_Refresh (Nam × Thang) phải ra 28.328 dòng, 4.139.884.500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Thực hành 1: Thả tháng 4, Refresh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8 · THỰC HÀNH</a:t>
            </a:r>
          </a:p>
        </p:txBody>
      </p:sp>
      <p:sp>
        <p:nvSpPr>
          <p:cNvPr id="4" name="Time chip"/>
          <p:cNvSpPr/>
          <p:nvPr/>
        </p:nvSpPr>
        <p:spPr>
          <a:xfrm>
            <a:off x="1527048" y="1463040"/>
            <a:ext cx="1399032" cy="36576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10 phút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2011680"/>
            <a:ext cx="630936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1. </a:t>
            </a:r>
            <a:r>
              <a:rPr sz="1600" b="0">
                <a:solidFill>
                  <a:srgbClr val="1B2230"/>
                </a:solidFill>
                <a:latin typeface="Arial"/>
              </a:rPr>
              <a:t>Ghi lại TRƯỚC khi Refresh: Grand Total của PV_Refresh (28.328 dòng · 4.139.884.500).</a:t>
            </a: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203864"/>
                </a:solidFill>
                <a:latin typeface="Arial"/>
              </a:rPr>
              <a:t>2. </a:t>
            </a:r>
            <a:r>
              <a:rPr sz="1600" b="0">
                <a:solidFill>
                  <a:srgbClr val="1B2230"/>
                </a:solidFill>
                <a:latin typeface="Arial"/>
              </a:rPr>
              <a:t>Copy Practice/New_Month/Sales_2025-04.csv vào ĐÚNG thư mục Practice/Data_Sales/.</a:t>
            </a: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203864"/>
                </a:solidFill>
                <a:latin typeface="Arial"/>
              </a:rPr>
              <a:t>3. </a:t>
            </a:r>
            <a:r>
              <a:rPr sz="1600" b="0">
                <a:solidFill>
                  <a:srgbClr val="1B2230"/>
                </a:solidFill>
                <a:latin typeface="Arial"/>
              </a:rPr>
              <a:t>Data → Refresh All (hoặc Ctrl+Alt+F5).</a:t>
            </a: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203864"/>
                </a:solidFill>
                <a:latin typeface="Arial"/>
              </a:rPr>
              <a:t>4. </a:t>
            </a:r>
            <a:r>
              <a:rPr sz="1600" b="0">
                <a:solidFill>
                  <a:srgbClr val="1B2230"/>
                </a:solidFill>
                <a:latin typeface="Arial"/>
              </a:rPr>
              <a:t>Quan sát: PV_Refresh có thêm dòng 2025 · 4, Grand Total tự đổi — KHÔNG sửa một bước nào.</a:t>
            </a:r>
          </a:p>
        </p:txBody>
      </p:sp>
      <p:sp>
        <p:nvSpPr>
          <p:cNvPr id="6" name="Check box"/>
          <p:cNvSpPr/>
          <p:nvPr/>
        </p:nvSpPr>
        <p:spPr>
          <a:xfrm>
            <a:off x="8110727" y="1463040"/>
            <a:ext cx="3538728" cy="4572000"/>
          </a:xfrm>
          <a:prstGeom prst="roundRect">
            <a:avLst>
              <a:gd name="adj" fmla="val 3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8293608" y="1600200"/>
            <a:ext cx="3172968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Kiểm tra sau Refresh</a:t>
            </a:r>
          </a:p>
          <a:p>
            <a:pPr>
              <a:spcBef>
                <a:spcPts val="800"/>
              </a:spcBef>
            </a:pPr>
            <a:r>
              <a:rPr sz="2600" b="1">
                <a:solidFill>
                  <a:srgbClr val="203864"/>
                </a:solidFill>
                <a:latin typeface="Arial"/>
              </a:rPr>
              <a:t>30.247 dòng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203864"/>
                </a:solidFill>
                <a:latin typeface="Arial"/>
              </a:rPr>
              <a:t>4.436.849.500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Dòng 2025 · 4: 1.919 dòng · 296.965.000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Đây là khoảnh khắc D3 của khóa học</a:t>
            </a:r>
          </a:p>
        </p:txBody>
      </p:sp>
      <p:sp>
        <p:nvSpPr>
          <p:cNvPr id="8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File tháng 4: Practice/New_Month/Sales_2025-04.csv (1.920 dòng thô)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Thực hành 2: Đối soát &amp; chữa bài nhanh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8 · THỰC HÀNH</a:t>
            </a:r>
          </a:p>
        </p:txBody>
      </p:sp>
      <p:sp>
        <p:nvSpPr>
          <p:cNvPr id="4" name="Time chip"/>
          <p:cNvSpPr/>
          <p:nvPr/>
        </p:nvSpPr>
        <p:spPr>
          <a:xfrm>
            <a:off x="1527048" y="1463040"/>
            <a:ext cx="1399032" cy="36576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10 phút</a:t>
            </a:r>
          </a:p>
        </p:txBody>
      </p:sp>
      <p:sp>
        <p:nvSpPr>
          <p:cNvPr id="5" name="Checkbox 1"/>
          <p:cNvSpPr/>
          <p:nvPr/>
        </p:nvSpPr>
        <p:spPr>
          <a:xfrm>
            <a:off x="1527048" y="224028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2075688" y="2011680"/>
            <a:ext cx="957376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Sales sau Refresh: 30.247 dòng, 4.436.849.500 (tăng đúng 1.919 dòng, 296.965.000)</a:t>
            </a:r>
          </a:p>
        </p:txBody>
      </p:sp>
      <p:sp>
        <p:nvSpPr>
          <p:cNvPr id="7" name="Checkbox 2"/>
          <p:cNvSpPr/>
          <p:nvPr/>
        </p:nvSpPr>
        <p:spPr>
          <a:xfrm>
            <a:off x="1527048" y="315468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2075688" y="2926080"/>
            <a:ext cx="957376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PV_Refresh tự có dòng 2025 · 4 mà không sửa bước nào; lọc Store_Code = ST12: dòng đầu tiên là 06/2024</a:t>
            </a:r>
          </a:p>
        </p:txBody>
      </p:sp>
      <p:sp>
        <p:nvSpPr>
          <p:cNvPr id="9" name="Checkbox 3"/>
          <p:cNvSpPr/>
          <p:nvPr/>
        </p:nvSpPr>
        <p:spPr>
          <a:xfrm>
            <a:off x="1527048" y="406908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2075688" y="3840480"/>
            <a:ext cx="957376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Product 40 dòng · Store 12 · Customer 1.500 · Target 144 · Calendar 731</a:t>
            </a:r>
          </a:p>
        </p:txBody>
      </p:sp>
      <p:sp>
        <p:nvSpPr>
          <p:cNvPr id="11" name="Checkbox 4"/>
          <p:cNvSpPr/>
          <p:nvPr/>
        </p:nvSpPr>
        <p:spPr>
          <a:xfrm>
            <a:off x="1527048" y="498348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"/>
          <p:cNvSpPr txBox="1"/>
          <p:nvPr/>
        </p:nvSpPr>
        <p:spPr>
          <a:xfrm>
            <a:off x="2075688" y="4754880"/>
            <a:ext cx="957376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Product/Store/Customer/Target/Calendar: Only Create Connection + Data Model, không Merge vào Sales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Ghi số dòng và doanh thu trước / sau Refresh cạnh PV_Refresh · Đối chiếu: Practice/B4_MCI_Mart_Answer.xlsx, sheet Kiem_tra_B4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Excel Quiz Challenge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7 câu hỏi nhanh · câu 6–7 là tình huống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1: Applied Steps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Refresh một query sau khi file nguồn có dữ liệu mới. Các bước làm sạch có phải làm lại bằng tay không?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Không, Applied Steps tự chạy lại theo đúng thứ tự đã ghi</a:t>
            </a:r>
          </a:p>
        </p:txBody>
      </p:sp>
      <p:sp>
        <p:nvSpPr>
          <p:cNvPr id="10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Có, mỗi lần Refresh phải làm lại từ đầu</a:t>
            </a:r>
          </a:p>
        </p:txBody>
      </p:sp>
      <p:sp>
        <p:nvSpPr>
          <p:cNvPr id="13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Chỉ bước đầu tiên tự chạy lại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Chỉ khi mở lại Query Editor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2: Locale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Cột ngày 13/01/2025 (dd/mm/yyyy) bị báo lỗi khi Change Type sang Date. Nguyên nhân khả dĩ nhất?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File bị hỏng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Cột đang là số</a:t>
            </a:r>
          </a:p>
        </p:txBody>
      </p:sp>
      <p:sp>
        <p:nvSpPr>
          <p:cNvPr id="11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Đang đổi kiểu theo locale mặc định (mm/dd), không phải Using Locale kiểu Việt Nam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Thiếu bước Trim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3: Remove Duplicates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Product có mã P015 xuất hiện 2 dòng. Nếu Merge Sales với Product mà CHƯA Remove Duplicates, hậu quả là gì?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Merge báo lỗi ngay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Cột Category bị để trống</a:t>
            </a:r>
          </a:p>
        </p:txBody>
      </p:sp>
      <p:sp>
        <p:nvSpPr>
          <p:cNvPr id="11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Không ảnh hưởng gì</a:t>
            </a:r>
          </a:p>
        </p:txBody>
      </p:sp>
      <p:sp>
        <p:nvSpPr>
          <p:cNvPr id="14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Số dòng Sales sau Merge tăng lên (dòng P015 bị nhân đôi)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4: Unpivot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Bảng Target_2025 có các cột Tháng 1 … Tháng 12. Muốn đưa về dạng tidy (Store_Code, Thang, Target), dùng công cụ nào?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Pivot Column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Unpivot Columns</a:t>
            </a:r>
          </a:p>
        </p:txBody>
      </p:sp>
      <p:sp>
        <p:nvSpPr>
          <p:cNvPr id="13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Transpose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Group By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5: Append vs Merge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Bốn file CSV theo tháng, cùng 8 cột, muốn gộp thành một bảng dài hơn. Nên dùng công cụ nào?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Append Queries (hoặc From Folder)</a:t>
            </a:r>
          </a:p>
        </p:txBody>
      </p:sp>
      <p:sp>
        <p:nvSpPr>
          <p:cNvPr id="10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Merge Queries</a:t>
            </a:r>
          </a:p>
        </p:txBody>
      </p:sp>
      <p:sp>
        <p:nvSpPr>
          <p:cNvPr id="13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Group By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Unpivot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6: Tình huống — Refresh lỗi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0">
                <a:solidFill>
                  <a:srgbClr val="1B2230"/>
                </a:solidFill>
                <a:latin typeface="Arial"/>
              </a:rPr>
              <a:t>File CSV mới đổi tên cột Store_Code thành StoreCode. Refresh báo lỗi ở bước Trim cột Store_Code. Nguyên nhân?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File bị hỏng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Do chưa Remove Duplicates</a:t>
            </a:r>
          </a:p>
        </p:txBody>
      </p:sp>
      <p:sp>
        <p:nvSpPr>
          <p:cNvPr id="11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Do thiếu Using Locale</a:t>
            </a:r>
          </a:p>
        </p:txBody>
      </p:sp>
      <p:sp>
        <p:nvSpPr>
          <p:cNvPr id="14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Bước Trim gọi đích danh tên cột Store_Code, cột đó không còn tồn tại với tên mới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7: Tình huống — Chọn công cụ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Nghi ngờ vài dòng Sales ghi Product_Code sai chính tả, không khớp Product nào. Cách kiểm tra nhanh nhất?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Đọc từng dòng bằng mắt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Group By theo Product_Code</a:t>
            </a:r>
          </a:p>
        </p:txBody>
      </p:sp>
      <p:sp>
        <p:nvSpPr>
          <p:cNvPr id="11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Merge Sales với Product, Join Kind = Left Anti, xem có dòng nào không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Xoá cột Product_Code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Tổng kết &amp; insight của bạn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Điểm chính cần nhớ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201168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(1) Applied Steps = công thức làm sạch được ghi lại, tự chạy lại khi Refresh.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B2230"/>
                </a:solidFill>
                <a:latin typeface="Arial"/>
              </a:rPr>
              <a:t>(2) Xóa Changed Type tự động; ngày và số của dữ liệu Việt Nam đổi kiểu bằng Using Locale.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B2230"/>
                </a:solidFill>
                <a:latin typeface="Arial"/>
              </a:rPr>
              <a:t>(3) Remove Duplicates ở lookup TRƯỚC khi Merge hoặc tạo Relationship.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B2230"/>
                </a:solidFill>
                <a:latin typeface="Arial"/>
              </a:rPr>
              <a:t>(4) Unpivot đưa bảng cột-tháng về tidy; Append / From Folder nối dọc, Merge nối ngang.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B2230"/>
                </a:solidFill>
                <a:latin typeface="Arial"/>
              </a:rPr>
              <a:t>(5) Đối soát số dòng/tổng sau mỗi bước; lookup load riêng (Only Create Connection + Data Model).</a:t>
            </a:r>
          </a:p>
        </p:txBody>
      </p:sp>
      <p:sp>
        <p:nvSpPr>
          <p:cNvPr id="6" name="Insight box"/>
          <p:cNvSpPr/>
          <p:nvPr/>
        </p:nvSpPr>
        <p:spPr>
          <a:xfrm>
            <a:off x="6373368" y="1508760"/>
            <a:ext cx="5276088" cy="3474720"/>
          </a:xfrm>
          <a:prstGeom prst="roundRect">
            <a:avLst>
              <a:gd name="adj" fmla="val 3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6556248" y="1645920"/>
            <a:ext cx="49103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Insight của bạn (1 câu)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6556248" y="2148840"/>
            <a:ext cx="4910328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0">
                <a:solidFill>
                  <a:srgbClr val="1B2230"/>
                </a:solidFill>
                <a:latin typeface="Arial"/>
              </a:rPr>
              <a:t>“Sau khi gộp và Refresh, ___ (con số), phát hiện ___ (bất thường), nên ___ (hàm ý).”</a:t>
            </a:r>
          </a:p>
        </p:txBody>
      </p:sp>
      <p:sp>
        <p:nvSpPr>
          <p:cNvPr id="9" name="Tag Con số"/>
          <p:cNvSpPr/>
          <p:nvPr/>
        </p:nvSpPr>
        <p:spPr>
          <a:xfrm>
            <a:off x="6556248" y="4389120"/>
            <a:ext cx="1545336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Con số</a:t>
            </a:r>
          </a:p>
        </p:txBody>
      </p:sp>
      <p:sp>
        <p:nvSpPr>
          <p:cNvPr id="10" name="Tag Bất thường"/>
          <p:cNvSpPr/>
          <p:nvPr/>
        </p:nvSpPr>
        <p:spPr>
          <a:xfrm>
            <a:off x="8238744" y="4389120"/>
            <a:ext cx="1545336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Bất thường</a:t>
            </a:r>
          </a:p>
        </p:txBody>
      </p:sp>
      <p:sp>
        <p:nvSpPr>
          <p:cNvPr id="11" name="Tag Hàm ý"/>
          <p:cNvSpPr/>
          <p:nvPr/>
        </p:nvSpPr>
        <p:spPr>
          <a:xfrm>
            <a:off x="9921240" y="4389120"/>
            <a:ext cx="1545336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Hàm ý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6373368" y="5120640"/>
            <a:ext cx="527608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Gợi ý: lọc PV_Refresh theo từng cửa hàng — một cửa hàng không có dòng nào suốt 5 tháng đầu 2024.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Buổi sau: Data Model &amp; DAX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6400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“Doanh thu tháng này đạt bao nhiêu % mục tiêu, và vì sao mỗi báo cáo cũ lại ra một con số khác nhau?”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260604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1B2230"/>
                </a:solidFill>
                <a:latin typeface="Arial"/>
              </a:rPr>
              <a:t>Giới hạn hôm nay: </a:t>
            </a:r>
            <a:r>
              <a:rPr sz="1500" b="0">
                <a:solidFill>
                  <a:srgbClr val="1B2230"/>
                </a:solidFill>
                <a:latin typeface="Arial"/>
              </a:rPr>
              <a:t>6 bảng sạch nhưng đứng rời nhau. Muốn phân tích Sales và Target cùng lúc mà không gộp thành một bảng khổng lồ?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527048" y="3566160"/>
            <a:ext cx="64008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203864"/>
                </a:solidFill>
                <a:latin typeface="Arial"/>
              </a:rPr>
              <a:t>Về nhà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1B2230"/>
                </a:solidFill>
                <a:latin typeface="Arial"/>
              </a:rPr>
              <a:t>Bài tập về nhà (bắt buộc): </a:t>
            </a:r>
            <a:r>
              <a:rPr sz="1500" b="0">
                <a:solidFill>
                  <a:srgbClr val="1B2230"/>
                </a:solidFill>
                <a:latin typeface="Arial"/>
              </a:rPr>
              <a:t>B4_BTVN_MCI_Mart_T4_2025.xlsx + thư mục B4_BTVN_Du_lieu — 12 file CSV tháng 4, mỗi cửa hàng một file: From Folder, làm sạch, Left Anti, đối soát với hệ thống, % đạt target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Nộp trước Buổi 5 tại hocvien.mcivietnam.com · đọc handout B4 · tick “Checklist trước Buổi 5”</a:t>
            </a:r>
          </a:p>
        </p:txBody>
      </p:sp>
      <p:sp>
        <p:nvSpPr>
          <p:cNvPr id="7" name="Brick B4"/>
          <p:cNvSpPr/>
          <p:nvPr/>
        </p:nvSpPr>
        <p:spPr>
          <a:xfrm>
            <a:off x="8293608" y="4206240"/>
            <a:ext cx="3355848" cy="91440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8385048" y="420624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✓  B4 · Pipeline Power Query</a:t>
            </a:r>
          </a:p>
        </p:txBody>
      </p:sp>
      <p:sp>
        <p:nvSpPr>
          <p:cNvPr id="9" name="Brick B5"/>
          <p:cNvSpPr/>
          <p:nvPr/>
        </p:nvSpPr>
        <p:spPr>
          <a:xfrm>
            <a:off x="8293608" y="3017520"/>
            <a:ext cx="3355848" cy="914400"/>
          </a:xfrm>
          <a:prstGeom prst="rect">
            <a:avLst/>
          </a:prstGeom>
          <a:solidFill>
            <a:srgbClr val="FFFFFF"/>
          </a:solidFill>
          <a:ln w="285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8385048" y="301752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B5 · Star schema + DAX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8293608" y="5212080"/>
            <a:ext cx="3355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585858"/>
                </a:solidFill>
                <a:latin typeface="Arial"/>
              </a:rPr>
              <a:t>File đáp án B4 (Practice/B4_MCI_Mart_Answer.xlsx) là file khởi đầu Buổi 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90271072606]">
  <a:themeElements>
    <a:clrScheme name="MCI Excel BI">
      <a:dk1>
        <a:srgbClr val="1B2230"/>
      </a:dk1>
      <a:lt1>
        <a:srgbClr val="FFFFFF"/>
      </a:lt1>
      <a:dk2>
        <a:srgbClr val="203864"/>
      </a:dk2>
      <a:lt2>
        <a:srgbClr val="F3F5F9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E87BA4"/>
      </a:accent5>
      <a:accent6>
        <a:srgbClr val="4A3AA7"/>
      </a:accent6>
      <a:hlink>
        <a:srgbClr val="1F6FB2"/>
      </a:hlink>
      <a:folHlink>
        <a:srgbClr val="4A3AA7"/>
      </a:folHlink>
    </a:clrScheme>
    <a:fontScheme name="MCI Excel BI">
      <a:majorFont>
        <a:latin typeface="Arial" panose="020B06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B06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CE0948F-3C23-C840-978A-6EB6AAFD5E15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3f0c363d-f4d0-4e96-80cc-6a7c60642f0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10047</Words>
  <Application>Microsoft Office PowerPoint</Application>
  <PresentationFormat>Widescreen</PresentationFormat>
  <Paragraphs>707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Aptos</vt:lpstr>
      <vt:lpstr>Arial</vt:lpstr>
      <vt:lpstr>Office Theme [1790271072606]</vt:lpstr>
      <vt:lpstr>Excel for Business Intelligence Analyst</vt:lpstr>
      <vt:lpstr>Câu hỏi mở buổi</vt:lpstr>
      <vt:lpstr>Quy trình BI 5 bước</vt:lpstr>
      <vt:lpstr>Bản đồ 7 viên gạch &amp; thang 5 tầng câu hỏi</vt:lpstr>
      <vt:lpstr>Case khóa học: chuỗi bán lẻ MCI Mart</vt:lpstr>
      <vt:lpstr>1. Excel dùng cho BI: phiên bản &amp; chuẩn bị máy</vt:lpstr>
      <vt:lpstr>So sánh phiên bản Excel cho BI</vt:lpstr>
      <vt:lpstr>Xác nhận kiểm tra máy</vt:lpstr>
      <vt:lpstr>2. Giao diện Excel: những gì người làm BI dùng hằng ngày</vt:lpstr>
      <vt:lpstr>Giao diện chính</vt:lpstr>
      <vt:lpstr>8 tab Ribbon: tab nào dùng ở buổi nào</vt:lpstr>
      <vt:lpstr>3. Phím tắt: làm việc với dữ liệu lớn không cần chuột</vt:lpstr>
      <vt:lpstr>Ctrl Shortcuts</vt:lpstr>
      <vt:lpstr>Fn Shortcuts</vt:lpstr>
      <vt:lpstr>Alt Key Tips &amp; Quick Access Toolbar</vt:lpstr>
      <vt:lpstr>Nghỉ 10 phút</vt:lpstr>
      <vt:lpstr>4. Công thức: viết đúng, sao chép đúng, tìm lỗi nhanh</vt:lpstr>
      <vt:lpstr>Formula Syntax</vt:lpstr>
      <vt:lpstr>Reference Types</vt:lpstr>
      <vt:lpstr>Common Errors</vt:lpstr>
      <vt:lpstr>Auditing Tools (1)</vt:lpstr>
      <vt:lpstr>Auditing Tools (2)</vt:lpstr>
      <vt:lpstr>Chốt Phần 4</vt:lpstr>
      <vt:lpstr>5. Dữ liệu "sạch về cấu trúc": nền móng của mọi phân tích</vt:lpstr>
      <vt:lpstr>Good vs Bad Data Structure</vt:lpstr>
      <vt:lpstr>Excel Table</vt:lpstr>
      <vt:lpstr>Data Validation: chặn dữ liệu sai từ gốc</vt:lpstr>
      <vt:lpstr>Circle Invalid Data: tìm lỗi đã có sẵn</vt:lpstr>
      <vt:lpstr>Thực hành 1: Làm sạch cấu trúc file case</vt:lpstr>
      <vt:lpstr>Thực hành 2: Công thức &amp; kiểm soát</vt:lpstr>
      <vt:lpstr>Chữa bài nhanh: checklist brick output B1</vt:lpstr>
      <vt:lpstr>Excel Quiz Challenge</vt:lpstr>
      <vt:lpstr>Question 1: Cell References</vt:lpstr>
      <vt:lpstr>Question 2: Cell References</vt:lpstr>
      <vt:lpstr>Question 3: Shortcuts</vt:lpstr>
      <vt:lpstr>Question 4: Auditing</vt:lpstr>
      <vt:lpstr>Question 5: Common Errors</vt:lpstr>
      <vt:lpstr>Question 6: Tình huống — Data Structure</vt:lpstr>
      <vt:lpstr>Question 7: Tình huống — Automation</vt:lpstr>
      <vt:lpstr>Tổng kết &amp; insight của bạn</vt:lpstr>
      <vt:lpstr>Buổi sau: định nghĩa KPI và tính bằng SUMIFS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Nhan Le</dc:creator>
  <cp:lastModifiedBy>Leo Pham</cp:lastModifiedBy>
  <cp:revision>1</cp:revision>
  <dcterms:created xsi:type="dcterms:W3CDTF">2026-09-24T17:25:29Z</dcterms:created>
  <dcterms:modified xsi:type="dcterms:W3CDTF">2026-09-27T12:46:07Z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2026-09-24T17:26:47Z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4d9052f2-e654-41cc-b328-7191ea09daba</vt:lpwstr>
  </property>
  <property fmtid="{D5CDD505-2E9C-101B-9397-08002B2CF9AE}" pid="7" name="MSIP_Label_defa4170-0d19-0005-0004-bc88714345d2_ActionId">
    <vt:lpwstr>c1eb70c7-4859-476b-af0b-43240bcea39d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