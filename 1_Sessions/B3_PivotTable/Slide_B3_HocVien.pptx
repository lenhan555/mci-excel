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  <p:sldId id="341" r:id="rId4"/>
    <p:sldId id="342" r:id="rId3"/>
    <p:sldId id="34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Relationship Id="rId50" Type="http://schemas.openxmlformats.org/officeDocument/2006/relationships/slide" Target="slides/slide4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3: Tư duy dữ liệu &amp; PivotTable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Mở sẵn: file khởi đầu B2_MCI_Mart_Q1_2025_Answer.xlsx (đáp án Buổi 2)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ier chip"/>
          <p:cNvSpPr/>
          <p:nvPr/>
        </p:nvSpPr>
        <p:spPr>
          <a:xfrm>
            <a:off x="9171432" y="548640"/>
            <a:ext cx="246888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Tầng 2 — Dimensional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64592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rial"/>
              </a:rPr>
              <a:t>“Làm sao trả lời 20 câu hỏi ‘theo chiều nào’ trong 20 phút?”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9776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— Giám đốc bán hàng, MCI Mart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527048" y="457200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SUMIFS trả lời một câu hỏi bằng một bảng. Hai mươi câu hỏi là hai mươi bảng.</a:t>
            </a:r>
          </a:p>
        </p:txBody>
      </p:sp>
      <p:sp>
        <p:nvSpPr>
          <p:cNvPr id="8" name="Question card 1"/>
          <p:cNvSpPr/>
          <p:nvPr/>
        </p:nvSpPr>
        <p:spPr>
          <a:xfrm>
            <a:off x="6629400" y="16459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6766560" y="17556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theo cửa hàng?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Doanh thu 12 cửa hàng × 3 tháng</a:t>
            </a:r>
          </a:p>
        </p:txBody>
      </p:sp>
      <p:sp>
        <p:nvSpPr>
          <p:cNvPr id="10" name="Question card 2"/>
          <p:cNvSpPr/>
          <p:nvPr/>
        </p:nvSpPr>
        <p:spPr>
          <a:xfrm>
            <a:off x="9189720" y="16459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326880" y="17556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theo thứ trong tuần?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Ngày nào khách đi siêu thị nhiều?</a:t>
            </a:r>
          </a:p>
        </p:txBody>
      </p:sp>
      <p:sp>
        <p:nvSpPr>
          <p:cNvPr id="12" name="Question card 3"/>
          <p:cNvSpPr/>
          <p:nvPr/>
        </p:nvSpPr>
        <p:spPr>
          <a:xfrm>
            <a:off x="6629400" y="30175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6766560" y="31272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theo tuần?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Tuần nào bán mạnh nhất quý?</a:t>
            </a:r>
          </a:p>
        </p:txBody>
      </p:sp>
      <p:sp>
        <p:nvSpPr>
          <p:cNvPr id="14" name="Question card 4"/>
          <p:cNvSpPr/>
          <p:nvPr/>
        </p:nvSpPr>
        <p:spPr>
          <a:xfrm>
            <a:off x="9189720" y="30175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9326880" y="31272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theo ngành hàng?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Mỗi ngành chiếm bao nhiêu %?</a:t>
            </a:r>
          </a:p>
        </p:txBody>
      </p:sp>
      <p:sp>
        <p:nvSpPr>
          <p:cNvPr id="16" name="Question card 5"/>
          <p:cNvSpPr/>
          <p:nvPr/>
        </p:nvSpPr>
        <p:spPr>
          <a:xfrm>
            <a:off x="6629400" y="43891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766560" y="44988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cửa hàng nào bất thường?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Ai giảm mạnh trong tháng 3?</a:t>
            </a:r>
          </a:p>
        </p:txBody>
      </p:sp>
      <p:sp>
        <p:nvSpPr>
          <p:cNvPr id="18" name="Question card 6"/>
          <p:cNvSpPr/>
          <p:nvPr/>
        </p:nvSpPr>
        <p:spPr>
          <a:xfrm>
            <a:off x="9189720" y="43891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"/>
          <p:cNvSpPr txBox="1"/>
          <p:nvPr/>
        </p:nvSpPr>
        <p:spPr>
          <a:xfrm>
            <a:off x="9326880" y="44988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vì sao tháng 1 &gt; tháng 2?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Câu hỏi còn treo từ Buổi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2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00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B2: </a:t>
            </a:r>
            <a:r>
              <a:rPr sz="1800" b="0">
                <a:solidFill>
                  <a:srgbClr val="1B2230"/>
                </a:solidFill>
                <a:latin typeface="Arial"/>
              </a:rPr>
              <a:t>tblSales làm giàu (Category, COGS, Gross_Margin, Thang, Thu…) · KPI_SUMIFS: tổng 941.454.000 · T1 425.850.000 · T2 245.996.000.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B2 (tháng 4): </a:t>
            </a:r>
            <a:r>
              <a:rPr sz="1800" b="0">
                <a:solidFill>
                  <a:srgbClr val="1B2230"/>
                </a:solidFill>
                <a:latin typeface="Arial"/>
              </a:rPr>
              <a:t>296.965.000 · 966 đơn. Lỗi cài sẵn: 4 mã Product_Code dính dấu cách cuối (XLOOKUP ra #N/A → TRIM, không che bằng IFERROR).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B2 (B2_MCI_Mart_Q1_2025_Answer.xlsx). Lưu thành B3_&lt;HoTen&gt;.xlsx. Giữ sheet KPI_SUMIFS để đối soát Pivot.</a:t>
            </a:r>
          </a:p>
        </p:txBody>
      </p:sp>
      <p:sp>
        <p:nvSpPr>
          <p:cNvPr id="5" name="Brick B2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B2 · Bảng KPI (SUMIFS)</a:t>
            </a:r>
          </a:p>
        </p:txBody>
      </p:sp>
      <p:sp>
        <p:nvSpPr>
          <p:cNvPr id="7" name="Brick B3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B3 · Báo cáo Pivot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../B2_Ham_va_KPI/Practice/B2_MCI_Mart_Q1_2025_Answer.xlsx (sheet KPI_SUMIFS) · ../B2_Ham_va_KPI/Homework/B2_BTVN_MCI_Mart_T4_2025_Answer.xlsx (Kiem_tra)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Hôm nay leo lên tầng 2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ier 5"/>
          <p:cNvSpPr/>
          <p:nvPr/>
        </p:nvSpPr>
        <p:spPr>
          <a:xfrm>
            <a:off x="1527048" y="1508760"/>
            <a:ext cx="576072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709928" y="15087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Tầng 5 · </a:t>
            </a:r>
            <a:r>
              <a:rPr sz="1700" b="0">
                <a:solidFill>
                  <a:srgbClr val="1B2230"/>
                </a:solidFill>
                <a:latin typeface="Arial"/>
              </a:rPr>
              <a:t>Sắp tới sẽ thế nào?</a:t>
            </a:r>
            <a:r>
              <a:rPr sz="1200" b="0">
                <a:solidFill>
                  <a:srgbClr val="585858"/>
                </a:solidFill>
                <a:latin typeface="Arial"/>
              </a:rPr>
              <a:t>   Predictive · B6</a:t>
            </a:r>
          </a:p>
        </p:txBody>
      </p:sp>
      <p:sp>
        <p:nvSpPr>
          <p:cNvPr id="6" name="Tier 4"/>
          <p:cNvSpPr/>
          <p:nvPr/>
        </p:nvSpPr>
        <p:spPr>
          <a:xfrm>
            <a:off x="1527048" y="2350008"/>
            <a:ext cx="576072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35000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Tầng 4 · </a:t>
            </a:r>
            <a:r>
              <a:rPr sz="1700" b="0">
                <a:solidFill>
                  <a:srgbClr val="1B2230"/>
                </a:solidFill>
                <a:latin typeface="Arial"/>
              </a:rPr>
              <a:t>Vậy thì sao, nên làm gì?</a:t>
            </a:r>
            <a:r>
              <a:rPr sz="1200" b="0">
                <a:solidFill>
                  <a:srgbClr val="585858"/>
                </a:solidFill>
                <a:latin typeface="Arial"/>
              </a:rPr>
              <a:t>   Prescriptive · B6</a:t>
            </a:r>
          </a:p>
        </p:txBody>
      </p:sp>
      <p:sp>
        <p:nvSpPr>
          <p:cNvPr id="8" name="Tier 3"/>
          <p:cNvSpPr/>
          <p:nvPr/>
        </p:nvSpPr>
        <p:spPr>
          <a:xfrm>
            <a:off x="1527048" y="3191256"/>
            <a:ext cx="5760720" cy="731520"/>
          </a:xfrm>
          <a:prstGeom prst="rect">
            <a:avLst/>
          </a:prstGeom>
          <a:solidFill>
            <a:srgbClr val="DCE3E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3191256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Tầng 3 · </a:t>
            </a:r>
            <a:r>
              <a:rPr sz="1700" b="0">
                <a:solidFill>
                  <a:srgbClr val="1B2230"/>
                </a:solidFill>
                <a:latin typeface="Arial"/>
              </a:rPr>
              <a:t>Vì sao?</a:t>
            </a:r>
            <a:r>
              <a:rPr sz="1200" b="0">
                <a:solidFill>
                  <a:srgbClr val="585858"/>
                </a:solidFill>
                <a:latin typeface="Arial"/>
              </a:rPr>
              <a:t>   Diagnostic · B3 drill-down · B5</a:t>
            </a:r>
          </a:p>
        </p:txBody>
      </p:sp>
      <p:sp>
        <p:nvSpPr>
          <p:cNvPr id="10" name="Tier 2"/>
          <p:cNvSpPr/>
          <p:nvPr/>
        </p:nvSpPr>
        <p:spPr>
          <a:xfrm>
            <a:off x="1527048" y="4032504"/>
            <a:ext cx="5760720" cy="73152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709928" y="4032504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Tầng 2 · </a:t>
            </a:r>
            <a:r>
              <a:rPr sz="1700" b="1">
                <a:solidFill>
                  <a:srgbClr val="FFFFFF"/>
                </a:solidFill>
                <a:latin typeface="Arial"/>
              </a:rPr>
              <a:t>Ở đâu, khi nào, nhóm nào?</a:t>
            </a:r>
            <a:r>
              <a:rPr sz="1200" b="0">
                <a:solidFill>
                  <a:srgbClr val="CDE2FB"/>
                </a:solidFill>
                <a:latin typeface="Arial"/>
              </a:rPr>
              <a:t>   Dimensional · B3</a:t>
            </a:r>
          </a:p>
        </p:txBody>
      </p:sp>
      <p:sp>
        <p:nvSpPr>
          <p:cNvPr id="12" name="Tier 1"/>
          <p:cNvSpPr/>
          <p:nvPr/>
        </p:nvSpPr>
        <p:spPr>
          <a:xfrm>
            <a:off x="1527048" y="4873752"/>
            <a:ext cx="576072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709928" y="4873752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Tầng 1 · </a:t>
            </a:r>
            <a:r>
              <a:rPr sz="1700" b="0">
                <a:solidFill>
                  <a:srgbClr val="1B2230"/>
                </a:solidFill>
                <a:latin typeface="Arial"/>
              </a:rPr>
              <a:t>Chuyện gì đã xảy ra?</a:t>
            </a:r>
            <a:r>
              <a:rPr sz="1200" b="0">
                <a:solidFill>
                  <a:srgbClr val="585858"/>
                </a:solidFill>
                <a:latin typeface="Arial"/>
              </a:rPr>
              <a:t>   Descriptive · B1–B2 ✓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7589520" y="1508760"/>
            <a:ext cx="40599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Ba câu hỏi tự tìm đáp án hôm nay</a:t>
            </a:r>
          </a:p>
        </p:txBody>
      </p:sp>
      <p:sp>
        <p:nvSpPr>
          <p:cNvPr id="15" name="Story 1"/>
          <p:cNvSpPr/>
          <p:nvPr/>
        </p:nvSpPr>
        <p:spPr>
          <a:xfrm>
            <a:off x="7589520" y="22402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8275320" y="2057400"/>
            <a:ext cx="33741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Vì sao tháng 1 cao hơn hẳn tháng 2?</a:t>
            </a:r>
          </a:p>
        </p:txBody>
      </p:sp>
      <p:sp>
        <p:nvSpPr>
          <p:cNvPr id="17" name="Story 2"/>
          <p:cNvSpPr/>
          <p:nvPr/>
        </p:nvSpPr>
        <p:spPr>
          <a:xfrm>
            <a:off x="7589520" y="33832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8275320" y="3200400"/>
            <a:ext cx="33741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Cửa hàng nào giảm bất thường trong tháng 3?</a:t>
            </a:r>
          </a:p>
        </p:txBody>
      </p:sp>
      <p:sp>
        <p:nvSpPr>
          <p:cNvPr id="19" name="Story 3"/>
          <p:cNvSpPr/>
          <p:nvPr/>
        </p:nvSpPr>
        <p:spPr>
          <a:xfrm>
            <a:off x="7589520" y="45262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8275320" y="4343400"/>
            <a:ext cx="33741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Ngày nào trong tuần bán chạy nhất?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7589520" y="5577840"/>
            <a:ext cx="405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Viên gạch B3: báo cáo Pivot tương tác + PivotChart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Vì sao cần PivotTable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hạn của SUMIFS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VÌ SAO PIVOT</a:t>
            </a:r>
          </a:p>
        </p:txBody>
      </p:sp>
      <p:sp>
        <p:nvSpPr>
          <p:cNvPr id="4" name="Card"/>
          <p:cNvSpPr/>
          <p:nvPr/>
        </p:nvSpPr>
        <p:spPr>
          <a:xfrm>
            <a:off x="1527048" y="1508760"/>
            <a:ext cx="4846320" cy="3977639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618488"/>
            <a:ext cx="4517136" cy="3758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SUMIFS: mỗi câu hỏi = một bảng mới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Cửa hàng × Tháng: gõ 12 mã, 3 tháng, kéo 36 ô.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Theo tuần: tblSales chưa có cột Tuần → thêm cột trước.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Thêm một chiều = viết lại công thức.</a:t>
            </a:r>
          </a:p>
          <a:p>
            <a:pPr>
              <a:spcBef>
                <a:spcPts val="5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≈ 5 phút / câu hỏi</a:t>
            </a:r>
          </a:p>
        </p:txBody>
      </p:sp>
      <p:sp>
        <p:nvSpPr>
          <p:cNvPr id="6" name="Card"/>
          <p:cNvSpPr/>
          <p:nvPr/>
        </p:nvSpPr>
        <p:spPr>
          <a:xfrm>
            <a:off x="6803136" y="1508760"/>
            <a:ext cx="4846320" cy="3977639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967728" y="1618488"/>
            <a:ext cx="4517136" cy="3758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PivotTable: kéo thả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Kéo trường vào Rows / Columns / Values.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Đổi chiều phân tích trong vài giây.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Bấm đúp để xem dòng gốc.</a:t>
            </a:r>
          </a:p>
          <a:p>
            <a:pPr>
              <a:spcBef>
                <a:spcPts val="500"/>
              </a:spcBef>
            </a:pPr>
            <a:r>
              <a:rPr sz="2200" b="1">
                <a:solidFill>
                  <a:srgbClr val="2E7D32"/>
                </a:solidFill>
                <a:latin typeface="Arial"/>
              </a:rPr>
              <a:t>≈ 10 giây / câu hỏi</a:t>
            </a:r>
          </a:p>
        </p:txBody>
      </p:sp>
      <p:sp>
        <p:nvSpPr>
          <p:cNvPr id="8" name="Zone Filters"/>
          <p:cNvSpPr/>
          <p:nvPr/>
        </p:nvSpPr>
        <p:spPr>
          <a:xfrm>
            <a:off x="6967728" y="4846320"/>
            <a:ext cx="1051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Filters</a:t>
            </a:r>
          </a:p>
        </p:txBody>
      </p:sp>
      <p:sp>
        <p:nvSpPr>
          <p:cNvPr id="9" name="Zone Columns"/>
          <p:cNvSpPr/>
          <p:nvPr/>
        </p:nvSpPr>
        <p:spPr>
          <a:xfrm>
            <a:off x="8110728" y="4846320"/>
            <a:ext cx="1051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Columns</a:t>
            </a:r>
          </a:p>
        </p:txBody>
      </p:sp>
      <p:sp>
        <p:nvSpPr>
          <p:cNvPr id="10" name="Zone Rows"/>
          <p:cNvSpPr/>
          <p:nvPr/>
        </p:nvSpPr>
        <p:spPr>
          <a:xfrm>
            <a:off x="9253728" y="4846320"/>
            <a:ext cx="1051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Rows</a:t>
            </a:r>
          </a:p>
        </p:txBody>
      </p:sp>
      <p:sp>
        <p:nvSpPr>
          <p:cNvPr id="11" name="Zone Values"/>
          <p:cNvSpPr/>
          <p:nvPr/>
        </p:nvSpPr>
        <p:spPr>
          <a:xfrm>
            <a:off x="10396728" y="4846320"/>
            <a:ext cx="1051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Values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527048" y="562356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585858"/>
                </a:solidFill>
                <a:latin typeface="Arial"/>
              </a:rPr>
              <a:t>5 lợi ích của Pivot: Powerful · Beautiful · Fast · Accurate · Flexible. Nhưng mỗi ô Pivot vẫn là một SUMIFS.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Dữ liệu cho Pivot: tidy + Table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VÌ SAO PIVOT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Nguồn Pivot: </a:t>
            </a:r>
            <a:r>
              <a:rPr sz="1600" b="0">
                <a:solidFill>
                  <a:srgbClr val="1B2230"/>
                </a:solidFill>
                <a:latin typeface="Arial"/>
              </a:rPr>
              <a:t>hình chữ nhật (mỗi cột một trường, mỗi dòng một bản ghi) · tiêu đề một dòng · không dòng tổng, không ô gộp · nên là Excel Table (B1).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527048" y="2423160"/>
          <a:ext cx="10122408" cy="2267712"/>
        </p:xfrm>
        <a:graphic>
          <a:graphicData uri="http://schemas.openxmlformats.org/drawingml/2006/table">
            <a:tbl>
              <a:tblPr firstRow="1" bandRow="0"/>
              <a:tblGrid>
                <a:gridCol w="2377440"/>
                <a:gridCol w="4937760"/>
                <a:gridCol w="280720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Ví dụ trong tblSales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Kéo vào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Region, Store_Code, Thang, Thu, Category, Order_Date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Rows · Columns · Filters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EB6834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Revenue, Quantity, COGS, Gross_Margin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Values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03864"/>
                          </a:solidFill>
                          <a:latin typeface="Arial"/>
                        </a:rPr>
                        <a:t>Grain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1 sản phẩm trong 1 đơn (6.187 dòng ≠ 3.144 đơn)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Quyết định Pivot đếm cái gì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IP callout"/>
          <p:cNvSpPr/>
          <p:nvPr/>
        </p:nvSpPr>
        <p:spPr>
          <a:xfrm>
            <a:off x="1527048" y="489204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36776" y="50017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2212848" y="498347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Dữ liệu đã tidy ở B1 là lý do hôm nay chỉ cần kéo thả. Còn dòng tổng hay ô gộp thì Pivot cộng sai (tổng gấp đôi).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Tạo PivotTable: mỗi ô là một bộ lọc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 PivotTable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TẠO PIVOT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Insert PivotTable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Tạo Pivot trống từ một Table / vùng dữ liệu.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Recommended PivotTables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Excel gợi ý sẵn vài Pivot để bắt đầu.</a:t>
            </a:r>
          </a:p>
        </p:txBody>
      </p:sp>
      <p:pic>
        <p:nvPicPr>
          <p:cNvPr id="9" name="Screenshot S09_create_pivot" descr="S09_create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80" y="2514600"/>
            <a:ext cx="6570616" cy="35661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IP callout"/>
          <p:cNvSpPr/>
          <p:nvPr/>
        </p:nvSpPr>
        <p:spPr>
          <a:xfrm>
            <a:off x="8275320" y="2514600"/>
            <a:ext cx="3374136" cy="2011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385048" y="26243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8961120" y="2606040"/>
            <a:ext cx="25786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Chọn MỘT ô trong Table rồi Insert → PivotTable: Excel tự điền tên Table. Phím tắt: Alt, N, V, T.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8275320" y="4709160"/>
            <a:ext cx="337413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585858"/>
                </a:solidFill>
                <a:latin typeface="Arial"/>
              </a:rPr>
              <a:t>Hai câu hỏi của hộp thoại: dữ liệu ở đâu? đặt Pivot ở đâu?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Sales → Insert → PivotTable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PivotTable Fields: 4 vùng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TẠO PIVOT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PivotTable Fields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Danh sách trường của nguồn và 4 vùng: Filters (lọc cả Pivot) · Columns · Rows · Values (số cần tính).</a:t>
            </a:r>
          </a:p>
        </p:txBody>
      </p:sp>
      <p:pic>
        <p:nvPicPr>
          <p:cNvPr id="6" name="Screenshot S10_field_list" descr="S10_field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435490"/>
            <a:ext cx="6949440" cy="349577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Stat card"/>
          <p:cNvSpPr/>
          <p:nvPr/>
        </p:nvSpPr>
        <p:spPr>
          <a:xfrm>
            <a:off x="8641080" y="2377440"/>
            <a:ext cx="300837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823959" y="2468880"/>
            <a:ext cx="264261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Miền × Tháng, 10 giây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Grand Total = tổng Buổi 2</a:t>
            </a:r>
          </a:p>
        </p:txBody>
      </p:sp>
      <p:sp>
        <p:nvSpPr>
          <p:cNvPr id="9" name="TIP callout"/>
          <p:cNvSpPr/>
          <p:nvPr/>
        </p:nvSpPr>
        <p:spPr>
          <a:xfrm>
            <a:off x="8641080" y="3977639"/>
            <a:ext cx="3008376" cy="2011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750807" y="40873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9326880" y="4069079"/>
            <a:ext cx="221284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Dimension vào Rows / Columns, Measure vào Values. Kéo nhầm thì kéo trường ra khỏi vùng.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PV_MienThang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 hoạt động thế nào: tọa độ = bộ lọc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TẠO PIVOT</a:t>
            </a:r>
          </a:p>
        </p:txBody>
      </p:sp>
      <p:sp>
        <p:nvSpPr>
          <p:cNvPr id="4" name="Source column"/>
          <p:cNvSpPr/>
          <p:nvPr/>
        </p:nvSpPr>
        <p:spPr>
          <a:xfrm>
            <a:off x="1527048" y="1600200"/>
            <a:ext cx="1920240" cy="210312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527048" y="1600200"/>
            <a:ext cx="192024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tblSales[Revenue]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6.187 dòng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1B2230"/>
                </a:solidFill>
                <a:latin typeface="Arial"/>
              </a:rPr>
              <a:t>∑ phép tổng</a:t>
            </a:r>
          </a:p>
        </p:txBody>
      </p:sp>
      <p:sp>
        <p:nvSpPr>
          <p:cNvPr id="6" name="Coordinate 1"/>
          <p:cNvSpPr/>
          <p:nvPr/>
        </p:nvSpPr>
        <p:spPr>
          <a:xfrm>
            <a:off x="3749039" y="1645920"/>
            <a:ext cx="2697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3749039" y="16459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85858"/>
                </a:solidFill>
                <a:latin typeface="Arial"/>
              </a:rPr>
              <a:t>Tọa độ hàng  </a:t>
            </a:r>
            <a:r>
              <a:rPr sz="1600" b="1">
                <a:solidFill>
                  <a:srgbClr val="203864"/>
                </a:solidFill>
                <a:latin typeface="Arial"/>
              </a:rPr>
              <a:t>Region = Bắc</a:t>
            </a:r>
          </a:p>
        </p:txBody>
      </p:sp>
      <p:sp>
        <p:nvSpPr>
          <p:cNvPr id="8" name="Coordinate 2"/>
          <p:cNvSpPr/>
          <p:nvPr/>
        </p:nvSpPr>
        <p:spPr>
          <a:xfrm>
            <a:off x="3749039" y="2743200"/>
            <a:ext cx="2697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3749039" y="274320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85858"/>
                </a:solidFill>
                <a:latin typeface="Arial"/>
              </a:rPr>
              <a:t>Tọa độ cột  </a:t>
            </a:r>
            <a:r>
              <a:rPr sz="1600" b="1">
                <a:solidFill>
                  <a:srgbClr val="203864"/>
                </a:solidFill>
                <a:latin typeface="Arial"/>
              </a:rPr>
              <a:t>Thang = 3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447288" y="2057400"/>
            <a:ext cx="301751" cy="59436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46520" y="2057400"/>
            <a:ext cx="274320" cy="59436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47288" y="2651760"/>
            <a:ext cx="301751" cy="50292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446520" y="2651760"/>
            <a:ext cx="274320" cy="50292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sult cell"/>
          <p:cNvSpPr/>
          <p:nvPr/>
        </p:nvSpPr>
        <p:spPr>
          <a:xfrm>
            <a:off x="6720840" y="2011680"/>
            <a:ext cx="1691640" cy="128016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6720840" y="201168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CDE2FB"/>
                </a:solidFill>
                <a:latin typeface="Arial"/>
              </a:rPr>
              <a:t>Ô Pivot Bắc × 3</a:t>
            </a:r>
          </a:p>
          <a:p>
            <a:pPr algn="ctr"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Arial"/>
              </a:rPr>
              <a:t>90.210.000</a:t>
            </a:r>
          </a:p>
        </p:txBody>
      </p:sp>
      <p:graphicFrame>
        <p:nvGraphicFramePr>
          <p:cNvPr id="16" name="Chain C"/>
          <p:cNvGraphicFramePr>
            <a:graphicFrameLocks noGrp="1"/>
          </p:cNvGraphicFramePr>
          <p:nvPr/>
        </p:nvGraphicFramePr>
        <p:xfrm>
          <a:off x="1527048" y="3931920"/>
          <a:ext cx="6858000" cy="768096"/>
        </p:xfrm>
        <a:graphic>
          <a:graphicData uri="http://schemas.openxmlformats.org/drawingml/2006/table">
            <a:tbl>
              <a:tblPr firstRow="1" bandRow="0"/>
              <a:tblGrid>
                <a:gridCol w="2286000"/>
                <a:gridCol w="22860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B2 · SUMIFS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B3 · PivotTable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B5 · 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criteria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03864"/>
                          </a:solidFill>
                          <a:latin typeface="Arial"/>
                        </a:rPr>
                        <a:t>tọa độ ô Pivot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DCE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filter context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7" name="Screenshot S11_pivot_vs_sumifs" descr="S11_pivot_vs_sum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036631"/>
            <a:ext cx="3054096" cy="1870338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8" name="TIP callout"/>
          <p:cNvSpPr/>
          <p:nvPr/>
        </p:nvSpPr>
        <p:spPr>
          <a:xfrm>
            <a:off x="1527048" y="4892040"/>
            <a:ext cx="10122408" cy="1143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"/>
          <p:cNvSpPr txBox="1"/>
          <p:nvPr/>
        </p:nvSpPr>
        <p:spPr>
          <a:xfrm>
            <a:off x="1636776" y="50017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0" name="TIP text"/>
          <p:cNvSpPr txBox="1"/>
          <p:nvPr/>
        </p:nvSpPr>
        <p:spPr>
          <a:xfrm>
            <a:off x="2212848" y="4983479"/>
            <a:ext cx="9326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Gõ = rồi bấm vào ô Pivot: Excel tự viết GETPIVOTDATA (đúng ô dù Pivot đổi bố cục, nhưng kéo công thức không đổi kết quả). Tắt: PivotTable Analyze → Options ▾ → bỏ tick Generate GetPivotData. Double-click ô Bắc × 3 → 635 dòng gốc.</a:t>
            </a:r>
          </a:p>
        </p:txBody>
      </p:sp>
      <p:sp>
        <p:nvSpPr>
          <p:cNvPr id="2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Hình xương sống Chuỗi C dùng lại từ Buổi 2 · Ảnh: Practice/B3_MCI_Mart_Q1_2025_Answer.xlsx, sheet PV_MienThang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Refresh · Change Data Source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TẠO PIVOT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Refresh · Refresh All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Cập nhật Pivot sau khi nguồn thay đổi (Alt+F5 · Ctrl+Alt+F5).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109728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Change Data Source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Đổi / mở rộng vùng nguồn của Pivot.</a:t>
            </a:r>
          </a:p>
        </p:txBody>
      </p:sp>
      <p:pic>
        <p:nvPicPr>
          <p:cNvPr id="9" name="Screenshot S12a_refresh_table_vs_range" descr="S12a_refresh_table_vs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890165"/>
            <a:ext cx="5669280" cy="176347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10" name="Screenshot S12b_change_source" descr="S12b_change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852091"/>
            <a:ext cx="4288536" cy="1839618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1" name="TIP callout"/>
          <p:cNvSpPr/>
          <p:nvPr/>
        </p:nvSpPr>
        <p:spPr>
          <a:xfrm>
            <a:off x="1527048" y="4983480"/>
            <a:ext cx="4937760" cy="10972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0932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074920"/>
            <a:ext cx="4142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Pivot đọc từ BỘ NHỚ ĐỆM (cache), không đọc thẳng ô: sửa dữ liệu xong phải Refresh.</a:t>
            </a:r>
          </a:p>
        </p:txBody>
      </p:sp>
      <p:sp>
        <p:nvSpPr>
          <p:cNvPr id="14" name="PRO TIP callout"/>
          <p:cNvSpPr/>
          <p:nvPr/>
        </p:nvSpPr>
        <p:spPr>
          <a:xfrm>
            <a:off x="6629400" y="4983480"/>
            <a:ext cx="5020056" cy="10972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O TIP chip"/>
          <p:cNvSpPr/>
          <p:nvPr/>
        </p:nvSpPr>
        <p:spPr>
          <a:xfrm>
            <a:off x="6739128" y="509320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6" name="PRO TIP text"/>
          <p:cNvSpPr txBox="1"/>
          <p:nvPr/>
        </p:nvSpPr>
        <p:spPr>
          <a:xfrm>
            <a:off x="7836408" y="5074920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Nguồn là Table → dòng mới tự vào Pivot khi Refresh. Nguồn là vùng $A$1:$I$6188 → không.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Demo/B3_Demo_Refresh.xlsx, sheet PV_Table và PV_Vung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Định dạng: Pivot dễ đọc cho người xem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Field Settings · PivotTable Styles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ĐỊNH DẠNG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Value Field Settings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Đặt tên và định dạng số cho cả trường giá trị (Number Format).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109728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PivotTable Styles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Kiểu bảng; Grand Totals, Subtotals: bật / tắt dòng tổng.</a:t>
            </a:r>
          </a:p>
        </p:txBody>
      </p:sp>
      <p:pic>
        <p:nvPicPr>
          <p:cNvPr id="9" name="Screenshot S14_value_field_settings" descr="S14_value_field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15" y="2697480"/>
            <a:ext cx="5548025" cy="33375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IP callout"/>
          <p:cNvSpPr/>
          <p:nvPr/>
        </p:nvSpPr>
        <p:spPr>
          <a:xfrm>
            <a:off x="8001000" y="2697480"/>
            <a:ext cx="3648456" cy="16002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10727" y="28072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8686800" y="2788920"/>
            <a:ext cx="285292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Định dạng qua Value Field Settings, KHÔNG bôi đen ô: Pivot đổi bố cục là mất định dạng.</a:t>
            </a:r>
          </a:p>
        </p:txBody>
      </p:sp>
      <p:sp>
        <p:nvSpPr>
          <p:cNvPr id="13" name="PRO TIP callout"/>
          <p:cNvSpPr/>
          <p:nvPr/>
        </p:nvSpPr>
        <p:spPr>
          <a:xfrm>
            <a:off x="8001000" y="4434840"/>
            <a:ext cx="3648456" cy="16002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 TIP chip"/>
          <p:cNvSpPr/>
          <p:nvPr/>
        </p:nvSpPr>
        <p:spPr>
          <a:xfrm>
            <a:off x="8110727" y="454456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5" name="PRO TIP text"/>
          <p:cNvSpPr txBox="1"/>
          <p:nvPr/>
        </p:nvSpPr>
        <p:spPr>
          <a:xfrm>
            <a:off x="9208008" y="4526279"/>
            <a:ext cx="2331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Conditional Formatting trong Pivot: chọn “All cells showing ‘Doanh thu’ values…” để quy tắc tự áp cho ô mới.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PV_MienThang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Compact · Outline · Tabular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ĐỊNH DẠNG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Report Layout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Cách xếp nhiều trường trên hàng. Outline: mỗi trường một cột, nên dùng khi phân tích.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3317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Compact (mặc định)</a:t>
            </a:r>
          </a:p>
        </p:txBody>
      </p:sp>
      <p:pic>
        <p:nvPicPr>
          <p:cNvPr id="7" name="Screenshot S15a_compact" descr="S15a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773594"/>
            <a:ext cx="3246120" cy="222521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extBox"/>
          <p:cNvSpPr txBox="1"/>
          <p:nvPr/>
        </p:nvSpPr>
        <p:spPr>
          <a:xfrm>
            <a:off x="4956048" y="23317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Outline</a:t>
            </a:r>
          </a:p>
        </p:txBody>
      </p:sp>
      <p:pic>
        <p:nvPicPr>
          <p:cNvPr id="9" name="Screenshot S15b_outline" descr="S15b_ou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773594"/>
            <a:ext cx="3246120" cy="222521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extBox"/>
          <p:cNvSpPr txBox="1"/>
          <p:nvPr/>
        </p:nvSpPr>
        <p:spPr>
          <a:xfrm>
            <a:off x="8385048" y="23317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Tabular + Repeat labels</a:t>
            </a:r>
          </a:p>
        </p:txBody>
      </p:sp>
      <p:pic>
        <p:nvPicPr>
          <p:cNvPr id="11" name="Screenshot S15c_tabular" descr="S15c_tabu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2773594"/>
            <a:ext cx="3246120" cy="222521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2" name="TIP callout"/>
          <p:cNvSpPr/>
          <p:nvPr/>
        </p:nvSpPr>
        <p:spPr>
          <a:xfrm>
            <a:off x="1527048" y="521208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30352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Muốn chép kết quả Pivot thành bảng dữ liệu mới: Tabular + Repeat All Item Labels + tắt Subtotals và Grand Totals.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PV_MienThang (Region + Store_Code trên hàng)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Demo/B3_Demo_Loi_Du_lieu_HocVien.xlsx (trợ giảng đã gửi)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Sắp xếp, lọc, nhóm, đào sâu: đi tìm câu chuyện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 · Value Filters (Top 5)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SẮP XẾP · NHÓM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Sort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Sắp xếp mục theo tên hoặc theo giá trị.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Label / Value Filters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Lọc theo tên (chứa…) hoặc theo giá trị (Top 10…).</a:t>
            </a:r>
          </a:p>
        </p:txBody>
      </p:sp>
      <p:pic>
        <p:nvPicPr>
          <p:cNvPr id="9" name="Screenshot S18a_sort_thu" descr="S18a_sort_t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2423160"/>
            <a:ext cx="2523744" cy="27432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Stat card"/>
          <p:cNvSpPr/>
          <p:nvPr/>
        </p:nvSpPr>
        <p:spPr>
          <a:xfrm>
            <a:off x="4663440" y="242316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4846320" y="2514600"/>
            <a:ext cx="146304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T7–CN so với T2–T6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03864"/>
                </a:solidFill>
                <a:latin typeface="Arial"/>
              </a:rPr>
              <a:t>+25%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157,1 so với 125,4 triệu / thứ</a:t>
            </a:r>
          </a:p>
        </p:txBody>
      </p:sp>
      <p:pic>
        <p:nvPicPr>
          <p:cNvPr id="12" name="Screenshot S18b_top5" descr="S18b_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426413"/>
            <a:ext cx="4882896" cy="2736693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3" name="PRO TIP callout"/>
          <p:cNvSpPr/>
          <p:nvPr/>
        </p:nvSpPr>
        <p:spPr>
          <a:xfrm>
            <a:off x="1527048" y="530352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 TIP chip"/>
          <p:cNvSpPr/>
          <p:nvPr/>
        </p:nvSpPr>
        <p:spPr>
          <a:xfrm>
            <a:off x="1636776" y="54132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5" name="PRO TIP text"/>
          <p:cNvSpPr txBox="1"/>
          <p:nvPr/>
        </p:nvSpPr>
        <p:spPr>
          <a:xfrm>
            <a:off x="2734056" y="5394959"/>
            <a:ext cx="880567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Thứ tự T2 → CN cố định: tạo Custom List (File → Options → Advanced → Edit Custom Lists), rồi Sort A to Z.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PV_Thu · Demo/B3_Demo_Pivot.xlsx, sheet PV_Top5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Group: theo ngày, theo nhóm tự chọn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SẮP XẾP · NHÓM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Group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Gộp mục thành nhóm mới: ngày → tuần / tháng / quý · số → khoảng · chữ → nhóm tự đặt tên.</a:t>
            </a:r>
          </a:p>
        </p:txBody>
      </p:sp>
      <p:pic>
        <p:nvPicPr>
          <p:cNvPr id="6" name="Screenshot S19a_group_7days" descr="S19a_group_7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45" y="2331720"/>
            <a:ext cx="3269446" cy="27432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Week 1"/>
          <p:cNvSpPr/>
          <p:nvPr/>
        </p:nvSpPr>
        <p:spPr>
          <a:xfrm>
            <a:off x="6812280" y="233172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67144" y="235000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118,8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08–14/01</a:t>
            </a:r>
          </a:p>
        </p:txBody>
      </p:sp>
      <p:sp>
        <p:nvSpPr>
          <p:cNvPr id="9" name="Week 2"/>
          <p:cNvSpPr/>
          <p:nvPr/>
        </p:nvSpPr>
        <p:spPr>
          <a:xfrm>
            <a:off x="8439912" y="233172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494776" y="235000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111,7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15–21/01</a:t>
            </a:r>
          </a:p>
        </p:txBody>
      </p:sp>
      <p:sp>
        <p:nvSpPr>
          <p:cNvPr id="11" name="Week 3"/>
          <p:cNvSpPr/>
          <p:nvPr/>
        </p:nvSpPr>
        <p:spPr>
          <a:xfrm>
            <a:off x="10067544" y="233172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0122408" y="235000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112,9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22–28/01</a:t>
            </a:r>
          </a:p>
        </p:txBody>
      </p:sp>
      <p:sp>
        <p:nvSpPr>
          <p:cNvPr id="13" name="Week 4"/>
          <p:cNvSpPr/>
          <p:nvPr/>
        </p:nvSpPr>
        <p:spPr>
          <a:xfrm>
            <a:off x="6812280" y="320040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C7CE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6867144" y="321868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9C0006"/>
                </a:solidFill>
                <a:latin typeface="Arial"/>
              </a:rPr>
              <a:t>31,6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29/01–04/02</a:t>
            </a:r>
          </a:p>
        </p:txBody>
      </p:sp>
      <p:sp>
        <p:nvSpPr>
          <p:cNvPr id="15" name="Week 5"/>
          <p:cNvSpPr/>
          <p:nvPr/>
        </p:nvSpPr>
        <p:spPr>
          <a:xfrm>
            <a:off x="8439912" y="320040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8494776" y="321868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53–74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tuần thường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0067544" y="3200400"/>
            <a:ext cx="15819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triệu VNĐ / tuần; mùng 1 Tết: 29/01</a:t>
            </a:r>
          </a:p>
        </p:txBody>
      </p:sp>
      <p:pic>
        <p:nvPicPr>
          <p:cNvPr id="18" name="Screenshot S19b_cannot_group" descr="S19b_cannot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532" y="4114800"/>
            <a:ext cx="3430672" cy="9601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9" name="TIP callout"/>
          <p:cNvSpPr/>
          <p:nvPr/>
        </p:nvSpPr>
        <p:spPr>
          <a:xfrm>
            <a:off x="1527048" y="521208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1" name="TIP text"/>
          <p:cNvSpPr txBox="1"/>
          <p:nvPr/>
        </p:nvSpPr>
        <p:spPr>
          <a:xfrm>
            <a:off x="2212848" y="530352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“Cannot group that selection” = cột ngày có ô CHỮ hoặc ô trống → sửa ở nguồn, Refresh. Excel 365 tự nhóm ngày theo tháng; muốn theo ngày: Group → chỉ chọn Days.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PV_Tuan · Demo/B3_Demo_Loi_Du_lieu.xlsx, sheet Sales_Loi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 Details (drill-down)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SẮP XẾP · NHÓM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Show Details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Double-click một ô giá trị → sheet mới chứa các dòng gốc tạo nên con số: từ “bao nhiêu” sang “vì sao”.</a:t>
            </a:r>
          </a:p>
        </p:txBody>
      </p:sp>
      <p:pic>
        <p:nvPicPr>
          <p:cNvPr id="6" name="Screenshot S20a_store_month" descr="S20a_store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488" y="2331720"/>
            <a:ext cx="3844480" cy="28346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7" name="Screenshot S20b_show_details" descr="S20b_show_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331720"/>
            <a:ext cx="3035808" cy="28346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Stat card"/>
          <p:cNvSpPr/>
          <p:nvPr/>
        </p:nvSpPr>
        <p:spPr>
          <a:xfrm>
            <a:off x="9098280" y="2331720"/>
            <a:ext cx="255117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9235440" y="2423160"/>
            <a:ext cx="227685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ST07 Nha Trang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T3: −52,4%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T2: 51 đơn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01–09/03: 13 đơn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10–31/03: 15 đơn,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12/22 ngày không có đơn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30352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394959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Drill-down trước khi kết luận: ST04 cũng giảm 50,5% nhưng 41 đơn rải đều cả tháng. Sheet chi tiết là bản sao tĩnh, xem xong thì xóa.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PV_CuaHang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Slicer · Timeline · Report Connections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SẮP XẾP · NHÓM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Slicer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Nút bấm lọc Pivot, nhìn là biết đang lọc gì.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37176" y="1463040"/>
            <a:ext cx="0" cy="109728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4956048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Timeline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4956048" y="19202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Thanh thời gian: lọc ngày / tháng / quý / năm.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66175" y="1463040"/>
            <a:ext cx="0" cy="109728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ool name"/>
          <p:cNvSpPr txBox="1"/>
          <p:nvPr/>
        </p:nvSpPr>
        <p:spPr>
          <a:xfrm>
            <a:off x="8385048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Report Connections</a:t>
            </a:r>
          </a:p>
        </p:txBody>
      </p:sp>
      <p:sp>
        <p:nvSpPr>
          <p:cNvPr id="11" name="Tool purpose"/>
          <p:cNvSpPr txBox="1"/>
          <p:nvPr/>
        </p:nvSpPr>
        <p:spPr>
          <a:xfrm>
            <a:off x="8385048" y="19202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Nối một Slicer với nhiều Pivot cùng nguồn.</a:t>
            </a:r>
          </a:p>
        </p:txBody>
      </p:sp>
      <p:pic>
        <p:nvPicPr>
          <p:cNvPr id="12" name="Screenshot S21a_slicer_connections" descr="S21a_slicer_conn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762442"/>
            <a:ext cx="5760720" cy="2293236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13" name="Screenshot S21b_timeline" descr="S21b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203084"/>
            <a:ext cx="4197096" cy="141195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4" name="TIP callout"/>
          <p:cNvSpPr/>
          <p:nvPr/>
        </p:nvSpPr>
        <p:spPr>
          <a:xfrm>
            <a:off x="1527048" y="525780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34924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Slicer chỉ nối được các Pivot dùng CHUNG nguồn (chung cache). Chọn tháng 2–3 trên Timeline: Chủ nhật, thứ Bảy vẫn đứng đầu → câu chuyện cuối tuần không phải do Tết.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PV_MienThang và PV_Ngay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Tính toán trong Pivot: tính trên kết quả đã tổng hợp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Summarize Values By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TÍNH TOÁN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Summarize Values By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Chọn phép tổng hợp: Sum · Count · Average · Max · Min…</a:t>
            </a:r>
          </a:p>
        </p:txBody>
      </p:sp>
      <p:sp>
        <p:nvSpPr>
          <p:cNvPr id="6" name="Stat card"/>
          <p:cNvSpPr/>
          <p:nvPr/>
        </p:nvSpPr>
        <p:spPr>
          <a:xfrm>
            <a:off x="1527048" y="233172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423160"/>
            <a:ext cx="20299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Sum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doanh thu</a:t>
            </a:r>
          </a:p>
        </p:txBody>
      </p:sp>
      <p:sp>
        <p:nvSpPr>
          <p:cNvPr id="8" name="Stat card"/>
          <p:cNvSpPr/>
          <p:nvPr/>
        </p:nvSpPr>
        <p:spPr>
          <a:xfrm>
            <a:off x="4087368" y="233172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4270248" y="2423160"/>
            <a:ext cx="20299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Count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6.187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≠ 3.144 đơn</a:t>
            </a:r>
          </a:p>
        </p:txBody>
      </p:sp>
      <p:sp>
        <p:nvSpPr>
          <p:cNvPr id="10" name="Stat card"/>
          <p:cNvSpPr/>
          <p:nvPr/>
        </p:nvSpPr>
        <p:spPr>
          <a:xfrm>
            <a:off x="6647688" y="233172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830568" y="2423160"/>
            <a:ext cx="20299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Average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152.166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/ dòng</a:t>
            </a:r>
          </a:p>
        </p:txBody>
      </p:sp>
      <p:sp>
        <p:nvSpPr>
          <p:cNvPr id="12" name="Stat card"/>
          <p:cNvSpPr/>
          <p:nvPr/>
        </p:nvSpPr>
        <p:spPr>
          <a:xfrm>
            <a:off x="9208007" y="233172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9390887" y="2423160"/>
            <a:ext cx="20299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Max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1.470.000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lớn nhất</a:t>
            </a:r>
          </a:p>
        </p:txBody>
      </p:sp>
      <p:pic>
        <p:nvPicPr>
          <p:cNvPr id="14" name="Screenshot S23_count_default" descr="S23_count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83" y="3611880"/>
            <a:ext cx="5168969" cy="24231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5" name="TIP callout"/>
          <p:cNvSpPr/>
          <p:nvPr/>
        </p:nvSpPr>
        <p:spPr>
          <a:xfrm>
            <a:off x="7726679" y="3611880"/>
            <a:ext cx="3922776" cy="24231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7836407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8412480" y="3703320"/>
            <a:ext cx="3127248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Kéo cột số vào Values mà Pivot hiện COUNT → cột có ô trống hoặc chữ. Đổi sang Sum thì ra 940.480.000: Excel lặng lẽ bỏ qua 3 ô lỗi (thiếu 974.000).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Demo/B3_Demo_Loi_Du_lieu.xlsx, sheet Sales_Loi → PivotTable · thẻ số: Demo/B3_Demo_Pivot.xlsx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 Values As: % of Column Total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TÍNH TOÁN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Show Values As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Hiển thị con số dưới dạng khác (tỷ trọng, chênh lệch, lũy kế…) mà KHÔNG tạo dữ liệu mới.</a:t>
            </a:r>
          </a:p>
        </p:txBody>
      </p:sp>
      <p:pic>
        <p:nvPicPr>
          <p:cNvPr id="6" name="Screenshot S24_pct_column" descr="S24_pct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331720"/>
            <a:ext cx="5486400" cy="27432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Stat card"/>
          <p:cNvSpPr/>
          <p:nvPr/>
        </p:nvSpPr>
        <p:spPr>
          <a:xfrm>
            <a:off x="7543800" y="2331720"/>
            <a:ext cx="2011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7726679" y="2423160"/>
            <a:ext cx="16459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Bánh kẹo · 20 ngày trước Tết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50,8%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ngày thường 27,9%</a:t>
            </a:r>
          </a:p>
        </p:txBody>
      </p:sp>
      <p:sp>
        <p:nvSpPr>
          <p:cNvPr id="9" name="Stat card"/>
          <p:cNvSpPr/>
          <p:nvPr/>
        </p:nvSpPr>
        <p:spPr>
          <a:xfrm>
            <a:off x="9646920" y="2331720"/>
            <a:ext cx="200253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9829800" y="2423160"/>
            <a:ext cx="1636776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Đồ uống · trước Tết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11,7%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ngày thường 11,5%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7543800" y="3749039"/>
            <a:ext cx="410565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Đồ uống bán gấp ~1,8 lần mỗi ngày trước Tết, nhưng cả cửa hàng cũng tăng: tỷ trọng đứng yên ≠ doanh thu đứng yên.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21208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30352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% of COLUMN Total: mỗi cột cộng lại 100%. Tháng ở cột → so cơ cấu TRONG từng tháng. % of Grand Total: Nam 45,4% · Bắc 34,4% · Trung 20,2%.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PV_NganhHang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 Difference From · Running Total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TÍNH TOÁN</a:t>
            </a:r>
          </a:p>
        </p:txBody>
      </p:sp>
      <p:graphicFrame>
        <p:nvGraphicFramePr>
          <p:cNvPr id="4" name="Functions"/>
          <p:cNvGraphicFramePr>
            <a:graphicFrameLocks noGrp="1"/>
          </p:cNvGraphicFramePr>
          <p:nvPr/>
        </p:nvGraphicFramePr>
        <p:xfrm>
          <a:off x="1527048" y="1463040"/>
          <a:ext cx="10122408" cy="1508760"/>
        </p:xfrm>
        <a:graphic>
          <a:graphicData uri="http://schemas.openxmlformats.org/drawingml/2006/table">
            <a:tbl>
              <a:tblPr firstRow="1" bandRow="0"/>
              <a:tblGrid>
                <a:gridCol w="3017520"/>
                <a:gridCol w="3840480"/>
                <a:gridCol w="32644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Quý 1/2025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% Difference From (previous)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Tăng trưởng so với mục liền trước (MoM)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T2 −42,2% · T3 +9,6%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Running Total 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Lũy kế theo thứ tự mục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425,9 · 671,8 · 941,5 triệu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25_mom_running" descr="S25_mom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292237"/>
            <a:ext cx="7132320" cy="1736565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TIP callout"/>
          <p:cNvSpPr/>
          <p:nvPr/>
        </p:nvSpPr>
        <p:spPr>
          <a:xfrm>
            <a:off x="8823960" y="3154680"/>
            <a:ext cx="2825496" cy="2011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933688" y="32644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9509760" y="3246120"/>
            <a:ext cx="202996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Base item (previous) = so với tháng liền trước; tháng đầu để trống.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27048" y="5303520"/>
            <a:ext cx="10122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Ba cột cùng lấy từ MỘT trường Revenue: Show Values As chỉ đổi cách hiển thị.</a:t>
            </a:r>
          </a:p>
        </p:txBody>
      </p:sp>
      <p:sp>
        <p:nvSpPr>
          <p:cNvPr id="10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PV_Thang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Field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TÍNH TOÁN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Calculated Field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Tạo trường mới bằng công thức trên TỔNG của các trường khác.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286000"/>
            <a:ext cx="5120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2860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286000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AOV  =Revenue/So_don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27048" y="2788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Cột đếm trong tblSales:  </a:t>
            </a:r>
            <a:r>
              <a:rPr sz="1400" b="1">
                <a:solidFill>
                  <a:srgbClr val="1B2230"/>
                </a:solidFill>
                <a:latin typeface="Arial"/>
              </a:rPr>
              <a:t>So_don =IF([@Line_No]=1,1,0)</a:t>
            </a:r>
          </a:p>
        </p:txBody>
      </p:sp>
      <p:pic>
        <p:nvPicPr>
          <p:cNvPr id="10" name="Screenshot S26_calc_field" descr="S26_calc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03" y="3246120"/>
            <a:ext cx="4944329" cy="19202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1" name="Stat card"/>
          <p:cNvSpPr/>
          <p:nvPr/>
        </p:nvSpPr>
        <p:spPr>
          <a:xfrm>
            <a:off x="6812280" y="2286000"/>
            <a:ext cx="48371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6995160" y="2377440"/>
            <a:ext cx="447141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Count of Order_ID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6.187  ✘</a:t>
            </a:r>
          </a:p>
        </p:txBody>
      </p:sp>
      <p:sp>
        <p:nvSpPr>
          <p:cNvPr id="13" name="Stat card"/>
          <p:cNvSpPr/>
          <p:nvPr/>
        </p:nvSpPr>
        <p:spPr>
          <a:xfrm>
            <a:off x="6812280" y="3264408"/>
            <a:ext cx="48371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6995160" y="3355848"/>
            <a:ext cx="447141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Sum of So_don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E7D32"/>
                </a:solidFill>
                <a:latin typeface="Arial"/>
              </a:rPr>
              <a:t>3.144  ✔</a:t>
            </a:r>
          </a:p>
        </p:txBody>
      </p:sp>
      <p:sp>
        <p:nvSpPr>
          <p:cNvPr id="15" name="Stat card"/>
          <p:cNvSpPr/>
          <p:nvPr/>
        </p:nvSpPr>
        <p:spPr>
          <a:xfrm>
            <a:off x="6812280" y="4242816"/>
            <a:ext cx="48371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6995160" y="4334256"/>
            <a:ext cx="447141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AOV Grand Total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299.445</a:t>
            </a:r>
          </a:p>
        </p:txBody>
      </p:sp>
      <p:sp>
        <p:nvSpPr>
          <p:cNvPr id="17" name="PRO TIP callout"/>
          <p:cNvSpPr/>
          <p:nvPr/>
        </p:nvSpPr>
        <p:spPr>
          <a:xfrm>
            <a:off x="1527048" y="530352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 TIP chip"/>
          <p:cNvSpPr/>
          <p:nvPr/>
        </p:nvSpPr>
        <p:spPr>
          <a:xfrm>
            <a:off x="1636776" y="54132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9" name="PRO TIP text"/>
          <p:cNvSpPr txBox="1"/>
          <p:nvPr/>
        </p:nvSpPr>
        <p:spPr>
          <a:xfrm>
            <a:off x="2734056" y="5394959"/>
            <a:ext cx="880567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Calculated Field luôn tính trên TỔNG: AOV Grand Total = 941.454.000 ÷ 3.144 (tổng ÷ tổng), không phải trung bình AOV các tháng. Cần đếm thì thêm cột đếm vào nguồn.</a:t>
            </a:r>
          </a:p>
        </p:txBody>
      </p:sp>
      <p:sp>
        <p:nvSpPr>
          <p:cNvPr id="20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PV_Thang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PivotChart: biểu đồ trả lời câu hỏi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câu hỏi chọn chart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PIVOTCHART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6304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1 · </a:t>
            </a:r>
            <a:r>
              <a:rPr sz="1700" b="0">
                <a:solidFill>
                  <a:srgbClr val="1B2230"/>
                </a:solidFill>
                <a:latin typeface="Arial"/>
              </a:rPr>
              <a:t>Dữ liệu loại gì? (số, nhóm, thời gian…)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2 · </a:t>
            </a:r>
            <a:r>
              <a:rPr sz="1700" b="0">
                <a:solidFill>
                  <a:srgbClr val="1B2230"/>
                </a:solidFill>
                <a:latin typeface="Arial"/>
              </a:rPr>
              <a:t>Muốn truyền đạt gì? (xu hướng, so sánh, cơ cấu…)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3 · </a:t>
            </a:r>
            <a:r>
              <a:rPr sz="1700" b="0">
                <a:solidFill>
                  <a:srgbClr val="1B2230"/>
                </a:solidFill>
                <a:latin typeface="Arial"/>
              </a:rPr>
              <a:t>Ai xem? (nhà phân tích, giám đốc…)</a:t>
            </a:r>
          </a:p>
        </p:txBody>
      </p:sp>
      <p:graphicFrame>
        <p:nvGraphicFramePr>
          <p:cNvPr id="5" name="Chart chooser"/>
          <p:cNvGraphicFramePr>
            <a:graphicFrameLocks noGrp="1"/>
          </p:cNvGraphicFramePr>
          <p:nvPr/>
        </p:nvGraphicFramePr>
        <p:xfrm>
          <a:off x="1527048" y="3429000"/>
          <a:ext cx="4937760" cy="1645920"/>
        </p:xfrm>
        <a:graphic>
          <a:graphicData uri="http://schemas.openxmlformats.org/drawingml/2006/table">
            <a:tbl>
              <a:tblPr firstRow="1" bandRow="0"/>
              <a:tblGrid>
                <a:gridCol w="2834640"/>
                <a:gridCol w="21031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Câu hỏi dữ liệu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Chart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Xu hướng theo thời gian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So sánh giữa các nhóm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Column / Bar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Cơ cấu / tỷ trọng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Stacked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"/>
          <p:cNvSpPr txBox="1"/>
          <p:nvPr/>
        </p:nvSpPr>
        <p:spPr>
          <a:xfrm>
            <a:off x="6675120" y="1463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9C0006"/>
                </a:solidFill>
                <a:latin typeface="Arial"/>
              </a:rPr>
              <a:t>✘ Pie cho xu hướng</a:t>
            </a:r>
          </a:p>
        </p:txBody>
      </p:sp>
      <p:pic>
        <p:nvPicPr>
          <p:cNvPr id="7" name="Screenshot S28a_pie_wrong" descr="S28a_pie_w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33449"/>
            <a:ext cx="2377440" cy="2276701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extBox"/>
          <p:cNvSpPr txBox="1"/>
          <p:nvPr/>
        </p:nvSpPr>
        <p:spPr>
          <a:xfrm>
            <a:off x="9272016" y="1463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E7D32"/>
                </a:solidFill>
                <a:latin typeface="Arial"/>
              </a:rPr>
              <a:t>✔ Line</a:t>
            </a:r>
          </a:p>
        </p:txBody>
      </p:sp>
      <p:pic>
        <p:nvPicPr>
          <p:cNvPr id="9" name="Screenshot S28b_line_right" descr="S28b_lin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16" y="1833449"/>
            <a:ext cx="2377440" cy="2276701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IP callout"/>
          <p:cNvSpPr/>
          <p:nvPr/>
        </p:nvSpPr>
        <p:spPr>
          <a:xfrm>
            <a:off x="6675120" y="4343400"/>
            <a:ext cx="4974336" cy="1691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784848" y="44531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7360920" y="4434840"/>
            <a:ext cx="417880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Tiêu đề biểu đồ là CÂU KẾT LUẬN: “Doanh thu sụt 42% trong tháng Tết”, không phải “Doanh thu theo tháng”.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PV_Thang · bảng chọn chart đủ 8 loại ở Buổi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PivotChart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PIVOTCHART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PivotChart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Biểu đồ gắn với Pivot: đổi trường, lọc Slicer / Timeline thì biểu đồ đổi theo.</a:t>
            </a:r>
          </a:p>
        </p:txBody>
      </p:sp>
      <p:pic>
        <p:nvPicPr>
          <p:cNvPr id="6" name="Screenshot S29_pivotchart_ngay" descr="S29_pivotchart_ng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367" y="2331720"/>
            <a:ext cx="4816562" cy="374903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Stat card"/>
          <p:cNvSpPr/>
          <p:nvPr/>
        </p:nvSpPr>
        <p:spPr>
          <a:xfrm>
            <a:off x="9006840" y="2331720"/>
            <a:ext cx="2642616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9189719" y="2423160"/>
            <a:ext cx="22768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01–08/01</a:t>
            </a:r>
          </a:p>
          <a:p>
            <a:pPr>
              <a:spcBef>
                <a:spcPts val="2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10,7 tr/ngày</a:t>
            </a:r>
          </a:p>
        </p:txBody>
      </p:sp>
      <p:sp>
        <p:nvSpPr>
          <p:cNvPr id="9" name="Stat card"/>
          <p:cNvSpPr/>
          <p:nvPr/>
        </p:nvSpPr>
        <p:spPr>
          <a:xfrm>
            <a:off x="9006840" y="3099815"/>
            <a:ext cx="2642616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9189719" y="3191256"/>
            <a:ext cx="22768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09–28/01 · trước Tết</a:t>
            </a:r>
          </a:p>
          <a:p>
            <a:pPr>
              <a:spcBef>
                <a:spcPts val="2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16,5 tr/ngày</a:t>
            </a:r>
          </a:p>
        </p:txBody>
      </p:sp>
      <p:sp>
        <p:nvSpPr>
          <p:cNvPr id="11" name="Stat card"/>
          <p:cNvSpPr/>
          <p:nvPr/>
        </p:nvSpPr>
        <p:spPr>
          <a:xfrm>
            <a:off x="9006840" y="3867911"/>
            <a:ext cx="2642616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9189719" y="3959351"/>
            <a:ext cx="22768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29/01–02/02 · nghỉ Tết</a:t>
            </a:r>
          </a:p>
          <a:p>
            <a:pPr>
              <a:spcBef>
                <a:spcPts val="200"/>
              </a:spcBef>
            </a:pPr>
            <a:r>
              <a:rPr sz="1700" b="1">
                <a:solidFill>
                  <a:srgbClr val="9C0006"/>
                </a:solidFill>
                <a:latin typeface="Arial"/>
              </a:rPr>
              <a:t>3,0 tr/ngày</a:t>
            </a:r>
          </a:p>
        </p:txBody>
      </p:sp>
      <p:sp>
        <p:nvSpPr>
          <p:cNvPr id="13" name="Stat card"/>
          <p:cNvSpPr/>
          <p:nvPr/>
        </p:nvSpPr>
        <p:spPr>
          <a:xfrm>
            <a:off x="9006840" y="4636008"/>
            <a:ext cx="2642616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9189719" y="4727448"/>
            <a:ext cx="22768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từ 03/02</a:t>
            </a:r>
          </a:p>
          <a:p>
            <a:pPr>
              <a:spcBef>
                <a:spcPts val="2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9,0 tr/ngày</a:t>
            </a:r>
          </a:p>
        </p:txBody>
      </p:sp>
      <p:sp>
        <p:nvSpPr>
          <p:cNvPr id="15" name="TIP callout"/>
          <p:cNvSpPr/>
          <p:nvPr/>
        </p:nvSpPr>
        <p:spPr>
          <a:xfrm>
            <a:off x="9006840" y="5440680"/>
            <a:ext cx="2642616" cy="6400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9116567" y="55504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9692640" y="5532120"/>
            <a:ext cx="1847088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Ẩn nút lọc: Field Buttons → Hide All.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PV_Ngay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Báo cáo Pivot &amp; đối soát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15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1. </a:t>
            </a:r>
            <a:r>
              <a:rPr sz="1500" b="0">
                <a:solidFill>
                  <a:srgbClr val="1B2230"/>
                </a:solidFill>
                <a:latin typeface="Arial"/>
              </a:rPr>
              <a:t>File B3_&lt;HoTen&gt;.xlsx: thêm cột So_don =IF([@Line_No]=1,1,0) vào tblSales.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2. </a:t>
            </a:r>
            <a:r>
              <a:rPr sz="1500" b="0">
                <a:solidFill>
                  <a:srgbClr val="1B2230"/>
                </a:solidFill>
                <a:latin typeface="Arial"/>
              </a:rPr>
              <a:t>PV_MienThang: Region × Thang, Doanh thu (#,##0, Outline). Đối soát GETPIVOTDATA Bắc–T3 − KPI_SUMIFS!D6 = 0.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3. </a:t>
            </a:r>
            <a:r>
              <a:rPr sz="1500" b="0">
                <a:solidFill>
                  <a:srgbClr val="1B2230"/>
                </a:solidFill>
                <a:latin typeface="Arial"/>
              </a:rPr>
              <a:t>PV_NganhHang: Category × Thang, % of Column Total.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4. </a:t>
            </a:r>
            <a:r>
              <a:rPr sz="1500" b="0">
                <a:solidFill>
                  <a:srgbClr val="1B2230"/>
                </a:solidFill>
                <a:latin typeface="Arial"/>
              </a:rPr>
              <a:t>PV_Thang: Doanh thu, MoM % (% Difference From, previous), Lũy kế, Số đơn (Sum So_don), AOV (Calculated Field).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5. </a:t>
            </a:r>
            <a:r>
              <a:rPr sz="1500" b="0">
                <a:solidFill>
                  <a:srgbClr val="1B2230"/>
                </a:solidFill>
                <a:latin typeface="Arial"/>
              </a:rPr>
              <a:t>Slicer Store_Code, Report Connections nối 3 Pivot.</a:t>
            </a:r>
          </a:p>
        </p:txBody>
      </p:sp>
      <p:sp>
        <p:nvSpPr>
          <p:cNvPr id="6" name="Check box"/>
          <p:cNvSpPr/>
          <p:nvPr/>
        </p:nvSpPr>
        <p:spPr>
          <a:xfrm>
            <a:off x="8110727" y="1463040"/>
            <a:ext cx="3538728" cy="4572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293608" y="1600200"/>
            <a:ext cx="3172968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Tổng Pivot = tổng SUMIFS B2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Bắc–T3: 90.210.000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Bánh kẹo T1: 45,6%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MoM T2: −42,2%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3.144 đơn · AOV 299.445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File khởi đầu: ../B2_Ham_va_KPI/Practice/B2_MCI_Mart_Q1_2025_Answer.xlsx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Tìm câu chuyện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12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1. </a:t>
            </a:r>
            <a:r>
              <a:rPr sz="1500" b="0">
                <a:solidFill>
                  <a:srgbClr val="1B2230"/>
                </a:solidFill>
                <a:latin typeface="Arial"/>
              </a:rPr>
              <a:t>PV_Ngay: Order_Date (Group → Days) × Doanh thu → PivotChart Line; thêm Timeline Order_Date.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2. </a:t>
            </a:r>
            <a:r>
              <a:rPr sz="1500" b="0">
                <a:solidFill>
                  <a:srgbClr val="1B2230"/>
                </a:solidFill>
                <a:latin typeface="Arial"/>
              </a:rPr>
              <a:t>PV_Thu: Thu × Doanh thu, sắp xếp giảm dần → PivotChart Column.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3. </a:t>
            </a:r>
            <a:r>
              <a:rPr sz="1500" b="0">
                <a:solidFill>
                  <a:srgbClr val="1B2230"/>
                </a:solidFill>
                <a:latin typeface="Arial"/>
              </a:rPr>
              <a:t>PV_CuaHang: Store_Code × Thang + cột % so tháng trước; double-click ST07 × 3, ghi số đơn trước / sau 10/03.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4. </a:t>
            </a:r>
            <a:r>
              <a:rPr sz="1500" b="0">
                <a:solidFill>
                  <a:srgbClr val="1B2230"/>
                </a:solidFill>
                <a:latin typeface="Arial"/>
              </a:rPr>
              <a:t>Mỗi biểu đồ: tiêu đề là câu kết luận; dòng “Câu hỏi:” ở ô A2.</a:t>
            </a:r>
          </a:p>
        </p:txBody>
      </p:sp>
      <p:sp>
        <p:nvSpPr>
          <p:cNvPr id="6" name="Check box"/>
          <p:cNvSpPr/>
          <p:nvPr/>
        </p:nvSpPr>
        <p:spPr>
          <a:xfrm>
            <a:off x="8110727" y="1463040"/>
            <a:ext cx="3538728" cy="4572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293608" y="1600200"/>
            <a:ext cx="3172968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Chủ nhật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159.845.000 đứng đầu; thứ Năm 111.408.000 cuối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ST07 tháng 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8.539.000 (−52,4%), 55 dòng chi tiết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Trước Tết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~16,5 triệu / ngày (09–28/01)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Kết quả mẫu: Practice/B3_MCI_Mart_Q1_2025_Answer.xlsx (sheet PV_Ngay, PV_Thu, PV_CuaHang, ST07_T3_ChiTiet)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Chữa bài nhanh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THỰC HÀNH</a:t>
            </a:r>
          </a:p>
        </p:txBody>
      </p:sp>
      <p:sp>
        <p:nvSpPr>
          <p:cNvPr id="4" name="Checkbox 1"/>
          <p:cNvSpPr/>
          <p:nvPr/>
        </p:nvSpPr>
        <p:spPr>
          <a:xfrm>
            <a:off x="1527048" y="16916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2075688" y="164592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Tổng Pivot = tổng SUMIFS B2 = 941.454.000 (khối đối soát chênh lệch 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27048" y="230428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heckbox 2"/>
          <p:cNvSpPr/>
          <p:nvPr/>
        </p:nvSpPr>
        <p:spPr>
          <a:xfrm>
            <a:off x="1527048" y="251460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2075688" y="246888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PV_NganhHang, PV_Thang dùng Show Values As; AOV bằng Calculated Field (299.445)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27048" y="312724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eckbox 3"/>
          <p:cNvSpPr/>
          <p:nvPr/>
        </p:nvSpPr>
        <p:spPr>
          <a:xfrm>
            <a:off x="1527048" y="33375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2075688" y="329184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Slicer Store_Code lọc được cả 3 Pivot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27048" y="395020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ckbox 4"/>
          <p:cNvSpPr/>
          <p:nvPr/>
        </p:nvSpPr>
        <p:spPr>
          <a:xfrm>
            <a:off x="1527048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2075688" y="411480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PivotChart theo ngày, theo thứ; tiêu đề là câu kết luận, có dòng “Câu hỏi:”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27048" y="477316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ckbox 5"/>
          <p:cNvSpPr/>
          <p:nvPr/>
        </p:nvSpPr>
        <p:spPr>
          <a:xfrm>
            <a:off x="1527048" y="4983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2075688" y="493776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Đã drill-down ST07 tháng 3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File đáp án Practice/B3_MCI_Mart_Q1_2025_Answer.xlsx (sheet Kiem_tra: 14 dòng đối soát) là file khởi đầu Buổi 4.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câu hỏi nhanh · câu 6–7 là tình huống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Ô Pivot Bắc × Tháng 3 = 90.210.000 tương đương công thức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=SUM(tblSales[Revenue])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=SUMIFS(tblSales[Revenue], tblSales[Region],"Bắc", tblSales[Thang],3)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=COUNTIFS(tblSales[Region],"Bắc", tblSales[Thang],3)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=AVERAGEIFS(tblSales[Revenue], tblSales[Region],"Bắc")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Refresh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Bạn sửa Quantity trong tblSales nhưng Pivot không đổi. Vì sao?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bị khóa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đọc từ bộ nhớ đệm, cần Refresh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Excel đang tính thủ công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chỉ đọc cột Revenue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Summarize Values By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Kéo Revenue vào Values, Pivot hiện “Count of Revenue”. Nguyên nhân khả dĩ nhất?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Revenue là cột công thức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Cột Revenue có ô trống hoặc ô chữ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luôn mặc định Count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Chưa Refresh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Show Values As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Tháng ở cột, ngành hàng ở hàng. Muốn biết mỗi ngành chiếm bao nhiêu % doanh thu CỦA TỪNG THÁNG?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% of Grand Total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% of Row Total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% of Column Total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Running Total 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5: Calculated Field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Calculated Field AOV = Revenue / So_don. Ô Grand Total tính thế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Trung bình AOV của các tháng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Tổng Revenue ÷ tổng So_don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AOV tháng lớn nhất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Tổng AOV các tháng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6: Tình huống — Chọn chart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Sếp muốn nhìn doanh thu 90 ngày Quý 1 để thấy ảnh hưởng của Tết. Chọn loại biểu đồ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Line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Stacked column 100%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Scatter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7: Tình huống — Chọn công cụ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Khi nào VẪN NÊN dùng SUMIFS thay vì Pivot?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Khi cần đổi chiều phân tích liên tục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Khi báo cáo có bố cục cố định và ô kết quả được công thức khác tham chiếu (thẻ KPI, so với target)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Khi dữ liệu có nhiều dòng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Khi cần xem các dòng gốc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5720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(1) Mỗi ô Pivot = một SUMIFS: tọa độ là bộ lọc.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(2) Nguồn Pivot là Table; Pivot đọc cache → Refresh.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(3) Con số bất thường → drill-down trước khi kết luận.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(4) Show Values As, Calculated Field tính trên kết quả đã tổng hợp: tỷ lệ luôn tổng ÷ tổng.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(5) Chọn chart theo câu hỏi; tiêu đề là câu kết luận.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“Doanh thu ___ là ___ (con số, có so sánh), vì ___ (nguyên nhân khả dĩ),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Nguyên nhân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Nguyên nhân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Ba câu chuyện hôm nay: Tết (tháng 1 &gt; tháng 2) · ST07 từ 10/03 · cuối tuần +25%.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Power Query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203864"/>
                </a:solidFill>
                <a:latin typeface="Arial"/>
              </a:rPr>
              <a:t>“Làm sao để việc làm sạch dữ liệu chỉ làm MỘT LẦN, từ đó chỉ cần bấm Refresh?”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5603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1B2230"/>
                </a:solidFill>
                <a:latin typeface="Arial"/>
              </a:rPr>
              <a:t>Giới hạn hôm nay: </a:t>
            </a:r>
            <a:r>
              <a:rPr sz="1600" b="0">
                <a:solidFill>
                  <a:srgbClr val="1B2230"/>
                </a:solidFill>
                <a:latin typeface="Arial"/>
              </a:rPr>
              <a:t>tháng mới về dạng CSV bẩn, tách nhiều file → lại copy-paste, sửa tay rồi mới Refresh được Pivot.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520440"/>
            <a:ext cx="6400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Đọc handout B3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Bài tập về nhà (bắt buộc): B3_BTVN_MCI_Mart_T1_T4_2025.xlsx — nộp trước Buổi 4 tại hocvien.mcivietnam.com, tên file B3_BTVN_&lt;HoTen&gt;.xlsx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Tick “Checklist trước Buổi 4” (mục 10 handout)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9C0006"/>
                </a:solidFill>
                <a:latin typeface="Arial"/>
              </a:rPr>
              <a:t>Buổi 4 bắt buộc máy Windows có Power Query (Data → Get Data)</a:t>
            </a:r>
          </a:p>
        </p:txBody>
      </p:sp>
      <p:sp>
        <p:nvSpPr>
          <p:cNvPr id="7" name="Brick B3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B3 · Báo cáo Pivot</a:t>
            </a:r>
          </a:p>
        </p:txBody>
      </p:sp>
      <p:sp>
        <p:nvSpPr>
          <p:cNvPr id="9" name="Brick B4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B4 · Pipeline Power Query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Giữ file đáp án B3: file khởi đầu Buổi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