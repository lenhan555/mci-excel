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8" r:id="rId1"/>
  </p:sldMasterIdLst>
  <p:notesMasterIdLst>
    <p:notesMasterId r:id="rId43"/>
  </p:notesMasterIdLst>
  <p:sldIdLst>
    <p:sldId id="302" r:id="rId2"/>
    <p:sldId id="303" r:id="rId10"/>
    <p:sldId id="304" r:id="rId11"/>
    <p:sldId id="305" r:id="rId12"/>
    <p:sldId id="306" r:id="rId13"/>
    <p:sldId id="307" r:id="rId14"/>
    <p:sldId id="308" r:id="rId15"/>
    <p:sldId id="309" r:id="rId16"/>
    <p:sldId id="310" r:id="rId17"/>
    <p:sldId id="311" r:id="rId18"/>
    <p:sldId id="312" r:id="rId19"/>
    <p:sldId id="313" r:id="rId20"/>
    <p:sldId id="314" r:id="rId21"/>
    <p:sldId id="315" r:id="rId22"/>
    <p:sldId id="316" r:id="rId23"/>
    <p:sldId id="317" r:id="rId24"/>
    <p:sldId id="318" r:id="rId25"/>
    <p:sldId id="319" r:id="rId26"/>
    <p:sldId id="320" r:id="rId27"/>
    <p:sldId id="321" r:id="rId28"/>
    <p:sldId id="322" r:id="rId29"/>
    <p:sldId id="323" r:id="rId30"/>
    <p:sldId id="324" r:id="rId31"/>
    <p:sldId id="325" r:id="rId32"/>
    <p:sldId id="326" r:id="rId33"/>
    <p:sldId id="327" r:id="rId34"/>
    <p:sldId id="328" r:id="rId35"/>
    <p:sldId id="329" r:id="rId36"/>
    <p:sldId id="330" r:id="rId37"/>
    <p:sldId id="331" r:id="rId38"/>
    <p:sldId id="332" r:id="rId39"/>
    <p:sldId id="333" r:id="rId40"/>
    <p:sldId id="334" r:id="rId41"/>
    <p:sldId id="335" r:id="rId42"/>
    <p:sldId id="336" r:id="rId9"/>
    <p:sldId id="337" r:id="rId8"/>
    <p:sldId id="338" r:id="rId7"/>
    <p:sldId id="339" r:id="rId6"/>
    <p:sldId id="340" r:id="rId5"/>
    <p:sldId id="341" r:id="rId4"/>
    <p:sldId id="342" r:id="rId3"/>
    <p:sldId id="343"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B359BD-AC51-4C4E-B5CF-7451A28AFD30}" v="26" dt="2026-09-27T06:48:42.4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6" d="100"/>
          <a:sy n="116" d="100"/>
        </p:scale>
        <p:origin x="2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41.xml"/><Relationship Id="rId4" Type="http://schemas.openxmlformats.org/officeDocument/2006/relationships/slide" Target="slides/slide40.xml"/><Relationship Id="rId5" Type="http://schemas.openxmlformats.org/officeDocument/2006/relationships/slide" Target="slides/slide39.xml"/><Relationship Id="rId6" Type="http://schemas.openxmlformats.org/officeDocument/2006/relationships/slide" Target="slides/slide38.xml"/><Relationship Id="rId7" Type="http://schemas.openxmlformats.org/officeDocument/2006/relationships/slide" Target="slides/slide37.xml"/><Relationship Id="rId8" Type="http://schemas.openxmlformats.org/officeDocument/2006/relationships/slide" Target="slides/slide36.xml"/><Relationship Id="rId9" Type="http://schemas.openxmlformats.org/officeDocument/2006/relationships/slide" Target="slides/slide35.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48" Type="http://schemas.microsoft.com/office/2016/11/relationships/changesInfo" Target="changesInfos/changesInfo1.xml"/><Relationship Id="rId49" Type="http://schemas.microsoft.com/office/2015/10/relationships/revisionInfo" Target="revisionInfo.xml"/><Relationship Id="rId50" Type="http://schemas.openxmlformats.org/officeDocument/2006/relationships/slide" Target="slides/slide4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han Pham Le" userId="6366da15f1f739f9" providerId="LiveId" clId="{B7E72FC1-F79A-4602-B51C-6ED1DC3BF548}"/>
    <pc:docChg chg="undo custSel modSld">
      <pc:chgData name="Nhan Pham Le" userId="6366da15f1f739f9" providerId="LiveId" clId="{B7E72FC1-F79A-4602-B51C-6ED1DC3BF548}" dt="2026-09-27T12:45:57.791" v="170" actId="1076"/>
      <pc:docMkLst>
        <pc:docMk/>
      </pc:docMkLst>
      <pc:sldChg chg="modSp mod">
        <pc:chgData name="Nhan Pham Le" userId="6366da15f1f739f9" providerId="LiveId" clId="{B7E72FC1-F79A-4602-B51C-6ED1DC3BF548}" dt="2026-09-27T06:10:51.550" v="155" actId="20577"/>
        <pc:sldMkLst>
          <pc:docMk/>
          <pc:sldMk cId="2243051540" sldId="302"/>
        </pc:sldMkLst>
        <pc:spChg chg="mod">
          <ac:chgData name="Nhan Pham Le" userId="6366da15f1f739f9" providerId="LiveId" clId="{B7E72FC1-F79A-4602-B51C-6ED1DC3BF548}" dt="2026-09-27T06:10:51.550" v="155" actId="20577"/>
          <ac:spMkLst>
            <pc:docMk/>
            <pc:sldMk cId="2243051540" sldId="302"/>
            <ac:spMk id="15" creationId="{00000000-0000-0000-0000-000000000000}"/>
          </ac:spMkLst>
        </pc:spChg>
      </pc:sldChg>
      <pc:sldChg chg="modNotesTx">
        <pc:chgData name="Nhan Pham Le" userId="6366da15f1f739f9" providerId="LiveId" clId="{B7E72FC1-F79A-4602-B51C-6ED1DC3BF548}" dt="2026-09-27T04:16:20.387" v="153" actId="20577"/>
        <pc:sldMkLst>
          <pc:docMk/>
          <pc:sldMk cId="2890397441" sldId="305"/>
        </pc:sldMkLst>
      </pc:sldChg>
      <pc:sldChg chg="modSp mod">
        <pc:chgData name="Nhan Pham Le" userId="6366da15f1f739f9" providerId="LiveId" clId="{B7E72FC1-F79A-4602-B51C-6ED1DC3BF548}" dt="2026-09-27T06:48:42.492" v="164" actId="20577"/>
        <pc:sldMkLst>
          <pc:docMk/>
          <pc:sldMk cId="1101845905" sldId="308"/>
        </pc:sldMkLst>
        <pc:spChg chg="mod">
          <ac:chgData name="Nhan Pham Le" userId="6366da15f1f739f9" providerId="LiveId" clId="{B7E72FC1-F79A-4602-B51C-6ED1DC3BF548}" dt="2026-09-27T06:48:42.492" v="164" actId="20577"/>
          <ac:spMkLst>
            <pc:docMk/>
            <pc:sldMk cId="1101845905" sldId="308"/>
            <ac:spMk id="16" creationId="{00000000-0000-0000-0000-000000000000}"/>
          </ac:spMkLst>
        </pc:spChg>
      </pc:sldChg>
      <pc:sldChg chg="addSp delSp modSp mod">
        <pc:chgData name="Nhan Pham Le" userId="6366da15f1f739f9" providerId="LiveId" clId="{B7E72FC1-F79A-4602-B51C-6ED1DC3BF548}" dt="2026-09-26T03:51:11.711" v="79" actId="1076"/>
        <pc:sldMkLst>
          <pc:docMk/>
          <pc:sldMk cId="2305079537" sldId="309"/>
        </pc:sldMkLst>
        <pc:spChg chg="del">
          <ac:chgData name="Nhan Pham Le" userId="6366da15f1f739f9" providerId="LiveId" clId="{B7E72FC1-F79A-4602-B51C-6ED1DC3BF548}" dt="2026-09-26T03:50:42.316" v="71" actId="478"/>
          <ac:spMkLst>
            <pc:docMk/>
            <pc:sldMk cId="2305079537" sldId="309"/>
            <ac:spMk id="15" creationId="{00000000-0000-0000-0000-000000000000}"/>
          </ac:spMkLst>
        </pc:spChg>
        <pc:spChg chg="add del">
          <ac:chgData name="Nhan Pham Le" userId="6366da15f1f739f9" providerId="LiveId" clId="{B7E72FC1-F79A-4602-B51C-6ED1DC3BF548}" dt="2026-09-26T03:50:12.435" v="55" actId="478"/>
          <ac:spMkLst>
            <pc:docMk/>
            <pc:sldMk cId="2305079537" sldId="309"/>
            <ac:spMk id="19" creationId="{00000000-0000-0000-0000-000000000000}"/>
          </ac:spMkLst>
        </pc:spChg>
        <pc:spChg chg="del">
          <ac:chgData name="Nhan Pham Le" userId="6366da15f1f739f9" providerId="LiveId" clId="{B7E72FC1-F79A-4602-B51C-6ED1DC3BF548}" dt="2026-09-26T03:49:31.084" v="23" actId="478"/>
          <ac:spMkLst>
            <pc:docMk/>
            <pc:sldMk cId="2305079537" sldId="309"/>
            <ac:spMk id="26" creationId="{00000000-0000-0000-0000-000000000000}"/>
          </ac:spMkLst>
        </pc:spChg>
        <pc:picChg chg="add mod">
          <ac:chgData name="Nhan Pham Le" userId="6366da15f1f739f9" providerId="LiveId" clId="{B7E72FC1-F79A-4602-B51C-6ED1DC3BF548}" dt="2026-09-26T03:51:00.474" v="73" actId="1076"/>
          <ac:picMkLst>
            <pc:docMk/>
            <pc:sldMk cId="2305079537" sldId="309"/>
            <ac:picMk id="3" creationId="{3C617E78-B8BD-D553-69B2-2A5B3120DB34}"/>
          </ac:picMkLst>
        </pc:picChg>
        <pc:picChg chg="add del mod">
          <ac:chgData name="Nhan Pham Le" userId="6366da15f1f739f9" providerId="LiveId" clId="{B7E72FC1-F79A-4602-B51C-6ED1DC3BF548}" dt="2026-09-26T03:49:54.698" v="51" actId="931"/>
          <ac:picMkLst>
            <pc:docMk/>
            <pc:sldMk cId="2305079537" sldId="309"/>
            <ac:picMk id="5" creationId="{989499CC-C265-5E62-B7BC-31A300092470}"/>
          </ac:picMkLst>
        </pc:picChg>
        <pc:picChg chg="add mod">
          <ac:chgData name="Nhan Pham Le" userId="6366da15f1f739f9" providerId="LiveId" clId="{B7E72FC1-F79A-4602-B51C-6ED1DC3BF548}" dt="2026-09-26T03:50:39.909" v="70" actId="1076"/>
          <ac:picMkLst>
            <pc:docMk/>
            <pc:sldMk cId="2305079537" sldId="309"/>
            <ac:picMk id="6" creationId="{DD883AE4-6470-0C84-0E26-C702578F279A}"/>
          </ac:picMkLst>
        </pc:picChg>
        <pc:picChg chg="add mod">
          <ac:chgData name="Nhan Pham Le" userId="6366da15f1f739f9" providerId="LiveId" clId="{B7E72FC1-F79A-4602-B51C-6ED1DC3BF548}" dt="2026-09-26T03:51:11.711" v="79" actId="1076"/>
          <ac:picMkLst>
            <pc:docMk/>
            <pc:sldMk cId="2305079537" sldId="309"/>
            <ac:picMk id="8" creationId="{3F45C3E1-B429-9813-BF6A-49EEE0488E98}"/>
          </ac:picMkLst>
        </pc:picChg>
      </pc:sldChg>
      <pc:sldChg chg="addSp delSp modSp mod">
        <pc:chgData name="Nhan Pham Le" userId="6366da15f1f739f9" providerId="LiveId" clId="{B7E72FC1-F79A-4602-B51C-6ED1DC3BF548}" dt="2026-09-27T12:45:57.791" v="170" actId="1076"/>
        <pc:sldMkLst>
          <pc:docMk/>
          <pc:sldMk cId="581420438" sldId="311"/>
        </pc:sldMkLst>
        <pc:spChg chg="del">
          <ac:chgData name="Nhan Pham Le" userId="6366da15f1f739f9" providerId="LiveId" clId="{B7E72FC1-F79A-4602-B51C-6ED1DC3BF548}" dt="2026-09-26T03:24:48.767" v="5" actId="478"/>
          <ac:spMkLst>
            <pc:docMk/>
            <pc:sldMk cId="581420438" sldId="311"/>
            <ac:spMk id="13" creationId="{00000000-0000-0000-0000-000000000000}"/>
          </ac:spMkLst>
        </pc:spChg>
        <pc:picChg chg="add mod">
          <ac:chgData name="Nhan Pham Le" userId="6366da15f1f739f9" providerId="LiveId" clId="{B7E72FC1-F79A-4602-B51C-6ED1DC3BF548}" dt="2026-09-27T12:45:57.791" v="170" actId="1076"/>
          <ac:picMkLst>
            <pc:docMk/>
            <pc:sldMk cId="581420438" sldId="311"/>
            <ac:picMk id="2" creationId="{98605493-0F18-F786-A36C-68C4B37DD16E}"/>
          </ac:picMkLst>
        </pc:picChg>
      </pc:sldChg>
      <pc:sldChg chg="addSp modSp mod">
        <pc:chgData name="Nhan Pham Le" userId="6366da15f1f739f9" providerId="LiveId" clId="{B7E72FC1-F79A-4602-B51C-6ED1DC3BF548}" dt="2026-09-26T04:33:33.870" v="123" actId="1076"/>
        <pc:sldMkLst>
          <pc:docMk/>
          <pc:sldMk cId="4276141528" sldId="312"/>
        </pc:sldMkLst>
        <pc:picChg chg="add mod">
          <ac:chgData name="Nhan Pham Le" userId="6366da15f1f739f9" providerId="LiveId" clId="{B7E72FC1-F79A-4602-B51C-6ED1DC3BF548}" dt="2026-09-26T04:33:33.870" v="123" actId="1076"/>
          <ac:picMkLst>
            <pc:docMk/>
            <pc:sldMk cId="4276141528" sldId="312"/>
            <ac:picMk id="3" creationId="{86E05C74-85F6-F0AB-5F35-FCEC61971E81}"/>
          </ac:picMkLst>
        </pc:picChg>
      </pc:sldChg>
      <pc:sldChg chg="addSp delSp modSp mod">
        <pc:chgData name="Nhan Pham Le" userId="6366da15f1f739f9" providerId="LiveId" clId="{B7E72FC1-F79A-4602-B51C-6ED1DC3BF548}" dt="2026-09-26T03:58:45.692" v="88" actId="1076"/>
        <pc:sldMkLst>
          <pc:docMk/>
          <pc:sldMk cId="2738025778" sldId="313"/>
        </pc:sldMkLst>
        <pc:spChg chg="del mod">
          <ac:chgData name="Nhan Pham Le" userId="6366da15f1f739f9" providerId="LiveId" clId="{B7E72FC1-F79A-4602-B51C-6ED1DC3BF548}" dt="2026-09-26T03:58:36.896" v="84" actId="478"/>
          <ac:spMkLst>
            <pc:docMk/>
            <pc:sldMk cId="2738025778" sldId="313"/>
            <ac:spMk id="21" creationId="{00000000-0000-0000-0000-000000000000}"/>
          </ac:spMkLst>
        </pc:spChg>
        <pc:picChg chg="add mod">
          <ac:chgData name="Nhan Pham Le" userId="6366da15f1f739f9" providerId="LiveId" clId="{B7E72FC1-F79A-4602-B51C-6ED1DC3BF548}" dt="2026-09-26T03:58:45.692" v="88" actId="1076"/>
          <ac:picMkLst>
            <pc:docMk/>
            <pc:sldMk cId="2738025778" sldId="313"/>
            <ac:picMk id="2" creationId="{AAB78CDC-E109-F1A3-2B4E-ECC07A0591AD}"/>
          </ac:picMkLst>
        </pc:picChg>
      </pc:sldChg>
      <pc:sldChg chg="addSp delSp modSp mod">
        <pc:chgData name="Nhan Pham Le" userId="6366da15f1f739f9" providerId="LiveId" clId="{B7E72FC1-F79A-4602-B51C-6ED1DC3BF548}" dt="2026-09-26T04:17:16.854" v="110"/>
        <pc:sldMkLst>
          <pc:docMk/>
          <pc:sldMk cId="3127729708" sldId="314"/>
        </pc:sldMkLst>
        <pc:spChg chg="del">
          <ac:chgData name="Nhan Pham Le" userId="6366da15f1f739f9" providerId="LiveId" clId="{B7E72FC1-F79A-4602-B51C-6ED1DC3BF548}" dt="2026-09-26T04:08:34.452" v="92" actId="478"/>
          <ac:spMkLst>
            <pc:docMk/>
            <pc:sldMk cId="3127729708" sldId="314"/>
            <ac:spMk id="15" creationId="{00000000-0000-0000-0000-000000000000}"/>
          </ac:spMkLst>
        </pc:spChg>
        <pc:spChg chg="del">
          <ac:chgData name="Nhan Pham Le" userId="6366da15f1f739f9" providerId="LiveId" clId="{B7E72FC1-F79A-4602-B51C-6ED1DC3BF548}" dt="2026-09-26T04:09:20.617" v="96" actId="478"/>
          <ac:spMkLst>
            <pc:docMk/>
            <pc:sldMk cId="3127729708" sldId="314"/>
            <ac:spMk id="23" creationId="{00000000-0000-0000-0000-000000000000}"/>
          </ac:spMkLst>
        </pc:spChg>
        <pc:picChg chg="add mod">
          <ac:chgData name="Nhan Pham Le" userId="6366da15f1f739f9" providerId="LiveId" clId="{B7E72FC1-F79A-4602-B51C-6ED1DC3BF548}" dt="2026-09-26T04:17:16.854" v="106"/>
          <ac:picMkLst>
            <pc:docMk/>
            <pc:sldMk cId="3127729708" sldId="314"/>
            <ac:picMk id="2" creationId="{D9B43E15-821C-27C4-802B-45F8A890A497}"/>
          </ac:picMkLst>
        </pc:picChg>
        <pc:picChg chg="add mod">
          <ac:chgData name="Nhan Pham Le" userId="6366da15f1f739f9" providerId="LiveId" clId="{B7E72FC1-F79A-4602-B51C-6ED1DC3BF548}" dt="2026-09-26T04:17:16.854" v="110"/>
          <ac:picMkLst>
            <pc:docMk/>
            <pc:sldMk cId="3127729708" sldId="314"/>
            <ac:picMk id="4" creationId="{90577642-D658-1AD2-2A99-A06066F85288}"/>
          </ac:picMkLst>
        </pc:picChg>
      </pc:sldChg>
      <pc:sldChg chg="addSp modSp mod">
        <pc:chgData name="Nhan Pham Le" userId="6366da15f1f739f9" providerId="LiveId" clId="{B7E72FC1-F79A-4602-B51C-6ED1DC3BF548}" dt="2026-09-26T04:31:35.753" v="119" actId="1076"/>
        <pc:sldMkLst>
          <pc:docMk/>
          <pc:sldMk cId="3367633301" sldId="315"/>
        </pc:sldMkLst>
        <pc:picChg chg="add mod">
          <ac:chgData name="Nhan Pham Le" userId="6366da15f1f739f9" providerId="LiveId" clId="{B7E72FC1-F79A-4602-B51C-6ED1DC3BF548}" dt="2026-09-26T04:29:20.508" v="114" actId="1076"/>
          <ac:picMkLst>
            <pc:docMk/>
            <pc:sldMk cId="3367633301" sldId="315"/>
            <ac:picMk id="3" creationId="{2C4DBD73-1E69-54EA-EE3A-DDB5DAA27206}"/>
          </ac:picMkLst>
        </pc:picChg>
        <pc:picChg chg="add mod">
          <ac:chgData name="Nhan Pham Le" userId="6366da15f1f739f9" providerId="LiveId" clId="{B7E72FC1-F79A-4602-B51C-6ED1DC3BF548}" dt="2026-09-26T04:31:35.753" v="119" actId="1076"/>
          <ac:picMkLst>
            <pc:docMk/>
            <pc:sldMk cId="3367633301" sldId="315"/>
            <ac:picMk id="5" creationId="{4271772C-46F6-5A6B-E0CD-7A39AFBB231A}"/>
          </ac:picMkLst>
        </pc:picChg>
      </pc:sldChg>
      <pc:sldChg chg="addSp delSp modSp mod">
        <pc:chgData name="Nhan Pham Le" userId="6366da15f1f739f9" providerId="LiveId" clId="{B7E72FC1-F79A-4602-B51C-6ED1DC3BF548}" dt="2026-09-26T04:36:52.633" v="131" actId="1076"/>
        <pc:sldMkLst>
          <pc:docMk/>
          <pc:sldMk cId="4045343611" sldId="318"/>
        </pc:sldMkLst>
        <pc:spChg chg="del">
          <ac:chgData name="Nhan Pham Le" userId="6366da15f1f739f9" providerId="LiveId" clId="{B7E72FC1-F79A-4602-B51C-6ED1DC3BF548}" dt="2026-09-26T04:36:45.842" v="127" actId="478"/>
          <ac:spMkLst>
            <pc:docMk/>
            <pc:sldMk cId="4045343611" sldId="318"/>
            <ac:spMk id="26" creationId="{00000000-0000-0000-0000-000000000000}"/>
          </ac:spMkLst>
        </pc:spChg>
        <pc:picChg chg="add mod">
          <ac:chgData name="Nhan Pham Le" userId="6366da15f1f739f9" providerId="LiveId" clId="{B7E72FC1-F79A-4602-B51C-6ED1DC3BF548}" dt="2026-09-26T04:36:52.633" v="131" actId="1076"/>
          <ac:picMkLst>
            <pc:docMk/>
            <pc:sldMk cId="4045343611" sldId="318"/>
            <ac:picMk id="3" creationId="{AFC4F2DD-C53F-E88B-10F6-C3CEBA05A009}"/>
          </ac:picMkLst>
        </pc:picChg>
      </pc:sldChg>
      <pc:sldChg chg="addSp delSp modSp mod">
        <pc:chgData name="Nhan Pham Le" userId="6366da15f1f739f9" providerId="LiveId" clId="{B7E72FC1-F79A-4602-B51C-6ED1DC3BF548}" dt="2026-09-26T10:32:30.127" v="141" actId="962"/>
        <pc:sldMkLst>
          <pc:docMk/>
          <pc:sldMk cId="3317628156" sldId="322"/>
        </pc:sldMkLst>
        <pc:spChg chg="del">
          <ac:chgData name="Nhan Pham Le" userId="6366da15f1f739f9" providerId="LiveId" clId="{B7E72FC1-F79A-4602-B51C-6ED1DC3BF548}" dt="2026-09-26T10:32:04.859" v="139" actId="478"/>
          <ac:spMkLst>
            <pc:docMk/>
            <pc:sldMk cId="3317628156" sldId="322"/>
            <ac:spMk id="15" creationId="{00000000-0000-0000-0000-000000000000}"/>
          </ac:spMkLst>
        </pc:spChg>
        <pc:picChg chg="add mod">
          <ac:chgData name="Nhan Pham Le" userId="6366da15f1f739f9" providerId="LiveId" clId="{B7E72FC1-F79A-4602-B51C-6ED1DC3BF548}" dt="2026-09-26T10:32:30.127" v="141" actId="962"/>
          <ac:picMkLst>
            <pc:docMk/>
            <pc:sldMk cId="3317628156" sldId="322"/>
            <ac:picMk id="3" creationId="{EBEEDFE3-3F9B-C84C-2D4E-2A98C806E7C3}"/>
          </ac:picMkLst>
        </pc:picChg>
      </pc:sldChg>
      <pc:sldChg chg="modSp mod">
        <pc:chgData name="Nhan Pham Le" userId="6366da15f1f739f9" providerId="LiveId" clId="{B7E72FC1-F79A-4602-B51C-6ED1DC3BF548}" dt="2026-09-27T06:47:11.517" v="162" actId="20577"/>
        <pc:sldMkLst>
          <pc:docMk/>
          <pc:sldMk cId="866443025" sldId="342"/>
        </pc:sldMkLst>
        <pc:spChg chg="mod">
          <ac:chgData name="Nhan Pham Le" userId="6366da15f1f739f9" providerId="LiveId" clId="{B7E72FC1-F79A-4602-B51C-6ED1DC3BF548}" dt="2026-09-27T06:47:11.517" v="162" actId="20577"/>
          <ac:spMkLst>
            <pc:docMk/>
            <pc:sldMk cId="866443025" sldId="342"/>
            <ac:spMk id="15" creationId="{00000000-0000-0000-0000-000000000000}"/>
          </ac:spMkLst>
        </pc:spChg>
      </pc:sldChg>
      <pc:sldChg chg="modSp mod">
        <pc:chgData name="Nhan Pham Le" userId="6366da15f1f739f9" providerId="LiveId" clId="{B7E72FC1-F79A-4602-B51C-6ED1DC3BF548}" dt="2026-09-27T06:37:38.965" v="161" actId="1036"/>
        <pc:sldMkLst>
          <pc:docMk/>
          <pc:sldMk cId="1573090695" sldId="344"/>
        </pc:sldMkLst>
        <pc:spChg chg="mod">
          <ac:chgData name="Nhan Pham Le" userId="6366da15f1f739f9" providerId="LiveId" clId="{B7E72FC1-F79A-4602-B51C-6ED1DC3BF548}" dt="2026-09-27T06:37:38.965" v="161" actId="1036"/>
          <ac:spMkLst>
            <pc:docMk/>
            <pc:sldMk cId="1573090695" sldId="344"/>
            <ac:spMk id="1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EE4C46-C12C-FA42-B2D3-1CBB24092E48}" type="datetimeFigureOut">
              <a:rPr lang="en-US" smtClean="0"/>
              <a:t>27/9/2026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47CC85-BE76-EA4B-8DBD-E5CC9E8FEA7A}" type="slidenum">
              <a:rPr lang="en-US" smtClean="0"/>
              <a:t>‹#›</a:t>
            </a:fld>
            <a:endParaRPr lang="en-US"/>
          </a:p>
        </p:txBody>
      </p:sp>
    </p:spTree>
    <p:extLst>
      <p:ext uri="{BB962C8B-B14F-4D97-AF65-F5344CB8AC3E}">
        <p14:creationId xmlns:p14="http://schemas.microsoft.com/office/powerpoint/2010/main" val="1091028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0,5 phút.</a:t>
            </a:r>
          </a:p>
          <a:p>
            <a:r>
              <a:t>LỜI GIẢNG</a:t>
            </a:r>
          </a:p>
          <a:p>
            <a:r>
              <a:t>Chào cả lớp, chào mừng các bạn đến Buổi 3. Buổi trước mình viết từng công thức SUMIFS để trả lời một câu hỏi. Hôm nay mình học công cụ giúp trả lời hàng chục câu hỏi chỉ bằng kéo thả: PivotTable.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2,5 phút.</a:t>
            </a:r>
          </a:p>
          <a:p>
            <a:r>
              <a:t>LỜI GIẢNG</a:t>
            </a:r>
          </a:p>
          <a:p>
            <a:r>
              <a:t>Tuần trước sếp hỏi "doanh thu theo miền, theo tháng", mình trả lời bằng một bảng SUMIFS. Tuần này sếp hỏi tiếp: theo cửa hàng thì sao, theo thứ trong tuần thì sao, tuần nào bán mạnh nhất, ngành nào chiếm bao nhiêu phần trăm. Và câu hỏi còn treo từ Buổi 2: vì sao tháng 1 cao hơn hẳn tháng 2?</a:t>
            </a:r>
          </a:p>
          <a:p>
            <a:r>
              <a:t>Câu hỏi cho lớp: nếu dùng SUMIFS, mỗi câu hỏi mới các bạn phải làm gì? (→ chờ 2–3 câu trả lời)</a:t>
            </a:r>
          </a:p>
          <a:p>
            <a:r>
              <a:t>Đúng rồi: dựng lại một bảng mới, gõ lại danh sách tiêu chí, kéo lại công thức. Hai mươi câu hỏi là hai mươi bảng. Chúng ta đang leo lên tầng 2 của thang câu hỏi: không chỉ "bao nhiêu", mà "ở đâu, khi nào, nhóm nào". Tầng này cần một công cụ đổi chiều phân tích trong vài giây.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 phút.</a:t>
            </a:r>
          </a:p>
          <a:p>
            <a:r>
              <a:t>LỜI GIẢNG</a:t>
            </a:r>
          </a:p>
          <a:p>
            <a:r>
              <a:t>Nhắc nhanh buổi trước. (→ demo: mở ../B2_Ham_va_KPI/Practice/B2_MCI_Mart_Q1_2025_Answer.xlsx, sheet KPI_SUMIFS, khối Doanh thu A4:E9) Đây là bảng KPI chúng ta dựng bằng SUMIFS: tổng quý 941 triệu 454 nghìn, tháng 1 gần 426 triệu, tháng 2 chỉ 246 triệu. Câu hỏi "vì sao" vẫn đang treo; hôm nay mình trả lời.</a:t>
            </a:r>
          </a:p>
          <a:p>
            <a:r>
              <a:t>Bài về nhà Buổi 2: (→ mở ../B2_Ham_va_KPI/Homework/B2_BTVN_MCI_Mart_T4_2025_Answer.xlsx, sheet Kiem_tra) tháng 4 doanh thu 296 triệu 965 nghìn, 966 đơn. Lỗi cài sẵn là 4 mã sản phẩm có dấu cách ở cuối, XLOOKUP ra #N/A. Bạn nào dùng IFERROR để che thì xem lại sheet Dap_an_loi: lỗi vẫn còn, chỉ là bị giấu đi.</a:t>
            </a:r>
          </a:p>
          <a:p>
            <a:r>
              <a:t>File khởi đầu hôm nay là đáp án Buổi 2, trợ giảng đã gửi trong nhóm chat. Các bạn mở ra, lưu thành tên mình, ví dụ B3_NguyenVanA.xlsx. Giữ nguyên sheet KPI_SUMIFS: lát nữa mình dùng nó để kiểm tra Pivot.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3 phút.</a:t>
            </a:r>
          </a:p>
          <a:p>
            <a:r>
              <a:t>LỜI GIẢNG</a:t>
            </a:r>
          </a:p>
          <a:p>
            <a:r>
              <a:t>Khóa học có thang 5 tầng câu hỏi. Hai buổi đầu ở tầng 1: chuyện gì đã xảy ra. Hôm nay lên tầng 2: xảy ra ở đâu, khi nào, nhóm nào. Và cuối buổi, nhờ một thao tác tên là drill-down, mình sẽ chạm vào tầng 3: vì sao.</a:t>
            </a:r>
          </a:p>
          <a:p>
            <a:r>
              <a:t>Có ba câu hỏi mình sẽ cùng đi tìm hôm nay. Mình chưa nói đáp án, các bạn tự tìm trong Pivot. Câu thứ nhất các bạn đã biết. Câu thứ hai: có một cửa hàng tháng 3 giảm rất bất thường, cửa hàng nào, và vì sao. Câu thứ ba: ngày nào trong tuần khách đi siêu thị nhiều nhất.</a:t>
            </a:r>
          </a:p>
          <a:p>
            <a:r>
              <a:t>Viên gạch hôm nay là một báo cáo Pivot có bộ lọc tương tác, cộng vài biểu đồ. Buổi 4 và Buổi 6 sẽ xây tiếp trên viên gạch này.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1: SUMIFS đã tốt như vậy, vì sao còn cần Pivot?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phút.</a:t>
            </a:r>
          </a:p>
          <a:p>
            <a:r>
              <a:t>LỜI GIẢNG</a:t>
            </a:r>
          </a:p>
          <a:p>
            <a:r>
              <a:t>Mình thử làm phép tính. Sếp hỏi doanh thu theo cửa hàng và tháng. Với SUMIFS: gõ 12 mã cửa hàng, 3 tháng, viết công thức, khóa đô-la, kéo ra 36 ô. Mất khoảng 5 phút nếu không sai. Sếp hỏi tiếp theo tuần: tblSales chưa có cột tuần, phải thêm cột rồi mới SUMIFS. Rồi theo ngành hàng, theo thứ… Mỗi chiều mới là làm lại từ đầu.</a:t>
            </a:r>
          </a:p>
          <a:p>
            <a:r>
              <a:t>Đó là giới hạn chúng ta đã thấy cuối Buổi 2. PivotTable giải quyết đúng chỗ này: các bạn chỉ kéo một trường vào hàng, một trường vào cột, một số vào giá trị. Đổi câu hỏi thì kéo trường khác vào. Không viết công thức, không khóa đô-la, không sợ sót dòng.</a:t>
            </a:r>
          </a:p>
          <a:p>
            <a:r>
              <a:t>Nhưng mình muốn các bạn nhớ: Pivot không phải phép màu. Lát nữa các bạn sẽ thấy mỗi ô trong Pivot chính là một SUMIFS mà Excel viết giúp mình.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Pivot chỉ chạy tốt trên dữ liệu tidy, đúng như Buổi 1: mỗi dòng một bản ghi, mỗi cột một trường, không có dòng tổng xen giữa, không ô gộp. Nếu file còn dòng "Tổng Miền Bắc" ở giữa, Pivot sẽ cộng cả dòng đó và các bạn nhận được con số gấp đôi. tblSales của chúng ta đã sạch từ Buổi 1, và đã là Excel Table.</a:t>
            </a:r>
          </a:p>
          <a:p>
            <a:r>
              <a:t>Còn nhớ ba từ của Buổi 2 không? Dimension là "theo cái gì": vùng, cửa hàng, tháng. Trong Pivot, dimension đi vào Rows, Columns hoặc Filters. Measure là "đo cái gì": doanh thu, số lượng. Measure đi vào Values. Và grain, mỗi dòng là một sản phẩm trong một đơn, sẽ quyết định Pivot đang đếm cái gì. Lát nữa các bạn sẽ thấy Pivot "đếm" ra 6.187 chứ không phải 3.144, đúng cái bẫy của Buổi 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2: dựng Pivot đầu tiên, và hiểu Excel tính mỗi ô như thế nào.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 phút.</a:t>
            </a:r>
          </a:p>
          <a:p>
            <a:r>
              <a:t>LỜI GIẢNG</a:t>
            </a:r>
          </a:p>
          <a:p>
            <a:r>
              <a:t>(→ demo: mở Demo/B3_Demo_Pivot.xlsx, sheet Sales; các bước ở sheet Huong_dan) Các bạn làm cùng mình trên file khởi đầu. Bấm vào một ô bất kỳ trong bảng, không cần bôi đen cả bảng. Vào Insert, PivotTable, From Table/Range.</a:t>
            </a:r>
          </a:p>
          <a:p>
            <a:r>
              <a:t>Hộp thoại hỏi hai câu, đúng như slide: dữ liệu ở đâu, và đặt Pivot ở đâu. Ô Table/Range đã tự ghi tblSales, vì mình đang đứng trong Table. Chọn New Worksheet, OK. (→ đổi tên sheet mới thành PV_MienThang)</a:t>
            </a:r>
          </a:p>
          <a:p>
            <a:r>
              <a:t>Nút bên cạnh, Recommended PivotTables, là Excel đoán giúp vài Pivot. Tiện để khám phá, nhưng mình khuyên các bạn tự dựng, vì mình bắt đầu từ câu hỏi chứ không bắt đầu từ gợi ý của máy.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Bên phải là khung PivotTable Fields: trên là 20 cột của tblSales, dưới là 4 vùng. (→ trên Demo/B3_Demo_Pivot.xlsx, sheet PV_MienThang: kéo Region vào Rows) Kéo Region vào Rows: Bắc, Nam, Trung. (→ kéo Thang vào Columns) Thang vào Columns: 1, 2, 3. (→ kéo Revenue vào Values) Và Revenue vào Values.</a:t>
            </a:r>
          </a:p>
          <a:p>
            <a:r>
              <a:t>Mười giây. Các bạn nhìn: đây chính là bảng Miền × Tháng Buổi 2 mình mất 12 phút để dựng. Grand Total góc dưới: 941 triệu 454 nghìn. Tháng 1 425.850.000, tháng 2 245.996.000.</a:t>
            </a:r>
          </a:p>
          <a:p>
            <a:r>
              <a:t>Câu hỏi cho lớp: muốn xem theo cửa hàng thay vì theo miền, làm gì? (→ chờ; kéo Region ra, kéo Store_Code vào Rows, rồi trả lại Region) Đúng, kéo Region ra, kéo Store_Code vào. Đó là toàn bộ sức mạnh của Pivot.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Giờ đến phần quan trọng nhất của Phần 2. Pivot tính ô Bắc, tháng 3 như thế nào? (→ chỉ ô Bắc × 3 trên sheet PV_MienThang) Excel làm đúng ba bước: xác định tọa độ của ô, Region bằng Bắc và Thang bằng 3; lọc những dòng thỏa cả hai; rồi cộng Revenue.</a:t>
            </a:r>
          </a:p>
          <a:p>
            <a:r>
              <a:t>Nghe quen không? Đó chính là hình xương sống Buổi 2. Buổi 2 gọi hai điều kiện đó là criteria của SUMIFS; hôm nay gọi là tọa độ của ô Pivot. Cùng một ý, cái tên thứ hai.</a:t>
            </a:r>
          </a:p>
          <a:p>
            <a:r>
              <a:t>Mình kiểm chứng. (→ trên Demo/B3_Demo_Pivot.xlsx: View → New Window → Arrange → Vertical; cửa sổ trái sheet PV_MienThang, cửa sổ phải sheet KPI_SUMIFS) Bên trái ô Pivot Bắc × 3, bên phải ô D6 của bảng SUMIFS: cả hai 90.210.000. (→ double-click ô Bắc × 3 trong Pivot) Và khi bấm đúp, Excel mở một sheet mới chứa đúng 635 dòng Bắc tháng 3: những dòng đã được cộng. (→ xóa sheet chi tiết vừa tạo)</a:t>
            </a:r>
          </a:p>
          <a:p>
            <a:r>
              <a:t>Một mẹo đối soát. (→ ở ô trống G4 của PV_MienThang gõ =, bấm vào ô Bắc × 3, Enter) Excel không viết =D6 mà viết GETPIVOTDATA: lấy giá trị theo tên trường và tên mục. Hay ở chỗ Pivot có đổi bố cục thì công thức vẫn đúng ô. Nhưng nếu các bạn định kéo công thức sang ô bên cạnh thì nó không đổi kết quả; lúc đó tắt tính năng này như TIP trên slide.</a:t>
            </a:r>
          </a:p>
          <a:p>
            <a:r>
              <a:t>Quy tắc đối soát của hôm nay: tổng Pivot phải bằng tổng SUMIFS của Buổi 2. Trong file đáp án, sheet PV_MienThang có sẵn khối đối soát, chênh lệch bằng 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 demo: mở Demo/B3_Demo_Refresh.xlsx, sheet PV_Table; các bước ở sheet Huong_dan) File này có cùng dữ liệu ở hai dạng: sheet Sales_Vung là vùng thường, Sales_Table là Excel Table. Mỗi dạng có một Pivot. Hiện hai Pivot giống hệt nhau, tổng 941.454.000.</a:t>
            </a:r>
          </a:p>
          <a:p>
            <a:r>
              <a:t>Thí nghiệm 1. (→ sheet Sales_Table, ô G2: đổi Quantity từ 1 thành 101; quay lại PV_Table) Mình vừa tăng số lượng của dòng đầu tiên thêm 100, tức là thêm 1 triệu 900 nghìn doanh thu cho Miền Bắc. Pivot có đổi không? (→ chờ) Không. Vì Pivot không đọc thẳng từ ô, nó đọc từ một bản sao trong bộ nhớ, gọi là cache. (→ chuột phải trong Pivot → Refresh) Refresh xong, Bắc tăng đúng 1.900.000. (→ Ctrl+Z ở Sales_Table, Refresh lại)</a:t>
            </a:r>
          </a:p>
          <a:p>
            <a:r>
              <a:t>Thí nghiệm 2. (→ sheet Them_dong: copy A4:H13; dán vào A6189 của Sales_Table và A6189 của Sales_Vung; ở Sales_Vung kéo công thức I6188 xuống I6198) Đây là 10 dòng tháng 4 vừa về. Mình dán xuống dưới cả hai bảng. (→ Data → Refresh All) Refresh All. PV_Table thêm 1.483.000, thành 942.937.000. PV_Vung đứng yên 941.454.000, vì nguồn của nó là vùng cố định từ dòng 1 đến dòng 6188.</a:t>
            </a:r>
          </a:p>
          <a:p>
            <a:r>
              <a:t>(→ PV_Vung → PivotTable Analyze → Change Data Source → sửa thành Sales_Vung!$A$1:$I$6198) Muốn sửa thì phải vào Change Data Source, và tháng nào cũng phải nhớ làm. Đây là lý do Buổi 1 mình chuyển dữ liệu thành Table: Table tự lớn lên, Pivot tự theo. Lỗi "quên Refresh" và "nguồn không phải Table" là hai lỗi Pivot hay gặp nhất ngoài đời.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Pivot đúng rồi, giờ làm cho nó dễ đọc. Phần này ngắn.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phút.</a:t>
            </a:r>
          </a:p>
          <a:p>
            <a:r>
              <a:t>LỜI GIẢNG</a:t>
            </a:r>
          </a:p>
          <a:p>
            <a:r>
              <a:t>(→ trên Demo/B3_Demo_Pivot.xlsx, sheet PV_MienThang: chuột phải một số → Value Field Settings) Hai việc: đổi tên "Sum of Revenue" thành Doanh thu, và bấm Number Format, chọn Number, 0 chữ số thập phân, tick dấu phân cách nghìn. (→ OK) Số giờ dễ đọc: 145.814.000.</a:t>
            </a:r>
          </a:p>
          <a:p>
            <a:r>
              <a:t>Vì sao không bôi đen rồi bấm định dạng như bảng thường? Vì Pivot thay đổi hình dạng liên tục; lúc thêm một trường, ô vừa định dạng có thể chuyển thành chỗ khác. Định dạng qua Value Field Settings là định dạng cho cả trường, đi theo trường đó.</a:t>
            </a:r>
          </a:p>
          <a:p>
            <a:r>
              <a:t>(→ PivotTable Design → PivotTable Styles: chọn một style; Grand Totals → On for Columns Only, rồi trả lại) Tab Design có kiểu bảng và nút bật tắt dòng tổng. [có thể rút gọn]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 trên Demo/B3_Demo_Pivot.xlsx, sheet PV_MienThang: kéo Store_Code vào Rows, nằm dưới Region) Khi có hai trường trên hàng, bố cục bắt đầu quan trọng. Mặc định là Compact: miền và cửa hàng chung một cột, thụt lề. Gọn, nhưng cột tiêu đề chỉ ghi "Row Labels".</a:t>
            </a:r>
          </a:p>
          <a:p>
            <a:r>
              <a:t>(→ PivotTable Design → Report Layout → Show in Outline Form) Outline: mỗi trường một cột có tên riêng, lọc riêng được. Tài liệu Pivot khuyên dùng bố cục này khi phân tích. (→ Show in Tabular Form, rồi Repeat All Item Labels) Tabular có đường kẻ như bảng thường; bật Repeat All Item Labels thì mỗi dòng có đủ tên miền, rất tiện khi cần copy kết quả sang chỗ khác.</a:t>
            </a:r>
          </a:p>
          <a:p>
            <a:r>
              <a:t>(→ bỏ Store_Code khỏi Rows, để Pivot về Miền × Tháng; chọn lại Outline Form) Trong file đáp án, mọi Pivot để Outline.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10 phút.</a:t>
            </a:r>
          </a:p>
          <a:p>
            <a:r>
              <a:t>LỜI GIẢNG</a:t>
            </a:r>
          </a:p>
          <a:p>
            <a:r>
              <a:t>Mình nghỉ 10 phút. Khi quay lại, các bạn để sẵn file của mình và file Demo/B3_Demo_Loi_Du_lieu_HocVien.xlsx trợ giảng vừa gửi trong nhóm chat. Phần sau là sắp xếp, lọc, nhóm và đào sâu: phần tìm câu chuyện.</a:t>
            </a:r>
          </a:p>
          <a:p>
            <a:r>
              <a:t>(→ trong giờ nghỉ: kiểm tra học viên đã có sheet PV_MienThang ra tổng 941.454.000)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4: dùng Pivot để đi tìm ba câu chuyện lúc đầu buổi.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 phút.</a:t>
            </a:r>
          </a:p>
          <a:p>
            <a:r>
              <a:t>LỜI GIẢNG</a:t>
            </a:r>
          </a:p>
          <a:p>
            <a:r>
              <a:t>Câu chuyện thứ ba trước, vì nó nhanh nhất. (→ trên Demo/B3_Demo_Pivot.xlsx: Insert → PivotTable từ tblSales, New Worksheet, đổi tên sheet thành PV_Thu; Thu vào Rows, Revenue vào Values) Doanh thu theo thứ trong tuần. (→ chuột phải một số → Sort → Sort Largest to Smallest) Sắp xếp giảm dần.</a:t>
            </a:r>
          </a:p>
          <a:p>
            <a:r>
              <a:t>Chủ nhật đứng đầu, 159,8 triệu, rồi thứ Bảy 154,4 triệu. Thấp nhất là thứ Năm, 111,4 triệu. Quý 1 có 13 ngày mỗi thứ, riêng thứ Ba 12 ngày, nên so tổng được. Trung bình hai ngày cuối tuần 157 triệu, trung bình năm ngày thường 125 triệu: cuối tuần cao hơn khoảng 25%. Câu hỏi số 3 đã có đáp án.</a:t>
            </a:r>
          </a:p>
          <a:p>
            <a:r>
              <a:t>(→ Insert → PivotTable mới, đổi tên sheet PV_Top5; Product_Name vào Rows, Revenue vào Values; mũi tên ở ô tiêu đề hàng → Value Filters → Top 10 → sửa 10 thành 5 → OK) Thêm một câu hỏi sếp hay hỏi: 5 sản phẩm bán nhiều tiền nhất. Value Filters, Top 10, sửa thành 5. Đứng đầu là Hộp quà Tết cao cấp, 135,85 triệu, rồi chảo chống dính, thùng mì, dầu gội, hạt điều. Một hộp quà Tết đứng đầu cả quý: thêm một manh mối cho câu hỏi số 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Giờ đến câu hỏi số 1: vì sao tháng 1 cao hơn tháng 2? Theo tháng thì quá thô, mình cần nhìn theo tuần. tblSales không có cột tuần, nhưng Pivot tự nhóm được.</a:t>
            </a:r>
          </a:p>
          <a:p>
            <a:r>
              <a:t>(→ trên Demo/B3_Demo_Pivot.xlsx: Insert → PivotTable mới, đổi tên sheet PV_Tuan; Order_Date vào Rows, Revenue vào Values) Excel 365 tự nhóm ngày thành tháng. (→ chuột phải một mục ngày → Group → bỏ chọn Months, chọn Days, Number of days: 7 → OK) Mình đổi: nhóm theo Days, mỗi nhóm 7 ngày, bắt đầu từ 01/01.</a:t>
            </a:r>
          </a:p>
          <a:p>
            <a:r>
              <a:t>Các bạn đọc cột số cùng mình. Tuần đầu tháng 1: 72 triệu. Ba tuần sau đó, từ 8 đến 28 tháng 1: 119, 112, 113 triệu, gần gấp đôi một tuần bình thường. Rồi tuần 29/01 đến 04/02: chỉ 31,6 triệu. Mùng 1 Tết Ất Tỵ là 29/01/2025. Sau Tết, các tuần quay về khoảng 53 đến 74 triệu.</a:t>
            </a:r>
          </a:p>
          <a:p>
            <a:r>
              <a:t>Vậy vì sao tháng 1 cao hơn tháng 2? (→ chờ) Không phải tháng 2 bán kém: tháng 1 chứa trọn ba tuần mua sắm Tết, còn tháng 2 bắt đầu bằng kỳ nghỉ Tết. Câu hỏi số 1 có đáp án; lát nữa ta còn một bằng chứng nữa ở phần Show Values As.</a:t>
            </a:r>
          </a:p>
          <a:p>
            <a:r>
              <a:t>Group còn làm được với chữ. (→ Pivot Store_Code × Revenue; giữ Ctrl chọn ST08, ST09, ST10 → chuột phải → Group; đổi tên Group1 thành TP.HCM) Ba cửa hàng ở TP.HCM gộp lại: 309.645.000. [có thể rút gọn]</a:t>
            </a:r>
          </a:p>
          <a:p>
            <a:r>
              <a:t>Và một lỗi các bạn sẽ gặp. (→ mở Demo/B3_Demo_Loi_Du_lieu.xlsx, sheet Sales_Loi: Insert → PivotTable, Order_Date vào Rows → chuột phải → Group) Excel báo "Cannot group that selection". Nhìn lên đầu danh sách: ba mục 11/01/2025, 15/01/2025, 23/03/2025 đứng riêng, trước cả các ngày thật, vì đó là chữ trông giống ngày, ở dòng 1913, 2274, 3926 của Sales_Loi. Chỉ một ô ngày dạng chữ là Pivot không nhóm được. Sửa ở nguồn, gõ lại thành ngày thật, Refresh.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Câu hỏi số 2: cửa hàng nào bất thường? (→ trên Demo/B3_Demo_Pivot.xlsx: Insert → PivotTable mới, đổi tên sheet PV_CuaHang; Store_Code vào Rows, Thang vào Columns, Revenue vào Values) Cửa hàng × Tháng: 36 ô, 10 giây.</a:t>
            </a:r>
          </a:p>
          <a:p>
            <a:r>
              <a:t>Tháng 3 cả công ty tăng 9,6% so với tháng 2, nhưng các bạn dò cột 3: ST07 Nha Trang chỉ còn 8,5 triệu, tháng 2 là 18 triệu. Giảm hơn một nửa, sâu nhất trong 12 cửa hàng. Vì sao? Nhìn bảng tổng thì không thể biết.</a:t>
            </a:r>
          </a:p>
          <a:p>
            <a:r>
              <a:t>(→ double-click ô ST07 × 3) Double-click. Excel mở sheet mới với 55 dòng: đúng những dòng làm nên con số 8,5 triệu. (→ sắp xếp Order_Date tăng dần) Các bạn nhìn cột ngày. Từ mùng 1 đến 9 tháng 3: 13 đơn, gần như ngày nào cũng có. Từ 10/03 trở đi: cả 22 ngày chỉ có 15 đơn, và 12 ngày không có đơn nào. Tháng 2 cửa hàng này bán 51 đơn.</a:t>
            </a:r>
          </a:p>
          <a:p>
            <a:r>
              <a:t>Dữ liệu chỉ nói được đến đây: có chuyện gì đó bắt đầu từ ngày 10/03 ở ST07. Hỏi phòng vận hành mới biết: cửa hàng cải tạo từ 10 đến 31/03. Đây là tầng 3, "vì sao", và cách làm là: con số bất thường → drill-down → tìm mốc thời gian → hỏi người trong cuộc.</a:t>
            </a:r>
          </a:p>
          <a:p>
            <a:r>
              <a:t>Một bài học D2. (→ xóa sheet chi tiết; double-click ô ST04 × 3) ST04 Hạ Long cũng giảm 50%. Nhưng drill-down thì thấy 41 đơn rải đều cả tháng, không có quãng trống. Cùng con số, khác câu chuyện. Đừng kết luận trước khi bấm đúp. (→ xóa sheet chi tiết)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Báo cáo gửi sếp cần lọc được, mà sếp không quen mũi tên lọc nhỏ xíu của Pivot. Slicer là bộ lọc dạng nút bấm. (→ trên Demo/B3_Demo_Pivot.xlsx, sheet PV_Thu: PivotTable Analyze → Insert Slicer → tick Region → OK) Bấm Nam: Pivot chỉ còn Miền Nam.</a:t>
            </a:r>
          </a:p>
          <a:p>
            <a:r>
              <a:t>Nhưng mình muốn một Slicer lọc nhiều Pivot. (→ chuột phải Slicer → Report Connections → tick thêm Pivot ở sheet PV_CuaHang → OK; bấm Nam) Report Connections: tick các Pivot muốn nối. Giờ bấm Nam, cả Pivot thứ lẫn Pivot cửa hàng cùng lọc. Đây là tiêu chí kiểm tra cuối buổi: Slicer lọc được mọi Pivot liên quan.</a:t>
            </a:r>
          </a:p>
          <a:p>
            <a:r>
              <a:t>(→ Clear Filter; PivotTable Analyze → Insert Timeline → tick Order_Date → OK; kéo chọn tháng 2 và tháng 3) Timeline là Slicer dành cho ngày tháng. Mình dùng nó để kiểm tra lại câu chuyện cuối tuần: bỏ tháng 1 có Tết ra, chỉ xem tháng 2 và 3. Chủ nhật 93,6 triệu, thứ Bảy 89 triệu vẫn đứng đầu. Câu chuyện cuối tuần không phải do Tết. Đó là cách một nhà phân tích tự phản biện kết luận của mình. (→ Clear Filter trên Timeline)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5: không chỉ cộng. Pivot đếm, lấy trung bình, tính tỷ trọng, tăng trưởng, và cả công thức riêng của mình.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phút.</a:t>
            </a:r>
          </a:p>
          <a:p>
            <a:r>
              <a:t>LỜI GIẢNG</a:t>
            </a:r>
          </a:p>
          <a:p>
            <a:r>
              <a:t>(→ trên Demo/B3_Demo_Pivot.xlsx, sheet PV_MienThang: chuột phải một số → Summarize Values By → Count) Đổi từ Sum sang Count: tổng 6.187. Đây có phải số đơn không? (→ chờ) Không: nhớ grain, Count đếm dòng. Số đơn là 3.144; lát nữa mình đếm đúng bằng Calculated Field. (→ Average, rồi Max, rồi trả về Sum) Average: 152 nghìn mỗi dòng. Max: 1 triệu 470 nghìn, dòng lớn nhất.</a:t>
            </a:r>
          </a:p>
          <a:p>
            <a:r>
              <a:t>Giờ lỗi hay gặp nhất. (→ mở Demo/B3_Demo_Loi_Du_lieu.xlsx, sheet Sales_Loi: Insert → PivotTable, Region vào Rows, Revenue vào Values) Cùng thao tác, nhưng Pivot hiện Count of Revenue. Vì sao? Tài liệu Pivot nói rõ: cột có ô trống hoặc ô chữ thì Excel mặc định Count.</a:t>
            </a:r>
          </a:p>
          <a:p>
            <a:r>
              <a:t>(→ Summarize Values By → Sum) Đổi sang Sum: 940.480.000, thiếu 974.000 so với 941.454.000, không một lời cảnh báo. (→ sheet Sales_Loi: lọc cột Revenue, dòng 1372, 4674 là số dạng chữ, dòng 5183 trống) Hai ô là số lưu dạng chữ, một ô trống. (→ Convert to Number cho 2 ô chữ; gõ 356000 vào ô I5183; Refresh) Sửa xong, Refresh: 941.454.000. Bài học D2: Pivot hiện Count là một lời cảnh báo, đừng chỉ bấm sang Sum rồi đi tiếp.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 trên Demo/B3_Demo_Pivot.xlsx: Insert → PivotTable mới, đổi tên sheet PV_NganhHang; Category vào Rows, Thang vào Columns, Revenue vào Values; chuột phải một số → Show Values As → % of Column Total) Bằng chứng thứ hai cho câu hỏi số 1. Mình đổi số tiền thành tỷ trọng trong từng tháng: mỗi cột cộng lại 100%.</a:t>
            </a:r>
          </a:p>
          <a:p>
            <a:r>
              <a:t>Tháng 1, Bánh kẹo chiếm 45,6% doanh thu. Tháng 2 còn 30,9%, tháng 3 còn 25,5%. Bánh kẹo là mứt Tết, hộp quà, hạt điều: hàng Tết. Nếu tính riêng 20 ngày trước Tết thì Bánh kẹo chiếm hơn một nửa doanh thu, 50,8%.</a:t>
            </a:r>
          </a:p>
          <a:p>
            <a:r>
              <a:t>Câu hỏi cho lớp: Đồ uống cũng là hàng Tết, sao tỷ trọng Đồ uống tháng 1 lại không tăng? (→ chờ) Vì tỷ trọng là phần của một cái bánh đang to ra. Trước Tết, Đồ uống bán gấp khoảng 1,8 lần mỗi ngày, nhưng cả cửa hàng cũng tăng gần bằng vậy, nên phần của Đồ uống vẫn khoảng 11–12%. Đọc tỷ trọng thì luôn nhớ: tỷ trọng đứng yên không có nghĩa là doanh thu đứng yên.</a:t>
            </a:r>
          </a:p>
          <a:p>
            <a:r>
              <a:t>(→ bỏ Thang khỏi Columns, đổi Rows thành Region → Show Values As → % of Grand Total) % of Grand Total: Nam 45,4%, Bắc 34,4%, Trung 20,2% doanh thu quý. Show Values As không tạo dữ liệu mới: nó tính lại trên chính các con số đã tổng hợp. (→ trả Pivot về Category × Thang, % of Column Total)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4,5 phút.</a:t>
            </a:r>
          </a:p>
          <a:p>
            <a:r>
              <a:t>LỜI GIẢNG</a:t>
            </a:r>
          </a:p>
          <a:p>
            <a:r>
              <a:t>(→ trên Demo/B3_Demo_Pivot.xlsx: Insert → PivotTable mới, đổi tên sheet PV_Thang; Thang vào Rows; kéo Revenue vào Values 3 lần) Ba cột giống nhau. Cột thứ nhất giữ nguyên. (→ cột thứ hai: Show Values As → % Difference From → Base field: Thang, Base item: (previous)) Cột thứ hai là tăng trưởng so với tháng trước: tháng 2 âm 42,2%, tháng 3 dương 9,6%. Tháng 1 để trống, vì trước nó không có tháng nào trong dữ liệu.</a:t>
            </a:r>
          </a:p>
          <a:p>
            <a:r>
              <a:t>(→ cột thứ ba: Show Values As → Running Total In → Base field: Thang) Cột thứ ba là lũy kế: đến hết tháng 2 được 672 triệu, hết quý 941 triệu. Cột này hay dùng để so với kế hoạch năm.</a:t>
            </a:r>
          </a:p>
          <a:p>
            <a:r>
              <a:t>Để ý: ba cột cùng lấy từ một trường Revenue. Buổi 2 muốn tính MoM các bạn phải viết công thức riêng; ở đây chỉ là một lựa chọn trong menu. (→ đổi tên 3 cột: Doanh thu, MoM %, Lũy kế; định dạng % 1 chữ số cho cột MoM)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Pivot đếm ra 6.187 dòng, vậy làm sao đếm đơn? Mẹo trong tài liệu Pivot: thêm vào nguồn một cột đếm. (→ trên Demo/B3_Demo_Pivot.xlsx, sheet Sales: thêm cột So_don ở U1, ô U2 gõ =IF([@Line_No]=1,1,0)) Mỗi đơn có đúng một dòng Line_No bằng 1, nên cột So_don có số 1 ở dòng đầu của mỗi đơn, còn lại là 0. (→ quay lại PV_Thang, Refresh, kéo So_don vào Values) Sum of So_don: 3.144 đơn. Đúng con số Buổi 2.</a:t>
            </a:r>
          </a:p>
          <a:p>
            <a:r>
              <a:t>Giờ AOV, giá trị đơn trung bình. (→ PivotTable Analyze → Fields, Items &amp; Sets → Calculated Field; Name: AOV; Formula: =Revenue/So_don → Add → OK) Tạo trường mới tên AOV bằng doanh thu chia số đơn. Tháng 1: 304.614, tháng 2: 298.902, tháng 3: 292.100. Grand Total: 299.445.</a:t>
            </a:r>
          </a:p>
          <a:p>
            <a:r>
              <a:t>Câu hỏi cho lớp: 299.445 là trung bình của ba con số AOV tháng, hay là gì? (→ chờ) Trung bình ba tháng là khoảng 298.500, không khớp. 299.445 là tổng doanh thu chia tổng số đơn: Calculated Field luôn tính trên tổng. Đúng quy tắc "tổng chia tổng" của Buổi 2, và Pivot làm giúp mình.</a:t>
            </a:r>
          </a:p>
          <a:p>
            <a:r>
              <a:t>(→ tạo thêm Calculated Field GM_pct = Gross_Margin/Revenue, định dạng %) Làm tương tự với biên lợi nhuận: 34,2% cả quý, khớp bảng KPI Buổi 2.</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6: biến Pivot thành biểu đồ, và chọn đúng loại biểu đồ. Đây là bản xem trước của Buổi 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 phút.</a:t>
            </a:r>
          </a:p>
          <a:p>
            <a:r>
              <a:t>LỜI GIẢNG</a:t>
            </a:r>
          </a:p>
          <a:p>
            <a:r>
              <a:t>Trước khi chèn biểu đồ, hỏi ba câu. Dữ liệu là loại gì? Mình muốn nói điều gì: xu hướng, so sánh hay cơ cấu? Và ai sẽ xem?</a:t>
            </a:r>
          </a:p>
          <a:p>
            <a:r>
              <a:t>(→ trên Demo/B3_Demo_Pivot.xlsx, sheet PV_Thang: chọn Pivot → PivotTable Analyze → PivotChart → Pie) Mình cố tình làm sai: doanh thu ba tháng vẽ bằng biểu đồ tròn. Nhìn biểu đồ này, các bạn có thấy tháng 2 giảm 42% không? (→ chờ) Rất khó. Biểu đồ tròn nói "mỗi tháng chiếm bao nhiêu phần của quý", không nói "tăng hay giảm". (→ Change Chart Type → Line) Câu hỏi là xu hướng theo thời gian, nên dùng đường: thấy ngay tháng 1 cao, tháng 2 sụt, tháng 3 nhích lên.</a:t>
            </a:r>
          </a:p>
          <a:p>
            <a:r>
              <a:t>Quy tắc thứ hai: tiêu đề biểu đồ là câu kết luận, để người xem biết ngay mình nên thấy gì. Buổi 6 mình học đủ 8 loại biểu đồ lõi; hôm nay chỉ cần ba dòng trên slide.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 trên Demo/B3_Demo_Pivot.xlsx: Insert → PivotTable mới, đổi tên sheet PV_Ngay; Order_Date vào Rows; chuột phải → Group → chỉ chọn Days (Number of days: 1) → OK; Revenue vào Values; PivotTable Analyze → PivotChart → Line) Bằng chứng cuối cho câu hỏi số 1, dạng hình. Doanh thu từng ngày Quý 1, biểu đồ đường.</a:t>
            </a:r>
          </a:p>
          <a:p>
            <a:r>
              <a:t>Các bạn thấy hình dạng rất rõ: đầu tháng 1 khoảng 10 triệu mỗi ngày. Từ 9/1 vọt lên, trung bình 16,5 triệu mỗi ngày, trong 20 ngày. Rồi rơi xuống đáy: 29/01 đến 02/02 chỉ khoảng 3 triệu mỗi ngày, kỳ nghỉ Tết. Sau đó đi ngang quanh 9 triệu, có những gai nhỏ đều đặn: đó là các ngày cuối tuần, câu chuyện số 3.</a:t>
            </a:r>
          </a:p>
          <a:p>
            <a:r>
              <a:t>(→ bấm vào tiêu đề biểu đồ, gõ: "3 tuần trước Tết mỗi ngày bán ~16,5 triệu, nghỉ Tết còn ~3 triệu") Đặt tiêu đề là câu kết luận. (→ PivotTable Analyze → Insert Timeline → Order_Date; chọn tháng 1) Và vì là PivotChart, Timeline lọc Pivot thì biểu đồ đổi theo.</a:t>
            </a:r>
          </a:p>
          <a:p>
            <a:r>
              <a:t>Trong file đáp án, mỗi biểu đồ có một dòng "Câu hỏi:" phía trên. Tiêu chí kiểm tra cuối buổi: mỗi PivotChart ghi rõ câu hỏi nó trả lời.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15 phút.</a:t>
            </a:r>
          </a:p>
          <a:p>
            <a:r>
              <a:t>LỜI GIẢNG (giao bài)</a:t>
            </a:r>
          </a:p>
          <a:p>
            <a:r>
              <a:t>Giờ các bạn tự dựng báo cáo, 15 phút, trên file của mình. Phần lớn thao tác mình đã làm cùng nhau; bài này gom lại thành một báo cáo gọn: mỗi Pivot một sheet, đặt tên đúng như slide.</a:t>
            </a:r>
          </a:p>
          <a:p>
            <a:r>
              <a:t>Bước 2 là bước D2: dựng xong Pivot Miền × Tháng, đối soát ngay với bảng SUMIFS Buổi 2 bằng GETPIVOTDATA. Chênh lệch phải bằng 0. Nếu tổng không phải 941.454.000 thì dừng lại tìm nguyên nhân trước khi làm tiếp.</a:t>
            </a:r>
          </a:p>
          <a:p>
            <a:r>
              <a:t>Bước 5: Slicer Store_Code, chuột phải, Report Connections, tick cả ba Pivot. Bấm thử ST07: cả ba Pivot phải cùng đổi.</a:t>
            </a:r>
          </a:p>
          <a:p>
            <a:r>
              <a:t>GHI CHÚ GIẢNG VIÊN</a:t>
            </a:r>
          </a:p>
          <a:p>
            <a:r>
              <a:t>Đi vòng lớp. Ba lỗi hay gặp nhất:</a:t>
            </a:r>
          </a:p>
          <a:p>
            <a:r>
              <a:t>Thêm cột So_don nhưng quên Refresh → không thấy trường So_don trong Field List.</a:t>
            </a:r>
          </a:p>
          <a:p>
            <a:r>
              <a:t>Report Connections không thấy Pivot khác → Pivot đó được tạo từ vùng khác (không phải tblSales), khác cache; tạo lại từ tblSales.</a:t>
            </a:r>
          </a:p>
          <a:p>
            <a:r>
              <a:t>Calculated Field gõ =SUM(Revenue)/SUM(So_don) → sai cú pháp; chỉ cần =Revenue/So_don.</a:t>
            </a:r>
          </a:p>
          <a:p>
            <a:r>
              <a:t>Excel 2016 không tự nhóm ngày; Excel 365 tự nhóm Order_Date thành tháng (bài 1 không dùng Order_Date).</a:t>
            </a:r>
          </a:p>
          <a:p>
            <a:r>
              <a:t>Ai xong sớm: làm trước Thực hành 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12 phút.</a:t>
            </a:r>
          </a:p>
          <a:p>
            <a:r>
              <a:t>LỜI GIẢNG (giao bài)</a:t>
            </a:r>
          </a:p>
          <a:p>
            <a:r>
              <a:t>Bài 2 là ba câu chuyện của hôm nay, 12 phút. Lần này các bạn tự làm và tự viết tiêu đề biểu đồ bằng lời của mình. Tiêu đề phải là một câu kết luận có con số, ví dụ "Chủ nhật bán nhiều nhất tuần: 160 triệu", không phải "Doanh thu theo thứ".</a:t>
            </a:r>
          </a:p>
          <a:p>
            <a:r>
              <a:t>Phần ST07: bấm đúp, sắp xếp theo ngày, đếm số đơn trước và sau 10/03. Ghi con số vào ô ngay dưới Pivot. Đó là nguyên liệu cho câu insight cuối buổi.</a:t>
            </a:r>
          </a:p>
          <a:p>
            <a:r>
              <a:t>GHI CHÚ GIẢNG VIÊN</a:t>
            </a:r>
          </a:p>
          <a:p>
            <a:r>
              <a:t>Order_Date bị Excel 365 tự nhóm thành tháng → chuột phải → Group → bỏ Months, chọn Days. Muốn tắt hẳn: File → Options → Data → tick "Disable automatic grouping of Date/Time columns in PivotTables".</a:t>
            </a:r>
          </a:p>
          <a:p>
            <a:r>
              <a:t>PivotChart của Pivot đang lọc bằng Slicer cũng bị lọc theo; nhắc Clear Filter trước khi đọc số.</a:t>
            </a:r>
          </a:p>
          <a:p>
            <a:r>
              <a:t>Nếu Thu hiện T2…CN (máy tiếng Việt): số liệu vẫn giống slide.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3 phút.</a:t>
            </a:r>
          </a:p>
          <a:p>
            <a:r>
              <a:t>LỜI GIẢNG</a:t>
            </a:r>
          </a:p>
          <a:p>
            <a:r>
              <a:t>(→ mở Practice/B3_MCI_Mart_Q1_2025_Answer.xlsx, sheet Kiem_tra) File đáp án có sheet Kiem_tra 14 dòng, đọc thẳng từ Pivot bằng GETPIVOTDATA, tất cả tick xanh. (→ sheet PV_MienThang: bấm vài nút trên Slicer Store_Code) Slicer lọc cùng lúc Pivot miền, ngành hàng và tháng. (→ sheet ST07_T3_ChiTiet) Sheet ST07_T3_ChiTiet là kết quả drill-down, các dòng từ 10/03 được tô hồng.</a:t>
            </a:r>
          </a:p>
          <a:p>
            <a:r>
              <a:t>File này là file khởi đầu Buổi 4. Lưu ý: nếu các bạn đang bấm Slicer thì số trên Kiem_tra sẽ đổi theo; bỏ lọc trước khi đối chiếu.</a:t>
            </a:r>
          </a:p>
          <a:p>
            <a:r>
              <a:t>(→ hỏi lớp) Bạn nào tick đủ 5 ô?</a:t>
            </a:r>
          </a:p>
          <a:p>
            <a:r>
              <a:t>GHI CHÚ GIẢNG VIÊN (kiểm tra cuối buổi, theo Course Plan)</a:t>
            </a:r>
          </a:p>
          <a:p>
            <a:r>
              <a:t>Tổng Pivot = tổng SUMIFS của B2 (941.454.000); Slicer lọc được mọi Pivot liên quan; mỗi PivotChart ghi rõ câu hỏi nó trả lời.</a:t>
            </a:r>
          </a:p>
          <a:p>
            <a:r>
              <a:t>Học viên dùng Mac: hạn chót có máy Windows là trước Buổi 4 (Power Query và Data Model). Hỏi lại từng bạn.</a:t>
            </a:r>
          </a:p>
          <a:p>
            <a:r>
              <a:t>D2 mong đợi: Developing → hướng tới Competent (tự đối soát Pivot với SUMIFS; drill-down trước khi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0,2 phút.</a:t>
            </a:r>
          </a:p>
          <a:p>
            <a:r>
              <a:t>LỜI GIẢNG</a:t>
            </a:r>
          </a:p>
          <a:p>
            <a:r>
              <a:t>7 câu hỏi nhanh. Câu 6 và 7 là tình huống: không có công thức nào để thuộc, các bạn phải suy luận.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B.</a:t>
            </a:r>
          </a:p>
          <a:p>
            <a:r>
              <a:t>LỜI GIẢNG</a:t>
            </a:r>
          </a:p>
          <a:p>
            <a:r>
              <a:t>B. Mỗi ô Pivot là một SUMIFS: tọa độ hàng và cột chính là các tiêu chí. C đếm dòng, D lấy trung bình và thiếu điều kiện tháng.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B.</a:t>
            </a:r>
          </a:p>
          <a:p>
            <a:r>
              <a:t>LỜI GIẢNG</a:t>
            </a:r>
          </a:p>
          <a:p>
            <a:r>
              <a:t>B. Pivot đọc từ cache. Sửa nguồn xong bấm Refresh (Alt+F5) hoặc Refresh All (Ctrl+Alt+F5); hoặc bật "Refresh data when opening the file".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B.</a:t>
            </a:r>
          </a:p>
          <a:p>
            <a:r>
              <a:t>LỜI GIẢNG</a:t>
            </a:r>
          </a:p>
          <a:p>
            <a:r>
              <a:t>B. Cột số có ô trống hoặc chữ thì Excel mặc định Count. Đó là tín hiệu cần kiểm tra nguồn, không chỉ đổi sang Sum: Sum sẽ bỏ qua các ô đó mà không báo.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C.</a:t>
            </a:r>
          </a:p>
          <a:p>
            <a:r>
              <a:t>LỜI GIẢNG</a:t>
            </a:r>
          </a:p>
          <a:p>
            <a:r>
              <a:t>C. Tháng nằm ở cột, nên mỗi cột cộng lại 100%. % of Row Total sẽ cho biết mỗi tháng chiếm bao nhiêu % doanh thu quý của một ngành: câu hỏi khác.</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B.</a:t>
            </a:r>
          </a:p>
          <a:p>
            <a:r>
              <a:t>LỜI GIẢNG</a:t>
            </a:r>
          </a:p>
          <a:p>
            <a:r>
              <a:t>B. Calculated Field luôn tính trên tổng: 941.454.000 chia 3.144 bằng 299.445. Đúng quy tắc tổng chia tổng của Buổi 2.</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B.</a:t>
            </a:r>
          </a:p>
          <a:p>
            <a:r>
              <a:t>LỜI GIẢNG</a:t>
            </a:r>
          </a:p>
          <a:p>
            <a:r>
              <a:t>B. Câu hỏi là xu hướng theo thời gian: dùng đường. Pie 90 miếng không đọc được; stacked 100% nói cơ cấu, không nói tăng giảm.</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40 giây. Đáp án: B.</a:t>
            </a:r>
          </a:p>
          <a:p>
            <a:r>
              <a:t>LỜI GIẢNG</a:t>
            </a:r>
          </a:p>
          <a:p>
            <a:r>
              <a:t>B. Pivot mạnh khi khám phá, đổi chiều liên tục; nhưng bố cục của nó thay đổi theo dữ liệu. Khi cần một ô cố định để công thức khác tham chiếu, ví dụ thẻ KPI hay bảng so với target, SUMIFS vẫn là lựa chọn tốt. A và D là lý do dùng Pivot; C thì cả hai đều làm được.</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2 phút.</a:t>
            </a:r>
          </a:p>
          <a:p>
            <a:r>
              <a:t>LỜI GIẢNG</a:t>
            </a:r>
          </a:p>
          <a:p>
            <a:r>
              <a:t>Tổng kết 5 điều cần nhớ (→ đọc lướt 5 ý trên slide).</a:t>
            </a:r>
          </a:p>
          <a:p>
            <a:r>
              <a:t>Giờ viết câu insight, 1 phút. Lần này các bạn có ba câu chuyện để chọn.</a:t>
            </a:r>
          </a:p>
          <a:p>
            <a:r>
              <a:t>(→ chờ 1 phút, gọi 2–3 bạn đọc)</a:t>
            </a:r>
          </a:p>
          <a:p>
            <a:r>
              <a:t>Câu mẫu: "Doanh thu tháng 1/2025 là 425,9 triệu, cao hơn tháng 2 khoảng 73%, vì 3 tuần trước Tết (08–28/01) mỗi tuần bán 112–119 triệu, gần gấp đôi tuần bình thường, và Bánh kẹo chiếm 45,6% doanh thu tháng 1, rồi tuần Tết chỉ còn 31,6 triệu; nên tháng 1 và tháng 2 không so trực tiếp được, kế hoạch và đánh giá hai tháng này phải tính theo lịch Tết."</a:t>
            </a:r>
          </a:p>
          <a:p>
            <a:r>
              <a:t>Để ý: câu này đã nói "vì Tết", và lần này có bằng chứng: nhóm theo tuần, tỷ trọng ngành, biểu đồ theo ngày. Buổi 2 mình mới nghi ngờ; hôm nay mình chứng minh. Còn ST07 thì mình mới biết "có chuyện từ 10/03"; muốn biết cửa hàng đạt bao nhiêu phần trăm kế hoạch, cần ghép với bảng Target ở Buổi 4 và Buổi 5.</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 phút.</a:t>
            </a:r>
          </a:p>
          <a:p>
            <a:r>
              <a:t>LỜI GIẢNG</a:t>
            </a:r>
          </a:p>
          <a:p>
            <a:r>
              <a:t>Hôm nay các bạn đã trả lời được hai mươi câu hỏi "theo chiều nào" chỉ bằng kéo thả, và tìm ra ba câu chuyện trong dữ liệu. Nhưng để ý: dữ liệu hôm nay đã sạch sẵn. Ngoài đời, tháng 4 sẽ về dưới dạng vài file CSV, cột ngày lộn xộn, mã thừa dấu cách, như các bạn thấy ở Buổi 1. Mỗi tháng lại copy-paste và sửa tay rồi mới Refresh được Pivot. Buổi 4 học Power Query: làm sạch một lần, tháng sau chỉ bấm Refresh.</a:t>
            </a:r>
          </a:p>
          <a:p>
            <a:r>
              <a:t>Về nhà: đọc handout Buổi 3, có Calculated Item, Report Filter Pages, Subtotal. Làm bài tập về nhà bắt buộc: dữ liệu 4 tháng đầu năm, dựng Pivot trả lời 5 câu hỏi, trong đó có câu "ST07 đã hồi phục chưa". Việc đầu tiên là đối soát Pivot với số liệu hệ thống có sẵn trong file: sẽ có một cột lệch, các bạn phải tự tìm ra vì sao. Nộp trước Buổi 4 trên hocvien.mcivietnam.com.</a:t>
            </a:r>
          </a:p>
          <a:p>
            <a:r>
              <a:t>Và nhắc lần cuối: Buổi 4 bắt buộc máy Windows. Bạn nào dùng Mac mà chưa cài máy ảo thì liên hệ trợ giảng ngay tuần này. Cảm ơn cả lớp, hẹn gặp lại Buổi 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F2664-F3C6-6151-5EEA-86A461E82C44}"/>
              </a:ext>
            </a:extLst>
          </p:cNvPr>
          <p:cNvSpPr>
            <a:spLocks noGrp="1"/>
          </p:cNvSpPr>
          <p:nvPr>
            <p:ph type="ctrTitle"/>
          </p:nvPr>
        </p:nvSpPr>
        <p:spPr>
          <a:xfrm>
            <a:off x="1432560" y="2011680"/>
            <a:ext cx="10302240" cy="1737360"/>
          </a:xfrm>
        </p:spPr>
        <p:txBody>
          <a:bodyPr anchor="b"/>
          <a:lstStyle>
            <a:lvl1pPr algn="l">
              <a:defRPr sz="4800" b="1"/>
            </a:lvl1pPr>
          </a:lstStyle>
          <a:p>
            <a:r>
              <a:rPr lang="en-GB"/>
              <a:t>Click to edit Master title style</a:t>
            </a:r>
            <a:endParaRPr lang="en-US"/>
          </a:p>
        </p:txBody>
      </p:sp>
      <p:sp>
        <p:nvSpPr>
          <p:cNvPr id="3" name="Subtitle 2">
            <a:extLst>
              <a:ext uri="{FF2B5EF4-FFF2-40B4-BE49-F238E27FC236}">
                <a16:creationId xmlns:a16="http://schemas.microsoft.com/office/drawing/2014/main" id="{55A5D9FC-D4AA-338A-F692-F1B120AC9F9B}"/>
              </a:ext>
            </a:extLst>
          </p:cNvPr>
          <p:cNvSpPr>
            <a:spLocks noGrp="1"/>
          </p:cNvSpPr>
          <p:nvPr>
            <p:ph type="subTitle" idx="1"/>
          </p:nvPr>
        </p:nvSpPr>
        <p:spPr>
          <a:xfrm>
            <a:off x="1432560" y="3931920"/>
            <a:ext cx="10302240" cy="1097280"/>
          </a:xfrm>
        </p:spPr>
        <p:txBody>
          <a:bodyPr/>
          <a:lstStyle>
            <a:lvl1pPr marL="0" indent="0" algn="l">
              <a:buNone/>
              <a:defRPr sz="2400">
                <a:solidFill>
                  <a:srgbClr val="585858"/>
                </a:solidFill>
              </a:defRPr>
            </a:lvl1pPr>
            <a:lvl2pPr marL="457200" indent="0" algn="ctr">
              <a:buNone/>
              <a:defRPr sz="2000">
                <a:solidFill>
                  <a:srgbClr val="585858"/>
                </a:solidFill>
              </a:defRPr>
            </a:lvl2pPr>
            <a:lvl3pPr marL="914400" indent="0" algn="ctr">
              <a:buNone/>
              <a:defRPr sz="1800">
                <a:solidFill>
                  <a:srgbClr val="585858"/>
                </a:solidFill>
              </a:defRPr>
            </a:lvl3pPr>
            <a:lvl4pPr marL="1371600" indent="0" algn="ctr">
              <a:buNone/>
              <a:defRPr sz="1600">
                <a:solidFill>
                  <a:srgbClr val="585858"/>
                </a:solidFill>
              </a:defRPr>
            </a:lvl4pPr>
            <a:lvl5pPr marL="1828800" indent="0" algn="ctr">
              <a:buNone/>
              <a:defRPr sz="1600">
                <a:solidFill>
                  <a:srgbClr val="585858"/>
                </a:solidFill>
              </a:defRPr>
            </a:lvl5pPr>
            <a:lvl6pPr marL="2286000" indent="0" algn="ctr">
              <a:buNone/>
              <a:defRPr sz="1600">
                <a:solidFill>
                  <a:srgbClr val="585858"/>
                </a:solidFill>
              </a:defRPr>
            </a:lvl6pPr>
            <a:lvl7pPr marL="2743200" indent="0" algn="ctr">
              <a:buNone/>
              <a:defRPr sz="1600">
                <a:solidFill>
                  <a:srgbClr val="585858"/>
                </a:solidFill>
              </a:defRPr>
            </a:lvl7pPr>
            <a:lvl8pPr marL="3200400" indent="0" algn="ctr">
              <a:buNone/>
              <a:defRPr sz="1600">
                <a:solidFill>
                  <a:srgbClr val="585858"/>
                </a:solidFill>
              </a:defRPr>
            </a:lvl8pPr>
            <a:lvl9pPr marL="3657600" indent="0" algn="ctr">
              <a:buNone/>
              <a:defRPr sz="1600">
                <a:solidFill>
                  <a:srgbClr val="585858"/>
                </a:solidFill>
              </a:defRPr>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00E1E18-61FE-3D83-17A2-F39391068259}"/>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0AB0BF97-2C91-ED2E-CD8F-3CAC10D59F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3FBB26-71FB-8170-009A-EF8735C76EBF}"/>
              </a:ext>
            </a:extLst>
          </p:cNvPr>
          <p:cNvSpPr>
            <a:spLocks noGrp="1"/>
          </p:cNvSpPr>
          <p:nvPr>
            <p:ph type="sldNum" sz="quarter" idx="12"/>
          </p:nvPr>
        </p:nvSpPr>
        <p:spPr/>
        <p:txBody>
          <a:bodyPr/>
          <a:lstStyle/>
          <a:p>
            <a:fld id="{7A9419BB-C971-F34B-8B82-C5E9A3ED8678}" type="slidenum">
              <a:rPr lang="en-US" smtClean="0"/>
              <a:t>‹#›</a:t>
            </a:fld>
            <a:endParaRPr lang="en-US"/>
          </a:p>
        </p:txBody>
      </p:sp>
      <p:sp>
        <p:nvSpPr>
          <p:cNvPr id="30" name="MCI Wordmark"/>
          <p:cNvSpPr txBox="1"/>
          <p:nvPr userDrawn="1"/>
        </p:nvSpPr>
        <p:spPr>
          <a:xfrm>
            <a:off x="1432560" y="548640"/>
            <a:ext cx="2743200" cy="548640"/>
          </a:xfrm>
          <a:prstGeom prst="rect">
            <a:avLst/>
          </a:prstGeom>
          <a:noFill/>
        </p:spPr>
        <p:txBody>
          <a:bodyPr wrap="none" lIns="91440" anchor="t"/>
          <a:lstStyle/>
          <a:p>
            <a:r>
              <a:rPr lang="en-US" sz="2800" b="1">
                <a:solidFill>
                  <a:srgbClr val="203864"/>
                </a:solidFill>
                <a:latin typeface="Arial"/>
              </a:rPr>
              <a:t>MCI</a:t>
            </a:r>
          </a:p>
        </p:txBody>
      </p:sp>
    </p:spTree>
    <p:extLst>
      <p:ext uri="{BB962C8B-B14F-4D97-AF65-F5344CB8AC3E}">
        <p14:creationId xmlns:p14="http://schemas.microsoft.com/office/powerpoint/2010/main" val="2868496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2B9EE3C0-7C20-5445-A788-9AB5D82D90FB}" type="datetimeFigureOut">
              <a:rPr lang="en-US" smtClean="0"/>
              <a:t>27/9/2026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259517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99C69-77BA-2FF0-04BC-65E5F21C410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A047FBA-36F6-5941-AE5A-3C28ABD9791D}"/>
              </a:ext>
            </a:extLst>
          </p:cNvPr>
          <p:cNvSpPr>
            <a:spLocks noGrp="1"/>
          </p:cNvSpPr>
          <p:nvPr>
            <p:ph sz="half" idx="1"/>
          </p:nvPr>
        </p:nvSpPr>
        <p:spPr>
          <a:xfrm>
            <a:off x="1432560" y="1825625"/>
            <a:ext cx="5076466"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363C48E-6F94-484B-3886-58203F5425D9}"/>
              </a:ext>
            </a:extLst>
          </p:cNvPr>
          <p:cNvSpPr>
            <a:spLocks noGrp="1"/>
          </p:cNvSpPr>
          <p:nvPr>
            <p:ph sz="half" idx="2"/>
          </p:nvPr>
        </p:nvSpPr>
        <p:spPr>
          <a:xfrm>
            <a:off x="6658334" y="1825625"/>
            <a:ext cx="5076466"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AA01DA5-559C-410C-9CC7-0933837962D9}"/>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D24F1E9D-60B2-BB85-7303-C28EBFC26C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8712A5-3FB3-1E06-8027-6B8BD1AA8F2A}"/>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5912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cSld name="Section Header">
    <p:bg>
      <p:bgPr>
        <a:solidFill>
          <a:srgbClr val="203864"/>
        </a:solidFill>
        <a:effectLst/>
      </p:bgPr>
    </p:bg>
    <p:spTree>
      <p:nvGrpSpPr>
        <p:cNvPr id="1" name=""/>
        <p:cNvGrpSpPr/>
        <p:nvPr/>
      </p:nvGrpSpPr>
      <p:grpSpPr>
        <a:xfrm>
          <a:off x="0" y="0"/>
          <a:ext cx="0" cy="0"/>
          <a:chOff x="0" y="0"/>
          <a:chExt cx="0" cy="0"/>
        </a:xfrm>
      </p:grpSpPr>
      <p:sp>
        <p:nvSpPr>
          <p:cNvPr id="7" name="MCI wordmark"/>
          <p:cNvSpPr txBox="1"/>
          <p:nvPr userDrawn="1"/>
        </p:nvSpPr>
        <p:spPr>
          <a:xfrm>
            <a:off x="914400" y="640080"/>
            <a:ext cx="6400800" cy="457200"/>
          </a:xfrm>
          <a:prstGeom prst="rect">
            <a:avLst/>
          </a:prstGeom>
          <a:noFill/>
        </p:spPr>
        <p:txBody>
          <a:bodyPr wrap="none" lIns="0" rIns="0" anchor="ctr"/>
          <a:lstStyle/>
          <a:p>
            <a:r>
              <a:rPr lang="en-US" sz="2400" b="1">
                <a:solidFill>
                  <a:srgbClr val="FFFFFF"/>
                </a:solidFill>
              </a:rPr>
              <a:t>MCI</a:t>
            </a:r>
            <a:r>
              <a:rPr lang="en-US" sz="1200" spc="200">
                <a:solidFill>
                  <a:srgbClr val="FFFFFF"/>
                </a:solidFill>
              </a:rPr>
              <a:t>   MAGIC CODE INSTITUTE</a:t>
            </a:r>
          </a:p>
        </p:txBody>
      </p:sp>
      <p:sp>
        <p:nvSpPr>
          <p:cNvPr id="8" name="Gold rule"/>
          <p:cNvSpPr/>
          <p:nvPr userDrawn="1"/>
        </p:nvSpPr>
        <p:spPr>
          <a:xfrm>
            <a:off x="914400" y="4480560"/>
            <a:ext cx="1097280" cy="54864"/>
          </a:xfrm>
          <a:prstGeom prst="rect">
            <a:avLst/>
          </a:prstGeom>
          <a:solidFill>
            <a:srgbClr val="FFC000"/>
          </a:solidFill>
          <a:ln>
            <a:noFill/>
          </a:ln>
        </p:spPr>
      </p:sp>
      <p:sp>
        <p:nvSpPr>
          <p:cNvPr id="2" name="Title 1"/>
          <p:cNvSpPr>
            <a:spLocks noGrp="1"/>
          </p:cNvSpPr>
          <p:nvPr>
            <p:ph type="title"/>
          </p:nvPr>
        </p:nvSpPr>
        <p:spPr>
          <a:xfrm>
            <a:off x="914400" y="2286000"/>
            <a:ext cx="10363200" cy="2011680"/>
          </a:xfrm>
        </p:spPr>
        <p:txBody>
          <a:bodyPr lIns="0" anchor="b">
            <a:normAutofit/>
          </a:bodyPr>
          <a:lstStyle>
            <a:lvl1pPr algn="l">
              <a:defRPr sz="3200" b="1">
                <a:solidFill>
                  <a:srgbClr val="FFFFFF"/>
                </a:solidFill>
              </a:defRPr>
            </a:lvl1pPr>
          </a:lstStyle>
          <a:p>
            <a:r>
              <a:rPr lang="en-GB"/>
              <a:t>Click to edit Master title style</a:t>
            </a:r>
          </a:p>
        </p:txBody>
      </p:sp>
      <p:sp>
        <p:nvSpPr>
          <p:cNvPr id="3" name="Text Placeholder 2"/>
          <p:cNvSpPr>
            <a:spLocks noGrp="1"/>
          </p:cNvSpPr>
          <p:nvPr>
            <p:ph type="body" idx="1"/>
          </p:nvPr>
        </p:nvSpPr>
        <p:spPr>
          <a:xfrm>
            <a:off x="914400" y="4709160"/>
            <a:ext cx="10363200" cy="914400"/>
          </a:xfrm>
        </p:spPr>
        <p:txBody>
          <a:bodyPr lIns="0">
            <a:normAutofit/>
          </a:bodyPr>
          <a:lstStyle>
            <a:lvl1pPr marL="0" indent="0">
              <a:buNone/>
              <a:defRPr sz="2000">
                <a:solidFill>
                  <a:srgbClr val="D9DEE8"/>
                </a:solidFill>
              </a:defRPr>
            </a:lvl1pPr>
          </a:lstStyle>
          <a:p>
            <a:r>
              <a:rPr lang="en-GB"/>
              <a:t>Click to edit Master text styles</a:t>
            </a:r>
          </a:p>
        </p:txBody>
      </p:sp>
    </p:spTree>
    <p:extLst>
      <p:ext uri="{BB962C8B-B14F-4D97-AF65-F5344CB8AC3E}">
        <p14:creationId xmlns:p14="http://schemas.microsoft.com/office/powerpoint/2010/main" val="1313849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EF857-DF32-3922-EA31-5B12F1BF389B}"/>
              </a:ext>
            </a:extLst>
          </p:cNvPr>
          <p:cNvSpPr>
            <a:spLocks noGrp="1"/>
          </p:cNvSpPr>
          <p:nvPr>
            <p:ph type="title"/>
          </p:nvPr>
        </p:nvSpPr>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4679F92-7EED-D73E-34B9-2B5BEA02D8D5}"/>
              </a:ext>
            </a:extLst>
          </p:cNvPr>
          <p:cNvSpPr>
            <a:spLocks noGrp="1"/>
          </p:cNvSpPr>
          <p:nvPr>
            <p:ph type="body" idx="1"/>
          </p:nvPr>
        </p:nvSpPr>
        <p:spPr>
          <a:xfrm>
            <a:off x="1434116" y="1681163"/>
            <a:ext cx="505313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662207B-D76F-1445-6E60-70B87DB80392}"/>
              </a:ext>
            </a:extLst>
          </p:cNvPr>
          <p:cNvSpPr>
            <a:spLocks noGrp="1"/>
          </p:cNvSpPr>
          <p:nvPr>
            <p:ph sz="half" idx="2"/>
          </p:nvPr>
        </p:nvSpPr>
        <p:spPr>
          <a:xfrm>
            <a:off x="1434116" y="2505075"/>
            <a:ext cx="5053136"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CA2C473-0CB1-0F03-79FD-FCFC188E51A4}"/>
              </a:ext>
            </a:extLst>
          </p:cNvPr>
          <p:cNvSpPr>
            <a:spLocks noGrp="1"/>
          </p:cNvSpPr>
          <p:nvPr>
            <p:ph type="body" sz="quarter" idx="3"/>
          </p:nvPr>
        </p:nvSpPr>
        <p:spPr>
          <a:xfrm>
            <a:off x="6658334" y="1681163"/>
            <a:ext cx="507802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BAADC17-123C-1B98-9C55-4D7D49845E27}"/>
              </a:ext>
            </a:extLst>
          </p:cNvPr>
          <p:cNvSpPr>
            <a:spLocks noGrp="1"/>
          </p:cNvSpPr>
          <p:nvPr>
            <p:ph sz="quarter" idx="4"/>
          </p:nvPr>
        </p:nvSpPr>
        <p:spPr>
          <a:xfrm>
            <a:off x="6658334" y="2505075"/>
            <a:ext cx="5078022"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D65B6DB-77BD-9C6E-5E6D-A7BE78333BB6}"/>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8" name="Footer Placeholder 7">
            <a:extLst>
              <a:ext uri="{FF2B5EF4-FFF2-40B4-BE49-F238E27FC236}">
                <a16:creationId xmlns:a16="http://schemas.microsoft.com/office/drawing/2014/main" id="{20E678BE-8847-6D2F-3F45-91CA985AB5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D1A3EE-6065-DD56-6A88-F914D5B4C1CD}"/>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2101045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D3570-678E-8041-1DC8-86B01C4FBAB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59A16AD-B058-70BE-DBC1-78AA9918405A}"/>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4" name="Footer Placeholder 3">
            <a:extLst>
              <a:ext uri="{FF2B5EF4-FFF2-40B4-BE49-F238E27FC236}">
                <a16:creationId xmlns:a16="http://schemas.microsoft.com/office/drawing/2014/main" id="{1B6D8CAC-8260-A67D-8732-DD72307948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C877EE-C1CB-3D64-07B4-8AA215343EB2}"/>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33194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BE4EAE-A436-DD75-26A9-7E4EF0EABAB8}"/>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3" name="Footer Placeholder 2">
            <a:extLst>
              <a:ext uri="{FF2B5EF4-FFF2-40B4-BE49-F238E27FC236}">
                <a16:creationId xmlns:a16="http://schemas.microsoft.com/office/drawing/2014/main" id="{F04AE991-C68F-060D-534A-2D1CFE3796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A977B5-CCC9-8A85-1F45-60EE63654905}"/>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2697557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23B96-0970-502F-414D-7E067632F191}"/>
              </a:ext>
            </a:extLst>
          </p:cNvPr>
          <p:cNvSpPr>
            <a:spLocks noGrp="1"/>
          </p:cNvSpPr>
          <p:nvPr>
            <p:ph type="title"/>
          </p:nvPr>
        </p:nvSpPr>
        <p:spPr>
          <a:xfrm>
            <a:off x="1434116" y="457200"/>
            <a:ext cx="3852452"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FA5074C-7090-612E-5DF9-E393D6B4F569}"/>
              </a:ext>
            </a:extLst>
          </p:cNvPr>
          <p:cNvSpPr>
            <a:spLocks noGrp="1"/>
          </p:cNvSpPr>
          <p:nvPr>
            <p:ph idx="1"/>
          </p:nvPr>
        </p:nvSpPr>
        <p:spPr>
          <a:xfrm>
            <a:off x="5689389" y="987425"/>
            <a:ext cx="6046967"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E913B6C-C8CA-B03D-EAFC-66D24F36F00D}"/>
              </a:ext>
            </a:extLst>
          </p:cNvPr>
          <p:cNvSpPr>
            <a:spLocks noGrp="1"/>
          </p:cNvSpPr>
          <p:nvPr>
            <p:ph type="body" sz="half" idx="2"/>
          </p:nvPr>
        </p:nvSpPr>
        <p:spPr>
          <a:xfrm>
            <a:off x="1434116" y="2057400"/>
            <a:ext cx="385245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10F8C85-7E3A-1BF3-57B7-67DC51295901}"/>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C1759792-564A-D064-DC38-377FE5F36A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02A526-D348-A6A7-D6D8-765874ABCCF7}"/>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467445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02A28-28CD-FDCB-9BDE-BBD7761D9F80}"/>
              </a:ext>
            </a:extLst>
          </p:cNvPr>
          <p:cNvSpPr>
            <a:spLocks noGrp="1"/>
          </p:cNvSpPr>
          <p:nvPr>
            <p:ph type="title"/>
          </p:nvPr>
        </p:nvSpPr>
        <p:spPr>
          <a:xfrm>
            <a:off x="1434116" y="457200"/>
            <a:ext cx="3852452"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3202B5F-EA9B-1AF8-17E8-85154BC8C380}"/>
              </a:ext>
            </a:extLst>
          </p:cNvPr>
          <p:cNvSpPr>
            <a:spLocks noGrp="1" noChangeAspect="1"/>
          </p:cNvSpPr>
          <p:nvPr>
            <p:ph type="pic" idx="1"/>
          </p:nvPr>
        </p:nvSpPr>
        <p:spPr>
          <a:xfrm>
            <a:off x="5689389" y="987425"/>
            <a:ext cx="6046967"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5D4558-CC71-6A22-1E4F-81F961813C80}"/>
              </a:ext>
            </a:extLst>
          </p:cNvPr>
          <p:cNvSpPr>
            <a:spLocks noGrp="1"/>
          </p:cNvSpPr>
          <p:nvPr>
            <p:ph type="body" sz="half" idx="2"/>
          </p:nvPr>
        </p:nvSpPr>
        <p:spPr>
          <a:xfrm>
            <a:off x="1434116" y="2057400"/>
            <a:ext cx="385245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1F5ABD8-1DA1-C358-4422-ED8A78AC2C6E}"/>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8E16271F-39F3-E81F-443B-21DC458CD8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728C95-36D3-1FDC-12F9-75C4D3BE95B3}"/>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991657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4C102-A4A5-EF09-43CF-6253ED77AA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7E998EF-69FA-C77A-8A76-22992DE77A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4B466E2-7B90-931F-632B-D59F99017C24}"/>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3A3200D8-8910-5148-4843-3D52384BF0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2BED4-5DB4-45F1-5ACC-643FFD821F64}"/>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507418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FF3541-96FF-94D7-F45B-F634CD3B44BF}"/>
              </a:ext>
            </a:extLst>
          </p:cNvPr>
          <p:cNvSpPr>
            <a:spLocks noGrp="1"/>
          </p:cNvSpPr>
          <p:nvPr>
            <p:ph type="title" orient="vert"/>
          </p:nvPr>
        </p:nvSpPr>
        <p:spPr>
          <a:xfrm>
            <a:off x="9159240" y="365125"/>
            <a:ext cx="257556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A22BC46-4E1A-B46B-F1C8-4E24A201B337}"/>
              </a:ext>
            </a:extLst>
          </p:cNvPr>
          <p:cNvSpPr>
            <a:spLocks noGrp="1"/>
          </p:cNvSpPr>
          <p:nvPr>
            <p:ph type="body" orient="vert" idx="1"/>
          </p:nvPr>
        </p:nvSpPr>
        <p:spPr>
          <a:xfrm>
            <a:off x="1432560" y="365125"/>
            <a:ext cx="7577372"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E63504C-0F86-E102-3E0C-290A4BB0A6D4}"/>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12A90F48-5867-0DF6-F507-5379E890B3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D93CD6-4795-CA01-149F-B154B4516B3C}"/>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9684304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MCI Rail"/>
          <p:cNvSpPr/>
          <p:nvPr userDrawn="1"/>
        </p:nvSpPr>
        <p:spPr>
          <a:xfrm>
            <a:off x="0" y="0"/>
            <a:ext cx="975360" cy="6858000"/>
          </a:xfrm>
          <a:prstGeom prst="rect">
            <a:avLst/>
          </a:prstGeom>
          <a:solidFill>
            <a:srgbClr val="203864"/>
          </a:solidFill>
          <a:ln>
            <a:noFill/>
          </a:ln>
        </p:spPr>
        <p:txBody>
          <a:bodyPr/>
          <a:lstStyle/>
          <a:p>
            <a:endParaRPr lang="en-US"/>
          </a:p>
        </p:txBody>
      </p:sp>
      <p:sp>
        <p:nvSpPr>
          <p:cNvPr id="2" name="Title Placeholder 1">
            <a:extLst>
              <a:ext uri="{FF2B5EF4-FFF2-40B4-BE49-F238E27FC236}">
                <a16:creationId xmlns:a16="http://schemas.microsoft.com/office/drawing/2014/main" id="{5773FA29-7399-D724-95CF-8F2F56D526D4}"/>
              </a:ext>
            </a:extLst>
          </p:cNvPr>
          <p:cNvSpPr>
            <a:spLocks noGrp="1"/>
          </p:cNvSpPr>
          <p:nvPr>
            <p:ph type="title"/>
          </p:nvPr>
        </p:nvSpPr>
        <p:spPr>
          <a:xfrm>
            <a:off x="1432560" y="365760"/>
            <a:ext cx="10302240" cy="100584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A5F95C9-A218-9682-28A0-7A7C952763F2}"/>
              </a:ext>
            </a:extLst>
          </p:cNvPr>
          <p:cNvSpPr>
            <a:spLocks noGrp="1"/>
          </p:cNvSpPr>
          <p:nvPr>
            <p:ph type="body" idx="1"/>
          </p:nvPr>
        </p:nvSpPr>
        <p:spPr>
          <a:xfrm>
            <a:off x="1432560" y="1554480"/>
            <a:ext cx="10302240" cy="45720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9F865D-4C91-A852-2C9F-A2DE37302B15}"/>
              </a:ext>
            </a:extLst>
          </p:cNvPr>
          <p:cNvSpPr>
            <a:spLocks noGrp="1"/>
          </p:cNvSpPr>
          <p:nvPr>
            <p:ph type="dt" sz="half" idx="2"/>
          </p:nvPr>
        </p:nvSpPr>
        <p:spPr>
          <a:xfrm>
            <a:off x="1432560" y="6309360"/>
            <a:ext cx="2743200" cy="320040"/>
          </a:xfrm>
          <a:prstGeom prst="rect">
            <a:avLst/>
          </a:prstGeom>
        </p:spPr>
        <p:txBody>
          <a:bodyPr vert="horz" lIns="91440" tIns="45720" rIns="91440" bIns="45720" rtlCol="0" anchor="ctr"/>
          <a:lstStyle>
            <a:lvl1pPr algn="l">
              <a:defRPr sz="1200">
                <a:solidFill>
                  <a:srgbClr val="6B6F76"/>
                </a:solidFill>
              </a:defRPr>
            </a:lvl1p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D75018BC-A677-96B0-5B2E-4AEDE18B0ABF}"/>
              </a:ext>
            </a:extLst>
          </p:cNvPr>
          <p:cNvSpPr>
            <a:spLocks noGrp="1"/>
          </p:cNvSpPr>
          <p:nvPr>
            <p:ph type="ftr" sz="quarter" idx="3"/>
          </p:nvPr>
        </p:nvSpPr>
        <p:spPr>
          <a:xfrm>
            <a:off x="4358640" y="6309360"/>
            <a:ext cx="6187440" cy="320040"/>
          </a:xfrm>
          <a:prstGeom prst="rect">
            <a:avLst/>
          </a:prstGeom>
        </p:spPr>
        <p:txBody>
          <a:bodyPr vert="horz" lIns="91440" tIns="45720" rIns="91440" bIns="45720" rtlCol="0" anchor="ctr"/>
          <a:lstStyle>
            <a:lvl1pPr algn="ctr">
              <a:defRPr sz="1200">
                <a:solidFill>
                  <a:srgbClr val="6B6F76"/>
                </a:solidFill>
              </a:defRPr>
            </a:lvl1pPr>
          </a:lstStyle>
          <a:p>
            <a:endParaRPr lang="en-US"/>
          </a:p>
        </p:txBody>
      </p:sp>
      <p:sp>
        <p:nvSpPr>
          <p:cNvPr id="6" name="Slide Number Placeholder 5">
            <a:extLst>
              <a:ext uri="{FF2B5EF4-FFF2-40B4-BE49-F238E27FC236}">
                <a16:creationId xmlns:a16="http://schemas.microsoft.com/office/drawing/2014/main" id="{E03E26B6-86C7-AF0E-2F2F-E4F6A075784B}"/>
              </a:ext>
            </a:extLst>
          </p:cNvPr>
          <p:cNvSpPr>
            <a:spLocks noGrp="1"/>
          </p:cNvSpPr>
          <p:nvPr>
            <p:ph type="sldNum" sz="quarter" idx="4"/>
          </p:nvPr>
        </p:nvSpPr>
        <p:spPr>
          <a:xfrm>
            <a:off x="10637520" y="6309360"/>
            <a:ext cx="1097280" cy="320040"/>
          </a:xfrm>
          <a:prstGeom prst="rect">
            <a:avLst/>
          </a:prstGeom>
        </p:spPr>
        <p:txBody>
          <a:bodyPr vert="horz" lIns="91440" tIns="45720" rIns="91440" bIns="45720" rtlCol="0" anchor="ctr"/>
          <a:lstStyle>
            <a:lvl1pPr algn="r">
              <a:defRPr sz="1200">
                <a:solidFill>
                  <a:srgbClr val="6B6F76"/>
                </a:solidFill>
              </a:defRPr>
            </a:lvl1pPr>
          </a:lstStyle>
          <a:p>
            <a:fld id="{7A9419BB-C971-F34B-8B82-C5E9A3ED8678}" type="slidenum">
              <a:rPr lang="en-US" smtClean="0"/>
              <a:t>‹#›</a:t>
            </a:fld>
            <a:endParaRPr lang="en-US"/>
          </a:p>
        </p:txBody>
      </p:sp>
    </p:spTree>
    <p:extLst>
      <p:ext uri="{BB962C8B-B14F-4D97-AF65-F5344CB8AC3E}">
        <p14:creationId xmlns:p14="http://schemas.microsoft.com/office/powerpoint/2010/main" val="2916804908"/>
      </p:ext>
    </p:extLst>
  </p:cSld>
  <p:clrMap bg1="lt1" tx1="dk1" bg2="lt2" tx2="dk2" accent1="accent1" accent2="accent2" accent3="accent3" accent4="accent4" accent5="accent5" accent6="accent6" hlink="hlink" folHlink="folHlink"/>
  <p:sldLayoutIdLst>
    <p:sldLayoutId id="2147483699" r:id="rId1"/>
    <p:sldLayoutId id="2147483696" r:id="rId2"/>
    <p:sldLayoutId id="2147483700" r:id="rId3"/>
    <p:sldLayoutId id="2147483697"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p:cNvSpPr txBox="1"/>
          <p:nvPr/>
        </p:nvSpPr>
        <p:spPr>
          <a:xfrm>
            <a:off x="1524000" y="1554480"/>
            <a:ext cx="10119360" cy="320040"/>
          </a:xfrm>
          <a:prstGeom prst="rect">
            <a:avLst/>
          </a:prstGeom>
          <a:noFill/>
          <a:ln>
            <a:noFill/>
          </a:ln>
        </p:spPr>
        <p:txBody>
          <a:bodyPr wrap="square" lIns="0" tIns="0" rIns="0" bIns="0" rtlCol="0" anchor="b">
            <a:noAutofit/>
          </a:bodyPr>
          <a:lstStyle/>
          <a:p>
            <a:pPr marL="0" indent="0">
              <a:buNone/>
            </a:pPr>
            <a:r>
              <a:rPr lang="vi-VN" sz="1400" b="1" spc="200">
                <a:solidFill>
                  <a:srgbClr val="585858"/>
                </a:solidFill>
              </a:rPr>
              <a:t>CONSULTING &amp; ANALYTICS</a:t>
            </a:r>
            <a:endParaRPr lang="vi-VN" sz="1400"/>
          </a:p>
        </p:txBody>
      </p:sp>
      <p:sp>
        <p:nvSpPr>
          <p:cNvPr id="12" name="ctrTitle 12"/>
          <p:cNvSpPr>
            <a:spLocks noGrp="1"/>
          </p:cNvSpPr>
          <p:nvPr>
            <p:ph type="ctrTitle"/>
          </p:nvPr>
        </p:nvSpPr>
        <p:spPr/>
        <p:txBody>
          <a:bodyPr>
            <a:normAutofit/>
          </a:bodyPr>
          <a:lstStyle/>
          <a:p>
            <a:r>
              <a:rPr lang="vi-VN"/>
              <a:t>Excel for Business Intelligence Analyst</a:t>
            </a:r>
          </a:p>
        </p:txBody>
      </p:sp>
      <p:sp>
        <p:nvSpPr>
          <p:cNvPr id="13" name="subTitle 13"/>
          <p:cNvSpPr>
            <a:spLocks noGrp="1"/>
          </p:cNvSpPr>
          <p:nvPr>
            <p:ph type="subTitle" idx="1"/>
          </p:nvPr>
        </p:nvSpPr>
        <p:spPr/>
        <p:txBody>
          <a:bodyPr>
            <a:normAutofit/>
          </a:bodyPr>
          <a:lstStyle/>
          <a:p>
            <a:r>
              <a:rPr lang="vi-VN"/>
              <a:t>Buổi 3: Tư duy dữ liệu &amp; PivotTable</a:t>
            </a:r>
          </a:p>
        </p:txBody>
      </p:sp>
      <p:cxnSp>
        <p:nvCxnSpPr>
          <p:cNvPr id="14" name="Line 14"/>
          <p:cNvCxnSpPr/>
          <p:nvPr/>
        </p:nvCxnSpPr>
        <p:spPr>
          <a:xfrm>
            <a:off x="1524000" y="5669280"/>
            <a:ext cx="10119360" cy="0"/>
          </a:xfrm>
          <a:prstGeom prst="line">
            <a:avLst/>
          </a:prstGeom>
          <a:ln w="12700">
            <a:solidFill>
              <a:srgbClr val="D9DEE8"/>
            </a:solidFill>
          </a:ln>
        </p:spPr>
      </p:cxnSp>
      <p:sp>
        <p:nvSpPr>
          <p:cNvPr id="15" name="TextBox"/>
          <p:cNvSpPr txBox="1"/>
          <p:nvPr/>
        </p:nvSpPr>
        <p:spPr>
          <a:xfrm>
            <a:off x="1524000" y="5760720"/>
            <a:ext cx="10119360" cy="457200"/>
          </a:xfrm>
          <a:prstGeom prst="rect">
            <a:avLst/>
          </a:prstGeom>
          <a:noFill/>
          <a:ln>
            <a:noFill/>
          </a:ln>
        </p:spPr>
        <p:txBody>
          <a:bodyPr wrap="square" lIns="0" tIns="0" rIns="0" bIns="0" rtlCol="0" anchor="t">
            <a:noAutofit/>
          </a:bodyPr>
          <a:lstStyle/>
          <a:p>
            <a:pPr marL="0" indent="0">
              <a:buNone/>
            </a:pPr>
            <a:r>
              <a:rPr lang="vi-VN" sz="1400">
                <a:solidFill>
                  <a:srgbClr val="585858"/>
                </a:solidFill>
              </a:rPr>
              <a:t>Mở sẵn: file khởi đầu B2_MCI_Mart_Q1_2025_Answer.xlsx (đáp án Buổi 2)</a:t>
            </a:r>
            <a:r>
              <a:rPr lang="vi-VN" sz="1400" b="1">
                <a:solidFill>
                  <a:srgbClr val="1B2230"/>
                </a:solidFill>
              </a:rPr>
              <a:t/>
            </a:r>
            <a:r>
              <a:rPr lang="vi-VN" sz="1400">
                <a:solidFill>
                  <a:srgbClr val="585858"/>
                </a:solidFill>
              </a:rPr>
              <a:t/>
            </a:r>
            <a:endParaRPr lang="vi-VN" sz="1400"/>
          </a:p>
        </p:txBody>
      </p:sp>
    </p:spTree>
    <p:extLst>
      <p:ext uri="{BB962C8B-B14F-4D97-AF65-F5344CB8AC3E}">
        <p14:creationId xmlns:p14="http://schemas.microsoft.com/office/powerpoint/2010/main" val="2243051540"/>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Câu hỏi mở buổi</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sp>
        <p:nvSpPr>
          <p:cNvPr id="4" name="Tier chip"/>
          <p:cNvSpPr/>
          <p:nvPr/>
        </p:nvSpPr>
        <p:spPr>
          <a:xfrm>
            <a:off x="9171432" y="548640"/>
            <a:ext cx="2468880"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Tầng 2 — Dimensional</a:t>
            </a:r>
          </a:p>
        </p:txBody>
      </p:sp>
      <p:sp>
        <p:nvSpPr>
          <p:cNvPr id="5" name="TextBox"/>
          <p:cNvSpPr txBox="1"/>
          <p:nvPr/>
        </p:nvSpPr>
        <p:spPr>
          <a:xfrm>
            <a:off x="1527048" y="1645920"/>
            <a:ext cx="4754880" cy="2194560"/>
          </a:xfrm>
          <a:prstGeom prst="rect">
            <a:avLst/>
          </a:prstGeom>
          <a:noFill/>
        </p:spPr>
        <p:txBody>
          <a:bodyPr wrap="square" lIns="0" rIns="0" tIns="0" bIns="0" anchor="t">
            <a:spAutoFit/>
          </a:bodyPr>
          <a:lstStyle/>
          <a:p>
            <a:r>
              <a:rPr sz="2800" b="1">
                <a:solidFill>
                  <a:srgbClr val="203864"/>
                </a:solidFill>
                <a:latin typeface="Arial"/>
              </a:rPr>
              <a:t>“Làm sao trả lời 20 câu hỏi ‘theo chiều nào’ trong 20 phút?”</a:t>
            </a:r>
          </a:p>
        </p:txBody>
      </p:sp>
      <p:sp>
        <p:nvSpPr>
          <p:cNvPr id="6" name="TextBox"/>
          <p:cNvSpPr txBox="1"/>
          <p:nvPr/>
        </p:nvSpPr>
        <p:spPr>
          <a:xfrm>
            <a:off x="1527048" y="3977639"/>
            <a:ext cx="4754880" cy="365760"/>
          </a:xfrm>
          <a:prstGeom prst="rect">
            <a:avLst/>
          </a:prstGeom>
          <a:noFill/>
        </p:spPr>
        <p:txBody>
          <a:bodyPr wrap="square" lIns="0" rIns="0" tIns="0" bIns="0" anchor="t">
            <a:spAutoFit/>
          </a:bodyPr>
          <a:lstStyle/>
          <a:p>
            <a:r>
              <a:rPr sz="1600" b="0">
                <a:solidFill>
                  <a:srgbClr val="585858"/>
                </a:solidFill>
                <a:latin typeface="Arial"/>
              </a:rPr>
              <a:t>— Giám đốc bán hàng, MCI Mart</a:t>
            </a:r>
          </a:p>
        </p:txBody>
      </p:sp>
      <p:sp>
        <p:nvSpPr>
          <p:cNvPr id="7" name="TextBox"/>
          <p:cNvSpPr txBox="1"/>
          <p:nvPr/>
        </p:nvSpPr>
        <p:spPr>
          <a:xfrm>
            <a:off x="1527048" y="4572000"/>
            <a:ext cx="4754880" cy="1097280"/>
          </a:xfrm>
          <a:prstGeom prst="rect">
            <a:avLst/>
          </a:prstGeom>
          <a:noFill/>
        </p:spPr>
        <p:txBody>
          <a:bodyPr wrap="square" lIns="0" rIns="0" tIns="0" bIns="0" anchor="t">
            <a:spAutoFit/>
          </a:bodyPr>
          <a:lstStyle/>
          <a:p>
            <a:r>
              <a:rPr sz="1600" b="0">
                <a:solidFill>
                  <a:srgbClr val="585858"/>
                </a:solidFill>
                <a:latin typeface="Arial"/>
              </a:rPr>
              <a:t>SUMIFS trả lời một câu hỏi bằng một bảng. Hai mươi câu hỏi là hai mươi bảng.</a:t>
            </a:r>
          </a:p>
        </p:txBody>
      </p:sp>
      <p:sp>
        <p:nvSpPr>
          <p:cNvPr id="8" name="Question card 1"/>
          <p:cNvSpPr/>
          <p:nvPr/>
        </p:nvSpPr>
        <p:spPr>
          <a:xfrm>
            <a:off x="6629400" y="1645920"/>
            <a:ext cx="2423160" cy="11887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6766560" y="1755648"/>
            <a:ext cx="2148840" cy="1005840"/>
          </a:xfrm>
          <a:prstGeom prst="rect">
            <a:avLst/>
          </a:prstGeom>
          <a:noFill/>
        </p:spPr>
        <p:txBody>
          <a:bodyPr wrap="square" lIns="0" rIns="0" tIns="0" bIns="0" anchor="t">
            <a:spAutoFit/>
          </a:bodyPr>
          <a:lstStyle/>
          <a:p>
            <a:r>
              <a:rPr sz="1600" b="1">
                <a:solidFill>
                  <a:srgbClr val="203864"/>
                </a:solidFill>
                <a:latin typeface="Arial"/>
              </a:rPr>
              <a:t>theo cửa hàng?</a:t>
            </a:r>
          </a:p>
          <a:p>
            <a:pPr>
              <a:spcBef>
                <a:spcPts val="400"/>
              </a:spcBef>
            </a:pPr>
            <a:r>
              <a:rPr sz="1300" b="0">
                <a:solidFill>
                  <a:srgbClr val="585858"/>
                </a:solidFill>
                <a:latin typeface="Arial"/>
              </a:rPr>
              <a:t>Doanh thu 12 cửa hàng × 3 tháng</a:t>
            </a:r>
          </a:p>
        </p:txBody>
      </p:sp>
      <p:sp>
        <p:nvSpPr>
          <p:cNvPr id="10" name="Question card 2"/>
          <p:cNvSpPr/>
          <p:nvPr/>
        </p:nvSpPr>
        <p:spPr>
          <a:xfrm>
            <a:off x="9189720" y="1645920"/>
            <a:ext cx="2423160" cy="11887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9326880" y="1755648"/>
            <a:ext cx="2148840" cy="1005840"/>
          </a:xfrm>
          <a:prstGeom prst="rect">
            <a:avLst/>
          </a:prstGeom>
          <a:noFill/>
        </p:spPr>
        <p:txBody>
          <a:bodyPr wrap="square" lIns="0" rIns="0" tIns="0" bIns="0" anchor="t">
            <a:spAutoFit/>
          </a:bodyPr>
          <a:lstStyle/>
          <a:p>
            <a:r>
              <a:rPr sz="1600" b="1">
                <a:solidFill>
                  <a:srgbClr val="203864"/>
                </a:solidFill>
                <a:latin typeface="Arial"/>
              </a:rPr>
              <a:t>theo thứ trong tuần?</a:t>
            </a:r>
          </a:p>
          <a:p>
            <a:pPr>
              <a:spcBef>
                <a:spcPts val="400"/>
              </a:spcBef>
            </a:pPr>
            <a:r>
              <a:rPr sz="1300" b="0">
                <a:solidFill>
                  <a:srgbClr val="585858"/>
                </a:solidFill>
                <a:latin typeface="Arial"/>
              </a:rPr>
              <a:t>Ngày nào khách đi siêu thị nhiều?</a:t>
            </a:r>
          </a:p>
        </p:txBody>
      </p:sp>
      <p:sp>
        <p:nvSpPr>
          <p:cNvPr id="12" name="Question card 3"/>
          <p:cNvSpPr/>
          <p:nvPr/>
        </p:nvSpPr>
        <p:spPr>
          <a:xfrm>
            <a:off x="6629400" y="3017520"/>
            <a:ext cx="2423160" cy="11887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6766560" y="3127248"/>
            <a:ext cx="2148840" cy="1005840"/>
          </a:xfrm>
          <a:prstGeom prst="rect">
            <a:avLst/>
          </a:prstGeom>
          <a:noFill/>
        </p:spPr>
        <p:txBody>
          <a:bodyPr wrap="square" lIns="0" rIns="0" tIns="0" bIns="0" anchor="t">
            <a:spAutoFit/>
          </a:bodyPr>
          <a:lstStyle/>
          <a:p>
            <a:r>
              <a:rPr sz="1600" b="1">
                <a:solidFill>
                  <a:srgbClr val="203864"/>
                </a:solidFill>
                <a:latin typeface="Arial"/>
              </a:rPr>
              <a:t>theo tuần?</a:t>
            </a:r>
          </a:p>
          <a:p>
            <a:pPr>
              <a:spcBef>
                <a:spcPts val="400"/>
              </a:spcBef>
            </a:pPr>
            <a:r>
              <a:rPr sz="1300" b="0">
                <a:solidFill>
                  <a:srgbClr val="585858"/>
                </a:solidFill>
                <a:latin typeface="Arial"/>
              </a:rPr>
              <a:t>Tuần nào bán mạnh nhất quý?</a:t>
            </a:r>
          </a:p>
        </p:txBody>
      </p:sp>
      <p:sp>
        <p:nvSpPr>
          <p:cNvPr id="14" name="Question card 4"/>
          <p:cNvSpPr/>
          <p:nvPr/>
        </p:nvSpPr>
        <p:spPr>
          <a:xfrm>
            <a:off x="9189720" y="3017520"/>
            <a:ext cx="2423160" cy="11887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p:cNvSpPr txBox="1"/>
          <p:nvPr/>
        </p:nvSpPr>
        <p:spPr>
          <a:xfrm>
            <a:off x="9326880" y="3127248"/>
            <a:ext cx="2148840" cy="1005840"/>
          </a:xfrm>
          <a:prstGeom prst="rect">
            <a:avLst/>
          </a:prstGeom>
          <a:noFill/>
        </p:spPr>
        <p:txBody>
          <a:bodyPr wrap="square" lIns="0" rIns="0" tIns="0" bIns="0" anchor="t">
            <a:spAutoFit/>
          </a:bodyPr>
          <a:lstStyle/>
          <a:p>
            <a:r>
              <a:rPr sz="1600" b="1">
                <a:solidFill>
                  <a:srgbClr val="203864"/>
                </a:solidFill>
                <a:latin typeface="Arial"/>
              </a:rPr>
              <a:t>theo ngành hàng?</a:t>
            </a:r>
          </a:p>
          <a:p>
            <a:pPr>
              <a:spcBef>
                <a:spcPts val="400"/>
              </a:spcBef>
            </a:pPr>
            <a:r>
              <a:rPr sz="1300" b="0">
                <a:solidFill>
                  <a:srgbClr val="585858"/>
                </a:solidFill>
                <a:latin typeface="Arial"/>
              </a:rPr>
              <a:t>Mỗi ngành chiếm bao nhiêu %?</a:t>
            </a:r>
          </a:p>
        </p:txBody>
      </p:sp>
      <p:sp>
        <p:nvSpPr>
          <p:cNvPr id="16" name="Question card 5"/>
          <p:cNvSpPr/>
          <p:nvPr/>
        </p:nvSpPr>
        <p:spPr>
          <a:xfrm>
            <a:off x="6629400" y="4389120"/>
            <a:ext cx="2423160" cy="11887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p:cNvSpPr txBox="1"/>
          <p:nvPr/>
        </p:nvSpPr>
        <p:spPr>
          <a:xfrm>
            <a:off x="6766560" y="4498848"/>
            <a:ext cx="2148840" cy="1005840"/>
          </a:xfrm>
          <a:prstGeom prst="rect">
            <a:avLst/>
          </a:prstGeom>
          <a:noFill/>
        </p:spPr>
        <p:txBody>
          <a:bodyPr wrap="square" lIns="0" rIns="0" tIns="0" bIns="0" anchor="t">
            <a:spAutoFit/>
          </a:bodyPr>
          <a:lstStyle/>
          <a:p>
            <a:r>
              <a:rPr sz="1600" b="1">
                <a:solidFill>
                  <a:srgbClr val="203864"/>
                </a:solidFill>
                <a:latin typeface="Arial"/>
              </a:rPr>
              <a:t>cửa hàng nào bất thường?</a:t>
            </a:r>
          </a:p>
          <a:p>
            <a:pPr>
              <a:spcBef>
                <a:spcPts val="400"/>
              </a:spcBef>
            </a:pPr>
            <a:r>
              <a:rPr sz="1300" b="0">
                <a:solidFill>
                  <a:srgbClr val="585858"/>
                </a:solidFill>
                <a:latin typeface="Arial"/>
              </a:rPr>
              <a:t>Ai giảm mạnh trong tháng 3?</a:t>
            </a:r>
          </a:p>
        </p:txBody>
      </p:sp>
      <p:sp>
        <p:nvSpPr>
          <p:cNvPr id="18" name="Question card 6"/>
          <p:cNvSpPr/>
          <p:nvPr/>
        </p:nvSpPr>
        <p:spPr>
          <a:xfrm>
            <a:off x="9189720" y="4389120"/>
            <a:ext cx="2423160" cy="11887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p:cNvSpPr txBox="1"/>
          <p:nvPr/>
        </p:nvSpPr>
        <p:spPr>
          <a:xfrm>
            <a:off x="9326880" y="4498848"/>
            <a:ext cx="2148840" cy="1005840"/>
          </a:xfrm>
          <a:prstGeom prst="rect">
            <a:avLst/>
          </a:prstGeom>
          <a:noFill/>
        </p:spPr>
        <p:txBody>
          <a:bodyPr wrap="square" lIns="0" rIns="0" tIns="0" bIns="0" anchor="t">
            <a:spAutoFit/>
          </a:bodyPr>
          <a:lstStyle/>
          <a:p>
            <a:r>
              <a:rPr sz="1600" b="1">
                <a:solidFill>
                  <a:srgbClr val="203864"/>
                </a:solidFill>
                <a:latin typeface="Arial"/>
              </a:rPr>
              <a:t>vì sao tháng 1 &gt; tháng 2?</a:t>
            </a:r>
          </a:p>
          <a:p>
            <a:pPr>
              <a:spcBef>
                <a:spcPts val="400"/>
              </a:spcBef>
            </a:pPr>
            <a:r>
              <a:rPr sz="1300" b="0">
                <a:solidFill>
                  <a:srgbClr val="585858"/>
                </a:solidFill>
                <a:latin typeface="Arial"/>
              </a:rPr>
              <a:t>Câu hỏi còn treo từ Buổi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Recap Buổi 2 &amp; file khởi đầu</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sp>
        <p:nvSpPr>
          <p:cNvPr id="4" name="TextBox"/>
          <p:cNvSpPr txBox="1"/>
          <p:nvPr/>
        </p:nvSpPr>
        <p:spPr>
          <a:xfrm>
            <a:off x="1527048" y="1600200"/>
            <a:ext cx="6400800" cy="4206240"/>
          </a:xfrm>
          <a:prstGeom prst="rect">
            <a:avLst/>
          </a:prstGeom>
          <a:noFill/>
        </p:spPr>
        <p:txBody>
          <a:bodyPr wrap="square" lIns="0" rIns="0" tIns="0" bIns="0" anchor="t">
            <a:spAutoFit/>
          </a:bodyPr>
          <a:lstStyle/>
          <a:p>
            <a:r>
              <a:rPr sz="1800" b="1">
                <a:solidFill>
                  <a:srgbClr val="203864"/>
                </a:solidFill>
                <a:latin typeface="Arial"/>
              </a:rPr>
              <a:t>•  </a:t>
            </a:r>
            <a:r>
              <a:rPr sz="1800" b="1">
                <a:solidFill>
                  <a:srgbClr val="203864"/>
                </a:solidFill>
                <a:latin typeface="Arial"/>
              </a:rPr>
              <a:t>Viên gạch B2: </a:t>
            </a:r>
            <a:r>
              <a:rPr sz="1800" b="0">
                <a:solidFill>
                  <a:srgbClr val="1B2230"/>
                </a:solidFill>
                <a:latin typeface="Arial"/>
              </a:rPr>
              <a:t>tblSales làm giàu (Category, COGS, Gross_Margin, Thang, Thu…) · KPI_SUMIFS: tổng 941.454.000 · T1 425.850.000 · T2 245.996.000.</a:t>
            </a:r>
          </a:p>
          <a:p>
            <a:pPr>
              <a:spcBef>
                <a:spcPts val="1400"/>
              </a:spcBef>
            </a:pPr>
            <a:r>
              <a:rPr sz="1800" b="1">
                <a:solidFill>
                  <a:srgbClr val="203864"/>
                </a:solidFill>
                <a:latin typeface="Arial"/>
              </a:rPr>
              <a:t>•  </a:t>
            </a:r>
            <a:r>
              <a:rPr sz="1800" b="1">
                <a:solidFill>
                  <a:srgbClr val="203864"/>
                </a:solidFill>
                <a:latin typeface="Arial"/>
              </a:rPr>
              <a:t>Bài về nhà B2 (tháng 4): </a:t>
            </a:r>
            <a:r>
              <a:rPr sz="1800" b="0">
                <a:solidFill>
                  <a:srgbClr val="1B2230"/>
                </a:solidFill>
                <a:latin typeface="Arial"/>
              </a:rPr>
              <a:t>296.965.000 · 966 đơn. Lỗi cài sẵn: 4 mã Product_Code dính dấu cách cuối (XLOOKUP ra #N/A → TRIM, không che bằng IFERROR).</a:t>
            </a:r>
          </a:p>
          <a:p>
            <a:pPr>
              <a:spcBef>
                <a:spcPts val="1400"/>
              </a:spcBef>
            </a:pPr>
            <a:r>
              <a:rPr sz="1800" b="1">
                <a:solidFill>
                  <a:srgbClr val="203864"/>
                </a:solidFill>
                <a:latin typeface="Arial"/>
              </a:rPr>
              <a:t>•  </a:t>
            </a:r>
            <a:r>
              <a:rPr sz="1800" b="1">
                <a:solidFill>
                  <a:srgbClr val="203864"/>
                </a:solidFill>
                <a:latin typeface="Arial"/>
              </a:rPr>
              <a:t>File khởi đầu hôm nay </a:t>
            </a:r>
            <a:r>
              <a:rPr sz="1800" b="0">
                <a:solidFill>
                  <a:srgbClr val="1B2230"/>
                </a:solidFill>
                <a:latin typeface="Arial"/>
              </a:rPr>
              <a:t>= đáp án B2 (B2_MCI_Mart_Q1_2025_Answer.xlsx). Lưu thành B3_&lt;HoTen&gt;.xlsx. Giữ sheet KPI_SUMIFS để đối soát Pivot.</a:t>
            </a:r>
          </a:p>
        </p:txBody>
      </p:sp>
      <p:sp>
        <p:nvSpPr>
          <p:cNvPr id="5" name="Brick B2"/>
          <p:cNvSpPr/>
          <p:nvPr/>
        </p:nvSpPr>
        <p:spPr>
          <a:xfrm>
            <a:off x="8293608" y="4206240"/>
            <a:ext cx="3355848" cy="91440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8385048" y="4206240"/>
            <a:ext cx="3172968" cy="914400"/>
          </a:xfrm>
          <a:prstGeom prst="rect">
            <a:avLst/>
          </a:prstGeom>
          <a:noFill/>
        </p:spPr>
        <p:txBody>
          <a:bodyPr wrap="square" lIns="0" rIns="0" tIns="0" bIns="0" anchor="ctr">
            <a:spAutoFit/>
          </a:bodyPr>
          <a:lstStyle/>
          <a:p>
            <a:r>
              <a:rPr sz="1800" b="1">
                <a:solidFill>
                  <a:srgbClr val="FFFFFF"/>
                </a:solidFill>
                <a:latin typeface="Arial"/>
              </a:rPr>
              <a:t>✓  B2 · Bảng KPI (SUMIFS)</a:t>
            </a:r>
          </a:p>
        </p:txBody>
      </p:sp>
      <p:sp>
        <p:nvSpPr>
          <p:cNvPr id="7" name="Brick B3"/>
          <p:cNvSpPr/>
          <p:nvPr/>
        </p:nvSpPr>
        <p:spPr>
          <a:xfrm>
            <a:off x="8293608" y="3017520"/>
            <a:ext cx="3355848" cy="914400"/>
          </a:xfrm>
          <a:prstGeom prst="rect">
            <a:avLst/>
          </a:prstGeom>
          <a:solidFill>
            <a:srgbClr val="FFFFFF"/>
          </a:solidFill>
          <a:ln w="285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385048" y="3017520"/>
            <a:ext cx="3172968" cy="914400"/>
          </a:xfrm>
          <a:prstGeom prst="rect">
            <a:avLst/>
          </a:prstGeom>
          <a:noFill/>
        </p:spPr>
        <p:txBody>
          <a:bodyPr wrap="square" lIns="0" rIns="0" tIns="0" bIns="0" anchor="ctr">
            <a:spAutoFit/>
          </a:bodyPr>
          <a:lstStyle/>
          <a:p>
            <a:r>
              <a:rPr sz="1800" b="1">
                <a:solidFill>
                  <a:srgbClr val="203864"/>
                </a:solidFill>
                <a:latin typeface="Arial"/>
              </a:rPr>
              <a:t>B3 · Báo cáo Pivot</a:t>
            </a:r>
          </a:p>
        </p:txBody>
      </p:sp>
      <p:sp>
        <p:nvSpPr>
          <p:cNvPr id="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Demo: ../B2_Ham_va_KPI/Practice/B2_MCI_Mart_Q1_2025_Answer.xlsx (sheet KPI_SUMIFS) · ../B2_Ham_va_KPI/Homework/B2_BTVN_MCI_Mart_T4_2025_Answer.xlsx (Kiem_tra)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Hôm nay leo lên tầng 2</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sp>
        <p:nvSpPr>
          <p:cNvPr id="4" name="Tier 5"/>
          <p:cNvSpPr/>
          <p:nvPr/>
        </p:nvSpPr>
        <p:spPr>
          <a:xfrm>
            <a:off x="1527048" y="1508760"/>
            <a:ext cx="5760720" cy="7315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709928" y="1508760"/>
            <a:ext cx="5486400" cy="731520"/>
          </a:xfrm>
          <a:prstGeom prst="rect">
            <a:avLst/>
          </a:prstGeom>
          <a:noFill/>
        </p:spPr>
        <p:txBody>
          <a:bodyPr wrap="square" lIns="0" rIns="0" tIns="0" bIns="0" anchor="ctr">
            <a:spAutoFit/>
          </a:bodyPr>
          <a:lstStyle/>
          <a:p>
            <a:r>
              <a:rPr sz="1700" b="1">
                <a:solidFill>
                  <a:srgbClr val="203864"/>
                </a:solidFill>
                <a:latin typeface="Arial"/>
              </a:rPr>
              <a:t>Tầng 5 · </a:t>
            </a:r>
            <a:r>
              <a:rPr sz="1700" b="0">
                <a:solidFill>
                  <a:srgbClr val="1B2230"/>
                </a:solidFill>
                <a:latin typeface="Arial"/>
              </a:rPr>
              <a:t>Sắp tới sẽ thế nào?</a:t>
            </a:r>
            <a:r>
              <a:rPr sz="1200" b="0">
                <a:solidFill>
                  <a:srgbClr val="585858"/>
                </a:solidFill>
                <a:latin typeface="Arial"/>
              </a:rPr>
              <a:t>   Predictive · B6</a:t>
            </a:r>
          </a:p>
        </p:txBody>
      </p:sp>
      <p:sp>
        <p:nvSpPr>
          <p:cNvPr id="6" name="Tier 4"/>
          <p:cNvSpPr/>
          <p:nvPr/>
        </p:nvSpPr>
        <p:spPr>
          <a:xfrm>
            <a:off x="1527048" y="2350008"/>
            <a:ext cx="5760720" cy="7315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2350008"/>
            <a:ext cx="5486400" cy="731520"/>
          </a:xfrm>
          <a:prstGeom prst="rect">
            <a:avLst/>
          </a:prstGeom>
          <a:noFill/>
        </p:spPr>
        <p:txBody>
          <a:bodyPr wrap="square" lIns="0" rIns="0" tIns="0" bIns="0" anchor="ctr">
            <a:spAutoFit/>
          </a:bodyPr>
          <a:lstStyle/>
          <a:p>
            <a:r>
              <a:rPr sz="1700" b="1">
                <a:solidFill>
                  <a:srgbClr val="203864"/>
                </a:solidFill>
                <a:latin typeface="Arial"/>
              </a:rPr>
              <a:t>Tầng 4 · </a:t>
            </a:r>
            <a:r>
              <a:rPr sz="1700" b="0">
                <a:solidFill>
                  <a:srgbClr val="1B2230"/>
                </a:solidFill>
                <a:latin typeface="Arial"/>
              </a:rPr>
              <a:t>Vậy thì sao, nên làm gì?</a:t>
            </a:r>
            <a:r>
              <a:rPr sz="1200" b="0">
                <a:solidFill>
                  <a:srgbClr val="585858"/>
                </a:solidFill>
                <a:latin typeface="Arial"/>
              </a:rPr>
              <a:t>   Prescriptive · B6</a:t>
            </a:r>
          </a:p>
        </p:txBody>
      </p:sp>
      <p:sp>
        <p:nvSpPr>
          <p:cNvPr id="8" name="Tier 3"/>
          <p:cNvSpPr/>
          <p:nvPr/>
        </p:nvSpPr>
        <p:spPr>
          <a:xfrm>
            <a:off x="1527048" y="3191256"/>
            <a:ext cx="5760720" cy="731520"/>
          </a:xfrm>
          <a:prstGeom prst="rect">
            <a:avLst/>
          </a:prstGeom>
          <a:solidFill>
            <a:srgbClr val="DCE3EF"/>
          </a:solidFill>
          <a:ln w="1905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709928" y="3191256"/>
            <a:ext cx="5486400" cy="731520"/>
          </a:xfrm>
          <a:prstGeom prst="rect">
            <a:avLst/>
          </a:prstGeom>
          <a:noFill/>
        </p:spPr>
        <p:txBody>
          <a:bodyPr wrap="square" lIns="0" rIns="0" tIns="0" bIns="0" anchor="ctr">
            <a:spAutoFit/>
          </a:bodyPr>
          <a:lstStyle/>
          <a:p>
            <a:r>
              <a:rPr sz="1700" b="1">
                <a:solidFill>
                  <a:srgbClr val="203864"/>
                </a:solidFill>
                <a:latin typeface="Arial"/>
              </a:rPr>
              <a:t>Tầng 3 · </a:t>
            </a:r>
            <a:r>
              <a:rPr sz="1700" b="0">
                <a:solidFill>
                  <a:srgbClr val="1B2230"/>
                </a:solidFill>
                <a:latin typeface="Arial"/>
              </a:rPr>
              <a:t>Vì sao?</a:t>
            </a:r>
            <a:r>
              <a:rPr sz="1200" b="0">
                <a:solidFill>
                  <a:srgbClr val="585858"/>
                </a:solidFill>
                <a:latin typeface="Arial"/>
              </a:rPr>
              <a:t>   Diagnostic · B3 drill-down · B5</a:t>
            </a:r>
          </a:p>
        </p:txBody>
      </p:sp>
      <p:sp>
        <p:nvSpPr>
          <p:cNvPr id="10" name="Tier 2"/>
          <p:cNvSpPr/>
          <p:nvPr/>
        </p:nvSpPr>
        <p:spPr>
          <a:xfrm>
            <a:off x="1527048" y="4032504"/>
            <a:ext cx="5760720" cy="73152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1709928" y="4032504"/>
            <a:ext cx="5486400" cy="731520"/>
          </a:xfrm>
          <a:prstGeom prst="rect">
            <a:avLst/>
          </a:prstGeom>
          <a:noFill/>
        </p:spPr>
        <p:txBody>
          <a:bodyPr wrap="square" lIns="0" rIns="0" tIns="0" bIns="0" anchor="ctr">
            <a:spAutoFit/>
          </a:bodyPr>
          <a:lstStyle/>
          <a:p>
            <a:r>
              <a:rPr sz="1700" b="1">
                <a:solidFill>
                  <a:srgbClr val="FFFFFF"/>
                </a:solidFill>
                <a:latin typeface="Arial"/>
              </a:rPr>
              <a:t>Tầng 2 · </a:t>
            </a:r>
            <a:r>
              <a:rPr sz="1700" b="1">
                <a:solidFill>
                  <a:srgbClr val="FFFFFF"/>
                </a:solidFill>
                <a:latin typeface="Arial"/>
              </a:rPr>
              <a:t>Ở đâu, khi nào, nhóm nào?</a:t>
            </a:r>
            <a:r>
              <a:rPr sz="1200" b="0">
                <a:solidFill>
                  <a:srgbClr val="CDE2FB"/>
                </a:solidFill>
                <a:latin typeface="Arial"/>
              </a:rPr>
              <a:t>   Dimensional · B3</a:t>
            </a:r>
          </a:p>
        </p:txBody>
      </p:sp>
      <p:sp>
        <p:nvSpPr>
          <p:cNvPr id="12" name="Tier 1"/>
          <p:cNvSpPr/>
          <p:nvPr/>
        </p:nvSpPr>
        <p:spPr>
          <a:xfrm>
            <a:off x="1527048" y="4873752"/>
            <a:ext cx="5760720" cy="73152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709928" y="4873752"/>
            <a:ext cx="5486400" cy="731520"/>
          </a:xfrm>
          <a:prstGeom prst="rect">
            <a:avLst/>
          </a:prstGeom>
          <a:noFill/>
        </p:spPr>
        <p:txBody>
          <a:bodyPr wrap="square" lIns="0" rIns="0" tIns="0" bIns="0" anchor="ctr">
            <a:spAutoFit/>
          </a:bodyPr>
          <a:lstStyle/>
          <a:p>
            <a:r>
              <a:rPr sz="1700" b="1">
                <a:solidFill>
                  <a:srgbClr val="203864"/>
                </a:solidFill>
                <a:latin typeface="Arial"/>
              </a:rPr>
              <a:t>Tầng 1 · </a:t>
            </a:r>
            <a:r>
              <a:rPr sz="1700" b="0">
                <a:solidFill>
                  <a:srgbClr val="1B2230"/>
                </a:solidFill>
                <a:latin typeface="Arial"/>
              </a:rPr>
              <a:t>Chuyện gì đã xảy ra?</a:t>
            </a:r>
            <a:r>
              <a:rPr sz="1200" b="0">
                <a:solidFill>
                  <a:srgbClr val="585858"/>
                </a:solidFill>
                <a:latin typeface="Arial"/>
              </a:rPr>
              <a:t>   Descriptive · B1–B2 ✓</a:t>
            </a:r>
          </a:p>
        </p:txBody>
      </p:sp>
      <p:sp>
        <p:nvSpPr>
          <p:cNvPr id="14" name="TextBox"/>
          <p:cNvSpPr txBox="1"/>
          <p:nvPr/>
        </p:nvSpPr>
        <p:spPr>
          <a:xfrm>
            <a:off x="7589520" y="1508760"/>
            <a:ext cx="4059936" cy="411480"/>
          </a:xfrm>
          <a:prstGeom prst="rect">
            <a:avLst/>
          </a:prstGeom>
          <a:noFill/>
        </p:spPr>
        <p:txBody>
          <a:bodyPr wrap="square" lIns="0" rIns="0" tIns="0" bIns="0" anchor="t">
            <a:spAutoFit/>
          </a:bodyPr>
          <a:lstStyle/>
          <a:p>
            <a:r>
              <a:rPr sz="1700" b="1">
                <a:solidFill>
                  <a:srgbClr val="203864"/>
                </a:solidFill>
                <a:latin typeface="Arial"/>
              </a:rPr>
              <a:t>Ba câu hỏi tự tìm đáp án hôm nay</a:t>
            </a:r>
          </a:p>
        </p:txBody>
      </p:sp>
      <p:sp>
        <p:nvSpPr>
          <p:cNvPr id="15" name="Story 1"/>
          <p:cNvSpPr/>
          <p:nvPr/>
        </p:nvSpPr>
        <p:spPr>
          <a:xfrm>
            <a:off x="7589520" y="22402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1</a:t>
            </a:r>
          </a:p>
        </p:txBody>
      </p:sp>
      <p:sp>
        <p:nvSpPr>
          <p:cNvPr id="16" name="TextBox"/>
          <p:cNvSpPr txBox="1"/>
          <p:nvPr/>
        </p:nvSpPr>
        <p:spPr>
          <a:xfrm>
            <a:off x="8275320" y="2057400"/>
            <a:ext cx="3374136" cy="914400"/>
          </a:xfrm>
          <a:prstGeom prst="rect">
            <a:avLst/>
          </a:prstGeom>
          <a:noFill/>
        </p:spPr>
        <p:txBody>
          <a:bodyPr wrap="square" lIns="0" rIns="0" tIns="0" bIns="0" anchor="ctr">
            <a:spAutoFit/>
          </a:bodyPr>
          <a:lstStyle/>
          <a:p>
            <a:r>
              <a:rPr sz="1700" b="0">
                <a:solidFill>
                  <a:srgbClr val="1B2230"/>
                </a:solidFill>
                <a:latin typeface="Arial"/>
              </a:rPr>
              <a:t>Vì sao tháng 1 cao hơn hẳn tháng 2?</a:t>
            </a:r>
          </a:p>
        </p:txBody>
      </p:sp>
      <p:sp>
        <p:nvSpPr>
          <p:cNvPr id="17" name="Story 2"/>
          <p:cNvSpPr/>
          <p:nvPr/>
        </p:nvSpPr>
        <p:spPr>
          <a:xfrm>
            <a:off x="7589520" y="33832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2</a:t>
            </a:r>
          </a:p>
        </p:txBody>
      </p:sp>
      <p:sp>
        <p:nvSpPr>
          <p:cNvPr id="18" name="TextBox"/>
          <p:cNvSpPr txBox="1"/>
          <p:nvPr/>
        </p:nvSpPr>
        <p:spPr>
          <a:xfrm>
            <a:off x="8275320" y="3200400"/>
            <a:ext cx="3374136" cy="914400"/>
          </a:xfrm>
          <a:prstGeom prst="rect">
            <a:avLst/>
          </a:prstGeom>
          <a:noFill/>
        </p:spPr>
        <p:txBody>
          <a:bodyPr wrap="square" lIns="0" rIns="0" tIns="0" bIns="0" anchor="ctr">
            <a:spAutoFit/>
          </a:bodyPr>
          <a:lstStyle/>
          <a:p>
            <a:r>
              <a:rPr sz="1700" b="0">
                <a:solidFill>
                  <a:srgbClr val="1B2230"/>
                </a:solidFill>
                <a:latin typeface="Arial"/>
              </a:rPr>
              <a:t>Cửa hàng nào giảm bất thường trong tháng 3?</a:t>
            </a:r>
          </a:p>
        </p:txBody>
      </p:sp>
      <p:sp>
        <p:nvSpPr>
          <p:cNvPr id="19" name="Story 3"/>
          <p:cNvSpPr/>
          <p:nvPr/>
        </p:nvSpPr>
        <p:spPr>
          <a:xfrm>
            <a:off x="7589520" y="45262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3</a:t>
            </a:r>
          </a:p>
        </p:txBody>
      </p:sp>
      <p:sp>
        <p:nvSpPr>
          <p:cNvPr id="20" name="TextBox"/>
          <p:cNvSpPr txBox="1"/>
          <p:nvPr/>
        </p:nvSpPr>
        <p:spPr>
          <a:xfrm>
            <a:off x="8275320" y="4343400"/>
            <a:ext cx="3374136" cy="914400"/>
          </a:xfrm>
          <a:prstGeom prst="rect">
            <a:avLst/>
          </a:prstGeom>
          <a:noFill/>
        </p:spPr>
        <p:txBody>
          <a:bodyPr wrap="square" lIns="0" rIns="0" tIns="0" bIns="0" anchor="ctr">
            <a:spAutoFit/>
          </a:bodyPr>
          <a:lstStyle/>
          <a:p>
            <a:r>
              <a:rPr sz="1700" b="0">
                <a:solidFill>
                  <a:srgbClr val="1B2230"/>
                </a:solidFill>
                <a:latin typeface="Arial"/>
              </a:rPr>
              <a:t>Ngày nào trong tuần bán chạy nhất?</a:t>
            </a:r>
          </a:p>
        </p:txBody>
      </p:sp>
      <p:sp>
        <p:nvSpPr>
          <p:cNvPr id="21" name="TextBox"/>
          <p:cNvSpPr txBox="1"/>
          <p:nvPr/>
        </p:nvSpPr>
        <p:spPr>
          <a:xfrm>
            <a:off x="7589520" y="5577840"/>
            <a:ext cx="4059936" cy="457200"/>
          </a:xfrm>
          <a:prstGeom prst="rect">
            <a:avLst/>
          </a:prstGeom>
          <a:noFill/>
        </p:spPr>
        <p:txBody>
          <a:bodyPr wrap="square" lIns="0" rIns="0" tIns="0" bIns="0" anchor="t">
            <a:spAutoFit/>
          </a:bodyPr>
          <a:lstStyle/>
          <a:p>
            <a:r>
              <a:rPr sz="1400" b="0">
                <a:solidFill>
                  <a:srgbClr val="585858"/>
                </a:solidFill>
                <a:latin typeface="Arial"/>
              </a:rPr>
              <a:t>Viên gạch B3: báo cáo Pivot tương tác + PivotChart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Vì sao cần PivotTable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Giới hạn của SUMIFS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VÌ SAO PIVOT</a:t>
            </a:r>
          </a:p>
        </p:txBody>
      </p:sp>
      <p:sp>
        <p:nvSpPr>
          <p:cNvPr id="4" name="Card"/>
          <p:cNvSpPr/>
          <p:nvPr/>
        </p:nvSpPr>
        <p:spPr>
          <a:xfrm>
            <a:off x="1527048" y="1508760"/>
            <a:ext cx="4846320" cy="3977639"/>
          </a:xfrm>
          <a:prstGeom prst="roundRect">
            <a:avLst>
              <a:gd name="adj" fmla="val 5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691639" y="1618488"/>
            <a:ext cx="4517136" cy="3758183"/>
          </a:xfrm>
          <a:prstGeom prst="rect">
            <a:avLst/>
          </a:prstGeom>
          <a:noFill/>
        </p:spPr>
        <p:txBody>
          <a:bodyPr wrap="square" lIns="0" rIns="0" tIns="0" bIns="0" anchor="t">
            <a:spAutoFit/>
          </a:bodyPr>
          <a:lstStyle/>
          <a:p>
            <a:r>
              <a:rPr sz="1700" b="1">
                <a:solidFill>
                  <a:srgbClr val="203864"/>
                </a:solidFill>
                <a:latin typeface="Arial"/>
              </a:rPr>
              <a:t>SUMIFS: mỗi câu hỏi = một bảng mới</a:t>
            </a:r>
          </a:p>
          <a:p>
            <a:pPr>
              <a:spcBef>
                <a:spcPts val="500"/>
              </a:spcBef>
            </a:pPr>
            <a:r>
              <a:rPr sz="1600" b="0">
                <a:solidFill>
                  <a:srgbClr val="1B2230"/>
                </a:solidFill>
                <a:latin typeface="Arial"/>
              </a:rPr>
              <a:t>• Cửa hàng × Tháng: gõ 12 mã, 3 tháng, kéo 36 ô.</a:t>
            </a:r>
          </a:p>
          <a:p>
            <a:pPr>
              <a:spcBef>
                <a:spcPts val="500"/>
              </a:spcBef>
            </a:pPr>
            <a:r>
              <a:rPr sz="1600" b="0">
                <a:solidFill>
                  <a:srgbClr val="1B2230"/>
                </a:solidFill>
                <a:latin typeface="Arial"/>
              </a:rPr>
              <a:t>• Theo tuần: tblSales chưa có cột Tuần → thêm cột trước.</a:t>
            </a:r>
          </a:p>
          <a:p>
            <a:pPr>
              <a:spcBef>
                <a:spcPts val="500"/>
              </a:spcBef>
            </a:pPr>
            <a:r>
              <a:rPr sz="1600" b="0">
                <a:solidFill>
                  <a:srgbClr val="1B2230"/>
                </a:solidFill>
                <a:latin typeface="Arial"/>
              </a:rPr>
              <a:t>• Thêm một chiều = viết lại công thức.</a:t>
            </a:r>
          </a:p>
          <a:p>
            <a:pPr>
              <a:spcBef>
                <a:spcPts val="500"/>
              </a:spcBef>
            </a:pPr>
            <a:r>
              <a:rPr sz="2200" b="1">
                <a:solidFill>
                  <a:srgbClr val="9C0006"/>
                </a:solidFill>
                <a:latin typeface="Arial"/>
              </a:rPr>
              <a:t>≈ 5 phút / câu hỏi</a:t>
            </a:r>
          </a:p>
        </p:txBody>
      </p:sp>
      <p:sp>
        <p:nvSpPr>
          <p:cNvPr id="6" name="Card"/>
          <p:cNvSpPr/>
          <p:nvPr/>
        </p:nvSpPr>
        <p:spPr>
          <a:xfrm>
            <a:off x="6803136" y="1508760"/>
            <a:ext cx="4846320" cy="3977639"/>
          </a:xfrm>
          <a:prstGeom prst="roundRect">
            <a:avLst>
              <a:gd name="adj" fmla="val 5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6967728" y="1618488"/>
            <a:ext cx="4517136" cy="3758183"/>
          </a:xfrm>
          <a:prstGeom prst="rect">
            <a:avLst/>
          </a:prstGeom>
          <a:noFill/>
        </p:spPr>
        <p:txBody>
          <a:bodyPr wrap="square" lIns="0" rIns="0" tIns="0" bIns="0" anchor="t">
            <a:spAutoFit/>
          </a:bodyPr>
          <a:lstStyle/>
          <a:p>
            <a:r>
              <a:rPr sz="1700" b="1">
                <a:solidFill>
                  <a:srgbClr val="203864"/>
                </a:solidFill>
                <a:latin typeface="Arial"/>
              </a:rPr>
              <a:t>PivotTable: kéo thả</a:t>
            </a:r>
          </a:p>
          <a:p>
            <a:pPr>
              <a:spcBef>
                <a:spcPts val="500"/>
              </a:spcBef>
            </a:pPr>
            <a:r>
              <a:rPr sz="1600" b="0">
                <a:solidFill>
                  <a:srgbClr val="1B2230"/>
                </a:solidFill>
                <a:latin typeface="Arial"/>
              </a:rPr>
              <a:t>• Kéo trường vào Rows / Columns / Values.</a:t>
            </a:r>
          </a:p>
          <a:p>
            <a:pPr>
              <a:spcBef>
                <a:spcPts val="500"/>
              </a:spcBef>
            </a:pPr>
            <a:r>
              <a:rPr sz="1600" b="0">
                <a:solidFill>
                  <a:srgbClr val="1B2230"/>
                </a:solidFill>
                <a:latin typeface="Arial"/>
              </a:rPr>
              <a:t>• Đổi chiều phân tích trong vài giây.</a:t>
            </a:r>
          </a:p>
          <a:p>
            <a:pPr>
              <a:spcBef>
                <a:spcPts val="500"/>
              </a:spcBef>
            </a:pPr>
            <a:r>
              <a:rPr sz="1600" b="0">
                <a:solidFill>
                  <a:srgbClr val="1B2230"/>
                </a:solidFill>
                <a:latin typeface="Arial"/>
              </a:rPr>
              <a:t>• Bấm đúp để xem dòng gốc.</a:t>
            </a:r>
          </a:p>
          <a:p>
            <a:pPr>
              <a:spcBef>
                <a:spcPts val="500"/>
              </a:spcBef>
            </a:pPr>
            <a:r>
              <a:rPr sz="2200" b="1">
                <a:solidFill>
                  <a:srgbClr val="2E7D32"/>
                </a:solidFill>
                <a:latin typeface="Arial"/>
              </a:rPr>
              <a:t>≈ 10 giây / câu hỏi</a:t>
            </a:r>
          </a:p>
        </p:txBody>
      </p:sp>
      <p:sp>
        <p:nvSpPr>
          <p:cNvPr id="8" name="Zone Filters"/>
          <p:cNvSpPr/>
          <p:nvPr/>
        </p:nvSpPr>
        <p:spPr>
          <a:xfrm>
            <a:off x="6967728" y="4846320"/>
            <a:ext cx="1051560" cy="384048"/>
          </a:xfrm>
          <a:prstGeom prst="roundRect">
            <a:avLst>
              <a:gd name="adj" fmla="val 20000"/>
            </a:avLst>
          </a:prstGeom>
          <a:solidFill>
            <a:srgbClr val="FFFFFF"/>
          </a:solidFill>
          <a:ln w="127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3864"/>
                </a:solidFill>
                <a:latin typeface="Arial"/>
              </a:rPr>
              <a:t>Filters</a:t>
            </a:r>
          </a:p>
        </p:txBody>
      </p:sp>
      <p:sp>
        <p:nvSpPr>
          <p:cNvPr id="9" name="Zone Columns"/>
          <p:cNvSpPr/>
          <p:nvPr/>
        </p:nvSpPr>
        <p:spPr>
          <a:xfrm>
            <a:off x="8110728" y="4846320"/>
            <a:ext cx="1051560" cy="384048"/>
          </a:xfrm>
          <a:prstGeom prst="roundRect">
            <a:avLst>
              <a:gd name="adj" fmla="val 20000"/>
            </a:avLst>
          </a:prstGeom>
          <a:solidFill>
            <a:srgbClr val="FFFFFF"/>
          </a:solidFill>
          <a:ln w="127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3864"/>
                </a:solidFill>
                <a:latin typeface="Arial"/>
              </a:rPr>
              <a:t>Columns</a:t>
            </a:r>
          </a:p>
        </p:txBody>
      </p:sp>
      <p:sp>
        <p:nvSpPr>
          <p:cNvPr id="10" name="Zone Rows"/>
          <p:cNvSpPr/>
          <p:nvPr/>
        </p:nvSpPr>
        <p:spPr>
          <a:xfrm>
            <a:off x="9253728" y="4846320"/>
            <a:ext cx="1051560" cy="384048"/>
          </a:xfrm>
          <a:prstGeom prst="roundRect">
            <a:avLst>
              <a:gd name="adj" fmla="val 20000"/>
            </a:avLst>
          </a:prstGeom>
          <a:solidFill>
            <a:srgbClr val="FFFFFF"/>
          </a:solidFill>
          <a:ln w="127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3864"/>
                </a:solidFill>
                <a:latin typeface="Arial"/>
              </a:rPr>
              <a:t>Rows</a:t>
            </a:r>
          </a:p>
        </p:txBody>
      </p:sp>
      <p:sp>
        <p:nvSpPr>
          <p:cNvPr id="11" name="Zone Values"/>
          <p:cNvSpPr/>
          <p:nvPr/>
        </p:nvSpPr>
        <p:spPr>
          <a:xfrm>
            <a:off x="10396728" y="4846320"/>
            <a:ext cx="1051560" cy="384048"/>
          </a:xfrm>
          <a:prstGeom prst="roundRect">
            <a:avLst>
              <a:gd name="adj" fmla="val 20000"/>
            </a:avLst>
          </a:prstGeom>
          <a:solidFill>
            <a:srgbClr val="FFFFFF"/>
          </a:solidFill>
          <a:ln w="127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3864"/>
                </a:solidFill>
                <a:latin typeface="Arial"/>
              </a:rPr>
              <a:t>Values</a:t>
            </a:r>
          </a:p>
        </p:txBody>
      </p:sp>
      <p:sp>
        <p:nvSpPr>
          <p:cNvPr id="12" name="TextBox"/>
          <p:cNvSpPr txBox="1"/>
          <p:nvPr/>
        </p:nvSpPr>
        <p:spPr>
          <a:xfrm>
            <a:off x="1527048" y="5623560"/>
            <a:ext cx="10122408" cy="457200"/>
          </a:xfrm>
          <a:prstGeom prst="rect">
            <a:avLst/>
          </a:prstGeom>
          <a:noFill/>
        </p:spPr>
        <p:txBody>
          <a:bodyPr wrap="square" lIns="0" rIns="0" tIns="0" bIns="0" anchor="t">
            <a:spAutoFit/>
          </a:bodyPr>
          <a:lstStyle/>
          <a:p>
            <a:r>
              <a:rPr sz="1500" b="0">
                <a:solidFill>
                  <a:srgbClr val="585858"/>
                </a:solidFill>
                <a:latin typeface="Arial"/>
              </a:rPr>
              <a:t>5 lợi ích của Pivot: Powerful · Beautiful · Fast · Accurate · Flexible. Nhưng mỗi ô Pivot vẫn là một SUMIFS.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Dữ liệu cho Pivot: tidy + Table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VÌ SAO PIVOT</a:t>
            </a:r>
          </a:p>
        </p:txBody>
      </p:sp>
      <p:sp>
        <p:nvSpPr>
          <p:cNvPr id="4" name="TextBox"/>
          <p:cNvSpPr txBox="1"/>
          <p:nvPr/>
        </p:nvSpPr>
        <p:spPr>
          <a:xfrm>
            <a:off x="1527048" y="1508760"/>
            <a:ext cx="10122408" cy="822960"/>
          </a:xfrm>
          <a:prstGeom prst="rect">
            <a:avLst/>
          </a:prstGeom>
          <a:noFill/>
        </p:spPr>
        <p:txBody>
          <a:bodyPr wrap="square" lIns="0" rIns="0" tIns="0" bIns="0" anchor="t">
            <a:spAutoFit/>
          </a:bodyPr>
          <a:lstStyle/>
          <a:p>
            <a:r>
              <a:rPr sz="1600" b="1">
                <a:solidFill>
                  <a:srgbClr val="203864"/>
                </a:solidFill>
                <a:latin typeface="Arial"/>
              </a:rPr>
              <a:t>Nguồn Pivot: </a:t>
            </a:r>
            <a:r>
              <a:rPr sz="1600" b="0">
                <a:solidFill>
                  <a:srgbClr val="1B2230"/>
                </a:solidFill>
                <a:latin typeface="Arial"/>
              </a:rPr>
              <a:t>hình chữ nhật (mỗi cột một trường, mỗi dòng một bản ghi) · tiêu đề một dòng · không dòng tổng, không ô gộp · nên là Excel Table (B1).</a:t>
            </a:r>
          </a:p>
        </p:txBody>
      </p:sp>
      <p:graphicFrame>
        <p:nvGraphicFramePr>
          <p:cNvPr id="5" name="Table"/>
          <p:cNvGraphicFramePr>
            <a:graphicFrameLocks noGrp="1"/>
          </p:cNvGraphicFramePr>
          <p:nvPr/>
        </p:nvGraphicFramePr>
        <p:xfrm>
          <a:off x="1527048" y="2423160"/>
          <a:ext cx="10122408" cy="2267712"/>
        </p:xfrm>
        <a:graphic>
          <a:graphicData uri="http://schemas.openxmlformats.org/drawingml/2006/table">
            <a:tbl>
              <a:tblPr firstRow="1" bandRow="0"/>
              <a:tblGrid>
                <a:gridCol w="2377440"/>
                <a:gridCol w="4937760"/>
                <a:gridCol w="2807208"/>
              </a:tblGrid>
              <a:tr h="566928">
                <a:tc>
                  <a:txBody>
                    <a:bodyPr wrap="square"/>
                    <a:lstStyle/>
                    <a:p>
                      <a:r>
                        <a:rPr sz="1600" b="1">
                          <a:solidFill>
                            <a:srgbClr val="FFFFFF"/>
                          </a:solidFill>
                          <a:latin typeface="Arial"/>
                        </a:rPr>
                        <a:t>Vai trò</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600" b="1">
                          <a:solidFill>
                            <a:srgbClr val="FFFFFF"/>
                          </a:solidFill>
                          <a:latin typeface="Arial"/>
                        </a:rPr>
                        <a:t>Ví dụ trong tblSales</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600" b="1">
                          <a:solidFill>
                            <a:srgbClr val="FFFFFF"/>
                          </a:solidFill>
                          <a:latin typeface="Arial"/>
                        </a:rPr>
                        <a:t>Kéo vào</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566928">
                <a:tc>
                  <a:txBody>
                    <a:bodyPr wrap="square"/>
                    <a:lstStyle/>
                    <a:p>
                      <a:r>
                        <a:rPr sz="1600" b="1">
                          <a:solidFill>
                            <a:srgbClr val="2A78D6"/>
                          </a:solidFill>
                          <a:latin typeface="Arial"/>
                        </a:rPr>
                        <a:t>Dimension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600" b="0">
                          <a:solidFill>
                            <a:srgbClr val="1B2230"/>
                          </a:solidFill>
                          <a:latin typeface="Arial"/>
                        </a:rPr>
                        <a:t>Region, Store_Code, Thang, Thu, Category, Order_Date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600" b="0">
                          <a:solidFill>
                            <a:srgbClr val="1B2230"/>
                          </a:solidFill>
                          <a:latin typeface="Arial"/>
                        </a:rPr>
                        <a:t>Rows · Columns · Filters</a:t>
                      </a:r>
                    </a:p>
                  </a:txBody>
                  <a:tcPr marL="73152" marR="73152" marT="27432" marB="27432" anchor="ctr">
                    <a:lnL w="0">
                      <a:noFill/>
                    </a:lnL>
                    <a:lnR w="0">
                      <a:noFill/>
                    </a:lnR>
                    <a:lnT w="12700">
                      <a:solidFill>
                        <a:srgbClr val="D9DEE8"/>
                      </a:solidFill>
                    </a:lnT>
                    <a:lnB w="12700">
                      <a:solidFill>
                        <a:srgbClr val="D9DEE8"/>
                      </a:solidFill>
                    </a:lnB>
                    <a:noFill/>
                  </a:tcPr>
                </a:tc>
              </a:tr>
              <a:tr h="566928">
                <a:tc>
                  <a:txBody>
                    <a:bodyPr wrap="square"/>
                    <a:lstStyle/>
                    <a:p>
                      <a:r>
                        <a:rPr sz="1600" b="1">
                          <a:solidFill>
                            <a:srgbClr val="EB6834"/>
                          </a:solidFill>
                          <a:latin typeface="Arial"/>
                        </a:rPr>
                        <a:t>Measure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600" b="0">
                          <a:solidFill>
                            <a:srgbClr val="1B2230"/>
                          </a:solidFill>
                          <a:latin typeface="Arial"/>
                        </a:rPr>
                        <a:t>Revenue, Quantity, COGS, Gross_Margin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600" b="0">
                          <a:solidFill>
                            <a:srgbClr val="1B2230"/>
                          </a:solidFill>
                          <a:latin typeface="Arial"/>
                        </a:rPr>
                        <a:t>Values</a:t>
                      </a:r>
                    </a:p>
                  </a:txBody>
                  <a:tcPr marL="73152" marR="73152" marT="27432" marB="27432" anchor="ctr">
                    <a:lnL w="0">
                      <a:noFill/>
                    </a:lnL>
                    <a:lnR w="0">
                      <a:noFill/>
                    </a:lnR>
                    <a:lnT w="12700">
                      <a:solidFill>
                        <a:srgbClr val="D9DEE8"/>
                      </a:solidFill>
                    </a:lnT>
                    <a:lnB w="12700">
                      <a:solidFill>
                        <a:srgbClr val="D9DEE8"/>
                      </a:solidFill>
                    </a:lnB>
                    <a:noFill/>
                  </a:tcPr>
                </a:tc>
              </a:tr>
              <a:tr h="566928">
                <a:tc>
                  <a:txBody>
                    <a:bodyPr wrap="square"/>
                    <a:lstStyle/>
                    <a:p>
                      <a:r>
                        <a:rPr sz="1600" b="1">
                          <a:solidFill>
                            <a:srgbClr val="203864"/>
                          </a:solidFill>
                          <a:latin typeface="Arial"/>
                        </a:rPr>
                        <a:t>Grain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600" b="0">
                          <a:solidFill>
                            <a:srgbClr val="1B2230"/>
                          </a:solidFill>
                          <a:latin typeface="Arial"/>
                        </a:rPr>
                        <a:t>1 sản phẩm trong 1 đơn (6.187 dòng ≠ 3.144 đơn)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600" b="0">
                          <a:solidFill>
                            <a:srgbClr val="1B2230"/>
                          </a:solidFill>
                          <a:latin typeface="Arial"/>
                        </a:rPr>
                        <a:t>Quyết định Pivot đếm cái gì</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6" name="TIP callout"/>
          <p:cNvSpPr/>
          <p:nvPr/>
        </p:nvSpPr>
        <p:spPr>
          <a:xfrm>
            <a:off x="1527048" y="4892040"/>
            <a:ext cx="10122408"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36776" y="500176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8" name="TIP text"/>
          <p:cNvSpPr txBox="1"/>
          <p:nvPr/>
        </p:nvSpPr>
        <p:spPr>
          <a:xfrm>
            <a:off x="2212848" y="4983479"/>
            <a:ext cx="9326880" cy="685800"/>
          </a:xfrm>
          <a:prstGeom prst="rect">
            <a:avLst/>
          </a:prstGeom>
          <a:noFill/>
        </p:spPr>
        <p:txBody>
          <a:bodyPr wrap="square" lIns="0" rIns="0" tIns="0" bIns="0" anchor="t">
            <a:spAutoFit/>
          </a:bodyPr>
          <a:lstStyle/>
          <a:p>
            <a:r>
              <a:rPr sz="1600" b="0">
                <a:solidFill>
                  <a:srgbClr val="1B2230"/>
                </a:solidFill>
                <a:latin typeface="Arial"/>
              </a:rPr>
              <a:t>Dữ liệu đã tidy ở B1 là lý do hôm nay chỉ cần kéo thả. Còn dòng tổng hay ô gộp thì Pivot cộng sai (tổng gấp đôi).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Tạo PivotTable: mỗi ô là một bộ lọc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Insert PivotTable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TẠO PIVOT</a:t>
            </a:r>
          </a:p>
        </p:txBody>
      </p:sp>
      <p:sp>
        <p:nvSpPr>
          <p:cNvPr id="4" name="Tool name"/>
          <p:cNvSpPr txBox="1"/>
          <p:nvPr/>
        </p:nvSpPr>
        <p:spPr>
          <a:xfrm>
            <a:off x="1527048" y="1463040"/>
            <a:ext cx="4846320" cy="457200"/>
          </a:xfrm>
          <a:prstGeom prst="rect">
            <a:avLst/>
          </a:prstGeom>
          <a:noFill/>
        </p:spPr>
        <p:txBody>
          <a:bodyPr wrap="square" lIns="0" rIns="0" tIns="0" bIns="0" anchor="t">
            <a:spAutoFit/>
          </a:bodyPr>
          <a:lstStyle/>
          <a:p>
            <a:r>
              <a:rPr sz="2400" b="1">
                <a:solidFill>
                  <a:srgbClr val="C00000"/>
                </a:solidFill>
                <a:latin typeface="Arial"/>
              </a:rPr>
              <a:t>Insert PivotTable</a:t>
            </a:r>
          </a:p>
        </p:txBody>
      </p:sp>
      <p:sp>
        <p:nvSpPr>
          <p:cNvPr id="5" name="Tool purpose"/>
          <p:cNvSpPr txBox="1"/>
          <p:nvPr/>
        </p:nvSpPr>
        <p:spPr>
          <a:xfrm>
            <a:off x="1527048" y="1920240"/>
            <a:ext cx="4846320" cy="411480"/>
          </a:xfrm>
          <a:prstGeom prst="rect">
            <a:avLst/>
          </a:prstGeom>
          <a:noFill/>
        </p:spPr>
        <p:txBody>
          <a:bodyPr wrap="square" lIns="0" rIns="0" tIns="0" bIns="0" anchor="t">
            <a:spAutoFit/>
          </a:bodyPr>
          <a:lstStyle/>
          <a:p>
            <a:r>
              <a:rPr sz="1600" b="0">
                <a:solidFill>
                  <a:srgbClr val="585858"/>
                </a:solidFill>
                <a:latin typeface="Arial"/>
              </a:rPr>
              <a:t>Tạo Pivot trống từ một Table / vùng dữ liệu.</a:t>
            </a:r>
          </a:p>
        </p:txBody>
      </p:sp>
      <p:cxnSp>
        <p:nvCxnSpPr>
          <p:cNvPr id="6" name="Connector 5"/>
          <p:cNvCxnSpPr/>
          <p:nvPr/>
        </p:nvCxnSpPr>
        <p:spPr>
          <a:xfrm>
            <a:off x="6583680" y="1463040"/>
            <a:ext cx="0" cy="91440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7" name="Tool name"/>
          <p:cNvSpPr txBox="1"/>
          <p:nvPr/>
        </p:nvSpPr>
        <p:spPr>
          <a:xfrm>
            <a:off x="6766560" y="1463040"/>
            <a:ext cx="4882896" cy="457200"/>
          </a:xfrm>
          <a:prstGeom prst="rect">
            <a:avLst/>
          </a:prstGeom>
          <a:noFill/>
        </p:spPr>
        <p:txBody>
          <a:bodyPr wrap="square" lIns="0" rIns="0" tIns="0" bIns="0" anchor="t">
            <a:spAutoFit/>
          </a:bodyPr>
          <a:lstStyle/>
          <a:p>
            <a:r>
              <a:rPr sz="2400" b="1">
                <a:solidFill>
                  <a:srgbClr val="C00000"/>
                </a:solidFill>
                <a:latin typeface="Arial"/>
              </a:rPr>
              <a:t>Recommended PivotTables</a:t>
            </a:r>
          </a:p>
        </p:txBody>
      </p:sp>
      <p:sp>
        <p:nvSpPr>
          <p:cNvPr id="8" name="Tool purpose"/>
          <p:cNvSpPr txBox="1"/>
          <p:nvPr/>
        </p:nvSpPr>
        <p:spPr>
          <a:xfrm>
            <a:off x="6766560" y="1920240"/>
            <a:ext cx="4882896" cy="411480"/>
          </a:xfrm>
          <a:prstGeom prst="rect">
            <a:avLst/>
          </a:prstGeom>
          <a:noFill/>
        </p:spPr>
        <p:txBody>
          <a:bodyPr wrap="square" lIns="0" rIns="0" tIns="0" bIns="0" anchor="t">
            <a:spAutoFit/>
          </a:bodyPr>
          <a:lstStyle/>
          <a:p>
            <a:r>
              <a:rPr sz="1600" b="0">
                <a:solidFill>
                  <a:srgbClr val="585858"/>
                </a:solidFill>
                <a:latin typeface="Arial"/>
              </a:rPr>
              <a:t>Excel gợi ý sẵn vài Pivot để bắt đầu.</a:t>
            </a:r>
          </a:p>
        </p:txBody>
      </p:sp>
      <p:pic>
        <p:nvPicPr>
          <p:cNvPr id="9" name="Screenshot S09_create_pivot" descr="S09_create_pivot.png"/>
          <p:cNvPicPr>
            <a:picLocks noChangeAspect="1"/>
          </p:cNvPicPr>
          <p:nvPr/>
        </p:nvPicPr>
        <p:blipFill>
          <a:blip r:embed="rId2"/>
          <a:stretch>
            <a:fillRect/>
          </a:stretch>
        </p:blipFill>
        <p:spPr>
          <a:xfrm>
            <a:off x="1533580" y="2514600"/>
            <a:ext cx="6570616" cy="3566160"/>
          </a:xfrm>
          <a:prstGeom prst="rect">
            <a:avLst/>
          </a:prstGeom>
          <a:ln w="9525">
            <a:solidFill>
              <a:srgbClr val="D9DEE8"/>
            </a:solidFill>
          </a:ln>
        </p:spPr>
      </p:pic>
      <p:sp>
        <p:nvSpPr>
          <p:cNvPr id="10" name="TIP callout"/>
          <p:cNvSpPr/>
          <p:nvPr/>
        </p:nvSpPr>
        <p:spPr>
          <a:xfrm>
            <a:off x="8275320" y="2514600"/>
            <a:ext cx="3374136" cy="2011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8385048" y="26243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2" name="TIP text"/>
          <p:cNvSpPr txBox="1"/>
          <p:nvPr/>
        </p:nvSpPr>
        <p:spPr>
          <a:xfrm>
            <a:off x="8961120" y="2606040"/>
            <a:ext cx="2578608" cy="1828800"/>
          </a:xfrm>
          <a:prstGeom prst="rect">
            <a:avLst/>
          </a:prstGeom>
          <a:noFill/>
        </p:spPr>
        <p:txBody>
          <a:bodyPr wrap="square" lIns="0" rIns="0" tIns="0" bIns="0" anchor="t">
            <a:spAutoFit/>
          </a:bodyPr>
          <a:lstStyle/>
          <a:p>
            <a:r>
              <a:rPr sz="1600" b="0">
                <a:solidFill>
                  <a:srgbClr val="1B2230"/>
                </a:solidFill>
                <a:latin typeface="Arial"/>
              </a:rPr>
              <a:t>Chọn MỘT ô trong Table rồi Insert → PivotTable: Excel tự điền tên Table. Phím tắt: Alt, N, V, T.</a:t>
            </a:r>
          </a:p>
        </p:txBody>
      </p:sp>
      <p:sp>
        <p:nvSpPr>
          <p:cNvPr id="13" name="TextBox"/>
          <p:cNvSpPr txBox="1"/>
          <p:nvPr/>
        </p:nvSpPr>
        <p:spPr>
          <a:xfrm>
            <a:off x="8275320" y="4709160"/>
            <a:ext cx="3374136" cy="1280160"/>
          </a:xfrm>
          <a:prstGeom prst="rect">
            <a:avLst/>
          </a:prstGeom>
          <a:noFill/>
        </p:spPr>
        <p:txBody>
          <a:bodyPr wrap="square" lIns="0" rIns="0" tIns="0" bIns="0" anchor="t">
            <a:spAutoFit/>
          </a:bodyPr>
          <a:lstStyle/>
          <a:p>
            <a:r>
              <a:rPr sz="1500" b="0">
                <a:solidFill>
                  <a:srgbClr val="585858"/>
                </a:solidFill>
                <a:latin typeface="Arial"/>
              </a:rPr>
              <a:t>Hai câu hỏi của hộp thoại: dữ liệu ở đâu? đặt Pivot ở đâu?</a:t>
            </a:r>
          </a:p>
        </p:txBody>
      </p:sp>
      <p:sp>
        <p:nvSpPr>
          <p:cNvPr id="14"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Demo/B3_Demo_Pivot.xlsx, sheet Sales → Insert → PivotTable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PivotTable Fields: 4 vùng</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TẠO PIVOT</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400" b="1">
                <a:solidFill>
                  <a:srgbClr val="C00000"/>
                </a:solidFill>
                <a:latin typeface="Arial"/>
              </a:rPr>
              <a:t>PivotTable Fields</a:t>
            </a:r>
          </a:p>
        </p:txBody>
      </p:sp>
      <p:sp>
        <p:nvSpPr>
          <p:cNvPr id="5" name="Tool purpose"/>
          <p:cNvSpPr txBox="1"/>
          <p:nvPr/>
        </p:nvSpPr>
        <p:spPr>
          <a:xfrm>
            <a:off x="1527048" y="1920240"/>
            <a:ext cx="10122408" cy="411480"/>
          </a:xfrm>
          <a:prstGeom prst="rect">
            <a:avLst/>
          </a:prstGeom>
          <a:noFill/>
        </p:spPr>
        <p:txBody>
          <a:bodyPr wrap="square" lIns="0" rIns="0" tIns="0" bIns="0" anchor="t">
            <a:spAutoFit/>
          </a:bodyPr>
          <a:lstStyle/>
          <a:p>
            <a:r>
              <a:rPr sz="1600" b="0">
                <a:solidFill>
                  <a:srgbClr val="585858"/>
                </a:solidFill>
                <a:latin typeface="Arial"/>
              </a:rPr>
              <a:t>Danh sách trường của nguồn và 4 vùng: Filters (lọc cả Pivot) · Columns · Rows · Values (số cần tính).</a:t>
            </a:r>
          </a:p>
        </p:txBody>
      </p:sp>
      <p:pic>
        <p:nvPicPr>
          <p:cNvPr id="6" name="Screenshot S10_field_list" descr="S10_field_list.png"/>
          <p:cNvPicPr>
            <a:picLocks noChangeAspect="1"/>
          </p:cNvPicPr>
          <p:nvPr/>
        </p:nvPicPr>
        <p:blipFill>
          <a:blip r:embed="rId2"/>
          <a:stretch>
            <a:fillRect/>
          </a:stretch>
        </p:blipFill>
        <p:spPr>
          <a:xfrm>
            <a:off x="1527048" y="2435490"/>
            <a:ext cx="6949440" cy="3495779"/>
          </a:xfrm>
          <a:prstGeom prst="rect">
            <a:avLst/>
          </a:prstGeom>
          <a:ln w="9525">
            <a:solidFill>
              <a:srgbClr val="D9DEE8"/>
            </a:solidFill>
          </a:ln>
        </p:spPr>
      </p:pic>
      <p:sp>
        <p:nvSpPr>
          <p:cNvPr id="7" name="Stat card"/>
          <p:cNvSpPr/>
          <p:nvPr/>
        </p:nvSpPr>
        <p:spPr>
          <a:xfrm>
            <a:off x="8641080" y="2377440"/>
            <a:ext cx="3008376" cy="14630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823959" y="2468880"/>
            <a:ext cx="2642616" cy="1280160"/>
          </a:xfrm>
          <a:prstGeom prst="rect">
            <a:avLst/>
          </a:prstGeom>
          <a:noFill/>
        </p:spPr>
        <p:txBody>
          <a:bodyPr wrap="square" lIns="0" rIns="0" tIns="0" bIns="0" anchor="ctr">
            <a:spAutoFit/>
          </a:bodyPr>
          <a:lstStyle/>
          <a:p>
            <a:r>
              <a:rPr sz="1400" b="0">
                <a:solidFill>
                  <a:srgbClr val="585858"/>
                </a:solidFill>
                <a:latin typeface="Arial"/>
              </a:rPr>
              <a:t>Miền × Tháng, 10 giây</a:t>
            </a:r>
          </a:p>
          <a:p>
            <a:pPr>
              <a:spcBef>
                <a:spcPts val="200"/>
              </a:spcBef>
            </a:pPr>
            <a:r>
              <a:rPr sz="2600" b="1">
                <a:solidFill>
                  <a:srgbClr val="203864"/>
                </a:solidFill>
                <a:latin typeface="Arial"/>
              </a:rPr>
              <a:t>941.454.000</a:t>
            </a:r>
          </a:p>
          <a:p>
            <a:pPr>
              <a:spcBef>
                <a:spcPts val="200"/>
              </a:spcBef>
            </a:pPr>
            <a:r>
              <a:rPr sz="1400" b="0">
                <a:solidFill>
                  <a:srgbClr val="1B2230"/>
                </a:solidFill>
                <a:latin typeface="Arial"/>
              </a:rPr>
              <a:t>Grand Total = tổng Buổi 2</a:t>
            </a:r>
          </a:p>
        </p:txBody>
      </p:sp>
      <p:sp>
        <p:nvSpPr>
          <p:cNvPr id="9" name="TIP callout"/>
          <p:cNvSpPr/>
          <p:nvPr/>
        </p:nvSpPr>
        <p:spPr>
          <a:xfrm>
            <a:off x="8641080" y="3977639"/>
            <a:ext cx="3008376" cy="2011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8750807" y="408736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1" name="TIP text"/>
          <p:cNvSpPr txBox="1"/>
          <p:nvPr/>
        </p:nvSpPr>
        <p:spPr>
          <a:xfrm>
            <a:off x="9326880" y="4069079"/>
            <a:ext cx="2212848" cy="1828800"/>
          </a:xfrm>
          <a:prstGeom prst="rect">
            <a:avLst/>
          </a:prstGeom>
          <a:noFill/>
        </p:spPr>
        <p:txBody>
          <a:bodyPr wrap="square" lIns="0" rIns="0" tIns="0" bIns="0" anchor="t">
            <a:spAutoFit/>
          </a:bodyPr>
          <a:lstStyle/>
          <a:p>
            <a:r>
              <a:rPr sz="1600" b="0">
                <a:solidFill>
                  <a:srgbClr val="1B2230"/>
                </a:solidFill>
                <a:latin typeface="Arial"/>
              </a:rPr>
              <a:t>Dimension vào Rows / Columns, Measure vào Values. Kéo nhầm thì kéo trường ra khỏi vùng.</a:t>
            </a:r>
          </a:p>
        </p:txBody>
      </p:sp>
      <p:sp>
        <p:nvSpPr>
          <p:cNvPr id="12"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Demo/B3_Demo_Pivot.xlsx, sheet PV_MienThang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Pivot hoạt động thế nào: tọa độ = bộ lọc</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TẠO PIVOT</a:t>
            </a:r>
          </a:p>
        </p:txBody>
      </p:sp>
      <p:sp>
        <p:nvSpPr>
          <p:cNvPr id="4" name="Source column"/>
          <p:cNvSpPr/>
          <p:nvPr/>
        </p:nvSpPr>
        <p:spPr>
          <a:xfrm>
            <a:off x="1527048" y="1600200"/>
            <a:ext cx="1920240" cy="2103120"/>
          </a:xfrm>
          <a:prstGeom prst="rect">
            <a:avLst/>
          </a:prstGeom>
          <a:solidFill>
            <a:srgbClr val="F3F5F9"/>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527048" y="1600200"/>
            <a:ext cx="1920240" cy="2103120"/>
          </a:xfrm>
          <a:prstGeom prst="rect">
            <a:avLst/>
          </a:prstGeom>
          <a:noFill/>
        </p:spPr>
        <p:txBody>
          <a:bodyPr wrap="square" lIns="0" rIns="0" tIns="0" bIns="0" anchor="ctr">
            <a:spAutoFit/>
          </a:bodyPr>
          <a:lstStyle/>
          <a:p>
            <a:pPr algn="ctr"/>
            <a:r>
              <a:rPr sz="1500" b="1">
                <a:solidFill>
                  <a:srgbClr val="203864"/>
                </a:solidFill>
                <a:latin typeface="Arial"/>
              </a:rPr>
              <a:t>tblSales[Revenue]</a:t>
            </a:r>
          </a:p>
          <a:p>
            <a:pPr algn="ctr">
              <a:spcBef>
                <a:spcPts val="800"/>
              </a:spcBef>
            </a:pPr>
            <a:r>
              <a:rPr sz="1600" b="0">
                <a:solidFill>
                  <a:srgbClr val="1B2230"/>
                </a:solidFill>
                <a:latin typeface="Arial"/>
              </a:rPr>
              <a:t>6.187 dòng</a:t>
            </a:r>
          </a:p>
          <a:p>
            <a:pPr algn="ctr">
              <a:spcBef>
                <a:spcPts val="800"/>
              </a:spcBef>
            </a:pPr>
            <a:r>
              <a:rPr sz="1600" b="1">
                <a:solidFill>
                  <a:srgbClr val="1B2230"/>
                </a:solidFill>
                <a:latin typeface="Arial"/>
              </a:rPr>
              <a:t>∑ phép tổng</a:t>
            </a:r>
          </a:p>
        </p:txBody>
      </p:sp>
      <p:sp>
        <p:nvSpPr>
          <p:cNvPr id="6" name="Coordinate 1"/>
          <p:cNvSpPr/>
          <p:nvPr/>
        </p:nvSpPr>
        <p:spPr>
          <a:xfrm>
            <a:off x="3749039" y="1645920"/>
            <a:ext cx="2697480" cy="822960"/>
          </a:xfrm>
          <a:prstGeom prst="roundRect">
            <a:avLst>
              <a:gd name="adj" fmla="val 15000"/>
            </a:avLst>
          </a:prstGeom>
          <a:solidFill>
            <a:srgbClr val="FFFFFF"/>
          </a:solidFill>
          <a:ln w="254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3749039" y="1645920"/>
            <a:ext cx="2697480" cy="822960"/>
          </a:xfrm>
          <a:prstGeom prst="rect">
            <a:avLst/>
          </a:prstGeom>
          <a:noFill/>
        </p:spPr>
        <p:txBody>
          <a:bodyPr wrap="square" lIns="0" rIns="0" tIns="0" bIns="0" anchor="ctr">
            <a:spAutoFit/>
          </a:bodyPr>
          <a:lstStyle/>
          <a:p>
            <a:pPr algn="ctr"/>
            <a:r>
              <a:rPr sz="1200" b="0">
                <a:solidFill>
                  <a:srgbClr val="585858"/>
                </a:solidFill>
                <a:latin typeface="Arial"/>
              </a:rPr>
              <a:t>Tọa độ hàng  </a:t>
            </a:r>
            <a:r>
              <a:rPr sz="1600" b="1">
                <a:solidFill>
                  <a:srgbClr val="203864"/>
                </a:solidFill>
                <a:latin typeface="Arial"/>
              </a:rPr>
              <a:t>Region = Bắc</a:t>
            </a:r>
          </a:p>
        </p:txBody>
      </p:sp>
      <p:sp>
        <p:nvSpPr>
          <p:cNvPr id="8" name="Coordinate 2"/>
          <p:cNvSpPr/>
          <p:nvPr/>
        </p:nvSpPr>
        <p:spPr>
          <a:xfrm>
            <a:off x="3749039" y="2743200"/>
            <a:ext cx="2697480" cy="822960"/>
          </a:xfrm>
          <a:prstGeom prst="roundRect">
            <a:avLst>
              <a:gd name="adj" fmla="val 15000"/>
            </a:avLst>
          </a:prstGeom>
          <a:solidFill>
            <a:srgbClr val="FFFFFF"/>
          </a:solidFill>
          <a:ln w="254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3749039" y="2743200"/>
            <a:ext cx="2697480" cy="822960"/>
          </a:xfrm>
          <a:prstGeom prst="rect">
            <a:avLst/>
          </a:prstGeom>
          <a:noFill/>
        </p:spPr>
        <p:txBody>
          <a:bodyPr wrap="square" lIns="0" rIns="0" tIns="0" bIns="0" anchor="ctr">
            <a:spAutoFit/>
          </a:bodyPr>
          <a:lstStyle/>
          <a:p>
            <a:pPr algn="ctr"/>
            <a:r>
              <a:rPr sz="1200" b="0">
                <a:solidFill>
                  <a:srgbClr val="585858"/>
                </a:solidFill>
                <a:latin typeface="Arial"/>
              </a:rPr>
              <a:t>Tọa độ cột  </a:t>
            </a:r>
            <a:r>
              <a:rPr sz="1600" b="1">
                <a:solidFill>
                  <a:srgbClr val="203864"/>
                </a:solidFill>
                <a:latin typeface="Arial"/>
              </a:rPr>
              <a:t>Thang = 3</a:t>
            </a:r>
          </a:p>
        </p:txBody>
      </p:sp>
      <p:cxnSp>
        <p:nvCxnSpPr>
          <p:cNvPr id="10" name="Connector 9"/>
          <p:cNvCxnSpPr/>
          <p:nvPr/>
        </p:nvCxnSpPr>
        <p:spPr>
          <a:xfrm flipV="1">
            <a:off x="3447288" y="2057400"/>
            <a:ext cx="301751" cy="594360"/>
          </a:xfrm>
          <a:prstGeom prst="line">
            <a:avLst/>
          </a:prstGeom>
          <a:ln w="25400">
            <a:solidFill>
              <a:srgbClr val="3398D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446520" y="2057400"/>
            <a:ext cx="274320" cy="594360"/>
          </a:xfrm>
          <a:prstGeom prst="line">
            <a:avLst/>
          </a:prstGeom>
          <a:ln w="25400">
            <a:solidFill>
              <a:srgbClr val="3398D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447288" y="2651760"/>
            <a:ext cx="301751" cy="502920"/>
          </a:xfrm>
          <a:prstGeom prst="line">
            <a:avLst/>
          </a:prstGeom>
          <a:ln w="25400">
            <a:solidFill>
              <a:srgbClr val="3398D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6446520" y="2651760"/>
            <a:ext cx="274320" cy="502920"/>
          </a:xfrm>
          <a:prstGeom prst="line">
            <a:avLst/>
          </a:prstGeom>
          <a:ln w="25400">
            <a:solidFill>
              <a:srgbClr val="3398DA"/>
            </a:solidFill>
          </a:ln>
        </p:spPr>
        <p:style>
          <a:lnRef idx="2">
            <a:schemeClr val="accent1"/>
          </a:lnRef>
          <a:fillRef idx="0">
            <a:schemeClr val="accent1"/>
          </a:fillRef>
          <a:effectRef idx="1">
            <a:schemeClr val="accent1"/>
          </a:effectRef>
          <a:fontRef idx="minor">
            <a:schemeClr val="tx1"/>
          </a:fontRef>
        </p:style>
      </p:cxnSp>
      <p:sp>
        <p:nvSpPr>
          <p:cNvPr id="14" name="Result cell"/>
          <p:cNvSpPr/>
          <p:nvPr/>
        </p:nvSpPr>
        <p:spPr>
          <a:xfrm>
            <a:off x="6720840" y="2011680"/>
            <a:ext cx="1691640" cy="128016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p:cNvSpPr txBox="1"/>
          <p:nvPr/>
        </p:nvSpPr>
        <p:spPr>
          <a:xfrm>
            <a:off x="6720840" y="2011680"/>
            <a:ext cx="1691640" cy="1280160"/>
          </a:xfrm>
          <a:prstGeom prst="rect">
            <a:avLst/>
          </a:prstGeom>
          <a:noFill/>
        </p:spPr>
        <p:txBody>
          <a:bodyPr wrap="square" lIns="0" rIns="0" tIns="0" bIns="0" anchor="ctr">
            <a:spAutoFit/>
          </a:bodyPr>
          <a:lstStyle/>
          <a:p>
            <a:pPr algn="ctr"/>
            <a:r>
              <a:rPr sz="1200" b="0">
                <a:solidFill>
                  <a:srgbClr val="CDE2FB"/>
                </a:solidFill>
                <a:latin typeface="Arial"/>
              </a:rPr>
              <a:t>Ô Pivot Bắc × 3</a:t>
            </a:r>
          </a:p>
          <a:p>
            <a:pPr algn="ctr">
              <a:spcBef>
                <a:spcPts val="400"/>
              </a:spcBef>
            </a:pPr>
            <a:r>
              <a:rPr sz="1900" b="1">
                <a:solidFill>
                  <a:srgbClr val="FFFFFF"/>
                </a:solidFill>
                <a:latin typeface="Arial"/>
              </a:rPr>
              <a:t>90.210.000</a:t>
            </a:r>
          </a:p>
        </p:txBody>
      </p:sp>
      <p:graphicFrame>
        <p:nvGraphicFramePr>
          <p:cNvPr id="16" name="Chain C"/>
          <p:cNvGraphicFramePr>
            <a:graphicFrameLocks noGrp="1"/>
          </p:cNvGraphicFramePr>
          <p:nvPr/>
        </p:nvGraphicFramePr>
        <p:xfrm>
          <a:off x="1527048" y="3931920"/>
          <a:ext cx="6858000" cy="768096"/>
        </p:xfrm>
        <a:graphic>
          <a:graphicData uri="http://schemas.openxmlformats.org/drawingml/2006/table">
            <a:tbl>
              <a:tblPr firstRow="1" bandRow="0"/>
              <a:tblGrid>
                <a:gridCol w="2286000"/>
                <a:gridCol w="2286000"/>
                <a:gridCol w="2286000"/>
              </a:tblGrid>
              <a:tr h="384048">
                <a:tc>
                  <a:txBody>
                    <a:bodyPr wrap="square"/>
                    <a:lstStyle/>
                    <a:p>
                      <a:pPr algn="ctr"/>
                      <a:r>
                        <a:rPr sz="1500" b="1">
                          <a:solidFill>
                            <a:srgbClr val="FFFFFF"/>
                          </a:solidFill>
                          <a:latin typeface="Arial"/>
                        </a:rPr>
                        <a:t>B2 · SUMIFS</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ctr"/>
                      <a:r>
                        <a:rPr sz="1500" b="1">
                          <a:solidFill>
                            <a:srgbClr val="FFFFFF"/>
                          </a:solidFill>
                          <a:latin typeface="Arial"/>
                        </a:rPr>
                        <a:t>B3 · PivotTable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ctr"/>
                      <a:r>
                        <a:rPr sz="1500" b="1">
                          <a:solidFill>
                            <a:srgbClr val="FFFFFF"/>
                          </a:solidFill>
                          <a:latin typeface="Arial"/>
                        </a:rPr>
                        <a:t>B5 · DAX</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384048">
                <a:tc>
                  <a:txBody>
                    <a:bodyPr wrap="square"/>
                    <a:lstStyle/>
                    <a:p>
                      <a:pPr algn="ctr"/>
                      <a:r>
                        <a:rPr sz="1500" b="0">
                          <a:solidFill>
                            <a:srgbClr val="1B2230"/>
                          </a:solidFill>
                          <a:latin typeface="Arial"/>
                        </a:rPr>
                        <a:t>criteria</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ctr"/>
                      <a:r>
                        <a:rPr sz="1500" b="0">
                          <a:solidFill>
                            <a:srgbClr val="203864"/>
                          </a:solidFill>
                          <a:latin typeface="Arial"/>
                        </a:rPr>
                        <a:t>tọa độ ô Pivot</a:t>
                      </a:r>
                    </a:p>
                  </a:txBody>
                  <a:tcPr marL="73152" marR="73152" marT="27432" marB="27432" anchor="ctr">
                    <a:lnL w="0">
                      <a:noFill/>
                    </a:lnL>
                    <a:lnR w="0">
                      <a:noFill/>
                    </a:lnR>
                    <a:lnT w="12700">
                      <a:solidFill>
                        <a:srgbClr val="D9DEE8"/>
                      </a:solidFill>
                    </a:lnT>
                    <a:lnB w="12700">
                      <a:solidFill>
                        <a:srgbClr val="D9DEE8"/>
                      </a:solidFill>
                    </a:lnB>
                    <a:solidFill>
                      <a:srgbClr val="DCE3EF"/>
                    </a:solidFill>
                  </a:tcPr>
                </a:tc>
                <a:tc>
                  <a:txBody>
                    <a:bodyPr wrap="square"/>
                    <a:lstStyle/>
                    <a:p>
                      <a:pPr algn="ctr"/>
                      <a:r>
                        <a:rPr sz="1500" b="0">
                          <a:solidFill>
                            <a:srgbClr val="1B2230"/>
                          </a:solidFill>
                          <a:latin typeface="Arial"/>
                        </a:rPr>
                        <a:t>filter context</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17" name="Screenshot S11_pivot_vs_sumifs" descr="S11_pivot_vs_sumifs.png"/>
          <p:cNvPicPr>
            <a:picLocks noChangeAspect="1"/>
          </p:cNvPicPr>
          <p:nvPr/>
        </p:nvPicPr>
        <p:blipFill>
          <a:blip r:embed="rId2"/>
          <a:stretch>
            <a:fillRect/>
          </a:stretch>
        </p:blipFill>
        <p:spPr>
          <a:xfrm>
            <a:off x="8595360" y="2036631"/>
            <a:ext cx="3054096" cy="1870338"/>
          </a:xfrm>
          <a:prstGeom prst="rect">
            <a:avLst/>
          </a:prstGeom>
          <a:ln w="9525">
            <a:solidFill>
              <a:srgbClr val="D9DEE8"/>
            </a:solidFill>
          </a:ln>
        </p:spPr>
      </p:pic>
      <p:sp>
        <p:nvSpPr>
          <p:cNvPr id="18" name="TIP callout"/>
          <p:cNvSpPr/>
          <p:nvPr/>
        </p:nvSpPr>
        <p:spPr>
          <a:xfrm>
            <a:off x="1527048" y="4892040"/>
            <a:ext cx="10122408" cy="11430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p:cNvSpPr txBox="1"/>
          <p:nvPr/>
        </p:nvSpPr>
        <p:spPr>
          <a:xfrm>
            <a:off x="1636776" y="500176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20" name="TIP text"/>
          <p:cNvSpPr txBox="1"/>
          <p:nvPr/>
        </p:nvSpPr>
        <p:spPr>
          <a:xfrm>
            <a:off x="2212848" y="4983479"/>
            <a:ext cx="9326880" cy="960120"/>
          </a:xfrm>
          <a:prstGeom prst="rect">
            <a:avLst/>
          </a:prstGeom>
          <a:noFill/>
        </p:spPr>
        <p:txBody>
          <a:bodyPr wrap="square" lIns="0" rIns="0" tIns="0" bIns="0" anchor="t">
            <a:spAutoFit/>
          </a:bodyPr>
          <a:lstStyle/>
          <a:p>
            <a:r>
              <a:rPr sz="1600" b="0">
                <a:solidFill>
                  <a:srgbClr val="1B2230"/>
                </a:solidFill>
                <a:latin typeface="Arial"/>
              </a:rPr>
              <a:t>Gõ = rồi bấm vào ô Pivot: Excel tự viết GETPIVOTDATA (đúng ô dù Pivot đổi bố cục, nhưng kéo công thức không đổi kết quả). Tắt: PivotTable Analyze → Options ▾ → bỏ tick Generate GetPivotData. Double-click ô Bắc × 3 → 635 dòng gốc.</a:t>
            </a:r>
          </a:p>
        </p:txBody>
      </p:sp>
      <p:sp>
        <p:nvSpPr>
          <p:cNvPr id="21"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Hình xương sống Chuỗi C dùng lại từ Buổi 2 · Ảnh: Practice/B3_MCI_Mart_Q1_2025_Answer.xlsx, sheet PV_MienThang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Refresh · Change Data Source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TẠO PIVOT</a:t>
            </a:r>
          </a:p>
        </p:txBody>
      </p:sp>
      <p:sp>
        <p:nvSpPr>
          <p:cNvPr id="4" name="Tool name"/>
          <p:cNvSpPr txBox="1"/>
          <p:nvPr/>
        </p:nvSpPr>
        <p:spPr>
          <a:xfrm>
            <a:off x="1527048" y="1463040"/>
            <a:ext cx="4846320" cy="457200"/>
          </a:xfrm>
          <a:prstGeom prst="rect">
            <a:avLst/>
          </a:prstGeom>
          <a:noFill/>
        </p:spPr>
        <p:txBody>
          <a:bodyPr wrap="square" lIns="0" rIns="0" tIns="0" bIns="0" anchor="t">
            <a:spAutoFit/>
          </a:bodyPr>
          <a:lstStyle/>
          <a:p>
            <a:r>
              <a:rPr sz="2400" b="1">
                <a:solidFill>
                  <a:srgbClr val="C00000"/>
                </a:solidFill>
                <a:latin typeface="Arial"/>
              </a:rPr>
              <a:t>Refresh · Refresh All</a:t>
            </a:r>
          </a:p>
        </p:txBody>
      </p:sp>
      <p:sp>
        <p:nvSpPr>
          <p:cNvPr id="5" name="Tool purpose"/>
          <p:cNvSpPr txBox="1"/>
          <p:nvPr/>
        </p:nvSpPr>
        <p:spPr>
          <a:xfrm>
            <a:off x="1527048" y="1920240"/>
            <a:ext cx="4846320" cy="640080"/>
          </a:xfrm>
          <a:prstGeom prst="rect">
            <a:avLst/>
          </a:prstGeom>
          <a:noFill/>
        </p:spPr>
        <p:txBody>
          <a:bodyPr wrap="square" lIns="0" rIns="0" tIns="0" bIns="0" anchor="t">
            <a:spAutoFit/>
          </a:bodyPr>
          <a:lstStyle/>
          <a:p>
            <a:r>
              <a:rPr sz="1600" b="0">
                <a:solidFill>
                  <a:srgbClr val="585858"/>
                </a:solidFill>
                <a:latin typeface="Arial"/>
              </a:rPr>
              <a:t>Cập nhật Pivot sau khi nguồn thay đổi (Alt+F5 · Ctrl+Alt+F5).</a:t>
            </a:r>
          </a:p>
        </p:txBody>
      </p:sp>
      <p:cxnSp>
        <p:nvCxnSpPr>
          <p:cNvPr id="6" name="Connector 5"/>
          <p:cNvCxnSpPr/>
          <p:nvPr/>
        </p:nvCxnSpPr>
        <p:spPr>
          <a:xfrm>
            <a:off x="6583680" y="1463040"/>
            <a:ext cx="0" cy="109728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7" name="Tool name"/>
          <p:cNvSpPr txBox="1"/>
          <p:nvPr/>
        </p:nvSpPr>
        <p:spPr>
          <a:xfrm>
            <a:off x="6766560" y="1463040"/>
            <a:ext cx="4882896" cy="457200"/>
          </a:xfrm>
          <a:prstGeom prst="rect">
            <a:avLst/>
          </a:prstGeom>
          <a:noFill/>
        </p:spPr>
        <p:txBody>
          <a:bodyPr wrap="square" lIns="0" rIns="0" tIns="0" bIns="0" anchor="t">
            <a:spAutoFit/>
          </a:bodyPr>
          <a:lstStyle/>
          <a:p>
            <a:r>
              <a:rPr sz="2400" b="1">
                <a:solidFill>
                  <a:srgbClr val="C00000"/>
                </a:solidFill>
                <a:latin typeface="Arial"/>
              </a:rPr>
              <a:t>Change Data Source</a:t>
            </a:r>
          </a:p>
        </p:txBody>
      </p:sp>
      <p:sp>
        <p:nvSpPr>
          <p:cNvPr id="8" name="Tool purpose"/>
          <p:cNvSpPr txBox="1"/>
          <p:nvPr/>
        </p:nvSpPr>
        <p:spPr>
          <a:xfrm>
            <a:off x="6766560" y="1920240"/>
            <a:ext cx="4882896" cy="640080"/>
          </a:xfrm>
          <a:prstGeom prst="rect">
            <a:avLst/>
          </a:prstGeom>
          <a:noFill/>
        </p:spPr>
        <p:txBody>
          <a:bodyPr wrap="square" lIns="0" rIns="0" tIns="0" bIns="0" anchor="t">
            <a:spAutoFit/>
          </a:bodyPr>
          <a:lstStyle/>
          <a:p>
            <a:r>
              <a:rPr sz="1600" b="0">
                <a:solidFill>
                  <a:srgbClr val="585858"/>
                </a:solidFill>
                <a:latin typeface="Arial"/>
              </a:rPr>
              <a:t>Đổi / mở rộng vùng nguồn của Pivot.</a:t>
            </a:r>
          </a:p>
        </p:txBody>
      </p:sp>
      <p:pic>
        <p:nvPicPr>
          <p:cNvPr id="9" name="Screenshot S12a_refresh_table_vs_range" descr="S12a_refresh_table_vs_range.png"/>
          <p:cNvPicPr>
            <a:picLocks noChangeAspect="1"/>
          </p:cNvPicPr>
          <p:nvPr/>
        </p:nvPicPr>
        <p:blipFill>
          <a:blip r:embed="rId2"/>
          <a:stretch>
            <a:fillRect/>
          </a:stretch>
        </p:blipFill>
        <p:spPr>
          <a:xfrm>
            <a:off x="1527048" y="2890165"/>
            <a:ext cx="5669280" cy="1763470"/>
          </a:xfrm>
          <a:prstGeom prst="rect">
            <a:avLst/>
          </a:prstGeom>
          <a:ln w="9525">
            <a:solidFill>
              <a:srgbClr val="D9DEE8"/>
            </a:solidFill>
          </a:ln>
        </p:spPr>
      </p:pic>
      <p:pic>
        <p:nvPicPr>
          <p:cNvPr id="10" name="Screenshot S12b_change_source" descr="S12b_change_source.png"/>
          <p:cNvPicPr>
            <a:picLocks noChangeAspect="1"/>
          </p:cNvPicPr>
          <p:nvPr/>
        </p:nvPicPr>
        <p:blipFill>
          <a:blip r:embed="rId3"/>
          <a:stretch>
            <a:fillRect/>
          </a:stretch>
        </p:blipFill>
        <p:spPr>
          <a:xfrm>
            <a:off x="7360920" y="2852091"/>
            <a:ext cx="4288536" cy="1839618"/>
          </a:xfrm>
          <a:prstGeom prst="rect">
            <a:avLst/>
          </a:prstGeom>
          <a:ln w="9525">
            <a:solidFill>
              <a:srgbClr val="D9DEE8"/>
            </a:solidFill>
          </a:ln>
        </p:spPr>
      </p:pic>
      <p:sp>
        <p:nvSpPr>
          <p:cNvPr id="11" name="TIP callout"/>
          <p:cNvSpPr/>
          <p:nvPr/>
        </p:nvSpPr>
        <p:spPr>
          <a:xfrm>
            <a:off x="1527048" y="4983480"/>
            <a:ext cx="4937760" cy="1097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1636776" y="50932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3" name="TIP text"/>
          <p:cNvSpPr txBox="1"/>
          <p:nvPr/>
        </p:nvSpPr>
        <p:spPr>
          <a:xfrm>
            <a:off x="2212848" y="5074920"/>
            <a:ext cx="4142232" cy="914400"/>
          </a:xfrm>
          <a:prstGeom prst="rect">
            <a:avLst/>
          </a:prstGeom>
          <a:noFill/>
        </p:spPr>
        <p:txBody>
          <a:bodyPr wrap="square" lIns="0" rIns="0" tIns="0" bIns="0" anchor="t">
            <a:spAutoFit/>
          </a:bodyPr>
          <a:lstStyle/>
          <a:p>
            <a:r>
              <a:rPr sz="1600" b="0">
                <a:solidFill>
                  <a:srgbClr val="1B2230"/>
                </a:solidFill>
                <a:latin typeface="Arial"/>
              </a:rPr>
              <a:t>Pivot đọc từ BỘ NHỚ ĐỆM (cache), không đọc thẳng ô: sửa dữ liệu xong phải Refresh.</a:t>
            </a:r>
          </a:p>
        </p:txBody>
      </p:sp>
      <p:sp>
        <p:nvSpPr>
          <p:cNvPr id="14" name="PRO TIP callout"/>
          <p:cNvSpPr/>
          <p:nvPr/>
        </p:nvSpPr>
        <p:spPr>
          <a:xfrm>
            <a:off x="6629400" y="4983480"/>
            <a:ext cx="5020056" cy="10972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RO TIP chip"/>
          <p:cNvSpPr/>
          <p:nvPr/>
        </p:nvSpPr>
        <p:spPr>
          <a:xfrm>
            <a:off x="6739128" y="509320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6" name="PRO TIP text"/>
          <p:cNvSpPr txBox="1"/>
          <p:nvPr/>
        </p:nvSpPr>
        <p:spPr>
          <a:xfrm>
            <a:off x="7836408" y="5074920"/>
            <a:ext cx="3703320" cy="914400"/>
          </a:xfrm>
          <a:prstGeom prst="rect">
            <a:avLst/>
          </a:prstGeom>
          <a:noFill/>
        </p:spPr>
        <p:txBody>
          <a:bodyPr wrap="square" lIns="0" rIns="0" tIns="0" bIns="0" anchor="t">
            <a:spAutoFit/>
          </a:bodyPr>
          <a:lstStyle/>
          <a:p>
            <a:r>
              <a:rPr sz="1600" b="0">
                <a:solidFill>
                  <a:srgbClr val="1B2230"/>
                </a:solidFill>
                <a:latin typeface="Arial"/>
              </a:rPr>
              <a:t>Nguồn là Table → dòng mới tự vào Pivot khi Refresh. Nguồn là vùng $A$1:$I$6188 → không.</a:t>
            </a:r>
          </a:p>
        </p:txBody>
      </p:sp>
      <p:sp>
        <p:nvSpPr>
          <p:cNvPr id="17"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Demo/B3_Demo_Refresh.xlsx, sheet PV_Table và PV_Vung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Định dạng: Pivot dễ đọc cho người xem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Value Field Settings · PivotTable Styles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ĐỊNH DẠNG</a:t>
            </a:r>
          </a:p>
        </p:txBody>
      </p:sp>
      <p:sp>
        <p:nvSpPr>
          <p:cNvPr id="4" name="Tool name"/>
          <p:cNvSpPr txBox="1"/>
          <p:nvPr/>
        </p:nvSpPr>
        <p:spPr>
          <a:xfrm>
            <a:off x="1527048" y="1463040"/>
            <a:ext cx="4846320" cy="457200"/>
          </a:xfrm>
          <a:prstGeom prst="rect">
            <a:avLst/>
          </a:prstGeom>
          <a:noFill/>
        </p:spPr>
        <p:txBody>
          <a:bodyPr wrap="square" lIns="0" rIns="0" tIns="0" bIns="0" anchor="t">
            <a:spAutoFit/>
          </a:bodyPr>
          <a:lstStyle/>
          <a:p>
            <a:r>
              <a:rPr sz="2400" b="1">
                <a:solidFill>
                  <a:srgbClr val="C00000"/>
                </a:solidFill>
                <a:latin typeface="Arial"/>
              </a:rPr>
              <a:t>Value Field Settings</a:t>
            </a:r>
          </a:p>
        </p:txBody>
      </p:sp>
      <p:sp>
        <p:nvSpPr>
          <p:cNvPr id="5" name="Tool purpose"/>
          <p:cNvSpPr txBox="1"/>
          <p:nvPr/>
        </p:nvSpPr>
        <p:spPr>
          <a:xfrm>
            <a:off x="1527048" y="1920240"/>
            <a:ext cx="4846320" cy="640080"/>
          </a:xfrm>
          <a:prstGeom prst="rect">
            <a:avLst/>
          </a:prstGeom>
          <a:noFill/>
        </p:spPr>
        <p:txBody>
          <a:bodyPr wrap="square" lIns="0" rIns="0" tIns="0" bIns="0" anchor="t">
            <a:spAutoFit/>
          </a:bodyPr>
          <a:lstStyle/>
          <a:p>
            <a:r>
              <a:rPr sz="1600" b="0">
                <a:solidFill>
                  <a:srgbClr val="585858"/>
                </a:solidFill>
                <a:latin typeface="Arial"/>
              </a:rPr>
              <a:t>Đặt tên và định dạng số cho cả trường giá trị (Number Format).</a:t>
            </a:r>
          </a:p>
        </p:txBody>
      </p:sp>
      <p:cxnSp>
        <p:nvCxnSpPr>
          <p:cNvPr id="6" name="Connector 5"/>
          <p:cNvCxnSpPr/>
          <p:nvPr/>
        </p:nvCxnSpPr>
        <p:spPr>
          <a:xfrm>
            <a:off x="6583680" y="1463040"/>
            <a:ext cx="0" cy="109728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7" name="Tool name"/>
          <p:cNvSpPr txBox="1"/>
          <p:nvPr/>
        </p:nvSpPr>
        <p:spPr>
          <a:xfrm>
            <a:off x="6766560" y="1463040"/>
            <a:ext cx="4882896" cy="457200"/>
          </a:xfrm>
          <a:prstGeom prst="rect">
            <a:avLst/>
          </a:prstGeom>
          <a:noFill/>
        </p:spPr>
        <p:txBody>
          <a:bodyPr wrap="square" lIns="0" rIns="0" tIns="0" bIns="0" anchor="t">
            <a:spAutoFit/>
          </a:bodyPr>
          <a:lstStyle/>
          <a:p>
            <a:r>
              <a:rPr sz="2400" b="1">
                <a:solidFill>
                  <a:srgbClr val="C00000"/>
                </a:solidFill>
                <a:latin typeface="Arial"/>
              </a:rPr>
              <a:t>PivotTable Styles</a:t>
            </a:r>
          </a:p>
        </p:txBody>
      </p:sp>
      <p:sp>
        <p:nvSpPr>
          <p:cNvPr id="8" name="Tool purpose"/>
          <p:cNvSpPr txBox="1"/>
          <p:nvPr/>
        </p:nvSpPr>
        <p:spPr>
          <a:xfrm>
            <a:off x="6766560" y="1920240"/>
            <a:ext cx="4882896" cy="640080"/>
          </a:xfrm>
          <a:prstGeom prst="rect">
            <a:avLst/>
          </a:prstGeom>
          <a:noFill/>
        </p:spPr>
        <p:txBody>
          <a:bodyPr wrap="square" lIns="0" rIns="0" tIns="0" bIns="0" anchor="t">
            <a:spAutoFit/>
          </a:bodyPr>
          <a:lstStyle/>
          <a:p>
            <a:r>
              <a:rPr sz="1600" b="0">
                <a:solidFill>
                  <a:srgbClr val="585858"/>
                </a:solidFill>
                <a:latin typeface="Arial"/>
              </a:rPr>
              <a:t>Kiểu bảng; Grand Totals, Subtotals: bật / tắt dòng tổng.</a:t>
            </a:r>
          </a:p>
        </p:txBody>
      </p:sp>
      <p:pic>
        <p:nvPicPr>
          <p:cNvPr id="9" name="Screenshot S14_value_field_settings" descr="S14_value_field_settings.png"/>
          <p:cNvPicPr>
            <a:picLocks noChangeAspect="1"/>
          </p:cNvPicPr>
          <p:nvPr/>
        </p:nvPicPr>
        <p:blipFill>
          <a:blip r:embed="rId2"/>
          <a:stretch>
            <a:fillRect/>
          </a:stretch>
        </p:blipFill>
        <p:spPr>
          <a:xfrm>
            <a:off x="1907715" y="2697480"/>
            <a:ext cx="5548025" cy="3337560"/>
          </a:xfrm>
          <a:prstGeom prst="rect">
            <a:avLst/>
          </a:prstGeom>
          <a:ln w="9525">
            <a:solidFill>
              <a:srgbClr val="D9DEE8"/>
            </a:solidFill>
          </a:ln>
        </p:spPr>
      </p:pic>
      <p:sp>
        <p:nvSpPr>
          <p:cNvPr id="10" name="TIP callout"/>
          <p:cNvSpPr/>
          <p:nvPr/>
        </p:nvSpPr>
        <p:spPr>
          <a:xfrm>
            <a:off x="8001000" y="2697480"/>
            <a:ext cx="3648456" cy="16002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8110727" y="28072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2" name="TIP text"/>
          <p:cNvSpPr txBox="1"/>
          <p:nvPr/>
        </p:nvSpPr>
        <p:spPr>
          <a:xfrm>
            <a:off x="8686800" y="2788920"/>
            <a:ext cx="2852928" cy="1417320"/>
          </a:xfrm>
          <a:prstGeom prst="rect">
            <a:avLst/>
          </a:prstGeom>
          <a:noFill/>
        </p:spPr>
        <p:txBody>
          <a:bodyPr wrap="square" lIns="0" rIns="0" tIns="0" bIns="0" anchor="t">
            <a:spAutoFit/>
          </a:bodyPr>
          <a:lstStyle/>
          <a:p>
            <a:r>
              <a:rPr sz="1600" b="0">
                <a:solidFill>
                  <a:srgbClr val="1B2230"/>
                </a:solidFill>
                <a:latin typeface="Arial"/>
              </a:rPr>
              <a:t>Định dạng qua Value Field Settings, KHÔNG bôi đen ô: Pivot đổi bố cục là mất định dạng.</a:t>
            </a:r>
          </a:p>
        </p:txBody>
      </p:sp>
      <p:sp>
        <p:nvSpPr>
          <p:cNvPr id="13" name="PRO TIP callout"/>
          <p:cNvSpPr/>
          <p:nvPr/>
        </p:nvSpPr>
        <p:spPr>
          <a:xfrm>
            <a:off x="8001000" y="4434840"/>
            <a:ext cx="3648456" cy="16002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RO TIP chip"/>
          <p:cNvSpPr/>
          <p:nvPr/>
        </p:nvSpPr>
        <p:spPr>
          <a:xfrm>
            <a:off x="8110727" y="454456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5" name="PRO TIP text"/>
          <p:cNvSpPr txBox="1"/>
          <p:nvPr/>
        </p:nvSpPr>
        <p:spPr>
          <a:xfrm>
            <a:off x="9208008" y="4526279"/>
            <a:ext cx="2331720" cy="1417320"/>
          </a:xfrm>
          <a:prstGeom prst="rect">
            <a:avLst/>
          </a:prstGeom>
          <a:noFill/>
        </p:spPr>
        <p:txBody>
          <a:bodyPr wrap="square" lIns="0" rIns="0" tIns="0" bIns="0" anchor="t">
            <a:spAutoFit/>
          </a:bodyPr>
          <a:lstStyle/>
          <a:p>
            <a:r>
              <a:rPr sz="1600" b="0">
                <a:solidFill>
                  <a:srgbClr val="1B2230"/>
                </a:solidFill>
                <a:latin typeface="Arial"/>
              </a:rPr>
              <a:t>Conditional Formatting trong Pivot: chọn “All cells showing ‘Doanh thu’ values…” để quy tắc tự áp cho ô mới.</a:t>
            </a:r>
          </a:p>
        </p:txBody>
      </p:sp>
      <p:sp>
        <p:nvSpPr>
          <p:cNvPr id="16"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Demo/B3_Demo_Pivot.xlsx, sheet PV_MienThang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Compact · Outline · Tabular</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ĐỊNH DẠNG</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400" b="1">
                <a:solidFill>
                  <a:srgbClr val="C00000"/>
                </a:solidFill>
                <a:latin typeface="Arial"/>
              </a:rPr>
              <a:t>Report Layout</a:t>
            </a:r>
          </a:p>
        </p:txBody>
      </p:sp>
      <p:sp>
        <p:nvSpPr>
          <p:cNvPr id="5" name="Tool purpose"/>
          <p:cNvSpPr txBox="1"/>
          <p:nvPr/>
        </p:nvSpPr>
        <p:spPr>
          <a:xfrm>
            <a:off x="1527048" y="1920240"/>
            <a:ext cx="10122408" cy="411480"/>
          </a:xfrm>
          <a:prstGeom prst="rect">
            <a:avLst/>
          </a:prstGeom>
          <a:noFill/>
        </p:spPr>
        <p:txBody>
          <a:bodyPr wrap="square" lIns="0" rIns="0" tIns="0" bIns="0" anchor="t">
            <a:spAutoFit/>
          </a:bodyPr>
          <a:lstStyle/>
          <a:p>
            <a:r>
              <a:rPr sz="1600" b="0">
                <a:solidFill>
                  <a:srgbClr val="585858"/>
                </a:solidFill>
                <a:latin typeface="Arial"/>
              </a:rPr>
              <a:t>Cách xếp nhiều trường trên hàng. Outline: mỗi trường một cột, nên dùng khi phân tích.</a:t>
            </a:r>
          </a:p>
        </p:txBody>
      </p:sp>
      <p:sp>
        <p:nvSpPr>
          <p:cNvPr id="6" name="TextBox"/>
          <p:cNvSpPr txBox="1"/>
          <p:nvPr/>
        </p:nvSpPr>
        <p:spPr>
          <a:xfrm>
            <a:off x="1527048" y="2331720"/>
            <a:ext cx="3246120" cy="320040"/>
          </a:xfrm>
          <a:prstGeom prst="rect">
            <a:avLst/>
          </a:prstGeom>
          <a:noFill/>
        </p:spPr>
        <p:txBody>
          <a:bodyPr wrap="square" lIns="0" rIns="0" tIns="0" bIns="0" anchor="t">
            <a:spAutoFit/>
          </a:bodyPr>
          <a:lstStyle/>
          <a:p>
            <a:r>
              <a:rPr sz="1500" b="1">
                <a:solidFill>
                  <a:srgbClr val="203864"/>
                </a:solidFill>
                <a:latin typeface="Arial"/>
              </a:rPr>
              <a:t>Compact (mặc định)</a:t>
            </a:r>
          </a:p>
        </p:txBody>
      </p:sp>
      <p:pic>
        <p:nvPicPr>
          <p:cNvPr id="7" name="Screenshot S15a_compact" descr="S15a_compact.png"/>
          <p:cNvPicPr>
            <a:picLocks noChangeAspect="1"/>
          </p:cNvPicPr>
          <p:nvPr/>
        </p:nvPicPr>
        <p:blipFill>
          <a:blip r:embed="rId2"/>
          <a:stretch>
            <a:fillRect/>
          </a:stretch>
        </p:blipFill>
        <p:spPr>
          <a:xfrm>
            <a:off x="1527048" y="2773594"/>
            <a:ext cx="3246120" cy="2225212"/>
          </a:xfrm>
          <a:prstGeom prst="rect">
            <a:avLst/>
          </a:prstGeom>
          <a:ln w="9525">
            <a:solidFill>
              <a:srgbClr val="D9DEE8"/>
            </a:solidFill>
          </a:ln>
        </p:spPr>
      </p:pic>
      <p:sp>
        <p:nvSpPr>
          <p:cNvPr id="8" name="TextBox"/>
          <p:cNvSpPr txBox="1"/>
          <p:nvPr/>
        </p:nvSpPr>
        <p:spPr>
          <a:xfrm>
            <a:off x="4956048" y="2331720"/>
            <a:ext cx="3246120" cy="320040"/>
          </a:xfrm>
          <a:prstGeom prst="rect">
            <a:avLst/>
          </a:prstGeom>
          <a:noFill/>
        </p:spPr>
        <p:txBody>
          <a:bodyPr wrap="square" lIns="0" rIns="0" tIns="0" bIns="0" anchor="t">
            <a:spAutoFit/>
          </a:bodyPr>
          <a:lstStyle/>
          <a:p>
            <a:r>
              <a:rPr sz="1500" b="1">
                <a:solidFill>
                  <a:srgbClr val="203864"/>
                </a:solidFill>
                <a:latin typeface="Arial"/>
              </a:rPr>
              <a:t>Outline</a:t>
            </a:r>
          </a:p>
        </p:txBody>
      </p:sp>
      <p:pic>
        <p:nvPicPr>
          <p:cNvPr id="9" name="Screenshot S15b_outline" descr="S15b_outline.png"/>
          <p:cNvPicPr>
            <a:picLocks noChangeAspect="1"/>
          </p:cNvPicPr>
          <p:nvPr/>
        </p:nvPicPr>
        <p:blipFill>
          <a:blip r:embed="rId3"/>
          <a:stretch>
            <a:fillRect/>
          </a:stretch>
        </p:blipFill>
        <p:spPr>
          <a:xfrm>
            <a:off x="4956048" y="2773594"/>
            <a:ext cx="3246120" cy="2225212"/>
          </a:xfrm>
          <a:prstGeom prst="rect">
            <a:avLst/>
          </a:prstGeom>
          <a:ln w="9525">
            <a:solidFill>
              <a:srgbClr val="D9DEE8"/>
            </a:solidFill>
          </a:ln>
        </p:spPr>
      </p:pic>
      <p:sp>
        <p:nvSpPr>
          <p:cNvPr id="10" name="TextBox"/>
          <p:cNvSpPr txBox="1"/>
          <p:nvPr/>
        </p:nvSpPr>
        <p:spPr>
          <a:xfrm>
            <a:off x="8385048" y="2331720"/>
            <a:ext cx="3246120" cy="320040"/>
          </a:xfrm>
          <a:prstGeom prst="rect">
            <a:avLst/>
          </a:prstGeom>
          <a:noFill/>
        </p:spPr>
        <p:txBody>
          <a:bodyPr wrap="square" lIns="0" rIns="0" tIns="0" bIns="0" anchor="t">
            <a:spAutoFit/>
          </a:bodyPr>
          <a:lstStyle/>
          <a:p>
            <a:r>
              <a:rPr sz="1500" b="1">
                <a:solidFill>
                  <a:srgbClr val="203864"/>
                </a:solidFill>
                <a:latin typeface="Arial"/>
              </a:rPr>
              <a:t>Tabular + Repeat labels</a:t>
            </a:r>
          </a:p>
        </p:txBody>
      </p:sp>
      <p:pic>
        <p:nvPicPr>
          <p:cNvPr id="11" name="Screenshot S15c_tabular" descr="S15c_tabular.png"/>
          <p:cNvPicPr>
            <a:picLocks noChangeAspect="1"/>
          </p:cNvPicPr>
          <p:nvPr/>
        </p:nvPicPr>
        <p:blipFill>
          <a:blip r:embed="rId4"/>
          <a:stretch>
            <a:fillRect/>
          </a:stretch>
        </p:blipFill>
        <p:spPr>
          <a:xfrm>
            <a:off x="8385048" y="2773594"/>
            <a:ext cx="3246120" cy="2225212"/>
          </a:xfrm>
          <a:prstGeom prst="rect">
            <a:avLst/>
          </a:prstGeom>
          <a:ln w="9525">
            <a:solidFill>
              <a:srgbClr val="D9DEE8"/>
            </a:solidFill>
          </a:ln>
        </p:spPr>
      </p:pic>
      <p:sp>
        <p:nvSpPr>
          <p:cNvPr id="12" name="TIP callout"/>
          <p:cNvSpPr/>
          <p:nvPr/>
        </p:nvSpPr>
        <p:spPr>
          <a:xfrm>
            <a:off x="1527048" y="5212080"/>
            <a:ext cx="10122408" cy="8229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636776" y="53218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4" name="TIP text"/>
          <p:cNvSpPr txBox="1"/>
          <p:nvPr/>
        </p:nvSpPr>
        <p:spPr>
          <a:xfrm>
            <a:off x="2212848" y="5303520"/>
            <a:ext cx="9326880" cy="640080"/>
          </a:xfrm>
          <a:prstGeom prst="rect">
            <a:avLst/>
          </a:prstGeom>
          <a:noFill/>
        </p:spPr>
        <p:txBody>
          <a:bodyPr wrap="square" lIns="0" rIns="0" tIns="0" bIns="0" anchor="t">
            <a:spAutoFit/>
          </a:bodyPr>
          <a:lstStyle/>
          <a:p>
            <a:r>
              <a:rPr sz="1600" b="0">
                <a:solidFill>
                  <a:srgbClr val="1B2230"/>
                </a:solidFill>
                <a:latin typeface="Arial"/>
              </a:rPr>
              <a:t>Muốn chép kết quả Pivot thành bảng dữ liệu mới: Tabular + Repeat All Item Labels + tắt Subtotals và Grand Totals.</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Demo/B3_Demo_Pivot.xlsx, sheet PV_MienThang (Region + Store_Code trên hàng)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Nghỉ 10 phút</a:t>
            </a:r>
          </a:p>
        </p:txBody>
      </p:sp>
      <p:sp>
        <p:nvSpPr>
          <p:cNvPr id="3" name="Text Placeholder 2"/>
          <p:cNvSpPr>
            <a:spLocks noGrp="1"/>
          </p:cNvSpPr>
          <p:nvPr>
            <p:ph type="body" idx="1"/>
          </p:nvPr>
        </p:nvSpPr>
        <p:spPr/>
        <p:txBody>
          <a:bodyPr/>
          <a:lstStyle/>
          <a:p>
            <a:r>
              <a:t>Trước khi quay lại: mở Demo/B3_Demo_Loi_Du_lieu_HocVien.xlsx (trợ giảng đã gửi)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Sắp xếp, lọc, nhóm, đào sâu: đi tìm câu chuyện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Sort · Value Filters (Top 5)</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SẮP XẾP · NHÓM</a:t>
            </a:r>
          </a:p>
        </p:txBody>
      </p:sp>
      <p:sp>
        <p:nvSpPr>
          <p:cNvPr id="4" name="Tool name"/>
          <p:cNvSpPr txBox="1"/>
          <p:nvPr/>
        </p:nvSpPr>
        <p:spPr>
          <a:xfrm>
            <a:off x="1527048" y="1463040"/>
            <a:ext cx="4846320" cy="457200"/>
          </a:xfrm>
          <a:prstGeom prst="rect">
            <a:avLst/>
          </a:prstGeom>
          <a:noFill/>
        </p:spPr>
        <p:txBody>
          <a:bodyPr wrap="square" lIns="0" rIns="0" tIns="0" bIns="0" anchor="t">
            <a:spAutoFit/>
          </a:bodyPr>
          <a:lstStyle/>
          <a:p>
            <a:r>
              <a:rPr sz="2400" b="1">
                <a:solidFill>
                  <a:srgbClr val="C00000"/>
                </a:solidFill>
                <a:latin typeface="Arial"/>
              </a:rPr>
              <a:t>Sort</a:t>
            </a:r>
          </a:p>
        </p:txBody>
      </p:sp>
      <p:sp>
        <p:nvSpPr>
          <p:cNvPr id="5" name="Tool purpose"/>
          <p:cNvSpPr txBox="1"/>
          <p:nvPr/>
        </p:nvSpPr>
        <p:spPr>
          <a:xfrm>
            <a:off x="1527048" y="1920240"/>
            <a:ext cx="4846320" cy="411480"/>
          </a:xfrm>
          <a:prstGeom prst="rect">
            <a:avLst/>
          </a:prstGeom>
          <a:noFill/>
        </p:spPr>
        <p:txBody>
          <a:bodyPr wrap="square" lIns="0" rIns="0" tIns="0" bIns="0" anchor="t">
            <a:spAutoFit/>
          </a:bodyPr>
          <a:lstStyle/>
          <a:p>
            <a:r>
              <a:rPr sz="1600" b="0">
                <a:solidFill>
                  <a:srgbClr val="585858"/>
                </a:solidFill>
                <a:latin typeface="Arial"/>
              </a:rPr>
              <a:t>Sắp xếp mục theo tên hoặc theo giá trị.</a:t>
            </a:r>
          </a:p>
        </p:txBody>
      </p:sp>
      <p:cxnSp>
        <p:nvCxnSpPr>
          <p:cNvPr id="6" name="Connector 5"/>
          <p:cNvCxnSpPr/>
          <p:nvPr/>
        </p:nvCxnSpPr>
        <p:spPr>
          <a:xfrm>
            <a:off x="6583680" y="1463040"/>
            <a:ext cx="0" cy="91440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7" name="Tool name"/>
          <p:cNvSpPr txBox="1"/>
          <p:nvPr/>
        </p:nvSpPr>
        <p:spPr>
          <a:xfrm>
            <a:off x="6766560" y="1463040"/>
            <a:ext cx="4882896" cy="457200"/>
          </a:xfrm>
          <a:prstGeom prst="rect">
            <a:avLst/>
          </a:prstGeom>
          <a:noFill/>
        </p:spPr>
        <p:txBody>
          <a:bodyPr wrap="square" lIns="0" rIns="0" tIns="0" bIns="0" anchor="t">
            <a:spAutoFit/>
          </a:bodyPr>
          <a:lstStyle/>
          <a:p>
            <a:r>
              <a:rPr sz="2400" b="1">
                <a:solidFill>
                  <a:srgbClr val="C00000"/>
                </a:solidFill>
                <a:latin typeface="Arial"/>
              </a:rPr>
              <a:t>Label / Value Filters</a:t>
            </a:r>
          </a:p>
        </p:txBody>
      </p:sp>
      <p:sp>
        <p:nvSpPr>
          <p:cNvPr id="8" name="Tool purpose"/>
          <p:cNvSpPr txBox="1"/>
          <p:nvPr/>
        </p:nvSpPr>
        <p:spPr>
          <a:xfrm>
            <a:off x="6766560" y="1920240"/>
            <a:ext cx="4882896" cy="411480"/>
          </a:xfrm>
          <a:prstGeom prst="rect">
            <a:avLst/>
          </a:prstGeom>
          <a:noFill/>
        </p:spPr>
        <p:txBody>
          <a:bodyPr wrap="square" lIns="0" rIns="0" tIns="0" bIns="0" anchor="t">
            <a:spAutoFit/>
          </a:bodyPr>
          <a:lstStyle/>
          <a:p>
            <a:r>
              <a:rPr sz="1600" b="0">
                <a:solidFill>
                  <a:srgbClr val="585858"/>
                </a:solidFill>
                <a:latin typeface="Arial"/>
              </a:rPr>
              <a:t>Lọc theo tên (chứa…) hoặc theo giá trị (Top 10…).</a:t>
            </a:r>
          </a:p>
        </p:txBody>
      </p:sp>
      <p:pic>
        <p:nvPicPr>
          <p:cNvPr id="9" name="Screenshot S18a_sort_thu" descr="S18a_sort_thu.png"/>
          <p:cNvPicPr>
            <a:picLocks noChangeAspect="1"/>
          </p:cNvPicPr>
          <p:nvPr/>
        </p:nvPicPr>
        <p:blipFill>
          <a:blip r:embed="rId2"/>
          <a:stretch>
            <a:fillRect/>
          </a:stretch>
        </p:blipFill>
        <p:spPr>
          <a:xfrm>
            <a:off x="1773936" y="2423160"/>
            <a:ext cx="2523744" cy="2743200"/>
          </a:xfrm>
          <a:prstGeom prst="rect">
            <a:avLst/>
          </a:prstGeom>
          <a:ln w="9525">
            <a:solidFill>
              <a:srgbClr val="D9DEE8"/>
            </a:solidFill>
          </a:ln>
        </p:spPr>
      </p:pic>
      <p:sp>
        <p:nvSpPr>
          <p:cNvPr id="10" name="Stat card"/>
          <p:cNvSpPr/>
          <p:nvPr/>
        </p:nvSpPr>
        <p:spPr>
          <a:xfrm>
            <a:off x="4663440" y="2423160"/>
            <a:ext cx="1828800" cy="27432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4846320" y="2514600"/>
            <a:ext cx="1463040" cy="2560320"/>
          </a:xfrm>
          <a:prstGeom prst="rect">
            <a:avLst/>
          </a:prstGeom>
          <a:noFill/>
        </p:spPr>
        <p:txBody>
          <a:bodyPr wrap="square" lIns="0" rIns="0" tIns="0" bIns="0" anchor="ctr">
            <a:spAutoFit/>
          </a:bodyPr>
          <a:lstStyle/>
          <a:p>
            <a:r>
              <a:rPr sz="1400" b="0">
                <a:solidFill>
                  <a:srgbClr val="585858"/>
                </a:solidFill>
                <a:latin typeface="Arial"/>
              </a:rPr>
              <a:t>T7–CN so với T2–T6</a:t>
            </a:r>
          </a:p>
          <a:p>
            <a:pPr>
              <a:spcBef>
                <a:spcPts val="200"/>
              </a:spcBef>
            </a:pPr>
            <a:r>
              <a:rPr sz="3000" b="1">
                <a:solidFill>
                  <a:srgbClr val="203864"/>
                </a:solidFill>
                <a:latin typeface="Arial"/>
              </a:rPr>
              <a:t>+25%</a:t>
            </a:r>
          </a:p>
          <a:p>
            <a:pPr>
              <a:spcBef>
                <a:spcPts val="200"/>
              </a:spcBef>
            </a:pPr>
            <a:r>
              <a:rPr sz="1400" b="0">
                <a:solidFill>
                  <a:srgbClr val="1B2230"/>
                </a:solidFill>
                <a:latin typeface="Arial"/>
              </a:rPr>
              <a:t>157,1 so với 125,4 triệu / thứ</a:t>
            </a:r>
          </a:p>
        </p:txBody>
      </p:sp>
      <p:pic>
        <p:nvPicPr>
          <p:cNvPr id="12" name="Screenshot S18b_top5" descr="S18b_top5.png"/>
          <p:cNvPicPr>
            <a:picLocks noChangeAspect="1"/>
          </p:cNvPicPr>
          <p:nvPr/>
        </p:nvPicPr>
        <p:blipFill>
          <a:blip r:embed="rId3"/>
          <a:stretch>
            <a:fillRect/>
          </a:stretch>
        </p:blipFill>
        <p:spPr>
          <a:xfrm>
            <a:off x="6766560" y="2426413"/>
            <a:ext cx="4882896" cy="2736693"/>
          </a:xfrm>
          <a:prstGeom prst="rect">
            <a:avLst/>
          </a:prstGeom>
          <a:ln w="9525">
            <a:solidFill>
              <a:srgbClr val="D9DEE8"/>
            </a:solidFill>
          </a:ln>
        </p:spPr>
      </p:pic>
      <p:sp>
        <p:nvSpPr>
          <p:cNvPr id="13" name="PRO TIP callout"/>
          <p:cNvSpPr/>
          <p:nvPr/>
        </p:nvSpPr>
        <p:spPr>
          <a:xfrm>
            <a:off x="1527048" y="530352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RO TIP chip"/>
          <p:cNvSpPr/>
          <p:nvPr/>
        </p:nvSpPr>
        <p:spPr>
          <a:xfrm>
            <a:off x="1636776" y="541324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5" name="PRO TIP text"/>
          <p:cNvSpPr txBox="1"/>
          <p:nvPr/>
        </p:nvSpPr>
        <p:spPr>
          <a:xfrm>
            <a:off x="2734056" y="5394959"/>
            <a:ext cx="8805672" cy="594359"/>
          </a:xfrm>
          <a:prstGeom prst="rect">
            <a:avLst/>
          </a:prstGeom>
          <a:noFill/>
        </p:spPr>
        <p:txBody>
          <a:bodyPr wrap="square" lIns="0" rIns="0" tIns="0" bIns="0" anchor="t">
            <a:spAutoFit/>
          </a:bodyPr>
          <a:lstStyle/>
          <a:p>
            <a:r>
              <a:rPr sz="1600" b="0">
                <a:solidFill>
                  <a:srgbClr val="1B2230"/>
                </a:solidFill>
                <a:latin typeface="Arial"/>
              </a:rPr>
              <a:t>Thứ tự T2 → CN cố định: tạo Custom List (File → Options → Advanced → Edit Custom Lists), rồi Sort A to Z.</a:t>
            </a:r>
          </a:p>
        </p:txBody>
      </p:sp>
      <p:sp>
        <p:nvSpPr>
          <p:cNvPr id="16"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Practice/B3_MCI_Mart_Q1_2025_Answer.xlsx, sheet PV_Thu · Demo/B3_Demo_Pivot.xlsx, sheet PV_Top5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Group: theo ngày, theo nhóm tự chọn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SẮP XẾP · NHÓM</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400" b="1">
                <a:solidFill>
                  <a:srgbClr val="C00000"/>
                </a:solidFill>
                <a:latin typeface="Arial"/>
              </a:rPr>
              <a:t>Group</a:t>
            </a:r>
          </a:p>
        </p:txBody>
      </p:sp>
      <p:sp>
        <p:nvSpPr>
          <p:cNvPr id="5" name="Tool purpose"/>
          <p:cNvSpPr txBox="1"/>
          <p:nvPr/>
        </p:nvSpPr>
        <p:spPr>
          <a:xfrm>
            <a:off x="1527048" y="1920240"/>
            <a:ext cx="10122408" cy="411480"/>
          </a:xfrm>
          <a:prstGeom prst="rect">
            <a:avLst/>
          </a:prstGeom>
          <a:noFill/>
        </p:spPr>
        <p:txBody>
          <a:bodyPr wrap="square" lIns="0" rIns="0" tIns="0" bIns="0" anchor="t">
            <a:spAutoFit/>
          </a:bodyPr>
          <a:lstStyle/>
          <a:p>
            <a:r>
              <a:rPr sz="1600" b="0">
                <a:solidFill>
                  <a:srgbClr val="585858"/>
                </a:solidFill>
                <a:latin typeface="Arial"/>
              </a:rPr>
              <a:t>Gộp mục thành nhóm mới: ngày → tuần / tháng / quý · số → khoảng · chữ → nhóm tự đặt tên.</a:t>
            </a:r>
          </a:p>
        </p:txBody>
      </p:sp>
      <p:pic>
        <p:nvPicPr>
          <p:cNvPr id="6" name="Screenshot S19a_group_7days" descr="S19a_group_7days.png"/>
          <p:cNvPicPr>
            <a:picLocks noChangeAspect="1"/>
          </p:cNvPicPr>
          <p:nvPr/>
        </p:nvPicPr>
        <p:blipFill>
          <a:blip r:embed="rId2"/>
          <a:stretch>
            <a:fillRect/>
          </a:stretch>
        </p:blipFill>
        <p:spPr>
          <a:xfrm>
            <a:off x="2452645" y="2331720"/>
            <a:ext cx="3269446" cy="2743200"/>
          </a:xfrm>
          <a:prstGeom prst="rect">
            <a:avLst/>
          </a:prstGeom>
          <a:ln w="9525">
            <a:solidFill>
              <a:srgbClr val="D9DEE8"/>
            </a:solidFill>
          </a:ln>
        </p:spPr>
      </p:pic>
      <p:sp>
        <p:nvSpPr>
          <p:cNvPr id="7" name="Week 1"/>
          <p:cNvSpPr/>
          <p:nvPr/>
        </p:nvSpPr>
        <p:spPr>
          <a:xfrm>
            <a:off x="6812280" y="2331720"/>
            <a:ext cx="1517904" cy="777240"/>
          </a:xfrm>
          <a:prstGeom prst="roundRect">
            <a:avLst>
              <a:gd name="adj" fmla="val 8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6867144" y="2350008"/>
            <a:ext cx="1408176" cy="740664"/>
          </a:xfrm>
          <a:prstGeom prst="rect">
            <a:avLst/>
          </a:prstGeom>
          <a:noFill/>
        </p:spPr>
        <p:txBody>
          <a:bodyPr wrap="square" lIns="0" rIns="0" tIns="0" bIns="0" anchor="ctr">
            <a:spAutoFit/>
          </a:bodyPr>
          <a:lstStyle/>
          <a:p>
            <a:pPr algn="ctr"/>
            <a:r>
              <a:rPr sz="1800" b="1">
                <a:solidFill>
                  <a:srgbClr val="203864"/>
                </a:solidFill>
                <a:latin typeface="Arial"/>
              </a:rPr>
              <a:t>118,8</a:t>
            </a:r>
          </a:p>
          <a:p>
            <a:pPr algn="ctr">
              <a:spcBef>
                <a:spcPts val="200"/>
              </a:spcBef>
            </a:pPr>
            <a:r>
              <a:rPr sz="1100" b="0">
                <a:solidFill>
                  <a:srgbClr val="585858"/>
                </a:solidFill>
                <a:latin typeface="Arial"/>
              </a:rPr>
              <a:t>08–14/01</a:t>
            </a:r>
          </a:p>
        </p:txBody>
      </p:sp>
      <p:sp>
        <p:nvSpPr>
          <p:cNvPr id="9" name="Week 2"/>
          <p:cNvSpPr/>
          <p:nvPr/>
        </p:nvSpPr>
        <p:spPr>
          <a:xfrm>
            <a:off x="8439912" y="2331720"/>
            <a:ext cx="1517904" cy="777240"/>
          </a:xfrm>
          <a:prstGeom prst="roundRect">
            <a:avLst>
              <a:gd name="adj" fmla="val 8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8494776" y="2350008"/>
            <a:ext cx="1408176" cy="740664"/>
          </a:xfrm>
          <a:prstGeom prst="rect">
            <a:avLst/>
          </a:prstGeom>
          <a:noFill/>
        </p:spPr>
        <p:txBody>
          <a:bodyPr wrap="square" lIns="0" rIns="0" tIns="0" bIns="0" anchor="ctr">
            <a:spAutoFit/>
          </a:bodyPr>
          <a:lstStyle/>
          <a:p>
            <a:pPr algn="ctr"/>
            <a:r>
              <a:rPr sz="1800" b="1">
                <a:solidFill>
                  <a:srgbClr val="203864"/>
                </a:solidFill>
                <a:latin typeface="Arial"/>
              </a:rPr>
              <a:t>111,7</a:t>
            </a:r>
          </a:p>
          <a:p>
            <a:pPr algn="ctr">
              <a:spcBef>
                <a:spcPts val="200"/>
              </a:spcBef>
            </a:pPr>
            <a:r>
              <a:rPr sz="1100" b="0">
                <a:solidFill>
                  <a:srgbClr val="585858"/>
                </a:solidFill>
                <a:latin typeface="Arial"/>
              </a:rPr>
              <a:t>15–21/01</a:t>
            </a:r>
          </a:p>
        </p:txBody>
      </p:sp>
      <p:sp>
        <p:nvSpPr>
          <p:cNvPr id="11" name="Week 3"/>
          <p:cNvSpPr/>
          <p:nvPr/>
        </p:nvSpPr>
        <p:spPr>
          <a:xfrm>
            <a:off x="10067544" y="2331720"/>
            <a:ext cx="1517904" cy="777240"/>
          </a:xfrm>
          <a:prstGeom prst="roundRect">
            <a:avLst>
              <a:gd name="adj" fmla="val 8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10122408" y="2350008"/>
            <a:ext cx="1408176" cy="740664"/>
          </a:xfrm>
          <a:prstGeom prst="rect">
            <a:avLst/>
          </a:prstGeom>
          <a:noFill/>
        </p:spPr>
        <p:txBody>
          <a:bodyPr wrap="square" lIns="0" rIns="0" tIns="0" bIns="0" anchor="ctr">
            <a:spAutoFit/>
          </a:bodyPr>
          <a:lstStyle/>
          <a:p>
            <a:pPr algn="ctr"/>
            <a:r>
              <a:rPr sz="1800" b="1">
                <a:solidFill>
                  <a:srgbClr val="203864"/>
                </a:solidFill>
                <a:latin typeface="Arial"/>
              </a:rPr>
              <a:t>112,9</a:t>
            </a:r>
          </a:p>
          <a:p>
            <a:pPr algn="ctr">
              <a:spcBef>
                <a:spcPts val="200"/>
              </a:spcBef>
            </a:pPr>
            <a:r>
              <a:rPr sz="1100" b="0">
                <a:solidFill>
                  <a:srgbClr val="585858"/>
                </a:solidFill>
                <a:latin typeface="Arial"/>
              </a:rPr>
              <a:t>22–28/01</a:t>
            </a:r>
          </a:p>
        </p:txBody>
      </p:sp>
      <p:sp>
        <p:nvSpPr>
          <p:cNvPr id="13" name="Week 4"/>
          <p:cNvSpPr/>
          <p:nvPr/>
        </p:nvSpPr>
        <p:spPr>
          <a:xfrm>
            <a:off x="6812280" y="3200400"/>
            <a:ext cx="1517904" cy="777240"/>
          </a:xfrm>
          <a:prstGeom prst="roundRect">
            <a:avLst>
              <a:gd name="adj" fmla="val 8000"/>
            </a:avLst>
          </a:prstGeom>
          <a:solidFill>
            <a:srgbClr val="FFC7CE"/>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6867144" y="3218688"/>
            <a:ext cx="1408176" cy="740664"/>
          </a:xfrm>
          <a:prstGeom prst="rect">
            <a:avLst/>
          </a:prstGeom>
          <a:noFill/>
        </p:spPr>
        <p:txBody>
          <a:bodyPr wrap="square" lIns="0" rIns="0" tIns="0" bIns="0" anchor="ctr">
            <a:spAutoFit/>
          </a:bodyPr>
          <a:lstStyle/>
          <a:p>
            <a:pPr algn="ctr"/>
            <a:r>
              <a:rPr sz="1800" b="1">
                <a:solidFill>
                  <a:srgbClr val="9C0006"/>
                </a:solidFill>
                <a:latin typeface="Arial"/>
              </a:rPr>
              <a:t>31,6</a:t>
            </a:r>
          </a:p>
          <a:p>
            <a:pPr algn="ctr">
              <a:spcBef>
                <a:spcPts val="200"/>
              </a:spcBef>
            </a:pPr>
            <a:r>
              <a:rPr sz="1100" b="0">
                <a:solidFill>
                  <a:srgbClr val="585858"/>
                </a:solidFill>
                <a:latin typeface="Arial"/>
              </a:rPr>
              <a:t>29/01–04/02</a:t>
            </a:r>
          </a:p>
        </p:txBody>
      </p:sp>
      <p:sp>
        <p:nvSpPr>
          <p:cNvPr id="15" name="Week 5"/>
          <p:cNvSpPr/>
          <p:nvPr/>
        </p:nvSpPr>
        <p:spPr>
          <a:xfrm>
            <a:off x="8439912" y="3200400"/>
            <a:ext cx="1517904" cy="777240"/>
          </a:xfrm>
          <a:prstGeom prst="roundRect">
            <a:avLst>
              <a:gd name="adj" fmla="val 8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p:cNvSpPr txBox="1"/>
          <p:nvPr/>
        </p:nvSpPr>
        <p:spPr>
          <a:xfrm>
            <a:off x="8494776" y="3218688"/>
            <a:ext cx="1408176" cy="740664"/>
          </a:xfrm>
          <a:prstGeom prst="rect">
            <a:avLst/>
          </a:prstGeom>
          <a:noFill/>
        </p:spPr>
        <p:txBody>
          <a:bodyPr wrap="square" lIns="0" rIns="0" tIns="0" bIns="0" anchor="ctr">
            <a:spAutoFit/>
          </a:bodyPr>
          <a:lstStyle/>
          <a:p>
            <a:pPr algn="ctr"/>
            <a:r>
              <a:rPr sz="1800" b="1">
                <a:solidFill>
                  <a:srgbClr val="203864"/>
                </a:solidFill>
                <a:latin typeface="Arial"/>
              </a:rPr>
              <a:t>53–74</a:t>
            </a:r>
          </a:p>
          <a:p>
            <a:pPr algn="ctr">
              <a:spcBef>
                <a:spcPts val="200"/>
              </a:spcBef>
            </a:pPr>
            <a:r>
              <a:rPr sz="1100" b="0">
                <a:solidFill>
                  <a:srgbClr val="585858"/>
                </a:solidFill>
                <a:latin typeface="Arial"/>
              </a:rPr>
              <a:t>tuần thường</a:t>
            </a:r>
          </a:p>
        </p:txBody>
      </p:sp>
      <p:sp>
        <p:nvSpPr>
          <p:cNvPr id="17" name="TextBox"/>
          <p:cNvSpPr txBox="1"/>
          <p:nvPr/>
        </p:nvSpPr>
        <p:spPr>
          <a:xfrm>
            <a:off x="10067544" y="3200400"/>
            <a:ext cx="1581912" cy="777240"/>
          </a:xfrm>
          <a:prstGeom prst="rect">
            <a:avLst/>
          </a:prstGeom>
          <a:noFill/>
        </p:spPr>
        <p:txBody>
          <a:bodyPr wrap="square" lIns="0" rIns="0" tIns="0" bIns="0" anchor="ctr">
            <a:spAutoFit/>
          </a:bodyPr>
          <a:lstStyle/>
          <a:p>
            <a:r>
              <a:rPr sz="1200" b="0">
                <a:solidFill>
                  <a:srgbClr val="6B6F76"/>
                </a:solidFill>
                <a:latin typeface="Arial"/>
              </a:rPr>
              <a:t>triệu VNĐ / tuần; mùng 1 Tết: 29/01</a:t>
            </a:r>
          </a:p>
        </p:txBody>
      </p:sp>
      <p:pic>
        <p:nvPicPr>
          <p:cNvPr id="18" name="Screenshot S19b_cannot_group" descr="S19b_cannot_group.png"/>
          <p:cNvPicPr>
            <a:picLocks noChangeAspect="1"/>
          </p:cNvPicPr>
          <p:nvPr/>
        </p:nvPicPr>
        <p:blipFill>
          <a:blip r:embed="rId3"/>
          <a:stretch>
            <a:fillRect/>
          </a:stretch>
        </p:blipFill>
        <p:spPr>
          <a:xfrm>
            <a:off x="7515532" y="4114800"/>
            <a:ext cx="3430672" cy="960120"/>
          </a:xfrm>
          <a:prstGeom prst="rect">
            <a:avLst/>
          </a:prstGeom>
          <a:ln w="9525">
            <a:solidFill>
              <a:srgbClr val="D9DEE8"/>
            </a:solidFill>
          </a:ln>
        </p:spPr>
      </p:pic>
      <p:sp>
        <p:nvSpPr>
          <p:cNvPr id="19" name="TIP callout"/>
          <p:cNvSpPr/>
          <p:nvPr/>
        </p:nvSpPr>
        <p:spPr>
          <a:xfrm>
            <a:off x="1527048" y="5212080"/>
            <a:ext cx="10122408"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p:cNvSpPr txBox="1"/>
          <p:nvPr/>
        </p:nvSpPr>
        <p:spPr>
          <a:xfrm>
            <a:off x="1636776" y="53218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21" name="TIP text"/>
          <p:cNvSpPr txBox="1"/>
          <p:nvPr/>
        </p:nvSpPr>
        <p:spPr>
          <a:xfrm>
            <a:off x="2212848" y="5303520"/>
            <a:ext cx="9326880" cy="685800"/>
          </a:xfrm>
          <a:prstGeom prst="rect">
            <a:avLst/>
          </a:prstGeom>
          <a:noFill/>
        </p:spPr>
        <p:txBody>
          <a:bodyPr wrap="square" lIns="0" rIns="0" tIns="0" bIns="0" anchor="t">
            <a:spAutoFit/>
          </a:bodyPr>
          <a:lstStyle/>
          <a:p>
            <a:r>
              <a:rPr sz="1600" b="0">
                <a:solidFill>
                  <a:srgbClr val="1B2230"/>
                </a:solidFill>
                <a:latin typeface="Arial"/>
              </a:rPr>
              <a:t>“Cannot group that selection” = cột ngày có ô CHỮ hoặc ô trống → sửa ở nguồn, Refresh. Excel 365 tự nhóm ngày theo tháng; muốn theo ngày: Group → chỉ chọn Days.</a:t>
            </a:r>
          </a:p>
        </p:txBody>
      </p:sp>
      <p:sp>
        <p:nvSpPr>
          <p:cNvPr id="22"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Demo/B3_Demo_Pivot.xlsx, sheet PV_Tuan · Demo/B3_Demo_Loi_Du_lieu.xlsx, sheet Sales_Loi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Show Details (drill-down)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SẮP XẾP · NHÓM</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400" b="1">
                <a:solidFill>
                  <a:srgbClr val="C00000"/>
                </a:solidFill>
                <a:latin typeface="Arial"/>
              </a:rPr>
              <a:t>Show Details</a:t>
            </a:r>
          </a:p>
        </p:txBody>
      </p:sp>
      <p:sp>
        <p:nvSpPr>
          <p:cNvPr id="5" name="Tool purpose"/>
          <p:cNvSpPr txBox="1"/>
          <p:nvPr/>
        </p:nvSpPr>
        <p:spPr>
          <a:xfrm>
            <a:off x="1527048" y="1920240"/>
            <a:ext cx="10122408" cy="411480"/>
          </a:xfrm>
          <a:prstGeom prst="rect">
            <a:avLst/>
          </a:prstGeom>
          <a:noFill/>
        </p:spPr>
        <p:txBody>
          <a:bodyPr wrap="square" lIns="0" rIns="0" tIns="0" bIns="0" anchor="t">
            <a:spAutoFit/>
          </a:bodyPr>
          <a:lstStyle/>
          <a:p>
            <a:r>
              <a:rPr sz="1600" b="0">
                <a:solidFill>
                  <a:srgbClr val="585858"/>
                </a:solidFill>
                <a:latin typeface="Arial"/>
              </a:rPr>
              <a:t>Double-click một ô giá trị → sheet mới chứa các dòng gốc tạo nên con số: từ “bao nhiêu” sang “vì sao”.</a:t>
            </a:r>
          </a:p>
        </p:txBody>
      </p:sp>
      <p:pic>
        <p:nvPicPr>
          <p:cNvPr id="6" name="Screenshot S20a_store_month" descr="S20a_store_month.png"/>
          <p:cNvPicPr>
            <a:picLocks noChangeAspect="1"/>
          </p:cNvPicPr>
          <p:nvPr/>
        </p:nvPicPr>
        <p:blipFill>
          <a:blip r:embed="rId2"/>
          <a:stretch>
            <a:fillRect/>
          </a:stretch>
        </p:blipFill>
        <p:spPr>
          <a:xfrm>
            <a:off x="1616488" y="2331720"/>
            <a:ext cx="3844480" cy="2834640"/>
          </a:xfrm>
          <a:prstGeom prst="rect">
            <a:avLst/>
          </a:prstGeom>
          <a:ln w="9525">
            <a:solidFill>
              <a:srgbClr val="D9DEE8"/>
            </a:solidFill>
          </a:ln>
        </p:spPr>
      </p:pic>
      <p:pic>
        <p:nvPicPr>
          <p:cNvPr id="7" name="Screenshot S20b_show_details" descr="S20b_show_details.png"/>
          <p:cNvPicPr>
            <a:picLocks noChangeAspect="1"/>
          </p:cNvPicPr>
          <p:nvPr/>
        </p:nvPicPr>
        <p:blipFill>
          <a:blip r:embed="rId3"/>
          <a:stretch>
            <a:fillRect/>
          </a:stretch>
        </p:blipFill>
        <p:spPr>
          <a:xfrm>
            <a:off x="5797296" y="2331720"/>
            <a:ext cx="3035808" cy="2834640"/>
          </a:xfrm>
          <a:prstGeom prst="rect">
            <a:avLst/>
          </a:prstGeom>
          <a:ln w="9525">
            <a:solidFill>
              <a:srgbClr val="D9DEE8"/>
            </a:solidFill>
          </a:ln>
        </p:spPr>
      </p:pic>
      <p:sp>
        <p:nvSpPr>
          <p:cNvPr id="8" name="Stat card"/>
          <p:cNvSpPr/>
          <p:nvPr/>
        </p:nvSpPr>
        <p:spPr>
          <a:xfrm>
            <a:off x="9098280" y="2331720"/>
            <a:ext cx="2551176" cy="283464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9235440" y="2423160"/>
            <a:ext cx="2276856" cy="2651760"/>
          </a:xfrm>
          <a:prstGeom prst="rect">
            <a:avLst/>
          </a:prstGeom>
          <a:noFill/>
        </p:spPr>
        <p:txBody>
          <a:bodyPr wrap="square" lIns="0" rIns="0" tIns="0" bIns="0" anchor="t">
            <a:spAutoFit/>
          </a:bodyPr>
          <a:lstStyle/>
          <a:p>
            <a:r>
              <a:rPr sz="1400" b="1">
                <a:solidFill>
                  <a:srgbClr val="203864"/>
                </a:solidFill>
                <a:latin typeface="Arial"/>
              </a:rPr>
              <a:t>ST07 Nha Trang</a:t>
            </a:r>
          </a:p>
          <a:p>
            <a:pPr>
              <a:spcBef>
                <a:spcPts val="400"/>
              </a:spcBef>
            </a:pPr>
            <a:r>
              <a:rPr sz="2200" b="1">
                <a:solidFill>
                  <a:srgbClr val="9C0006"/>
                </a:solidFill>
                <a:latin typeface="Arial"/>
              </a:rPr>
              <a:t>T3: −52,4%</a:t>
            </a:r>
          </a:p>
          <a:p>
            <a:pPr>
              <a:spcBef>
                <a:spcPts val="400"/>
              </a:spcBef>
            </a:pPr>
            <a:r>
              <a:rPr sz="1400" b="0">
                <a:solidFill>
                  <a:srgbClr val="1B2230"/>
                </a:solidFill>
                <a:latin typeface="Arial"/>
              </a:rPr>
              <a:t>T2: 51 đơn</a:t>
            </a:r>
          </a:p>
          <a:p>
            <a:pPr>
              <a:spcBef>
                <a:spcPts val="400"/>
              </a:spcBef>
            </a:pPr>
            <a:r>
              <a:rPr sz="1400" b="0">
                <a:solidFill>
                  <a:srgbClr val="1B2230"/>
                </a:solidFill>
                <a:latin typeface="Arial"/>
              </a:rPr>
              <a:t>01–09/03: 13 đơn</a:t>
            </a:r>
          </a:p>
          <a:p>
            <a:pPr>
              <a:spcBef>
                <a:spcPts val="400"/>
              </a:spcBef>
            </a:pPr>
            <a:r>
              <a:rPr sz="1400" b="1">
                <a:solidFill>
                  <a:srgbClr val="1B2230"/>
                </a:solidFill>
                <a:latin typeface="Arial"/>
              </a:rPr>
              <a:t>10–31/03: 15 đơn,</a:t>
            </a:r>
          </a:p>
          <a:p>
            <a:pPr>
              <a:spcBef>
                <a:spcPts val="400"/>
              </a:spcBef>
            </a:pPr>
            <a:r>
              <a:rPr sz="1400" b="1">
                <a:solidFill>
                  <a:srgbClr val="1B2230"/>
                </a:solidFill>
                <a:latin typeface="Arial"/>
              </a:rPr>
              <a:t>12/22 ngày không có đơn</a:t>
            </a:r>
          </a:p>
        </p:txBody>
      </p:sp>
      <p:sp>
        <p:nvSpPr>
          <p:cNvPr id="10" name="TIP callout"/>
          <p:cNvSpPr/>
          <p:nvPr/>
        </p:nvSpPr>
        <p:spPr>
          <a:xfrm>
            <a:off x="1527048" y="530352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1636776" y="541324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2" name="TIP text"/>
          <p:cNvSpPr txBox="1"/>
          <p:nvPr/>
        </p:nvSpPr>
        <p:spPr>
          <a:xfrm>
            <a:off x="2212848" y="5394959"/>
            <a:ext cx="9326880" cy="594359"/>
          </a:xfrm>
          <a:prstGeom prst="rect">
            <a:avLst/>
          </a:prstGeom>
          <a:noFill/>
        </p:spPr>
        <p:txBody>
          <a:bodyPr wrap="square" lIns="0" rIns="0" tIns="0" bIns="0" anchor="t">
            <a:spAutoFit/>
          </a:bodyPr>
          <a:lstStyle/>
          <a:p>
            <a:r>
              <a:rPr sz="1600" b="0">
                <a:solidFill>
                  <a:srgbClr val="1B2230"/>
                </a:solidFill>
                <a:latin typeface="Arial"/>
              </a:rPr>
              <a:t>Drill-down trước khi kết luận: ST04 cũng giảm 50,5% nhưng 41 đơn rải đều cả tháng. Sheet chi tiết là bản sao tĩnh, xem xong thì xóa.</a:t>
            </a:r>
          </a:p>
        </p:txBody>
      </p:sp>
      <p:sp>
        <p:nvSpPr>
          <p:cNvPr id="13"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Practice/B3_MCI_Mart_Q1_2025_Answer.xlsx, sheet PV_CuaHang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Slicer · Timeline · Report Connections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SẮP XẾP · NHÓM</a:t>
            </a:r>
          </a:p>
        </p:txBody>
      </p:sp>
      <p:sp>
        <p:nvSpPr>
          <p:cNvPr id="4" name="Tool name"/>
          <p:cNvSpPr txBox="1"/>
          <p:nvPr/>
        </p:nvSpPr>
        <p:spPr>
          <a:xfrm>
            <a:off x="1527048" y="1463040"/>
            <a:ext cx="3200400" cy="457200"/>
          </a:xfrm>
          <a:prstGeom prst="rect">
            <a:avLst/>
          </a:prstGeom>
          <a:noFill/>
        </p:spPr>
        <p:txBody>
          <a:bodyPr wrap="square" lIns="0" rIns="0" tIns="0" bIns="0" anchor="t">
            <a:spAutoFit/>
          </a:bodyPr>
          <a:lstStyle/>
          <a:p>
            <a:r>
              <a:rPr sz="2200" b="1">
                <a:solidFill>
                  <a:srgbClr val="C00000"/>
                </a:solidFill>
                <a:latin typeface="Arial"/>
              </a:rPr>
              <a:t>Slicer</a:t>
            </a:r>
          </a:p>
        </p:txBody>
      </p:sp>
      <p:sp>
        <p:nvSpPr>
          <p:cNvPr id="5" name="Tool purpose"/>
          <p:cNvSpPr txBox="1"/>
          <p:nvPr/>
        </p:nvSpPr>
        <p:spPr>
          <a:xfrm>
            <a:off x="1527048" y="1920240"/>
            <a:ext cx="3200400" cy="640080"/>
          </a:xfrm>
          <a:prstGeom prst="rect">
            <a:avLst/>
          </a:prstGeom>
          <a:noFill/>
        </p:spPr>
        <p:txBody>
          <a:bodyPr wrap="square" lIns="0" rIns="0" tIns="0" bIns="0" anchor="t">
            <a:spAutoFit/>
          </a:bodyPr>
          <a:lstStyle/>
          <a:p>
            <a:r>
              <a:rPr sz="1600" b="0">
                <a:solidFill>
                  <a:srgbClr val="585858"/>
                </a:solidFill>
                <a:latin typeface="Arial"/>
              </a:rPr>
              <a:t>Nút bấm lọc Pivot, nhìn là biết đang lọc gì.</a:t>
            </a:r>
          </a:p>
        </p:txBody>
      </p:sp>
      <p:cxnSp>
        <p:nvCxnSpPr>
          <p:cNvPr id="6" name="Connector 5"/>
          <p:cNvCxnSpPr/>
          <p:nvPr/>
        </p:nvCxnSpPr>
        <p:spPr>
          <a:xfrm>
            <a:off x="4837176" y="1463040"/>
            <a:ext cx="0" cy="109728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7" name="Tool name"/>
          <p:cNvSpPr txBox="1"/>
          <p:nvPr/>
        </p:nvSpPr>
        <p:spPr>
          <a:xfrm>
            <a:off x="4956048" y="1463040"/>
            <a:ext cx="3200400" cy="457200"/>
          </a:xfrm>
          <a:prstGeom prst="rect">
            <a:avLst/>
          </a:prstGeom>
          <a:noFill/>
        </p:spPr>
        <p:txBody>
          <a:bodyPr wrap="square" lIns="0" rIns="0" tIns="0" bIns="0" anchor="t">
            <a:spAutoFit/>
          </a:bodyPr>
          <a:lstStyle/>
          <a:p>
            <a:r>
              <a:rPr sz="2200" b="1">
                <a:solidFill>
                  <a:srgbClr val="C00000"/>
                </a:solidFill>
                <a:latin typeface="Arial"/>
              </a:rPr>
              <a:t>Timeline</a:t>
            </a:r>
          </a:p>
        </p:txBody>
      </p:sp>
      <p:sp>
        <p:nvSpPr>
          <p:cNvPr id="8" name="Tool purpose"/>
          <p:cNvSpPr txBox="1"/>
          <p:nvPr/>
        </p:nvSpPr>
        <p:spPr>
          <a:xfrm>
            <a:off x="4956048" y="1920240"/>
            <a:ext cx="3200400" cy="640080"/>
          </a:xfrm>
          <a:prstGeom prst="rect">
            <a:avLst/>
          </a:prstGeom>
          <a:noFill/>
        </p:spPr>
        <p:txBody>
          <a:bodyPr wrap="square" lIns="0" rIns="0" tIns="0" bIns="0" anchor="t">
            <a:spAutoFit/>
          </a:bodyPr>
          <a:lstStyle/>
          <a:p>
            <a:r>
              <a:rPr sz="1600" b="0">
                <a:solidFill>
                  <a:srgbClr val="585858"/>
                </a:solidFill>
                <a:latin typeface="Arial"/>
              </a:rPr>
              <a:t>Thanh thời gian: lọc ngày / tháng / quý / năm.</a:t>
            </a:r>
          </a:p>
        </p:txBody>
      </p:sp>
      <p:cxnSp>
        <p:nvCxnSpPr>
          <p:cNvPr id="9" name="Connector 8"/>
          <p:cNvCxnSpPr/>
          <p:nvPr/>
        </p:nvCxnSpPr>
        <p:spPr>
          <a:xfrm>
            <a:off x="8266175" y="1463040"/>
            <a:ext cx="0" cy="1097280"/>
          </a:xfrm>
          <a:prstGeom prst="line">
            <a:avLst/>
          </a:prstGeom>
          <a:ln w="12700">
            <a:solidFill>
              <a:srgbClr val="D9DEE8"/>
            </a:solidFill>
          </a:ln>
        </p:spPr>
        <p:style>
          <a:lnRef idx="2">
            <a:schemeClr val="accent1"/>
          </a:lnRef>
          <a:fillRef idx="0">
            <a:schemeClr val="accent1"/>
          </a:fillRef>
          <a:effectRef idx="1">
            <a:schemeClr val="accent1"/>
          </a:effectRef>
          <a:fontRef idx="minor">
            <a:schemeClr val="tx1"/>
          </a:fontRef>
        </p:style>
      </p:cxnSp>
      <p:sp>
        <p:nvSpPr>
          <p:cNvPr id="10" name="Tool name"/>
          <p:cNvSpPr txBox="1"/>
          <p:nvPr/>
        </p:nvSpPr>
        <p:spPr>
          <a:xfrm>
            <a:off x="8385048" y="1463040"/>
            <a:ext cx="3200400" cy="457200"/>
          </a:xfrm>
          <a:prstGeom prst="rect">
            <a:avLst/>
          </a:prstGeom>
          <a:noFill/>
        </p:spPr>
        <p:txBody>
          <a:bodyPr wrap="square" lIns="0" rIns="0" tIns="0" bIns="0" anchor="t">
            <a:spAutoFit/>
          </a:bodyPr>
          <a:lstStyle/>
          <a:p>
            <a:r>
              <a:rPr sz="2200" b="1">
                <a:solidFill>
                  <a:srgbClr val="C00000"/>
                </a:solidFill>
                <a:latin typeface="Arial"/>
              </a:rPr>
              <a:t>Report Connections</a:t>
            </a:r>
          </a:p>
        </p:txBody>
      </p:sp>
      <p:sp>
        <p:nvSpPr>
          <p:cNvPr id="11" name="Tool purpose"/>
          <p:cNvSpPr txBox="1"/>
          <p:nvPr/>
        </p:nvSpPr>
        <p:spPr>
          <a:xfrm>
            <a:off x="8385048" y="1920240"/>
            <a:ext cx="3200400" cy="640080"/>
          </a:xfrm>
          <a:prstGeom prst="rect">
            <a:avLst/>
          </a:prstGeom>
          <a:noFill/>
        </p:spPr>
        <p:txBody>
          <a:bodyPr wrap="square" lIns="0" rIns="0" tIns="0" bIns="0" anchor="t">
            <a:spAutoFit/>
          </a:bodyPr>
          <a:lstStyle/>
          <a:p>
            <a:r>
              <a:rPr sz="1600" b="0">
                <a:solidFill>
                  <a:srgbClr val="585858"/>
                </a:solidFill>
                <a:latin typeface="Arial"/>
              </a:rPr>
              <a:t>Nối một Slicer với nhiều Pivot cùng nguồn.</a:t>
            </a:r>
          </a:p>
        </p:txBody>
      </p:sp>
      <p:pic>
        <p:nvPicPr>
          <p:cNvPr id="12" name="Screenshot S21a_slicer_connections" descr="S21a_slicer_connections.png"/>
          <p:cNvPicPr>
            <a:picLocks noChangeAspect="1"/>
          </p:cNvPicPr>
          <p:nvPr/>
        </p:nvPicPr>
        <p:blipFill>
          <a:blip r:embed="rId2"/>
          <a:stretch>
            <a:fillRect/>
          </a:stretch>
        </p:blipFill>
        <p:spPr>
          <a:xfrm>
            <a:off x="1527048" y="2762442"/>
            <a:ext cx="5760720" cy="2293236"/>
          </a:xfrm>
          <a:prstGeom prst="rect">
            <a:avLst/>
          </a:prstGeom>
          <a:ln w="9525">
            <a:solidFill>
              <a:srgbClr val="D9DEE8"/>
            </a:solidFill>
          </a:ln>
        </p:spPr>
      </p:pic>
      <p:pic>
        <p:nvPicPr>
          <p:cNvPr id="13" name="Screenshot S21b_timeline" descr="S21b_timeline.png"/>
          <p:cNvPicPr>
            <a:picLocks noChangeAspect="1"/>
          </p:cNvPicPr>
          <p:nvPr/>
        </p:nvPicPr>
        <p:blipFill>
          <a:blip r:embed="rId3"/>
          <a:stretch>
            <a:fillRect/>
          </a:stretch>
        </p:blipFill>
        <p:spPr>
          <a:xfrm>
            <a:off x="7452360" y="3203084"/>
            <a:ext cx="4197096" cy="1411952"/>
          </a:xfrm>
          <a:prstGeom prst="rect">
            <a:avLst/>
          </a:prstGeom>
          <a:ln w="9525">
            <a:solidFill>
              <a:srgbClr val="D9DEE8"/>
            </a:solidFill>
          </a:ln>
        </p:spPr>
      </p:pic>
      <p:sp>
        <p:nvSpPr>
          <p:cNvPr id="14" name="TIP callout"/>
          <p:cNvSpPr/>
          <p:nvPr/>
        </p:nvSpPr>
        <p:spPr>
          <a:xfrm>
            <a:off x="1527048" y="5257800"/>
            <a:ext cx="10122408" cy="8229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p:cNvSpPr txBox="1"/>
          <p:nvPr/>
        </p:nvSpPr>
        <p:spPr>
          <a:xfrm>
            <a:off x="1636776" y="53675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6" name="TIP text"/>
          <p:cNvSpPr txBox="1"/>
          <p:nvPr/>
        </p:nvSpPr>
        <p:spPr>
          <a:xfrm>
            <a:off x="2212848" y="5349240"/>
            <a:ext cx="9326880" cy="640080"/>
          </a:xfrm>
          <a:prstGeom prst="rect">
            <a:avLst/>
          </a:prstGeom>
          <a:noFill/>
        </p:spPr>
        <p:txBody>
          <a:bodyPr wrap="square" lIns="0" rIns="0" tIns="0" bIns="0" anchor="t">
            <a:spAutoFit/>
          </a:bodyPr>
          <a:lstStyle/>
          <a:p>
            <a:r>
              <a:rPr sz="1600" b="0">
                <a:solidFill>
                  <a:srgbClr val="1B2230"/>
                </a:solidFill>
                <a:latin typeface="Arial"/>
              </a:rPr>
              <a:t>Slicer chỉ nối được các Pivot dùng CHUNG nguồn (chung cache). Chọn tháng 2–3 trên Timeline: Chủ nhật, thứ Bảy vẫn đứng đầu → câu chuyện cuối tuần không phải do Tết.</a:t>
            </a:r>
          </a:p>
        </p:txBody>
      </p:sp>
      <p:sp>
        <p:nvSpPr>
          <p:cNvPr id="17"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Practice/B3_MCI_Mart_Q1_2025_Answer.xlsx, sheet PV_MienThang và PV_Ngay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Tính toán trong Pivot: tính trên kết quả đã tổng hợp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Summarize Values By</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TÍNH TOÁN</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400" b="1">
                <a:solidFill>
                  <a:srgbClr val="C00000"/>
                </a:solidFill>
                <a:latin typeface="Arial"/>
              </a:rPr>
              <a:t>Summarize Values By</a:t>
            </a:r>
          </a:p>
        </p:txBody>
      </p:sp>
      <p:sp>
        <p:nvSpPr>
          <p:cNvPr id="5" name="Tool purpose"/>
          <p:cNvSpPr txBox="1"/>
          <p:nvPr/>
        </p:nvSpPr>
        <p:spPr>
          <a:xfrm>
            <a:off x="1527048" y="1920240"/>
            <a:ext cx="10122408" cy="411480"/>
          </a:xfrm>
          <a:prstGeom prst="rect">
            <a:avLst/>
          </a:prstGeom>
          <a:noFill/>
        </p:spPr>
        <p:txBody>
          <a:bodyPr wrap="square" lIns="0" rIns="0" tIns="0" bIns="0" anchor="t">
            <a:spAutoFit/>
          </a:bodyPr>
          <a:lstStyle/>
          <a:p>
            <a:r>
              <a:rPr sz="1600" b="0">
                <a:solidFill>
                  <a:srgbClr val="585858"/>
                </a:solidFill>
                <a:latin typeface="Arial"/>
              </a:rPr>
              <a:t>Chọn phép tổng hợp: Sum · Count · Average · Max · Min…</a:t>
            </a:r>
          </a:p>
        </p:txBody>
      </p:sp>
      <p:sp>
        <p:nvSpPr>
          <p:cNvPr id="6" name="Stat card"/>
          <p:cNvSpPr/>
          <p:nvPr/>
        </p:nvSpPr>
        <p:spPr>
          <a:xfrm>
            <a:off x="1527048" y="2331720"/>
            <a:ext cx="2395728" cy="11430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2423160"/>
            <a:ext cx="2029968" cy="960120"/>
          </a:xfrm>
          <a:prstGeom prst="rect">
            <a:avLst/>
          </a:prstGeom>
          <a:noFill/>
        </p:spPr>
        <p:txBody>
          <a:bodyPr wrap="square" lIns="0" rIns="0" tIns="0" bIns="0" anchor="ctr">
            <a:spAutoFit/>
          </a:bodyPr>
          <a:lstStyle/>
          <a:p>
            <a:r>
              <a:rPr sz="1400" b="0">
                <a:solidFill>
                  <a:srgbClr val="585858"/>
                </a:solidFill>
                <a:latin typeface="Arial"/>
              </a:rPr>
              <a:t>Sum</a:t>
            </a:r>
          </a:p>
          <a:p>
            <a:pPr>
              <a:spcBef>
                <a:spcPts val="200"/>
              </a:spcBef>
            </a:pPr>
            <a:r>
              <a:rPr sz="2200" b="1">
                <a:solidFill>
                  <a:srgbClr val="203864"/>
                </a:solidFill>
                <a:latin typeface="Arial"/>
              </a:rPr>
              <a:t>941.454.000</a:t>
            </a:r>
          </a:p>
          <a:p>
            <a:pPr>
              <a:spcBef>
                <a:spcPts val="200"/>
              </a:spcBef>
            </a:pPr>
            <a:r>
              <a:rPr sz="1400" b="0">
                <a:solidFill>
                  <a:srgbClr val="1B2230"/>
                </a:solidFill>
                <a:latin typeface="Arial"/>
              </a:rPr>
              <a:t>doanh thu</a:t>
            </a:r>
          </a:p>
        </p:txBody>
      </p:sp>
      <p:sp>
        <p:nvSpPr>
          <p:cNvPr id="8" name="Stat card"/>
          <p:cNvSpPr/>
          <p:nvPr/>
        </p:nvSpPr>
        <p:spPr>
          <a:xfrm>
            <a:off x="4087368" y="2331720"/>
            <a:ext cx="2395728" cy="11430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4270248" y="2423160"/>
            <a:ext cx="2029968" cy="960120"/>
          </a:xfrm>
          <a:prstGeom prst="rect">
            <a:avLst/>
          </a:prstGeom>
          <a:noFill/>
        </p:spPr>
        <p:txBody>
          <a:bodyPr wrap="square" lIns="0" rIns="0" tIns="0" bIns="0" anchor="ctr">
            <a:spAutoFit/>
          </a:bodyPr>
          <a:lstStyle/>
          <a:p>
            <a:r>
              <a:rPr sz="1400" b="0">
                <a:solidFill>
                  <a:srgbClr val="585858"/>
                </a:solidFill>
                <a:latin typeface="Arial"/>
              </a:rPr>
              <a:t>Count</a:t>
            </a:r>
          </a:p>
          <a:p>
            <a:pPr>
              <a:spcBef>
                <a:spcPts val="200"/>
              </a:spcBef>
            </a:pPr>
            <a:r>
              <a:rPr sz="2200" b="1">
                <a:solidFill>
                  <a:srgbClr val="9C0006"/>
                </a:solidFill>
                <a:latin typeface="Arial"/>
              </a:rPr>
              <a:t>6.187</a:t>
            </a:r>
          </a:p>
          <a:p>
            <a:pPr>
              <a:spcBef>
                <a:spcPts val="200"/>
              </a:spcBef>
            </a:pPr>
            <a:r>
              <a:rPr sz="1400" b="0">
                <a:solidFill>
                  <a:srgbClr val="1B2230"/>
                </a:solidFill>
                <a:latin typeface="Arial"/>
              </a:rPr>
              <a:t>dòng ≠ 3.144 đơn</a:t>
            </a:r>
          </a:p>
        </p:txBody>
      </p:sp>
      <p:sp>
        <p:nvSpPr>
          <p:cNvPr id="10" name="Stat card"/>
          <p:cNvSpPr/>
          <p:nvPr/>
        </p:nvSpPr>
        <p:spPr>
          <a:xfrm>
            <a:off x="6647688" y="2331720"/>
            <a:ext cx="2395728" cy="11430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6830568" y="2423160"/>
            <a:ext cx="2029968" cy="960120"/>
          </a:xfrm>
          <a:prstGeom prst="rect">
            <a:avLst/>
          </a:prstGeom>
          <a:noFill/>
        </p:spPr>
        <p:txBody>
          <a:bodyPr wrap="square" lIns="0" rIns="0" tIns="0" bIns="0" anchor="ctr">
            <a:spAutoFit/>
          </a:bodyPr>
          <a:lstStyle/>
          <a:p>
            <a:r>
              <a:rPr sz="1400" b="0">
                <a:solidFill>
                  <a:srgbClr val="585858"/>
                </a:solidFill>
                <a:latin typeface="Arial"/>
              </a:rPr>
              <a:t>Average</a:t>
            </a:r>
          </a:p>
          <a:p>
            <a:pPr>
              <a:spcBef>
                <a:spcPts val="200"/>
              </a:spcBef>
            </a:pPr>
            <a:r>
              <a:rPr sz="2200" b="1">
                <a:solidFill>
                  <a:srgbClr val="203864"/>
                </a:solidFill>
                <a:latin typeface="Arial"/>
              </a:rPr>
              <a:t>152.166</a:t>
            </a:r>
          </a:p>
          <a:p>
            <a:pPr>
              <a:spcBef>
                <a:spcPts val="200"/>
              </a:spcBef>
            </a:pPr>
            <a:r>
              <a:rPr sz="1400" b="0">
                <a:solidFill>
                  <a:srgbClr val="1B2230"/>
                </a:solidFill>
                <a:latin typeface="Arial"/>
              </a:rPr>
              <a:t>/ dòng</a:t>
            </a:r>
          </a:p>
        </p:txBody>
      </p:sp>
      <p:sp>
        <p:nvSpPr>
          <p:cNvPr id="12" name="Stat card"/>
          <p:cNvSpPr/>
          <p:nvPr/>
        </p:nvSpPr>
        <p:spPr>
          <a:xfrm>
            <a:off x="9208007" y="2331720"/>
            <a:ext cx="2395728" cy="11430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9390887" y="2423160"/>
            <a:ext cx="2029968" cy="960120"/>
          </a:xfrm>
          <a:prstGeom prst="rect">
            <a:avLst/>
          </a:prstGeom>
          <a:noFill/>
        </p:spPr>
        <p:txBody>
          <a:bodyPr wrap="square" lIns="0" rIns="0" tIns="0" bIns="0" anchor="ctr">
            <a:spAutoFit/>
          </a:bodyPr>
          <a:lstStyle/>
          <a:p>
            <a:r>
              <a:rPr sz="1400" b="0">
                <a:solidFill>
                  <a:srgbClr val="585858"/>
                </a:solidFill>
                <a:latin typeface="Arial"/>
              </a:rPr>
              <a:t>Max</a:t>
            </a:r>
          </a:p>
          <a:p>
            <a:pPr>
              <a:spcBef>
                <a:spcPts val="200"/>
              </a:spcBef>
            </a:pPr>
            <a:r>
              <a:rPr sz="2200" b="1">
                <a:solidFill>
                  <a:srgbClr val="203864"/>
                </a:solidFill>
                <a:latin typeface="Arial"/>
              </a:rPr>
              <a:t>1.470.000</a:t>
            </a:r>
          </a:p>
          <a:p>
            <a:pPr>
              <a:spcBef>
                <a:spcPts val="200"/>
              </a:spcBef>
            </a:pPr>
            <a:r>
              <a:rPr sz="1400" b="0">
                <a:solidFill>
                  <a:srgbClr val="1B2230"/>
                </a:solidFill>
                <a:latin typeface="Arial"/>
              </a:rPr>
              <a:t>dòng lớn nhất</a:t>
            </a:r>
          </a:p>
        </p:txBody>
      </p:sp>
      <p:pic>
        <p:nvPicPr>
          <p:cNvPr id="14" name="Screenshot S23_count_default" descr="S23_count_default.png"/>
          <p:cNvPicPr>
            <a:picLocks noChangeAspect="1"/>
          </p:cNvPicPr>
          <p:nvPr/>
        </p:nvPicPr>
        <p:blipFill>
          <a:blip r:embed="rId2"/>
          <a:stretch>
            <a:fillRect/>
          </a:stretch>
        </p:blipFill>
        <p:spPr>
          <a:xfrm>
            <a:off x="1960083" y="3611880"/>
            <a:ext cx="5168969" cy="2423160"/>
          </a:xfrm>
          <a:prstGeom prst="rect">
            <a:avLst/>
          </a:prstGeom>
          <a:ln w="9525">
            <a:solidFill>
              <a:srgbClr val="D9DEE8"/>
            </a:solidFill>
          </a:ln>
        </p:spPr>
      </p:pic>
      <p:sp>
        <p:nvSpPr>
          <p:cNvPr id="15" name="TIP callout"/>
          <p:cNvSpPr/>
          <p:nvPr/>
        </p:nvSpPr>
        <p:spPr>
          <a:xfrm>
            <a:off x="7726679" y="3611880"/>
            <a:ext cx="3922776" cy="24231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p:cNvSpPr txBox="1"/>
          <p:nvPr/>
        </p:nvSpPr>
        <p:spPr>
          <a:xfrm>
            <a:off x="7836407" y="37216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7" name="TIP text"/>
          <p:cNvSpPr txBox="1"/>
          <p:nvPr/>
        </p:nvSpPr>
        <p:spPr>
          <a:xfrm>
            <a:off x="8412480" y="3703320"/>
            <a:ext cx="3127248" cy="2240279"/>
          </a:xfrm>
          <a:prstGeom prst="rect">
            <a:avLst/>
          </a:prstGeom>
          <a:noFill/>
        </p:spPr>
        <p:txBody>
          <a:bodyPr wrap="square" lIns="0" rIns="0" tIns="0" bIns="0" anchor="t">
            <a:spAutoFit/>
          </a:bodyPr>
          <a:lstStyle/>
          <a:p>
            <a:r>
              <a:rPr sz="1600" b="0">
                <a:solidFill>
                  <a:srgbClr val="1B2230"/>
                </a:solidFill>
                <a:latin typeface="Arial"/>
              </a:rPr>
              <a:t>Kéo cột số vào Values mà Pivot hiện COUNT → cột có ô trống hoặc chữ. Đổi sang Sum thì ra 940.480.000: Excel lặng lẽ bỏ qua 3 ô lỗi (thiếu 974.000).</a:t>
            </a:r>
          </a:p>
        </p:txBody>
      </p:sp>
      <p:sp>
        <p:nvSpPr>
          <p:cNvPr id="18"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Demo/B3_Demo_Loi_Du_lieu.xlsx, sheet Sales_Loi → PivotTable · thẻ số: Demo/B3_Demo_Pivot.xlsx</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Show Values As: % of Column Total</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TÍNH TOÁN</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400" b="1">
                <a:solidFill>
                  <a:srgbClr val="C00000"/>
                </a:solidFill>
                <a:latin typeface="Arial"/>
              </a:rPr>
              <a:t>Show Values As</a:t>
            </a:r>
          </a:p>
        </p:txBody>
      </p:sp>
      <p:sp>
        <p:nvSpPr>
          <p:cNvPr id="5" name="Tool purpose"/>
          <p:cNvSpPr txBox="1"/>
          <p:nvPr/>
        </p:nvSpPr>
        <p:spPr>
          <a:xfrm>
            <a:off x="1527048" y="1920240"/>
            <a:ext cx="10122408" cy="411480"/>
          </a:xfrm>
          <a:prstGeom prst="rect">
            <a:avLst/>
          </a:prstGeom>
          <a:noFill/>
        </p:spPr>
        <p:txBody>
          <a:bodyPr wrap="square" lIns="0" rIns="0" tIns="0" bIns="0" anchor="t">
            <a:spAutoFit/>
          </a:bodyPr>
          <a:lstStyle/>
          <a:p>
            <a:r>
              <a:rPr sz="1600" b="0">
                <a:solidFill>
                  <a:srgbClr val="585858"/>
                </a:solidFill>
                <a:latin typeface="Arial"/>
              </a:rPr>
              <a:t>Hiển thị con số dưới dạng khác (tỷ trọng, chênh lệch, lũy kế…) mà KHÔNG tạo dữ liệu mới.</a:t>
            </a:r>
          </a:p>
        </p:txBody>
      </p:sp>
      <p:pic>
        <p:nvPicPr>
          <p:cNvPr id="6" name="Screenshot S24_pct_column" descr="S24_pct_column.png"/>
          <p:cNvPicPr>
            <a:picLocks noChangeAspect="1"/>
          </p:cNvPicPr>
          <p:nvPr/>
        </p:nvPicPr>
        <p:blipFill>
          <a:blip r:embed="rId2"/>
          <a:stretch>
            <a:fillRect/>
          </a:stretch>
        </p:blipFill>
        <p:spPr>
          <a:xfrm>
            <a:off x="1709928" y="2331720"/>
            <a:ext cx="5486400" cy="2743200"/>
          </a:xfrm>
          <a:prstGeom prst="rect">
            <a:avLst/>
          </a:prstGeom>
          <a:ln w="9525">
            <a:solidFill>
              <a:srgbClr val="D9DEE8"/>
            </a:solidFill>
          </a:ln>
        </p:spPr>
      </p:pic>
      <p:sp>
        <p:nvSpPr>
          <p:cNvPr id="7" name="Stat card"/>
          <p:cNvSpPr/>
          <p:nvPr/>
        </p:nvSpPr>
        <p:spPr>
          <a:xfrm>
            <a:off x="7543800" y="2331720"/>
            <a:ext cx="2011680" cy="132588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7726679" y="2423160"/>
            <a:ext cx="1645920" cy="1143000"/>
          </a:xfrm>
          <a:prstGeom prst="rect">
            <a:avLst/>
          </a:prstGeom>
          <a:noFill/>
        </p:spPr>
        <p:txBody>
          <a:bodyPr wrap="square" lIns="0" rIns="0" tIns="0" bIns="0" anchor="ctr">
            <a:spAutoFit/>
          </a:bodyPr>
          <a:lstStyle/>
          <a:p>
            <a:r>
              <a:rPr sz="1400" b="0">
                <a:solidFill>
                  <a:srgbClr val="585858"/>
                </a:solidFill>
                <a:latin typeface="Arial"/>
              </a:rPr>
              <a:t>Bánh kẹo · 20 ngày trước Tết</a:t>
            </a:r>
          </a:p>
          <a:p>
            <a:pPr>
              <a:spcBef>
                <a:spcPts val="200"/>
              </a:spcBef>
            </a:pPr>
            <a:r>
              <a:rPr sz="2600" b="1">
                <a:solidFill>
                  <a:srgbClr val="203864"/>
                </a:solidFill>
                <a:latin typeface="Arial"/>
              </a:rPr>
              <a:t>50,8%</a:t>
            </a:r>
          </a:p>
          <a:p>
            <a:pPr>
              <a:spcBef>
                <a:spcPts val="200"/>
              </a:spcBef>
            </a:pPr>
            <a:r>
              <a:rPr sz="1400" b="0">
                <a:solidFill>
                  <a:srgbClr val="1B2230"/>
                </a:solidFill>
                <a:latin typeface="Arial"/>
              </a:rPr>
              <a:t>ngày thường 27,9%</a:t>
            </a:r>
          </a:p>
        </p:txBody>
      </p:sp>
      <p:sp>
        <p:nvSpPr>
          <p:cNvPr id="9" name="Stat card"/>
          <p:cNvSpPr/>
          <p:nvPr/>
        </p:nvSpPr>
        <p:spPr>
          <a:xfrm>
            <a:off x="9646920" y="2331720"/>
            <a:ext cx="2002536" cy="132588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9829800" y="2423160"/>
            <a:ext cx="1636776" cy="1143000"/>
          </a:xfrm>
          <a:prstGeom prst="rect">
            <a:avLst/>
          </a:prstGeom>
          <a:noFill/>
        </p:spPr>
        <p:txBody>
          <a:bodyPr wrap="square" lIns="0" rIns="0" tIns="0" bIns="0" anchor="ctr">
            <a:spAutoFit/>
          </a:bodyPr>
          <a:lstStyle/>
          <a:p>
            <a:r>
              <a:rPr sz="1400" b="0">
                <a:solidFill>
                  <a:srgbClr val="585858"/>
                </a:solidFill>
                <a:latin typeface="Arial"/>
              </a:rPr>
              <a:t>Đồ uống · trước Tết</a:t>
            </a:r>
          </a:p>
          <a:p>
            <a:pPr>
              <a:spcBef>
                <a:spcPts val="200"/>
              </a:spcBef>
            </a:pPr>
            <a:r>
              <a:rPr sz="2600" b="1">
                <a:solidFill>
                  <a:srgbClr val="203864"/>
                </a:solidFill>
                <a:latin typeface="Arial"/>
              </a:rPr>
              <a:t>11,7%</a:t>
            </a:r>
          </a:p>
          <a:p>
            <a:pPr>
              <a:spcBef>
                <a:spcPts val="200"/>
              </a:spcBef>
            </a:pPr>
            <a:r>
              <a:rPr sz="1400" b="0">
                <a:solidFill>
                  <a:srgbClr val="1B2230"/>
                </a:solidFill>
                <a:latin typeface="Arial"/>
              </a:rPr>
              <a:t>ngày thường 11,5%</a:t>
            </a:r>
          </a:p>
        </p:txBody>
      </p:sp>
      <p:sp>
        <p:nvSpPr>
          <p:cNvPr id="11" name="TextBox"/>
          <p:cNvSpPr txBox="1"/>
          <p:nvPr/>
        </p:nvSpPr>
        <p:spPr>
          <a:xfrm>
            <a:off x="7543800" y="3749039"/>
            <a:ext cx="4105656" cy="1325880"/>
          </a:xfrm>
          <a:prstGeom prst="rect">
            <a:avLst/>
          </a:prstGeom>
          <a:noFill/>
        </p:spPr>
        <p:txBody>
          <a:bodyPr wrap="square" lIns="0" rIns="0" tIns="0" bIns="0" anchor="t">
            <a:spAutoFit/>
          </a:bodyPr>
          <a:lstStyle/>
          <a:p>
            <a:r>
              <a:rPr sz="1400" b="0">
                <a:solidFill>
                  <a:srgbClr val="585858"/>
                </a:solidFill>
                <a:latin typeface="Arial"/>
              </a:rPr>
              <a:t>Đồ uống bán gấp ~1,8 lần mỗi ngày trước Tết, nhưng cả cửa hàng cũng tăng: tỷ trọng đứng yên ≠ doanh thu đứng yên.</a:t>
            </a:r>
          </a:p>
        </p:txBody>
      </p:sp>
      <p:sp>
        <p:nvSpPr>
          <p:cNvPr id="12" name="TIP callout"/>
          <p:cNvSpPr/>
          <p:nvPr/>
        </p:nvSpPr>
        <p:spPr>
          <a:xfrm>
            <a:off x="1527048" y="5212080"/>
            <a:ext cx="10122408"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636776" y="53218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4" name="TIP text"/>
          <p:cNvSpPr txBox="1"/>
          <p:nvPr/>
        </p:nvSpPr>
        <p:spPr>
          <a:xfrm>
            <a:off x="2212848" y="5303520"/>
            <a:ext cx="9326880" cy="685800"/>
          </a:xfrm>
          <a:prstGeom prst="rect">
            <a:avLst/>
          </a:prstGeom>
          <a:noFill/>
        </p:spPr>
        <p:txBody>
          <a:bodyPr wrap="square" lIns="0" rIns="0" tIns="0" bIns="0" anchor="t">
            <a:spAutoFit/>
          </a:bodyPr>
          <a:lstStyle/>
          <a:p>
            <a:r>
              <a:rPr sz="1600" b="0">
                <a:solidFill>
                  <a:srgbClr val="1B2230"/>
                </a:solidFill>
                <a:latin typeface="Arial"/>
              </a:rPr>
              <a:t>% of COLUMN Total: mỗi cột cộng lại 100%. Tháng ở cột → so cơ cấu TRONG từng tháng. % of Grand Total: Nam 45,4% · Bắc 34,4% · Trung 20,2%.</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Practice/B3_MCI_Mart_Q1_2025_Answer.xlsx, sheet PV_NganhHang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Difference From · Running Total</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TÍNH TOÁN</a:t>
            </a:r>
          </a:p>
        </p:txBody>
      </p:sp>
      <p:graphicFrame>
        <p:nvGraphicFramePr>
          <p:cNvPr id="4" name="Functions"/>
          <p:cNvGraphicFramePr>
            <a:graphicFrameLocks noGrp="1"/>
          </p:cNvGraphicFramePr>
          <p:nvPr/>
        </p:nvGraphicFramePr>
        <p:xfrm>
          <a:off x="1527048" y="1463040"/>
          <a:ext cx="10122408" cy="1508760"/>
        </p:xfrm>
        <a:graphic>
          <a:graphicData uri="http://schemas.openxmlformats.org/drawingml/2006/table">
            <a:tbl>
              <a:tblPr firstRow="1" bandRow="0"/>
              <a:tblGrid>
                <a:gridCol w="3017520"/>
                <a:gridCol w="3840480"/>
                <a:gridCol w="3264408"/>
              </a:tblGrid>
              <a:tr h="502920">
                <a:tc>
                  <a:txBody>
                    <a:bodyPr wrap="square"/>
                    <a:lstStyle/>
                    <a:p>
                      <a:r>
                        <a:rPr sz="1500" b="1">
                          <a:solidFill>
                            <a:srgbClr val="FFFFFF"/>
                          </a:solidFill>
                          <a:latin typeface="Arial"/>
                        </a:rPr>
                        <a:t>Tên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5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500" b="1">
                          <a:solidFill>
                            <a:srgbClr val="FFFFFF"/>
                          </a:solidFill>
                          <a:latin typeface="Arial"/>
                        </a:rPr>
                        <a:t>Quý 1/2025</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502920">
                <a:tc>
                  <a:txBody>
                    <a:bodyPr wrap="square"/>
                    <a:lstStyle/>
                    <a:p>
                      <a:r>
                        <a:rPr sz="1500" b="1">
                          <a:solidFill>
                            <a:srgbClr val="C00000"/>
                          </a:solidFill>
                          <a:latin typeface="Arial"/>
                        </a:rPr>
                        <a:t>% Difference From (previous)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Tăng trưởng so với mục liền trước (MoM)</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1">
                          <a:solidFill>
                            <a:srgbClr val="203864"/>
                          </a:solidFill>
                          <a:latin typeface="Arial"/>
                        </a:rPr>
                        <a:t>T2 −42,2% · T3 +9,6%</a:t>
                      </a:r>
                    </a:p>
                  </a:txBody>
                  <a:tcPr marL="73152" marR="73152" marT="27432" marB="27432" anchor="ctr">
                    <a:lnL w="0">
                      <a:noFill/>
                    </a:lnL>
                    <a:lnR w="0">
                      <a:noFill/>
                    </a:lnR>
                    <a:lnT w="12700">
                      <a:solidFill>
                        <a:srgbClr val="D9DEE8"/>
                      </a:solidFill>
                    </a:lnT>
                    <a:lnB w="12700">
                      <a:solidFill>
                        <a:srgbClr val="D9DEE8"/>
                      </a:solidFill>
                    </a:lnB>
                    <a:noFill/>
                  </a:tcPr>
                </a:tc>
              </a:tr>
              <a:tr h="502920">
                <a:tc>
                  <a:txBody>
                    <a:bodyPr wrap="square"/>
                    <a:lstStyle/>
                    <a:p>
                      <a:r>
                        <a:rPr sz="1500" b="1">
                          <a:solidFill>
                            <a:srgbClr val="C00000"/>
                          </a:solidFill>
                          <a:latin typeface="Arial"/>
                        </a:rPr>
                        <a:t>Running Total In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Lũy kế theo thứ tự mục</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425,9 · 671,8 · 941,5 triệu</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pic>
        <p:nvPicPr>
          <p:cNvPr id="5" name="Screenshot S25_mom_running" descr="S25_mom_running.png"/>
          <p:cNvPicPr>
            <a:picLocks noChangeAspect="1"/>
          </p:cNvPicPr>
          <p:nvPr/>
        </p:nvPicPr>
        <p:blipFill>
          <a:blip r:embed="rId2"/>
          <a:stretch>
            <a:fillRect/>
          </a:stretch>
        </p:blipFill>
        <p:spPr>
          <a:xfrm>
            <a:off x="1527048" y="3292237"/>
            <a:ext cx="7132320" cy="1736565"/>
          </a:xfrm>
          <a:prstGeom prst="rect">
            <a:avLst/>
          </a:prstGeom>
          <a:ln w="9525">
            <a:solidFill>
              <a:srgbClr val="D9DEE8"/>
            </a:solidFill>
          </a:ln>
        </p:spPr>
      </p:pic>
      <p:sp>
        <p:nvSpPr>
          <p:cNvPr id="6" name="TIP callout"/>
          <p:cNvSpPr/>
          <p:nvPr/>
        </p:nvSpPr>
        <p:spPr>
          <a:xfrm>
            <a:off x="8823960" y="3154680"/>
            <a:ext cx="2825496" cy="2011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8933688" y="32644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8" name="TIP text"/>
          <p:cNvSpPr txBox="1"/>
          <p:nvPr/>
        </p:nvSpPr>
        <p:spPr>
          <a:xfrm>
            <a:off x="9509760" y="3246120"/>
            <a:ext cx="2029967" cy="1828800"/>
          </a:xfrm>
          <a:prstGeom prst="rect">
            <a:avLst/>
          </a:prstGeom>
          <a:noFill/>
        </p:spPr>
        <p:txBody>
          <a:bodyPr wrap="square" lIns="0" rIns="0" tIns="0" bIns="0" anchor="t">
            <a:spAutoFit/>
          </a:bodyPr>
          <a:lstStyle/>
          <a:p>
            <a:r>
              <a:rPr sz="1600" b="0">
                <a:solidFill>
                  <a:srgbClr val="1B2230"/>
                </a:solidFill>
                <a:latin typeface="Arial"/>
              </a:rPr>
              <a:t>Base item (previous) = so với tháng liền trước; tháng đầu để trống.</a:t>
            </a:r>
          </a:p>
        </p:txBody>
      </p:sp>
      <p:sp>
        <p:nvSpPr>
          <p:cNvPr id="9" name="TextBox"/>
          <p:cNvSpPr txBox="1"/>
          <p:nvPr/>
        </p:nvSpPr>
        <p:spPr>
          <a:xfrm>
            <a:off x="1527048" y="5303520"/>
            <a:ext cx="10122408" cy="731520"/>
          </a:xfrm>
          <a:prstGeom prst="rect">
            <a:avLst/>
          </a:prstGeom>
          <a:noFill/>
        </p:spPr>
        <p:txBody>
          <a:bodyPr wrap="square" lIns="0" rIns="0" tIns="0" bIns="0" anchor="t">
            <a:spAutoFit/>
          </a:bodyPr>
          <a:lstStyle/>
          <a:p>
            <a:r>
              <a:rPr sz="1600" b="1">
                <a:solidFill>
                  <a:srgbClr val="203864"/>
                </a:solidFill>
                <a:latin typeface="Arial"/>
              </a:rPr>
              <a:t>Ba cột cùng lấy từ MỘT trường Revenue: Show Values As chỉ đổi cách hiển thị.</a:t>
            </a:r>
          </a:p>
        </p:txBody>
      </p:sp>
      <p:sp>
        <p:nvSpPr>
          <p:cNvPr id="10"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Practice/B3_MCI_Mart_Q1_2025_Answer.xlsx, sheet PV_Thang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Calculated Field</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TÍNH TOÁN</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400" b="1">
                <a:solidFill>
                  <a:srgbClr val="C00000"/>
                </a:solidFill>
                <a:latin typeface="Arial"/>
              </a:rPr>
              <a:t>Calculated Field</a:t>
            </a:r>
          </a:p>
        </p:txBody>
      </p:sp>
      <p:sp>
        <p:nvSpPr>
          <p:cNvPr id="5" name="Tool purpose"/>
          <p:cNvSpPr txBox="1"/>
          <p:nvPr/>
        </p:nvSpPr>
        <p:spPr>
          <a:xfrm>
            <a:off x="1527048" y="1920240"/>
            <a:ext cx="10122408" cy="411480"/>
          </a:xfrm>
          <a:prstGeom prst="rect">
            <a:avLst/>
          </a:prstGeom>
          <a:noFill/>
        </p:spPr>
        <p:txBody>
          <a:bodyPr wrap="square" lIns="0" rIns="0" tIns="0" bIns="0" anchor="t">
            <a:spAutoFit/>
          </a:bodyPr>
          <a:lstStyle/>
          <a:p>
            <a:r>
              <a:rPr sz="1600" b="0">
                <a:solidFill>
                  <a:srgbClr val="585858"/>
                </a:solidFill>
                <a:latin typeface="Arial"/>
              </a:rPr>
              <a:t>Tạo trường mới bằng công thức trên TỔNG của các trường khác.</a:t>
            </a:r>
          </a:p>
        </p:txBody>
      </p:sp>
      <p:sp>
        <p:nvSpPr>
          <p:cNvPr id="6" name="Formula bar"/>
          <p:cNvSpPr/>
          <p:nvPr/>
        </p:nvSpPr>
        <p:spPr>
          <a:xfrm>
            <a:off x="1527048" y="2286000"/>
            <a:ext cx="5120640"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18488" y="228600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8" name="Formula"/>
          <p:cNvSpPr txBox="1"/>
          <p:nvPr/>
        </p:nvSpPr>
        <p:spPr>
          <a:xfrm>
            <a:off x="2075688" y="2286000"/>
            <a:ext cx="4480559" cy="411480"/>
          </a:xfrm>
          <a:prstGeom prst="rect">
            <a:avLst/>
          </a:prstGeom>
          <a:noFill/>
        </p:spPr>
        <p:txBody>
          <a:bodyPr wrap="square" lIns="0" rIns="0" tIns="0" bIns="0" anchor="ctr">
            <a:spAutoFit/>
          </a:bodyPr>
          <a:lstStyle/>
          <a:p>
            <a:r>
              <a:rPr sz="1600" b="0">
                <a:solidFill>
                  <a:srgbClr val="1B2230"/>
                </a:solidFill>
                <a:latin typeface="Arial"/>
              </a:rPr>
              <a:t>AOV  =Revenue/So_don</a:t>
            </a:r>
          </a:p>
        </p:txBody>
      </p:sp>
      <p:sp>
        <p:nvSpPr>
          <p:cNvPr id="9" name="TextBox"/>
          <p:cNvSpPr txBox="1"/>
          <p:nvPr/>
        </p:nvSpPr>
        <p:spPr>
          <a:xfrm>
            <a:off x="1527048" y="2788920"/>
            <a:ext cx="5120640" cy="411480"/>
          </a:xfrm>
          <a:prstGeom prst="rect">
            <a:avLst/>
          </a:prstGeom>
          <a:noFill/>
        </p:spPr>
        <p:txBody>
          <a:bodyPr wrap="square" lIns="0" rIns="0" tIns="0" bIns="0" anchor="t">
            <a:spAutoFit/>
          </a:bodyPr>
          <a:lstStyle/>
          <a:p>
            <a:r>
              <a:rPr sz="1400" b="0">
                <a:solidFill>
                  <a:srgbClr val="585858"/>
                </a:solidFill>
                <a:latin typeface="Arial"/>
              </a:rPr>
              <a:t>Cột đếm trong tblSales:  </a:t>
            </a:r>
            <a:r>
              <a:rPr sz="1400" b="1">
                <a:solidFill>
                  <a:srgbClr val="1B2230"/>
                </a:solidFill>
                <a:latin typeface="Arial"/>
              </a:rPr>
              <a:t>So_don =IF([@Line_No]=1,1,0)</a:t>
            </a:r>
          </a:p>
        </p:txBody>
      </p:sp>
      <p:pic>
        <p:nvPicPr>
          <p:cNvPr id="10" name="Screenshot S26_calc_field" descr="S26_calc_field.png"/>
          <p:cNvPicPr>
            <a:picLocks noChangeAspect="1"/>
          </p:cNvPicPr>
          <p:nvPr/>
        </p:nvPicPr>
        <p:blipFill>
          <a:blip r:embed="rId2"/>
          <a:stretch>
            <a:fillRect/>
          </a:stretch>
        </p:blipFill>
        <p:spPr>
          <a:xfrm>
            <a:off x="1615203" y="3246120"/>
            <a:ext cx="4944329" cy="1920240"/>
          </a:xfrm>
          <a:prstGeom prst="rect">
            <a:avLst/>
          </a:prstGeom>
          <a:ln w="9525">
            <a:solidFill>
              <a:srgbClr val="D9DEE8"/>
            </a:solidFill>
          </a:ln>
        </p:spPr>
      </p:pic>
      <p:sp>
        <p:nvSpPr>
          <p:cNvPr id="11" name="Stat card"/>
          <p:cNvSpPr/>
          <p:nvPr/>
        </p:nvSpPr>
        <p:spPr>
          <a:xfrm>
            <a:off x="6812280" y="2286000"/>
            <a:ext cx="4837176" cy="86868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6995160" y="2377440"/>
            <a:ext cx="4471416" cy="685800"/>
          </a:xfrm>
          <a:prstGeom prst="rect">
            <a:avLst/>
          </a:prstGeom>
          <a:noFill/>
        </p:spPr>
        <p:txBody>
          <a:bodyPr wrap="square" lIns="0" rIns="0" tIns="0" bIns="0" anchor="ctr">
            <a:spAutoFit/>
          </a:bodyPr>
          <a:lstStyle/>
          <a:p>
            <a:r>
              <a:rPr sz="1400" b="0">
                <a:solidFill>
                  <a:srgbClr val="585858"/>
                </a:solidFill>
                <a:latin typeface="Arial"/>
              </a:rPr>
              <a:t>Count of Order_ID</a:t>
            </a:r>
          </a:p>
          <a:p>
            <a:pPr>
              <a:spcBef>
                <a:spcPts val="200"/>
              </a:spcBef>
            </a:pPr>
            <a:r>
              <a:rPr sz="2200" b="1">
                <a:solidFill>
                  <a:srgbClr val="9C0006"/>
                </a:solidFill>
                <a:latin typeface="Arial"/>
              </a:rPr>
              <a:t>6.187  ✘</a:t>
            </a:r>
          </a:p>
        </p:txBody>
      </p:sp>
      <p:sp>
        <p:nvSpPr>
          <p:cNvPr id="13" name="Stat card"/>
          <p:cNvSpPr/>
          <p:nvPr/>
        </p:nvSpPr>
        <p:spPr>
          <a:xfrm>
            <a:off x="6812280" y="3264408"/>
            <a:ext cx="4837176" cy="86868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6995160" y="3355848"/>
            <a:ext cx="4471416" cy="685800"/>
          </a:xfrm>
          <a:prstGeom prst="rect">
            <a:avLst/>
          </a:prstGeom>
          <a:noFill/>
        </p:spPr>
        <p:txBody>
          <a:bodyPr wrap="square" lIns="0" rIns="0" tIns="0" bIns="0" anchor="ctr">
            <a:spAutoFit/>
          </a:bodyPr>
          <a:lstStyle/>
          <a:p>
            <a:r>
              <a:rPr sz="1400" b="0">
                <a:solidFill>
                  <a:srgbClr val="585858"/>
                </a:solidFill>
                <a:latin typeface="Arial"/>
              </a:rPr>
              <a:t>Sum of So_don</a:t>
            </a:r>
          </a:p>
          <a:p>
            <a:pPr>
              <a:spcBef>
                <a:spcPts val="200"/>
              </a:spcBef>
            </a:pPr>
            <a:r>
              <a:rPr sz="2200" b="1">
                <a:solidFill>
                  <a:srgbClr val="2E7D32"/>
                </a:solidFill>
                <a:latin typeface="Arial"/>
              </a:rPr>
              <a:t>3.144  ✔</a:t>
            </a:r>
          </a:p>
        </p:txBody>
      </p:sp>
      <p:sp>
        <p:nvSpPr>
          <p:cNvPr id="15" name="Stat card"/>
          <p:cNvSpPr/>
          <p:nvPr/>
        </p:nvSpPr>
        <p:spPr>
          <a:xfrm>
            <a:off x="6812280" y="4242816"/>
            <a:ext cx="4837176" cy="86868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p:cNvSpPr txBox="1"/>
          <p:nvPr/>
        </p:nvSpPr>
        <p:spPr>
          <a:xfrm>
            <a:off x="6995160" y="4334256"/>
            <a:ext cx="4471416" cy="685800"/>
          </a:xfrm>
          <a:prstGeom prst="rect">
            <a:avLst/>
          </a:prstGeom>
          <a:noFill/>
        </p:spPr>
        <p:txBody>
          <a:bodyPr wrap="square" lIns="0" rIns="0" tIns="0" bIns="0" anchor="ctr">
            <a:spAutoFit/>
          </a:bodyPr>
          <a:lstStyle/>
          <a:p>
            <a:r>
              <a:rPr sz="1400" b="0">
                <a:solidFill>
                  <a:srgbClr val="585858"/>
                </a:solidFill>
                <a:latin typeface="Arial"/>
              </a:rPr>
              <a:t>AOV Grand Total</a:t>
            </a:r>
          </a:p>
          <a:p>
            <a:pPr>
              <a:spcBef>
                <a:spcPts val="200"/>
              </a:spcBef>
            </a:pPr>
            <a:r>
              <a:rPr sz="2200" b="1">
                <a:solidFill>
                  <a:srgbClr val="203864"/>
                </a:solidFill>
                <a:latin typeface="Arial"/>
              </a:rPr>
              <a:t>299.445</a:t>
            </a:r>
          </a:p>
        </p:txBody>
      </p:sp>
      <p:sp>
        <p:nvSpPr>
          <p:cNvPr id="17" name="PRO TIP callout"/>
          <p:cNvSpPr/>
          <p:nvPr/>
        </p:nvSpPr>
        <p:spPr>
          <a:xfrm>
            <a:off x="1527048" y="5303520"/>
            <a:ext cx="10122408" cy="777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RO TIP chip"/>
          <p:cNvSpPr/>
          <p:nvPr/>
        </p:nvSpPr>
        <p:spPr>
          <a:xfrm>
            <a:off x="1636776" y="541324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9" name="PRO TIP text"/>
          <p:cNvSpPr txBox="1"/>
          <p:nvPr/>
        </p:nvSpPr>
        <p:spPr>
          <a:xfrm>
            <a:off x="2734056" y="5394959"/>
            <a:ext cx="8805672" cy="594359"/>
          </a:xfrm>
          <a:prstGeom prst="rect">
            <a:avLst/>
          </a:prstGeom>
          <a:noFill/>
        </p:spPr>
        <p:txBody>
          <a:bodyPr wrap="square" lIns="0" rIns="0" tIns="0" bIns="0" anchor="t">
            <a:spAutoFit/>
          </a:bodyPr>
          <a:lstStyle/>
          <a:p>
            <a:r>
              <a:rPr sz="1600" b="0">
                <a:solidFill>
                  <a:srgbClr val="1B2230"/>
                </a:solidFill>
                <a:latin typeface="Arial"/>
              </a:rPr>
              <a:t>Calculated Field luôn tính trên TỔNG: AOV Grand Total = 941.454.000 ÷ 3.144 (tổng ÷ tổng), không phải trung bình AOV các tháng. Cần đếm thì thêm cột đếm vào nguồn.</a:t>
            </a:r>
          </a:p>
        </p:txBody>
      </p:sp>
      <p:sp>
        <p:nvSpPr>
          <p:cNvPr id="20"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Demo/B3_Demo_Pivot.xlsx, sheet PV_Thang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PivotChart: biểu đồ trả lời câu hỏi</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câu hỏi chọn chart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6 · PIVOTCHART</a:t>
            </a:r>
          </a:p>
        </p:txBody>
      </p:sp>
      <p:sp>
        <p:nvSpPr>
          <p:cNvPr id="4" name="TextBox"/>
          <p:cNvSpPr txBox="1"/>
          <p:nvPr/>
        </p:nvSpPr>
        <p:spPr>
          <a:xfrm>
            <a:off x="1527048" y="1463040"/>
            <a:ext cx="4937760" cy="1920240"/>
          </a:xfrm>
          <a:prstGeom prst="rect">
            <a:avLst/>
          </a:prstGeom>
          <a:noFill/>
        </p:spPr>
        <p:txBody>
          <a:bodyPr wrap="square" lIns="0" rIns="0" tIns="0" bIns="0" anchor="t">
            <a:spAutoFit/>
          </a:bodyPr>
          <a:lstStyle/>
          <a:p>
            <a:r>
              <a:rPr sz="1700" b="1">
                <a:solidFill>
                  <a:srgbClr val="203864"/>
                </a:solidFill>
                <a:latin typeface="Arial"/>
              </a:rPr>
              <a:t>1 · </a:t>
            </a:r>
            <a:r>
              <a:rPr sz="1700" b="0">
                <a:solidFill>
                  <a:srgbClr val="1B2230"/>
                </a:solidFill>
                <a:latin typeface="Arial"/>
              </a:rPr>
              <a:t>Dữ liệu loại gì? (số, nhóm, thời gian…)</a:t>
            </a:r>
          </a:p>
          <a:p>
            <a:pPr>
              <a:spcBef>
                <a:spcPts val="1000"/>
              </a:spcBef>
            </a:pPr>
            <a:r>
              <a:rPr sz="1700" b="1">
                <a:solidFill>
                  <a:srgbClr val="203864"/>
                </a:solidFill>
                <a:latin typeface="Arial"/>
              </a:rPr>
              <a:t>2 · </a:t>
            </a:r>
            <a:r>
              <a:rPr sz="1700" b="0">
                <a:solidFill>
                  <a:srgbClr val="1B2230"/>
                </a:solidFill>
                <a:latin typeface="Arial"/>
              </a:rPr>
              <a:t>Muốn truyền đạt gì? (xu hướng, so sánh, cơ cấu…)</a:t>
            </a:r>
          </a:p>
          <a:p>
            <a:pPr>
              <a:spcBef>
                <a:spcPts val="1000"/>
              </a:spcBef>
            </a:pPr>
            <a:r>
              <a:rPr sz="1700" b="1">
                <a:solidFill>
                  <a:srgbClr val="203864"/>
                </a:solidFill>
                <a:latin typeface="Arial"/>
              </a:rPr>
              <a:t>3 · </a:t>
            </a:r>
            <a:r>
              <a:rPr sz="1700" b="0">
                <a:solidFill>
                  <a:srgbClr val="1B2230"/>
                </a:solidFill>
                <a:latin typeface="Arial"/>
              </a:rPr>
              <a:t>Ai xem? (nhà phân tích, giám đốc…)</a:t>
            </a:r>
          </a:p>
        </p:txBody>
      </p:sp>
      <p:graphicFrame>
        <p:nvGraphicFramePr>
          <p:cNvPr id="5" name="Chart chooser"/>
          <p:cNvGraphicFramePr>
            <a:graphicFrameLocks noGrp="1"/>
          </p:cNvGraphicFramePr>
          <p:nvPr/>
        </p:nvGraphicFramePr>
        <p:xfrm>
          <a:off x="1527048" y="3429000"/>
          <a:ext cx="4937760" cy="1645920"/>
        </p:xfrm>
        <a:graphic>
          <a:graphicData uri="http://schemas.openxmlformats.org/drawingml/2006/table">
            <a:tbl>
              <a:tblPr firstRow="1" bandRow="0"/>
              <a:tblGrid>
                <a:gridCol w="2834640"/>
                <a:gridCol w="2103120"/>
              </a:tblGrid>
              <a:tr h="411480">
                <a:tc>
                  <a:txBody>
                    <a:bodyPr wrap="square"/>
                    <a:lstStyle/>
                    <a:p>
                      <a:r>
                        <a:rPr sz="1500" b="1">
                          <a:solidFill>
                            <a:srgbClr val="FFFFFF"/>
                          </a:solidFill>
                          <a:latin typeface="Arial"/>
                        </a:rPr>
                        <a:t>Câu hỏi dữ liệu</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500" b="1">
                          <a:solidFill>
                            <a:srgbClr val="FFFFFF"/>
                          </a:solidFill>
                          <a:latin typeface="Arial"/>
                        </a:rPr>
                        <a:t>Chart</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11480">
                <a:tc>
                  <a:txBody>
                    <a:bodyPr wrap="square"/>
                    <a:lstStyle/>
                    <a:p>
                      <a:r>
                        <a:rPr sz="1500" b="0">
                          <a:solidFill>
                            <a:srgbClr val="1B2230"/>
                          </a:solidFill>
                          <a:latin typeface="Arial"/>
                        </a:rPr>
                        <a:t>Xu hướng theo thời gian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1">
                          <a:solidFill>
                            <a:srgbClr val="203864"/>
                          </a:solidFill>
                          <a:latin typeface="Arial"/>
                        </a:rPr>
                        <a:t>Line</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500" b="0">
                          <a:solidFill>
                            <a:srgbClr val="1B2230"/>
                          </a:solidFill>
                          <a:latin typeface="Arial"/>
                        </a:rPr>
                        <a:t>So sánh giữa các nhóm</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1">
                          <a:solidFill>
                            <a:srgbClr val="203864"/>
                          </a:solidFill>
                          <a:latin typeface="Arial"/>
                        </a:rPr>
                        <a:t>Column / Bar</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500" b="0">
                          <a:solidFill>
                            <a:srgbClr val="1B2230"/>
                          </a:solidFill>
                          <a:latin typeface="Arial"/>
                        </a:rPr>
                        <a:t>Cơ cấu / tỷ trọng</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1">
                          <a:solidFill>
                            <a:srgbClr val="203864"/>
                          </a:solidFill>
                          <a:latin typeface="Arial"/>
                        </a:rPr>
                        <a:t>Stacked column</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6" name="TextBox"/>
          <p:cNvSpPr txBox="1"/>
          <p:nvPr/>
        </p:nvSpPr>
        <p:spPr>
          <a:xfrm>
            <a:off x="6675120" y="1463040"/>
            <a:ext cx="2377440" cy="320040"/>
          </a:xfrm>
          <a:prstGeom prst="rect">
            <a:avLst/>
          </a:prstGeom>
          <a:noFill/>
        </p:spPr>
        <p:txBody>
          <a:bodyPr wrap="square" lIns="0" rIns="0" tIns="0" bIns="0" anchor="t">
            <a:spAutoFit/>
          </a:bodyPr>
          <a:lstStyle/>
          <a:p>
            <a:r>
              <a:rPr sz="1400" b="1">
                <a:solidFill>
                  <a:srgbClr val="9C0006"/>
                </a:solidFill>
                <a:latin typeface="Arial"/>
              </a:rPr>
              <a:t>✘ Pie cho xu hướng</a:t>
            </a:r>
          </a:p>
        </p:txBody>
      </p:sp>
      <p:pic>
        <p:nvPicPr>
          <p:cNvPr id="7" name="Screenshot S28a_pie_wrong" descr="S28a_pie_wrong.png"/>
          <p:cNvPicPr>
            <a:picLocks noChangeAspect="1"/>
          </p:cNvPicPr>
          <p:nvPr/>
        </p:nvPicPr>
        <p:blipFill>
          <a:blip r:embed="rId2"/>
          <a:stretch>
            <a:fillRect/>
          </a:stretch>
        </p:blipFill>
        <p:spPr>
          <a:xfrm>
            <a:off x="6675120" y="1833449"/>
            <a:ext cx="2377440" cy="2276701"/>
          </a:xfrm>
          <a:prstGeom prst="rect">
            <a:avLst/>
          </a:prstGeom>
          <a:ln w="9525">
            <a:solidFill>
              <a:srgbClr val="D9DEE8"/>
            </a:solidFill>
          </a:ln>
        </p:spPr>
      </p:pic>
      <p:sp>
        <p:nvSpPr>
          <p:cNvPr id="8" name="TextBox"/>
          <p:cNvSpPr txBox="1"/>
          <p:nvPr/>
        </p:nvSpPr>
        <p:spPr>
          <a:xfrm>
            <a:off x="9272016" y="1463040"/>
            <a:ext cx="2377440" cy="320040"/>
          </a:xfrm>
          <a:prstGeom prst="rect">
            <a:avLst/>
          </a:prstGeom>
          <a:noFill/>
        </p:spPr>
        <p:txBody>
          <a:bodyPr wrap="square" lIns="0" rIns="0" tIns="0" bIns="0" anchor="t">
            <a:spAutoFit/>
          </a:bodyPr>
          <a:lstStyle/>
          <a:p>
            <a:r>
              <a:rPr sz="1400" b="1">
                <a:solidFill>
                  <a:srgbClr val="2E7D32"/>
                </a:solidFill>
                <a:latin typeface="Arial"/>
              </a:rPr>
              <a:t>✔ Line</a:t>
            </a:r>
          </a:p>
        </p:txBody>
      </p:sp>
      <p:pic>
        <p:nvPicPr>
          <p:cNvPr id="9" name="Screenshot S28b_line_right" descr="S28b_line_right.png"/>
          <p:cNvPicPr>
            <a:picLocks noChangeAspect="1"/>
          </p:cNvPicPr>
          <p:nvPr/>
        </p:nvPicPr>
        <p:blipFill>
          <a:blip r:embed="rId3"/>
          <a:stretch>
            <a:fillRect/>
          </a:stretch>
        </p:blipFill>
        <p:spPr>
          <a:xfrm>
            <a:off x="9272016" y="1833449"/>
            <a:ext cx="2377440" cy="2276701"/>
          </a:xfrm>
          <a:prstGeom prst="rect">
            <a:avLst/>
          </a:prstGeom>
          <a:ln w="9525">
            <a:solidFill>
              <a:srgbClr val="D9DEE8"/>
            </a:solidFill>
          </a:ln>
        </p:spPr>
      </p:pic>
      <p:sp>
        <p:nvSpPr>
          <p:cNvPr id="10" name="TIP callout"/>
          <p:cNvSpPr/>
          <p:nvPr/>
        </p:nvSpPr>
        <p:spPr>
          <a:xfrm>
            <a:off x="6675120" y="4343400"/>
            <a:ext cx="4974336" cy="16916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6784848" y="44531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2" name="TIP text"/>
          <p:cNvSpPr txBox="1"/>
          <p:nvPr/>
        </p:nvSpPr>
        <p:spPr>
          <a:xfrm>
            <a:off x="7360920" y="4434840"/>
            <a:ext cx="4178808" cy="1508760"/>
          </a:xfrm>
          <a:prstGeom prst="rect">
            <a:avLst/>
          </a:prstGeom>
          <a:noFill/>
        </p:spPr>
        <p:txBody>
          <a:bodyPr wrap="square" lIns="0" rIns="0" tIns="0" bIns="0" anchor="t">
            <a:spAutoFit/>
          </a:bodyPr>
          <a:lstStyle/>
          <a:p>
            <a:r>
              <a:rPr sz="1600" b="0">
                <a:solidFill>
                  <a:srgbClr val="1B2230"/>
                </a:solidFill>
                <a:latin typeface="Arial"/>
              </a:rPr>
              <a:t>Tiêu đề biểu đồ là CÂU KẾT LUẬN: “Doanh thu sụt 42% trong tháng Tết”, không phải “Doanh thu theo tháng”.</a:t>
            </a:r>
          </a:p>
        </p:txBody>
      </p:sp>
      <p:sp>
        <p:nvSpPr>
          <p:cNvPr id="13"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Demo/B3_Demo_Pivot.xlsx, sheet PV_Thang · bảng chọn chart đủ 8 loại ở Buổi 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PivotChart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6 · PIVOTCHART</a:t>
            </a:r>
          </a:p>
        </p:txBody>
      </p:sp>
      <p:sp>
        <p:nvSpPr>
          <p:cNvPr id="4" name="Tool name"/>
          <p:cNvSpPr txBox="1"/>
          <p:nvPr/>
        </p:nvSpPr>
        <p:spPr>
          <a:xfrm>
            <a:off x="1527048" y="1463040"/>
            <a:ext cx="10122408" cy="457200"/>
          </a:xfrm>
          <a:prstGeom prst="rect">
            <a:avLst/>
          </a:prstGeom>
          <a:noFill/>
        </p:spPr>
        <p:txBody>
          <a:bodyPr wrap="square" lIns="0" rIns="0" tIns="0" bIns="0" anchor="t">
            <a:spAutoFit/>
          </a:bodyPr>
          <a:lstStyle/>
          <a:p>
            <a:r>
              <a:rPr sz="2400" b="1">
                <a:solidFill>
                  <a:srgbClr val="C00000"/>
                </a:solidFill>
                <a:latin typeface="Arial"/>
              </a:rPr>
              <a:t>PivotChart</a:t>
            </a:r>
          </a:p>
        </p:txBody>
      </p:sp>
      <p:sp>
        <p:nvSpPr>
          <p:cNvPr id="5" name="Tool purpose"/>
          <p:cNvSpPr txBox="1"/>
          <p:nvPr/>
        </p:nvSpPr>
        <p:spPr>
          <a:xfrm>
            <a:off x="1527048" y="1920240"/>
            <a:ext cx="10122408" cy="411480"/>
          </a:xfrm>
          <a:prstGeom prst="rect">
            <a:avLst/>
          </a:prstGeom>
          <a:noFill/>
        </p:spPr>
        <p:txBody>
          <a:bodyPr wrap="square" lIns="0" rIns="0" tIns="0" bIns="0" anchor="t">
            <a:spAutoFit/>
          </a:bodyPr>
          <a:lstStyle/>
          <a:p>
            <a:r>
              <a:rPr sz="1600" b="0">
                <a:solidFill>
                  <a:srgbClr val="585858"/>
                </a:solidFill>
                <a:latin typeface="Arial"/>
              </a:rPr>
              <a:t>Biểu đồ gắn với Pivot: đổi trường, lọc Slicer / Timeline thì biểu đồ đổi theo.</a:t>
            </a:r>
          </a:p>
        </p:txBody>
      </p:sp>
      <p:pic>
        <p:nvPicPr>
          <p:cNvPr id="6" name="Screenshot S29_pivotchart_ngay" descr="S29_pivotchart_ngay.png"/>
          <p:cNvPicPr>
            <a:picLocks noChangeAspect="1"/>
          </p:cNvPicPr>
          <p:nvPr/>
        </p:nvPicPr>
        <p:blipFill>
          <a:blip r:embed="rId2"/>
          <a:stretch>
            <a:fillRect/>
          </a:stretch>
        </p:blipFill>
        <p:spPr>
          <a:xfrm>
            <a:off x="2776367" y="2331720"/>
            <a:ext cx="4816562" cy="3749039"/>
          </a:xfrm>
          <a:prstGeom prst="rect">
            <a:avLst/>
          </a:prstGeom>
          <a:ln w="9525">
            <a:solidFill>
              <a:srgbClr val="D9DEE8"/>
            </a:solidFill>
          </a:ln>
        </p:spPr>
      </p:pic>
      <p:sp>
        <p:nvSpPr>
          <p:cNvPr id="7" name="Stat card"/>
          <p:cNvSpPr/>
          <p:nvPr/>
        </p:nvSpPr>
        <p:spPr>
          <a:xfrm>
            <a:off x="9006840" y="2331720"/>
            <a:ext cx="2642616" cy="694944"/>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9189719" y="2423160"/>
            <a:ext cx="2276856" cy="512064"/>
          </a:xfrm>
          <a:prstGeom prst="rect">
            <a:avLst/>
          </a:prstGeom>
          <a:noFill/>
        </p:spPr>
        <p:txBody>
          <a:bodyPr wrap="square" lIns="0" rIns="0" tIns="0" bIns="0" anchor="ctr">
            <a:spAutoFit/>
          </a:bodyPr>
          <a:lstStyle/>
          <a:p>
            <a:r>
              <a:rPr sz="1400" b="0">
                <a:solidFill>
                  <a:srgbClr val="585858"/>
                </a:solidFill>
                <a:latin typeface="Arial"/>
              </a:rPr>
              <a:t>01–08/01</a:t>
            </a:r>
          </a:p>
          <a:p>
            <a:pPr>
              <a:spcBef>
                <a:spcPts val="200"/>
              </a:spcBef>
            </a:pPr>
            <a:r>
              <a:rPr sz="1700" b="1">
                <a:solidFill>
                  <a:srgbClr val="203864"/>
                </a:solidFill>
                <a:latin typeface="Arial"/>
              </a:rPr>
              <a:t>10,7 tr/ngày</a:t>
            </a:r>
          </a:p>
        </p:txBody>
      </p:sp>
      <p:sp>
        <p:nvSpPr>
          <p:cNvPr id="9" name="Stat card"/>
          <p:cNvSpPr/>
          <p:nvPr/>
        </p:nvSpPr>
        <p:spPr>
          <a:xfrm>
            <a:off x="9006840" y="3099815"/>
            <a:ext cx="2642616" cy="694944"/>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9189719" y="3191256"/>
            <a:ext cx="2276856" cy="512064"/>
          </a:xfrm>
          <a:prstGeom prst="rect">
            <a:avLst/>
          </a:prstGeom>
          <a:noFill/>
        </p:spPr>
        <p:txBody>
          <a:bodyPr wrap="square" lIns="0" rIns="0" tIns="0" bIns="0" anchor="ctr">
            <a:spAutoFit/>
          </a:bodyPr>
          <a:lstStyle/>
          <a:p>
            <a:r>
              <a:rPr sz="1400" b="0">
                <a:solidFill>
                  <a:srgbClr val="585858"/>
                </a:solidFill>
                <a:latin typeface="Arial"/>
              </a:rPr>
              <a:t>09–28/01 · trước Tết</a:t>
            </a:r>
          </a:p>
          <a:p>
            <a:pPr>
              <a:spcBef>
                <a:spcPts val="200"/>
              </a:spcBef>
            </a:pPr>
            <a:r>
              <a:rPr sz="1700" b="1">
                <a:solidFill>
                  <a:srgbClr val="203864"/>
                </a:solidFill>
                <a:latin typeface="Arial"/>
              </a:rPr>
              <a:t>16,5 tr/ngày</a:t>
            </a:r>
          </a:p>
        </p:txBody>
      </p:sp>
      <p:sp>
        <p:nvSpPr>
          <p:cNvPr id="11" name="Stat card"/>
          <p:cNvSpPr/>
          <p:nvPr/>
        </p:nvSpPr>
        <p:spPr>
          <a:xfrm>
            <a:off x="9006840" y="3867911"/>
            <a:ext cx="2642616" cy="694944"/>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9189719" y="3959351"/>
            <a:ext cx="2276856" cy="512064"/>
          </a:xfrm>
          <a:prstGeom prst="rect">
            <a:avLst/>
          </a:prstGeom>
          <a:noFill/>
        </p:spPr>
        <p:txBody>
          <a:bodyPr wrap="square" lIns="0" rIns="0" tIns="0" bIns="0" anchor="ctr">
            <a:spAutoFit/>
          </a:bodyPr>
          <a:lstStyle/>
          <a:p>
            <a:r>
              <a:rPr sz="1400" b="0">
                <a:solidFill>
                  <a:srgbClr val="585858"/>
                </a:solidFill>
                <a:latin typeface="Arial"/>
              </a:rPr>
              <a:t>29/01–02/02 · nghỉ Tết</a:t>
            </a:r>
          </a:p>
          <a:p>
            <a:pPr>
              <a:spcBef>
                <a:spcPts val="200"/>
              </a:spcBef>
            </a:pPr>
            <a:r>
              <a:rPr sz="1700" b="1">
                <a:solidFill>
                  <a:srgbClr val="9C0006"/>
                </a:solidFill>
                <a:latin typeface="Arial"/>
              </a:rPr>
              <a:t>3,0 tr/ngày</a:t>
            </a:r>
          </a:p>
        </p:txBody>
      </p:sp>
      <p:sp>
        <p:nvSpPr>
          <p:cNvPr id="13" name="Stat card"/>
          <p:cNvSpPr/>
          <p:nvPr/>
        </p:nvSpPr>
        <p:spPr>
          <a:xfrm>
            <a:off x="9006840" y="4636008"/>
            <a:ext cx="2642616" cy="694944"/>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9189719" y="4727448"/>
            <a:ext cx="2276856" cy="512064"/>
          </a:xfrm>
          <a:prstGeom prst="rect">
            <a:avLst/>
          </a:prstGeom>
          <a:noFill/>
        </p:spPr>
        <p:txBody>
          <a:bodyPr wrap="square" lIns="0" rIns="0" tIns="0" bIns="0" anchor="ctr">
            <a:spAutoFit/>
          </a:bodyPr>
          <a:lstStyle/>
          <a:p>
            <a:r>
              <a:rPr sz="1400" b="0">
                <a:solidFill>
                  <a:srgbClr val="585858"/>
                </a:solidFill>
                <a:latin typeface="Arial"/>
              </a:rPr>
              <a:t>từ 03/02</a:t>
            </a:r>
          </a:p>
          <a:p>
            <a:pPr>
              <a:spcBef>
                <a:spcPts val="200"/>
              </a:spcBef>
            </a:pPr>
            <a:r>
              <a:rPr sz="1700" b="1">
                <a:solidFill>
                  <a:srgbClr val="203864"/>
                </a:solidFill>
                <a:latin typeface="Arial"/>
              </a:rPr>
              <a:t>9,0 tr/ngày</a:t>
            </a:r>
          </a:p>
        </p:txBody>
      </p:sp>
      <p:sp>
        <p:nvSpPr>
          <p:cNvPr id="15" name="TIP callout"/>
          <p:cNvSpPr/>
          <p:nvPr/>
        </p:nvSpPr>
        <p:spPr>
          <a:xfrm>
            <a:off x="9006840" y="5440680"/>
            <a:ext cx="2642616" cy="6400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p:cNvSpPr txBox="1"/>
          <p:nvPr/>
        </p:nvSpPr>
        <p:spPr>
          <a:xfrm>
            <a:off x="9116567" y="55504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7" name="TIP text"/>
          <p:cNvSpPr txBox="1"/>
          <p:nvPr/>
        </p:nvSpPr>
        <p:spPr>
          <a:xfrm>
            <a:off x="9692640" y="5532120"/>
            <a:ext cx="1847088" cy="457199"/>
          </a:xfrm>
          <a:prstGeom prst="rect">
            <a:avLst/>
          </a:prstGeom>
          <a:noFill/>
        </p:spPr>
        <p:txBody>
          <a:bodyPr wrap="square" lIns="0" rIns="0" tIns="0" bIns="0" anchor="t">
            <a:spAutoFit/>
          </a:bodyPr>
          <a:lstStyle/>
          <a:p>
            <a:r>
              <a:rPr sz="1600" b="0">
                <a:solidFill>
                  <a:srgbClr val="1B2230"/>
                </a:solidFill>
                <a:latin typeface="Arial"/>
              </a:rPr>
              <a:t>Ẩn nút lọc: Field Buttons → Hide All.</a:t>
            </a:r>
          </a:p>
        </p:txBody>
      </p:sp>
      <p:sp>
        <p:nvSpPr>
          <p:cNvPr id="18"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Practice/B3_MCI_Mart_Q1_2025_Answer.xlsx, sheet PV_Ngay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Thực hành 1: Báo cáo Pivot &amp; đối soát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7 · THỰC HÀNH</a:t>
            </a:r>
          </a:p>
        </p:txBody>
      </p:sp>
      <p:sp>
        <p:nvSpPr>
          <p:cNvPr id="4" name="Time chip"/>
          <p:cNvSpPr/>
          <p:nvPr/>
        </p:nvSpPr>
        <p:spPr>
          <a:xfrm>
            <a:off x="1527048" y="1463040"/>
            <a:ext cx="1399032"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15 phút</a:t>
            </a:r>
          </a:p>
        </p:txBody>
      </p:sp>
      <p:sp>
        <p:nvSpPr>
          <p:cNvPr id="5" name="TextBox"/>
          <p:cNvSpPr txBox="1"/>
          <p:nvPr/>
        </p:nvSpPr>
        <p:spPr>
          <a:xfrm>
            <a:off x="1527048" y="2011680"/>
            <a:ext cx="6309360" cy="4114800"/>
          </a:xfrm>
          <a:prstGeom prst="rect">
            <a:avLst/>
          </a:prstGeom>
          <a:noFill/>
        </p:spPr>
        <p:txBody>
          <a:bodyPr wrap="square" lIns="0" rIns="0" tIns="0" bIns="0" anchor="t">
            <a:spAutoFit/>
          </a:bodyPr>
          <a:lstStyle/>
          <a:p>
            <a:r>
              <a:rPr sz="1500" b="1">
                <a:solidFill>
                  <a:srgbClr val="203864"/>
                </a:solidFill>
                <a:latin typeface="Arial"/>
              </a:rPr>
              <a:t>1. </a:t>
            </a:r>
            <a:r>
              <a:rPr sz="1500" b="0">
                <a:solidFill>
                  <a:srgbClr val="1B2230"/>
                </a:solidFill>
                <a:latin typeface="Arial"/>
              </a:rPr>
              <a:t>File B3_&lt;HoTen&gt;.xlsx: thêm cột So_don =IF([@Line_No]=1,1,0) vào tblSales.</a:t>
            </a:r>
          </a:p>
          <a:p>
            <a:pPr>
              <a:spcBef>
                <a:spcPts val="900"/>
              </a:spcBef>
            </a:pPr>
            <a:r>
              <a:rPr sz="1500" b="1">
                <a:solidFill>
                  <a:srgbClr val="203864"/>
                </a:solidFill>
                <a:latin typeface="Arial"/>
              </a:rPr>
              <a:t>2. </a:t>
            </a:r>
            <a:r>
              <a:rPr sz="1500" b="0">
                <a:solidFill>
                  <a:srgbClr val="1B2230"/>
                </a:solidFill>
                <a:latin typeface="Arial"/>
              </a:rPr>
              <a:t>PV_MienThang: Region × Thang, Doanh thu (#,##0, Outline). Đối soát GETPIVOTDATA Bắc–T3 − KPI_SUMIFS!D6 = 0.</a:t>
            </a:r>
          </a:p>
          <a:p>
            <a:pPr>
              <a:spcBef>
                <a:spcPts val="900"/>
              </a:spcBef>
            </a:pPr>
            <a:r>
              <a:rPr sz="1500" b="1">
                <a:solidFill>
                  <a:srgbClr val="203864"/>
                </a:solidFill>
                <a:latin typeface="Arial"/>
              </a:rPr>
              <a:t>3. </a:t>
            </a:r>
            <a:r>
              <a:rPr sz="1500" b="0">
                <a:solidFill>
                  <a:srgbClr val="1B2230"/>
                </a:solidFill>
                <a:latin typeface="Arial"/>
              </a:rPr>
              <a:t>PV_NganhHang: Category × Thang, % of Column Total.</a:t>
            </a:r>
          </a:p>
          <a:p>
            <a:pPr>
              <a:spcBef>
                <a:spcPts val="900"/>
              </a:spcBef>
            </a:pPr>
            <a:r>
              <a:rPr sz="1500" b="1">
                <a:solidFill>
                  <a:srgbClr val="203864"/>
                </a:solidFill>
                <a:latin typeface="Arial"/>
              </a:rPr>
              <a:t>4. </a:t>
            </a:r>
            <a:r>
              <a:rPr sz="1500" b="0">
                <a:solidFill>
                  <a:srgbClr val="1B2230"/>
                </a:solidFill>
                <a:latin typeface="Arial"/>
              </a:rPr>
              <a:t>PV_Thang: Doanh thu, MoM % (% Difference From, previous), Lũy kế, Số đơn (Sum So_don), AOV (Calculated Field).</a:t>
            </a:r>
          </a:p>
          <a:p>
            <a:pPr>
              <a:spcBef>
                <a:spcPts val="900"/>
              </a:spcBef>
            </a:pPr>
            <a:r>
              <a:rPr sz="1500" b="1">
                <a:solidFill>
                  <a:srgbClr val="203864"/>
                </a:solidFill>
                <a:latin typeface="Arial"/>
              </a:rPr>
              <a:t>5. </a:t>
            </a:r>
            <a:r>
              <a:rPr sz="1500" b="0">
                <a:solidFill>
                  <a:srgbClr val="1B2230"/>
                </a:solidFill>
                <a:latin typeface="Arial"/>
              </a:rPr>
              <a:t>Slicer Store_Code, Report Connections nối 3 Pivot.</a:t>
            </a:r>
          </a:p>
        </p:txBody>
      </p:sp>
      <p:sp>
        <p:nvSpPr>
          <p:cNvPr id="6" name="Check box"/>
          <p:cNvSpPr/>
          <p:nvPr/>
        </p:nvSpPr>
        <p:spPr>
          <a:xfrm>
            <a:off x="8110727" y="1463040"/>
            <a:ext cx="3538728" cy="457200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8293608" y="1600200"/>
            <a:ext cx="3172968" cy="4297680"/>
          </a:xfrm>
          <a:prstGeom prst="rect">
            <a:avLst/>
          </a:prstGeom>
          <a:noFill/>
        </p:spPr>
        <p:txBody>
          <a:bodyPr wrap="square" lIns="0" rIns="0" tIns="0" bIns="0" anchor="t">
            <a:spAutoFit/>
          </a:bodyPr>
          <a:lstStyle/>
          <a:p>
            <a:r>
              <a:rPr sz="1600" b="1">
                <a:solidFill>
                  <a:srgbClr val="203864"/>
                </a:solidFill>
                <a:latin typeface="Arial"/>
              </a:rPr>
              <a:t>Kiểm tra</a:t>
            </a:r>
          </a:p>
          <a:p>
            <a:pPr>
              <a:spcBef>
                <a:spcPts val="800"/>
              </a:spcBef>
            </a:pPr>
            <a:r>
              <a:rPr sz="2800" b="1">
                <a:solidFill>
                  <a:srgbClr val="203864"/>
                </a:solidFill>
                <a:latin typeface="Arial"/>
              </a:rPr>
              <a:t>941.454.000</a:t>
            </a:r>
          </a:p>
          <a:p>
            <a:pPr>
              <a:spcBef>
                <a:spcPts val="800"/>
              </a:spcBef>
            </a:pPr>
            <a:r>
              <a:rPr sz="1500" b="0">
                <a:solidFill>
                  <a:srgbClr val="1B2230"/>
                </a:solidFill>
                <a:latin typeface="Arial"/>
              </a:rPr>
              <a:t>Tổng Pivot = tổng SUMIFS B2</a:t>
            </a:r>
          </a:p>
          <a:p>
            <a:pPr>
              <a:spcBef>
                <a:spcPts val="800"/>
              </a:spcBef>
            </a:pPr>
            <a:r>
              <a:rPr sz="1500" b="0">
                <a:solidFill>
                  <a:srgbClr val="1B2230"/>
                </a:solidFill>
                <a:latin typeface="Arial"/>
              </a:rPr>
              <a:t>Bắc–T3: 90.210.000</a:t>
            </a:r>
          </a:p>
          <a:p>
            <a:pPr>
              <a:spcBef>
                <a:spcPts val="800"/>
              </a:spcBef>
            </a:pPr>
            <a:r>
              <a:rPr sz="1500" b="0">
                <a:solidFill>
                  <a:srgbClr val="1B2230"/>
                </a:solidFill>
                <a:latin typeface="Arial"/>
              </a:rPr>
              <a:t>Bánh kẹo T1: 45,6%</a:t>
            </a:r>
          </a:p>
          <a:p>
            <a:pPr>
              <a:spcBef>
                <a:spcPts val="800"/>
              </a:spcBef>
            </a:pPr>
            <a:r>
              <a:rPr sz="1500" b="0">
                <a:solidFill>
                  <a:srgbClr val="1B2230"/>
                </a:solidFill>
                <a:latin typeface="Arial"/>
              </a:rPr>
              <a:t>MoM T2: −42,2%</a:t>
            </a:r>
          </a:p>
          <a:p>
            <a:pPr>
              <a:spcBef>
                <a:spcPts val="800"/>
              </a:spcBef>
            </a:pPr>
            <a:r>
              <a:rPr sz="1500" b="0">
                <a:solidFill>
                  <a:srgbClr val="1B2230"/>
                </a:solidFill>
                <a:latin typeface="Arial"/>
              </a:rPr>
              <a:t>3.144 đơn · AOV 299.445</a:t>
            </a:r>
          </a:p>
        </p:txBody>
      </p:sp>
      <p:sp>
        <p:nvSpPr>
          <p:cNvPr id="8"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File khởi đầu: ../B2_Ham_va_KPI/Practice/B2_MCI_Mart_Q1_2025_Answer.xlsx</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Thực hành 2: Tìm câu chuyện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7 · THỰC HÀNH</a:t>
            </a:r>
          </a:p>
        </p:txBody>
      </p:sp>
      <p:sp>
        <p:nvSpPr>
          <p:cNvPr id="4" name="Time chip"/>
          <p:cNvSpPr/>
          <p:nvPr/>
        </p:nvSpPr>
        <p:spPr>
          <a:xfrm>
            <a:off x="1527048" y="1463040"/>
            <a:ext cx="1399032"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12 phút</a:t>
            </a:r>
          </a:p>
        </p:txBody>
      </p:sp>
      <p:sp>
        <p:nvSpPr>
          <p:cNvPr id="5" name="TextBox"/>
          <p:cNvSpPr txBox="1"/>
          <p:nvPr/>
        </p:nvSpPr>
        <p:spPr>
          <a:xfrm>
            <a:off x="1527048" y="2011680"/>
            <a:ext cx="6309360" cy="4114800"/>
          </a:xfrm>
          <a:prstGeom prst="rect">
            <a:avLst/>
          </a:prstGeom>
          <a:noFill/>
        </p:spPr>
        <p:txBody>
          <a:bodyPr wrap="square" lIns="0" rIns="0" tIns="0" bIns="0" anchor="t">
            <a:spAutoFit/>
          </a:bodyPr>
          <a:lstStyle/>
          <a:p>
            <a:r>
              <a:rPr sz="1500" b="1">
                <a:solidFill>
                  <a:srgbClr val="203864"/>
                </a:solidFill>
                <a:latin typeface="Arial"/>
              </a:rPr>
              <a:t>1. </a:t>
            </a:r>
            <a:r>
              <a:rPr sz="1500" b="0">
                <a:solidFill>
                  <a:srgbClr val="1B2230"/>
                </a:solidFill>
                <a:latin typeface="Arial"/>
              </a:rPr>
              <a:t>PV_Ngay: Order_Date (Group → Days) × Doanh thu → PivotChart Line; thêm Timeline Order_Date.</a:t>
            </a:r>
          </a:p>
          <a:p>
            <a:pPr>
              <a:spcBef>
                <a:spcPts val="1000"/>
              </a:spcBef>
            </a:pPr>
            <a:r>
              <a:rPr sz="1500" b="1">
                <a:solidFill>
                  <a:srgbClr val="203864"/>
                </a:solidFill>
                <a:latin typeface="Arial"/>
              </a:rPr>
              <a:t>2. </a:t>
            </a:r>
            <a:r>
              <a:rPr sz="1500" b="0">
                <a:solidFill>
                  <a:srgbClr val="1B2230"/>
                </a:solidFill>
                <a:latin typeface="Arial"/>
              </a:rPr>
              <a:t>PV_Thu: Thu × Doanh thu, sắp xếp giảm dần → PivotChart Column.</a:t>
            </a:r>
          </a:p>
          <a:p>
            <a:pPr>
              <a:spcBef>
                <a:spcPts val="1000"/>
              </a:spcBef>
            </a:pPr>
            <a:r>
              <a:rPr sz="1500" b="1">
                <a:solidFill>
                  <a:srgbClr val="203864"/>
                </a:solidFill>
                <a:latin typeface="Arial"/>
              </a:rPr>
              <a:t>3. </a:t>
            </a:r>
            <a:r>
              <a:rPr sz="1500" b="0">
                <a:solidFill>
                  <a:srgbClr val="1B2230"/>
                </a:solidFill>
                <a:latin typeface="Arial"/>
              </a:rPr>
              <a:t>PV_CuaHang: Store_Code × Thang + cột % so tháng trước; double-click ST07 × 3, ghi số đơn trước / sau 10/03.</a:t>
            </a:r>
          </a:p>
          <a:p>
            <a:pPr>
              <a:spcBef>
                <a:spcPts val="1000"/>
              </a:spcBef>
            </a:pPr>
            <a:r>
              <a:rPr sz="1500" b="1">
                <a:solidFill>
                  <a:srgbClr val="203864"/>
                </a:solidFill>
                <a:latin typeface="Arial"/>
              </a:rPr>
              <a:t>4. </a:t>
            </a:r>
            <a:r>
              <a:rPr sz="1500" b="0">
                <a:solidFill>
                  <a:srgbClr val="1B2230"/>
                </a:solidFill>
                <a:latin typeface="Arial"/>
              </a:rPr>
              <a:t>Mỗi biểu đồ: tiêu đề là câu kết luận; dòng “Câu hỏi:” ở ô A2.</a:t>
            </a:r>
          </a:p>
        </p:txBody>
      </p:sp>
      <p:sp>
        <p:nvSpPr>
          <p:cNvPr id="6" name="Check box"/>
          <p:cNvSpPr/>
          <p:nvPr/>
        </p:nvSpPr>
        <p:spPr>
          <a:xfrm>
            <a:off x="8110727" y="1463040"/>
            <a:ext cx="3538728" cy="457200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8293608" y="1600200"/>
            <a:ext cx="3172968" cy="4297680"/>
          </a:xfrm>
          <a:prstGeom prst="rect">
            <a:avLst/>
          </a:prstGeom>
          <a:noFill/>
        </p:spPr>
        <p:txBody>
          <a:bodyPr wrap="square" lIns="0" rIns="0" tIns="0" bIns="0" anchor="t">
            <a:spAutoFit/>
          </a:bodyPr>
          <a:lstStyle/>
          <a:p>
            <a:r>
              <a:rPr sz="1600" b="1">
                <a:solidFill>
                  <a:srgbClr val="203864"/>
                </a:solidFill>
                <a:latin typeface="Arial"/>
              </a:rPr>
              <a:t>Kiểm tra</a:t>
            </a:r>
          </a:p>
          <a:p>
            <a:pPr>
              <a:spcBef>
                <a:spcPts val="600"/>
              </a:spcBef>
            </a:pPr>
            <a:r>
              <a:rPr sz="1500" b="1">
                <a:solidFill>
                  <a:srgbClr val="203864"/>
                </a:solidFill>
                <a:latin typeface="Arial"/>
              </a:rPr>
              <a:t>Chủ nhật</a:t>
            </a:r>
          </a:p>
          <a:p>
            <a:pPr>
              <a:spcBef>
                <a:spcPts val="600"/>
              </a:spcBef>
            </a:pPr>
            <a:r>
              <a:rPr sz="1500" b="0">
                <a:solidFill>
                  <a:srgbClr val="1B2230"/>
                </a:solidFill>
                <a:latin typeface="Arial"/>
              </a:rPr>
              <a:t>159.845.000 đứng đầu; thứ Năm 111.408.000 cuối</a:t>
            </a:r>
          </a:p>
          <a:p>
            <a:pPr>
              <a:spcBef>
                <a:spcPts val="600"/>
              </a:spcBef>
            </a:pPr>
            <a:r>
              <a:rPr sz="1500" b="1">
                <a:solidFill>
                  <a:srgbClr val="203864"/>
                </a:solidFill>
                <a:latin typeface="Arial"/>
              </a:rPr>
              <a:t>ST07 tháng 3</a:t>
            </a:r>
          </a:p>
          <a:p>
            <a:pPr>
              <a:spcBef>
                <a:spcPts val="600"/>
              </a:spcBef>
            </a:pPr>
            <a:r>
              <a:rPr sz="1500" b="0">
                <a:solidFill>
                  <a:srgbClr val="1B2230"/>
                </a:solidFill>
                <a:latin typeface="Arial"/>
              </a:rPr>
              <a:t>8.539.000 (−52,4%), 55 dòng chi tiết</a:t>
            </a:r>
          </a:p>
          <a:p>
            <a:pPr>
              <a:spcBef>
                <a:spcPts val="600"/>
              </a:spcBef>
            </a:pPr>
            <a:r>
              <a:rPr sz="1500" b="1">
                <a:solidFill>
                  <a:srgbClr val="203864"/>
                </a:solidFill>
                <a:latin typeface="Arial"/>
              </a:rPr>
              <a:t>Trước Tết</a:t>
            </a:r>
          </a:p>
          <a:p>
            <a:pPr>
              <a:spcBef>
                <a:spcPts val="600"/>
              </a:spcBef>
            </a:pPr>
            <a:r>
              <a:rPr sz="1500" b="0">
                <a:solidFill>
                  <a:srgbClr val="1B2230"/>
                </a:solidFill>
                <a:latin typeface="Arial"/>
              </a:rPr>
              <a:t>~16,5 triệu / ngày (09–28/01)</a:t>
            </a:r>
          </a:p>
        </p:txBody>
      </p:sp>
      <p:sp>
        <p:nvSpPr>
          <p:cNvPr id="8"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Kết quả mẫu: Practice/B3_MCI_Mart_Q1_2025_Answer.xlsx (sheet PV_Ngay, PV_Thu, PV_CuaHang, ST07_T3_ChiTiet)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Chữa bài nhanh</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7 · THỰC HÀNH</a:t>
            </a:r>
          </a:p>
        </p:txBody>
      </p:sp>
      <p:sp>
        <p:nvSpPr>
          <p:cNvPr id="4" name="Checkbox 1"/>
          <p:cNvSpPr/>
          <p:nvPr/>
        </p:nvSpPr>
        <p:spPr>
          <a:xfrm>
            <a:off x="1527048" y="169164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2075688" y="1645920"/>
            <a:ext cx="9573768" cy="457200"/>
          </a:xfrm>
          <a:prstGeom prst="rect">
            <a:avLst/>
          </a:prstGeom>
          <a:noFill/>
        </p:spPr>
        <p:txBody>
          <a:bodyPr wrap="square" lIns="0" rIns="0" tIns="0" bIns="0" anchor="ctr">
            <a:spAutoFit/>
          </a:bodyPr>
          <a:lstStyle/>
          <a:p>
            <a:r>
              <a:rPr sz="2000" b="0">
                <a:solidFill>
                  <a:srgbClr val="1B2230"/>
                </a:solidFill>
                <a:latin typeface="Arial"/>
              </a:rPr>
              <a:t>Tổng Pivot = tổng SUMIFS B2 = 941.454.000 (khối đối soát chênh lệch 0)</a:t>
            </a:r>
          </a:p>
        </p:txBody>
      </p:sp>
      <p:cxnSp>
        <p:nvCxnSpPr>
          <p:cNvPr id="6" name="Connector 5"/>
          <p:cNvCxnSpPr/>
          <p:nvPr/>
        </p:nvCxnSpPr>
        <p:spPr>
          <a:xfrm>
            <a:off x="1527048" y="2304288"/>
            <a:ext cx="10122408" cy="0"/>
          </a:xfrm>
          <a:prstGeom prst="line">
            <a:avLst/>
          </a:prstGeom>
          <a:ln>
            <a:solidFill>
              <a:srgbClr val="D9DEE8"/>
            </a:solidFill>
          </a:ln>
        </p:spPr>
        <p:style>
          <a:lnRef idx="2">
            <a:schemeClr val="accent1"/>
          </a:lnRef>
          <a:fillRef idx="0">
            <a:schemeClr val="accent1"/>
          </a:fillRef>
          <a:effectRef idx="1">
            <a:schemeClr val="accent1"/>
          </a:effectRef>
          <a:fontRef idx="minor">
            <a:schemeClr val="tx1"/>
          </a:fontRef>
        </p:style>
      </p:cxnSp>
      <p:sp>
        <p:nvSpPr>
          <p:cNvPr id="7" name="Checkbox 2"/>
          <p:cNvSpPr/>
          <p:nvPr/>
        </p:nvSpPr>
        <p:spPr>
          <a:xfrm>
            <a:off x="1527048" y="251460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2075688" y="2468880"/>
            <a:ext cx="9573768" cy="457200"/>
          </a:xfrm>
          <a:prstGeom prst="rect">
            <a:avLst/>
          </a:prstGeom>
          <a:noFill/>
        </p:spPr>
        <p:txBody>
          <a:bodyPr wrap="square" lIns="0" rIns="0" tIns="0" bIns="0" anchor="ctr">
            <a:spAutoFit/>
          </a:bodyPr>
          <a:lstStyle/>
          <a:p>
            <a:r>
              <a:rPr sz="2000" b="0">
                <a:solidFill>
                  <a:srgbClr val="1B2230"/>
                </a:solidFill>
                <a:latin typeface="Arial"/>
              </a:rPr>
              <a:t>PV_NganhHang, PV_Thang dùng Show Values As; AOV bằng Calculated Field (299.445)</a:t>
            </a:r>
          </a:p>
        </p:txBody>
      </p:sp>
      <p:cxnSp>
        <p:nvCxnSpPr>
          <p:cNvPr id="9" name="Connector 8"/>
          <p:cNvCxnSpPr/>
          <p:nvPr/>
        </p:nvCxnSpPr>
        <p:spPr>
          <a:xfrm>
            <a:off x="1527048" y="3127248"/>
            <a:ext cx="10122408" cy="0"/>
          </a:xfrm>
          <a:prstGeom prst="line">
            <a:avLst/>
          </a:prstGeom>
          <a:ln>
            <a:solidFill>
              <a:srgbClr val="D9DEE8"/>
            </a:solidFill>
          </a:ln>
        </p:spPr>
        <p:style>
          <a:lnRef idx="2">
            <a:schemeClr val="accent1"/>
          </a:lnRef>
          <a:fillRef idx="0">
            <a:schemeClr val="accent1"/>
          </a:fillRef>
          <a:effectRef idx="1">
            <a:schemeClr val="accent1"/>
          </a:effectRef>
          <a:fontRef idx="minor">
            <a:schemeClr val="tx1"/>
          </a:fontRef>
        </p:style>
      </p:cxnSp>
      <p:sp>
        <p:nvSpPr>
          <p:cNvPr id="10" name="Checkbox 3"/>
          <p:cNvSpPr/>
          <p:nvPr/>
        </p:nvSpPr>
        <p:spPr>
          <a:xfrm>
            <a:off x="1527048" y="333756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2075688" y="3291840"/>
            <a:ext cx="9573768" cy="457200"/>
          </a:xfrm>
          <a:prstGeom prst="rect">
            <a:avLst/>
          </a:prstGeom>
          <a:noFill/>
        </p:spPr>
        <p:txBody>
          <a:bodyPr wrap="square" lIns="0" rIns="0" tIns="0" bIns="0" anchor="ctr">
            <a:spAutoFit/>
          </a:bodyPr>
          <a:lstStyle/>
          <a:p>
            <a:r>
              <a:rPr sz="2000" b="0">
                <a:solidFill>
                  <a:srgbClr val="1B2230"/>
                </a:solidFill>
                <a:latin typeface="Arial"/>
              </a:rPr>
              <a:t>Slicer Store_Code lọc được cả 3 Pivot</a:t>
            </a:r>
          </a:p>
        </p:txBody>
      </p:sp>
      <p:cxnSp>
        <p:nvCxnSpPr>
          <p:cNvPr id="12" name="Connector 11"/>
          <p:cNvCxnSpPr/>
          <p:nvPr/>
        </p:nvCxnSpPr>
        <p:spPr>
          <a:xfrm>
            <a:off x="1527048" y="3950208"/>
            <a:ext cx="10122408" cy="0"/>
          </a:xfrm>
          <a:prstGeom prst="line">
            <a:avLst/>
          </a:prstGeom>
          <a:ln>
            <a:solidFill>
              <a:srgbClr val="D9DEE8"/>
            </a:solidFill>
          </a:ln>
        </p:spPr>
        <p:style>
          <a:lnRef idx="2">
            <a:schemeClr val="accent1"/>
          </a:lnRef>
          <a:fillRef idx="0">
            <a:schemeClr val="accent1"/>
          </a:fillRef>
          <a:effectRef idx="1">
            <a:schemeClr val="accent1"/>
          </a:effectRef>
          <a:fontRef idx="minor">
            <a:schemeClr val="tx1"/>
          </a:fontRef>
        </p:style>
      </p:cxnSp>
      <p:sp>
        <p:nvSpPr>
          <p:cNvPr id="13" name="Checkbox 4"/>
          <p:cNvSpPr/>
          <p:nvPr/>
        </p:nvSpPr>
        <p:spPr>
          <a:xfrm>
            <a:off x="1527048" y="416052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2075688" y="4114800"/>
            <a:ext cx="9573768" cy="457200"/>
          </a:xfrm>
          <a:prstGeom prst="rect">
            <a:avLst/>
          </a:prstGeom>
          <a:noFill/>
        </p:spPr>
        <p:txBody>
          <a:bodyPr wrap="square" lIns="0" rIns="0" tIns="0" bIns="0" anchor="ctr">
            <a:spAutoFit/>
          </a:bodyPr>
          <a:lstStyle/>
          <a:p>
            <a:r>
              <a:rPr sz="2000" b="0">
                <a:solidFill>
                  <a:srgbClr val="1B2230"/>
                </a:solidFill>
                <a:latin typeface="Arial"/>
              </a:rPr>
              <a:t>PivotChart theo ngày, theo thứ; tiêu đề là câu kết luận, có dòng “Câu hỏi:”</a:t>
            </a:r>
          </a:p>
        </p:txBody>
      </p:sp>
      <p:cxnSp>
        <p:nvCxnSpPr>
          <p:cNvPr id="15" name="Connector 14"/>
          <p:cNvCxnSpPr/>
          <p:nvPr/>
        </p:nvCxnSpPr>
        <p:spPr>
          <a:xfrm>
            <a:off x="1527048" y="4773168"/>
            <a:ext cx="10122408" cy="0"/>
          </a:xfrm>
          <a:prstGeom prst="line">
            <a:avLst/>
          </a:prstGeom>
          <a:ln>
            <a:solidFill>
              <a:srgbClr val="D9DEE8"/>
            </a:solidFill>
          </a:ln>
        </p:spPr>
        <p:style>
          <a:lnRef idx="2">
            <a:schemeClr val="accent1"/>
          </a:lnRef>
          <a:fillRef idx="0">
            <a:schemeClr val="accent1"/>
          </a:fillRef>
          <a:effectRef idx="1">
            <a:schemeClr val="accent1"/>
          </a:effectRef>
          <a:fontRef idx="minor">
            <a:schemeClr val="tx1"/>
          </a:fontRef>
        </p:style>
      </p:cxnSp>
      <p:sp>
        <p:nvSpPr>
          <p:cNvPr id="16" name="Checkbox 5"/>
          <p:cNvSpPr/>
          <p:nvPr/>
        </p:nvSpPr>
        <p:spPr>
          <a:xfrm>
            <a:off x="1527048" y="4983480"/>
            <a:ext cx="320040" cy="32004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p:cNvSpPr txBox="1"/>
          <p:nvPr/>
        </p:nvSpPr>
        <p:spPr>
          <a:xfrm>
            <a:off x="2075688" y="4937760"/>
            <a:ext cx="9573768" cy="457200"/>
          </a:xfrm>
          <a:prstGeom prst="rect">
            <a:avLst/>
          </a:prstGeom>
          <a:noFill/>
        </p:spPr>
        <p:txBody>
          <a:bodyPr wrap="square" lIns="0" rIns="0" tIns="0" bIns="0" anchor="ctr">
            <a:spAutoFit/>
          </a:bodyPr>
          <a:lstStyle/>
          <a:p>
            <a:r>
              <a:rPr sz="2000" b="0">
                <a:solidFill>
                  <a:srgbClr val="1B2230"/>
                </a:solidFill>
                <a:latin typeface="Arial"/>
              </a:rPr>
              <a:t>Đã drill-down ST07 tháng 3</a:t>
            </a:r>
          </a:p>
        </p:txBody>
      </p:sp>
      <p:sp>
        <p:nvSpPr>
          <p:cNvPr id="18"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File đáp án Practice/B3_MCI_Mart_Q1_2025_Answer.xlsx (sheet Kiem_tra: 14 dòng đối soát) là file khởi đầu Buổi 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Excel Quiz Challenge</a:t>
            </a:r>
          </a:p>
        </p:txBody>
      </p:sp>
      <p:sp>
        <p:nvSpPr>
          <p:cNvPr id="3" name="Text Placeholder 2"/>
          <p:cNvSpPr>
            <a:spLocks noGrp="1"/>
          </p:cNvSpPr>
          <p:nvPr>
            <p:ph type="body" idx="1"/>
          </p:nvPr>
        </p:nvSpPr>
        <p:spPr/>
        <p:txBody>
          <a:bodyPr/>
          <a:lstStyle/>
          <a:p>
            <a:r>
              <a:t>7 câu hỏi nhanh · câu 6–7 là tình huống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 Pivot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Ô Pivot Bắc × Tháng 3 = 90.210.000 tương đương công thức nào?</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400" b="0">
                <a:solidFill>
                  <a:srgbClr val="1B2230"/>
                </a:solidFill>
                <a:latin typeface="Arial"/>
              </a:rPr>
              <a:t>=SUM(tblSales[Revenue])</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400" b="0">
                <a:solidFill>
                  <a:srgbClr val="1B2230"/>
                </a:solidFill>
                <a:latin typeface="Arial"/>
              </a:rPr>
              <a:t>=SUMIFS(tblSales[Revenue], tblSales[Region],"Bắc", tblSales[Thang],3)</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400" b="0">
                <a:solidFill>
                  <a:srgbClr val="1B2230"/>
                </a:solidFill>
                <a:latin typeface="Arial"/>
              </a:rPr>
              <a:t>=COUNTIFS(tblSales[Region],"Bắc", tblSales[Thang],3)</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400" b="0">
                <a:solidFill>
                  <a:srgbClr val="1B2230"/>
                </a:solidFill>
                <a:latin typeface="Arial"/>
              </a:rPr>
              <a:t>=AVERAGEIFS(tblSales[Revenue], tblSales[Region],"Bắc")</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 Refresh</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Bạn sửa Quantity trong tblSales nhưng Pivot không đổi. Vì sao?</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800" b="0">
                <a:solidFill>
                  <a:srgbClr val="1B2230"/>
                </a:solidFill>
                <a:latin typeface="Arial"/>
              </a:rPr>
              <a:t>Pivot bị khóa</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800" b="0">
                <a:solidFill>
                  <a:srgbClr val="1B2230"/>
                </a:solidFill>
                <a:latin typeface="Arial"/>
              </a:rPr>
              <a:t>Pivot đọc từ bộ nhớ đệm, cần Refresh</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800" b="0">
                <a:solidFill>
                  <a:srgbClr val="1B2230"/>
                </a:solidFill>
                <a:latin typeface="Arial"/>
              </a:rPr>
              <a:t>Excel đang tính thủ công</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800" b="0">
                <a:solidFill>
                  <a:srgbClr val="1B2230"/>
                </a:solidFill>
                <a:latin typeface="Arial"/>
              </a:rPr>
              <a:t>Pivot chỉ đọc cột Revenue</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 Summarize Values By</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Kéo Revenue vào Values, Pivot hiện “Count of Revenue”. Nguyên nhân khả dĩ nhất?</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800" b="0">
                <a:solidFill>
                  <a:srgbClr val="1B2230"/>
                </a:solidFill>
                <a:latin typeface="Arial"/>
              </a:rPr>
              <a:t>Revenue là cột công thức</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800" b="0">
                <a:solidFill>
                  <a:srgbClr val="1B2230"/>
                </a:solidFill>
                <a:latin typeface="Arial"/>
              </a:rPr>
              <a:t>Cột Revenue có ô trống hoặc ô chữ</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800" b="0">
                <a:solidFill>
                  <a:srgbClr val="1B2230"/>
                </a:solidFill>
                <a:latin typeface="Arial"/>
              </a:rPr>
              <a:t>Pivot luôn mặc định Count</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800" b="0">
                <a:solidFill>
                  <a:srgbClr val="1B2230"/>
                </a:solidFill>
                <a:latin typeface="Arial"/>
              </a:rPr>
              <a:t>Chưa Refresh</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4: Show Values As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Tháng ở cột, ngành hàng ở hàng. Muốn biết mỗi ngành chiếm bao nhiêu % doanh thu CỦA TỪNG THÁNG?</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800" b="0">
                <a:solidFill>
                  <a:srgbClr val="1B2230"/>
                </a:solidFill>
                <a:latin typeface="Arial"/>
              </a:rPr>
              <a:t>% of Grand Total</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rIns="0" tIns="0" bIns="0" anchor="ctr">
            <a:spAutoFit/>
          </a:bodyPr>
          <a:lstStyle/>
          <a:p>
            <a:r>
              <a:rPr sz="1800" b="0">
                <a:solidFill>
                  <a:srgbClr val="1B2230"/>
                </a:solidFill>
                <a:latin typeface="Arial"/>
              </a:rPr>
              <a:t>% of Row Total</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nswer highlight C"/>
          <p:cNvSpPr/>
          <p:nvPr/>
        </p:nvSpPr>
        <p:spPr>
          <a:xfrm>
            <a:off x="1527048"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4" name="Answer letter C"/>
          <p:cNvSpPr/>
          <p:nvPr/>
        </p:nvSpPr>
        <p:spPr>
          <a:xfrm>
            <a:off x="1709928"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800" b="0">
                <a:solidFill>
                  <a:srgbClr val="1B2230"/>
                </a:solidFill>
                <a:latin typeface="Arial"/>
              </a:rPr>
              <a:t>% of Column Total</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800" b="0">
                <a:solidFill>
                  <a:srgbClr val="1B2230"/>
                </a:solidFill>
                <a:latin typeface="Arial"/>
              </a:rPr>
              <a:t>Running Total In</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5010912"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400"/>
                                        <p:tgtEl>
                                          <p:spTgt spid="1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9" grpId="0" animBg="1"/>
      <p:bldP spid="20" grpId="0" animBg="1"/>
      <p:bldP spid="21" grpId="0" animBg="1"/>
      <p:bldP spid="22"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5: Calculated Field</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Calculated Field AOV = Revenue / So_don. Ô Grand Total tính thế nào?</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800" b="0">
                <a:solidFill>
                  <a:srgbClr val="1B2230"/>
                </a:solidFill>
                <a:latin typeface="Arial"/>
              </a:rPr>
              <a:t>Trung bình AOV của các tháng</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800" b="0">
                <a:solidFill>
                  <a:srgbClr val="1B2230"/>
                </a:solidFill>
                <a:latin typeface="Arial"/>
              </a:rPr>
              <a:t>Tổng Revenue ÷ tổng So_don</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800" b="0">
                <a:solidFill>
                  <a:srgbClr val="1B2230"/>
                </a:solidFill>
                <a:latin typeface="Arial"/>
              </a:rPr>
              <a:t>AOV tháng lớn nhất</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800" b="0">
                <a:solidFill>
                  <a:srgbClr val="1B2230"/>
                </a:solidFill>
                <a:latin typeface="Arial"/>
              </a:rPr>
              <a:t>Tổng AOV các tháng</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6: Tình huống — Chọn chart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000" b="0">
                <a:solidFill>
                  <a:srgbClr val="1B2230"/>
                </a:solidFill>
                <a:latin typeface="Arial"/>
              </a:rPr>
              <a:t>Sếp muốn nhìn doanh thu 90 ngày Quý 1 để thấy ảnh hưởng của Tết. Chọn loại biểu đồ nào?</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800" b="0">
                <a:solidFill>
                  <a:srgbClr val="1B2230"/>
                </a:solidFill>
                <a:latin typeface="Arial"/>
              </a:rPr>
              <a:t>Pie</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800" b="0">
                <a:solidFill>
                  <a:srgbClr val="1B2230"/>
                </a:solidFill>
                <a:latin typeface="Arial"/>
              </a:rPr>
              <a:t>Line</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800" b="0">
                <a:solidFill>
                  <a:srgbClr val="1B2230"/>
                </a:solidFill>
                <a:latin typeface="Arial"/>
              </a:rPr>
              <a:t>Stacked column 100%</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800" b="0">
                <a:solidFill>
                  <a:srgbClr val="1B2230"/>
                </a:solidFill>
                <a:latin typeface="Arial"/>
              </a:rPr>
              <a:t>Scatter</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7: Tình huống — Chọn công cụ</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Khi nào VẪN NÊN dùng SUMIFS thay vì Pivot?</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500" b="0">
                <a:solidFill>
                  <a:srgbClr val="1B2230"/>
                </a:solidFill>
                <a:latin typeface="Arial"/>
              </a:rPr>
              <a:t>Khi cần đổi chiều phân tích liên tục</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500" b="0">
                <a:solidFill>
                  <a:srgbClr val="1B2230"/>
                </a:solidFill>
                <a:latin typeface="Arial"/>
              </a:rPr>
              <a:t>Khi báo cáo có bố cục cố định và ô kết quả được công thức khác tham chiếu (thẻ KPI, so với target)</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500" b="0">
                <a:solidFill>
                  <a:srgbClr val="1B2230"/>
                </a:solidFill>
                <a:latin typeface="Arial"/>
              </a:rPr>
              <a:t>Khi dữ liệu có nhiều dòng</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500" b="0">
                <a:solidFill>
                  <a:srgbClr val="1B2230"/>
                </a:solidFill>
                <a:latin typeface="Arial"/>
              </a:rPr>
              <a:t>Khi cần xem các dòng gốc</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Tổng kết &amp; insight của bạn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QUIZ &amp; TỔNG KẾT</a:t>
            </a:r>
          </a:p>
        </p:txBody>
      </p:sp>
      <p:sp>
        <p:nvSpPr>
          <p:cNvPr id="4" name="TextBox"/>
          <p:cNvSpPr txBox="1"/>
          <p:nvPr/>
        </p:nvSpPr>
        <p:spPr>
          <a:xfrm>
            <a:off x="1527048" y="1508760"/>
            <a:ext cx="4572000" cy="411480"/>
          </a:xfrm>
          <a:prstGeom prst="rect">
            <a:avLst/>
          </a:prstGeom>
          <a:noFill/>
        </p:spPr>
        <p:txBody>
          <a:bodyPr wrap="square" lIns="0" rIns="0" tIns="0" bIns="0" anchor="t">
            <a:spAutoFit/>
          </a:bodyPr>
          <a:lstStyle/>
          <a:p>
            <a:r>
              <a:rPr sz="1800" b="1">
                <a:solidFill>
                  <a:srgbClr val="203864"/>
                </a:solidFill>
                <a:latin typeface="Arial"/>
              </a:rPr>
              <a:t>Điểm chính cần nhớ</a:t>
            </a:r>
          </a:p>
        </p:txBody>
      </p:sp>
      <p:sp>
        <p:nvSpPr>
          <p:cNvPr id="5" name="TextBox"/>
          <p:cNvSpPr txBox="1"/>
          <p:nvPr/>
        </p:nvSpPr>
        <p:spPr>
          <a:xfrm>
            <a:off x="1527048" y="2011680"/>
            <a:ext cx="4572000" cy="4023360"/>
          </a:xfrm>
          <a:prstGeom prst="rect">
            <a:avLst/>
          </a:prstGeom>
          <a:noFill/>
        </p:spPr>
        <p:txBody>
          <a:bodyPr wrap="square" lIns="0" rIns="0" tIns="0" bIns="0" anchor="t">
            <a:spAutoFit/>
          </a:bodyPr>
          <a:lstStyle/>
          <a:p>
            <a:r>
              <a:rPr sz="1700" b="0">
                <a:solidFill>
                  <a:srgbClr val="1B2230"/>
                </a:solidFill>
                <a:latin typeface="Arial"/>
              </a:rPr>
              <a:t>(1) Mỗi ô Pivot = một SUMIFS: tọa độ là bộ lọc.</a:t>
            </a:r>
          </a:p>
          <a:p>
            <a:pPr>
              <a:spcBef>
                <a:spcPts val="1000"/>
              </a:spcBef>
            </a:pPr>
            <a:r>
              <a:rPr sz="1700" b="0">
                <a:solidFill>
                  <a:srgbClr val="1B2230"/>
                </a:solidFill>
                <a:latin typeface="Arial"/>
              </a:rPr>
              <a:t>(2) Nguồn Pivot là Table; Pivot đọc cache → Refresh.</a:t>
            </a:r>
          </a:p>
          <a:p>
            <a:pPr>
              <a:spcBef>
                <a:spcPts val="1000"/>
              </a:spcBef>
            </a:pPr>
            <a:r>
              <a:rPr sz="1700" b="0">
                <a:solidFill>
                  <a:srgbClr val="1B2230"/>
                </a:solidFill>
                <a:latin typeface="Arial"/>
              </a:rPr>
              <a:t>(3) Con số bất thường → drill-down trước khi kết luận.</a:t>
            </a:r>
          </a:p>
          <a:p>
            <a:pPr>
              <a:spcBef>
                <a:spcPts val="1000"/>
              </a:spcBef>
            </a:pPr>
            <a:r>
              <a:rPr sz="1700" b="0">
                <a:solidFill>
                  <a:srgbClr val="1B2230"/>
                </a:solidFill>
                <a:latin typeface="Arial"/>
              </a:rPr>
              <a:t>(4) Show Values As, Calculated Field tính trên kết quả đã tổng hợp: tỷ lệ luôn tổng ÷ tổng.</a:t>
            </a:r>
          </a:p>
          <a:p>
            <a:pPr>
              <a:spcBef>
                <a:spcPts val="1000"/>
              </a:spcBef>
            </a:pPr>
            <a:r>
              <a:rPr sz="1700" b="0">
                <a:solidFill>
                  <a:srgbClr val="1B2230"/>
                </a:solidFill>
                <a:latin typeface="Arial"/>
              </a:rPr>
              <a:t>(5) Chọn chart theo câu hỏi; tiêu đề là câu kết luận.</a:t>
            </a:r>
          </a:p>
        </p:txBody>
      </p:sp>
      <p:sp>
        <p:nvSpPr>
          <p:cNvPr id="6" name="Insight box"/>
          <p:cNvSpPr/>
          <p:nvPr/>
        </p:nvSpPr>
        <p:spPr>
          <a:xfrm>
            <a:off x="6373368" y="1508760"/>
            <a:ext cx="5276088" cy="347472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6556248" y="1645920"/>
            <a:ext cx="4910328" cy="411480"/>
          </a:xfrm>
          <a:prstGeom prst="rect">
            <a:avLst/>
          </a:prstGeom>
          <a:noFill/>
        </p:spPr>
        <p:txBody>
          <a:bodyPr wrap="square" lIns="0" rIns="0" tIns="0" bIns="0" anchor="t">
            <a:spAutoFit/>
          </a:bodyPr>
          <a:lstStyle/>
          <a:p>
            <a:r>
              <a:rPr sz="1800" b="1">
                <a:solidFill>
                  <a:srgbClr val="203864"/>
                </a:solidFill>
                <a:latin typeface="Arial"/>
              </a:rPr>
              <a:t>Insight của bạn (1 câu)</a:t>
            </a:r>
          </a:p>
        </p:txBody>
      </p:sp>
      <p:sp>
        <p:nvSpPr>
          <p:cNvPr id="8" name="TextBox"/>
          <p:cNvSpPr txBox="1"/>
          <p:nvPr/>
        </p:nvSpPr>
        <p:spPr>
          <a:xfrm>
            <a:off x="6556248" y="2148840"/>
            <a:ext cx="4910328" cy="2011680"/>
          </a:xfrm>
          <a:prstGeom prst="rect">
            <a:avLst/>
          </a:prstGeom>
          <a:noFill/>
        </p:spPr>
        <p:txBody>
          <a:bodyPr wrap="square" lIns="0" rIns="0" tIns="0" bIns="0" anchor="t">
            <a:spAutoFit/>
          </a:bodyPr>
          <a:lstStyle/>
          <a:p>
            <a:r>
              <a:rPr sz="2200" b="0">
                <a:solidFill>
                  <a:srgbClr val="1B2230"/>
                </a:solidFill>
                <a:latin typeface="Arial"/>
              </a:rPr>
              <a:t>“Doanh thu ___ là ___ (con số, có so sánh), vì ___ (nguyên nhân khả dĩ), nên ___ (hàm ý).”</a:t>
            </a:r>
          </a:p>
        </p:txBody>
      </p:sp>
      <p:sp>
        <p:nvSpPr>
          <p:cNvPr id="9" name="Tag Con số"/>
          <p:cNvSpPr/>
          <p:nvPr/>
        </p:nvSpPr>
        <p:spPr>
          <a:xfrm>
            <a:off x="6556248"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Con số</a:t>
            </a:r>
          </a:p>
        </p:txBody>
      </p:sp>
      <p:sp>
        <p:nvSpPr>
          <p:cNvPr id="10" name="Tag Nguyên nhân"/>
          <p:cNvSpPr/>
          <p:nvPr/>
        </p:nvSpPr>
        <p:spPr>
          <a:xfrm>
            <a:off x="8238744"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Nguyên nhân</a:t>
            </a:r>
          </a:p>
        </p:txBody>
      </p:sp>
      <p:sp>
        <p:nvSpPr>
          <p:cNvPr id="11" name="Tag Hàm ý"/>
          <p:cNvSpPr/>
          <p:nvPr/>
        </p:nvSpPr>
        <p:spPr>
          <a:xfrm>
            <a:off x="9921240"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Hàm ý</a:t>
            </a:r>
          </a:p>
        </p:txBody>
      </p:sp>
      <p:sp>
        <p:nvSpPr>
          <p:cNvPr id="12" name="TextBox"/>
          <p:cNvSpPr txBox="1"/>
          <p:nvPr/>
        </p:nvSpPr>
        <p:spPr>
          <a:xfrm>
            <a:off x="6373368" y="5120640"/>
            <a:ext cx="5276088" cy="822960"/>
          </a:xfrm>
          <a:prstGeom prst="rect">
            <a:avLst/>
          </a:prstGeom>
          <a:noFill/>
        </p:spPr>
        <p:txBody>
          <a:bodyPr wrap="square" lIns="0" rIns="0" tIns="0" bIns="0" anchor="t">
            <a:spAutoFit/>
          </a:bodyPr>
          <a:lstStyle/>
          <a:p>
            <a:r>
              <a:rPr sz="1400" b="0">
                <a:solidFill>
                  <a:srgbClr val="585858"/>
                </a:solidFill>
                <a:latin typeface="Arial"/>
              </a:rPr>
              <a:t>Ba câu chuyện hôm nay: Tết (tháng 1 &gt; tháng 2) · ST07 từ 10/03 · cuối tuần +25%.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Buổi sau: Power Query</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QUIZ &amp; TỔNG KẾT</a:t>
            </a:r>
          </a:p>
        </p:txBody>
      </p:sp>
      <p:sp>
        <p:nvSpPr>
          <p:cNvPr id="4" name="TextBox"/>
          <p:cNvSpPr txBox="1"/>
          <p:nvPr/>
        </p:nvSpPr>
        <p:spPr>
          <a:xfrm>
            <a:off x="1527048" y="1508760"/>
            <a:ext cx="6400800" cy="1005840"/>
          </a:xfrm>
          <a:prstGeom prst="rect">
            <a:avLst/>
          </a:prstGeom>
          <a:noFill/>
        </p:spPr>
        <p:txBody>
          <a:bodyPr wrap="square" lIns="0" rIns="0" tIns="0" bIns="0" anchor="t">
            <a:spAutoFit/>
          </a:bodyPr>
          <a:lstStyle/>
          <a:p>
            <a:r>
              <a:rPr sz="1900" b="1">
                <a:solidFill>
                  <a:srgbClr val="203864"/>
                </a:solidFill>
                <a:latin typeface="Arial"/>
              </a:rPr>
              <a:t>“Làm sao để việc làm sạch dữ liệu chỉ làm MỘT LẦN, từ đó chỉ cần bấm Refresh?”</a:t>
            </a:r>
          </a:p>
        </p:txBody>
      </p:sp>
      <p:sp>
        <p:nvSpPr>
          <p:cNvPr id="5" name="TextBox"/>
          <p:cNvSpPr txBox="1"/>
          <p:nvPr/>
        </p:nvSpPr>
        <p:spPr>
          <a:xfrm>
            <a:off x="1527048" y="2560320"/>
            <a:ext cx="6400800" cy="914400"/>
          </a:xfrm>
          <a:prstGeom prst="rect">
            <a:avLst/>
          </a:prstGeom>
          <a:noFill/>
        </p:spPr>
        <p:txBody>
          <a:bodyPr wrap="square" lIns="0" rIns="0" tIns="0" bIns="0" anchor="t">
            <a:spAutoFit/>
          </a:bodyPr>
          <a:lstStyle/>
          <a:p>
            <a:r>
              <a:rPr sz="1600" b="1">
                <a:solidFill>
                  <a:srgbClr val="1B2230"/>
                </a:solidFill>
                <a:latin typeface="Arial"/>
              </a:rPr>
              <a:t>Giới hạn hôm nay: </a:t>
            </a:r>
            <a:r>
              <a:rPr sz="1600" b="0">
                <a:solidFill>
                  <a:srgbClr val="1B2230"/>
                </a:solidFill>
                <a:latin typeface="Arial"/>
              </a:rPr>
              <a:t>tháng mới về dạng CSV bẩn, tách nhiều file → lại copy-paste, sửa tay rồi mới Refresh được Pivot.</a:t>
            </a:r>
          </a:p>
        </p:txBody>
      </p:sp>
      <p:sp>
        <p:nvSpPr>
          <p:cNvPr id="6" name="TextBox"/>
          <p:cNvSpPr txBox="1"/>
          <p:nvPr/>
        </p:nvSpPr>
        <p:spPr>
          <a:xfrm>
            <a:off x="1527048" y="3520440"/>
            <a:ext cx="6400800" cy="2560320"/>
          </a:xfrm>
          <a:prstGeom prst="rect">
            <a:avLst/>
          </a:prstGeom>
          <a:noFill/>
        </p:spPr>
        <p:txBody>
          <a:bodyPr wrap="square" lIns="0" rIns="0" tIns="0" bIns="0" anchor="t">
            <a:spAutoFit/>
          </a:bodyPr>
          <a:lstStyle/>
          <a:p>
            <a:r>
              <a:rPr sz="1500" b="1">
                <a:solidFill>
                  <a:srgbClr val="203864"/>
                </a:solidFill>
                <a:latin typeface="Arial"/>
              </a:rPr>
              <a:t>Về nhà</a:t>
            </a:r>
          </a:p>
          <a:p>
            <a:pPr>
              <a:spcBef>
                <a:spcPts val="600"/>
              </a:spcBef>
            </a:pPr>
            <a:r>
              <a:rPr sz="1500" b="0">
                <a:solidFill>
                  <a:srgbClr val="1B2230"/>
                </a:solidFill>
                <a:latin typeface="Arial"/>
              </a:rPr>
              <a:t>Đọc handout B3</a:t>
            </a:r>
          </a:p>
          <a:p>
            <a:pPr>
              <a:spcBef>
                <a:spcPts val="600"/>
              </a:spcBef>
            </a:pPr>
            <a:r>
              <a:rPr sz="1500" b="0">
                <a:solidFill>
                  <a:srgbClr val="1B2230"/>
                </a:solidFill>
                <a:latin typeface="Arial"/>
              </a:rPr>
              <a:t>Bài tập về nhà (bắt buộc): B3_BTVN_MCI_Mart_T1_T4_2025.xlsx — nộp trước Buổi 4 tại hocvien.mcivietnam.com, tên file B3_BTVN_&lt;HoTen&gt;.xlsx</a:t>
            </a:r>
          </a:p>
          <a:p>
            <a:pPr>
              <a:spcBef>
                <a:spcPts val="600"/>
              </a:spcBef>
            </a:pPr>
            <a:r>
              <a:rPr sz="1500" b="0">
                <a:solidFill>
                  <a:srgbClr val="1B2230"/>
                </a:solidFill>
                <a:latin typeface="Arial"/>
              </a:rPr>
              <a:t>Tick “Checklist trước Buổi 4” (mục 10 handout)</a:t>
            </a:r>
          </a:p>
          <a:p>
            <a:pPr>
              <a:spcBef>
                <a:spcPts val="600"/>
              </a:spcBef>
            </a:pPr>
            <a:r>
              <a:rPr sz="1500" b="1">
                <a:solidFill>
                  <a:srgbClr val="9C0006"/>
                </a:solidFill>
                <a:latin typeface="Arial"/>
              </a:rPr>
              <a:t>Buổi 4 bắt buộc máy Windows có Power Query (Data → Get Data)</a:t>
            </a:r>
          </a:p>
        </p:txBody>
      </p:sp>
      <p:sp>
        <p:nvSpPr>
          <p:cNvPr id="7" name="Brick B3"/>
          <p:cNvSpPr/>
          <p:nvPr/>
        </p:nvSpPr>
        <p:spPr>
          <a:xfrm>
            <a:off x="8293608" y="4206240"/>
            <a:ext cx="3355848" cy="91440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385048" y="4206240"/>
            <a:ext cx="3172968" cy="914400"/>
          </a:xfrm>
          <a:prstGeom prst="rect">
            <a:avLst/>
          </a:prstGeom>
          <a:noFill/>
        </p:spPr>
        <p:txBody>
          <a:bodyPr wrap="square" lIns="0" rIns="0" tIns="0" bIns="0" anchor="ctr">
            <a:spAutoFit/>
          </a:bodyPr>
          <a:lstStyle/>
          <a:p>
            <a:r>
              <a:rPr sz="1800" b="1">
                <a:solidFill>
                  <a:srgbClr val="FFFFFF"/>
                </a:solidFill>
                <a:latin typeface="Arial"/>
              </a:rPr>
              <a:t>✓  B3 · Báo cáo Pivot</a:t>
            </a:r>
          </a:p>
        </p:txBody>
      </p:sp>
      <p:sp>
        <p:nvSpPr>
          <p:cNvPr id="9" name="Brick B4"/>
          <p:cNvSpPr/>
          <p:nvPr/>
        </p:nvSpPr>
        <p:spPr>
          <a:xfrm>
            <a:off x="8293608" y="3017520"/>
            <a:ext cx="3355848" cy="914400"/>
          </a:xfrm>
          <a:prstGeom prst="rect">
            <a:avLst/>
          </a:prstGeom>
          <a:solidFill>
            <a:srgbClr val="FFFFFF"/>
          </a:solidFill>
          <a:ln w="285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8385048" y="3017520"/>
            <a:ext cx="3172968" cy="914400"/>
          </a:xfrm>
          <a:prstGeom prst="rect">
            <a:avLst/>
          </a:prstGeom>
          <a:noFill/>
        </p:spPr>
        <p:txBody>
          <a:bodyPr wrap="square" lIns="0" rIns="0" tIns="0" bIns="0" anchor="ctr">
            <a:spAutoFit/>
          </a:bodyPr>
          <a:lstStyle/>
          <a:p>
            <a:r>
              <a:rPr sz="1800" b="1">
                <a:solidFill>
                  <a:srgbClr val="203864"/>
                </a:solidFill>
                <a:latin typeface="Arial"/>
              </a:rPr>
              <a:t>B4 · Pipeline Power Query</a:t>
            </a:r>
          </a:p>
        </p:txBody>
      </p:sp>
      <p:sp>
        <p:nvSpPr>
          <p:cNvPr id="11" name="TextBox"/>
          <p:cNvSpPr txBox="1"/>
          <p:nvPr/>
        </p:nvSpPr>
        <p:spPr>
          <a:xfrm>
            <a:off x="8293608" y="5212080"/>
            <a:ext cx="3355848" cy="457200"/>
          </a:xfrm>
          <a:prstGeom prst="rect">
            <a:avLst/>
          </a:prstGeom>
          <a:noFill/>
        </p:spPr>
        <p:txBody>
          <a:bodyPr wrap="square" lIns="0" rIns="0" tIns="0" bIns="0" anchor="t">
            <a:spAutoFit/>
          </a:bodyPr>
          <a:lstStyle/>
          <a:p>
            <a:r>
              <a:rPr sz="1300" b="0">
                <a:solidFill>
                  <a:srgbClr val="585858"/>
                </a:solidFill>
                <a:latin typeface="Arial"/>
              </a:rPr>
              <a:t>Giữ file đáp án B3: file khởi đầu Buổi 4.</a:t>
            </a:r>
          </a:p>
        </p:txBody>
      </p:sp>
    </p:spTree>
  </p:cSld>
  <p:clrMapOvr>
    <a:masterClrMapping/>
  </p:clrMapOvr>
</p:sld>
</file>

<file path=ppt/theme/theme1.xml><?xml version="1.0" encoding="utf-8"?>
<a:theme xmlns:a="http://schemas.openxmlformats.org/drawingml/2006/main" name="Office Theme [1790271072606]">
  <a:themeElements>
    <a:clrScheme name="MCI Excel BI">
      <a:dk1>
        <a:srgbClr val="1B2230"/>
      </a:dk1>
      <a:lt1>
        <a:srgbClr val="FFFFFF"/>
      </a:lt1>
      <a:dk2>
        <a:srgbClr val="203864"/>
      </a:dk2>
      <a:lt2>
        <a:srgbClr val="F3F5F9"/>
      </a:lt2>
      <a:accent1>
        <a:srgbClr val="2A78D6"/>
      </a:accent1>
      <a:accent2>
        <a:srgbClr val="EB6834"/>
      </a:accent2>
      <a:accent3>
        <a:srgbClr val="1BAF7A"/>
      </a:accent3>
      <a:accent4>
        <a:srgbClr val="EDA100"/>
      </a:accent4>
      <a:accent5>
        <a:srgbClr val="E87BA4"/>
      </a:accent5>
      <a:accent6>
        <a:srgbClr val="4A3AA7"/>
      </a:accent6>
      <a:hlink>
        <a:srgbClr val="1F6FB2"/>
      </a:hlink>
      <a:folHlink>
        <a:srgbClr val="4A3AA7"/>
      </a:folHlink>
    </a:clrScheme>
    <a:fontScheme name="MCI Excel BI">
      <a:majorFont>
        <a:latin typeface="Arial" panose="020B06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B06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CE0948F-3C23-C840-978A-6EB6AAFD5E15}">
  <we:reference id="WA200010725" version="1.0.0.1" store="Omex" storeType="OMEX"/>
  <we:alternateReferences>
    <we:reference id="WA200010725" version="1.0.0.1" store="WA200010725" storeType="OMEX"/>
  </we:alternateReferences>
  <we:properties>
    <we:property name="claude.fileId" value="&quot;3f0c363d-f4d0-4e96-80cc-6a7c60642f0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10047</Words>
  <Application>Microsoft Office PowerPoint</Application>
  <PresentationFormat>Widescreen</PresentationFormat>
  <Paragraphs>707</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Aptos</vt:lpstr>
      <vt:lpstr>Arial</vt:lpstr>
      <vt:lpstr>Office Theme [1790271072606]</vt:lpstr>
      <vt:lpstr>Excel for Business Intelligence Analyst</vt:lpstr>
      <vt:lpstr>Câu hỏi mở buổi</vt:lpstr>
      <vt:lpstr>Quy trình BI 5 bước</vt:lpstr>
      <vt:lpstr>Bản đồ 7 viên gạch &amp; thang 5 tầng câu hỏi</vt:lpstr>
      <vt:lpstr>Case khóa học: chuỗi bán lẻ MCI Mart</vt:lpstr>
      <vt:lpstr>1. Excel dùng cho BI: phiên bản &amp; chuẩn bị máy</vt:lpstr>
      <vt:lpstr>So sánh phiên bản Excel cho BI</vt:lpstr>
      <vt:lpstr>Xác nhận kiểm tra máy</vt:lpstr>
      <vt:lpstr>2. Giao diện Excel: những gì người làm BI dùng hằng ngày</vt:lpstr>
      <vt:lpstr>Giao diện chính</vt:lpstr>
      <vt:lpstr>8 tab Ribbon: tab nào dùng ở buổi nào</vt:lpstr>
      <vt:lpstr>3. Phím tắt: làm việc với dữ liệu lớn không cần chuột</vt:lpstr>
      <vt:lpstr>Ctrl Shortcuts</vt:lpstr>
      <vt:lpstr>Fn Shortcuts</vt:lpstr>
      <vt:lpstr>Alt Key Tips &amp; Quick Access Toolbar</vt:lpstr>
      <vt:lpstr>Nghỉ 10 phút</vt:lpstr>
      <vt:lpstr>4. Công thức: viết đúng, sao chép đúng, tìm lỗi nhanh</vt:lpstr>
      <vt:lpstr>Formula Syntax</vt:lpstr>
      <vt:lpstr>Reference Types</vt:lpstr>
      <vt:lpstr>Common Errors</vt:lpstr>
      <vt:lpstr>Auditing Tools (1)</vt:lpstr>
      <vt:lpstr>Auditing Tools (2)</vt:lpstr>
      <vt:lpstr>Chốt Phần 4</vt:lpstr>
      <vt:lpstr>5. Dữ liệu "sạch về cấu trúc": nền móng của mọi phân tích</vt:lpstr>
      <vt:lpstr>Good vs Bad Data Structure</vt:lpstr>
      <vt:lpstr>Excel Table</vt:lpstr>
      <vt:lpstr>Data Validation: chặn dữ liệu sai từ gốc</vt:lpstr>
      <vt:lpstr>Circle Invalid Data: tìm lỗi đã có sẵn</vt:lpstr>
      <vt:lpstr>Thực hành 1: Làm sạch cấu trúc file case</vt:lpstr>
      <vt:lpstr>Thực hành 2: Công thức &amp; kiểm soát</vt:lpstr>
      <vt:lpstr>Chữa bài nhanh: checklist brick output B1</vt:lpstr>
      <vt:lpstr>Excel Quiz Challenge</vt:lpstr>
      <vt:lpstr>Question 1: Cell References</vt:lpstr>
      <vt:lpstr>Question 2: Cell References</vt:lpstr>
      <vt:lpstr>Question 3: Shortcuts</vt:lpstr>
      <vt:lpstr>Question 4: Auditing</vt:lpstr>
      <vt:lpstr>Question 5: Common Errors</vt:lpstr>
      <vt:lpstr>Question 6: Tình huống — Data Structure</vt:lpstr>
      <vt:lpstr>Question 7: Tình huống — Automation</vt:lpstr>
      <vt:lpstr>Tổng kết &amp; insight của bạn</vt:lpstr>
      <vt:lpstr>Buổi sau: định nghĩa KPI và tính bằng SUMIFS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Nhan Le</dc:creator>
  <cp:lastModifiedBy>Leo Pham</cp:lastModifiedBy>
  <cp:revision>1</cp:revision>
  <dcterms:created xsi:type="dcterms:W3CDTF">2026-09-24T17:25:29Z</dcterms:created>
  <dcterms:modified xsi:type="dcterms:W3CDTF">2026-09-27T12:46:07Z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2026-09-24T17:26:47Z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4d9052f2-e654-41cc-b328-7191ea09daba</vt:lpwstr>
  </property>
  <property fmtid="{D5CDD505-2E9C-101B-9397-08002B2CF9AE}" pid="7" name="MSIP_Label_defa4170-0d19-0005-0004-bc88714345d2_ActionId">
    <vt:lpwstr>c1eb70c7-4859-476b-af0b-43240bcea39d</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