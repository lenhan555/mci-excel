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  <p:sldId id="341" r:id="rId4"/>
    <p:sldId id="34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2: Hàm cho phân tích — từ dữ liệu giao dịch đến KPI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B1_MCI_Mart_Q1_2025_Answer.xlsx · B2_Product_DuplicateKey.xlsx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ier chip"/>
          <p:cNvSpPr/>
          <p:nvPr/>
        </p:nvSpPr>
        <p:spPr>
          <a:xfrm>
            <a:off x="9354312" y="548640"/>
            <a:ext cx="228600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1 — Descriptive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64592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rial"/>
              </a:rPr>
              <a:t>“Doanh thu, số đơn, biên lợi nhuận của từng vùng tháng này là bao nhiêu?”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— Giám đốc bán hàng, MCI Mart</a:t>
            </a:r>
          </a:p>
        </p:txBody>
      </p:sp>
      <p:sp>
        <p:nvSpPr>
          <p:cNvPr id="7" name="Keyword"/>
          <p:cNvSpPr/>
          <p:nvPr/>
        </p:nvSpPr>
        <p:spPr>
          <a:xfrm>
            <a:off x="1527048" y="4480560"/>
            <a:ext cx="150876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Doanh thu</a:t>
            </a:r>
          </a:p>
        </p:txBody>
      </p:sp>
      <p:sp>
        <p:nvSpPr>
          <p:cNvPr id="8" name="Keyword"/>
          <p:cNvSpPr/>
          <p:nvPr/>
        </p:nvSpPr>
        <p:spPr>
          <a:xfrm>
            <a:off x="3172968" y="4480560"/>
            <a:ext cx="150876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Số đơn</a:t>
            </a:r>
          </a:p>
        </p:txBody>
      </p:sp>
      <p:sp>
        <p:nvSpPr>
          <p:cNvPr id="9" name="Keyword"/>
          <p:cNvSpPr/>
          <p:nvPr/>
        </p:nvSpPr>
        <p:spPr>
          <a:xfrm>
            <a:off x="4818888" y="4480560"/>
            <a:ext cx="150876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Biên lợi nhuận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527048" y="502920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… của từng vùng … tháng này: Dimension nào? Measure nào? Đếm cái gì?</a:t>
            </a:r>
          </a:p>
        </p:txBody>
      </p:sp>
      <p:graphicFrame>
        <p:nvGraphicFramePr>
          <p:cNvPr id="11" name="Empty KPI table"/>
          <p:cNvGraphicFramePr>
            <a:graphicFrameLocks noGrp="1"/>
          </p:cNvGraphicFramePr>
          <p:nvPr/>
        </p:nvGraphicFramePr>
        <p:xfrm>
          <a:off x="6766560" y="1737360"/>
          <a:ext cx="4892040" cy="2560320"/>
        </p:xfrm>
        <a:graphic>
          <a:graphicData uri="http://schemas.openxmlformats.org/drawingml/2006/table">
            <a:tbl>
              <a:tblPr firstRow="1" bandRow="0"/>
              <a:tblGrid>
                <a:gridCol w="1371600"/>
                <a:gridCol w="1188720"/>
                <a:gridCol w="1188720"/>
                <a:gridCol w="11430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Miền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Doanh thu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Số đơn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Biên LN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230"/>
                          </a:solidFill>
                          <a:latin typeface="Arial"/>
                        </a:rPr>
                        <a:t>Bắc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230"/>
                          </a:solidFill>
                          <a:latin typeface="Arial"/>
                        </a:rPr>
                        <a:t>Trung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230"/>
                          </a:solidFill>
                          <a:latin typeface="Arial"/>
                        </a:rPr>
                        <a:t>Nam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"/>
          <p:cNvSpPr txBox="1"/>
          <p:nvPr/>
        </p:nvSpPr>
        <p:spPr>
          <a:xfrm>
            <a:off x="6766560" y="4572000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Bảng KPI cần điền sau buổi học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1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309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•  </a:t>
            </a:r>
            <a:r>
              <a:rPr sz="2000" b="1">
                <a:solidFill>
                  <a:srgbClr val="203864"/>
                </a:solidFill>
                <a:latin typeface="Arial"/>
              </a:rPr>
              <a:t>Viên gạch B1: </a:t>
            </a:r>
            <a:r>
              <a:rPr sz="2000" b="0">
                <a:solidFill>
                  <a:srgbClr val="1B2230"/>
                </a:solidFill>
                <a:latin typeface="Arial"/>
              </a:rPr>
              <a:t>tblSales · 6.187 dòng · 941.454.000 · không dòng tổng, không ô gộp.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203864"/>
                </a:solidFill>
                <a:latin typeface="Arial"/>
              </a:rPr>
              <a:t>•  </a:t>
            </a:r>
            <a:r>
              <a:rPr sz="2000" b="1">
                <a:solidFill>
                  <a:srgbClr val="203864"/>
                </a:solidFill>
                <a:latin typeface="Arial"/>
              </a:rPr>
              <a:t>Hôm nay nhận file khởi đầu </a:t>
            </a:r>
            <a:r>
              <a:rPr sz="2000" b="0">
                <a:solidFill>
                  <a:srgbClr val="1B2230"/>
                </a:solidFill>
                <a:latin typeface="Arial"/>
              </a:rPr>
              <a:t>= đáp án B1 (B1_MCI_Mart_Q1_2025_Answer.xlsx). Mọi người làm trên cùng một nền; lưu thành B2_&lt;HoTen&gt;.xlsx.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203864"/>
                </a:solidFill>
                <a:latin typeface="Arial"/>
              </a:rPr>
              <a:t>•  </a:t>
            </a:r>
            <a:r>
              <a:rPr sz="2000" b="1">
                <a:solidFill>
                  <a:srgbClr val="203864"/>
                </a:solidFill>
                <a:latin typeface="Arial"/>
              </a:rPr>
              <a:t>Hai thứ dùng lại hôm nay: </a:t>
            </a:r>
            <a:r>
              <a:rPr sz="2000" b="0">
                <a:solidFill>
                  <a:srgbClr val="1B2230"/>
                </a:solidFill>
                <a:latin typeface="Arial"/>
              </a:rPr>
              <a:t>dấu $ (F4) và công thức theo tên cột [@Cột] trong Table.</a:t>
            </a:r>
          </a:p>
        </p:txBody>
      </p:sp>
      <p:sp>
        <p:nvSpPr>
          <p:cNvPr id="5" name="Brick B1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B1 · Dữ liệu tidy</a:t>
            </a:r>
          </a:p>
        </p:txBody>
      </p:sp>
      <p:sp>
        <p:nvSpPr>
          <p:cNvPr id="7" name="Brick B2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B2 · Bảng KPI (SUMIFS)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../B1_Nen_tang_Excel_Du_lieu/Practice/B1_MCI_Mart_Q1_2025_Answer.xlsx, sheet Kiem_tra (8/8 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· Measure · Grain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554480"/>
          <a:ext cx="10122408" cy="2267712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2194560"/>
                <a:gridCol w="60990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Câu hỏi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Cột trong tblSales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A78D6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“Theo cái gì?”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Region, Store_Code, Order_Date (→ Tháng), Product_Code (→ Category)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EB6834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“Đo cái gì?”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Quantity, Revenue (→ COGS, Gross Margin)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03864"/>
                          </a:solidFill>
                          <a:latin typeface="Arial"/>
                        </a:rPr>
                        <a:t>Grain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“Mỗi dòng là gì?”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B2230"/>
                          </a:solidFill>
                          <a:latin typeface="Arial"/>
                        </a:rPr>
                        <a:t>1 dòng = 1 sản phẩm trong 1 đơn</a:t>
                      </a:r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 (Order_ID × Line_No)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04_grain" descr="S04_g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4279207"/>
            <a:ext cx="5669280" cy="131710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Stat card"/>
          <p:cNvSpPr/>
          <p:nvPr/>
        </p:nvSpPr>
        <p:spPr>
          <a:xfrm>
            <a:off x="7498079" y="4069080"/>
            <a:ext cx="415137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7680959" y="4160520"/>
            <a:ext cx="3785615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Đếm dòng ≠ đếm đơn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6.187 ≠ 3.144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trong tblSales · đơn hàng Q1/2025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Definition Card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508760"/>
          <a:ext cx="6675120" cy="4114800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4572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Trường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Card 1 · 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Tháng này bán được bao nhiêu tiền, ở đâu?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Công thức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SUM(Quantity × Unit_Price)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Nguồn dữ liệu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tblSales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Grain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Dữ liệu: 1 sản phẩm trong 1 đơn · KPI: 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Dimensions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Miền, cửa hàng, ngành hàng, 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Giám đốc bán hàng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Target / Ngưỡng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Bảng Target (từ B4) · Warning 90%, Critical 80%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Ghi chú giới hạn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Chưa trừ trả hàng, khuyến mại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IP callout"/>
          <p:cNvSpPr/>
          <p:nvPr/>
        </p:nvSpPr>
        <p:spPr>
          <a:xfrm>
            <a:off x="8412480" y="1508760"/>
            <a:ext cx="3236976" cy="2011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522207" y="16184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7" name="TIP text"/>
          <p:cNvSpPr txBox="1"/>
          <p:nvPr/>
        </p:nvSpPr>
        <p:spPr>
          <a:xfrm>
            <a:off x="9098280" y="1600200"/>
            <a:ext cx="24414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Viết card TRƯỚC khi viết công thức. Card là “hợp đồng” giữa bạn và người đọc báo cáo.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412480" y="3749039"/>
            <a:ext cx="323697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Hôm nay viết 3 card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1 · Total Revenue (cùng lớp)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2 · Total Orders (thực hành)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3 · Gross Margin % (thực hành)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Mẫu in: Handout/B2_KPI_Definition_Card.docx · 10 trường theo KPI dictionary (Course Plan, Phụ lục 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Hàm logic: dạy Excel ra quyết định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· 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HÀM LOGIC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IF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Một điều kiện, hai kết quả.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377440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377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377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=IF(F2&gt;=35%,"Biên cao","Biên thấp")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32120" y="1463040"/>
            <a:ext cx="0" cy="13716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ool name"/>
          <p:cNvSpPr txBox="1"/>
          <p:nvPr/>
        </p:nvSpPr>
        <p:spPr>
          <a:xfrm>
            <a:off x="5669280" y="1463040"/>
            <a:ext cx="59801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IFS</a:t>
            </a:r>
          </a:p>
        </p:txBody>
      </p:sp>
      <p:sp>
        <p:nvSpPr>
          <p:cNvPr id="11" name="Tool purpose"/>
          <p:cNvSpPr txBox="1"/>
          <p:nvPr/>
        </p:nvSpPr>
        <p:spPr>
          <a:xfrm>
            <a:off x="5669280" y="1920240"/>
            <a:ext cx="5980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Nhiều điều kiện, dừng ở điều kiện ĐÚNG ĐẦU TIÊN.</a:t>
            </a:r>
          </a:p>
        </p:txBody>
      </p:sp>
      <p:sp>
        <p:nvSpPr>
          <p:cNvPr id="12" name="Formula bar"/>
          <p:cNvSpPr/>
          <p:nvPr/>
        </p:nvSpPr>
        <p:spPr>
          <a:xfrm>
            <a:off x="5669280" y="2377440"/>
            <a:ext cx="598017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760720" y="2377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14" name="Formula"/>
          <p:cNvSpPr txBox="1"/>
          <p:nvPr/>
        </p:nvSpPr>
        <p:spPr>
          <a:xfrm>
            <a:off x="6217920" y="2377440"/>
            <a:ext cx="53400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=IFS(D2&gt;=100000,"Cao",D2&gt;=30000,"Trung",TRUE,"Thấp")</a:t>
            </a:r>
          </a:p>
        </p:txBody>
      </p:sp>
      <p:pic>
        <p:nvPicPr>
          <p:cNvPr id="15" name="Screenshot S07_if_ifs" descr="S07_if_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024365"/>
            <a:ext cx="10122408" cy="199798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6" name="TIP callout"/>
          <p:cNvSpPr/>
          <p:nvPr/>
        </p:nvSpPr>
        <p:spPr>
          <a:xfrm>
            <a:off x="1527048" y="516636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1636776" y="52760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8" name="TIP text"/>
          <p:cNvSpPr txBox="1"/>
          <p:nvPr/>
        </p:nvSpPr>
        <p:spPr>
          <a:xfrm>
            <a:off x="2212848" y="525780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IFS xét từ trái sang phải: đặt ngưỡng cao trước. TRUE ở cuối = “các trường hợp còn lại”. Ô trống được tính là 0 → P041 chưa có giá vẫn ra “Thấp”.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Demo/B2_Demo_Logic.xlsx, sheet Demo_IF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 · OR · NOT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HÀM LOGIC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AND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TRUE khi MỌI điều kiện đúng.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651760"/>
            <a:ext cx="31638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651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65176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B2230"/>
                </a:solidFill>
                <a:latin typeface="Arial"/>
              </a:rPr>
              <a:t>=AND(C2="Bánh kẹo",F2&gt;=35%)</a:t>
            </a:r>
          </a:p>
        </p:txBody>
      </p:sp>
      <p:sp>
        <p:nvSpPr>
          <p:cNvPr id="9" name="Stat card"/>
          <p:cNvSpPr/>
          <p:nvPr/>
        </p:nvSpPr>
        <p:spPr>
          <a:xfrm>
            <a:off x="1527048" y="3200400"/>
            <a:ext cx="3163824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64207" y="3200400"/>
            <a:ext cx="28895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203864"/>
                </a:solidFill>
                <a:latin typeface="Arial"/>
              </a:rPr>
              <a:t>7  </a:t>
            </a:r>
            <a:r>
              <a:rPr sz="1400" b="0">
                <a:solidFill>
                  <a:srgbClr val="585858"/>
                </a:solidFill>
                <a:latin typeface="Arial"/>
              </a:rPr>
              <a:t>sản phẩm “Ưu tiên Tết”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1463040"/>
            <a:ext cx="0" cy="242316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ool name"/>
          <p:cNvSpPr txBox="1"/>
          <p:nvPr/>
        </p:nvSpPr>
        <p:spPr>
          <a:xfrm>
            <a:off x="500176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OR</a:t>
            </a:r>
          </a:p>
        </p:txBody>
      </p:sp>
      <p:sp>
        <p:nvSpPr>
          <p:cNvPr id="13" name="Tool purpose"/>
          <p:cNvSpPr txBox="1"/>
          <p:nvPr/>
        </p:nvSpPr>
        <p:spPr>
          <a:xfrm>
            <a:off x="5001768" y="1920240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TRUE khi ÍT NHẤT MỘT điều kiện đúng.</a:t>
            </a:r>
          </a:p>
        </p:txBody>
      </p:sp>
      <p:sp>
        <p:nvSpPr>
          <p:cNvPr id="14" name="Formula bar"/>
          <p:cNvSpPr/>
          <p:nvPr/>
        </p:nvSpPr>
        <p:spPr>
          <a:xfrm>
            <a:off x="5001768" y="2651760"/>
            <a:ext cx="31638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5093207" y="2651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16" name="Formula"/>
          <p:cNvSpPr txBox="1"/>
          <p:nvPr/>
        </p:nvSpPr>
        <p:spPr>
          <a:xfrm>
            <a:off x="5550407" y="265176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B2230"/>
                </a:solidFill>
                <a:latin typeface="Arial"/>
              </a:rPr>
              <a:t>=OR(C2="Sữa",C2="Thực phẩm khô")</a:t>
            </a:r>
          </a:p>
        </p:txBody>
      </p:sp>
      <p:sp>
        <p:nvSpPr>
          <p:cNvPr id="17" name="Stat card"/>
          <p:cNvSpPr/>
          <p:nvPr/>
        </p:nvSpPr>
        <p:spPr>
          <a:xfrm>
            <a:off x="5001768" y="3200400"/>
            <a:ext cx="3163824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5138928" y="3200400"/>
            <a:ext cx="28895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203864"/>
                </a:solidFill>
                <a:latin typeface="Arial"/>
              </a:rPr>
              <a:t>13  </a:t>
            </a:r>
            <a:r>
              <a:rPr sz="1400" b="0">
                <a:solidFill>
                  <a:srgbClr val="585858"/>
                </a:solidFill>
                <a:latin typeface="Arial"/>
              </a:rPr>
              <a:t>sản phẩm thiết yếu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0" y="1463040"/>
            <a:ext cx="0" cy="242316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ool name"/>
          <p:cNvSpPr txBox="1"/>
          <p:nvPr/>
        </p:nvSpPr>
        <p:spPr>
          <a:xfrm>
            <a:off x="8485632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NOT</a:t>
            </a:r>
          </a:p>
        </p:txBody>
      </p:sp>
      <p:sp>
        <p:nvSpPr>
          <p:cNvPr id="21" name="Tool purpose"/>
          <p:cNvSpPr txBox="1"/>
          <p:nvPr/>
        </p:nvSpPr>
        <p:spPr>
          <a:xfrm>
            <a:off x="8485632" y="1920240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Đảo TRUE ↔ FALSE.</a:t>
            </a:r>
          </a:p>
        </p:txBody>
      </p:sp>
      <p:sp>
        <p:nvSpPr>
          <p:cNvPr id="22" name="Formula bar"/>
          <p:cNvSpPr/>
          <p:nvPr/>
        </p:nvSpPr>
        <p:spPr>
          <a:xfrm>
            <a:off x="8485632" y="2651760"/>
            <a:ext cx="31638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8577072" y="2651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24" name="Formula"/>
          <p:cNvSpPr txBox="1"/>
          <p:nvPr/>
        </p:nvSpPr>
        <p:spPr>
          <a:xfrm>
            <a:off x="9034272" y="265176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B2230"/>
                </a:solidFill>
                <a:latin typeface="Arial"/>
              </a:rPr>
              <a:t>=NOT(J2)</a:t>
            </a:r>
          </a:p>
        </p:txBody>
      </p:sp>
      <p:sp>
        <p:nvSpPr>
          <p:cNvPr id="25" name="Stat card"/>
          <p:cNvSpPr/>
          <p:nvPr/>
        </p:nvSpPr>
        <p:spPr>
          <a:xfrm>
            <a:off x="8485632" y="3200400"/>
            <a:ext cx="3163824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"/>
          <p:cNvSpPr txBox="1"/>
          <p:nvPr/>
        </p:nvSpPr>
        <p:spPr>
          <a:xfrm>
            <a:off x="8622792" y="3200400"/>
            <a:ext cx="28895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203864"/>
                </a:solidFill>
                <a:latin typeface="Arial"/>
              </a:rPr>
              <a:t>29  </a:t>
            </a:r>
            <a:r>
              <a:rPr sz="1400" b="0">
                <a:solidFill>
                  <a:srgbClr val="585858"/>
                </a:solidFill>
                <a:latin typeface="Arial"/>
              </a:rPr>
              <a:t>sản phẩm không thiết yếu</a:t>
            </a:r>
          </a:p>
        </p:txBody>
      </p:sp>
      <p:pic>
        <p:nvPicPr>
          <p:cNvPr id="27" name="Screenshot S08_and_or_not" descr="S08_and_or_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84" y="4023360"/>
            <a:ext cx="5129536" cy="132588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28" name="TIP callout"/>
          <p:cNvSpPr/>
          <p:nvPr/>
        </p:nvSpPr>
        <p:spPr>
          <a:xfrm>
            <a:off x="1527048" y="5440680"/>
            <a:ext cx="10122408" cy="685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"/>
          <p:cNvSpPr txBox="1"/>
          <p:nvPr/>
        </p:nvSpPr>
        <p:spPr>
          <a:xfrm>
            <a:off x="1636776" y="55504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30" name="TIP text"/>
          <p:cNvSpPr txBox="1"/>
          <p:nvPr/>
        </p:nvSpPr>
        <p:spPr>
          <a:xfrm>
            <a:off x="2212848" y="553212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Thường lồng vào IF để ra nhãn dễ đọc: =IF(AND(C2="Bánh kẹo",F2&gt;=35%),"Ưu tiên",""). Mẹo nhớ: AND khó tính, OR dễ tính.</a:t>
            </a:r>
          </a:p>
        </p:txBody>
      </p:sp>
      <p:sp>
        <p:nvSpPr>
          <p:cNvPr id="3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Demo/B2_Demo_Logic.xlsx, sheet Demo_IF (cột I, J, 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IFERROR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HÀM LOGIC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IFERROR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Nếu công thức ra lỗi thì trả về giá trị thay thế.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3774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377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3774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=IFERROR((D2-E2)/D2,"Chưa có giá")</a:t>
            </a:r>
          </a:p>
        </p:txBody>
      </p:sp>
      <p:pic>
        <p:nvPicPr>
          <p:cNvPr id="9" name="Screenshot S09_iferror" descr="S09_if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059149"/>
            <a:ext cx="7406640" cy="1334061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IP callout"/>
          <p:cNvSpPr/>
          <p:nvPr/>
        </p:nvSpPr>
        <p:spPr>
          <a:xfrm>
            <a:off x="8933688" y="3017520"/>
            <a:ext cx="2715768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043415" y="3127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9619488" y="310896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Có giá (25.000) → mọi cột tự tính lại: 44,0%.</a:t>
            </a:r>
          </a:p>
        </p:txBody>
      </p:sp>
      <p:sp>
        <p:nvSpPr>
          <p:cNvPr id="13" name="PRO TIP callout"/>
          <p:cNvSpPr/>
          <p:nvPr/>
        </p:nvSpPr>
        <p:spPr>
          <a:xfrm>
            <a:off x="1527048" y="457200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 TIP chip"/>
          <p:cNvSpPr/>
          <p:nvPr/>
        </p:nvSpPr>
        <p:spPr>
          <a:xfrm>
            <a:off x="1636776" y="468172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5" name="PRO TIP text"/>
          <p:cNvSpPr txBox="1"/>
          <p:nvPr/>
        </p:nvSpPr>
        <p:spPr>
          <a:xfrm>
            <a:off x="2734056" y="4663440"/>
            <a:ext cx="8805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IFERROR CHE lỗi chứ không SỬA lỗi. Thay bằng chữ có nghĩa, đừng thay bằng 0: “0%” là con số sai trông như thật.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Demo/B2_Demo_Logic.xlsx, sheet Demo_IF, dòng 42–43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Thống kê mô tả: một con số “trung bình” có thể nói dối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Thống kê mô tả: trung bình hay trung vị?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THỐNG KÊ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COUNT / COUNTA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31638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Đếm ô số / ô không trống.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500176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AVERAGE vs MEDIAN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5001768" y="1920240"/>
            <a:ext cx="31638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Trung bình cộng vs giá trị ở giữa.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2104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ool name"/>
          <p:cNvSpPr txBox="1"/>
          <p:nvPr/>
        </p:nvSpPr>
        <p:spPr>
          <a:xfrm>
            <a:off x="847648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MIN / MAX</a:t>
            </a:r>
          </a:p>
        </p:txBody>
      </p:sp>
      <p:sp>
        <p:nvSpPr>
          <p:cNvPr id="11" name="Tool purpose"/>
          <p:cNvSpPr txBox="1"/>
          <p:nvPr/>
        </p:nvSpPr>
        <p:spPr>
          <a:xfrm>
            <a:off x="8476488" y="1920240"/>
            <a:ext cx="31638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Nhỏ nhất / lớn nhất.</a:t>
            </a:r>
          </a:p>
        </p:txBody>
      </p:sp>
      <p:sp>
        <p:nvSpPr>
          <p:cNvPr id="12" name="Stat card"/>
          <p:cNvSpPr/>
          <p:nvPr/>
        </p:nvSpPr>
        <p:spPr>
          <a:xfrm>
            <a:off x="1527048" y="260604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709928" y="2697480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Số đơn Q1/2025</a:t>
            </a:r>
          </a:p>
          <a:p>
            <a:pPr>
              <a:spcBef>
                <a:spcPts val="200"/>
              </a:spcBef>
            </a:pPr>
            <a:r>
              <a:rPr sz="2800" b="1">
                <a:solidFill>
                  <a:srgbClr val="203864"/>
                </a:solidFill>
                <a:latin typeface="Arial"/>
              </a:rPr>
              <a:t>3.144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COUNT</a:t>
            </a:r>
          </a:p>
        </p:txBody>
      </p:sp>
      <p:sp>
        <p:nvSpPr>
          <p:cNvPr id="14" name="Stat card"/>
          <p:cNvSpPr/>
          <p:nvPr/>
        </p:nvSpPr>
        <p:spPr>
          <a:xfrm>
            <a:off x="3721608" y="2606040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3904488" y="2697480"/>
            <a:ext cx="18745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Trung bình</a:t>
            </a:r>
          </a:p>
          <a:p>
            <a:pPr>
              <a:spcBef>
                <a:spcPts val="200"/>
              </a:spcBef>
            </a:pPr>
            <a:r>
              <a:rPr sz="2800" b="1">
                <a:solidFill>
                  <a:srgbClr val="203864"/>
                </a:solidFill>
                <a:latin typeface="Arial"/>
              </a:rPr>
              <a:t>299.445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AVERAGE</a:t>
            </a:r>
          </a:p>
        </p:txBody>
      </p:sp>
      <p:sp>
        <p:nvSpPr>
          <p:cNvPr id="16" name="Stat card"/>
          <p:cNvSpPr/>
          <p:nvPr/>
        </p:nvSpPr>
        <p:spPr>
          <a:xfrm>
            <a:off x="6099048" y="2606040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281928" y="2697480"/>
            <a:ext cx="18745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Trung vị</a:t>
            </a:r>
          </a:p>
          <a:p>
            <a:pPr>
              <a:spcBef>
                <a:spcPts val="200"/>
              </a:spcBef>
            </a:pPr>
            <a:r>
              <a:rPr sz="2800" b="1">
                <a:solidFill>
                  <a:srgbClr val="203864"/>
                </a:solidFill>
                <a:latin typeface="Arial"/>
              </a:rPr>
              <a:t>198.000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MEDIAN</a:t>
            </a:r>
          </a:p>
        </p:txBody>
      </p:sp>
      <p:sp>
        <p:nvSpPr>
          <p:cNvPr id="18" name="Stat card"/>
          <p:cNvSpPr/>
          <p:nvPr/>
        </p:nvSpPr>
        <p:spPr>
          <a:xfrm>
            <a:off x="8476488" y="2606040"/>
            <a:ext cx="276148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"/>
          <p:cNvSpPr txBox="1"/>
          <p:nvPr/>
        </p:nvSpPr>
        <p:spPr>
          <a:xfrm>
            <a:off x="8659367" y="2697480"/>
            <a:ext cx="239572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Nhỏ nhất – lớn nhất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10.000 – 2.464.000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MIN – MAX</a:t>
            </a:r>
          </a:p>
        </p:txBody>
      </p:sp>
      <p:pic>
        <p:nvPicPr>
          <p:cNvPr id="20" name="Screenshot S11_average_median" descr="S11_average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055" y="3931920"/>
            <a:ext cx="3867026" cy="21031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21" name="TIP callout"/>
          <p:cNvSpPr/>
          <p:nvPr/>
        </p:nvSpPr>
        <p:spPr>
          <a:xfrm>
            <a:off x="7726679" y="3931920"/>
            <a:ext cx="3922776" cy="21031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"/>
          <p:cNvSpPr txBox="1"/>
          <p:nvPr/>
        </p:nvSpPr>
        <p:spPr>
          <a:xfrm>
            <a:off x="7836407" y="40416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3" name="TIP text"/>
          <p:cNvSpPr txBox="1"/>
          <p:nvPr/>
        </p:nvSpPr>
        <p:spPr>
          <a:xfrm>
            <a:off x="8412480" y="4023359"/>
            <a:ext cx="3127248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Trung bình lớn hơn trung vị khoảng 51% → vài đơn rất lớn kéo trung bình lên (lệch phải). Chọn con số theo câu hỏi: “khách thường chi bao nhiêu” → trung vị; AOV nhân ngược ra doanh thu → trung bình.</a:t>
            </a:r>
          </a:p>
        </p:txBody>
      </p:sp>
      <p:sp>
        <p:nvSpPr>
          <p:cNvPr id="2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Demo/B2_Demo_ThongKe.xlsx, sheet Demo_ThongKe (I2:I6)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STDEV · SKEW · Outlier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THỐNG KÊ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STDEV.S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31638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Độ phân tán quanh trung bình.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500176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SKEW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5001768" y="1920240"/>
            <a:ext cx="31638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&gt; 0: đuôi dài bên phải.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2104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ool name"/>
          <p:cNvSpPr txBox="1"/>
          <p:nvPr/>
        </p:nvSpPr>
        <p:spPr>
          <a:xfrm>
            <a:off x="8476488" y="146304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QUARTILE.INC</a:t>
            </a:r>
          </a:p>
        </p:txBody>
      </p:sp>
      <p:sp>
        <p:nvSpPr>
          <p:cNvPr id="11" name="Tool purpose"/>
          <p:cNvSpPr txBox="1"/>
          <p:nvPr/>
        </p:nvSpPr>
        <p:spPr>
          <a:xfrm>
            <a:off x="8476488" y="1920240"/>
            <a:ext cx="31638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Q1, Q3 → ngưỡng outlier.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09928" y="3749039"/>
            <a:ext cx="9756648" cy="0"/>
          </a:xfrm>
          <a:prstGeom prst="line">
            <a:avLst/>
          </a:prstGeom>
          <a:ln w="25400">
            <a:solidFill>
              <a:srgbClr val="C3C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QR box"/>
          <p:cNvSpPr/>
          <p:nvPr/>
        </p:nvSpPr>
        <p:spPr>
          <a:xfrm>
            <a:off x="2062339" y="3520439"/>
            <a:ext cx="1278976" cy="457200"/>
          </a:xfrm>
          <a:prstGeom prst="rect">
            <a:avLst/>
          </a:prstGeom>
          <a:solidFill>
            <a:srgbClr val="CDE2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062339" y="3428999"/>
            <a:ext cx="0" cy="640080"/>
          </a:xfrm>
          <a:prstGeom prst="line">
            <a:avLst/>
          </a:prstGeom>
          <a:ln w="15875">
            <a:solidFill>
              <a:srgbClr val="5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"/>
          <p:cNvSpPr txBox="1"/>
          <p:nvPr/>
        </p:nvSpPr>
        <p:spPr>
          <a:xfrm>
            <a:off x="1330819" y="4133087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5858"/>
                </a:solidFill>
                <a:latin typeface="Arial"/>
              </a:rPr>
              <a:t>Q1
89.000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93944" y="3428999"/>
            <a:ext cx="0" cy="640080"/>
          </a:xfrm>
          <a:prstGeom prst="line">
            <a:avLst/>
          </a:prstGeom>
          <a:ln w="15875">
            <a:solidFill>
              <a:srgbClr val="20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"/>
          <p:cNvSpPr txBox="1"/>
          <p:nvPr/>
        </p:nvSpPr>
        <p:spPr>
          <a:xfrm>
            <a:off x="1762424" y="2834639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Trung vị
198.000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41315" y="3428999"/>
            <a:ext cx="0" cy="640080"/>
          </a:xfrm>
          <a:prstGeom prst="line">
            <a:avLst/>
          </a:prstGeom>
          <a:ln w="15875">
            <a:solidFill>
              <a:srgbClr val="5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"/>
          <p:cNvSpPr txBox="1"/>
          <p:nvPr/>
        </p:nvSpPr>
        <p:spPr>
          <a:xfrm>
            <a:off x="2609795" y="4133087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5858"/>
                </a:solidFill>
                <a:latin typeface="Arial"/>
              </a:rPr>
              <a:t>Q3
412.000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59779" y="3428999"/>
            <a:ext cx="0" cy="640080"/>
          </a:xfrm>
          <a:prstGeom prst="line">
            <a:avLst/>
          </a:prstGeom>
          <a:ln w="25400">
            <a:solidFill>
              <a:srgbClr val="9C00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"/>
          <p:cNvSpPr txBox="1"/>
          <p:nvPr/>
        </p:nvSpPr>
        <p:spPr>
          <a:xfrm>
            <a:off x="4528259" y="4133087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9C0006"/>
                </a:solidFill>
                <a:latin typeface="Arial"/>
              </a:rPr>
              <a:t>Ngưỡng
896.500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66576" y="3428999"/>
            <a:ext cx="0" cy="640080"/>
          </a:xfrm>
          <a:prstGeom prst="line">
            <a:avLst/>
          </a:prstGeom>
          <a:ln w="15875">
            <a:solidFill>
              <a:srgbClr val="5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"/>
          <p:cNvSpPr txBox="1"/>
          <p:nvPr/>
        </p:nvSpPr>
        <p:spPr>
          <a:xfrm>
            <a:off x="10735056" y="4133087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85858"/>
                </a:solidFill>
                <a:latin typeface="Arial"/>
              </a:rPr>
              <a:t>Max
2.464.000</a:t>
            </a:r>
          </a:p>
        </p:txBody>
      </p:sp>
      <p:sp>
        <p:nvSpPr>
          <p:cNvPr id="24" name="Outlier zone"/>
          <p:cNvSpPr/>
          <p:nvPr/>
        </p:nvSpPr>
        <p:spPr>
          <a:xfrm>
            <a:off x="5259779" y="3474720"/>
            <a:ext cx="6206796" cy="548640"/>
          </a:xfrm>
          <a:prstGeom prst="rect">
            <a:avLst/>
          </a:prstGeom>
          <a:solidFill>
            <a:srgbClr val="FFC7C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442659" y="29717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9C0006"/>
                </a:solidFill>
                <a:latin typeface="Arial"/>
              </a:rPr>
              <a:t>138 đơn vượt ngưỡng = Q3 + 1,5 × (Q3 − Q1)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527048" y="23317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Độ lệch chuẩn </a:t>
            </a:r>
            <a:r>
              <a:rPr sz="1700" b="1">
                <a:solidFill>
                  <a:srgbClr val="203864"/>
                </a:solidFill>
                <a:latin typeface="Arial"/>
              </a:rPr>
              <a:t>289.919</a:t>
            </a:r>
            <a:r>
              <a:rPr sz="1700" b="0">
                <a:solidFill>
                  <a:srgbClr val="1B2230"/>
                </a:solidFill>
                <a:latin typeface="Arial"/>
              </a:rPr>
              <a:t> (gần bằng trung bình) · SKEW </a:t>
            </a:r>
            <a:r>
              <a:rPr sz="1700" b="1">
                <a:solidFill>
                  <a:srgbClr val="203864"/>
                </a:solidFill>
                <a:latin typeface="Arial"/>
              </a:rPr>
              <a:t>1,77</a:t>
            </a:r>
            <a:r>
              <a:rPr sz="1700" b="0">
                <a:solidFill>
                  <a:srgbClr val="1B2230"/>
                </a:solidFill>
                <a:latin typeface="Arial"/>
              </a:rPr>
              <a:t> (lệch phải)</a:t>
            </a:r>
          </a:p>
        </p:txBody>
      </p:sp>
      <p:pic>
        <p:nvPicPr>
          <p:cNvPr id="27" name="Screenshot S12_stdev_outlier" descr="S12_stdev_out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869" y="4754880"/>
            <a:ext cx="3589398" cy="132588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28" name="PRO TIP callout"/>
          <p:cNvSpPr/>
          <p:nvPr/>
        </p:nvSpPr>
        <p:spPr>
          <a:xfrm>
            <a:off x="7726679" y="4754880"/>
            <a:ext cx="3922776" cy="13258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 TIP chip"/>
          <p:cNvSpPr/>
          <p:nvPr/>
        </p:nvSpPr>
        <p:spPr>
          <a:xfrm>
            <a:off x="7836407" y="486460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30" name="PRO TIP text"/>
          <p:cNvSpPr txBox="1"/>
          <p:nvPr/>
        </p:nvSpPr>
        <p:spPr>
          <a:xfrm>
            <a:off x="8933688" y="4846320"/>
            <a:ext cx="2606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Outlier không phải “lỗi để xóa”: có thể là khách mua quà Tết, mua sỉ. Giải thích trước, quyết định sau.</a:t>
            </a:r>
          </a:p>
        </p:txBody>
      </p:sp>
      <p:sp>
        <p:nvSpPr>
          <p:cNvPr id="3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Demo/B2_Demo_ThongKe.xlsx, sheet Demo_ThongKe (I7:I13)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RANK.EQ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THỐNG KÊ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RANK.EQ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Xếp hạng một giá trị trong danh sách (0 = giảm dần).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60604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606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60604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=RANK.EQ(D2,$D$2:$D$13,0)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3291840"/>
            <a:ext cx="49377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34015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3383280"/>
            <a:ext cx="41422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Vùng xếp hạng phải khóa $ — nếu không, kéo xuống vùng sẽ trôi.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527048" y="46634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Xếp hạng chỉ có nghĩa khi so cùng loại (Mall vs mặt phố, trung tâm vs tỉnh). “Vì sao” → Buổi 3.</a:t>
            </a:r>
          </a:p>
        </p:txBody>
      </p:sp>
      <p:pic>
        <p:nvPicPr>
          <p:cNvPr id="13" name="Screenshot S13_rank" descr="S13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57351"/>
            <a:ext cx="4882896" cy="2509057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Demo/B2_Demo_ThongKe.xlsx, sheet Demo_RANK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SUMIFS: mỗi tiêu chí là một bộ lọc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Xương sống Chuỗi C: bộ lọc + phép tổng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SUMIFS</a:t>
            </a:r>
          </a:p>
        </p:txBody>
      </p:sp>
      <p:sp>
        <p:nvSpPr>
          <p:cNvPr id="4" name="Source column"/>
          <p:cNvSpPr/>
          <p:nvPr/>
        </p:nvSpPr>
        <p:spPr>
          <a:xfrm>
            <a:off x="1527048" y="2103120"/>
            <a:ext cx="2377440" cy="237744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527048" y="210312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tblSales[Revenue]</a:t>
            </a: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6.187 dòng</a:t>
            </a:r>
          </a:p>
          <a:p>
            <a:pPr algn="ctr">
              <a:spcBef>
                <a:spcPts val="1000"/>
              </a:spcBef>
            </a:pPr>
            <a:r>
              <a:rPr sz="1800" b="1">
                <a:solidFill>
                  <a:srgbClr val="1B2230"/>
                </a:solidFill>
                <a:latin typeface="Arial"/>
              </a:rPr>
              <a:t>∑ phép tổng</a:t>
            </a:r>
          </a:p>
        </p:txBody>
      </p:sp>
      <p:sp>
        <p:nvSpPr>
          <p:cNvPr id="6" name="Filter 1"/>
          <p:cNvSpPr/>
          <p:nvPr/>
        </p:nvSpPr>
        <p:spPr>
          <a:xfrm>
            <a:off x="4572000" y="214884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4572000" y="21488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585858"/>
                </a:solidFill>
                <a:latin typeface="Arial"/>
              </a:rPr>
              <a:t>Bộ lọc  </a:t>
            </a:r>
            <a:r>
              <a:rPr sz="2000" b="1">
                <a:solidFill>
                  <a:srgbClr val="203864"/>
                </a:solidFill>
                <a:latin typeface="Arial"/>
              </a:rPr>
              <a:t>Vùng = Bắc</a:t>
            </a:r>
          </a:p>
        </p:txBody>
      </p:sp>
      <p:sp>
        <p:nvSpPr>
          <p:cNvPr id="8" name="Filter 2"/>
          <p:cNvSpPr/>
          <p:nvPr/>
        </p:nvSpPr>
        <p:spPr>
          <a:xfrm>
            <a:off x="4572000" y="3429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4572000" y="34290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585858"/>
                </a:solidFill>
                <a:latin typeface="Arial"/>
              </a:rPr>
              <a:t>Bộ lọc  </a:t>
            </a:r>
            <a:r>
              <a:rPr sz="2000" b="1">
                <a:solidFill>
                  <a:srgbClr val="203864"/>
                </a:solidFill>
                <a:latin typeface="Arial"/>
              </a:rPr>
              <a:t>Tháng = 3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977639" y="2606040"/>
            <a:ext cx="594361" cy="68580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2606040"/>
            <a:ext cx="1188720" cy="68580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77639" y="3291840"/>
            <a:ext cx="594361" cy="59436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315200" y="3291840"/>
            <a:ext cx="1188720" cy="59436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sult cell"/>
          <p:cNvSpPr/>
          <p:nvPr/>
        </p:nvSpPr>
        <p:spPr>
          <a:xfrm>
            <a:off x="8503920" y="2514600"/>
            <a:ext cx="3145536" cy="155448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8503920" y="2514600"/>
            <a:ext cx="3145536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CDE2FB"/>
                </a:solidFill>
                <a:latin typeface="Arial"/>
              </a:rPr>
              <a:t>Một ô kết quả</a:t>
            </a:r>
          </a:p>
          <a:p>
            <a:pPr algn="ctr">
              <a:spcBef>
                <a:spcPts val="400"/>
              </a:spcBef>
            </a:pPr>
            <a:r>
              <a:rPr sz="3000" b="1">
                <a:solidFill>
                  <a:srgbClr val="FFFFFF"/>
                </a:solidFill>
                <a:latin typeface="Arial"/>
              </a:rPr>
              <a:t>90.210.000</a:t>
            </a:r>
          </a:p>
        </p:txBody>
      </p:sp>
      <p:graphicFrame>
        <p:nvGraphicFramePr>
          <p:cNvPr id="16" name="Chain C"/>
          <p:cNvGraphicFramePr>
            <a:graphicFrameLocks noGrp="1"/>
          </p:cNvGraphicFramePr>
          <p:nvPr/>
        </p:nvGraphicFramePr>
        <p:xfrm>
          <a:off x="1527048" y="4800600"/>
          <a:ext cx="10122408" cy="768096"/>
        </p:xfrm>
        <a:graphic>
          <a:graphicData uri="http://schemas.openxmlformats.org/drawingml/2006/table">
            <a:tbl>
              <a:tblPr firstRow="1" bandRow="0"/>
              <a:tblGrid>
                <a:gridCol w="3374136"/>
                <a:gridCol w="3374136"/>
                <a:gridCol w="3374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B2 · SUMIFS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B3 · PivotTable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B5 · 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B2230"/>
                          </a:solidFill>
                          <a:latin typeface="Arial"/>
                        </a:rPr>
                        <a:t>criteria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B2230"/>
                          </a:solidFill>
                          <a:latin typeface="Arial"/>
                        </a:rPr>
                        <a:t>tọa độ ô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B2230"/>
                          </a:solidFill>
                          <a:latin typeface="Arial"/>
                        </a:rPr>
                        <a:t>filter context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"/>
          <p:cNvSpPr txBox="1"/>
          <p:nvPr/>
        </p:nvSpPr>
        <p:spPr>
          <a:xfrm>
            <a:off x="1527048" y="150876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Cùng một ý, ba cái tên. Kiểm chứng: Filter Bắc + tháng 3 → Status Bar Sum = 90.210.000 (635 dòng).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Hình này dùng lại nguyên vẹn ở B3 và B5 · Demo/B2_Demo_SUMIFS.xlsx, sheet Sales và Demo_SUMIFS (D4)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SUMIFS · COUNTIFS · AVERAGEIFS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SUMIFS</a:t>
            </a:r>
          </a:p>
        </p:txBody>
      </p:sp>
      <p:graphicFrame>
        <p:nvGraphicFramePr>
          <p:cNvPr id="4" name="Functions"/>
          <p:cNvGraphicFramePr>
            <a:graphicFrameLocks noGrp="1"/>
          </p:cNvGraphicFramePr>
          <p:nvPr/>
        </p:nvGraphicFramePr>
        <p:xfrm>
          <a:off x="1527048" y="1463040"/>
          <a:ext cx="10122408" cy="2633472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2103120"/>
                <a:gridCol w="5916168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Hàm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Ví dụ: Bắc, tháng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SUMIFS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Tổng có điều kiện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=SUMIFS(tblSales[Revenue],tblSales[Region],"Bắc",tblSales[Thang],3)</a:t>
                      </a:r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  → 90.210.000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COUNTIFS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Đếm có điều kiện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=COUNTIFS(tblSales[Region],"Bắc",tblSales[Thang],3)</a:t>
                      </a:r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  → 635 dòng</a:t>
                      </a:r>
                      <a:r>
                        <a:rPr sz="1300" b="1">
                          <a:solidFill>
                            <a:srgbClr val="203864"/>
                          </a:solidFill>
                          <a:latin typeface="Arial"/>
                        </a:rPr>
                        <a:t>   + tblSales[Line_No],1 → 321 đơn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AVERAGEIFS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Trung bình có điều kiện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=AVERAGEIFS(tblSales[Revenue],…)</a:t>
                      </a:r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  → 142.063 /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"/>
          <p:cNvSpPr txBox="1"/>
          <p:nvPr/>
        </p:nvSpPr>
        <p:spPr>
          <a:xfrm>
            <a:off x="1527048" y="42062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3398DA"/>
                </a:solidFill>
                <a:latin typeface="Arial"/>
              </a:rPr>
              <a:t>① </a:t>
            </a:r>
            <a:r>
              <a:rPr sz="1300" b="0">
                <a:solidFill>
                  <a:srgbClr val="1B2230"/>
                </a:solidFill>
                <a:latin typeface="Arial"/>
              </a:rPr>
              <a:t>cột cần cộng (ĐẦU) · </a:t>
            </a:r>
            <a:r>
              <a:rPr sz="1300" b="1">
                <a:solidFill>
                  <a:srgbClr val="3398DA"/>
                </a:solidFill>
                <a:latin typeface="Arial"/>
              </a:rPr>
              <a:t>② </a:t>
            </a:r>
            <a:r>
              <a:rPr sz="1300" b="0">
                <a:solidFill>
                  <a:srgbClr val="1B2230"/>
                </a:solidFill>
                <a:latin typeface="Arial"/>
              </a:rPr>
              <a:t>cặp cột lọc, giá trị · </a:t>
            </a:r>
            <a:r>
              <a:rPr sz="1300" b="1">
                <a:solidFill>
                  <a:srgbClr val="3398DA"/>
                </a:solidFill>
                <a:latin typeface="Arial"/>
              </a:rPr>
              <a:t>③ </a:t>
            </a:r>
            <a:r>
              <a:rPr sz="1300" b="0">
                <a:solidFill>
                  <a:srgbClr val="1B2230"/>
                </a:solidFill>
                <a:latin typeface="Arial"/>
              </a:rPr>
              <a:t>thêm cặp</a:t>
            </a:r>
          </a:p>
        </p:txBody>
      </p:sp>
      <p:pic>
        <p:nvPicPr>
          <p:cNvPr id="6" name="Screenshot S16_sumifs_screentip" descr="S16_sumifs_screen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481" y="4617720"/>
            <a:ext cx="4433453" cy="14630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TIP callout"/>
          <p:cNvSpPr/>
          <p:nvPr/>
        </p:nvSpPr>
        <p:spPr>
          <a:xfrm>
            <a:off x="6537960" y="4251960"/>
            <a:ext cx="5111496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647688" y="4361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7223760" y="4343400"/>
            <a:ext cx="4315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Dùng cột của Table: các vùng luôn cùng kích thước, không bị #VALUE!.</a:t>
            </a:r>
          </a:p>
        </p:txBody>
      </p:sp>
      <p:sp>
        <p:nvSpPr>
          <p:cNvPr id="10" name="PRO TIP callout"/>
          <p:cNvSpPr/>
          <p:nvPr/>
        </p:nvSpPr>
        <p:spPr>
          <a:xfrm>
            <a:off x="6537960" y="5212080"/>
            <a:ext cx="5111496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 TIP chip"/>
          <p:cNvSpPr/>
          <p:nvPr/>
        </p:nvSpPr>
        <p:spPr>
          <a:xfrm>
            <a:off x="6647688" y="532180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2" name="PRO TIP text"/>
          <p:cNvSpPr txBox="1"/>
          <p:nvPr/>
        </p:nvSpPr>
        <p:spPr>
          <a:xfrm>
            <a:off x="7744968" y="5303520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Grain là dòng sản phẩm: đếm ĐƠN thì COUNTIFS thêm Line_No = 1.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Demo/B2_Demo_SUMIFS.xlsx, sheet Demo_SUMIFS (D4:D7)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Bảng KPI 2 chiều · tổng ÷ tổng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SUMIFS</a:t>
            </a:r>
          </a:p>
        </p:txBody>
      </p:sp>
      <p:sp>
        <p:nvSpPr>
          <p:cNvPr id="4" name="Formula bar"/>
          <p:cNvSpPr/>
          <p:nvPr/>
        </p:nvSpPr>
        <p:spPr>
          <a:xfrm>
            <a:off x="1527048" y="14630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18488" y="1463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6" name="Formula"/>
          <p:cNvSpPr txBox="1"/>
          <p:nvPr/>
        </p:nvSpPr>
        <p:spPr>
          <a:xfrm>
            <a:off x="2075688" y="14630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=SUMIFS(tblSales[Revenue],tblSales[Region],</a:t>
            </a:r>
            <a:r>
              <a:rPr sz="1600" b="1">
                <a:solidFill>
                  <a:srgbClr val="1F6FB2"/>
                </a:solidFill>
                <a:latin typeface="Arial"/>
              </a:rPr>
              <a:t>$A12</a:t>
            </a:r>
            <a:r>
              <a:rPr sz="1600" b="0">
                <a:solidFill>
                  <a:srgbClr val="1B2230"/>
                </a:solidFill>
                <a:latin typeface="Arial"/>
              </a:rPr>
              <a:t>,tblSales[Thang],</a:t>
            </a:r>
            <a:r>
              <a:rPr sz="1600" b="1">
                <a:solidFill>
                  <a:srgbClr val="1F6FB2"/>
                </a:solidFill>
                <a:latin typeface="Arial"/>
              </a:rPr>
              <a:t>B$11</a:t>
            </a:r>
            <a:r>
              <a:rPr sz="1600" b="0">
                <a:solidFill>
                  <a:srgbClr val="1B2230"/>
                </a:solidFill>
                <a:latin typeface="Arial"/>
              </a:rPr>
              <a:t>)</a:t>
            </a:r>
          </a:p>
        </p:txBody>
      </p:sp>
      <p:pic>
        <p:nvPicPr>
          <p:cNvPr id="7" name="Screenshot S17_sumifs_grid" descr="S17_sumif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563982"/>
            <a:ext cx="6858000" cy="131855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extBox"/>
          <p:cNvSpPr txBox="1"/>
          <p:nvPr/>
        </p:nvSpPr>
        <p:spPr>
          <a:xfrm>
            <a:off x="1527048" y="443484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585858"/>
                </a:solidFill>
                <a:latin typeface="Arial"/>
              </a:rPr>
              <a:t>Một công thức, kéo ra 9 ô: khóa cột $A (Miền), khóa dòng B$11 (Tháng). Đối soát: Tổng = tổng cột Revenue.</a:t>
            </a:r>
          </a:p>
        </p:txBody>
      </p:sp>
      <p:sp>
        <p:nvSpPr>
          <p:cNvPr id="9" name="Stat card"/>
          <p:cNvSpPr/>
          <p:nvPr/>
        </p:nvSpPr>
        <p:spPr>
          <a:xfrm>
            <a:off x="8595360" y="2103120"/>
            <a:ext cx="305409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778240" y="2194560"/>
            <a:ext cx="2688336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AVERAGE GM% 6 ngành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9C0006"/>
                </a:solidFill>
                <a:latin typeface="Arial"/>
              </a:rPr>
              <a:t>31,2%  ✘</a:t>
            </a:r>
          </a:p>
        </p:txBody>
      </p:sp>
      <p:sp>
        <p:nvSpPr>
          <p:cNvPr id="11" name="Stat card"/>
          <p:cNvSpPr/>
          <p:nvPr/>
        </p:nvSpPr>
        <p:spPr>
          <a:xfrm>
            <a:off x="8595360" y="3520440"/>
            <a:ext cx="305409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778240" y="3611880"/>
            <a:ext cx="2688336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Tổng lãi gộp ÷ tổng doanh thu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E7D32"/>
                </a:solidFill>
                <a:latin typeface="Arial"/>
              </a:rPr>
              <a:t>34,2%  ✔</a:t>
            </a:r>
          </a:p>
        </p:txBody>
      </p:sp>
      <p:sp>
        <p:nvSpPr>
          <p:cNvPr id="13" name="TIP callout"/>
          <p:cNvSpPr/>
          <p:nvPr/>
        </p:nvSpPr>
        <p:spPr>
          <a:xfrm>
            <a:off x="1527048" y="516636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636776" y="52760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2212848" y="525780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KPI tỷ lệ (AOV, Margin %) luôn tính TỔNG ÷ TỔNG. Ngành Sữa (16,6 triệu) không được “một phiếu” ngang Bánh kẹo (338,7 triệu).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Demo/B2_Demo_SUMIFS.xlsx, sheet Demo_SUMIFS (B12:E15, dòng 20–28)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file khởi đầu và B2_Product_DuplicateKey.xlsx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Nối bảng: lấy thông tin từ bảng khác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LOOKUP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VLOOKUP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Tìm ở CỘT ĐẦU của bảng, trả về cột thứ n bên phải.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3774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377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3774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=VLOOKUP(A2,Product!$A$2:$E$42,5,FALSE)</a:t>
            </a:r>
          </a:p>
        </p:txBody>
      </p:sp>
      <p:pic>
        <p:nvPicPr>
          <p:cNvPr id="9" name="Screenshot S20_vlookup" descr="S20_v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029725"/>
            <a:ext cx="10122408" cy="207870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IP callout"/>
          <p:cNvSpPr/>
          <p:nvPr/>
        </p:nvSpPr>
        <p:spPr>
          <a:xfrm>
            <a:off x="1527048" y="525780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34924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LUÔN ghi đối số cuối là FALSE (hoặc 0). Bỏ trống = khớp gần đúng: không thấy mã thì lấy mã gần nhất nhỏ hơn (P040), không báo lỗi.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Demo/B2_Demo_Lookup.xlsx, sheet Demo_VLOOKUP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 / MATCH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LOOKUP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INDEX / MATCH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MATCH tìm VỊ TRÍ, INDEX lấy giá trị Ở VỊ TRÍ ĐÓ.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3774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377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3774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=INDEX(Product!$E$2:$E$42,MATCH(A2,Product!$A$2:$A$42,0))</a:t>
            </a:r>
          </a:p>
        </p:txBody>
      </p:sp>
      <p:pic>
        <p:nvPicPr>
          <p:cNvPr id="9" name="Screenshot S21_index_match" descr="S21_index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127593"/>
            <a:ext cx="4663440" cy="188297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extBox"/>
          <p:cNvSpPr txBox="1"/>
          <p:nvPr/>
        </p:nvSpPr>
        <p:spPr>
          <a:xfrm>
            <a:off x="6400800" y="3063240"/>
            <a:ext cx="52486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1B2230"/>
                </a:solidFill>
                <a:latin typeface="Arial"/>
              </a:rPr>
              <a:t>MATCH("P005", cột mã, 0)</a:t>
            </a:r>
            <a:r>
              <a:rPr sz="1700" b="0">
                <a:solidFill>
                  <a:srgbClr val="1B2230"/>
                </a:solidFill>
                <a:latin typeface="Arial"/>
              </a:rPr>
              <a:t> → dòng 5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B2230"/>
                </a:solidFill>
                <a:latin typeface="Arial"/>
              </a:rPr>
              <a:t>INDEX(cột Unit_Cost, 5)</a:t>
            </a:r>
            <a:r>
              <a:rPr sz="1700" b="0">
                <a:solidFill>
                  <a:srgbClr val="1B2230"/>
                </a:solidFill>
                <a:latin typeface="Arial"/>
              </a:rPr>
              <a:t> → 83.500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Cột tìm và cột trả về tách rời: tìm được ở mọi cột, trả về bên trái, chèn cột không sai.</a:t>
            </a:r>
          </a:p>
        </p:txBody>
      </p:sp>
      <p:sp>
        <p:nvSpPr>
          <p:cNvPr id="11" name="TIP callout"/>
          <p:cNvSpPr/>
          <p:nvPr/>
        </p:nvSpPr>
        <p:spPr>
          <a:xfrm>
            <a:off x="1527048" y="525780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34924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Chạy trên MỌI phiên bản Excel. Dùng khi máy chưa có XLOOKUP (Excel 2016/2019).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Demo/B2_Demo_Lookup.xlsx, sheet Demo_XLOOKUP (cột B)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LOOKUP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XLOOKUP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Tìm trong một cột, trả về cột khác; mặc định khớp chính xác.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3774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3774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3774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=XLOOKUP(A2,Product!$A$2:$A$42,Product!$E$2:$E$42,"Không có mã")</a:t>
            </a:r>
          </a:p>
        </p:txBody>
      </p:sp>
      <p:graphicFrame>
        <p:nvGraphicFramePr>
          <p:cNvPr id="9" name="Arguments"/>
          <p:cNvGraphicFramePr>
            <a:graphicFrameLocks noGrp="1"/>
          </p:cNvGraphicFramePr>
          <p:nvPr/>
        </p:nvGraphicFramePr>
        <p:xfrm>
          <a:off x="1527048" y="2971800"/>
          <a:ext cx="5577840" cy="2194560"/>
        </p:xfrm>
        <a:graphic>
          <a:graphicData uri="http://schemas.openxmlformats.org/drawingml/2006/table">
            <a:tbl>
              <a:tblPr firstRow="1" bandRow="0"/>
              <a:tblGrid>
                <a:gridCol w="457200"/>
                <a:gridCol w="237744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Đối số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Ý nghĩa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①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lookup_value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Tìm cái gì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②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lookup_array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Tìm trong cột nào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③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return_array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Trả về cột nào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[if_not_found]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Không thấy thì hiện gì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⑤ ⑥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[match_mode] [search_mode]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Kiểu khớp · chiều tìm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Screenshot S22_xlookup" descr="S22_x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62223"/>
            <a:ext cx="4334256" cy="88219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1" name="TIP callout"/>
          <p:cNvSpPr/>
          <p:nvPr/>
        </p:nvSpPr>
        <p:spPr>
          <a:xfrm>
            <a:off x="7315200" y="4526280"/>
            <a:ext cx="4334256" cy="13716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7424927" y="46360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8001000" y="4617720"/>
            <a:ext cx="35387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Trong Table: =XLOOKUP([@Product_Code], tblProduct[Product_Code], tblProduct[Unit_Cost])</a:t>
            </a:r>
          </a:p>
        </p:txBody>
      </p:sp>
      <p:sp>
        <p:nvSpPr>
          <p:cNvPr id="14" name="PRO TIP callout"/>
          <p:cNvSpPr/>
          <p:nvPr/>
        </p:nvSpPr>
        <p:spPr>
          <a:xfrm>
            <a:off x="1527048" y="5257800"/>
            <a:ext cx="5577840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 TIP chip"/>
          <p:cNvSpPr/>
          <p:nvPr/>
        </p:nvSpPr>
        <p:spPr>
          <a:xfrm>
            <a:off x="1636776" y="536752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6" name="PRO TIP text"/>
          <p:cNvSpPr txBox="1"/>
          <p:nvPr/>
        </p:nvSpPr>
        <p:spPr>
          <a:xfrm>
            <a:off x="2734056" y="5349240"/>
            <a:ext cx="4261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Chỉ dùng if_not_found khi đã hiểu vì sao không tìm thấy; đừng dùng để che lỗi dữ liệu.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Demo/B2_Demo_Lookup.xlsx, sheet Demo_XLOOKUP (cột C, F)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Laws of Lookups: khóa phải duy nhất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LOOKUP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Luật 1 · </a:t>
            </a:r>
            <a:r>
              <a:rPr sz="1600" b="0">
                <a:solidFill>
                  <a:srgbClr val="1B2230"/>
                </a:solidFill>
                <a:latin typeface="Arial"/>
              </a:rPr>
              <a:t>Khóa ở bảng tra phải DUY NHẤT. Trùng khóa → lấy dòng ĐẦU TIÊN, không báo lỗi.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Luật 2 · </a:t>
            </a:r>
            <a:r>
              <a:rPr sz="1600" b="0">
                <a:solidFill>
                  <a:srgbClr val="1B2230"/>
                </a:solidFill>
                <a:latin typeface="Arial"/>
              </a:rPr>
              <a:t>Khóa hai bên cùng kiểu, cùng cách viết (slide sau).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Luật 3 · </a:t>
            </a:r>
            <a:r>
              <a:rPr sz="1600" b="0">
                <a:solidFill>
                  <a:srgbClr val="1B2230"/>
                </a:solidFill>
                <a:latin typeface="Arial"/>
              </a:rPr>
              <a:t>Không thấy thì phải thấy #N/A, đừng khớp gần đúng.</a:t>
            </a:r>
          </a:p>
        </p:txBody>
      </p:sp>
      <p:pic>
        <p:nvPicPr>
          <p:cNvPr id="5" name="Screenshot S23_p021_duplicate" descr="S23_p021_dupl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967324"/>
            <a:ext cx="5577840" cy="75215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Stat card"/>
          <p:cNvSpPr/>
          <p:nvPr/>
        </p:nvSpPr>
        <p:spPr>
          <a:xfrm>
            <a:off x="7406640" y="1463040"/>
            <a:ext cx="424281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7589519" y="1554480"/>
            <a:ext cx="3877055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COGS của P021 trong Q1 (143 dòng)</a:t>
            </a:r>
          </a:p>
          <a:p>
            <a:pPr>
              <a:spcBef>
                <a:spcPts val="200"/>
              </a:spcBef>
            </a:pPr>
            <a:r>
              <a:rPr sz="2800" b="1">
                <a:solidFill>
                  <a:srgbClr val="9C0006"/>
                </a:solidFill>
                <a:latin typeface="Arial"/>
              </a:rPr>
              <a:t>15.872.000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đúng: 17.664.000 · thiếu 1.792.000</a:t>
            </a:r>
          </a:p>
        </p:txBody>
      </p:sp>
      <p:sp>
        <p:nvSpPr>
          <p:cNvPr id="8" name="Stat card"/>
          <p:cNvSpPr/>
          <p:nvPr/>
        </p:nvSpPr>
        <p:spPr>
          <a:xfrm>
            <a:off x="7406640" y="3017520"/>
            <a:ext cx="424281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7589519" y="3108960"/>
            <a:ext cx="3877055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Gross Margin % toàn công ty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9C0006"/>
                </a:solidFill>
                <a:latin typeface="Arial"/>
              </a:rPr>
              <a:t>34,4% vs 34,2%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đẹp hơn thực tế — không một ô lỗi</a:t>
            </a:r>
          </a:p>
        </p:txBody>
      </p:sp>
      <p:sp>
        <p:nvSpPr>
          <p:cNvPr id="10" name="TIP callout"/>
          <p:cNvSpPr/>
          <p:nvPr/>
        </p:nvSpPr>
        <p:spPr>
          <a:xfrm>
            <a:off x="7406640" y="4572000"/>
            <a:ext cx="4242816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7516367" y="46817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8092440" y="4663440"/>
            <a:ext cx="344728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Kiểm tra trùng: =COUNTIF(tblProduct[Product_Code],[@Product_Code]) &gt; 1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7048" y="516636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Không lỗi ≠ không sai. Doanh thu vẫn đúng (giá bán lấy từ Sales); sai là GIÁ VỐN.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Demo/B2_Demo_Lookup.xlsx, sheet Demo_KhoaTrung và Product (dòng 22–23)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Khóa khác kiểu: TRIM · VALUE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LOOKUP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TRIM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Bỏ dấu cách thừa ở đầu, cuối, giữa chuỗi.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VALUE / TEXT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Đổi số dạng chữ "1" ↔ số 1.</a:t>
            </a:r>
          </a:p>
        </p:txBody>
      </p:sp>
      <p:pic>
        <p:nvPicPr>
          <p:cNvPr id="9" name="Screenshot S24_trim_value" descr="S24_trim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132" y="2514600"/>
            <a:ext cx="6386239" cy="23317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IP callout"/>
          <p:cNvSpPr/>
          <p:nvPr/>
        </p:nvSpPr>
        <p:spPr>
          <a:xfrm>
            <a:off x="1527048" y="502920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1389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12064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#N/A dù “nhìn thấy có”? Kiểm tra =LEN(ô) ("P005 " ra 5, không phải 4) và căn lề: số căn phải, chữ căn trái.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Demo/B2_Demo_Lookup.xlsx, sheet Demo_KieuKhoa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Text &amp; Date: chuẩn hóa để phân tích theo thời gian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TRIM · LEFT / MID / RIGHT · TEXT · &amp;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TEXT &amp; DATE</a:t>
            </a:r>
          </a:p>
        </p:txBody>
      </p:sp>
      <p:graphicFrame>
        <p:nvGraphicFramePr>
          <p:cNvPr id="4" name="Functions"/>
          <p:cNvGraphicFramePr>
            <a:graphicFrameLocks noGrp="1"/>
          </p:cNvGraphicFramePr>
          <p:nvPr/>
        </p:nvGraphicFramePr>
        <p:xfrm>
          <a:off x="1527048" y="1463040"/>
          <a:ext cx="10122408" cy="2286000"/>
        </p:xfrm>
        <a:graphic>
          <a:graphicData uri="http://schemas.openxmlformats.org/drawingml/2006/table">
            <a:tbl>
              <a:tblPr firstRow="1" bandRow="0"/>
              <a:tblGrid>
                <a:gridCol w="2286000"/>
                <a:gridCol w="4206240"/>
                <a:gridCol w="3630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Hàm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Ví dụ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Kết quả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LEFT / MID / RIGHT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=MID("HD2501-00001",3,4)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2501  (năm 25, tháng 01)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TRIM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=TRIM("  MCI Mart   Cầu Giấy")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MCI Mart Cầu Giấy  (LEN 21 → 17)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&amp;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=B2&amp;" – "&amp;TRIM(C2)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ST01 – MCI Mart Cầu Giấy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=TEXT(D2,"#,##0")&amp;" đ"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19,000 đ  (theo cài đặt vùng)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6_text" descr="S26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4456067"/>
            <a:ext cx="6035040" cy="826226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TIP callout"/>
          <p:cNvSpPr/>
          <p:nvPr/>
        </p:nvSpPr>
        <p:spPr>
          <a:xfrm>
            <a:off x="7726679" y="3886200"/>
            <a:ext cx="3922776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7836407" y="39959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8412480" y="3977639"/>
            <a:ext cx="312724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Kết quả của TEXT là CHỮ: =J2+1 ra #VALUE!. Tính toán bằng số, chỉ dùng TEXT ở bước trình bày.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Demo/B2_Demo_Text_Date.xlsx, sheet Demo_Text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Hàm ngày lõi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TEXT &amp; DATE</a:t>
            </a:r>
          </a:p>
        </p:txBody>
      </p:sp>
      <p:graphicFrame>
        <p:nvGraphicFramePr>
          <p:cNvPr id="4" name="Functions"/>
          <p:cNvGraphicFramePr>
            <a:graphicFrameLocks noGrp="1"/>
          </p:cNvGraphicFramePr>
          <p:nvPr/>
        </p:nvGraphicFramePr>
        <p:xfrm>
          <a:off x="1527048" y="1463040"/>
          <a:ext cx="10122408" cy="2286000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4754880"/>
                <a:gridCol w="326440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Hàm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Ví dụ (A2 = 15/01/2025)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Kết quả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EOMONTH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=EOMONTH(A2,0)  ·  =EOMONTH(A2,-1)+1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31/01/2025 · 01/01/2025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MONTH / Quý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=MONTH(A2)  ·  ="Q"&amp;ROUNDUP(MONTH(A2)/3,0)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1 · Q1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TEXT / WEEKDAY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=TEXT(A2,"ddd")  ·  =WEEKDAY(A2,2)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Wed (máy tiếng Việt: T4) ·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NETWORKDAYS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=NETWORKDAYS(B10,C10,$H$10:$H$15)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03864"/>
                          </a:solidFill>
                          <a:latin typeface="Arial"/>
                        </a:rPr>
                        <a:t>Tháng 1/2025: 23 → 17 ngày làm việc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7_date" descr="S27_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940490"/>
            <a:ext cx="6035040" cy="185738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TIP callout"/>
          <p:cNvSpPr/>
          <p:nvPr/>
        </p:nvSpPr>
        <p:spPr>
          <a:xfrm>
            <a:off x="7726679" y="3886200"/>
            <a:ext cx="3922776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7836407" y="39959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8412480" y="3977639"/>
            <a:ext cx="312724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Ngày trong Excel là SỐ (01/01/2025 = 45658), nên cộng trừ được. Ngày căn trái = ngày lưu dạng chữ, không group theo tháng được.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Demo/B2_Demo_Text_Date.xlsx, sheet Demo_Date · ngày lễ: 01/01 và 27–31/01/2025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Chọn hàm theo câu hỏi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TEXT &amp; DATE</a:t>
            </a:r>
          </a:p>
        </p:txBody>
      </p:sp>
      <p:graphicFrame>
        <p:nvGraphicFramePr>
          <p:cNvPr id="4" name="Chooser"/>
          <p:cNvGraphicFramePr>
            <a:graphicFrameLocks noGrp="1"/>
          </p:cNvGraphicFramePr>
          <p:nvPr/>
        </p:nvGraphicFramePr>
        <p:xfrm>
          <a:off x="1527048" y="1554480"/>
          <a:ext cx="10122408" cy="3621024"/>
        </p:xfrm>
        <a:graphic>
          <a:graphicData uri="http://schemas.openxmlformats.org/drawingml/2006/table">
            <a:tbl>
              <a:tblPr firstRow="1" bandRow="0"/>
              <a:tblGrid>
                <a:gridCol w="5669280"/>
                <a:gridCol w="4453128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Câu hỏi kinh doanh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Nhóm hàm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“Sản phẩm này thuộc nhóm nào?”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03864"/>
                          </a:solidFill>
                          <a:latin typeface="Arial"/>
                        </a:rPr>
                        <a:t>IF · IFS · AND · 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“Khách thường chi bao nhiêu? Có gì bất thường?”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03864"/>
                          </a:solidFill>
                          <a:latin typeface="Arial"/>
                        </a:rPr>
                        <a:t>MEDIAN · STDEV · QUARTILE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“Bao nhiêu, theo vùng / tháng?”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03864"/>
                          </a:solidFill>
                          <a:latin typeface="Arial"/>
                        </a:rPr>
                        <a:t>SUMIFS · COUNTIFS · AVERAGEIFS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“Lấy thông tin từ bảng khác”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03864"/>
                          </a:solidFill>
                          <a:latin typeface="Arial"/>
                        </a:rPr>
                        <a:t>XLOOKUP (INDEX / MATCH)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230"/>
                          </a:solidFill>
                          <a:latin typeface="Arial"/>
                        </a:rPr>
                        <a:t>“Theo tháng / quý / thứ”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03864"/>
                          </a:solidFill>
                          <a:latin typeface="Arial"/>
                        </a:rPr>
                        <a:t>MONTH · EOMONTH · TEXT · WEEKDAY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"/>
          <p:cNvSpPr txBox="1"/>
          <p:nvPr/>
        </p:nvSpPr>
        <p:spPr>
          <a:xfrm>
            <a:off x="1527048" y="544068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Bắt đầu từ câu hỏi, rồi mới chọn hàm.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Làm giàu tblSales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15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1. </a:t>
            </a:r>
            <a:r>
              <a:rPr sz="1500" b="0">
                <a:solidFill>
                  <a:srgbClr val="1B2230"/>
                </a:solidFill>
                <a:latin typeface="Arial"/>
              </a:rPr>
              <a:t>Mở file khởi đầu, lưu thành B2_&lt;HoTen&gt;.xlsx. Chép sheet Product từ B2_Product_DuplicateKey.xlsx: chuột phải tab → Move or Copy → tick Create a copy.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2. </a:t>
            </a:r>
            <a:r>
              <a:rPr sz="1500" b="0">
                <a:solidFill>
                  <a:srgbClr val="1B2230"/>
                </a:solidFill>
                <a:latin typeface="Arial"/>
              </a:rPr>
              <a:t>Kiểm tra khóa: =COUNTIF(tblProduct[Product_Code],[@Product_Code]) → xóa bản ghi P021 cũ (dòng 22).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3. </a:t>
            </a:r>
            <a:r>
              <a:rPr sz="1500" b="0">
                <a:solidFill>
                  <a:srgbClr val="1B2230"/>
                </a:solidFill>
                <a:latin typeface="Arial"/>
              </a:rPr>
              <a:t>tblSales thêm: Category, Unit_Cost (XLOOKUP) · COGS = [@Quantity]*[@Unit_Cost] · Gross_Margin = [@Revenue]-[@COGS].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4. </a:t>
            </a:r>
            <a:r>
              <a:rPr sz="1500" b="0">
                <a:solidFill>
                  <a:srgbClr val="1B2230"/>
                </a:solidFill>
                <a:latin typeface="Arial"/>
              </a:rPr>
              <a:t>Thang = MONTH · Quy = "Q"&amp;ROUNDUP(MONTH(…)/3,0) · Thu = TEXT(…,"ddd") · Phan_khuc = IFS (≥100.000 Cao, ≥30.000 Trung, còn lại Thấp).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Không còn #N/A.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Tổng COGS</a:t>
            </a:r>
          </a:p>
          <a:p>
            <a:pPr>
              <a:spcBef>
                <a:spcPts val="8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619.663.000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Nếu ra 617.871.000: còn P021 cũ.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Phan_khuc (dòng)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Cao 1.814 · Trung 3.005 · Thấp 1.368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khởi đầu: ../B1_Nen_tang_Excel_Du_lieu/Practice/B1_MCI_Mart_Q1_2025_Answer.xlsx · Practice/B2_Product_DuplicateKey.xlsx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Bảng KPI &amp; KPI Card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12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1. </a:t>
            </a:r>
            <a:r>
              <a:rPr sz="1500" b="0">
                <a:solidFill>
                  <a:srgbClr val="1B2230"/>
                </a:solidFill>
                <a:latin typeface="Arial"/>
              </a:rPr>
              <a:t>Sheet KPI_SUMIFS: Doanh thu Miền (A6:A8) × Tháng (B5:D5 = 1, 2, 3). MỘT công thức ở B6, kéo ra 9 ô ($A6, B$5); thêm cột Quý 1 và dòng Tổng.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2. </a:t>
            </a:r>
            <a:r>
              <a:rPr sz="1500" b="0">
                <a:solidFill>
                  <a:srgbClr val="1B2230"/>
                </a:solidFill>
                <a:latin typeface="Arial"/>
              </a:rPr>
              <a:t>Số đơn: COUNTIFS thêm tblSales[Line_No],1.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3. </a:t>
            </a:r>
            <a:r>
              <a:rPr sz="1500" b="0">
                <a:solidFill>
                  <a:srgbClr val="1B2230"/>
                </a:solidFill>
                <a:latin typeface="Arial"/>
              </a:rPr>
              <a:t>AOV = Doanh thu ÷ Số đơn · Gross Margin % = SUMIFS(Gross_Margin) ÷ Doanh thu. Dòng Tổng: tổng ÷ tổng.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4. </a:t>
            </a:r>
            <a:r>
              <a:rPr sz="1500" b="0">
                <a:solidFill>
                  <a:srgbClr val="1B2230"/>
                </a:solidFill>
                <a:latin typeface="Arial"/>
              </a:rPr>
              <a:t>Viết 2 card: Total Orders, Gross Margin %.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Tổng bảng doanh thu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Tháng 1: 425.850.000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Số đơn: 3.144 (không phải 6.187)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AOV: 299.445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Gross Margin: 34,2%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Mẫu card: Handout/B2_KPI_Definition_Card.docx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Chữa bài nhanh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THỰC HÀNH</a:t>
            </a:r>
          </a:p>
        </p:txBody>
      </p:sp>
      <p:sp>
        <p:nvSpPr>
          <p:cNvPr id="4" name="Checkbox 1"/>
          <p:cNvSpPr/>
          <p:nvPr/>
        </p:nvSpPr>
        <p:spPr>
          <a:xfrm>
            <a:off x="1527048" y="16916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2075688" y="164592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tblSales có Category, Unit_Cost, COGS, Gross_Margin, Thang, Quy, Thu, Phan_khuc; không còn #N/A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27048" y="230428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heckbox 2"/>
          <p:cNvSpPr/>
          <p:nvPr/>
        </p:nvSpPr>
        <p:spPr>
          <a:xfrm>
            <a:off x="1527048" y="251460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2075688" y="246888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tblProduct không còn mã trùng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27048" y="312724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ckbox 3"/>
          <p:cNvSpPr/>
          <p:nvPr/>
        </p:nvSpPr>
        <p:spPr>
          <a:xfrm>
            <a:off x="1527048" y="33375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2075688" y="329184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Bảng KPI Miền × Tháng: tổng = 941.454.000; số đơn = 3.144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7048" y="395020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ckbox 4"/>
          <p:cNvSpPr/>
          <p:nvPr/>
        </p:nvSpPr>
        <p:spPr>
          <a:xfrm>
            <a:off x="1527048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2075688" y="411480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AOV, Gross Margin % dòng Tổng tính tổng ÷ tổng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27048" y="477316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ckbox 5"/>
          <p:cNvSpPr/>
          <p:nvPr/>
        </p:nvSpPr>
        <p:spPr>
          <a:xfrm>
            <a:off x="1527048" y="4983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2075688" y="493776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3 KPI Definition Card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đáp án Practice/B2_MCI_Mart_Q1_2025_Answer.xlsx (sheet Kiem_tra: 10 dòng đối soát) là file khởi đầu Buổi 3.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câu hỏi nhanh · câu 6–7 là tình huống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Giá bán 135.000 ra gì với =IFS(D2&gt;=30000,"Trung",D2&gt;=100000,"Cao",TRUE,"Thấp")?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Cao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Trung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Thấp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#N/A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Statistics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Giá trị đơn Q1: trung bình 299.445, trung vị 198.000. Điều này cho biết gì?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Dữ liệu có lỗi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Có một số đơn rất lớn kéo trung bình lên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Nửa số đơn trên 299.445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Trung vị tính sai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SUMIFS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Trong SUMIFS, đối số ĐẦU TIÊN là gì?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Vùng tiêu chí đầu tiên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Tiêu chí đầu tiên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Vùng cần cộng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Số tiêu chí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VLOOKUP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=VLOOKUP(A2,Product!$A$2:$E$42,5) bỏ trống đối số cuối thì tra kiểu gì?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Khớp chính xác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Khớp gần đúng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Báo lỗi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Tìm từ dưới lên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5: Date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=EOMONTH(DATE(2025,2,15),0) trả về?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01/02/2025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15/03/2025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28/02/2025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31/03/2025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6: Tình huống —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Sau khi XLOOKUP giá vốn, Gross Margin % cao hơn tháng trước dù không có ô lỗi nào. Việc ĐẦU TIÊN nên làm?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Đổi sang VLOOKUP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Kiểm tra khóa trùng trong bảng Product (COUNTIF)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Bọc IFERROR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Định dạng lại cột 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7: Tình huống — KPI tỷ lệ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Bạn có AOV của 3 miền; sếp hỏi AOV toàn công ty. Tính thế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AVERAGE 3 AOV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Tổng doanh thu ÷ tổng số đơn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MEDIAN 3 AOV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Lấy AOV miền lớn nhất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5720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(1) Định nghĩa KPI (card) trước, công thức sau.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(2) Biết grain: 6.187 dòng ≠ 3.144 đơn.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(3) Mỗi tiêu chí SUMIFS là một bộ lọc.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(4) Khóa lookup phải duy nhất; không lỗi ≠ không sai.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(5) KPI tỷ lệ: tổng ÷ tổng.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“Doanh thu tháng ___ là ___ (con số, có so sánh), vì ___ (nguyên nhân khả dĩ),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PivotTable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203864"/>
                </a:solidFill>
                <a:latin typeface="Arial"/>
              </a:rPr>
              <a:t>“Doanh thu biến động thế nào theo cửa hàng, ngày trong tuần và ngành hàng — và vì sao tháng 1 cao hơn hẳn tháng 2?”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6060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1B2230"/>
                </a:solidFill>
                <a:latin typeface="Arial"/>
              </a:rPr>
              <a:t>Giới hạn hôm nay: </a:t>
            </a:r>
            <a:r>
              <a:rPr sz="1600" b="0">
                <a:solidFill>
                  <a:srgbClr val="1B2230"/>
                </a:solidFill>
                <a:latin typeface="Arial"/>
              </a:rPr>
              <a:t>mỗi chiều phân tích mới lại phải viết lại SUMIFS → PivotTable (Tầng 2–3).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520440"/>
            <a:ext cx="6400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Đọc handout B2 · hoàn thành 3 KPI card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Bài tập về nhà (bắt buộc): B2_BTVN_MCI_Mart_T4_2025.xlsx — nộp trước Buổi 3 tại hocvien.mcivietnam.com, tên file B2_BTVN_&lt;HoTen&gt;.xlsx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Tick “Checklist trước Buổi 3” (mục 10 handout)</a:t>
            </a:r>
          </a:p>
        </p:txBody>
      </p:sp>
      <p:sp>
        <p:nvSpPr>
          <p:cNvPr id="7" name="Brick B2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B2 · Bảng KPI (SUMIFS)</a:t>
            </a:r>
          </a:p>
        </p:txBody>
      </p:sp>
      <p:sp>
        <p:nvSpPr>
          <p:cNvPr id="9" name="Brick B3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B3 · Báo cáo Pivot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Giữ bảng KPI_SUMIFS: đáp án đối soát ở B3, B5.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