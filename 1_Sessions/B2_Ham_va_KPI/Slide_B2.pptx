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341" r:id="rId41"/>
    <p:sldId id="34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87"/>
    <p:restoredTop sz="77240"/>
  </p:normalViewPr>
  <p:slideViewPr>
    <p:cSldViewPr snapToGrid="0">
      <p:cViewPr varScale="1">
        <p:scale>
          <a:sx n="129" d="100"/>
          <a:sy n="129" d="100"/>
        </p:scale>
        <p:origin x="13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9/29/26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Thời lượng: 0,5 phút.</a:t>
            </a:r>
          </a:p>
          <a:p>
            <a:r>
              <a:t>LỜI GIẢNG</a:t>
            </a:r>
          </a:p>
          <a:p>
            <a:r>
              <a:t>Chào cả lớp, chào mừng các bạn quay lại Buổi 2. Buổi trước chúng ta mới dọn dữ liệu cho sạch; hôm nay mình bắt đầu tính ra con số để trả lời sếp.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1,5 phút.</a:t>
            </a:r>
          </a:p>
          <a:p>
            <a:r>
              <a:t>LỜI GIẢNG</a:t>
            </a:r>
          </a:p>
          <a:p>
            <a:r>
              <a:t>Đây là câu hỏi Giám đốc bán hàng gửi cho chúng ta tuần này. Nghe rất đơn giản, đúng không? Nhưng mình hỏi các bạn một câu: "số đơn" là đếm cái gì? Đếm số dòng trong file, hay đếm cái gì khác?</a:t>
            </a:r>
          </a:p>
          <a:p>
            <a:r>
              <a:t>(→ chờ 2–3 câu trả lời, KHÔNG chốt đáp án)</a:t>
            </a:r>
          </a:p>
          <a:p>
            <a:r>
              <a:t>Các bạn thấy chưa, chỉ một chữ "số đơn" mà đã có nhiều cách hiểu. Còn "biên lợi nhuận" thì file hôm qua chưa có giá vốn. Vậy trước khi viết công thức nào, mình phải định nghĩa KPI cho rõ. Đó là việc đầu tiên hôm nay.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1,5 phút.</a:t>
            </a:r>
          </a:p>
          <a:p>
            <a:r>
              <a:t>LỜI GIẢNG</a:t>
            </a:r>
          </a:p>
          <a:p>
            <a:r>
              <a:t>Nhắc nhanh buổi trước. Viên gạch B1 là bảng tblSales: 6.187 dòng, tổng doanh thu 941 triệu 454 nghìn, không còn dòng tổng hay ô gộp.</a:t>
            </a:r>
          </a:p>
          <a:p>
            <a:r>
              <a:t>(→ demo: mở ../B1_Nen_tang_Excel_Du_lieu/Practice/B1_MCI_Mart_Q1_2025_Answer.xlsx, sheet Kiem_tra: 8 dòng ✔)</a:t>
            </a:r>
          </a:p>
          <a:p>
            <a:r>
              <a:t>Đây là file khởi đầu hôm nay, trợ giảng đã gửi trong nhóm chat. Dù file của bạn đã khớp hay chưa, hôm nay mọi người làm trên file này, để cả lớp cùng một nền. Các bạn mở nó ra và lưu thành tên mình, ví dụ B2_NguyenVanA.xlsx.</a:t>
            </a:r>
          </a:p>
          <a:p>
            <a:r>
              <a:t>Hai thứ từ buổi trước sẽ dùng liên tục hôm nay: dấu đô-la và công thức theo tên cột trong Table. Ai còn lúng túng với F4 thì để ý kỹ ở phần SUMIFS.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Thời</a:t>
            </a:r>
            <a:r>
              <a:rPr dirty="0"/>
              <a:t> </a:t>
            </a:r>
            <a:r>
              <a:rPr dirty="0" err="1"/>
              <a:t>lượng</a:t>
            </a:r>
            <a:r>
              <a:rPr dirty="0"/>
              <a:t>: 3 </a:t>
            </a:r>
            <a:r>
              <a:rPr dirty="0" err="1"/>
              <a:t>phút</a:t>
            </a:r>
            <a:r>
              <a:rPr dirty="0"/>
              <a:t>.</a:t>
            </a:r>
          </a:p>
          <a:p>
            <a:r>
              <a:rPr dirty="0"/>
              <a:t>LỜI GIẢNG</a:t>
            </a:r>
          </a:p>
          <a:p>
            <a:r>
              <a:rPr dirty="0"/>
              <a:t>Ba </a:t>
            </a:r>
            <a:r>
              <a:rPr dirty="0" err="1"/>
              <a:t>từ</a:t>
            </a:r>
            <a:r>
              <a:rPr dirty="0"/>
              <a:t> </a:t>
            </a:r>
            <a:r>
              <a:rPr dirty="0" err="1"/>
              <a:t>này</a:t>
            </a:r>
            <a:r>
              <a:rPr dirty="0"/>
              <a:t> </a:t>
            </a:r>
            <a:r>
              <a:rPr dirty="0" err="1"/>
              <a:t>các</a:t>
            </a:r>
            <a:r>
              <a:rPr dirty="0"/>
              <a:t> </a:t>
            </a:r>
            <a:r>
              <a:rPr dirty="0" err="1"/>
              <a:t>bạn</a:t>
            </a:r>
            <a:r>
              <a:rPr dirty="0"/>
              <a:t> </a:t>
            </a:r>
            <a:r>
              <a:rPr dirty="0" err="1"/>
              <a:t>sẽ</a:t>
            </a:r>
            <a:r>
              <a:rPr dirty="0"/>
              <a:t> </a:t>
            </a:r>
            <a:r>
              <a:rPr dirty="0" err="1"/>
              <a:t>gặp</a:t>
            </a:r>
            <a:r>
              <a:rPr dirty="0"/>
              <a:t> </a:t>
            </a:r>
            <a:r>
              <a:rPr dirty="0" err="1"/>
              <a:t>đến</a:t>
            </a:r>
            <a:r>
              <a:rPr dirty="0"/>
              <a:t> </a:t>
            </a:r>
            <a:r>
              <a:rPr dirty="0" err="1"/>
              <a:t>hết</a:t>
            </a:r>
            <a:r>
              <a:rPr dirty="0"/>
              <a:t> </a:t>
            </a:r>
            <a:r>
              <a:rPr dirty="0" err="1"/>
              <a:t>khóa</a:t>
            </a:r>
            <a:r>
              <a:rPr dirty="0"/>
              <a:t>, </a:t>
            </a:r>
            <a:r>
              <a:rPr dirty="0" err="1"/>
              <a:t>nên</a:t>
            </a:r>
            <a:r>
              <a:rPr dirty="0"/>
              <a:t> </a:t>
            </a:r>
            <a:r>
              <a:rPr dirty="0" err="1"/>
              <a:t>mình</a:t>
            </a:r>
            <a:r>
              <a:rPr dirty="0"/>
              <a:t> </a:t>
            </a:r>
            <a:r>
              <a:rPr dirty="0" err="1"/>
              <a:t>giới</a:t>
            </a:r>
            <a:r>
              <a:rPr dirty="0"/>
              <a:t> </a:t>
            </a:r>
            <a:r>
              <a:rPr dirty="0" err="1"/>
              <a:t>thiệu</a:t>
            </a:r>
            <a:r>
              <a:rPr dirty="0"/>
              <a:t> </a:t>
            </a:r>
            <a:r>
              <a:rPr dirty="0" err="1"/>
              <a:t>ngay</a:t>
            </a:r>
            <a:r>
              <a:rPr dirty="0"/>
              <a:t>.</a:t>
            </a:r>
          </a:p>
          <a:p>
            <a:r>
              <a:rPr dirty="0"/>
              <a:t>Dimension </a:t>
            </a:r>
            <a:r>
              <a:rPr dirty="0" err="1"/>
              <a:t>là</a:t>
            </a:r>
            <a:r>
              <a:rPr dirty="0"/>
              <a:t> "</a:t>
            </a:r>
            <a:r>
              <a:rPr dirty="0" err="1"/>
              <a:t>theo</a:t>
            </a:r>
            <a:r>
              <a:rPr dirty="0"/>
              <a:t> </a:t>
            </a:r>
            <a:r>
              <a:rPr dirty="0" err="1"/>
              <a:t>cái</a:t>
            </a:r>
            <a:r>
              <a:rPr dirty="0"/>
              <a:t> </a:t>
            </a:r>
            <a:r>
              <a:rPr dirty="0" err="1"/>
              <a:t>gì</a:t>
            </a:r>
            <a:r>
              <a:rPr dirty="0"/>
              <a:t>": </a:t>
            </a:r>
            <a:r>
              <a:rPr dirty="0" err="1"/>
              <a:t>theo</a:t>
            </a:r>
            <a:r>
              <a:rPr dirty="0"/>
              <a:t> </a:t>
            </a:r>
            <a:r>
              <a:rPr dirty="0" err="1"/>
              <a:t>vùng</a:t>
            </a:r>
            <a:r>
              <a:rPr dirty="0"/>
              <a:t>, </a:t>
            </a:r>
            <a:r>
              <a:rPr dirty="0" err="1"/>
              <a:t>theo</a:t>
            </a:r>
            <a:r>
              <a:rPr dirty="0"/>
              <a:t> </a:t>
            </a:r>
            <a:r>
              <a:rPr dirty="0" err="1"/>
              <a:t>cửa</a:t>
            </a:r>
            <a:r>
              <a:rPr dirty="0"/>
              <a:t> </a:t>
            </a:r>
            <a:r>
              <a:rPr dirty="0" err="1"/>
              <a:t>hàng</a:t>
            </a:r>
            <a:r>
              <a:rPr dirty="0"/>
              <a:t>, </a:t>
            </a:r>
            <a:r>
              <a:rPr dirty="0" err="1"/>
              <a:t>theo</a:t>
            </a:r>
            <a:r>
              <a:rPr dirty="0"/>
              <a:t> </a:t>
            </a:r>
            <a:r>
              <a:rPr dirty="0" err="1"/>
              <a:t>tháng</a:t>
            </a:r>
            <a:r>
              <a:rPr dirty="0"/>
              <a:t>. Measure </a:t>
            </a:r>
            <a:r>
              <a:rPr dirty="0" err="1"/>
              <a:t>là</a:t>
            </a:r>
            <a:r>
              <a:rPr dirty="0"/>
              <a:t> "</a:t>
            </a:r>
            <a:r>
              <a:rPr dirty="0" err="1"/>
              <a:t>đo</a:t>
            </a:r>
            <a:r>
              <a:rPr dirty="0"/>
              <a:t> </a:t>
            </a:r>
            <a:r>
              <a:rPr dirty="0" err="1"/>
              <a:t>cái</a:t>
            </a:r>
            <a:r>
              <a:rPr dirty="0"/>
              <a:t> </a:t>
            </a:r>
            <a:r>
              <a:rPr dirty="0" err="1"/>
              <a:t>gì</a:t>
            </a:r>
            <a:r>
              <a:rPr dirty="0"/>
              <a:t>": </a:t>
            </a:r>
            <a:r>
              <a:rPr dirty="0" err="1"/>
              <a:t>số</a:t>
            </a:r>
            <a:r>
              <a:rPr dirty="0"/>
              <a:t> </a:t>
            </a:r>
            <a:r>
              <a:rPr dirty="0" err="1"/>
              <a:t>lượng</a:t>
            </a:r>
            <a:r>
              <a:rPr dirty="0"/>
              <a:t>, </a:t>
            </a:r>
            <a:r>
              <a:rPr dirty="0" err="1"/>
              <a:t>doanh</a:t>
            </a:r>
            <a:r>
              <a:rPr dirty="0"/>
              <a:t> </a:t>
            </a:r>
            <a:r>
              <a:rPr dirty="0" err="1"/>
              <a:t>thu</a:t>
            </a:r>
            <a:r>
              <a:rPr dirty="0"/>
              <a:t>. </a:t>
            </a:r>
            <a:r>
              <a:rPr dirty="0" err="1"/>
              <a:t>Câu</a:t>
            </a:r>
            <a:r>
              <a:rPr dirty="0"/>
              <a:t> </a:t>
            </a:r>
            <a:r>
              <a:rPr dirty="0" err="1"/>
              <a:t>hỏi</a:t>
            </a:r>
            <a:r>
              <a:rPr dirty="0"/>
              <a:t> </a:t>
            </a:r>
            <a:r>
              <a:rPr dirty="0" err="1"/>
              <a:t>của</a:t>
            </a:r>
            <a:r>
              <a:rPr dirty="0"/>
              <a:t> </a:t>
            </a:r>
            <a:r>
              <a:rPr dirty="0" err="1"/>
              <a:t>sếp</a:t>
            </a:r>
            <a:r>
              <a:rPr dirty="0"/>
              <a:t> </a:t>
            </a:r>
            <a:r>
              <a:rPr dirty="0" err="1"/>
              <a:t>có</a:t>
            </a:r>
            <a:r>
              <a:rPr dirty="0"/>
              <a:t> </a:t>
            </a:r>
            <a:r>
              <a:rPr dirty="0" err="1"/>
              <a:t>cả</a:t>
            </a:r>
            <a:r>
              <a:rPr dirty="0"/>
              <a:t> </a:t>
            </a:r>
            <a:r>
              <a:rPr dirty="0" err="1"/>
              <a:t>hai</a:t>
            </a:r>
            <a:r>
              <a:rPr dirty="0"/>
              <a:t>: "</a:t>
            </a:r>
            <a:r>
              <a:rPr dirty="0" err="1"/>
              <a:t>doanh</a:t>
            </a:r>
            <a:r>
              <a:rPr dirty="0"/>
              <a:t> </a:t>
            </a:r>
            <a:r>
              <a:rPr dirty="0" err="1"/>
              <a:t>thu</a:t>
            </a:r>
            <a:r>
              <a:rPr dirty="0"/>
              <a:t>" </a:t>
            </a:r>
            <a:r>
              <a:rPr dirty="0" err="1"/>
              <a:t>là</a:t>
            </a:r>
            <a:r>
              <a:rPr dirty="0"/>
              <a:t> measure, "</a:t>
            </a:r>
            <a:r>
              <a:rPr dirty="0" err="1"/>
              <a:t>từng</a:t>
            </a:r>
            <a:r>
              <a:rPr dirty="0"/>
              <a:t> </a:t>
            </a:r>
            <a:r>
              <a:rPr dirty="0" err="1"/>
              <a:t>vùng</a:t>
            </a:r>
            <a:r>
              <a:rPr dirty="0"/>
              <a:t>", "</a:t>
            </a:r>
            <a:r>
              <a:rPr dirty="0" err="1"/>
              <a:t>tháng</a:t>
            </a:r>
            <a:r>
              <a:rPr dirty="0"/>
              <a:t> </a:t>
            </a:r>
            <a:r>
              <a:rPr dirty="0" err="1"/>
              <a:t>này</a:t>
            </a:r>
            <a:r>
              <a:rPr dirty="0"/>
              <a:t>" </a:t>
            </a:r>
            <a:r>
              <a:rPr dirty="0" err="1"/>
              <a:t>là</a:t>
            </a:r>
            <a:r>
              <a:rPr dirty="0"/>
              <a:t> dimension.</a:t>
            </a:r>
          </a:p>
          <a:p>
            <a:r>
              <a:rPr dirty="0" err="1"/>
              <a:t>Từ</a:t>
            </a:r>
            <a:r>
              <a:rPr dirty="0"/>
              <a:t> </a:t>
            </a:r>
            <a:r>
              <a:rPr dirty="0" err="1"/>
              <a:t>thứ</a:t>
            </a:r>
            <a:r>
              <a:rPr dirty="0"/>
              <a:t> </a:t>
            </a:r>
            <a:r>
              <a:rPr dirty="0" err="1"/>
              <a:t>ba</a:t>
            </a:r>
            <a:r>
              <a:rPr dirty="0"/>
              <a:t> </a:t>
            </a:r>
            <a:r>
              <a:rPr dirty="0" err="1"/>
              <a:t>quan</a:t>
            </a:r>
            <a:r>
              <a:rPr dirty="0"/>
              <a:t> </a:t>
            </a:r>
            <a:r>
              <a:rPr dirty="0" err="1"/>
              <a:t>trọng</a:t>
            </a:r>
            <a:r>
              <a:rPr dirty="0"/>
              <a:t> </a:t>
            </a:r>
            <a:r>
              <a:rPr dirty="0" err="1"/>
              <a:t>nhất</a:t>
            </a:r>
            <a:r>
              <a:rPr dirty="0"/>
              <a:t>: Grain, </a:t>
            </a:r>
            <a:r>
              <a:rPr dirty="0" err="1"/>
              <a:t>tức</a:t>
            </a:r>
            <a:r>
              <a:rPr dirty="0"/>
              <a:t> </a:t>
            </a:r>
            <a:r>
              <a:rPr dirty="0" err="1"/>
              <a:t>là</a:t>
            </a:r>
            <a:r>
              <a:rPr dirty="0"/>
              <a:t> </a:t>
            </a:r>
            <a:r>
              <a:rPr dirty="0" err="1"/>
              <a:t>mỗi</a:t>
            </a:r>
            <a:r>
              <a:rPr dirty="0"/>
              <a:t> </a:t>
            </a:r>
            <a:r>
              <a:rPr dirty="0" err="1"/>
              <a:t>dòng</a:t>
            </a:r>
            <a:r>
              <a:rPr dirty="0"/>
              <a:t> </a:t>
            </a:r>
            <a:r>
              <a:rPr dirty="0" err="1"/>
              <a:t>trong</a:t>
            </a:r>
            <a:r>
              <a:rPr dirty="0"/>
              <a:t> </a:t>
            </a:r>
            <a:r>
              <a:rPr dirty="0" err="1"/>
              <a:t>bảng</a:t>
            </a:r>
            <a:r>
              <a:rPr dirty="0"/>
              <a:t> </a:t>
            </a:r>
            <a:r>
              <a:rPr dirty="0" err="1"/>
              <a:t>là</a:t>
            </a:r>
            <a:r>
              <a:rPr dirty="0"/>
              <a:t> </a:t>
            </a:r>
            <a:r>
              <a:rPr dirty="0" err="1"/>
              <a:t>gì</a:t>
            </a:r>
            <a:r>
              <a:rPr dirty="0"/>
              <a:t>. (→ </a:t>
            </a:r>
            <a:r>
              <a:rPr dirty="0" err="1"/>
              <a:t>mở</a:t>
            </a:r>
            <a:r>
              <a:rPr dirty="0"/>
              <a:t> ../B1_Nen_tang_Excel_Du_lieu/Practice/B1_MCI_Mart_Q1_2025_Answer.xlsx, sheet Sales, </a:t>
            </a:r>
            <a:r>
              <a:rPr dirty="0" err="1"/>
              <a:t>chỉ</a:t>
            </a:r>
            <a:r>
              <a:rPr dirty="0"/>
              <a:t> </a:t>
            </a:r>
            <a:r>
              <a:rPr dirty="0" err="1"/>
              <a:t>vào</a:t>
            </a:r>
            <a:r>
              <a:rPr dirty="0"/>
              <a:t> </a:t>
            </a:r>
            <a:r>
              <a:rPr dirty="0" err="1"/>
              <a:t>đơn</a:t>
            </a:r>
            <a:r>
              <a:rPr dirty="0"/>
              <a:t> HD2501-00002 </a:t>
            </a:r>
            <a:r>
              <a:rPr dirty="0" err="1"/>
              <a:t>ở</a:t>
            </a:r>
            <a:r>
              <a:rPr dirty="0"/>
              <a:t> </a:t>
            </a:r>
            <a:r>
              <a:rPr dirty="0" err="1"/>
              <a:t>dòng</a:t>
            </a:r>
            <a:r>
              <a:rPr dirty="0"/>
              <a:t> 3–6) Các </a:t>
            </a:r>
            <a:r>
              <a:rPr dirty="0" err="1"/>
              <a:t>bạn</a:t>
            </a:r>
            <a:r>
              <a:rPr dirty="0"/>
              <a:t> </a:t>
            </a:r>
            <a:r>
              <a:rPr dirty="0" err="1"/>
              <a:t>nhìn</a:t>
            </a:r>
            <a:r>
              <a:rPr dirty="0"/>
              <a:t> </a:t>
            </a:r>
            <a:r>
              <a:rPr dirty="0" err="1"/>
              <a:t>đơn</a:t>
            </a:r>
            <a:r>
              <a:rPr dirty="0"/>
              <a:t> </a:t>
            </a:r>
            <a:r>
              <a:rPr dirty="0" err="1"/>
              <a:t>này</a:t>
            </a:r>
            <a:r>
              <a:rPr dirty="0"/>
              <a:t>: </a:t>
            </a:r>
            <a:r>
              <a:rPr dirty="0" err="1"/>
              <a:t>một</a:t>
            </a:r>
            <a:r>
              <a:rPr dirty="0"/>
              <a:t> </a:t>
            </a:r>
            <a:r>
              <a:rPr dirty="0" err="1"/>
              <a:t>đơn</a:t>
            </a:r>
            <a:r>
              <a:rPr dirty="0"/>
              <a:t> </a:t>
            </a:r>
            <a:r>
              <a:rPr dirty="0" err="1"/>
              <a:t>hàng</a:t>
            </a:r>
            <a:r>
              <a:rPr dirty="0"/>
              <a:t> </a:t>
            </a:r>
            <a:r>
              <a:rPr dirty="0" err="1"/>
              <a:t>nhưng</a:t>
            </a:r>
            <a:r>
              <a:rPr dirty="0"/>
              <a:t> </a:t>
            </a:r>
            <a:r>
              <a:rPr dirty="0" err="1"/>
              <a:t>có</a:t>
            </a:r>
            <a:r>
              <a:rPr dirty="0"/>
              <a:t> </a:t>
            </a:r>
            <a:r>
              <a:rPr dirty="0" err="1"/>
              <a:t>bốn</a:t>
            </a:r>
            <a:r>
              <a:rPr dirty="0"/>
              <a:t> </a:t>
            </a:r>
            <a:r>
              <a:rPr dirty="0" err="1"/>
              <a:t>dòng</a:t>
            </a:r>
            <a:r>
              <a:rPr dirty="0"/>
              <a:t>, </a:t>
            </a:r>
            <a:r>
              <a:rPr dirty="0" err="1"/>
              <a:t>vì</a:t>
            </a:r>
            <a:r>
              <a:rPr dirty="0"/>
              <a:t> </a:t>
            </a:r>
            <a:r>
              <a:rPr dirty="0" err="1"/>
              <a:t>khách</a:t>
            </a:r>
            <a:r>
              <a:rPr dirty="0"/>
              <a:t> </a:t>
            </a:r>
            <a:r>
              <a:rPr dirty="0" err="1"/>
              <a:t>mua</a:t>
            </a:r>
            <a:r>
              <a:rPr dirty="0"/>
              <a:t> </a:t>
            </a:r>
            <a:r>
              <a:rPr dirty="0" err="1"/>
              <a:t>bốn</a:t>
            </a:r>
            <a:r>
              <a:rPr dirty="0"/>
              <a:t> </a:t>
            </a:r>
            <a:r>
              <a:rPr dirty="0" err="1"/>
              <a:t>sản</a:t>
            </a:r>
            <a:r>
              <a:rPr dirty="0"/>
              <a:t> </a:t>
            </a:r>
            <a:r>
              <a:rPr dirty="0" err="1"/>
              <a:t>phẩm</a:t>
            </a:r>
            <a:r>
              <a:rPr dirty="0"/>
              <a:t>. </a:t>
            </a:r>
            <a:r>
              <a:rPr dirty="0" err="1"/>
              <a:t>Vậy</a:t>
            </a:r>
            <a:r>
              <a:rPr dirty="0"/>
              <a:t> grain </a:t>
            </a:r>
            <a:r>
              <a:rPr dirty="0" err="1"/>
              <a:t>của</a:t>
            </a:r>
            <a:r>
              <a:rPr dirty="0"/>
              <a:t> </a:t>
            </a:r>
            <a:r>
              <a:rPr dirty="0" err="1"/>
              <a:t>tblSales</a:t>
            </a:r>
            <a:r>
              <a:rPr dirty="0"/>
              <a:t> </a:t>
            </a:r>
            <a:r>
              <a:rPr dirty="0" err="1"/>
              <a:t>là</a:t>
            </a:r>
            <a:r>
              <a:rPr dirty="0"/>
              <a:t> </a:t>
            </a:r>
            <a:r>
              <a:rPr dirty="0" err="1"/>
              <a:t>một</a:t>
            </a:r>
            <a:r>
              <a:rPr dirty="0"/>
              <a:t> </a:t>
            </a:r>
            <a:r>
              <a:rPr dirty="0" err="1"/>
              <a:t>sản</a:t>
            </a:r>
            <a:r>
              <a:rPr dirty="0"/>
              <a:t> </a:t>
            </a:r>
            <a:r>
              <a:rPr dirty="0" err="1"/>
              <a:t>phẩm</a:t>
            </a:r>
            <a:r>
              <a:rPr dirty="0"/>
              <a:t> </a:t>
            </a:r>
            <a:r>
              <a:rPr dirty="0" err="1"/>
              <a:t>trong</a:t>
            </a:r>
            <a:r>
              <a:rPr dirty="0"/>
              <a:t> </a:t>
            </a:r>
            <a:r>
              <a:rPr dirty="0" err="1"/>
              <a:t>một</a:t>
            </a:r>
            <a:r>
              <a:rPr dirty="0"/>
              <a:t> </a:t>
            </a:r>
            <a:r>
              <a:rPr dirty="0" err="1"/>
              <a:t>đơn</a:t>
            </a:r>
            <a:r>
              <a:rPr dirty="0"/>
              <a:t>.</a:t>
            </a:r>
          </a:p>
          <a:p>
            <a:r>
              <a:rPr dirty="0" err="1"/>
              <a:t>Hiểu</a:t>
            </a:r>
            <a:r>
              <a:rPr dirty="0"/>
              <a:t> grain </a:t>
            </a:r>
            <a:r>
              <a:rPr dirty="0" err="1"/>
              <a:t>thì</a:t>
            </a:r>
            <a:r>
              <a:rPr dirty="0"/>
              <a:t> </a:t>
            </a:r>
            <a:r>
              <a:rPr dirty="0" err="1"/>
              <a:t>trả</a:t>
            </a:r>
            <a:r>
              <a:rPr dirty="0"/>
              <a:t> </a:t>
            </a:r>
            <a:r>
              <a:rPr dirty="0" err="1"/>
              <a:t>lời</a:t>
            </a:r>
            <a:r>
              <a:rPr dirty="0"/>
              <a:t> </a:t>
            </a:r>
            <a:r>
              <a:rPr dirty="0" err="1"/>
              <a:t>được</a:t>
            </a:r>
            <a:r>
              <a:rPr dirty="0"/>
              <a:t> </a:t>
            </a:r>
            <a:r>
              <a:rPr dirty="0" err="1"/>
              <a:t>câu</a:t>
            </a:r>
            <a:r>
              <a:rPr dirty="0"/>
              <a:t> </a:t>
            </a:r>
            <a:r>
              <a:rPr dirty="0" err="1"/>
              <a:t>hỏi</a:t>
            </a:r>
            <a:r>
              <a:rPr dirty="0"/>
              <a:t> </a:t>
            </a:r>
            <a:r>
              <a:rPr dirty="0" err="1"/>
              <a:t>lúc</a:t>
            </a:r>
            <a:r>
              <a:rPr dirty="0"/>
              <a:t> </a:t>
            </a:r>
            <a:r>
              <a:rPr dirty="0" err="1"/>
              <a:t>nãy</a:t>
            </a:r>
            <a:r>
              <a:rPr dirty="0"/>
              <a:t>: </a:t>
            </a:r>
            <a:r>
              <a:rPr dirty="0" err="1"/>
              <a:t>bảng</a:t>
            </a:r>
            <a:r>
              <a:rPr dirty="0"/>
              <a:t> </a:t>
            </a:r>
            <a:r>
              <a:rPr dirty="0" err="1"/>
              <a:t>có</a:t>
            </a:r>
            <a:r>
              <a:rPr dirty="0"/>
              <a:t> 6.187 </a:t>
            </a:r>
            <a:r>
              <a:rPr dirty="0" err="1"/>
              <a:t>dòng</a:t>
            </a:r>
            <a:r>
              <a:rPr dirty="0"/>
              <a:t> </a:t>
            </a:r>
            <a:r>
              <a:rPr dirty="0" err="1"/>
              <a:t>nhưng</a:t>
            </a:r>
            <a:r>
              <a:rPr dirty="0"/>
              <a:t> </a:t>
            </a:r>
            <a:r>
              <a:rPr dirty="0" err="1"/>
              <a:t>chỉ</a:t>
            </a:r>
            <a:r>
              <a:rPr dirty="0"/>
              <a:t> </a:t>
            </a:r>
            <a:r>
              <a:rPr dirty="0" err="1"/>
              <a:t>có</a:t>
            </a:r>
            <a:r>
              <a:rPr dirty="0"/>
              <a:t> 3.144 </a:t>
            </a:r>
            <a:r>
              <a:rPr dirty="0" err="1"/>
              <a:t>đơn</a:t>
            </a:r>
            <a:r>
              <a:rPr dirty="0"/>
              <a:t>. Ai </a:t>
            </a:r>
            <a:r>
              <a:rPr dirty="0" err="1"/>
              <a:t>đếm</a:t>
            </a:r>
            <a:r>
              <a:rPr dirty="0"/>
              <a:t> </a:t>
            </a:r>
            <a:r>
              <a:rPr dirty="0" err="1"/>
              <a:t>số</a:t>
            </a:r>
            <a:r>
              <a:rPr dirty="0"/>
              <a:t> </a:t>
            </a:r>
            <a:r>
              <a:rPr dirty="0" err="1"/>
              <a:t>dòng</a:t>
            </a:r>
            <a:r>
              <a:rPr dirty="0"/>
              <a:t> </a:t>
            </a:r>
            <a:r>
              <a:rPr dirty="0" err="1"/>
              <a:t>rồi</a:t>
            </a:r>
            <a:r>
              <a:rPr dirty="0"/>
              <a:t> </a:t>
            </a:r>
            <a:r>
              <a:rPr dirty="0" err="1"/>
              <a:t>báo</a:t>
            </a:r>
            <a:r>
              <a:rPr dirty="0"/>
              <a:t> "Quý 1 </a:t>
            </a:r>
            <a:r>
              <a:rPr dirty="0" err="1"/>
              <a:t>có</a:t>
            </a:r>
            <a:r>
              <a:rPr dirty="0"/>
              <a:t> 6.187 </a:t>
            </a:r>
            <a:r>
              <a:rPr dirty="0" err="1"/>
              <a:t>đơn</a:t>
            </a:r>
            <a:r>
              <a:rPr dirty="0"/>
              <a:t>" </a:t>
            </a:r>
            <a:r>
              <a:rPr dirty="0" err="1"/>
              <a:t>là</a:t>
            </a:r>
            <a:r>
              <a:rPr dirty="0"/>
              <a:t> </a:t>
            </a:r>
            <a:r>
              <a:rPr dirty="0" err="1"/>
              <a:t>báo</a:t>
            </a:r>
            <a:r>
              <a:rPr dirty="0"/>
              <a:t> </a:t>
            </a:r>
            <a:r>
              <a:rPr dirty="0" err="1"/>
              <a:t>sai</a:t>
            </a:r>
            <a:r>
              <a:rPr dirty="0"/>
              <a:t> </a:t>
            </a:r>
            <a:r>
              <a:rPr dirty="0" err="1"/>
              <a:t>gần</a:t>
            </a:r>
            <a:r>
              <a:rPr dirty="0"/>
              <a:t> </a:t>
            </a:r>
            <a:r>
              <a:rPr dirty="0" err="1"/>
              <a:t>gấp</a:t>
            </a:r>
            <a:r>
              <a:rPr dirty="0"/>
              <a:t> </a:t>
            </a:r>
            <a:r>
              <a:rPr dirty="0" err="1"/>
              <a:t>đôi</a:t>
            </a:r>
            <a:r>
              <a:rPr dirty="0"/>
              <a:t>. </a:t>
            </a:r>
            <a:r>
              <a:rPr dirty="0" err="1"/>
              <a:t>Lát</a:t>
            </a:r>
            <a:r>
              <a:rPr dirty="0"/>
              <a:t> </a:t>
            </a:r>
            <a:r>
              <a:rPr dirty="0" err="1"/>
              <a:t>nữa</a:t>
            </a:r>
            <a:r>
              <a:rPr dirty="0"/>
              <a:t> </a:t>
            </a:r>
            <a:r>
              <a:rPr dirty="0" err="1"/>
              <a:t>mình</a:t>
            </a:r>
            <a:r>
              <a:rPr dirty="0"/>
              <a:t> </a:t>
            </a:r>
            <a:r>
              <a:rPr dirty="0" err="1"/>
              <a:t>sẽ</a:t>
            </a:r>
            <a:r>
              <a:rPr dirty="0"/>
              <a:t> </a:t>
            </a:r>
            <a:r>
              <a:rPr dirty="0" err="1"/>
              <a:t>đếm</a:t>
            </a:r>
            <a:r>
              <a:rPr dirty="0"/>
              <a:t> </a:t>
            </a:r>
            <a:r>
              <a:rPr dirty="0" err="1"/>
              <a:t>đơn</a:t>
            </a:r>
            <a:r>
              <a:rPr dirty="0"/>
              <a:t> </a:t>
            </a:r>
            <a:r>
              <a:rPr dirty="0" err="1"/>
              <a:t>đúng</a:t>
            </a:r>
            <a:r>
              <a:rPr dirty="0"/>
              <a:t> </a:t>
            </a:r>
            <a:r>
              <a:rPr dirty="0" err="1"/>
              <a:t>cách</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3,5 phút.</a:t>
            </a:r>
          </a:p>
          <a:p>
            <a:r>
              <a:t>LỜI GIẢNG</a:t>
            </a:r>
          </a:p>
          <a:p>
            <a:r>
              <a:t>Trong công ty, cùng một chữ "doanh thu" mà phòng Kinh doanh, phòng Tài chính tính ra hai con số khác nhau là chuyện rất thường gặp. Cách chữa là KPI Definition Card: một tờ ghi rõ KPI tên gì, tính thế nào, lấy dữ liệu ở đâu, theo chiều nào, ai chịu trách nhiệm.</a:t>
            </a:r>
          </a:p>
          <a:p>
            <a:r>
              <a:t>(→ phát mẫu Handout/B2_KPI_Definition_Card.docx bản in; cùng lớp điền card Total Revenue theo slide)</a:t>
            </a:r>
          </a:p>
          <a:p>
            <a:r>
              <a:t>Mình điền cùng các bạn card đầu tiên. Tên: Total Revenue. Mục đích: trả lời câu hỏi "bán được bao nhiêu tiền". Công thức: tổng số lượng nhân đơn giá. Để ý dòng Grain: dữ liệu ở mức từng sản phẩm trong đơn, nhưng KPI báo cáo theo tháng. Dòng Ghi chú giới hạn là chỗ các bạn thành thật với người đọc: con số này chưa trừ hàng trả lại.</a:t>
            </a:r>
          </a:p>
          <a:p>
            <a:r>
              <a:t>Hai card còn lại, Total Orders và Gross Margin %, các bạn tự viết trong phần thực hành. Quy tắc của khóa: viết card trước, viết công thức sau.</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0,5 phút.</a:t>
            </a:r>
          </a:p>
          <a:p>
            <a:r>
              <a:t>LỜI GIẢNG</a:t>
            </a:r>
          </a:p>
          <a:p>
            <a:r>
              <a:t>Phần 1: dạy Excel tự ra quyết định theo quy tắc kinh doanh, bằng IF và các hàm đi cùng nó.</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6 phút.</a:t>
            </a:r>
          </a:p>
          <a:p>
            <a:r>
              <a:t>LỜI GIẢNG</a:t>
            </a:r>
          </a:p>
          <a:p>
            <a:r>
              <a:t>(→ demo: mở Demo/B2_Demo_Logic.xlsx, sheet Demo_IF; các bước ở sheet Huong_dan) Đây là danh mục 40 sản phẩm của MCI Mart, cộng 2 sản phẩm mới ở cuối chưa có giá bán. Cột F là biên lợi nhuận của từng sản phẩm: giá bán trừ giá vốn, chia giá bán.</a:t>
            </a:r>
          </a:p>
          <a:p>
            <a:r>
              <a:t>Phòng mua hàng muốn chia sản phẩm thành "biên cao" và "biên thấp" với ngưỡng 35%. Một điều kiện, hai kết quả: đó là IF. (→ chọn G2:G43, Delete; gõ G2: =IF(F2&gt;=35%,"Biên cao","Biên thấp"), kéo xuống) Cấu trúc đọc như tiếng Việt: nếu biên từ 35% trở lên thì "Biên cao", ngược lại "Biên thấp". Kết quả: 16 sản phẩm biên cao, 24 biên thấp.</a:t>
            </a:r>
          </a:p>
          <a:p>
            <a:r>
              <a:t>Khi có nhiều hơn hai nhóm thì sao? Phân khúc giá: từ 100 nghìn trở lên là "Cao", từ 30 nghìn là "Trung", còn lại "Thấp". Ngày trước phải lồng IF trong IF rất rối; giờ có IFS. (→ H2: =IFS(D2&gt;=100000,"Cao",D2&gt;=30000,"Trung",TRUE,"Thấp"), kéo xuống) 12 sản phẩm phân khúc Cao.</a:t>
            </a:r>
          </a:p>
          <a:p>
            <a:r>
              <a:t>Câu hỏi cho lớp: nếu mình đảo thứ tự, đặt điều kiện "≥ 30.000" lên trước thì sản phẩm giá 135 nghìn ra gì? (→ chờ) Ra "Trung", vì IFS dừng ở điều kiện đúng đầu tiên. Đặt ngưỡng cao trước.</a:t>
            </a:r>
          </a:p>
          <a:p>
            <a:r>
              <a:t>Còn một điều các bạn nhìn xuống cuối bảng: hai sản phẩm chưa có giá mà IFS vẫn xếp vào "Thấp". Excel coi ô trống là số 0. Công thức không sai cú pháp, nhưng kết luận thì sai. Nhớ ví dụ này, lát nữa gặp lại.</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4 phút.</a:t>
            </a:r>
          </a:p>
          <a:p>
            <a:r>
              <a:t>LỜI GIẢNG</a:t>
            </a:r>
          </a:p>
          <a:p>
            <a:r>
              <a:t>Trước Tết, phòng mua hàng muốn đánh dấu sản phẩm ưu tiên nhập: phải là Bánh kẹo và biên từ 35% trở lên. Hai điều kiện cùng đúng: dùng AND. (→ trên Demo/B2_Demo_Logic.xlsx, sheet Demo_IF: I2 =AND(C2="Bánh kẹo",F2&gt;=35%), kéo xuống) Có 7 sản phẩm thỏa cả hai.</a:t>
            </a:r>
          </a:p>
          <a:p>
            <a:r>
              <a:t>Nhóm "hàng thiết yếu" thì khác: Sữa hoặc Thực phẩm khô, thuộc một trong hai là được. Đó là OR. (→ J2 =OR(C2="Sữa",C2="Thực phẩm khô")) 13 sản phẩm. Muốn lấy nhóm ngược lại, "không thiết yếu", thì bọc NOT bên ngoài. (→ K2 =NOT(J2))</a:t>
            </a:r>
          </a:p>
          <a:p>
            <a:r>
              <a:t>Ba hàm này trả về TRUE/FALSE, nên thường được lồng vào IF để ra nhãn dễ đọc. Mẹo nhớ: AND khó tính, OR dễ tính.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4,5 phút.</a:t>
            </a:r>
          </a:p>
          <a:p>
            <a:r>
              <a:t>LỜI GIẢNG</a:t>
            </a:r>
          </a:p>
          <a:p>
            <a:r>
              <a:t>Hai sản phẩm mới chưa có giá, nên cột biên lợi nhuận ra #DIV/0!, chia cho 0. Báo cáo gửi sếp đầy lỗi thì không đẹp. IFERROR cho phép nói: "nếu ra lỗi thì hiện cái này thay thế". (→ trên Demo/B2_Demo_Logic.xlsx, sheet Demo_IF: L2 =IFERROR((D2-E2)/D2,"Chưa có giá"), kéo xuống; P041, P042 ở dòng 42–43)</a:t>
            </a:r>
          </a:p>
          <a:p>
            <a:r>
              <a:t>Nhưng mình muốn các bạn cẩn thận. Rất nhiều người viết IFERROR trả về 0. (→ sửa L42 thành =IFERROR((D42-E42)/D42,0)) Các bạn thấy không: bây giờ sản phẩm này hiện biên 0%. Người đọc sẽ nghĩ "sản phẩm này bán hòa vốn", trong khi sự thật là chưa có dữ liệu. Một con số sai trông như thật còn nguy hiểm hơn một ô báo lỗi.</a:t>
            </a:r>
          </a:p>
          <a:p>
            <a:r>
              <a:t>(→ Ctrl+Z; gõ giá 25000 vào D42) Khi có giá, mọi cột tự tính lại: biên 44%. Quy tắc: IFERROR để làm sạch hiển thị, không phải để giấu vấn đề. Đây là bài học D2 hôm nay: số hiển thị chưa chắc đúng.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Thời</a:t>
            </a:r>
            <a:r>
              <a:rPr dirty="0"/>
              <a:t> </a:t>
            </a:r>
            <a:r>
              <a:rPr dirty="0" err="1"/>
              <a:t>lượng</a:t>
            </a:r>
            <a:r>
              <a:rPr dirty="0"/>
              <a:t>: 0,5 </a:t>
            </a:r>
            <a:r>
              <a:rPr dirty="0" err="1"/>
              <a:t>phút</a:t>
            </a:r>
            <a:r>
              <a:rPr dirty="0"/>
              <a:t>.</a:t>
            </a:r>
          </a:p>
          <a:p>
            <a:r>
              <a:rPr dirty="0"/>
              <a:t>LỜI GIẢNG</a:t>
            </a:r>
          </a:p>
          <a:p>
            <a:r>
              <a:rPr dirty="0" err="1"/>
              <a:t>Phần</a:t>
            </a:r>
            <a:r>
              <a:rPr dirty="0"/>
              <a:t> 2 </a:t>
            </a:r>
            <a:r>
              <a:rPr dirty="0" err="1"/>
              <a:t>ngắn</a:t>
            </a:r>
            <a:r>
              <a:rPr dirty="0"/>
              <a:t> </a:t>
            </a:r>
            <a:r>
              <a:rPr dirty="0" err="1"/>
              <a:t>nhưng</a:t>
            </a:r>
            <a:r>
              <a:rPr dirty="0"/>
              <a:t> </a:t>
            </a:r>
            <a:r>
              <a:rPr dirty="0" err="1"/>
              <a:t>rất</a:t>
            </a:r>
            <a:r>
              <a:rPr dirty="0"/>
              <a:t> </a:t>
            </a:r>
            <a:r>
              <a:rPr dirty="0" err="1"/>
              <a:t>quan</a:t>
            </a:r>
            <a:r>
              <a:rPr dirty="0"/>
              <a:t> </a:t>
            </a:r>
            <a:r>
              <a:rPr dirty="0" err="1"/>
              <a:t>trọng</a:t>
            </a:r>
            <a:r>
              <a:rPr dirty="0"/>
              <a:t>: </a:t>
            </a:r>
            <a:r>
              <a:rPr dirty="0" err="1"/>
              <a:t>chọn</a:t>
            </a:r>
            <a:r>
              <a:rPr dirty="0"/>
              <a:t> </a:t>
            </a:r>
            <a:r>
              <a:rPr dirty="0" err="1"/>
              <a:t>đúng</a:t>
            </a:r>
            <a:r>
              <a:rPr dirty="0"/>
              <a:t> con </a:t>
            </a:r>
            <a:r>
              <a:rPr dirty="0" err="1"/>
              <a:t>số</a:t>
            </a:r>
            <a:r>
              <a:rPr dirty="0"/>
              <a:t> </a:t>
            </a:r>
            <a:r>
              <a:rPr dirty="0" err="1"/>
              <a:t>để</a:t>
            </a:r>
            <a:r>
              <a:rPr dirty="0"/>
              <a:t> </a:t>
            </a:r>
            <a:r>
              <a:rPr dirty="0" err="1"/>
              <a:t>mô</a:t>
            </a:r>
            <a:r>
              <a:rPr dirty="0"/>
              <a:t> </a:t>
            </a:r>
            <a:r>
              <a:rPr dirty="0" err="1"/>
              <a:t>tả</a:t>
            </a:r>
            <a:r>
              <a:rPr dirty="0"/>
              <a:t> </a:t>
            </a:r>
            <a:r>
              <a:rPr dirty="0" err="1"/>
              <a:t>dữ</a:t>
            </a:r>
            <a:r>
              <a:rPr dirty="0"/>
              <a:t> </a:t>
            </a:r>
            <a:r>
              <a:rPr dirty="0" err="1"/>
              <a:t>liệu</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5,5 phút.</a:t>
            </a:r>
          </a:p>
          <a:p>
            <a:r>
              <a:t>LỜI GIẢNG</a:t>
            </a:r>
          </a:p>
          <a:p>
            <a:r>
              <a:t>(→ demo: mở Demo/B2_Demo_ThongKe.xlsx, sheet Demo_ThongKe; mỗi dòng là một đơn hàng Q1, cột E là giá trị đơn) Sếp hỏi: "Một khách vào MCI Mart thường chi bao nhiêu?" Phản xạ đầu tiên là lấy AVERAGE: 299 nghìn.</a:t>
            </a:r>
          </a:p>
          <a:p>
            <a:r>
              <a:t>Giờ mình tính thêm MEDIAN, trung vị: xếp 3.144 đơn từ nhỏ đến lớn và lấy đơn đứng giữa. (→ chỉ ô I4) 198 nghìn. Chênh nhau hơn 50%!</a:t>
            </a:r>
          </a:p>
          <a:p>
            <a:r>
              <a:t>Theo các bạn, con số nào đúng hơn cho câu "khách thường chi bao nhiêu"? (→ chờ) Trung vị. Một nửa số đơn dưới 198 nghìn. Trung bình bị kéo lên bởi một số đơn rất lớn: đơn lớn nhất là 2 triệu 464 nghìn, trong khi đơn nhỏ nhất chỉ 10 nghìn.</a:t>
            </a:r>
          </a:p>
          <a:p>
            <a:r>
              <a:t>Nhưng lưu ý: KPI Avg Order Value trong dictionary vẫn dùng trung bình, vì nó nhân ngược được ra doanh thu: AOV × số đơn = doanh thu. Không có con số nào "đúng" tuyệt đối; chọn con số theo câu hỏi, và khi báo cáo trung bình thì nhìn thêm trung vị.</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Thời</a:t>
            </a:r>
            <a:r>
              <a:rPr dirty="0"/>
              <a:t> </a:t>
            </a:r>
            <a:r>
              <a:rPr dirty="0" err="1"/>
              <a:t>lượng</a:t>
            </a:r>
            <a:r>
              <a:rPr dirty="0"/>
              <a:t>: 5 </a:t>
            </a:r>
            <a:r>
              <a:rPr dirty="0" err="1"/>
              <a:t>phút</a:t>
            </a:r>
            <a:r>
              <a:rPr dirty="0"/>
              <a:t>.</a:t>
            </a:r>
          </a:p>
          <a:p>
            <a:r>
              <a:rPr dirty="0"/>
              <a:t>LỜI GIẢNG</a:t>
            </a:r>
          </a:p>
          <a:p>
            <a:r>
              <a:rPr dirty="0"/>
              <a:t>Độ </a:t>
            </a:r>
            <a:r>
              <a:rPr dirty="0" err="1"/>
              <a:t>lệch</a:t>
            </a:r>
            <a:r>
              <a:rPr dirty="0"/>
              <a:t> </a:t>
            </a:r>
            <a:r>
              <a:rPr dirty="0" err="1"/>
              <a:t>chuẩn</a:t>
            </a:r>
            <a:r>
              <a:rPr dirty="0"/>
              <a:t> </a:t>
            </a:r>
            <a:r>
              <a:rPr dirty="0" err="1"/>
              <a:t>của</a:t>
            </a:r>
            <a:r>
              <a:rPr dirty="0"/>
              <a:t> </a:t>
            </a:r>
            <a:r>
              <a:rPr dirty="0" err="1"/>
              <a:t>giá</a:t>
            </a:r>
            <a:r>
              <a:rPr dirty="0"/>
              <a:t> </a:t>
            </a:r>
            <a:r>
              <a:rPr dirty="0" err="1"/>
              <a:t>trị</a:t>
            </a:r>
            <a:r>
              <a:rPr dirty="0"/>
              <a:t> </a:t>
            </a:r>
            <a:r>
              <a:rPr dirty="0" err="1"/>
              <a:t>đơn</a:t>
            </a:r>
            <a:r>
              <a:rPr dirty="0"/>
              <a:t> </a:t>
            </a:r>
            <a:r>
              <a:rPr dirty="0" err="1"/>
              <a:t>là</a:t>
            </a:r>
            <a:r>
              <a:rPr dirty="0"/>
              <a:t> 290 </a:t>
            </a:r>
            <a:r>
              <a:rPr dirty="0" err="1"/>
              <a:t>nghìn</a:t>
            </a:r>
            <a:r>
              <a:rPr dirty="0"/>
              <a:t>, </a:t>
            </a:r>
            <a:r>
              <a:rPr dirty="0" err="1"/>
              <a:t>gần</a:t>
            </a:r>
            <a:r>
              <a:rPr dirty="0"/>
              <a:t> </a:t>
            </a:r>
            <a:r>
              <a:rPr dirty="0" err="1"/>
              <a:t>bằng</a:t>
            </a:r>
            <a:r>
              <a:rPr dirty="0"/>
              <a:t> </a:t>
            </a:r>
            <a:r>
              <a:rPr dirty="0" err="1"/>
              <a:t>chính</a:t>
            </a:r>
            <a:r>
              <a:rPr dirty="0"/>
              <a:t> </a:t>
            </a:r>
            <a:r>
              <a:rPr dirty="0" err="1"/>
              <a:t>trung</a:t>
            </a:r>
            <a:r>
              <a:rPr dirty="0"/>
              <a:t> </a:t>
            </a:r>
            <a:r>
              <a:rPr dirty="0" err="1"/>
              <a:t>bình</a:t>
            </a:r>
            <a:r>
              <a:rPr dirty="0"/>
              <a:t>: </a:t>
            </a:r>
            <a:r>
              <a:rPr dirty="0" err="1"/>
              <a:t>dữ</a:t>
            </a:r>
            <a:r>
              <a:rPr dirty="0"/>
              <a:t> </a:t>
            </a:r>
            <a:r>
              <a:rPr dirty="0" err="1"/>
              <a:t>liệu</a:t>
            </a:r>
            <a:r>
              <a:rPr dirty="0"/>
              <a:t> </a:t>
            </a:r>
            <a:r>
              <a:rPr dirty="0" err="1"/>
              <a:t>phân</a:t>
            </a:r>
            <a:r>
              <a:rPr dirty="0"/>
              <a:t> </a:t>
            </a:r>
            <a:r>
              <a:rPr dirty="0" err="1"/>
              <a:t>tán</a:t>
            </a:r>
            <a:r>
              <a:rPr dirty="0"/>
              <a:t> </a:t>
            </a:r>
            <a:r>
              <a:rPr dirty="0" err="1"/>
              <a:t>rất</a:t>
            </a:r>
            <a:r>
              <a:rPr dirty="0"/>
              <a:t> </a:t>
            </a:r>
            <a:r>
              <a:rPr dirty="0" err="1"/>
              <a:t>rộng</a:t>
            </a:r>
            <a:r>
              <a:rPr dirty="0"/>
              <a:t>. SKEW </a:t>
            </a:r>
            <a:r>
              <a:rPr dirty="0" err="1"/>
              <a:t>bằng</a:t>
            </a:r>
            <a:r>
              <a:rPr dirty="0"/>
              <a:t> 1,77, </a:t>
            </a:r>
            <a:r>
              <a:rPr dirty="0" err="1"/>
              <a:t>dương</a:t>
            </a:r>
            <a:r>
              <a:rPr dirty="0"/>
              <a:t>, </a:t>
            </a:r>
            <a:r>
              <a:rPr dirty="0" err="1"/>
              <a:t>nghĩa</a:t>
            </a:r>
            <a:r>
              <a:rPr dirty="0"/>
              <a:t> </a:t>
            </a:r>
            <a:r>
              <a:rPr dirty="0" err="1"/>
              <a:t>là</a:t>
            </a:r>
            <a:r>
              <a:rPr dirty="0"/>
              <a:t> </a:t>
            </a:r>
            <a:r>
              <a:rPr dirty="0" err="1"/>
              <a:t>đuôi</a:t>
            </a:r>
            <a:r>
              <a:rPr dirty="0"/>
              <a:t> </a:t>
            </a:r>
            <a:r>
              <a:rPr dirty="0" err="1"/>
              <a:t>dài</a:t>
            </a:r>
            <a:r>
              <a:rPr dirty="0"/>
              <a:t> </a:t>
            </a:r>
            <a:r>
              <a:rPr dirty="0" err="1"/>
              <a:t>bên</a:t>
            </a:r>
            <a:r>
              <a:rPr dirty="0"/>
              <a:t> </a:t>
            </a:r>
            <a:r>
              <a:rPr dirty="0" err="1"/>
              <a:t>phải</a:t>
            </a:r>
            <a:r>
              <a:rPr dirty="0"/>
              <a:t>: </a:t>
            </a:r>
            <a:r>
              <a:rPr dirty="0" err="1"/>
              <a:t>nhiều</a:t>
            </a:r>
            <a:r>
              <a:rPr dirty="0"/>
              <a:t> </a:t>
            </a:r>
            <a:r>
              <a:rPr dirty="0" err="1"/>
              <a:t>đơn</a:t>
            </a:r>
            <a:r>
              <a:rPr dirty="0"/>
              <a:t> </a:t>
            </a:r>
            <a:r>
              <a:rPr dirty="0" err="1"/>
              <a:t>nhỏ</a:t>
            </a:r>
            <a:r>
              <a:rPr dirty="0"/>
              <a:t>, </a:t>
            </a:r>
            <a:r>
              <a:rPr dirty="0" err="1"/>
              <a:t>ít</a:t>
            </a:r>
            <a:r>
              <a:rPr dirty="0"/>
              <a:t> </a:t>
            </a:r>
            <a:r>
              <a:rPr dirty="0" err="1"/>
              <a:t>đơn</a:t>
            </a:r>
            <a:r>
              <a:rPr dirty="0"/>
              <a:t> </a:t>
            </a:r>
            <a:r>
              <a:rPr dirty="0" err="1"/>
              <a:t>rất</a:t>
            </a:r>
            <a:r>
              <a:rPr dirty="0"/>
              <a:t> to.</a:t>
            </a:r>
          </a:p>
          <a:p>
            <a:r>
              <a:rPr dirty="0" err="1"/>
              <a:t>Vậy</a:t>
            </a:r>
            <a:r>
              <a:rPr dirty="0"/>
              <a:t> </a:t>
            </a:r>
            <a:r>
              <a:rPr dirty="0" err="1"/>
              <a:t>đơn</a:t>
            </a:r>
            <a:r>
              <a:rPr dirty="0"/>
              <a:t> </a:t>
            </a:r>
            <a:r>
              <a:rPr dirty="0" err="1"/>
              <a:t>nào</a:t>
            </a:r>
            <a:r>
              <a:rPr dirty="0"/>
              <a:t> </a:t>
            </a:r>
            <a:r>
              <a:rPr dirty="0" err="1"/>
              <a:t>là</a:t>
            </a:r>
            <a:r>
              <a:rPr dirty="0"/>
              <a:t> "</a:t>
            </a:r>
            <a:r>
              <a:rPr dirty="0" err="1"/>
              <a:t>bất</a:t>
            </a:r>
            <a:r>
              <a:rPr dirty="0"/>
              <a:t> </a:t>
            </a:r>
            <a:r>
              <a:rPr dirty="0" err="1"/>
              <a:t>thường</a:t>
            </a:r>
            <a:r>
              <a:rPr dirty="0"/>
              <a:t>"? </a:t>
            </a:r>
            <a:r>
              <a:rPr dirty="0" err="1"/>
              <a:t>Cách</a:t>
            </a:r>
            <a:r>
              <a:rPr dirty="0"/>
              <a:t> </a:t>
            </a:r>
            <a:r>
              <a:rPr dirty="0" err="1"/>
              <a:t>phổ</a:t>
            </a:r>
            <a:r>
              <a:rPr dirty="0"/>
              <a:t> </a:t>
            </a:r>
            <a:r>
              <a:rPr dirty="0" err="1"/>
              <a:t>biến</a:t>
            </a:r>
            <a:r>
              <a:rPr dirty="0"/>
              <a:t> </a:t>
            </a:r>
            <a:r>
              <a:rPr dirty="0" err="1"/>
              <a:t>là</a:t>
            </a:r>
            <a:r>
              <a:rPr dirty="0"/>
              <a:t> </a:t>
            </a:r>
            <a:r>
              <a:rPr dirty="0" err="1"/>
              <a:t>quy</a:t>
            </a:r>
            <a:r>
              <a:rPr dirty="0"/>
              <a:t> </a:t>
            </a:r>
            <a:r>
              <a:rPr dirty="0" err="1"/>
              <a:t>tắc</a:t>
            </a:r>
            <a:r>
              <a:rPr dirty="0"/>
              <a:t> IQR: </a:t>
            </a:r>
            <a:r>
              <a:rPr dirty="0" err="1"/>
              <a:t>lấy</a:t>
            </a:r>
            <a:r>
              <a:rPr dirty="0"/>
              <a:t> </a:t>
            </a:r>
            <a:r>
              <a:rPr dirty="0" err="1"/>
              <a:t>tứ</a:t>
            </a:r>
            <a:r>
              <a:rPr dirty="0"/>
              <a:t> </a:t>
            </a:r>
            <a:r>
              <a:rPr dirty="0" err="1"/>
              <a:t>phân</a:t>
            </a:r>
            <a:r>
              <a:rPr dirty="0"/>
              <a:t> </a:t>
            </a:r>
            <a:r>
              <a:rPr dirty="0" err="1"/>
              <a:t>vị</a:t>
            </a:r>
            <a:r>
              <a:rPr dirty="0"/>
              <a:t> </a:t>
            </a:r>
            <a:r>
              <a:rPr dirty="0" err="1"/>
              <a:t>thứ</a:t>
            </a:r>
            <a:r>
              <a:rPr dirty="0"/>
              <a:t> </a:t>
            </a:r>
            <a:r>
              <a:rPr dirty="0" err="1"/>
              <a:t>ba</a:t>
            </a:r>
            <a:r>
              <a:rPr dirty="0"/>
              <a:t> </a:t>
            </a:r>
            <a:r>
              <a:rPr dirty="0" err="1"/>
              <a:t>cộng</a:t>
            </a:r>
            <a:r>
              <a:rPr dirty="0"/>
              <a:t> 1,5 </a:t>
            </a:r>
            <a:r>
              <a:rPr dirty="0" err="1"/>
              <a:t>lần</a:t>
            </a:r>
            <a:r>
              <a:rPr dirty="0"/>
              <a:t> </a:t>
            </a:r>
            <a:r>
              <a:rPr dirty="0" err="1"/>
              <a:t>khoảng</a:t>
            </a:r>
            <a:r>
              <a:rPr dirty="0"/>
              <a:t> </a:t>
            </a:r>
            <a:r>
              <a:rPr dirty="0" err="1"/>
              <a:t>tứ</a:t>
            </a:r>
            <a:r>
              <a:rPr dirty="0"/>
              <a:t> </a:t>
            </a:r>
            <a:r>
              <a:rPr dirty="0" err="1"/>
              <a:t>phân</a:t>
            </a:r>
            <a:r>
              <a:rPr dirty="0"/>
              <a:t> </a:t>
            </a:r>
            <a:r>
              <a:rPr dirty="0" err="1"/>
              <a:t>vị</a:t>
            </a:r>
            <a:r>
              <a:rPr dirty="0"/>
              <a:t>. (→ </a:t>
            </a:r>
            <a:r>
              <a:rPr dirty="0" err="1"/>
              <a:t>trên</a:t>
            </a:r>
            <a:r>
              <a:rPr dirty="0"/>
              <a:t> Demo/B2_Demo_ThongKe.xlsx, sheet </a:t>
            </a:r>
            <a:r>
              <a:rPr dirty="0" err="1"/>
              <a:t>Demo_ThongKe</a:t>
            </a:r>
            <a:r>
              <a:rPr dirty="0"/>
              <a:t>, </a:t>
            </a:r>
            <a:r>
              <a:rPr dirty="0" err="1"/>
              <a:t>chỉ</a:t>
            </a:r>
            <a:r>
              <a:rPr dirty="0"/>
              <a:t> I9:I13) </a:t>
            </a:r>
            <a:r>
              <a:rPr dirty="0" err="1"/>
              <a:t>Ngưỡng</a:t>
            </a:r>
            <a:r>
              <a:rPr dirty="0"/>
              <a:t> </a:t>
            </a:r>
            <a:r>
              <a:rPr dirty="0" err="1"/>
              <a:t>là</a:t>
            </a:r>
            <a:r>
              <a:rPr dirty="0"/>
              <a:t> 896.500 </a:t>
            </a:r>
            <a:r>
              <a:rPr dirty="0" err="1"/>
              <a:t>đồng</a:t>
            </a:r>
            <a:r>
              <a:rPr dirty="0"/>
              <a:t>, </a:t>
            </a:r>
            <a:r>
              <a:rPr dirty="0" err="1"/>
              <a:t>và</a:t>
            </a:r>
            <a:r>
              <a:rPr dirty="0"/>
              <a:t> </a:t>
            </a:r>
            <a:r>
              <a:rPr dirty="0" err="1"/>
              <a:t>có</a:t>
            </a:r>
            <a:r>
              <a:rPr dirty="0"/>
              <a:t> 138 </a:t>
            </a:r>
            <a:r>
              <a:rPr dirty="0" err="1"/>
              <a:t>đơn</a:t>
            </a:r>
            <a:r>
              <a:rPr dirty="0"/>
              <a:t> </a:t>
            </a:r>
            <a:r>
              <a:rPr dirty="0" err="1"/>
              <a:t>vượt</a:t>
            </a:r>
            <a:r>
              <a:rPr dirty="0"/>
              <a:t> </a:t>
            </a:r>
            <a:r>
              <a:rPr dirty="0" err="1"/>
              <a:t>ngưỡng</a:t>
            </a:r>
            <a:r>
              <a:rPr dirty="0"/>
              <a:t>.</a:t>
            </a:r>
          </a:p>
          <a:p>
            <a:r>
              <a:rPr dirty="0"/>
              <a:t>138 </a:t>
            </a:r>
            <a:r>
              <a:rPr dirty="0" err="1"/>
              <a:t>đơn</a:t>
            </a:r>
            <a:r>
              <a:rPr dirty="0"/>
              <a:t> </a:t>
            </a:r>
            <a:r>
              <a:rPr dirty="0" err="1"/>
              <a:t>này</a:t>
            </a:r>
            <a:r>
              <a:rPr dirty="0"/>
              <a:t> </a:t>
            </a:r>
            <a:r>
              <a:rPr dirty="0" err="1"/>
              <a:t>có</a:t>
            </a:r>
            <a:r>
              <a:rPr dirty="0"/>
              <a:t> </a:t>
            </a:r>
            <a:r>
              <a:rPr dirty="0" err="1"/>
              <a:t>nên</a:t>
            </a:r>
            <a:r>
              <a:rPr dirty="0"/>
              <a:t> </a:t>
            </a:r>
            <a:r>
              <a:rPr dirty="0" err="1"/>
              <a:t>xóa</a:t>
            </a:r>
            <a:r>
              <a:rPr dirty="0"/>
              <a:t> </a:t>
            </a:r>
            <a:r>
              <a:rPr dirty="0" err="1"/>
              <a:t>không</a:t>
            </a:r>
            <a:r>
              <a:rPr dirty="0"/>
              <a:t>? (→ </a:t>
            </a:r>
            <a:r>
              <a:rPr dirty="0" err="1"/>
              <a:t>chờ</a:t>
            </a:r>
            <a:r>
              <a:rPr dirty="0"/>
              <a:t>) </a:t>
            </a:r>
            <a:r>
              <a:rPr dirty="0" err="1"/>
              <a:t>Không</a:t>
            </a:r>
            <a:r>
              <a:rPr dirty="0"/>
              <a:t>! </a:t>
            </a:r>
            <a:r>
              <a:rPr dirty="0" err="1"/>
              <a:t>Đây</a:t>
            </a:r>
            <a:r>
              <a:rPr dirty="0"/>
              <a:t> </a:t>
            </a:r>
            <a:r>
              <a:rPr dirty="0" err="1"/>
              <a:t>có</a:t>
            </a:r>
            <a:r>
              <a:rPr dirty="0"/>
              <a:t> </a:t>
            </a:r>
            <a:r>
              <a:rPr dirty="0" err="1"/>
              <a:t>thể</a:t>
            </a:r>
            <a:r>
              <a:rPr dirty="0"/>
              <a:t> </a:t>
            </a:r>
            <a:r>
              <a:rPr dirty="0" err="1"/>
              <a:t>là</a:t>
            </a:r>
            <a:r>
              <a:rPr dirty="0"/>
              <a:t> </a:t>
            </a:r>
            <a:r>
              <a:rPr dirty="0" err="1"/>
              <a:t>khách</a:t>
            </a:r>
            <a:r>
              <a:rPr dirty="0"/>
              <a:t> </a:t>
            </a:r>
            <a:r>
              <a:rPr dirty="0" err="1"/>
              <a:t>mua</a:t>
            </a:r>
            <a:r>
              <a:rPr dirty="0"/>
              <a:t> </a:t>
            </a:r>
            <a:r>
              <a:rPr dirty="0" err="1"/>
              <a:t>hộp</a:t>
            </a:r>
            <a:r>
              <a:rPr dirty="0"/>
              <a:t> </a:t>
            </a:r>
            <a:r>
              <a:rPr dirty="0" err="1"/>
              <a:t>quà</a:t>
            </a:r>
            <a:r>
              <a:rPr dirty="0"/>
              <a:t> </a:t>
            </a:r>
            <a:r>
              <a:rPr dirty="0" err="1"/>
              <a:t>Tết</a:t>
            </a:r>
            <a:r>
              <a:rPr dirty="0"/>
              <a:t>, </a:t>
            </a:r>
            <a:r>
              <a:rPr dirty="0" err="1"/>
              <a:t>mua</a:t>
            </a:r>
            <a:r>
              <a:rPr dirty="0"/>
              <a:t> </a:t>
            </a:r>
            <a:r>
              <a:rPr dirty="0" err="1"/>
              <a:t>sỉ</a:t>
            </a:r>
            <a:r>
              <a:rPr dirty="0"/>
              <a:t>; </a:t>
            </a:r>
            <a:r>
              <a:rPr dirty="0" err="1"/>
              <a:t>đúng</a:t>
            </a:r>
            <a:r>
              <a:rPr dirty="0"/>
              <a:t> </a:t>
            </a:r>
            <a:r>
              <a:rPr dirty="0" err="1"/>
              <a:t>là</a:t>
            </a:r>
            <a:r>
              <a:rPr dirty="0"/>
              <a:t> </a:t>
            </a:r>
            <a:r>
              <a:rPr dirty="0" err="1"/>
              <a:t>khách</a:t>
            </a:r>
            <a:r>
              <a:rPr dirty="0"/>
              <a:t> </a:t>
            </a:r>
            <a:r>
              <a:rPr dirty="0" err="1"/>
              <a:t>thật</a:t>
            </a:r>
            <a:r>
              <a:rPr dirty="0"/>
              <a:t> </a:t>
            </a:r>
            <a:r>
              <a:rPr dirty="0" err="1"/>
              <a:t>và</a:t>
            </a:r>
            <a:r>
              <a:rPr dirty="0"/>
              <a:t> </a:t>
            </a:r>
            <a:r>
              <a:rPr dirty="0" err="1"/>
              <a:t>doanh</a:t>
            </a:r>
            <a:r>
              <a:rPr dirty="0"/>
              <a:t> </a:t>
            </a:r>
            <a:r>
              <a:rPr dirty="0" err="1"/>
              <a:t>thu</a:t>
            </a:r>
            <a:r>
              <a:rPr dirty="0"/>
              <a:t> </a:t>
            </a:r>
            <a:r>
              <a:rPr dirty="0" err="1"/>
              <a:t>thật</a:t>
            </a:r>
            <a:r>
              <a:rPr dirty="0"/>
              <a:t>. </a:t>
            </a:r>
            <a:r>
              <a:rPr dirty="0" err="1"/>
              <a:t>Việc</a:t>
            </a:r>
            <a:r>
              <a:rPr dirty="0"/>
              <a:t> </a:t>
            </a:r>
            <a:r>
              <a:rPr dirty="0" err="1"/>
              <a:t>của</a:t>
            </a:r>
            <a:r>
              <a:rPr dirty="0"/>
              <a:t> </a:t>
            </a:r>
            <a:r>
              <a:rPr dirty="0" err="1"/>
              <a:t>người</a:t>
            </a:r>
            <a:r>
              <a:rPr dirty="0"/>
              <a:t> </a:t>
            </a:r>
            <a:r>
              <a:rPr dirty="0" err="1"/>
              <a:t>làm</a:t>
            </a:r>
            <a:r>
              <a:rPr dirty="0"/>
              <a:t> BI </a:t>
            </a:r>
            <a:r>
              <a:rPr dirty="0" err="1"/>
              <a:t>là</a:t>
            </a:r>
            <a:r>
              <a:rPr dirty="0"/>
              <a:t> </a:t>
            </a:r>
            <a:r>
              <a:rPr dirty="0" err="1"/>
              <a:t>giải</a:t>
            </a:r>
            <a:r>
              <a:rPr dirty="0"/>
              <a:t> </a:t>
            </a:r>
            <a:r>
              <a:rPr dirty="0" err="1"/>
              <a:t>thích</a:t>
            </a:r>
            <a:r>
              <a:rPr dirty="0"/>
              <a:t> outlier </a:t>
            </a:r>
            <a:r>
              <a:rPr dirty="0" err="1"/>
              <a:t>trước</a:t>
            </a:r>
            <a:r>
              <a:rPr dirty="0"/>
              <a:t> </a:t>
            </a:r>
            <a:r>
              <a:rPr dirty="0" err="1"/>
              <a:t>khi</a:t>
            </a:r>
            <a:r>
              <a:rPr dirty="0"/>
              <a:t> </a:t>
            </a:r>
            <a:r>
              <a:rPr dirty="0" err="1"/>
              <a:t>báo</a:t>
            </a:r>
            <a:r>
              <a:rPr dirty="0"/>
              <a:t> </a:t>
            </a:r>
            <a:r>
              <a:rPr dirty="0" err="1"/>
              <a:t>cáo</a:t>
            </a:r>
            <a:r>
              <a:rPr dirty="0"/>
              <a:t>: </a:t>
            </a:r>
            <a:r>
              <a:rPr dirty="0" err="1"/>
              <a:t>chúng</a:t>
            </a:r>
            <a:r>
              <a:rPr dirty="0"/>
              <a:t> </a:t>
            </a:r>
            <a:r>
              <a:rPr dirty="0" err="1"/>
              <a:t>đến</a:t>
            </a:r>
            <a:r>
              <a:rPr dirty="0"/>
              <a:t> </a:t>
            </a:r>
            <a:r>
              <a:rPr dirty="0" err="1"/>
              <a:t>từ</a:t>
            </a:r>
            <a:r>
              <a:rPr dirty="0"/>
              <a:t> </a:t>
            </a:r>
            <a:r>
              <a:rPr dirty="0" err="1"/>
              <a:t>đâu</a:t>
            </a:r>
            <a:r>
              <a:rPr dirty="0"/>
              <a:t>, </a:t>
            </a:r>
            <a:r>
              <a:rPr dirty="0" err="1"/>
              <a:t>có</a:t>
            </a:r>
            <a:r>
              <a:rPr dirty="0"/>
              <a:t> </a:t>
            </a:r>
            <a:r>
              <a:rPr dirty="0" err="1"/>
              <a:t>phải</a:t>
            </a:r>
            <a:r>
              <a:rPr dirty="0"/>
              <a:t> </a:t>
            </a:r>
            <a:r>
              <a:rPr dirty="0" err="1"/>
              <a:t>lỗi</a:t>
            </a:r>
            <a:r>
              <a:rPr dirty="0"/>
              <a:t> </a:t>
            </a:r>
            <a:r>
              <a:rPr dirty="0" err="1"/>
              <a:t>nhập</a:t>
            </a:r>
            <a:r>
              <a:rPr dirty="0"/>
              <a:t> </a:t>
            </a:r>
            <a:r>
              <a:rPr dirty="0" err="1"/>
              <a:t>liệu</a:t>
            </a:r>
            <a:r>
              <a:rPr dirty="0"/>
              <a:t> </a:t>
            </a:r>
            <a:r>
              <a:rPr dirty="0" err="1"/>
              <a:t>không</a:t>
            </a:r>
            <a:r>
              <a:rPr dirty="0"/>
              <a:t>. </a:t>
            </a:r>
            <a:r>
              <a:rPr dirty="0" err="1"/>
              <a:t>Xóa</a:t>
            </a:r>
            <a:r>
              <a:rPr dirty="0"/>
              <a:t> </a:t>
            </a:r>
            <a:r>
              <a:rPr dirty="0" err="1"/>
              <a:t>đi</a:t>
            </a:r>
            <a:r>
              <a:rPr dirty="0"/>
              <a:t> </a:t>
            </a:r>
            <a:r>
              <a:rPr dirty="0" err="1"/>
              <a:t>thì</a:t>
            </a:r>
            <a:r>
              <a:rPr dirty="0"/>
              <a:t> </a:t>
            </a:r>
            <a:r>
              <a:rPr dirty="0" err="1"/>
              <a:t>trung</a:t>
            </a:r>
            <a:r>
              <a:rPr dirty="0"/>
              <a:t> </a:t>
            </a:r>
            <a:r>
              <a:rPr dirty="0" err="1"/>
              <a:t>bình</a:t>
            </a:r>
            <a:r>
              <a:rPr dirty="0"/>
              <a:t> </a:t>
            </a:r>
            <a:r>
              <a:rPr dirty="0" err="1"/>
              <a:t>đẹp</a:t>
            </a:r>
            <a:r>
              <a:rPr dirty="0"/>
              <a:t> </a:t>
            </a:r>
            <a:r>
              <a:rPr dirty="0" err="1"/>
              <a:t>hơn</a:t>
            </a:r>
            <a:r>
              <a:rPr dirty="0"/>
              <a:t> </a:t>
            </a:r>
            <a:r>
              <a:rPr dirty="0" err="1"/>
              <a:t>nhưng</a:t>
            </a:r>
            <a:r>
              <a:rPr dirty="0"/>
              <a:t> </a:t>
            </a:r>
            <a:r>
              <a:rPr dirty="0" err="1"/>
              <a:t>báo</a:t>
            </a:r>
            <a:r>
              <a:rPr dirty="0"/>
              <a:t> </a:t>
            </a:r>
            <a:r>
              <a:rPr dirty="0" err="1"/>
              <a:t>cáo</a:t>
            </a:r>
            <a:r>
              <a:rPr dirty="0"/>
              <a:t> </a:t>
            </a:r>
            <a:r>
              <a:rPr dirty="0" err="1"/>
              <a:t>sai</a:t>
            </a:r>
            <a:r>
              <a:rPr dirty="0"/>
              <a:t>.</a:t>
            </a:r>
          </a:p>
          <a:p>
            <a:r>
              <a:rPr dirty="0"/>
              <a:t>(→ [</a:t>
            </a:r>
            <a:r>
              <a:rPr dirty="0" err="1"/>
              <a:t>có</a:t>
            </a:r>
            <a:r>
              <a:rPr dirty="0"/>
              <a:t> </a:t>
            </a:r>
            <a:r>
              <a:rPr dirty="0" err="1"/>
              <a:t>thể</a:t>
            </a:r>
            <a:r>
              <a:rPr dirty="0"/>
              <a:t> </a:t>
            </a:r>
            <a:r>
              <a:rPr dirty="0" err="1"/>
              <a:t>rút</a:t>
            </a:r>
            <a:r>
              <a:rPr dirty="0"/>
              <a:t> </a:t>
            </a:r>
            <a:r>
              <a:rPr dirty="0" err="1"/>
              <a:t>gọn</a:t>
            </a:r>
            <a:r>
              <a:rPr dirty="0"/>
              <a:t>] sort </a:t>
            </a:r>
            <a:r>
              <a:rPr dirty="0" err="1"/>
              <a:t>cột</a:t>
            </a:r>
            <a:r>
              <a:rPr dirty="0"/>
              <a:t> E </a:t>
            </a:r>
            <a:r>
              <a:rPr dirty="0" err="1"/>
              <a:t>giảm</a:t>
            </a:r>
            <a:r>
              <a:rPr dirty="0"/>
              <a:t> </a:t>
            </a:r>
            <a:r>
              <a:rPr dirty="0" err="1"/>
              <a:t>dần</a:t>
            </a:r>
            <a:r>
              <a:rPr dirty="0"/>
              <a:t> </a:t>
            </a:r>
            <a:r>
              <a:rPr dirty="0" err="1"/>
              <a:t>để</a:t>
            </a:r>
            <a:r>
              <a:rPr dirty="0"/>
              <a:t> </a:t>
            </a:r>
            <a:r>
              <a:rPr dirty="0" err="1"/>
              <a:t>thấy</a:t>
            </a:r>
            <a:r>
              <a:rPr dirty="0"/>
              <a:t> </a:t>
            </a:r>
            <a:r>
              <a:rPr dirty="0" err="1"/>
              <a:t>đơn</a:t>
            </a:r>
            <a:r>
              <a:rPr dirty="0"/>
              <a:t> </a:t>
            </a:r>
            <a:r>
              <a:rPr dirty="0" err="1"/>
              <a:t>lớn</a:t>
            </a:r>
            <a:r>
              <a:rPr dirty="0"/>
              <a:t> </a:t>
            </a:r>
            <a:r>
              <a:rPr dirty="0" err="1"/>
              <a:t>nhất</a:t>
            </a:r>
            <a:r>
              <a:rPr dirty="0"/>
              <a:t> HD2502-00141, </a:t>
            </a:r>
            <a:r>
              <a:rPr dirty="0" err="1"/>
              <a:t>rồi</a:t>
            </a:r>
            <a:r>
              <a:rPr dirty="0"/>
              <a:t> </a:t>
            </a:r>
            <a:r>
              <a:rPr dirty="0" err="1"/>
              <a:t>Ctrl+Z</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4 phút.</a:t>
            </a:r>
          </a:p>
          <a:p>
            <a:r>
              <a:t>LỜI GIẢNG</a:t>
            </a:r>
          </a:p>
          <a:p>
            <a:r>
              <a:t>(→ trên Demo/B2_Demo_ThongKe.xlsx, sheet Demo_RANK: E2 =RANK.EQ(D2,$D$2:$D$13,0), kéo xuống) Hàm cuối của phần này: RANK.EQ, xếp hạng cửa hàng theo doanh thu Quý 1. Đối số thứ hai là danh sách để so, và nó phải khóa bằng đô-la; các bạn thấy không, lại là bài học F4 hôm qua.</a:t>
            </a:r>
          </a:p>
          <a:p>
            <a:r>
              <a:t>Quận 1 đứng đầu với 130 triệu, Hạ Long đứng cuối với 45 triệu. Nhưng khoan kết luận Hạ Long "kém": một cửa hàng Mall ở trung tâm và một cửa hàng mặt phố ở tỉnh có quy mô khác nhau. Xếp hạng chỉ có nghĩa khi so cùng loại; câu hỏi "vì sao" thì để Buổi 3 trả lời.</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0,5 phút.</a:t>
            </a:r>
          </a:p>
          <a:p>
            <a:r>
              <a:t>LỜI GIẢNG</a:t>
            </a:r>
          </a:p>
          <a:p>
            <a:r>
              <a:t>Phần 3 là phần quan trọng nhất hôm nay. Khái niệm các bạn học ở đây sẽ quay lại ở Buổi 3 và Buổi 5 dưới hai cái tên khác.</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Thời</a:t>
            </a:r>
            <a:r>
              <a:rPr dirty="0"/>
              <a:t> </a:t>
            </a:r>
            <a:r>
              <a:rPr dirty="0" err="1"/>
              <a:t>lượng</a:t>
            </a:r>
            <a:r>
              <a:rPr dirty="0"/>
              <a:t>: 5 </a:t>
            </a:r>
            <a:r>
              <a:rPr dirty="0" err="1"/>
              <a:t>phút</a:t>
            </a:r>
            <a:r>
              <a:rPr dirty="0"/>
              <a:t>.</a:t>
            </a:r>
          </a:p>
          <a:p>
            <a:r>
              <a:rPr dirty="0"/>
              <a:t>LỜI GIẢNG</a:t>
            </a:r>
          </a:p>
          <a:p>
            <a:r>
              <a:rPr dirty="0" err="1"/>
              <a:t>Mình</a:t>
            </a:r>
            <a:r>
              <a:rPr dirty="0"/>
              <a:t> </a:t>
            </a:r>
            <a:r>
              <a:rPr dirty="0" err="1"/>
              <a:t>vẽ</a:t>
            </a:r>
            <a:r>
              <a:rPr dirty="0"/>
              <a:t> </a:t>
            </a:r>
            <a:r>
              <a:rPr dirty="0" err="1"/>
              <a:t>một</a:t>
            </a:r>
            <a:r>
              <a:rPr dirty="0"/>
              <a:t> </a:t>
            </a:r>
            <a:r>
              <a:rPr dirty="0" err="1"/>
              <a:t>hình</a:t>
            </a:r>
            <a:r>
              <a:rPr dirty="0"/>
              <a:t> </a:t>
            </a:r>
            <a:r>
              <a:rPr dirty="0" err="1"/>
              <a:t>và</a:t>
            </a:r>
            <a:r>
              <a:rPr dirty="0"/>
              <a:t> </a:t>
            </a:r>
            <a:r>
              <a:rPr dirty="0" err="1"/>
              <a:t>mong</a:t>
            </a:r>
            <a:r>
              <a:rPr dirty="0"/>
              <a:t> </a:t>
            </a:r>
            <a:r>
              <a:rPr dirty="0" err="1"/>
              <a:t>các</a:t>
            </a:r>
            <a:r>
              <a:rPr dirty="0"/>
              <a:t> </a:t>
            </a:r>
            <a:r>
              <a:rPr dirty="0" err="1"/>
              <a:t>bạn</a:t>
            </a:r>
            <a:r>
              <a:rPr dirty="0"/>
              <a:t> </a:t>
            </a:r>
            <a:r>
              <a:rPr dirty="0" err="1"/>
              <a:t>nhớ</a:t>
            </a:r>
            <a:r>
              <a:rPr dirty="0"/>
              <a:t> </a:t>
            </a:r>
            <a:r>
              <a:rPr dirty="0" err="1"/>
              <a:t>nó</a:t>
            </a:r>
            <a:r>
              <a:rPr dirty="0"/>
              <a:t> </a:t>
            </a:r>
            <a:r>
              <a:rPr dirty="0" err="1"/>
              <a:t>đến</a:t>
            </a:r>
            <a:r>
              <a:rPr dirty="0"/>
              <a:t> </a:t>
            </a:r>
            <a:r>
              <a:rPr dirty="0" err="1"/>
              <a:t>hết</a:t>
            </a:r>
            <a:r>
              <a:rPr dirty="0"/>
              <a:t> </a:t>
            </a:r>
            <a:r>
              <a:rPr dirty="0" err="1"/>
              <a:t>khóa</a:t>
            </a:r>
            <a:r>
              <a:rPr dirty="0"/>
              <a:t>. </a:t>
            </a:r>
            <a:r>
              <a:rPr dirty="0" err="1"/>
              <a:t>Bên</a:t>
            </a:r>
            <a:r>
              <a:rPr dirty="0"/>
              <a:t> </a:t>
            </a:r>
            <a:r>
              <a:rPr dirty="0" err="1"/>
              <a:t>phải</a:t>
            </a:r>
            <a:r>
              <a:rPr dirty="0"/>
              <a:t> </a:t>
            </a:r>
            <a:r>
              <a:rPr dirty="0" err="1"/>
              <a:t>là</a:t>
            </a:r>
            <a:r>
              <a:rPr dirty="0"/>
              <a:t> </a:t>
            </a:r>
            <a:r>
              <a:rPr dirty="0" err="1"/>
              <a:t>một</a:t>
            </a:r>
            <a:r>
              <a:rPr dirty="0"/>
              <a:t> </a:t>
            </a:r>
            <a:r>
              <a:rPr dirty="0" err="1"/>
              <a:t>ô</a:t>
            </a:r>
            <a:r>
              <a:rPr dirty="0"/>
              <a:t> </a:t>
            </a:r>
            <a:r>
              <a:rPr dirty="0" err="1"/>
              <a:t>kết</a:t>
            </a:r>
            <a:r>
              <a:rPr dirty="0"/>
              <a:t> </a:t>
            </a:r>
            <a:r>
              <a:rPr dirty="0" err="1"/>
              <a:t>quả</a:t>
            </a:r>
            <a:r>
              <a:rPr dirty="0"/>
              <a:t>: </a:t>
            </a:r>
            <a:r>
              <a:rPr dirty="0" err="1"/>
              <a:t>doanh</a:t>
            </a:r>
            <a:r>
              <a:rPr dirty="0"/>
              <a:t> </a:t>
            </a:r>
            <a:r>
              <a:rPr dirty="0" err="1"/>
              <a:t>thu</a:t>
            </a:r>
            <a:r>
              <a:rPr dirty="0"/>
              <a:t> </a:t>
            </a:r>
            <a:r>
              <a:rPr dirty="0" err="1"/>
              <a:t>Miền</a:t>
            </a:r>
            <a:r>
              <a:rPr dirty="0"/>
              <a:t> Bắc </a:t>
            </a:r>
            <a:r>
              <a:rPr dirty="0" err="1"/>
              <a:t>tháng</a:t>
            </a:r>
            <a:r>
              <a:rPr dirty="0"/>
              <a:t> 3. </a:t>
            </a:r>
            <a:r>
              <a:rPr dirty="0" err="1"/>
              <a:t>Để</a:t>
            </a:r>
            <a:r>
              <a:rPr dirty="0"/>
              <a:t> </a:t>
            </a:r>
            <a:r>
              <a:rPr dirty="0" err="1"/>
              <a:t>ra</a:t>
            </a:r>
            <a:r>
              <a:rPr dirty="0"/>
              <a:t> con </a:t>
            </a:r>
            <a:r>
              <a:rPr dirty="0" err="1"/>
              <a:t>số</a:t>
            </a:r>
            <a:r>
              <a:rPr dirty="0"/>
              <a:t> </a:t>
            </a:r>
            <a:r>
              <a:rPr dirty="0" err="1"/>
              <a:t>đó</a:t>
            </a:r>
            <a:r>
              <a:rPr dirty="0"/>
              <a:t>, Excel </a:t>
            </a:r>
            <a:r>
              <a:rPr dirty="0" err="1"/>
              <a:t>làm</a:t>
            </a:r>
            <a:r>
              <a:rPr dirty="0"/>
              <a:t> </a:t>
            </a:r>
            <a:r>
              <a:rPr dirty="0" err="1"/>
              <a:t>hai</a:t>
            </a:r>
            <a:r>
              <a:rPr dirty="0"/>
              <a:t> </a:t>
            </a:r>
            <a:r>
              <a:rPr dirty="0" err="1"/>
              <a:t>việc</a:t>
            </a:r>
            <a:r>
              <a:rPr dirty="0"/>
              <a:t>: </a:t>
            </a:r>
            <a:r>
              <a:rPr dirty="0" err="1"/>
              <a:t>lọc</a:t>
            </a:r>
            <a:r>
              <a:rPr dirty="0"/>
              <a:t> </a:t>
            </a:r>
            <a:r>
              <a:rPr dirty="0" err="1"/>
              <a:t>những</a:t>
            </a:r>
            <a:r>
              <a:rPr dirty="0"/>
              <a:t> </a:t>
            </a:r>
            <a:r>
              <a:rPr dirty="0" err="1"/>
              <a:t>dòng</a:t>
            </a:r>
            <a:r>
              <a:rPr dirty="0"/>
              <a:t> </a:t>
            </a:r>
            <a:r>
              <a:rPr dirty="0" err="1"/>
              <a:t>có</a:t>
            </a:r>
            <a:r>
              <a:rPr dirty="0"/>
              <a:t> </a:t>
            </a:r>
            <a:r>
              <a:rPr dirty="0" err="1"/>
              <a:t>Vùng</a:t>
            </a:r>
            <a:r>
              <a:rPr dirty="0"/>
              <a:t> = Bắc </a:t>
            </a:r>
            <a:r>
              <a:rPr dirty="0" err="1"/>
              <a:t>và</a:t>
            </a:r>
            <a:r>
              <a:rPr dirty="0"/>
              <a:t> </a:t>
            </a:r>
            <a:r>
              <a:rPr dirty="0" err="1"/>
              <a:t>Tháng</a:t>
            </a:r>
            <a:r>
              <a:rPr dirty="0"/>
              <a:t> = 3, </a:t>
            </a:r>
            <a:r>
              <a:rPr dirty="0" err="1"/>
              <a:t>rồi</a:t>
            </a:r>
            <a:r>
              <a:rPr dirty="0"/>
              <a:t> </a:t>
            </a:r>
            <a:r>
              <a:rPr dirty="0" err="1"/>
              <a:t>cộng</a:t>
            </a:r>
            <a:r>
              <a:rPr dirty="0"/>
              <a:t> </a:t>
            </a:r>
            <a:r>
              <a:rPr dirty="0" err="1"/>
              <a:t>cột</a:t>
            </a:r>
            <a:r>
              <a:rPr dirty="0"/>
              <a:t> Revenue </a:t>
            </a:r>
            <a:r>
              <a:rPr dirty="0" err="1"/>
              <a:t>của</a:t>
            </a:r>
            <a:r>
              <a:rPr dirty="0"/>
              <a:t> </a:t>
            </a:r>
            <a:r>
              <a:rPr dirty="0" err="1"/>
              <a:t>những</a:t>
            </a:r>
            <a:r>
              <a:rPr dirty="0"/>
              <a:t> </a:t>
            </a:r>
            <a:r>
              <a:rPr dirty="0" err="1"/>
              <a:t>dòng</a:t>
            </a:r>
            <a:r>
              <a:rPr dirty="0"/>
              <a:t> </a:t>
            </a:r>
            <a:r>
              <a:rPr dirty="0" err="1"/>
              <a:t>còn</a:t>
            </a:r>
            <a:r>
              <a:rPr dirty="0"/>
              <a:t> </a:t>
            </a:r>
            <a:r>
              <a:rPr dirty="0" err="1"/>
              <a:t>lại</a:t>
            </a:r>
            <a:r>
              <a:rPr dirty="0"/>
              <a:t>.</a:t>
            </a:r>
          </a:p>
          <a:p>
            <a:r>
              <a:rPr dirty="0" err="1"/>
              <a:t>Mỗi</a:t>
            </a:r>
            <a:r>
              <a:rPr dirty="0"/>
              <a:t> </a:t>
            </a:r>
            <a:r>
              <a:rPr dirty="0" err="1"/>
              <a:t>điều</a:t>
            </a:r>
            <a:r>
              <a:rPr dirty="0"/>
              <a:t> </a:t>
            </a:r>
            <a:r>
              <a:rPr dirty="0" err="1"/>
              <a:t>kiện</a:t>
            </a:r>
            <a:r>
              <a:rPr dirty="0"/>
              <a:t> </a:t>
            </a:r>
            <a:r>
              <a:rPr dirty="0" err="1"/>
              <a:t>là</a:t>
            </a:r>
            <a:r>
              <a:rPr dirty="0"/>
              <a:t> </a:t>
            </a:r>
            <a:r>
              <a:rPr dirty="0" err="1"/>
              <a:t>một</a:t>
            </a:r>
            <a:r>
              <a:rPr dirty="0"/>
              <a:t> </a:t>
            </a:r>
            <a:r>
              <a:rPr dirty="0" err="1"/>
              <a:t>bộ</a:t>
            </a:r>
            <a:r>
              <a:rPr dirty="0"/>
              <a:t> </a:t>
            </a:r>
            <a:r>
              <a:rPr dirty="0" err="1"/>
              <a:t>lọc</a:t>
            </a:r>
            <a:r>
              <a:rPr dirty="0"/>
              <a:t>. </a:t>
            </a:r>
            <a:r>
              <a:rPr dirty="0" err="1"/>
              <a:t>Hôm</a:t>
            </a:r>
            <a:r>
              <a:rPr dirty="0"/>
              <a:t> nay, </a:t>
            </a:r>
            <a:r>
              <a:rPr dirty="0" err="1"/>
              <a:t>trong</a:t>
            </a:r>
            <a:r>
              <a:rPr dirty="0"/>
              <a:t> SUMIFS, </a:t>
            </a:r>
            <a:r>
              <a:rPr dirty="0" err="1"/>
              <a:t>chúng</a:t>
            </a:r>
            <a:r>
              <a:rPr dirty="0"/>
              <a:t> ta </a:t>
            </a:r>
            <a:r>
              <a:rPr dirty="0" err="1"/>
              <a:t>gọi</a:t>
            </a:r>
            <a:r>
              <a:rPr dirty="0"/>
              <a:t> </a:t>
            </a:r>
            <a:r>
              <a:rPr dirty="0" err="1"/>
              <a:t>nó</a:t>
            </a:r>
            <a:r>
              <a:rPr dirty="0"/>
              <a:t> </a:t>
            </a:r>
            <a:r>
              <a:rPr dirty="0" err="1"/>
              <a:t>là</a:t>
            </a:r>
            <a:r>
              <a:rPr dirty="0"/>
              <a:t> criteria. </a:t>
            </a:r>
            <a:r>
              <a:rPr dirty="0" err="1"/>
              <a:t>Buổi</a:t>
            </a:r>
            <a:r>
              <a:rPr dirty="0"/>
              <a:t> 3, </a:t>
            </a:r>
            <a:r>
              <a:rPr dirty="0" err="1"/>
              <a:t>trong</a:t>
            </a:r>
            <a:r>
              <a:rPr dirty="0"/>
              <a:t> Pivot, </a:t>
            </a:r>
            <a:r>
              <a:rPr dirty="0" err="1"/>
              <a:t>nó</a:t>
            </a:r>
            <a:r>
              <a:rPr dirty="0"/>
              <a:t> </a:t>
            </a:r>
            <a:r>
              <a:rPr dirty="0" err="1"/>
              <a:t>là</a:t>
            </a:r>
            <a:r>
              <a:rPr dirty="0"/>
              <a:t> </a:t>
            </a:r>
            <a:r>
              <a:rPr dirty="0" err="1"/>
              <a:t>tọa</a:t>
            </a:r>
            <a:r>
              <a:rPr dirty="0"/>
              <a:t> </a:t>
            </a:r>
            <a:r>
              <a:rPr dirty="0" err="1"/>
              <a:t>độ</a:t>
            </a:r>
            <a:r>
              <a:rPr dirty="0"/>
              <a:t> </a:t>
            </a:r>
            <a:r>
              <a:rPr dirty="0" err="1"/>
              <a:t>của</a:t>
            </a:r>
            <a:r>
              <a:rPr dirty="0"/>
              <a:t> </a:t>
            </a:r>
            <a:r>
              <a:rPr dirty="0" err="1"/>
              <a:t>ô</a:t>
            </a:r>
            <a:r>
              <a:rPr dirty="0"/>
              <a:t>. </a:t>
            </a:r>
            <a:r>
              <a:rPr dirty="0" err="1"/>
              <a:t>Buổi</a:t>
            </a:r>
            <a:r>
              <a:rPr dirty="0"/>
              <a:t> 5, </a:t>
            </a:r>
            <a:r>
              <a:rPr dirty="0" err="1"/>
              <a:t>trong</a:t>
            </a:r>
            <a:r>
              <a:rPr dirty="0"/>
              <a:t> DAX, </a:t>
            </a:r>
            <a:r>
              <a:rPr dirty="0" err="1"/>
              <a:t>nó</a:t>
            </a:r>
            <a:r>
              <a:rPr dirty="0"/>
              <a:t> </a:t>
            </a:r>
            <a:r>
              <a:rPr dirty="0" err="1"/>
              <a:t>là</a:t>
            </a:r>
            <a:r>
              <a:rPr dirty="0"/>
              <a:t> filter context. </a:t>
            </a:r>
            <a:r>
              <a:rPr dirty="0" err="1"/>
              <a:t>Cùng</a:t>
            </a:r>
            <a:r>
              <a:rPr dirty="0"/>
              <a:t> </a:t>
            </a:r>
            <a:r>
              <a:rPr dirty="0" err="1"/>
              <a:t>một</a:t>
            </a:r>
            <a:r>
              <a:rPr dirty="0"/>
              <a:t> </a:t>
            </a:r>
            <a:r>
              <a:rPr dirty="0" err="1"/>
              <a:t>ý</a:t>
            </a:r>
            <a:r>
              <a:rPr dirty="0"/>
              <a:t>, </a:t>
            </a:r>
            <a:r>
              <a:rPr dirty="0" err="1"/>
              <a:t>ba</a:t>
            </a:r>
            <a:r>
              <a:rPr dirty="0"/>
              <a:t> </a:t>
            </a:r>
            <a:r>
              <a:rPr dirty="0" err="1"/>
              <a:t>cái</a:t>
            </a:r>
            <a:r>
              <a:rPr dirty="0"/>
              <a:t> </a:t>
            </a:r>
            <a:r>
              <a:rPr dirty="0" err="1"/>
              <a:t>tên</a:t>
            </a:r>
            <a:r>
              <a:rPr dirty="0"/>
              <a:t>. </a:t>
            </a:r>
            <a:r>
              <a:rPr dirty="0" err="1"/>
              <a:t>Hiểu</a:t>
            </a:r>
            <a:r>
              <a:rPr dirty="0"/>
              <a:t> </a:t>
            </a:r>
            <a:r>
              <a:rPr dirty="0" err="1"/>
              <a:t>nó</a:t>
            </a:r>
            <a:r>
              <a:rPr dirty="0"/>
              <a:t> </a:t>
            </a:r>
            <a:r>
              <a:rPr dirty="0" err="1"/>
              <a:t>hôm</a:t>
            </a:r>
            <a:r>
              <a:rPr dirty="0"/>
              <a:t> nay </a:t>
            </a:r>
            <a:r>
              <a:rPr dirty="0" err="1"/>
              <a:t>thì</a:t>
            </a:r>
            <a:r>
              <a:rPr dirty="0"/>
              <a:t> </a:t>
            </a:r>
            <a:r>
              <a:rPr dirty="0" err="1"/>
              <a:t>Buổi</a:t>
            </a:r>
            <a:r>
              <a:rPr dirty="0"/>
              <a:t> 5 </a:t>
            </a:r>
            <a:r>
              <a:rPr dirty="0" err="1"/>
              <a:t>nhẹ</a:t>
            </a:r>
            <a:r>
              <a:rPr dirty="0"/>
              <a:t> </a:t>
            </a:r>
            <a:r>
              <a:rPr dirty="0" err="1"/>
              <a:t>đi</a:t>
            </a:r>
            <a:r>
              <a:rPr dirty="0"/>
              <a:t> </a:t>
            </a:r>
            <a:r>
              <a:rPr dirty="0" err="1"/>
              <a:t>một</a:t>
            </a:r>
            <a:r>
              <a:rPr dirty="0"/>
              <a:t> </a:t>
            </a:r>
            <a:r>
              <a:rPr dirty="0" err="1"/>
              <a:t>nửa</a:t>
            </a:r>
            <a:r>
              <a:rPr dirty="0"/>
              <a:t>.</a:t>
            </a:r>
          </a:p>
          <a:p>
            <a:r>
              <a:rPr dirty="0"/>
              <a:t>(→ demo: </a:t>
            </a:r>
            <a:r>
              <a:rPr dirty="0" err="1"/>
              <a:t>mở</a:t>
            </a:r>
            <a:r>
              <a:rPr dirty="0"/>
              <a:t> Demo/B2_Demo_SUMIFS.xlsx, sheet Sales; </a:t>
            </a:r>
            <a:r>
              <a:rPr dirty="0" err="1"/>
              <a:t>lọc</a:t>
            </a:r>
            <a:r>
              <a:rPr dirty="0"/>
              <a:t> Region = Bắc, Thang = 3; </a:t>
            </a:r>
            <a:r>
              <a:rPr dirty="0" err="1"/>
              <a:t>chọn</a:t>
            </a:r>
            <a:r>
              <a:rPr dirty="0"/>
              <a:t> </a:t>
            </a:r>
            <a:r>
              <a:rPr dirty="0" err="1"/>
              <a:t>cột</a:t>
            </a:r>
            <a:r>
              <a:rPr dirty="0"/>
              <a:t> Revenue, </a:t>
            </a:r>
            <a:r>
              <a:rPr dirty="0" err="1"/>
              <a:t>nhìn</a:t>
            </a:r>
            <a:r>
              <a:rPr dirty="0"/>
              <a:t> Status Bar) </a:t>
            </a:r>
            <a:r>
              <a:rPr dirty="0" err="1"/>
              <a:t>Mình</a:t>
            </a:r>
            <a:r>
              <a:rPr dirty="0"/>
              <a:t> </a:t>
            </a:r>
            <a:r>
              <a:rPr dirty="0" err="1"/>
              <a:t>làm</a:t>
            </a:r>
            <a:r>
              <a:rPr dirty="0"/>
              <a:t> </a:t>
            </a:r>
            <a:r>
              <a:rPr dirty="0" err="1"/>
              <a:t>đúng</a:t>
            </a:r>
            <a:r>
              <a:rPr dirty="0"/>
              <a:t> </a:t>
            </a:r>
            <a:r>
              <a:rPr dirty="0" err="1"/>
              <a:t>việc</a:t>
            </a:r>
            <a:r>
              <a:rPr dirty="0"/>
              <a:t> </a:t>
            </a:r>
            <a:r>
              <a:rPr dirty="0" err="1"/>
              <a:t>đó</a:t>
            </a:r>
            <a:r>
              <a:rPr dirty="0"/>
              <a:t> </a:t>
            </a:r>
            <a:r>
              <a:rPr dirty="0" err="1"/>
              <a:t>bằng</a:t>
            </a:r>
            <a:r>
              <a:rPr dirty="0"/>
              <a:t> </a:t>
            </a:r>
            <a:r>
              <a:rPr dirty="0" err="1"/>
              <a:t>tay</a:t>
            </a:r>
            <a:r>
              <a:rPr dirty="0"/>
              <a:t>: </a:t>
            </a:r>
            <a:r>
              <a:rPr dirty="0" err="1"/>
              <a:t>lọc</a:t>
            </a:r>
            <a:r>
              <a:rPr dirty="0"/>
              <a:t> Bắc, </a:t>
            </a:r>
            <a:r>
              <a:rPr dirty="0" err="1"/>
              <a:t>lọc</a:t>
            </a:r>
            <a:r>
              <a:rPr dirty="0"/>
              <a:t> </a:t>
            </a:r>
            <a:r>
              <a:rPr dirty="0" err="1"/>
              <a:t>tháng</a:t>
            </a:r>
            <a:r>
              <a:rPr dirty="0"/>
              <a:t> 3, </a:t>
            </a:r>
            <a:r>
              <a:rPr dirty="0" err="1"/>
              <a:t>chọn</a:t>
            </a:r>
            <a:r>
              <a:rPr dirty="0"/>
              <a:t> </a:t>
            </a:r>
            <a:r>
              <a:rPr dirty="0" err="1"/>
              <a:t>cột</a:t>
            </a:r>
            <a:r>
              <a:rPr dirty="0"/>
              <a:t> Revenue. Status Bar: 90.210.000, 635 </a:t>
            </a:r>
            <a:r>
              <a:rPr dirty="0" err="1"/>
              <a:t>dòng</a:t>
            </a:r>
            <a:r>
              <a:rPr dirty="0"/>
              <a:t>. (→ Clear Filter; sang sheet </a:t>
            </a:r>
            <a:r>
              <a:rPr dirty="0" err="1"/>
              <a:t>Demo_SUMIFS</a:t>
            </a:r>
            <a:r>
              <a:rPr dirty="0"/>
              <a:t>, </a:t>
            </a:r>
            <a:r>
              <a:rPr dirty="0" err="1"/>
              <a:t>ô</a:t>
            </a:r>
            <a:r>
              <a:rPr dirty="0"/>
              <a:t> D4) </a:t>
            </a:r>
            <a:r>
              <a:rPr dirty="0" err="1"/>
              <a:t>Và</a:t>
            </a:r>
            <a:r>
              <a:rPr dirty="0"/>
              <a:t> </a:t>
            </a:r>
            <a:r>
              <a:rPr dirty="0" err="1"/>
              <a:t>đây</a:t>
            </a:r>
            <a:r>
              <a:rPr dirty="0"/>
              <a:t> </a:t>
            </a:r>
            <a:r>
              <a:rPr dirty="0" err="1"/>
              <a:t>là</a:t>
            </a:r>
            <a:r>
              <a:rPr dirty="0"/>
              <a:t> SUMIFS </a:t>
            </a:r>
            <a:r>
              <a:rPr dirty="0" err="1"/>
              <a:t>làm</a:t>
            </a:r>
            <a:r>
              <a:rPr dirty="0"/>
              <a:t> </a:t>
            </a:r>
            <a:r>
              <a:rPr dirty="0" err="1"/>
              <a:t>cùng</a:t>
            </a:r>
            <a:r>
              <a:rPr dirty="0"/>
              <a:t> </a:t>
            </a:r>
            <a:r>
              <a:rPr dirty="0" err="1"/>
              <a:t>việc</a:t>
            </a:r>
            <a:r>
              <a:rPr dirty="0"/>
              <a:t> </a:t>
            </a:r>
            <a:r>
              <a:rPr dirty="0" err="1"/>
              <a:t>đó</a:t>
            </a:r>
            <a:r>
              <a:rPr dirty="0"/>
              <a:t> </a:t>
            </a:r>
            <a:r>
              <a:rPr dirty="0" err="1"/>
              <a:t>trong</a:t>
            </a:r>
            <a:r>
              <a:rPr dirty="0"/>
              <a:t> </a:t>
            </a:r>
            <a:r>
              <a:rPr dirty="0" err="1"/>
              <a:t>một</a:t>
            </a:r>
            <a:r>
              <a:rPr dirty="0"/>
              <a:t> </a:t>
            </a:r>
            <a:r>
              <a:rPr dirty="0" err="1"/>
              <a:t>công</a:t>
            </a:r>
            <a:r>
              <a:rPr dirty="0"/>
              <a:t> </a:t>
            </a:r>
            <a:r>
              <a:rPr dirty="0" err="1"/>
              <a:t>thức</a:t>
            </a:r>
            <a:r>
              <a:rPr dirty="0"/>
              <a:t>: </a:t>
            </a:r>
            <a:r>
              <a:rPr dirty="0" err="1"/>
              <a:t>cũng</a:t>
            </a:r>
            <a:r>
              <a:rPr dirty="0"/>
              <a:t> 90.210.000.</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8,5 phút.</a:t>
            </a:r>
          </a:p>
          <a:p>
            <a:r>
              <a:t>LỜI GIẢNG</a:t>
            </a:r>
          </a:p>
          <a:p>
            <a:r>
              <a:t>Cú pháp SUMIFS: đối số đầu tiên là cột cần cộng, sau đó là từng cặp: cột để lọc, giá trị lọc. Muốn thêm bộ lọc thì thêm cặp. (→ trên Demo/B2_Demo_SUMIFS.xlsx, sheet Demo_SUMIFS: F2 vào D4, chỉ từng phần) Ở đây giá trị lọc không gõ cứng "Bắc" mà trỏ vào ô B4, để mình đổi được.</a:t>
            </a:r>
          </a:p>
          <a:p>
            <a:r>
              <a:t>(→ đổi B4:B7 thành Nam, C4:C7 thành 1) Đổi thành Nam, tháng 1: 194 triệu 437 nghìn. Một công thức, trả lời được mọi cặp vùng – tháng.</a:t>
            </a:r>
          </a:p>
          <a:p>
            <a:r>
              <a:t>COUNTIFS cùng cấu trúc nhưng không có cột cần cộng, chỉ đếm. (→ trả B4:B7 về Bắc, C4:C7 về 3; chỉ D5, D6) Đếm Bắc tháng 3 ra 635. Câu hỏi: 635 là số đơn phải không? (→ chờ) Không, đó là số dòng, nhớ grain! Mỗi đơn có đúng một dòng Line_No bằng 1, nên thêm điều kiện Line_No = 1 là đếm được đơn: 321 đơn.</a:t>
            </a:r>
          </a:p>
          <a:p>
            <a:r>
              <a:t>AVERAGEIFS là trung bình có điều kiện: 142 nghìn mỗi dòng. Cẩn thận: đây là trung bình mỗi dòng sản phẩm, không phải giá trị đơn trung bình.</a:t>
            </a:r>
          </a:p>
          <a:p>
            <a:r>
              <a:t>Lỗi hay gặp: viết SUMIFS trên vùng thường mà vùng cộng và vùng tiêu chí lệch kích thước, Excel báo #VALUE!. Dùng cột của Table thì không bao giờ bị.</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6 phút.</a:t>
            </a:r>
          </a:p>
          <a:p>
            <a:r>
              <a:t>LỜI GIẢNG</a:t>
            </a:r>
          </a:p>
          <a:p>
            <a:r>
              <a:t>Sếp không hỏi một ô mà hỏi cả bảng: 3 miền × 3 tháng. Viết 9 công thức SUMIFS? Không cần, viết một công thức rồi kéo, và đây là lúc dấu đô-la hôm qua phát huy. (→ trên Demo/B2_Demo_SUMIFS.xlsx, sheet Demo_SUMIFS: xóa B12:D14, gõ B12 =SUMIFS(tblSales[Revenue],tblSales[Region],$A12,tblSales[Thang],B$11), kéo sang D12 rồi xuống dòng 14)</a:t>
            </a:r>
          </a:p>
          <a:p>
            <a:r>
              <a:t>Tên miền nằm ở cột A, nên khóa cột: đô-la A. Tháng nằm ở dòng 11, nên khóa dòng: B đô-la 11. Kéo ra 9 ô, và đối soát: ô tổng E15 phải bằng tổng cột Revenue, 941.454.000; ô E17 là hiệu hai số, bằng 0.</a:t>
            </a:r>
          </a:p>
          <a:p>
            <a:r>
              <a:t>Nhìn hàng Tổng: tháng 1 là 425,9 triệu, tháng 2 chỉ còn 246 triệu. Giảm hơn 40% chỉ sau một tháng. Mình ghi lại câu hỏi "vì sao?" lên góc bảng; hôm nay chưa trả lời, Buổi 3 sẽ trả lời.</a:t>
            </a:r>
          </a:p>
          <a:p>
            <a:r>
              <a:t>Một cái bẫy cuối. (→ cuộn tới khối Gross Margin % theo ngành, dòng 20–28) Muốn biên lợi nhuận toàn công ty, nhiều bạn lấy AVERAGE biên của 6 ngành: 31,2%. Sai. Ngành Sữa rất nhỏ, chỉ 16 triệu doanh thu, nhưng được tính "một phiếu" ngang với Bánh kẹo 339 triệu. Cách đúng là tổng lãi gộp chia tổng doanh thu: 34,2%. Với mọi KPI dạng tỷ lệ: tổng chia tổng, không lấy trung bình của trung bình.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10 phút.</a:t>
            </a:r>
          </a:p>
          <a:p>
            <a:r>
              <a:t>LỜI GIẢNG</a:t>
            </a:r>
          </a:p>
          <a:p>
            <a:r>
              <a:t>Mình nghỉ 10 phút. Khi quay lại, các bạn mở sẵn file khởi đầu và file Practice/B2_Product_DuplicateKey.xlsx. Phần tiếp theo là nối bảng.</a:t>
            </a:r>
          </a:p>
          <a:p>
            <a:r>
              <a:t>(→ trong giờ nghỉ: kiểm tra học viên đã mở được file khởi đầu, đổi tên file theo tên mình)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0,5 phút.</a:t>
            </a:r>
          </a:p>
          <a:p>
            <a:r>
              <a:t>LỜI GIẢNG</a:t>
            </a:r>
          </a:p>
          <a:p>
            <a:r>
              <a:t>tblSales có mã sản phẩm nhưng không có ngành hàng và giá vốn. Hai thứ đó nằm ở bảng Product. Phần 4 là cách nối hai bảng.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5 phút.</a:t>
            </a:r>
          </a:p>
          <a:p>
            <a:r>
              <a:t>LỜI GIẢNG</a:t>
            </a:r>
          </a:p>
          <a:p>
            <a:r>
              <a:t>(→ demo: mở Demo/B2_Demo_Lookup.xlsx, sheet Demo_VLOOKUP; các bước ở sheet Huong_dan) VLOOKUP là hàm tra cứu nổi tiếng nhất. Bốn đối số: tìm cái gì, tìm trong bảng nào, lấy cột thứ mấy, và khớp kiểu gì.</a:t>
            </a:r>
          </a:p>
          <a:p>
            <a:r>
              <a:t>Mình tra giá vốn, cột thứ 5 của bảng Product. Cột B viết đủ FALSE, cột C bỏ trống đối số cuối. Bốn mã đầu, hai cột giống nhau. Nhưng nhìn P041, mã hàng mới chưa có trong danh mục, và P21, mã gõ thiếu số 0. Cột B báo #N/A: đúng, không có mã này. Cột C trả về 71.500. Không báo lỗi gì cả.</a:t>
            </a:r>
          </a:p>
          <a:p>
            <a:r>
              <a:t>71.500 là gì? Là giá vốn của P040, dòng cuối cùng. Bỏ trống đối số cuối, VLOOKUP hiểu là khớp gần đúng: không thấy mã thì lấy mã gần nhất nhỏ hơn. Với bảng giá theo bậc thì hữu ích, còn tra mã sản phẩm thì là thảm họa. Luôn viết FALSE.</a:t>
            </a:r>
          </a:p>
          <a:p>
            <a:r>
              <a:t>VLOOKUP còn hai hạn chế: chỉ tìm được ở cột đầu và chỉ trả về cột bên phải; và số 5 là "số cứng", chèn thêm cột vào bảng là trả sai cột.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4 phút.</a:t>
            </a:r>
          </a:p>
          <a:p>
            <a:r>
              <a:t>LỜI GIẢNG</a:t>
            </a:r>
          </a:p>
          <a:p>
            <a:r>
              <a:t>Cách khắc phục cổ điển là cặp INDEX / MATCH. (→ trên Demo/B2_Demo_Lookup.xlsx, sheet Demo_XLOOKUP, cột B) MATCH trả lời "mã này nằm ở dòng thứ mấy", số 0 cuối là khớp chính xác. INDEX trả lời "cột giá vốn, dòng thứ mấy, là bao nhiêu".</a:t>
            </a:r>
          </a:p>
          <a:p>
            <a:r>
              <a:t>Vì cột tìm và cột trả về tách rời nhau nên không còn giới hạn "cột đầu, bên phải", chèn cột cũng không sai. Nhược điểm: dài và khó đọc. Bạn nào dùng Excel 2016 hoặc 2019 thì đây là cách chính của bạn; còn Microsoft 365 có cách gọn hơn.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6 phút.</a:t>
            </a:r>
          </a:p>
          <a:p>
            <a:r>
              <a:t>LỜI GIẢNG</a:t>
            </a:r>
          </a:p>
          <a:p>
            <a:r>
              <a:t>XLOOKUP gộp mọi ưu điểm: tìm ở đâu, trả về đâu, chỉ cần chỉ ra hai cột. Mặc định là khớp chính xác, không có cái bẫy như VLOOKUP. (→ trên Demo/B2_Demo_Lookup.xlsx, sheet Demo_XLOOKUP, cột C) P005 ra 83.500, và P041, P21 hiện "Không có mã" nhờ đối số thứ tư.</a:t>
            </a:r>
          </a:p>
          <a:p>
            <a:r>
              <a:t>Vì cột trả về có thể nằm bên trái, mình tra ngược được: từ tên sản phẩm ra mã. (→ cột F) "Gạo thơm 5kg" ra P014.</a:t>
            </a:r>
          </a:p>
          <a:p>
            <a:r>
              <a:t>Trong phần thực hành, các bạn viết XLOOKUP ngay trong tblSales, theo tên cột, như trên slide. Viết một ô, Table tự điền 6.187 dòng. Và lưu ý PRO TIP: đối số "không tìm thấy" rất tiện, nhưng nếu dùng nó để giấu #N/A thì các bạn đang lặp lại sai lầm IFERROR bằng 0 lúc nãy.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6,5 phút.</a:t>
            </a:r>
          </a:p>
          <a:p>
            <a:r>
              <a:t>LỜI GIẢNG</a:t>
            </a:r>
          </a:p>
          <a:p>
            <a:r>
              <a:t>Giờ đến bài học quan trọng nhất của phần này. (→ trên Demo/B2_Demo_Lookup.xlsx, sheet Demo_KhoaTrung) Đây là 143 dòng bán P021, bánh quy bơ hộp thiếc, trong Quý 1. Cột E là giá vốn tra bằng XLOOKUP: 62.000. Không có ô nào báo lỗi.</a:t>
            </a:r>
          </a:p>
          <a:p>
            <a:r>
              <a:t>Nhưng giá vốn thật của P021 là 69.000. (→ sang sheet Product, dòng 22–23) Nhìn đây: P021 xuất hiện hai lần. Dòng trên là bản ghi cũ, sản phẩm đã ngừng kinh doanh năm 2024, còn sót lại trong danh mục. XLOOKUP gặp dòng nào trước thì lấy dòng đó, và im lặng.</a:t>
            </a:r>
          </a:p>
          <a:p>
            <a:r>
              <a:t>Hậu quả là gì? Doanh thu không đổi, vì giá bán lấy từ Sales. Nhưng giá vốn bị thấp đi gần 1,8 triệu, nên biên lợi nhuận đẹp hơn thực tế: 34,4% thay vì 34,2%. Chênh lệch nhỏ nên càng khó phát hiện; báo cáo lên sếp là con số sai mà ai cũng tin.</a:t>
            </a:r>
          </a:p>
          <a:p>
            <a:r>
              <a:t>Đây là luật thứ nhất của lookup: khóa phải duy nhất. Trước khi tra, luôn kiểm tra bảng tra bằng COUNTIF. (→ ô D3, D4: P021 xuất hiện 2 lần; 2 dòng bị trùng) (→ xóa dòng 22 ở sheet Product; quay lại Demo_KhoaTrung: cột E thành 69.000, D5 = D6 = 17.664.000) Xóa bản ghi cũ, mọi thứ đúng lại.</a:t>
            </a:r>
          </a:p>
          <a:p>
            <a:r>
              <a:t>Và đây là tinh thần D2 của khóa: con số hiển thị chưa chắc đúng. Không có lỗi không có nghĩa là không có sai.</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3 phút.</a:t>
            </a:r>
          </a:p>
          <a:p>
            <a:r>
              <a:t>LỜI GIẢNG</a:t>
            </a:r>
          </a:p>
          <a:p>
            <a:r>
              <a:t>Luật thứ hai: khóa hai bên phải giống nhau từng ký tự và cùng kiểu. (→ trên Demo/B2_Demo_Lookup.xlsx, sheet Demo_KieuKhoa) Mã vùng số 1 trong bảng tra là số, nhưng giá trị tra lấy từ file CSV là chữ "1". Nhìn giống hệt, Excel vẫn báo #N/A. Sửa: VALUE để đổi chữ thành số.</a:t>
            </a:r>
          </a:p>
          <a:p>
            <a:r>
              <a:t>Mã "P005" có một dấu cách vô hình ở cuối. (→ gõ =LEN(A11) ở ô trống: ra 5) Bốn ký tự mà LEN ra 5. Sửa bằng TRIM. Bài về nhà hôm nay có đúng loại lỗi này, nên các bạn nhớ mẹo LEN.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0,5 phút.</a:t>
            </a:r>
          </a:p>
          <a:p>
            <a:r>
              <a:t>LỜI GIẢNG</a:t>
            </a:r>
          </a:p>
          <a:p>
            <a:r>
              <a:t>Phần 5: vài hàm chữ và ngày để chuẩn bị cột Tháng, Quý, Thứ cho bảng KPI.</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Thời</a:t>
            </a:r>
            <a:r>
              <a:rPr dirty="0"/>
              <a:t> </a:t>
            </a:r>
            <a:r>
              <a:rPr dirty="0" err="1"/>
              <a:t>lượng</a:t>
            </a:r>
            <a:r>
              <a:rPr dirty="0"/>
              <a:t>: 6 </a:t>
            </a:r>
            <a:r>
              <a:rPr dirty="0" err="1"/>
              <a:t>phút</a:t>
            </a:r>
            <a:r>
              <a:rPr dirty="0"/>
              <a:t>.</a:t>
            </a:r>
          </a:p>
          <a:p>
            <a:r>
              <a:rPr dirty="0"/>
              <a:t>LỜI GIẢNG</a:t>
            </a:r>
          </a:p>
          <a:p>
            <a:r>
              <a:rPr dirty="0"/>
              <a:t>(→ demo: </a:t>
            </a:r>
            <a:r>
              <a:rPr dirty="0" err="1"/>
              <a:t>mở</a:t>
            </a:r>
            <a:r>
              <a:rPr dirty="0"/>
              <a:t> Demo/B2_Demo_Text_Date.xlsx, sheet </a:t>
            </a:r>
            <a:r>
              <a:rPr dirty="0" err="1"/>
              <a:t>Demo_Text</a:t>
            </a:r>
            <a:r>
              <a:rPr dirty="0"/>
              <a:t>) </a:t>
            </a:r>
            <a:r>
              <a:rPr dirty="0" err="1"/>
              <a:t>Mã</a:t>
            </a:r>
            <a:r>
              <a:rPr dirty="0"/>
              <a:t> </a:t>
            </a:r>
            <a:r>
              <a:rPr dirty="0" err="1"/>
              <a:t>đơn</a:t>
            </a:r>
            <a:r>
              <a:rPr dirty="0"/>
              <a:t> MCI Mart </a:t>
            </a:r>
            <a:r>
              <a:rPr dirty="0" err="1"/>
              <a:t>có</a:t>
            </a:r>
            <a:r>
              <a:rPr dirty="0"/>
              <a:t> </a:t>
            </a:r>
            <a:r>
              <a:rPr dirty="0" err="1"/>
              <a:t>quy</a:t>
            </a:r>
            <a:r>
              <a:rPr dirty="0"/>
              <a:t> </a:t>
            </a:r>
            <a:r>
              <a:rPr dirty="0" err="1"/>
              <a:t>luật</a:t>
            </a:r>
            <a:r>
              <a:rPr dirty="0"/>
              <a:t>: "HD", </a:t>
            </a:r>
            <a:r>
              <a:rPr dirty="0" err="1"/>
              <a:t>rồi</a:t>
            </a:r>
            <a:r>
              <a:rPr dirty="0"/>
              <a:t> </a:t>
            </a:r>
            <a:r>
              <a:rPr dirty="0" err="1"/>
              <a:t>năm-tháng</a:t>
            </a:r>
            <a:r>
              <a:rPr dirty="0"/>
              <a:t>, </a:t>
            </a:r>
            <a:r>
              <a:rPr dirty="0" err="1"/>
              <a:t>gạch</a:t>
            </a:r>
            <a:r>
              <a:rPr dirty="0"/>
              <a:t> </a:t>
            </a:r>
            <a:r>
              <a:rPr dirty="0" err="1"/>
              <a:t>ngang</a:t>
            </a:r>
            <a:r>
              <a:rPr dirty="0"/>
              <a:t>, </a:t>
            </a:r>
            <a:r>
              <a:rPr dirty="0" err="1"/>
              <a:t>số</a:t>
            </a:r>
            <a:r>
              <a:rPr dirty="0"/>
              <a:t> </a:t>
            </a:r>
            <a:r>
              <a:rPr dirty="0" err="1"/>
              <a:t>thứ</a:t>
            </a:r>
            <a:r>
              <a:rPr dirty="0"/>
              <a:t> </a:t>
            </a:r>
            <a:r>
              <a:rPr dirty="0" err="1"/>
              <a:t>tự</a:t>
            </a:r>
            <a:r>
              <a:rPr dirty="0"/>
              <a:t>. LEFT </a:t>
            </a:r>
            <a:r>
              <a:rPr dirty="0" err="1"/>
              <a:t>lấy</a:t>
            </a:r>
            <a:r>
              <a:rPr dirty="0"/>
              <a:t> </a:t>
            </a:r>
            <a:r>
              <a:rPr dirty="0" err="1"/>
              <a:t>ký</a:t>
            </a:r>
            <a:r>
              <a:rPr dirty="0"/>
              <a:t> </a:t>
            </a:r>
            <a:r>
              <a:rPr dirty="0" err="1"/>
              <a:t>tự</a:t>
            </a:r>
            <a:r>
              <a:rPr dirty="0"/>
              <a:t> </a:t>
            </a:r>
            <a:r>
              <a:rPr dirty="0" err="1"/>
              <a:t>bên</a:t>
            </a:r>
            <a:r>
              <a:rPr dirty="0"/>
              <a:t> </a:t>
            </a:r>
            <a:r>
              <a:rPr dirty="0" err="1"/>
              <a:t>trái</a:t>
            </a:r>
            <a:r>
              <a:rPr dirty="0"/>
              <a:t>, RIGHT </a:t>
            </a:r>
            <a:r>
              <a:rPr dirty="0" err="1"/>
              <a:t>bên</a:t>
            </a:r>
            <a:r>
              <a:rPr dirty="0"/>
              <a:t> </a:t>
            </a:r>
            <a:r>
              <a:rPr dirty="0" err="1"/>
              <a:t>phải</a:t>
            </a:r>
            <a:r>
              <a:rPr dirty="0"/>
              <a:t>, MID </a:t>
            </a:r>
            <a:r>
              <a:rPr dirty="0" err="1"/>
              <a:t>lấy</a:t>
            </a:r>
            <a:r>
              <a:rPr dirty="0"/>
              <a:t> </a:t>
            </a:r>
            <a:r>
              <a:rPr dirty="0" err="1"/>
              <a:t>ở</a:t>
            </a:r>
            <a:r>
              <a:rPr dirty="0"/>
              <a:t> </a:t>
            </a:r>
            <a:r>
              <a:rPr dirty="0" err="1"/>
              <a:t>giữa</a:t>
            </a:r>
            <a:r>
              <a:rPr dirty="0"/>
              <a:t>: </a:t>
            </a:r>
            <a:r>
              <a:rPr dirty="0" err="1"/>
              <a:t>từ</a:t>
            </a:r>
            <a:r>
              <a:rPr dirty="0"/>
              <a:t> </a:t>
            </a:r>
            <a:r>
              <a:rPr dirty="0" err="1"/>
              <a:t>ký</a:t>
            </a:r>
            <a:r>
              <a:rPr dirty="0"/>
              <a:t> </a:t>
            </a:r>
            <a:r>
              <a:rPr dirty="0" err="1"/>
              <a:t>tự</a:t>
            </a:r>
            <a:r>
              <a:rPr dirty="0"/>
              <a:t> </a:t>
            </a:r>
            <a:r>
              <a:rPr dirty="0" err="1"/>
              <a:t>thứ</a:t>
            </a:r>
            <a:r>
              <a:rPr dirty="0"/>
              <a:t> 3, </a:t>
            </a:r>
            <a:r>
              <a:rPr dirty="0" err="1"/>
              <a:t>lấy</a:t>
            </a:r>
            <a:r>
              <a:rPr dirty="0"/>
              <a:t> 4 </a:t>
            </a:r>
            <a:r>
              <a:rPr dirty="0" err="1"/>
              <a:t>ký</a:t>
            </a:r>
            <a:r>
              <a:rPr dirty="0"/>
              <a:t> </a:t>
            </a:r>
            <a:r>
              <a:rPr dirty="0" err="1"/>
              <a:t>tự</a:t>
            </a:r>
            <a:r>
              <a:rPr dirty="0"/>
              <a:t>, </a:t>
            </a:r>
            <a:r>
              <a:rPr dirty="0" err="1"/>
              <a:t>ra</a:t>
            </a:r>
            <a:r>
              <a:rPr dirty="0"/>
              <a:t> "2501".</a:t>
            </a:r>
          </a:p>
          <a:p>
            <a:r>
              <a:rPr dirty="0" err="1"/>
              <a:t>Tên</a:t>
            </a:r>
            <a:r>
              <a:rPr dirty="0"/>
              <a:t> </a:t>
            </a:r>
            <a:r>
              <a:rPr dirty="0" err="1"/>
              <a:t>cửa</a:t>
            </a:r>
            <a:r>
              <a:rPr dirty="0"/>
              <a:t> </a:t>
            </a:r>
            <a:r>
              <a:rPr dirty="0" err="1"/>
              <a:t>hàng</a:t>
            </a:r>
            <a:r>
              <a:rPr dirty="0"/>
              <a:t> </a:t>
            </a:r>
            <a:r>
              <a:rPr dirty="0" err="1"/>
              <a:t>gõ</a:t>
            </a:r>
            <a:r>
              <a:rPr dirty="0"/>
              <a:t> </a:t>
            </a:r>
            <a:r>
              <a:rPr dirty="0" err="1"/>
              <a:t>tay</a:t>
            </a:r>
            <a:r>
              <a:rPr dirty="0"/>
              <a:t> </a:t>
            </a:r>
            <a:r>
              <a:rPr dirty="0" err="1"/>
              <a:t>có</a:t>
            </a:r>
            <a:r>
              <a:rPr dirty="0"/>
              <a:t> </a:t>
            </a:r>
            <a:r>
              <a:rPr dirty="0" err="1"/>
              <a:t>dấu</a:t>
            </a:r>
            <a:r>
              <a:rPr dirty="0"/>
              <a:t> </a:t>
            </a:r>
            <a:r>
              <a:rPr dirty="0" err="1"/>
              <a:t>cách</a:t>
            </a:r>
            <a:r>
              <a:rPr dirty="0"/>
              <a:t> </a:t>
            </a:r>
            <a:r>
              <a:rPr dirty="0" err="1"/>
              <a:t>thừa</a:t>
            </a:r>
            <a:r>
              <a:rPr dirty="0"/>
              <a:t> lung tung. TRIM </a:t>
            </a:r>
            <a:r>
              <a:rPr dirty="0" err="1"/>
              <a:t>dọn</a:t>
            </a:r>
            <a:r>
              <a:rPr dirty="0"/>
              <a:t> </a:t>
            </a:r>
            <a:r>
              <a:rPr dirty="0" err="1"/>
              <a:t>sạch</a:t>
            </a:r>
            <a:r>
              <a:rPr dirty="0"/>
              <a:t>: </a:t>
            </a:r>
            <a:r>
              <a:rPr dirty="0" err="1"/>
              <a:t>bỏ</a:t>
            </a:r>
            <a:r>
              <a:rPr dirty="0"/>
              <a:t> </a:t>
            </a:r>
            <a:r>
              <a:rPr dirty="0" err="1"/>
              <a:t>cách</a:t>
            </a:r>
            <a:r>
              <a:rPr dirty="0"/>
              <a:t> </a:t>
            </a:r>
            <a:r>
              <a:rPr dirty="0" err="1"/>
              <a:t>ở</a:t>
            </a:r>
            <a:r>
              <a:rPr dirty="0"/>
              <a:t> </a:t>
            </a:r>
            <a:r>
              <a:rPr dirty="0" err="1"/>
              <a:t>đầu</a:t>
            </a:r>
            <a:r>
              <a:rPr dirty="0"/>
              <a:t>, </a:t>
            </a:r>
            <a:r>
              <a:rPr dirty="0" err="1"/>
              <a:t>cuối</a:t>
            </a:r>
            <a:r>
              <a:rPr dirty="0"/>
              <a:t>, </a:t>
            </a:r>
            <a:r>
              <a:rPr dirty="0" err="1"/>
              <a:t>và</a:t>
            </a:r>
            <a:r>
              <a:rPr dirty="0"/>
              <a:t> </a:t>
            </a:r>
            <a:r>
              <a:rPr dirty="0" err="1"/>
              <a:t>rút</a:t>
            </a:r>
            <a:r>
              <a:rPr dirty="0"/>
              <a:t> </a:t>
            </a:r>
            <a:r>
              <a:rPr dirty="0" err="1"/>
              <a:t>các</a:t>
            </a:r>
            <a:r>
              <a:rPr dirty="0"/>
              <a:t> </a:t>
            </a:r>
            <a:r>
              <a:rPr dirty="0" err="1"/>
              <a:t>cách</a:t>
            </a:r>
            <a:r>
              <a:rPr dirty="0"/>
              <a:t> </a:t>
            </a:r>
            <a:r>
              <a:rPr dirty="0" err="1"/>
              <a:t>ở</a:t>
            </a:r>
            <a:r>
              <a:rPr dirty="0"/>
              <a:t> </a:t>
            </a:r>
            <a:r>
              <a:rPr dirty="0" err="1"/>
              <a:t>giữa</a:t>
            </a:r>
            <a:r>
              <a:rPr dirty="0"/>
              <a:t> </a:t>
            </a:r>
            <a:r>
              <a:rPr dirty="0" err="1"/>
              <a:t>còn</a:t>
            </a:r>
            <a:r>
              <a:rPr dirty="0"/>
              <a:t> </a:t>
            </a:r>
            <a:r>
              <a:rPr dirty="0" err="1"/>
              <a:t>một</a:t>
            </a:r>
            <a:r>
              <a:rPr dirty="0"/>
              <a:t>. (→ </a:t>
            </a:r>
            <a:r>
              <a:rPr dirty="0" err="1"/>
              <a:t>gõ</a:t>
            </a:r>
            <a:r>
              <a:rPr dirty="0"/>
              <a:t> =LEN(C2) </a:t>
            </a:r>
            <a:r>
              <a:rPr dirty="0" err="1"/>
              <a:t>và</a:t>
            </a:r>
            <a:r>
              <a:rPr dirty="0"/>
              <a:t> =LEN(H2)) Độ </a:t>
            </a:r>
            <a:r>
              <a:rPr dirty="0" err="1"/>
              <a:t>dài</a:t>
            </a:r>
            <a:r>
              <a:rPr dirty="0"/>
              <a:t> </a:t>
            </a:r>
            <a:r>
              <a:rPr dirty="0" err="1"/>
              <a:t>từ</a:t>
            </a:r>
            <a:r>
              <a:rPr dirty="0"/>
              <a:t> 21 </a:t>
            </a:r>
            <a:r>
              <a:rPr dirty="0" err="1"/>
              <a:t>còn</a:t>
            </a:r>
            <a:r>
              <a:rPr dirty="0"/>
              <a:t> 17.</a:t>
            </a:r>
          </a:p>
          <a:p>
            <a:r>
              <a:rPr dirty="0" err="1"/>
              <a:t>Dấu</a:t>
            </a:r>
            <a:r>
              <a:rPr dirty="0"/>
              <a:t> &amp; </a:t>
            </a:r>
            <a:r>
              <a:rPr dirty="0" err="1"/>
              <a:t>nối</a:t>
            </a:r>
            <a:r>
              <a:rPr dirty="0"/>
              <a:t> </a:t>
            </a:r>
            <a:r>
              <a:rPr dirty="0" err="1"/>
              <a:t>chuỗi</a:t>
            </a:r>
            <a:r>
              <a:rPr dirty="0"/>
              <a:t>: </a:t>
            </a:r>
            <a:r>
              <a:rPr dirty="0" err="1"/>
              <a:t>mã</a:t>
            </a:r>
            <a:r>
              <a:rPr dirty="0"/>
              <a:t> </a:t>
            </a:r>
            <a:r>
              <a:rPr dirty="0" err="1"/>
              <a:t>cửa</a:t>
            </a:r>
            <a:r>
              <a:rPr dirty="0"/>
              <a:t> </a:t>
            </a:r>
            <a:r>
              <a:rPr dirty="0" err="1"/>
              <a:t>hàng</a:t>
            </a:r>
            <a:r>
              <a:rPr dirty="0"/>
              <a:t>, </a:t>
            </a:r>
            <a:r>
              <a:rPr dirty="0" err="1"/>
              <a:t>gạch</a:t>
            </a:r>
            <a:r>
              <a:rPr dirty="0"/>
              <a:t> </a:t>
            </a:r>
            <a:r>
              <a:rPr dirty="0" err="1"/>
              <a:t>ngang</a:t>
            </a:r>
            <a:r>
              <a:rPr dirty="0"/>
              <a:t>, </a:t>
            </a:r>
            <a:r>
              <a:rPr dirty="0" err="1"/>
              <a:t>tên</a:t>
            </a:r>
            <a:r>
              <a:rPr dirty="0"/>
              <a:t>. </a:t>
            </a:r>
            <a:r>
              <a:rPr dirty="0" err="1"/>
              <a:t>Và</a:t>
            </a:r>
            <a:r>
              <a:rPr dirty="0"/>
              <a:t> TEXT </a:t>
            </a:r>
            <a:r>
              <a:rPr dirty="0" err="1"/>
              <a:t>định</a:t>
            </a:r>
            <a:r>
              <a:rPr dirty="0"/>
              <a:t> </a:t>
            </a:r>
            <a:r>
              <a:rPr dirty="0" err="1"/>
              <a:t>dạng</a:t>
            </a:r>
            <a:r>
              <a:rPr dirty="0"/>
              <a:t> </a:t>
            </a:r>
            <a:r>
              <a:rPr dirty="0" err="1"/>
              <a:t>số</a:t>
            </a:r>
            <a:r>
              <a:rPr dirty="0"/>
              <a:t> </a:t>
            </a:r>
            <a:r>
              <a:rPr dirty="0" err="1"/>
              <a:t>thành</a:t>
            </a:r>
            <a:r>
              <a:rPr dirty="0"/>
              <a:t> </a:t>
            </a:r>
            <a:r>
              <a:rPr dirty="0" err="1"/>
              <a:t>chữ</a:t>
            </a:r>
            <a:r>
              <a:rPr dirty="0"/>
              <a:t> </a:t>
            </a:r>
            <a:r>
              <a:rPr dirty="0" err="1"/>
              <a:t>theo</a:t>
            </a:r>
            <a:r>
              <a:rPr dirty="0"/>
              <a:t> </a:t>
            </a:r>
            <a:r>
              <a:rPr dirty="0" err="1"/>
              <a:t>mẫu</a:t>
            </a:r>
            <a:r>
              <a:rPr dirty="0"/>
              <a:t>. (→ </a:t>
            </a:r>
            <a:r>
              <a:rPr dirty="0" err="1"/>
              <a:t>gõ</a:t>
            </a:r>
            <a:r>
              <a:rPr dirty="0"/>
              <a:t> =J2+1: </a:t>
            </a:r>
            <a:r>
              <a:rPr dirty="0" err="1"/>
              <a:t>ra</a:t>
            </a:r>
            <a:r>
              <a:rPr dirty="0"/>
              <a:t> #VALUE!) </a:t>
            </a:r>
            <a:r>
              <a:rPr dirty="0" err="1"/>
              <a:t>Nhưng</a:t>
            </a:r>
            <a:r>
              <a:rPr dirty="0"/>
              <a:t> </a:t>
            </a:r>
            <a:r>
              <a:rPr dirty="0" err="1"/>
              <a:t>các</a:t>
            </a:r>
            <a:r>
              <a:rPr dirty="0"/>
              <a:t> </a:t>
            </a:r>
            <a:r>
              <a:rPr dirty="0" err="1"/>
              <a:t>bạn</a:t>
            </a:r>
            <a:r>
              <a:rPr dirty="0"/>
              <a:t> </a:t>
            </a:r>
            <a:r>
              <a:rPr dirty="0" err="1"/>
              <a:t>thấy</a:t>
            </a:r>
            <a:r>
              <a:rPr dirty="0"/>
              <a:t>: </a:t>
            </a:r>
            <a:r>
              <a:rPr dirty="0" err="1"/>
              <a:t>kết</a:t>
            </a:r>
            <a:r>
              <a:rPr dirty="0"/>
              <a:t> </a:t>
            </a:r>
            <a:r>
              <a:rPr dirty="0" err="1"/>
              <a:t>quả</a:t>
            </a:r>
            <a:r>
              <a:rPr dirty="0"/>
              <a:t> </a:t>
            </a:r>
            <a:r>
              <a:rPr dirty="0" err="1"/>
              <a:t>của</a:t>
            </a:r>
            <a:r>
              <a:rPr dirty="0"/>
              <a:t> TEXT </a:t>
            </a:r>
            <a:r>
              <a:rPr dirty="0" err="1"/>
              <a:t>là</a:t>
            </a:r>
            <a:r>
              <a:rPr dirty="0"/>
              <a:t> </a:t>
            </a:r>
            <a:r>
              <a:rPr dirty="0" err="1"/>
              <a:t>chữ</a:t>
            </a:r>
            <a:r>
              <a:rPr dirty="0"/>
              <a:t>, </a:t>
            </a:r>
            <a:r>
              <a:rPr dirty="0" err="1"/>
              <a:t>cộng</a:t>
            </a:r>
            <a:r>
              <a:rPr dirty="0"/>
              <a:t> </a:t>
            </a:r>
            <a:r>
              <a:rPr dirty="0" err="1"/>
              <a:t>vào</a:t>
            </a:r>
            <a:r>
              <a:rPr dirty="0"/>
              <a:t> </a:t>
            </a:r>
            <a:r>
              <a:rPr dirty="0" err="1"/>
              <a:t>là</a:t>
            </a:r>
            <a:r>
              <a:rPr dirty="0"/>
              <a:t> </a:t>
            </a:r>
            <a:r>
              <a:rPr dirty="0" err="1"/>
              <a:t>lỗi</a:t>
            </a:r>
            <a:r>
              <a:rPr dirty="0"/>
              <a:t>. </a:t>
            </a:r>
            <a:r>
              <a:rPr dirty="0" err="1"/>
              <a:t>Tính</a:t>
            </a:r>
            <a:r>
              <a:rPr dirty="0"/>
              <a:t> </a:t>
            </a:r>
            <a:r>
              <a:rPr dirty="0" err="1"/>
              <a:t>toán</a:t>
            </a:r>
            <a:r>
              <a:rPr dirty="0"/>
              <a:t> </a:t>
            </a:r>
            <a:r>
              <a:rPr dirty="0" err="1"/>
              <a:t>bằng</a:t>
            </a:r>
            <a:r>
              <a:rPr dirty="0"/>
              <a:t> </a:t>
            </a:r>
            <a:r>
              <a:rPr dirty="0" err="1"/>
              <a:t>số</a:t>
            </a:r>
            <a:r>
              <a:rPr dirty="0"/>
              <a:t>, TEXT </a:t>
            </a:r>
            <a:r>
              <a:rPr dirty="0" err="1"/>
              <a:t>chỉ</a:t>
            </a:r>
            <a:r>
              <a:rPr dirty="0"/>
              <a:t> </a:t>
            </a:r>
            <a:r>
              <a:rPr dirty="0" err="1"/>
              <a:t>để</a:t>
            </a:r>
            <a:r>
              <a:rPr dirty="0"/>
              <a:t> </a:t>
            </a:r>
            <a:r>
              <a:rPr dirty="0" err="1"/>
              <a:t>trình</a:t>
            </a:r>
            <a:r>
              <a:rPr dirty="0"/>
              <a:t> </a:t>
            </a:r>
            <a:r>
              <a:rPr dirty="0" err="1"/>
              <a:t>bày</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6,5 phút.</a:t>
            </a:r>
          </a:p>
          <a:p>
            <a:r>
              <a:t>LỜI GIẢNG</a:t>
            </a:r>
          </a:p>
          <a:p>
            <a:r>
              <a:t>(→ trên Demo/B2_Demo_Text_Date.xlsx, sheet Demo_Date) Ngày trong Excel thật ra là một con số đếm từ năm 1900, nên cộng trừ được. EOMONTH trả về ngày cuối tháng: đối số 0 là tháng này, âm 1 là tháng trước. Cuối tháng trước cộng 1 là ngày đầu tháng, mẹo rất hay dùng.</a:t>
            </a:r>
          </a:p>
          <a:p>
            <a:r>
              <a:t>Để phân tích theo thời gian, bảng KPI cần cột Tháng, Quý và Thứ. MONTH ra số tháng. Quý thì chia tháng cho 3 rồi làm tròn lên. Thứ dùng TEXT với mẫu "ddd"; máy tiếng Anh ra "Wed", máy tiếng Việt ra "T4". Nếu cần con số để sắp xếp thì dùng WEEKDAY với kiểu 2: thứ Hai là 1, Chủ nhật là 7. Ngày 29/01/2025, mùng 1 Tết Ất Tỵ, là thứ Tư.</a:t>
            </a:r>
          </a:p>
          <a:p>
            <a:r>
              <a:t>Cuối cùng NETWORKDAYS: số ngày làm việc giữa hai ngày, có thể trừ danh sách ngày lễ. (→ chỉ khối A10:E12) Tháng 1/2025 có 23 ngày thứ Hai đến thứ Sáu, nhưng trừ Tết Dương lịch và 5 ngày nghỉ Tết thì chỉ còn 17 ngày. Nhớ con số này; nó liên quan tới câu hỏi "vì sao" chúng ta vừa ghi lên bảng.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2 phút.</a:t>
            </a:r>
          </a:p>
          <a:p>
            <a:r>
              <a:t>LỜI GIẢNG</a:t>
            </a:r>
          </a:p>
          <a:p>
            <a:r>
              <a:t>Trước khi thực hành, chốt lại bằng một bảng: bắt đầu từ câu hỏi, rồi mới chọn hàm. Đừng hỏi "hàm này dùng làm gì", hãy hỏi "câu hỏi này cần hàm nào". Bảng này là cẩm nang cho phần thực hành ngay sau đây.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15 phút.</a:t>
            </a:r>
          </a:p>
          <a:p>
            <a:r>
              <a:t>LỜI GIẢNG (giao bài)</a:t>
            </a:r>
          </a:p>
          <a:p>
            <a:r>
              <a:t>Giờ đến lượt các bạn, 15 phút. Mở file khởi đầu (→ ../B1_Nen_tang_Excel_Du_lieu/Practice/B1_MCI_Mart_Q1_2025_Answer.xlsx) và file sản phẩm (→ Practice/B2_Product_DuplicateKey.xlsx). Việc đầu tiên là chép sheet Product sang file của bạn: chuột phải vào tab, Move or Copy, chọn file của bạn, nhớ tick "Create a copy".</a:t>
            </a:r>
          </a:p>
          <a:p>
            <a:r>
              <a:t>Bước 2 là bước D2: trước khi tra, kiểm tra khóa. Thêm một cột COUNTIF tạm vào bảng Product, lọc những dòng lớn hơn 1. Các bạn đã biết trước là P021; xóa dòng bản ghi cũ đi rồi xóa cột kiểm tra.</a:t>
            </a:r>
          </a:p>
          <a:p>
            <a:r>
              <a:t>Bước 3 và 4: thêm các cột vào tblSales bằng công thức theo tên cột. Gõ ở một ô, Table tự điền cả cột.</a:t>
            </a:r>
          </a:p>
          <a:p>
            <a:r>
              <a:t>Tự kiểm tra: chọn cột COGS, Status Bar phải ra 619.663.000. Nếu bạn ra 617.871.000, thiếu đúng 1.792.000, thì bạn chưa xóa bản ghi P021 cũ.</a:t>
            </a:r>
          </a:p>
          <a:p>
            <a:r>
              <a:t>GHI CHÚ GIẢNG VIÊN</a:t>
            </a:r>
          </a:p>
          <a:p>
            <a:r>
              <a:t>Đi vòng lớp. Ba lỗi hay gặp nhất:</a:t>
            </a:r>
          </a:p>
          <a:p>
            <a:r>
              <a:t>Chép Product bằng copy–paste vùng thay vì Move or Copy → mất tên bảng tblProduct; đặt lại tên trong Table Design.</a:t>
            </a:r>
          </a:p>
          <a:p>
            <a:r>
              <a:t>Quên xóa P021 cũ (COGS 617.871.000).</a:t>
            </a:r>
          </a:p>
          <a:p>
            <a:r>
              <a:t>Cột Thu ra số (ví dụ 45658) → ô đang định dạng Number; đổi về General.</a:t>
            </a:r>
          </a:p>
          <a:p>
            <a:r>
              <a:t>Máy Excel 2016/2019 không có XLOOKUP, IFS: dùng INDEX/MATCH và IF lồng.</a:t>
            </a:r>
          </a:p>
          <a:p>
            <a:r>
              <a:t>Ai xong sớm: làm trước Thực hành 2.</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12 phút.</a:t>
            </a:r>
          </a:p>
          <a:p>
            <a:r>
              <a:t>LỜI GIẢNG (giao bài)</a:t>
            </a:r>
          </a:p>
          <a:p>
            <a:r>
              <a:t>Bài 2 trả lời câu hỏi đầu buổi của sếp. 12 phút.</a:t>
            </a:r>
          </a:p>
          <a:p>
            <a:r>
              <a:t>Nhớ quy tắc: một công thức, kéo ra cả bảng. Nếu phải sửa từng ô là bạn đang khóa đô-la sai chỗ. Số đơn thì nhớ grain: thêm điều kiện Line_No bằng 1. AOV và biên lợi nhuận là tỷ lệ, nên dòng Tổng tính tổng chia tổng.</a:t>
            </a:r>
          </a:p>
          <a:p>
            <a:r>
              <a:t>Đáp án để tự kiểm: tổng bảng doanh thu 941.454.000, trùng tổng cột Revenue. Tháng 1 là 425 triệu 850 nghìn. Tổng số đơn 3.144. Nếu số đơn của bạn ra 6.187 thì bạn đang đếm dòng.</a:t>
            </a:r>
          </a:p>
          <a:p>
            <a:r>
              <a:t>Còn thời gian thì viết nốt hai KPI card. Không kịp thì hoàn thành ở nhà, cùng với bài về nhà.</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err="1"/>
              <a:t>Thời</a:t>
            </a:r>
            <a:r>
              <a:rPr dirty="0"/>
              <a:t> </a:t>
            </a:r>
            <a:r>
              <a:rPr dirty="0" err="1"/>
              <a:t>lượng</a:t>
            </a:r>
            <a:r>
              <a:rPr dirty="0"/>
              <a:t>: 3 </a:t>
            </a:r>
            <a:r>
              <a:rPr dirty="0" err="1"/>
              <a:t>phút</a:t>
            </a:r>
            <a:r>
              <a:rPr dirty="0"/>
              <a:t>.</a:t>
            </a:r>
          </a:p>
          <a:p>
            <a:r>
              <a:rPr dirty="0"/>
              <a:t>LỜI GIẢNG</a:t>
            </a:r>
          </a:p>
          <a:p>
            <a:r>
              <a:rPr dirty="0"/>
              <a:t>(→ </a:t>
            </a:r>
            <a:r>
              <a:rPr dirty="0" err="1"/>
              <a:t>mở</a:t>
            </a:r>
            <a:r>
              <a:rPr dirty="0"/>
              <a:t> Practice/B2_MCI_Mart_Q1_2025_Answer.xlsx, sheet </a:t>
            </a:r>
            <a:r>
              <a:rPr dirty="0" err="1"/>
              <a:t>Kiem_tra</a:t>
            </a:r>
            <a:r>
              <a:rPr dirty="0"/>
              <a:t>) </a:t>
            </a:r>
            <a:r>
              <a:rPr dirty="0" err="1"/>
              <a:t>Đây</a:t>
            </a:r>
            <a:r>
              <a:rPr dirty="0"/>
              <a:t> </a:t>
            </a:r>
            <a:r>
              <a:rPr dirty="0" err="1"/>
              <a:t>là</a:t>
            </a:r>
            <a:r>
              <a:rPr dirty="0"/>
              <a:t> file </a:t>
            </a:r>
            <a:r>
              <a:rPr dirty="0" err="1"/>
              <a:t>đáp</a:t>
            </a:r>
            <a:r>
              <a:rPr dirty="0"/>
              <a:t> </a:t>
            </a:r>
            <a:r>
              <a:rPr dirty="0" err="1"/>
              <a:t>án</a:t>
            </a:r>
            <a:r>
              <a:rPr dirty="0"/>
              <a:t>, sheet </a:t>
            </a:r>
            <a:r>
              <a:rPr dirty="0" err="1"/>
              <a:t>Kiem_tra</a:t>
            </a:r>
            <a:r>
              <a:rPr dirty="0"/>
              <a:t> </a:t>
            </a:r>
            <a:r>
              <a:rPr dirty="0" err="1"/>
              <a:t>có</a:t>
            </a:r>
            <a:r>
              <a:rPr dirty="0"/>
              <a:t> 10 </a:t>
            </a:r>
            <a:r>
              <a:rPr dirty="0" err="1"/>
              <a:t>dòng</a:t>
            </a:r>
            <a:r>
              <a:rPr dirty="0"/>
              <a:t> </a:t>
            </a:r>
            <a:r>
              <a:rPr dirty="0" err="1"/>
              <a:t>đối</a:t>
            </a:r>
            <a:r>
              <a:rPr dirty="0"/>
              <a:t> </a:t>
            </a:r>
            <a:r>
              <a:rPr dirty="0" err="1"/>
              <a:t>soát</a:t>
            </a:r>
            <a:r>
              <a:rPr dirty="0"/>
              <a:t>, </a:t>
            </a:r>
            <a:r>
              <a:rPr dirty="0" err="1"/>
              <a:t>tất</a:t>
            </a:r>
            <a:r>
              <a:rPr dirty="0"/>
              <a:t> </a:t>
            </a:r>
            <a:r>
              <a:rPr dirty="0" err="1"/>
              <a:t>cả</a:t>
            </a:r>
            <a:r>
              <a:rPr dirty="0"/>
              <a:t> tick </a:t>
            </a:r>
            <a:r>
              <a:rPr dirty="0" err="1"/>
              <a:t>xanh</a:t>
            </a:r>
            <a:r>
              <a:rPr dirty="0"/>
              <a:t>. </a:t>
            </a:r>
            <a:r>
              <a:rPr dirty="0" err="1"/>
              <a:t>Để</a:t>
            </a:r>
            <a:r>
              <a:rPr dirty="0"/>
              <a:t> </a:t>
            </a:r>
            <a:r>
              <a:rPr dirty="0" err="1"/>
              <a:t>ý</a:t>
            </a:r>
            <a:r>
              <a:rPr dirty="0"/>
              <a:t> </a:t>
            </a:r>
            <a:r>
              <a:rPr dirty="0" err="1"/>
              <a:t>dòng</a:t>
            </a:r>
            <a:r>
              <a:rPr dirty="0"/>
              <a:t> </a:t>
            </a:r>
            <a:r>
              <a:rPr dirty="0" err="1"/>
              <a:t>cuối</a:t>
            </a:r>
            <a:r>
              <a:rPr dirty="0"/>
              <a:t> sheet: </a:t>
            </a:r>
            <a:r>
              <a:rPr dirty="0" err="1"/>
              <a:t>nếu</a:t>
            </a:r>
            <a:r>
              <a:rPr dirty="0"/>
              <a:t> COGS </a:t>
            </a:r>
            <a:r>
              <a:rPr dirty="0" err="1"/>
              <a:t>của</a:t>
            </a:r>
            <a:r>
              <a:rPr dirty="0"/>
              <a:t> </a:t>
            </a:r>
            <a:r>
              <a:rPr dirty="0" err="1"/>
              <a:t>bạn</a:t>
            </a:r>
            <a:r>
              <a:rPr dirty="0"/>
              <a:t> </a:t>
            </a:r>
            <a:r>
              <a:rPr dirty="0" err="1"/>
              <a:t>ra</a:t>
            </a:r>
            <a:r>
              <a:rPr dirty="0"/>
              <a:t> 617.871.000 </a:t>
            </a:r>
            <a:r>
              <a:rPr dirty="0" err="1"/>
              <a:t>thì</a:t>
            </a:r>
            <a:r>
              <a:rPr dirty="0"/>
              <a:t> </a:t>
            </a:r>
            <a:r>
              <a:rPr dirty="0" err="1"/>
              <a:t>là</a:t>
            </a:r>
            <a:r>
              <a:rPr dirty="0"/>
              <a:t> </a:t>
            </a:r>
            <a:r>
              <a:rPr dirty="0" err="1"/>
              <a:t>lỗi</a:t>
            </a:r>
            <a:r>
              <a:rPr dirty="0"/>
              <a:t> P021. File </a:t>
            </a:r>
            <a:r>
              <a:rPr dirty="0" err="1"/>
              <a:t>này</a:t>
            </a:r>
            <a:r>
              <a:rPr dirty="0"/>
              <a:t> </a:t>
            </a:r>
            <a:r>
              <a:rPr dirty="0" err="1"/>
              <a:t>là</a:t>
            </a:r>
            <a:r>
              <a:rPr dirty="0"/>
              <a:t> file </a:t>
            </a:r>
            <a:r>
              <a:rPr dirty="0" err="1"/>
              <a:t>khởi</a:t>
            </a:r>
            <a:r>
              <a:rPr dirty="0"/>
              <a:t> </a:t>
            </a:r>
            <a:r>
              <a:rPr dirty="0" err="1"/>
              <a:t>đầu</a:t>
            </a:r>
            <a:r>
              <a:rPr dirty="0"/>
              <a:t> </a:t>
            </a:r>
            <a:r>
              <a:rPr dirty="0" err="1"/>
              <a:t>Buổi</a:t>
            </a:r>
            <a:r>
              <a:rPr dirty="0"/>
              <a:t> 3, </a:t>
            </a:r>
            <a:r>
              <a:rPr dirty="0" err="1"/>
              <a:t>và</a:t>
            </a:r>
            <a:r>
              <a:rPr dirty="0"/>
              <a:t> </a:t>
            </a:r>
            <a:r>
              <a:rPr dirty="0" err="1"/>
              <a:t>bảng</a:t>
            </a:r>
            <a:r>
              <a:rPr dirty="0"/>
              <a:t> KPI_SUMIFS </a:t>
            </a:r>
            <a:r>
              <a:rPr dirty="0" err="1"/>
              <a:t>trong</a:t>
            </a:r>
            <a:r>
              <a:rPr dirty="0"/>
              <a:t> </a:t>
            </a:r>
            <a:r>
              <a:rPr dirty="0" err="1"/>
              <a:t>đó</a:t>
            </a:r>
            <a:r>
              <a:rPr dirty="0"/>
              <a:t> </a:t>
            </a:r>
            <a:r>
              <a:rPr dirty="0" err="1"/>
              <a:t>sẽ</a:t>
            </a:r>
            <a:r>
              <a:rPr dirty="0"/>
              <a:t> </a:t>
            </a:r>
            <a:r>
              <a:rPr dirty="0" err="1"/>
              <a:t>là</a:t>
            </a:r>
            <a:r>
              <a:rPr dirty="0"/>
              <a:t> "</a:t>
            </a:r>
            <a:r>
              <a:rPr dirty="0" err="1"/>
              <a:t>đáp</a:t>
            </a:r>
            <a:r>
              <a:rPr dirty="0"/>
              <a:t> </a:t>
            </a:r>
            <a:r>
              <a:rPr dirty="0" err="1"/>
              <a:t>án</a:t>
            </a:r>
            <a:r>
              <a:rPr dirty="0"/>
              <a:t>" </a:t>
            </a:r>
            <a:r>
              <a:rPr dirty="0" err="1"/>
              <a:t>để</a:t>
            </a:r>
            <a:r>
              <a:rPr dirty="0"/>
              <a:t> </a:t>
            </a:r>
            <a:r>
              <a:rPr dirty="0" err="1"/>
              <a:t>các</a:t>
            </a:r>
            <a:r>
              <a:rPr dirty="0"/>
              <a:t> </a:t>
            </a:r>
            <a:r>
              <a:rPr dirty="0" err="1"/>
              <a:t>bạn</a:t>
            </a:r>
            <a:r>
              <a:rPr dirty="0"/>
              <a:t> </a:t>
            </a:r>
            <a:r>
              <a:rPr dirty="0" err="1"/>
              <a:t>đối</a:t>
            </a:r>
            <a:r>
              <a:rPr dirty="0"/>
              <a:t> </a:t>
            </a:r>
            <a:r>
              <a:rPr dirty="0" err="1"/>
              <a:t>soát</a:t>
            </a:r>
            <a:r>
              <a:rPr dirty="0"/>
              <a:t> </a:t>
            </a:r>
            <a:r>
              <a:rPr dirty="0" err="1"/>
              <a:t>khi</a:t>
            </a:r>
            <a:r>
              <a:rPr dirty="0"/>
              <a:t> </a:t>
            </a:r>
            <a:r>
              <a:rPr dirty="0" err="1"/>
              <a:t>dựng</a:t>
            </a:r>
            <a:r>
              <a:rPr dirty="0"/>
              <a:t> Pivot </a:t>
            </a:r>
            <a:r>
              <a:rPr dirty="0" err="1"/>
              <a:t>và</a:t>
            </a:r>
            <a:r>
              <a:rPr dirty="0"/>
              <a:t> </a:t>
            </a:r>
            <a:r>
              <a:rPr dirty="0" err="1"/>
              <a:t>khi</a:t>
            </a:r>
            <a:r>
              <a:rPr dirty="0"/>
              <a:t> </a:t>
            </a:r>
            <a:r>
              <a:rPr dirty="0" err="1"/>
              <a:t>viết</a:t>
            </a:r>
            <a:r>
              <a:rPr dirty="0"/>
              <a:t> measure </a:t>
            </a:r>
            <a:r>
              <a:rPr dirty="0" err="1"/>
              <a:t>ở</a:t>
            </a:r>
            <a:r>
              <a:rPr dirty="0"/>
              <a:t> </a:t>
            </a:r>
            <a:r>
              <a:rPr dirty="0" err="1"/>
              <a:t>Buổi</a:t>
            </a:r>
            <a:r>
              <a:rPr dirty="0"/>
              <a:t> 5. </a:t>
            </a:r>
            <a:r>
              <a:rPr dirty="0" err="1"/>
              <a:t>Đừng</a:t>
            </a:r>
            <a:r>
              <a:rPr dirty="0"/>
              <a:t> </a:t>
            </a:r>
            <a:r>
              <a:rPr dirty="0" err="1"/>
              <a:t>xóa</a:t>
            </a:r>
            <a:r>
              <a:rPr dirty="0"/>
              <a:t> </a:t>
            </a:r>
            <a:r>
              <a:rPr dirty="0" err="1"/>
              <a:t>nó</a:t>
            </a:r>
            <a:r>
              <a:rPr dirty="0"/>
              <a:t>.</a:t>
            </a:r>
          </a:p>
          <a:p>
            <a:r>
              <a:rPr dirty="0"/>
              <a:t>(→ </a:t>
            </a:r>
            <a:r>
              <a:rPr dirty="0" err="1"/>
              <a:t>hỏi</a:t>
            </a:r>
            <a:r>
              <a:rPr dirty="0"/>
              <a:t> </a:t>
            </a:r>
            <a:r>
              <a:rPr dirty="0" err="1"/>
              <a:t>lớp</a:t>
            </a:r>
            <a:r>
              <a:rPr dirty="0"/>
              <a:t>) </a:t>
            </a:r>
            <a:r>
              <a:rPr dirty="0" err="1"/>
              <a:t>Bạn</a:t>
            </a:r>
            <a:r>
              <a:rPr dirty="0"/>
              <a:t> </a:t>
            </a:r>
            <a:r>
              <a:rPr dirty="0" err="1"/>
              <a:t>nào</a:t>
            </a:r>
            <a:r>
              <a:rPr dirty="0"/>
              <a:t> tick </a:t>
            </a:r>
            <a:r>
              <a:rPr dirty="0" err="1"/>
              <a:t>đủ</a:t>
            </a:r>
            <a:r>
              <a:rPr dirty="0"/>
              <a:t> 5 </a:t>
            </a:r>
            <a:r>
              <a:rPr dirty="0" err="1"/>
              <a:t>ô</a:t>
            </a:r>
            <a:r>
              <a:rPr dirty="0"/>
              <a:t>? Ai </a:t>
            </a:r>
            <a:r>
              <a:rPr dirty="0" err="1"/>
              <a:t>còn</a:t>
            </a:r>
            <a:r>
              <a:rPr dirty="0"/>
              <a:t> </a:t>
            </a:r>
            <a:r>
              <a:rPr dirty="0" err="1"/>
              <a:t>thiếu</a:t>
            </a:r>
            <a:r>
              <a:rPr dirty="0"/>
              <a:t> </a:t>
            </a:r>
            <a:r>
              <a:rPr dirty="0" err="1"/>
              <a:t>thì</a:t>
            </a:r>
            <a:r>
              <a:rPr dirty="0"/>
              <a:t> </a:t>
            </a:r>
            <a:r>
              <a:rPr dirty="0" err="1"/>
              <a:t>mở</a:t>
            </a:r>
            <a:r>
              <a:rPr dirty="0"/>
              <a:t> file </a:t>
            </a:r>
            <a:r>
              <a:rPr dirty="0" err="1"/>
              <a:t>đáp</a:t>
            </a:r>
            <a:r>
              <a:rPr dirty="0"/>
              <a:t> </a:t>
            </a:r>
            <a:r>
              <a:rPr dirty="0" err="1"/>
              <a:t>án</a:t>
            </a:r>
            <a:r>
              <a:rPr dirty="0"/>
              <a:t> so </a:t>
            </a:r>
            <a:r>
              <a:rPr dirty="0" err="1"/>
              <a:t>với</a:t>
            </a:r>
            <a:r>
              <a:rPr dirty="0"/>
              <a:t> file </a:t>
            </a:r>
            <a:r>
              <a:rPr dirty="0" err="1"/>
              <a:t>của</a:t>
            </a:r>
            <a:r>
              <a:rPr dirty="0"/>
              <a:t> </a:t>
            </a:r>
            <a:r>
              <a:rPr dirty="0" err="1"/>
              <a:t>mình</a:t>
            </a:r>
            <a:r>
              <a:rPr dirty="0"/>
              <a:t> </a:t>
            </a:r>
            <a:r>
              <a:rPr dirty="0" err="1"/>
              <a:t>để</a:t>
            </a:r>
            <a:r>
              <a:rPr dirty="0"/>
              <a:t> </a:t>
            </a:r>
            <a:r>
              <a:rPr dirty="0" err="1"/>
              <a:t>biết</a:t>
            </a:r>
            <a:r>
              <a:rPr dirty="0"/>
              <a:t> </a:t>
            </a:r>
            <a:r>
              <a:rPr dirty="0" err="1"/>
              <a:t>sót</a:t>
            </a:r>
            <a:r>
              <a:rPr dirty="0"/>
              <a:t> </a:t>
            </a:r>
            <a:r>
              <a:rPr dirty="0" err="1"/>
              <a:t>ở</a:t>
            </a:r>
            <a:r>
              <a:rPr dirty="0"/>
              <a:t> </a:t>
            </a:r>
            <a:r>
              <a:rPr dirty="0" err="1"/>
              <a:t>đâu</a:t>
            </a:r>
            <a:r>
              <a:rPr dirty="0"/>
              <a:t>.</a:t>
            </a:r>
          </a:p>
          <a:p>
            <a:r>
              <a:rPr dirty="0"/>
              <a:t>GHI CHÚ GIẢNG VIÊN (</a:t>
            </a:r>
            <a:r>
              <a:rPr dirty="0" err="1"/>
              <a:t>kiểm</a:t>
            </a:r>
            <a:r>
              <a:rPr dirty="0"/>
              <a:t> </a:t>
            </a:r>
            <a:r>
              <a:rPr dirty="0" err="1"/>
              <a:t>tra</a:t>
            </a:r>
            <a:r>
              <a:rPr dirty="0"/>
              <a:t> </a:t>
            </a:r>
            <a:r>
              <a:rPr dirty="0" err="1"/>
              <a:t>cuối</a:t>
            </a:r>
            <a:r>
              <a:rPr dirty="0"/>
              <a:t> </a:t>
            </a:r>
            <a:r>
              <a:rPr dirty="0" err="1"/>
              <a:t>buổi</a:t>
            </a:r>
            <a:r>
              <a:rPr dirty="0"/>
              <a:t>, </a:t>
            </a:r>
            <a:r>
              <a:rPr dirty="0" err="1"/>
              <a:t>theo</a:t>
            </a:r>
            <a:r>
              <a:rPr dirty="0"/>
              <a:t> Course Plan)</a:t>
            </a:r>
          </a:p>
          <a:p>
            <a:r>
              <a:rPr dirty="0" err="1"/>
              <a:t>Tổng</a:t>
            </a:r>
            <a:r>
              <a:rPr dirty="0"/>
              <a:t> </a:t>
            </a:r>
            <a:r>
              <a:rPr dirty="0" err="1"/>
              <a:t>bảng</a:t>
            </a:r>
            <a:r>
              <a:rPr dirty="0"/>
              <a:t> KPI SUMIFS = </a:t>
            </a:r>
            <a:r>
              <a:rPr dirty="0" err="1"/>
              <a:t>tổng</a:t>
            </a:r>
            <a:r>
              <a:rPr dirty="0"/>
              <a:t> </a:t>
            </a:r>
            <a:r>
              <a:rPr dirty="0" err="1"/>
              <a:t>cột</a:t>
            </a:r>
            <a:r>
              <a:rPr dirty="0"/>
              <a:t> Revenue; </a:t>
            </a:r>
            <a:r>
              <a:rPr dirty="0" err="1"/>
              <a:t>không</a:t>
            </a:r>
            <a:r>
              <a:rPr dirty="0"/>
              <a:t> </a:t>
            </a:r>
            <a:r>
              <a:rPr dirty="0" err="1"/>
              <a:t>còn</a:t>
            </a:r>
            <a:r>
              <a:rPr dirty="0"/>
              <a:t> #N/A; </a:t>
            </a:r>
            <a:r>
              <a:rPr dirty="0" err="1"/>
              <a:t>đủ</a:t>
            </a:r>
            <a:r>
              <a:rPr dirty="0"/>
              <a:t> 3 KPI card (card </a:t>
            </a:r>
            <a:r>
              <a:rPr dirty="0" err="1"/>
              <a:t>nào</a:t>
            </a:r>
            <a:r>
              <a:rPr dirty="0"/>
              <a:t> </a:t>
            </a:r>
            <a:r>
              <a:rPr dirty="0" err="1"/>
              <a:t>chưa</a:t>
            </a:r>
            <a:r>
              <a:rPr dirty="0"/>
              <a:t> </a:t>
            </a:r>
            <a:r>
              <a:rPr dirty="0" err="1"/>
              <a:t>xong</a:t>
            </a:r>
            <a:r>
              <a:rPr dirty="0"/>
              <a:t> </a:t>
            </a:r>
            <a:r>
              <a:rPr dirty="0" err="1"/>
              <a:t>thì</a:t>
            </a:r>
            <a:r>
              <a:rPr dirty="0"/>
              <a:t> </a:t>
            </a:r>
            <a:r>
              <a:rPr dirty="0" err="1"/>
              <a:t>làm</a:t>
            </a:r>
            <a:r>
              <a:rPr dirty="0"/>
              <a:t> </a:t>
            </a:r>
            <a:r>
              <a:rPr dirty="0" err="1"/>
              <a:t>cùng</a:t>
            </a:r>
            <a:r>
              <a:rPr dirty="0"/>
              <a:t> </a:t>
            </a:r>
            <a:r>
              <a:rPr dirty="0" err="1"/>
              <a:t>bài</a:t>
            </a:r>
            <a:r>
              <a:rPr dirty="0"/>
              <a:t> </a:t>
            </a:r>
            <a:r>
              <a:rPr dirty="0" err="1"/>
              <a:t>về</a:t>
            </a:r>
            <a:r>
              <a:rPr dirty="0"/>
              <a:t> </a:t>
            </a:r>
            <a:r>
              <a:rPr dirty="0" err="1"/>
              <a:t>nhà</a:t>
            </a:r>
            <a:r>
              <a:rPr dirty="0"/>
              <a:t>).</a:t>
            </a:r>
          </a:p>
          <a:p>
            <a:r>
              <a:rPr dirty="0" err="1"/>
              <a:t>Nhắc</a:t>
            </a:r>
            <a:r>
              <a:rPr dirty="0"/>
              <a:t> </a:t>
            </a:r>
            <a:r>
              <a:rPr dirty="0" err="1"/>
              <a:t>lưu</a:t>
            </a:r>
            <a:r>
              <a:rPr dirty="0"/>
              <a:t> </a:t>
            </a:r>
            <a:r>
              <a:rPr dirty="0" err="1"/>
              <a:t>bảng</a:t>
            </a:r>
            <a:r>
              <a:rPr dirty="0"/>
              <a:t> SUMIFS: </a:t>
            </a:r>
            <a:r>
              <a:rPr dirty="0" err="1"/>
              <a:t>đối</a:t>
            </a:r>
            <a:r>
              <a:rPr dirty="0"/>
              <a:t> </a:t>
            </a:r>
            <a:r>
              <a:rPr dirty="0" err="1"/>
              <a:t>soát</a:t>
            </a:r>
            <a:r>
              <a:rPr dirty="0"/>
              <a:t> </a:t>
            </a:r>
            <a:r>
              <a:rPr dirty="0" err="1"/>
              <a:t>ở</a:t>
            </a:r>
            <a:r>
              <a:rPr dirty="0"/>
              <a:t> B3 </a:t>
            </a:r>
            <a:r>
              <a:rPr dirty="0" err="1"/>
              <a:t>và</a:t>
            </a:r>
            <a:r>
              <a:rPr dirty="0"/>
              <a:t> B5.</a:t>
            </a:r>
          </a:p>
          <a:p>
            <a:r>
              <a:rPr dirty="0"/>
              <a:t>Học </a:t>
            </a:r>
            <a:r>
              <a:rPr dirty="0" err="1"/>
              <a:t>viên</a:t>
            </a:r>
            <a:r>
              <a:rPr dirty="0"/>
              <a:t> </a:t>
            </a:r>
            <a:r>
              <a:rPr dirty="0" err="1"/>
              <a:t>dùng</a:t>
            </a:r>
            <a:r>
              <a:rPr dirty="0"/>
              <a:t> Mac: </a:t>
            </a:r>
            <a:r>
              <a:rPr dirty="0" err="1"/>
              <a:t>hỏi</a:t>
            </a:r>
            <a:r>
              <a:rPr dirty="0"/>
              <a:t> </a:t>
            </a:r>
            <a:r>
              <a:rPr dirty="0" err="1"/>
              <a:t>lại</a:t>
            </a:r>
            <a:r>
              <a:rPr dirty="0"/>
              <a:t> </a:t>
            </a:r>
            <a:r>
              <a:rPr dirty="0" err="1"/>
              <a:t>tiến</a:t>
            </a:r>
            <a:r>
              <a:rPr dirty="0"/>
              <a:t> </a:t>
            </a:r>
            <a:r>
              <a:rPr dirty="0" err="1"/>
              <a:t>độ</a:t>
            </a:r>
            <a:r>
              <a:rPr dirty="0"/>
              <a:t> </a:t>
            </a:r>
            <a:r>
              <a:rPr dirty="0" err="1"/>
              <a:t>máy</a:t>
            </a:r>
            <a:r>
              <a:rPr dirty="0"/>
              <a:t> Windows (</a:t>
            </a:r>
            <a:r>
              <a:rPr dirty="0" err="1"/>
              <a:t>hạn</a:t>
            </a:r>
            <a:r>
              <a:rPr dirty="0"/>
              <a:t> </a:t>
            </a:r>
            <a:r>
              <a:rPr dirty="0" err="1"/>
              <a:t>chót</a:t>
            </a:r>
            <a:r>
              <a:rPr dirty="0"/>
              <a:t> </a:t>
            </a:r>
            <a:r>
              <a:rPr dirty="0" err="1"/>
              <a:t>trước</a:t>
            </a:r>
            <a:r>
              <a:rPr dirty="0"/>
              <a:t> B4).</a:t>
            </a:r>
          </a:p>
          <a:p>
            <a:r>
              <a:rPr dirty="0"/>
              <a:t>D2 </a:t>
            </a:r>
            <a:r>
              <a:rPr dirty="0" err="1"/>
              <a:t>mong</a:t>
            </a:r>
            <a:r>
              <a:rPr dirty="0"/>
              <a:t> </a:t>
            </a:r>
            <a:r>
              <a:rPr dirty="0" err="1"/>
              <a:t>đợi</a:t>
            </a:r>
            <a:r>
              <a:rPr dirty="0"/>
              <a:t>: Developing (</a:t>
            </a:r>
            <a:r>
              <a:rPr dirty="0" err="1"/>
              <a:t>phát</a:t>
            </a:r>
            <a:r>
              <a:rPr dirty="0"/>
              <a:t> </a:t>
            </a:r>
            <a:r>
              <a:rPr dirty="0" err="1"/>
              <a:t>hiện</a:t>
            </a:r>
            <a:r>
              <a:rPr dirty="0"/>
              <a:t> P021 </a:t>
            </a:r>
            <a:r>
              <a:rPr dirty="0" err="1"/>
              <a:t>khi</a:t>
            </a:r>
            <a:r>
              <a:rPr dirty="0"/>
              <a:t> </a:t>
            </a:r>
            <a:r>
              <a:rPr dirty="0" err="1"/>
              <a:t>được</a:t>
            </a:r>
            <a:r>
              <a:rPr dirty="0"/>
              <a:t> </a:t>
            </a:r>
            <a:r>
              <a:rPr dirty="0" err="1"/>
              <a:t>nhắc</a:t>
            </a:r>
            <a:r>
              <a:rPr dirty="0"/>
              <a:t>; </a:t>
            </a:r>
            <a:r>
              <a:rPr dirty="0" err="1"/>
              <a:t>dùng</a:t>
            </a:r>
            <a:r>
              <a:rPr dirty="0"/>
              <a:t> IFERROR </a:t>
            </a:r>
            <a:r>
              <a:rPr dirty="0" err="1"/>
              <a:t>có</a:t>
            </a:r>
            <a:r>
              <a:rPr dirty="0"/>
              <a:t> </a:t>
            </a:r>
            <a:r>
              <a:rPr dirty="0" err="1"/>
              <a:t>chủ</a:t>
            </a:r>
            <a:r>
              <a:rPr dirty="0"/>
              <a:t> </a:t>
            </a:r>
            <a:r>
              <a:rPr dirty="0" err="1"/>
              <a:t>đích</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0,2 phút.</a:t>
            </a:r>
          </a:p>
          <a:p>
            <a:r>
              <a:t>LỜI GIẢNG</a:t>
            </a:r>
          </a:p>
          <a:p>
            <a:r>
              <a:t>7 câu hỏi nhanh. Câu 6 và 7 là tình huống; các bạn phải suy luận.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B.</a:t>
            </a:r>
          </a:p>
          <a:p>
            <a:r>
              <a:t>LỜI GIẢNG</a:t>
            </a:r>
          </a:p>
          <a:p>
            <a:r>
              <a:t>Đáp án B, Trung. IFS dừng ở điều kiện đúng đầu tiên; 135 nghìn đã lớn hơn 30 nghìn nên không bao giờ tới điều kiện "Cao". Đặt ngưỡng cao trước.</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B.</a:t>
            </a:r>
          </a:p>
          <a:p>
            <a:r>
              <a:t>LỜI GIẢNG</a:t>
            </a:r>
          </a:p>
          <a:p>
            <a:r>
              <a:t>B. Dữ liệu lệch phải: vài đơn rất lớn kéo trung bình lên. Không phải lỗi, và C sai vì một nửa số đơn nằm dưới trung vị, không phải dưới trung bình.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C.</a:t>
            </a:r>
          </a:p>
          <a:p>
            <a:r>
              <a:t>LỜI GIẢNG</a:t>
            </a:r>
          </a:p>
          <a:p>
            <a:r>
              <a:t>C. SUMIFS: cột cần cộng đứng đầu, sau đó là từng cặp vùng – tiêu chí. Hàm SUMIF cũ, không có chữ S, thì ngược lại; đó là lý do nên dùng luôn SUMIFS.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B.</a:t>
            </a:r>
          </a:p>
          <a:p>
            <a:r>
              <a:t>LỜI GIẢNG</a:t>
            </a:r>
          </a:p>
          <a:p>
            <a:r>
              <a:t>B. Và khớp gần đúng với mã sản phẩm là cái bẫy: P041 ra giá của P040. Luôn viết FALSE, hoặc dùng XLOOKUP.</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C.</a:t>
            </a:r>
          </a:p>
          <a:p>
            <a:r>
              <a:t>LỜI GIẢNG</a:t>
            </a:r>
          </a:p>
          <a:p>
            <a:r>
              <a:t>C, ngày cuối tháng 2 năm 2025, là 28 vì 2025 không nhuận. Muốn ngày đầu tháng thì EOMONTH với âm 1, cộng 1.</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B.</a:t>
            </a:r>
          </a:p>
          <a:p>
            <a:r>
              <a:t>LỜI GIẢNG</a:t>
            </a:r>
          </a:p>
          <a:p>
            <a:r>
              <a:t>B. Không có lỗi không có nghĩa là không có sai. Khóa trùng làm XLOOKUP lấy dòng đầu tiên mà không báo gì, đúng như P021 hôm nay. Khi con số "đẹp bất thường", nghi ngờ trước, ăn mừng sau.</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Khoảng 40 giây. Đáp án: B.</a:t>
            </a:r>
          </a:p>
          <a:p>
            <a:r>
              <a:t>LỜI GIẢNG</a:t>
            </a:r>
          </a:p>
          <a:p>
            <a:r>
              <a:t>B. KPI tỷ lệ luôn tổng chia tổng. Lấy trung bình 3 miền là coi miền nhỏ nặng ngang miền lớn, giống ví dụ biên lợi nhuận 31,2% và 34,2% lúc nãy.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2 phút.</a:t>
            </a:r>
          </a:p>
          <a:p>
            <a:r>
              <a:t>LỜI GIẢNG</a:t>
            </a:r>
          </a:p>
          <a:p>
            <a:r>
              <a:t>Tổng kết 5 điều cần nhớ (→ đọc lướt 5 ý trên slide).</a:t>
            </a:r>
          </a:p>
          <a:p>
            <a:r>
              <a:t>Giờ viết câu insight, 1 phút, nhìn vào bảng KPI của bạn.</a:t>
            </a:r>
          </a:p>
          <a:p>
            <a:r>
              <a:t>(→ chờ 1 phút, gọi 2–3 bạn đọc)</a:t>
            </a:r>
          </a:p>
          <a:p>
            <a:r>
              <a:t>Câu mẫu: "Doanh thu tháng 1/2025 là 425,9 triệu, cao hơn tháng 2 khoảng 73% (246 triệu). Số đơn giảm từ 1.398 xuống 823 trong khi AOV gần như giữ nguyên, khoảng 300 nghìn, nên doanh thu giảm vì ít lượt mua hơn, không phải vì khách chi ít hơn mỗi lần; cần xem theo ngày để biết điều gì xảy ra quanh cuối tháng 1."</a:t>
            </a:r>
          </a:p>
          <a:p>
            <a:r>
              <a:t>Để ý: câu này chưa nói "vì Tết". Chúng ta nghi là Tết, và nhớ NETWORKDAYS tháng 1 chỉ còn 17 ngày làm việc, nhưng chưa chứng minh. Buổi 3, với Pivot theo ngày, các bạn sẽ tự kiểm chứng.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Thời lượng: 1 phút.</a:t>
            </a:r>
          </a:p>
          <a:p>
            <a:r>
              <a:t>LỜI GIẢNG</a:t>
            </a:r>
          </a:p>
          <a:p>
            <a:r>
              <a:t>Hôm nay các bạn đã trả lời được câu hỏi của sếp theo miền và tháng. Nhưng nếu sếp hỏi tiếp "theo cửa hàng", "theo thứ trong tuần", "theo ngành hàng", thì mỗi chiều mới các bạn lại phải dựng một bảng SUMIFS mới. Đó là giới hạn của SUMIFS, và là lý do Buổi 3 học PivotTable: kéo thả là đổi chiều. Buổi sau chúng ta cũng sẽ trả lời câu hỏi "vì sao tháng 1 cao hơn hẳn tháng 2".</a:t>
            </a:r>
          </a:p>
          <a:p>
            <a:r>
              <a:t>Về nhà: đọc handout Buổi 2, có thêm nhiều hàm hay như MAXIFS, SWITCH, WORKDAY. Làm bài tập về nhà bắt buộc: dữ liệu tháng 4 đã sạch, các bạn tra Region, ngành hàng, giá vốn, dựng bảng doanh thu Miền × Ngành hàng bằng một công thức SUMIFS, bảng số đơn, AOV, biên lợi nhuận theo miền, viết card cho AOV và một câu insight. Trong file có một lỗi lookup được cài sẵn; nhớ mẹo LEN hôm nay. Nộp trước Buổi 3 trên hocvien.mcivietnam.com.</a:t>
            </a:r>
          </a:p>
          <a:p>
            <a:r>
              <a:t>Cảm ơn cả lớp, hẹn gặp lại Buổi 3!</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txBody>
          <a:bodyPr/>
          <a:lstStyle/>
          <a:p>
            <a:endParaRPr lang="en-US"/>
          </a:p>
        </p:txBody>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9/29/26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9/29/26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2: Hàm cho phân tích — từ dữ liệu giao dịch đến KPI</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Mở sẵn: file khởi đầu B1_MCI_Mart_Q1_2025_Answer.xlsx · B2_Product_DuplicateKey.xlsx</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0 · MỞ ĐẦU</a:t>
            </a:r>
          </a:p>
        </p:txBody>
      </p:sp>
      <p:sp>
        <p:nvSpPr>
          <p:cNvPr id="4" name="Tier chip"/>
          <p:cNvSpPr/>
          <p:nvPr/>
        </p:nvSpPr>
        <p:spPr>
          <a:xfrm>
            <a:off x="9354312" y="548640"/>
            <a:ext cx="228600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Tầng 1 — Descriptive</a:t>
            </a:r>
          </a:p>
        </p:txBody>
      </p:sp>
      <p:sp>
        <p:nvSpPr>
          <p:cNvPr id="5" name="TextBox"/>
          <p:cNvSpPr txBox="1"/>
          <p:nvPr/>
        </p:nvSpPr>
        <p:spPr>
          <a:xfrm>
            <a:off x="1527048" y="1645920"/>
            <a:ext cx="4937760" cy="2011680"/>
          </a:xfrm>
          <a:prstGeom prst="rect">
            <a:avLst/>
          </a:prstGeom>
          <a:noFill/>
        </p:spPr>
        <p:txBody>
          <a:bodyPr wrap="square" lIns="0" tIns="0" rIns="0" bIns="0" anchor="t">
            <a:spAutoFit/>
          </a:bodyPr>
          <a:lstStyle/>
          <a:p>
            <a:r>
              <a:rPr sz="2800" b="1">
                <a:solidFill>
                  <a:srgbClr val="203864"/>
                </a:solidFill>
                <a:latin typeface="Arial"/>
              </a:rPr>
              <a:t>“Doanh thu, số đơn, biên lợi nhuận của từng vùng tháng này là bao nhiêu?”</a:t>
            </a:r>
          </a:p>
        </p:txBody>
      </p:sp>
      <p:sp>
        <p:nvSpPr>
          <p:cNvPr id="6" name="TextBox"/>
          <p:cNvSpPr txBox="1"/>
          <p:nvPr/>
        </p:nvSpPr>
        <p:spPr>
          <a:xfrm>
            <a:off x="1527048" y="3840480"/>
            <a:ext cx="4937760" cy="365760"/>
          </a:xfrm>
          <a:prstGeom prst="rect">
            <a:avLst/>
          </a:prstGeom>
          <a:noFill/>
        </p:spPr>
        <p:txBody>
          <a:bodyPr wrap="square" lIns="0" tIns="0" rIns="0" bIns="0" anchor="t">
            <a:spAutoFit/>
          </a:bodyPr>
          <a:lstStyle/>
          <a:p>
            <a:r>
              <a:rPr sz="1600" b="0">
                <a:solidFill>
                  <a:srgbClr val="585858"/>
                </a:solidFill>
                <a:latin typeface="Arial"/>
              </a:rPr>
              <a:t>— Giám đốc bán hàng, MCI Mart</a:t>
            </a:r>
          </a:p>
        </p:txBody>
      </p:sp>
      <p:sp>
        <p:nvSpPr>
          <p:cNvPr id="7" name="Keyword"/>
          <p:cNvSpPr/>
          <p:nvPr/>
        </p:nvSpPr>
        <p:spPr>
          <a:xfrm>
            <a:off x="1527048" y="4480560"/>
            <a:ext cx="150876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Doanh thu</a:t>
            </a:r>
          </a:p>
        </p:txBody>
      </p:sp>
      <p:sp>
        <p:nvSpPr>
          <p:cNvPr id="8" name="Keyword"/>
          <p:cNvSpPr/>
          <p:nvPr/>
        </p:nvSpPr>
        <p:spPr>
          <a:xfrm>
            <a:off x="3172968" y="4480560"/>
            <a:ext cx="150876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Số đơn</a:t>
            </a:r>
          </a:p>
        </p:txBody>
      </p:sp>
      <p:sp>
        <p:nvSpPr>
          <p:cNvPr id="9" name="Keyword"/>
          <p:cNvSpPr/>
          <p:nvPr/>
        </p:nvSpPr>
        <p:spPr>
          <a:xfrm>
            <a:off x="4818888" y="4480560"/>
            <a:ext cx="150876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Biên lợi nhuận</a:t>
            </a:r>
          </a:p>
        </p:txBody>
      </p:sp>
      <p:sp>
        <p:nvSpPr>
          <p:cNvPr id="10" name="TextBox"/>
          <p:cNvSpPr txBox="1"/>
          <p:nvPr/>
        </p:nvSpPr>
        <p:spPr>
          <a:xfrm>
            <a:off x="1527048" y="5029200"/>
            <a:ext cx="4937760" cy="731520"/>
          </a:xfrm>
          <a:prstGeom prst="rect">
            <a:avLst/>
          </a:prstGeom>
          <a:noFill/>
        </p:spPr>
        <p:txBody>
          <a:bodyPr wrap="square" lIns="0" tIns="0" rIns="0" bIns="0" anchor="t">
            <a:spAutoFit/>
          </a:bodyPr>
          <a:lstStyle/>
          <a:p>
            <a:r>
              <a:rPr sz="1600" b="0">
                <a:solidFill>
                  <a:srgbClr val="585858"/>
                </a:solidFill>
                <a:latin typeface="Arial"/>
              </a:rPr>
              <a:t>… của từng vùng … tháng này: Dimension nào? Measure nào? Đếm cái gì?</a:t>
            </a:r>
          </a:p>
        </p:txBody>
      </p:sp>
      <p:graphicFrame>
        <p:nvGraphicFramePr>
          <p:cNvPr id="11" name="Empty KPI table"/>
          <p:cNvGraphicFramePr>
            <a:graphicFrameLocks noGrp="1"/>
          </p:cNvGraphicFramePr>
          <p:nvPr/>
        </p:nvGraphicFramePr>
        <p:xfrm>
          <a:off x="6766560" y="1737360"/>
          <a:ext cx="4892040" cy="2560320"/>
        </p:xfrm>
        <a:graphic>
          <a:graphicData uri="http://schemas.openxmlformats.org/drawingml/2006/table">
            <a:tbl>
              <a:tblPr firstRow="1"/>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640080">
                <a:tc>
                  <a:txBody>
                    <a:bodyPr/>
                    <a:lstStyle/>
                    <a:p>
                      <a:r>
                        <a:rPr sz="1600" b="1">
                          <a:solidFill>
                            <a:srgbClr val="FFFFFF"/>
                          </a:solidFill>
                          <a:latin typeface="Arial"/>
                        </a:rPr>
                        <a:t>Miền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pPr algn="ctr"/>
                      <a:r>
                        <a:rPr sz="1600" b="1">
                          <a:solidFill>
                            <a:srgbClr val="FFFFFF"/>
                          </a:solidFill>
                          <a:latin typeface="Arial"/>
                        </a:rPr>
                        <a:t>Doanh thu</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pPr algn="ctr"/>
                      <a:r>
                        <a:rPr sz="1600" b="1">
                          <a:solidFill>
                            <a:srgbClr val="FFFFFF"/>
                          </a:solidFill>
                          <a:latin typeface="Arial"/>
                        </a:rPr>
                        <a:t>Số đơn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pPr algn="ctr"/>
                      <a:r>
                        <a:rPr sz="1600" b="1">
                          <a:solidFill>
                            <a:srgbClr val="FFFFFF"/>
                          </a:solidFill>
                          <a:latin typeface="Arial"/>
                        </a:rPr>
                        <a:t>Biên LN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640080">
                <a:tc>
                  <a:txBody>
                    <a:bodyPr/>
                    <a:lstStyle/>
                    <a:p>
                      <a:r>
                        <a:rPr sz="1600" b="1">
                          <a:solidFill>
                            <a:srgbClr val="1B2230"/>
                          </a:solidFill>
                          <a:latin typeface="Arial"/>
                        </a:rPr>
                        <a:t>Bắc</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640080">
                <a:tc>
                  <a:txBody>
                    <a:bodyPr/>
                    <a:lstStyle/>
                    <a:p>
                      <a:r>
                        <a:rPr sz="1600" b="1">
                          <a:solidFill>
                            <a:srgbClr val="1B2230"/>
                          </a:solidFill>
                          <a:latin typeface="Arial"/>
                        </a:rPr>
                        <a:t>Trung</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640080">
                <a:tc>
                  <a:txBody>
                    <a:bodyPr/>
                    <a:lstStyle/>
                    <a:p>
                      <a:r>
                        <a:rPr sz="1600" b="1">
                          <a:solidFill>
                            <a:srgbClr val="1B2230"/>
                          </a:solidFill>
                          <a:latin typeface="Arial"/>
                        </a:rPr>
                        <a:t>Nam</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600" b="0">
                          <a:solidFill>
                            <a:srgbClr val="1B2230"/>
                          </a:solidFill>
                          <a:latin typeface="Arial"/>
                        </a:rPr>
                        <a:t>?</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bl>
          </a:graphicData>
        </a:graphic>
      </p:graphicFrame>
      <p:sp>
        <p:nvSpPr>
          <p:cNvPr id="12" name="TextBox"/>
          <p:cNvSpPr txBox="1"/>
          <p:nvPr/>
        </p:nvSpPr>
        <p:spPr>
          <a:xfrm>
            <a:off x="6766560" y="4572000"/>
            <a:ext cx="4892040" cy="731520"/>
          </a:xfrm>
          <a:prstGeom prst="rect">
            <a:avLst/>
          </a:prstGeom>
          <a:noFill/>
        </p:spPr>
        <p:txBody>
          <a:bodyPr wrap="square" lIns="0" tIns="0" rIns="0" bIns="0" anchor="t">
            <a:spAutoFit/>
          </a:bodyPr>
          <a:lstStyle/>
          <a:p>
            <a:r>
              <a:rPr sz="1200" b="0">
                <a:solidFill>
                  <a:srgbClr val="6B6F76"/>
                </a:solidFill>
                <a:latin typeface="Arial"/>
              </a:rPr>
              <a:t>Bảng KPI cần điền sau buổi học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Recap Buổi 1 &amp; file khởi đầu</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309360" cy="3291840"/>
          </a:xfrm>
          <a:prstGeom prst="rect">
            <a:avLst/>
          </a:prstGeom>
          <a:noFill/>
        </p:spPr>
        <p:txBody>
          <a:bodyPr wrap="square" lIns="0" tIns="0" rIns="0" bIns="0" anchor="t">
            <a:spAutoFit/>
          </a:bodyPr>
          <a:lstStyle/>
          <a:p>
            <a:r>
              <a:rPr sz="2000" b="1">
                <a:solidFill>
                  <a:srgbClr val="203864"/>
                </a:solidFill>
                <a:latin typeface="Arial"/>
              </a:rPr>
              <a:t>•  Viên gạch B1: </a:t>
            </a:r>
            <a:r>
              <a:rPr sz="2000" b="0">
                <a:solidFill>
                  <a:srgbClr val="1B2230"/>
                </a:solidFill>
                <a:latin typeface="Arial"/>
              </a:rPr>
              <a:t>tblSales · 6.187 dòng · 941.454.000 · không dòng tổng, không ô gộp.</a:t>
            </a:r>
          </a:p>
          <a:p>
            <a:pPr>
              <a:spcBef>
                <a:spcPts val="1400"/>
              </a:spcBef>
            </a:pPr>
            <a:r>
              <a:rPr sz="2000" b="1">
                <a:solidFill>
                  <a:srgbClr val="203864"/>
                </a:solidFill>
                <a:latin typeface="Arial"/>
              </a:rPr>
              <a:t>•  Hôm nay nhận file khởi đầu </a:t>
            </a:r>
            <a:r>
              <a:rPr sz="2000" b="0">
                <a:solidFill>
                  <a:srgbClr val="1B2230"/>
                </a:solidFill>
                <a:latin typeface="Arial"/>
              </a:rPr>
              <a:t>= đáp án B1 (B1_MCI_Mart_Q1_2025_Answer.xlsx). Mọi người làm trên cùng một nền; lưu thành B2_&lt;HoTen&gt;.xlsx.</a:t>
            </a:r>
          </a:p>
          <a:p>
            <a:pPr>
              <a:spcBef>
                <a:spcPts val="1400"/>
              </a:spcBef>
            </a:pPr>
            <a:r>
              <a:rPr sz="2000" b="1">
                <a:solidFill>
                  <a:srgbClr val="203864"/>
                </a:solidFill>
                <a:latin typeface="Arial"/>
              </a:rPr>
              <a:t>•  Hai thứ dùng lại hôm nay: </a:t>
            </a:r>
            <a:r>
              <a:rPr sz="2000" b="0">
                <a:solidFill>
                  <a:srgbClr val="1B2230"/>
                </a:solidFill>
                <a:latin typeface="Arial"/>
              </a:rPr>
              <a:t>dấu $ (F4) và công thức theo tên cột [@Cột] trong Table.</a:t>
            </a:r>
          </a:p>
        </p:txBody>
      </p:sp>
      <p:sp>
        <p:nvSpPr>
          <p:cNvPr id="5" name="Brick B1"/>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p:cNvSpPr txBox="1"/>
          <p:nvPr/>
        </p:nvSpPr>
        <p:spPr>
          <a:xfrm>
            <a:off x="8385048" y="4206240"/>
            <a:ext cx="3172968" cy="914400"/>
          </a:xfrm>
          <a:prstGeom prst="rect">
            <a:avLst/>
          </a:prstGeom>
          <a:noFill/>
        </p:spPr>
        <p:txBody>
          <a:bodyPr wrap="square" lIns="0" tIns="0" rIns="0" bIns="0" anchor="ctr">
            <a:spAutoFit/>
          </a:bodyPr>
          <a:lstStyle/>
          <a:p>
            <a:r>
              <a:rPr sz="1800" b="1">
                <a:solidFill>
                  <a:srgbClr val="FFFFFF"/>
                </a:solidFill>
                <a:latin typeface="Arial"/>
              </a:rPr>
              <a:t>✓  B1 · Dữ liệu tidy</a:t>
            </a:r>
          </a:p>
        </p:txBody>
      </p:sp>
      <p:sp>
        <p:nvSpPr>
          <p:cNvPr id="7" name="Brick B2"/>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p:cNvSpPr txBox="1"/>
          <p:nvPr/>
        </p:nvSpPr>
        <p:spPr>
          <a:xfrm>
            <a:off x="8385048" y="3017520"/>
            <a:ext cx="3172968" cy="914400"/>
          </a:xfrm>
          <a:prstGeom prst="rect">
            <a:avLst/>
          </a:prstGeom>
          <a:noFill/>
        </p:spPr>
        <p:txBody>
          <a:bodyPr wrap="square" lIns="0" tIns="0" rIns="0" bIns="0" anchor="ctr">
            <a:spAutoFit/>
          </a:bodyPr>
          <a:lstStyle/>
          <a:p>
            <a:r>
              <a:rPr sz="1800" b="1">
                <a:solidFill>
                  <a:srgbClr val="203864"/>
                </a:solidFill>
                <a:latin typeface="Arial"/>
              </a:rPr>
              <a:t>B2 · Bảng KPI (SUMIFS)</a:t>
            </a:r>
          </a:p>
        </p:txBody>
      </p:sp>
      <p:sp>
        <p:nvSpPr>
          <p:cNvPr id="9"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Demo: ../B1_Nen_tang_Excel_Du_lieu/Practice/B1_MCI_Mart_Q1_2025_Answer.xlsx, sheet Kiem_tra (8/8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Dimension · Measure · Grain</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0 · MỞ ĐẦU</a:t>
            </a:r>
          </a:p>
        </p:txBody>
      </p:sp>
      <p:graphicFrame>
        <p:nvGraphicFramePr>
          <p:cNvPr id="4" name="Table"/>
          <p:cNvGraphicFramePr>
            <a:graphicFrameLocks noGrp="1"/>
          </p:cNvGraphicFramePr>
          <p:nvPr/>
        </p:nvGraphicFramePr>
        <p:xfrm>
          <a:off x="1527048" y="1554480"/>
          <a:ext cx="10122408" cy="2304288"/>
        </p:xfrm>
        <a:graphic>
          <a:graphicData uri="http://schemas.openxmlformats.org/drawingml/2006/table">
            <a:tbl>
              <a:tblPr firstRow="1"/>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6099048">
                  <a:extLst>
                    <a:ext uri="{9D8B030D-6E8A-4147-A177-3AD203B41FA5}">
                      <a16:colId xmlns:a16="http://schemas.microsoft.com/office/drawing/2014/main" val="20002"/>
                    </a:ext>
                  </a:extLst>
                </a:gridCol>
              </a:tblGrid>
              <a:tr h="566928">
                <a:tc>
                  <a:txBody>
                    <a:bodyPr/>
                    <a:lstStyle/>
                    <a:p>
                      <a:r>
                        <a:rPr sz="1800" b="1">
                          <a:solidFill>
                            <a:srgbClr val="FFFFFF"/>
                          </a:solidFill>
                          <a:latin typeface="Arial"/>
                        </a:rPr>
                        <a:t>Vai trò</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800" b="1">
                          <a:solidFill>
                            <a:srgbClr val="FFFFFF"/>
                          </a:solidFill>
                          <a:latin typeface="Arial"/>
                        </a:rPr>
                        <a:t>Câu hỏi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800" b="1">
                          <a:solidFill>
                            <a:srgbClr val="FFFFFF"/>
                          </a:solidFill>
                          <a:latin typeface="Arial"/>
                        </a:rPr>
                        <a:t>Cột trong tblSales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566928">
                <a:tc>
                  <a:txBody>
                    <a:bodyPr/>
                    <a:lstStyle/>
                    <a:p>
                      <a:r>
                        <a:rPr sz="1800" b="1">
                          <a:solidFill>
                            <a:srgbClr val="2A78D6"/>
                          </a:solidFill>
                          <a:latin typeface="Arial"/>
                        </a:rPr>
                        <a:t>Dimension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1B2230"/>
                          </a:solidFill>
                          <a:latin typeface="Arial"/>
                        </a:rPr>
                        <a:t>“Theo cái gì?”</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1B2230"/>
                          </a:solidFill>
                          <a:latin typeface="Arial"/>
                        </a:rPr>
                        <a:t>Region, Store_Code, Order_Date (→ Tháng), Product_Code (→ Category)</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566928">
                <a:tc>
                  <a:txBody>
                    <a:bodyPr/>
                    <a:lstStyle/>
                    <a:p>
                      <a:r>
                        <a:rPr sz="1800" b="1">
                          <a:solidFill>
                            <a:srgbClr val="EB6834"/>
                          </a:solidFill>
                          <a:latin typeface="Arial"/>
                        </a:rPr>
                        <a:t>Measure</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1B2230"/>
                          </a:solidFill>
                          <a:latin typeface="Arial"/>
                        </a:rPr>
                        <a:t>“Đo cái gì?”</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1B2230"/>
                          </a:solidFill>
                          <a:latin typeface="Arial"/>
                        </a:rPr>
                        <a:t>Quantity, Revenue (→ COGS, Gross Margin)</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566928">
                <a:tc>
                  <a:txBody>
                    <a:bodyPr/>
                    <a:lstStyle/>
                    <a:p>
                      <a:r>
                        <a:rPr sz="1800" b="1">
                          <a:solidFill>
                            <a:srgbClr val="203864"/>
                          </a:solidFill>
                          <a:latin typeface="Arial"/>
                        </a:rPr>
                        <a:t>Grain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1B2230"/>
                          </a:solidFill>
                          <a:latin typeface="Arial"/>
                        </a:rPr>
                        <a:t>“Mỗi dòng là gì?”</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1">
                          <a:solidFill>
                            <a:srgbClr val="1B2230"/>
                          </a:solidFill>
                          <a:latin typeface="Arial"/>
                        </a:rPr>
                        <a:t>1 dòng = 1 sản phẩm trong 1 đơn</a:t>
                      </a:r>
                      <a:r>
                        <a:rPr sz="1800" b="0">
                          <a:solidFill>
                            <a:srgbClr val="1B2230"/>
                          </a:solidFill>
                          <a:latin typeface="Arial"/>
                        </a:rPr>
                        <a:t> (Order_ID × Line_No)</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bl>
          </a:graphicData>
        </a:graphic>
      </p:graphicFrame>
      <p:pic>
        <p:nvPicPr>
          <p:cNvPr id="5" name="Screenshot S04_grain" descr="S04_grain.png"/>
          <p:cNvPicPr>
            <a:picLocks noChangeAspect="1"/>
          </p:cNvPicPr>
          <p:nvPr/>
        </p:nvPicPr>
        <p:blipFill>
          <a:blip r:embed="rId3"/>
          <a:stretch>
            <a:fillRect/>
          </a:stretch>
        </p:blipFill>
        <p:spPr>
          <a:xfrm>
            <a:off x="1527048" y="4279207"/>
            <a:ext cx="5669280" cy="1317105"/>
          </a:xfrm>
          <a:prstGeom prst="rect">
            <a:avLst/>
          </a:prstGeom>
          <a:ln w="9525">
            <a:solidFill>
              <a:srgbClr val="D9DEE8"/>
            </a:solidFill>
          </a:ln>
        </p:spPr>
      </p:pic>
      <p:sp>
        <p:nvSpPr>
          <p:cNvPr id="6" name="Stat card"/>
          <p:cNvSpPr/>
          <p:nvPr/>
        </p:nvSpPr>
        <p:spPr>
          <a:xfrm>
            <a:off x="7498079" y="4069080"/>
            <a:ext cx="4151376" cy="16002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7680959" y="4160520"/>
            <a:ext cx="3785615" cy="1417320"/>
          </a:xfrm>
          <a:prstGeom prst="rect">
            <a:avLst/>
          </a:prstGeom>
          <a:noFill/>
        </p:spPr>
        <p:txBody>
          <a:bodyPr wrap="square" lIns="0" tIns="0" rIns="0" bIns="0" anchor="ctr">
            <a:spAutoFit/>
          </a:bodyPr>
          <a:lstStyle/>
          <a:p>
            <a:r>
              <a:rPr sz="1400" b="0">
                <a:solidFill>
                  <a:srgbClr val="585858"/>
                </a:solidFill>
                <a:latin typeface="Arial"/>
              </a:rPr>
              <a:t>Đếm dòng ≠ đếm đơn</a:t>
            </a:r>
          </a:p>
          <a:p>
            <a:pPr>
              <a:spcBef>
                <a:spcPts val="200"/>
              </a:spcBef>
            </a:pPr>
            <a:r>
              <a:rPr sz="3000" b="1">
                <a:solidFill>
                  <a:srgbClr val="203864"/>
                </a:solidFill>
                <a:latin typeface="Arial"/>
              </a:rPr>
              <a:t>6.187 ≠ 3.144</a:t>
            </a:r>
          </a:p>
          <a:p>
            <a:pPr>
              <a:spcBef>
                <a:spcPts val="200"/>
              </a:spcBef>
            </a:pPr>
            <a:r>
              <a:rPr sz="1400" b="0">
                <a:solidFill>
                  <a:srgbClr val="1B2230"/>
                </a:solidFill>
                <a:latin typeface="Arial"/>
              </a:rPr>
              <a:t>dòng trong tblSales · đơn hàng Q1/2025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KPI Definition Card</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0 · MỞ ĐẦU</a:t>
            </a:r>
          </a:p>
        </p:txBody>
      </p:sp>
      <p:graphicFrame>
        <p:nvGraphicFramePr>
          <p:cNvPr id="4" name="Table"/>
          <p:cNvGraphicFramePr>
            <a:graphicFrameLocks noGrp="1"/>
          </p:cNvGraphicFramePr>
          <p:nvPr/>
        </p:nvGraphicFramePr>
        <p:xfrm>
          <a:off x="1527048" y="1508760"/>
          <a:ext cx="6675120" cy="4114800"/>
        </p:xfrm>
        <a:graphic>
          <a:graphicData uri="http://schemas.openxmlformats.org/drawingml/2006/table">
            <a:tbl>
              <a:tblPr firstRow="1"/>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57200">
                <a:tc>
                  <a:txBody>
                    <a:bodyPr/>
                    <a:lstStyle/>
                    <a:p>
                      <a:r>
                        <a:rPr sz="1500" b="1">
                          <a:solidFill>
                            <a:srgbClr val="FFFFFF"/>
                          </a:solidFill>
                          <a:latin typeface="Arial"/>
                        </a:rPr>
                        <a:t>Trường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500" b="1">
                          <a:solidFill>
                            <a:srgbClr val="FFFFFF"/>
                          </a:solidFill>
                          <a:latin typeface="Arial"/>
                        </a:rPr>
                        <a:t>Card 1 · Total Revenue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457200">
                <a:tc>
                  <a:txBody>
                    <a:bodyPr/>
                    <a:lstStyle/>
                    <a:p>
                      <a:r>
                        <a:rPr sz="1500" b="1">
                          <a:solidFill>
                            <a:srgbClr val="1B2230"/>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Tháng này bán được bao nhiêu tiền, ở đâu?</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457200">
                <a:tc>
                  <a:txBody>
                    <a:bodyPr/>
                    <a:lstStyle/>
                    <a:p>
                      <a:r>
                        <a:rPr sz="1500" b="1">
                          <a:solidFill>
                            <a:srgbClr val="1B2230"/>
                          </a:solidFill>
                          <a:latin typeface="Arial"/>
                        </a:rPr>
                        <a:t>Công thức</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SUM(Quantity × Unit_Price)</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457200">
                <a:tc>
                  <a:txBody>
                    <a:bodyPr/>
                    <a:lstStyle/>
                    <a:p>
                      <a:r>
                        <a:rPr sz="1500" b="1">
                          <a:solidFill>
                            <a:srgbClr val="1B2230"/>
                          </a:solidFill>
                          <a:latin typeface="Arial"/>
                        </a:rPr>
                        <a:t>Nguồn dữ liệu</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tblSales</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457200">
                <a:tc>
                  <a:txBody>
                    <a:bodyPr/>
                    <a:lstStyle/>
                    <a:p>
                      <a:r>
                        <a:rPr sz="1500" b="1">
                          <a:solidFill>
                            <a:srgbClr val="1B2230"/>
                          </a:solidFill>
                          <a:latin typeface="Arial"/>
                        </a:rPr>
                        <a:t>Grain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Dữ liệu: 1 sản phẩm trong 1 đơn · KPI: tháng</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457200">
                <a:tc>
                  <a:txBody>
                    <a:bodyPr/>
                    <a:lstStyle/>
                    <a:p>
                      <a:r>
                        <a:rPr sz="1500" b="1">
                          <a:solidFill>
                            <a:srgbClr val="1B2230"/>
                          </a:solidFill>
                          <a:latin typeface="Arial"/>
                        </a:rPr>
                        <a:t>Dimensions</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Miền, cửa hàng, ngành hàng, tháng</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r h="457200">
                <a:tc>
                  <a:txBody>
                    <a:bodyPr/>
                    <a:lstStyle/>
                    <a:p>
                      <a:r>
                        <a:rPr sz="1500" b="1">
                          <a:solidFill>
                            <a:srgbClr val="1B2230"/>
                          </a:solidFill>
                          <a:latin typeface="Arial"/>
                        </a:rPr>
                        <a:t>Owner</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Giám đốc bán hàng</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6"/>
                  </a:ext>
                </a:extLst>
              </a:tr>
              <a:tr h="457200">
                <a:tc>
                  <a:txBody>
                    <a:bodyPr/>
                    <a:lstStyle/>
                    <a:p>
                      <a:r>
                        <a:rPr sz="1500" b="1">
                          <a:solidFill>
                            <a:srgbClr val="1B2230"/>
                          </a:solidFill>
                          <a:latin typeface="Arial"/>
                        </a:rPr>
                        <a:t>Target / Ngưỡng</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Bảng Target (từ B4) · Warning 90%, Critical 80%</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7"/>
                  </a:ext>
                </a:extLst>
              </a:tr>
              <a:tr h="457200">
                <a:tc>
                  <a:txBody>
                    <a:bodyPr/>
                    <a:lstStyle/>
                    <a:p>
                      <a:r>
                        <a:rPr sz="1500" b="1">
                          <a:solidFill>
                            <a:srgbClr val="1B2230"/>
                          </a:solidFill>
                          <a:latin typeface="Arial"/>
                        </a:rPr>
                        <a:t>Ghi chú giới hạn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Chưa trừ trả hàng, khuyến mại</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8"/>
                  </a:ext>
                </a:extLst>
              </a:tr>
            </a:tbl>
          </a:graphicData>
        </a:graphic>
      </p:graphicFrame>
      <p:sp>
        <p:nvSpPr>
          <p:cNvPr id="5" name="TIP callout"/>
          <p:cNvSpPr/>
          <p:nvPr/>
        </p:nvSpPr>
        <p:spPr>
          <a:xfrm>
            <a:off x="8412480" y="1508760"/>
            <a:ext cx="323697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p:cNvSpPr txBox="1"/>
          <p:nvPr/>
        </p:nvSpPr>
        <p:spPr>
          <a:xfrm>
            <a:off x="8522207" y="161848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7" name="TIP text"/>
          <p:cNvSpPr txBox="1"/>
          <p:nvPr/>
        </p:nvSpPr>
        <p:spPr>
          <a:xfrm>
            <a:off x="9098280" y="1600200"/>
            <a:ext cx="2441448" cy="1828800"/>
          </a:xfrm>
          <a:prstGeom prst="rect">
            <a:avLst/>
          </a:prstGeom>
          <a:noFill/>
        </p:spPr>
        <p:txBody>
          <a:bodyPr wrap="square" lIns="0" tIns="0" rIns="0" bIns="0" anchor="t">
            <a:spAutoFit/>
          </a:bodyPr>
          <a:lstStyle/>
          <a:p>
            <a:r>
              <a:rPr sz="1600" b="0">
                <a:solidFill>
                  <a:srgbClr val="1B2230"/>
                </a:solidFill>
                <a:latin typeface="Arial"/>
              </a:rPr>
              <a:t>Viết card TRƯỚC khi viết công thức. Card là “hợp đồng” giữa bạn và người đọc báo cáo.</a:t>
            </a:r>
          </a:p>
        </p:txBody>
      </p:sp>
      <p:sp>
        <p:nvSpPr>
          <p:cNvPr id="8" name="TextBox"/>
          <p:cNvSpPr txBox="1"/>
          <p:nvPr/>
        </p:nvSpPr>
        <p:spPr>
          <a:xfrm>
            <a:off x="8412480" y="3749039"/>
            <a:ext cx="3236976" cy="1645920"/>
          </a:xfrm>
          <a:prstGeom prst="rect">
            <a:avLst/>
          </a:prstGeom>
          <a:noFill/>
        </p:spPr>
        <p:txBody>
          <a:bodyPr wrap="square" lIns="0" tIns="0" rIns="0" bIns="0" anchor="t">
            <a:spAutoFit/>
          </a:bodyPr>
          <a:lstStyle/>
          <a:p>
            <a:r>
              <a:rPr sz="1600" b="1">
                <a:solidFill>
                  <a:srgbClr val="203864"/>
                </a:solidFill>
                <a:latin typeface="Arial"/>
              </a:rPr>
              <a:t>Hôm nay viết 3 card</a:t>
            </a:r>
          </a:p>
          <a:p>
            <a:pPr>
              <a:spcBef>
                <a:spcPts val="600"/>
              </a:spcBef>
            </a:pPr>
            <a:r>
              <a:rPr sz="1600" b="0">
                <a:solidFill>
                  <a:srgbClr val="1B2230"/>
                </a:solidFill>
                <a:latin typeface="Arial"/>
              </a:rPr>
              <a:t>1 · Total Revenue (cùng lớp)</a:t>
            </a:r>
          </a:p>
          <a:p>
            <a:pPr>
              <a:spcBef>
                <a:spcPts val="600"/>
              </a:spcBef>
            </a:pPr>
            <a:r>
              <a:rPr sz="1600" b="0">
                <a:solidFill>
                  <a:srgbClr val="1B2230"/>
                </a:solidFill>
                <a:latin typeface="Arial"/>
              </a:rPr>
              <a:t>2 · Total Orders (thực hành)</a:t>
            </a:r>
          </a:p>
          <a:p>
            <a:pPr>
              <a:spcBef>
                <a:spcPts val="600"/>
              </a:spcBef>
            </a:pPr>
            <a:r>
              <a:rPr sz="1600" b="0">
                <a:solidFill>
                  <a:srgbClr val="1B2230"/>
                </a:solidFill>
                <a:latin typeface="Arial"/>
              </a:rPr>
              <a:t>3 · Gross Margin % (thực hành)</a:t>
            </a:r>
          </a:p>
        </p:txBody>
      </p:sp>
      <p:sp>
        <p:nvSpPr>
          <p:cNvPr id="9"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Mẫu in: Handout/B2_KPI_Definition_Card.docx · 10 trường theo KPI dictionary (Course Plan, Phụ lục 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Hàm logic: dạy Excel ra quyết định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 · IFS</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1 · HÀM LOGIC</a:t>
            </a:r>
          </a:p>
        </p:txBody>
      </p:sp>
      <p:sp>
        <p:nvSpPr>
          <p:cNvPr id="4" name="Tool name"/>
          <p:cNvSpPr txBox="1"/>
          <p:nvPr/>
        </p:nvSpPr>
        <p:spPr>
          <a:xfrm>
            <a:off x="1527048" y="1463040"/>
            <a:ext cx="3840480" cy="457200"/>
          </a:xfrm>
          <a:prstGeom prst="rect">
            <a:avLst/>
          </a:prstGeom>
          <a:noFill/>
        </p:spPr>
        <p:txBody>
          <a:bodyPr wrap="square" lIns="0" tIns="0" rIns="0" bIns="0" anchor="t">
            <a:spAutoFit/>
          </a:bodyPr>
          <a:lstStyle/>
          <a:p>
            <a:r>
              <a:rPr sz="2400" b="1">
                <a:solidFill>
                  <a:srgbClr val="C00000"/>
                </a:solidFill>
                <a:latin typeface="Arial"/>
              </a:rPr>
              <a:t>IF</a:t>
            </a:r>
          </a:p>
        </p:txBody>
      </p:sp>
      <p:sp>
        <p:nvSpPr>
          <p:cNvPr id="5" name="Tool purpose"/>
          <p:cNvSpPr txBox="1"/>
          <p:nvPr/>
        </p:nvSpPr>
        <p:spPr>
          <a:xfrm>
            <a:off x="1527048" y="1920240"/>
            <a:ext cx="3840480" cy="411480"/>
          </a:xfrm>
          <a:prstGeom prst="rect">
            <a:avLst/>
          </a:prstGeom>
          <a:noFill/>
        </p:spPr>
        <p:txBody>
          <a:bodyPr wrap="square" lIns="0" tIns="0" rIns="0" bIns="0" anchor="t">
            <a:spAutoFit/>
          </a:bodyPr>
          <a:lstStyle/>
          <a:p>
            <a:r>
              <a:rPr sz="1600" b="0">
                <a:solidFill>
                  <a:srgbClr val="585858"/>
                </a:solidFill>
                <a:latin typeface="Arial"/>
              </a:rPr>
              <a:t>Một điều kiện, hai kết quả.</a:t>
            </a:r>
          </a:p>
        </p:txBody>
      </p:sp>
      <p:sp>
        <p:nvSpPr>
          <p:cNvPr id="6" name="Formula bar"/>
          <p:cNvSpPr/>
          <p:nvPr/>
        </p:nvSpPr>
        <p:spPr>
          <a:xfrm>
            <a:off x="1527048" y="2377440"/>
            <a:ext cx="384048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3774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377440"/>
            <a:ext cx="3200400" cy="411480"/>
          </a:xfrm>
          <a:prstGeom prst="rect">
            <a:avLst/>
          </a:prstGeom>
          <a:noFill/>
        </p:spPr>
        <p:txBody>
          <a:bodyPr wrap="square" lIns="0" tIns="0" rIns="0" bIns="0" anchor="ctr">
            <a:spAutoFit/>
          </a:bodyPr>
          <a:lstStyle/>
          <a:p>
            <a:r>
              <a:rPr sz="1400" b="0">
                <a:solidFill>
                  <a:srgbClr val="1B2230"/>
                </a:solidFill>
                <a:latin typeface="Arial"/>
              </a:rPr>
              <a:t>=IF(F2&gt;=35%,"Biên cao","Biên thấp")</a:t>
            </a:r>
          </a:p>
        </p:txBody>
      </p:sp>
      <p:cxnSp>
        <p:nvCxnSpPr>
          <p:cNvPr id="9" name="Connector 8"/>
          <p:cNvCxnSpPr/>
          <p:nvPr/>
        </p:nvCxnSpPr>
        <p:spPr>
          <a:xfrm>
            <a:off x="5532120" y="1463040"/>
            <a:ext cx="0" cy="13716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5669280" y="1463040"/>
            <a:ext cx="5980176" cy="457200"/>
          </a:xfrm>
          <a:prstGeom prst="rect">
            <a:avLst/>
          </a:prstGeom>
          <a:noFill/>
        </p:spPr>
        <p:txBody>
          <a:bodyPr wrap="square" lIns="0" tIns="0" rIns="0" bIns="0" anchor="t">
            <a:spAutoFit/>
          </a:bodyPr>
          <a:lstStyle/>
          <a:p>
            <a:r>
              <a:rPr sz="2400" b="1">
                <a:solidFill>
                  <a:srgbClr val="C00000"/>
                </a:solidFill>
                <a:latin typeface="Arial"/>
              </a:rPr>
              <a:t>IFS</a:t>
            </a:r>
          </a:p>
        </p:txBody>
      </p:sp>
      <p:sp>
        <p:nvSpPr>
          <p:cNvPr id="11" name="Tool purpose"/>
          <p:cNvSpPr txBox="1"/>
          <p:nvPr/>
        </p:nvSpPr>
        <p:spPr>
          <a:xfrm>
            <a:off x="5669280" y="1920240"/>
            <a:ext cx="5980176" cy="411480"/>
          </a:xfrm>
          <a:prstGeom prst="rect">
            <a:avLst/>
          </a:prstGeom>
          <a:noFill/>
        </p:spPr>
        <p:txBody>
          <a:bodyPr wrap="square" lIns="0" tIns="0" rIns="0" bIns="0" anchor="t">
            <a:spAutoFit/>
          </a:bodyPr>
          <a:lstStyle/>
          <a:p>
            <a:r>
              <a:rPr sz="1600" b="0">
                <a:solidFill>
                  <a:srgbClr val="585858"/>
                </a:solidFill>
                <a:latin typeface="Arial"/>
              </a:rPr>
              <a:t>Nhiều điều kiện, dừng ở điều kiện ĐÚNG ĐẦU TIÊN.</a:t>
            </a:r>
          </a:p>
        </p:txBody>
      </p:sp>
      <p:sp>
        <p:nvSpPr>
          <p:cNvPr id="12" name="Formula bar"/>
          <p:cNvSpPr/>
          <p:nvPr/>
        </p:nvSpPr>
        <p:spPr>
          <a:xfrm>
            <a:off x="5669280" y="2377440"/>
            <a:ext cx="5980176"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p:cNvSpPr txBox="1"/>
          <p:nvPr/>
        </p:nvSpPr>
        <p:spPr>
          <a:xfrm>
            <a:off x="5760720" y="23774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14" name="Formula"/>
          <p:cNvSpPr txBox="1"/>
          <p:nvPr/>
        </p:nvSpPr>
        <p:spPr>
          <a:xfrm>
            <a:off x="6217920" y="2377440"/>
            <a:ext cx="5340096" cy="411480"/>
          </a:xfrm>
          <a:prstGeom prst="rect">
            <a:avLst/>
          </a:prstGeom>
          <a:noFill/>
        </p:spPr>
        <p:txBody>
          <a:bodyPr wrap="square" lIns="0" tIns="0" rIns="0" bIns="0" anchor="ctr">
            <a:spAutoFit/>
          </a:bodyPr>
          <a:lstStyle/>
          <a:p>
            <a:r>
              <a:rPr sz="1400" b="0">
                <a:solidFill>
                  <a:srgbClr val="1B2230"/>
                </a:solidFill>
                <a:latin typeface="Arial"/>
              </a:rPr>
              <a:t>=IFS(D2&gt;=100000,"Cao",D2&gt;=30000,"Trung",TRUE,"Thấp")</a:t>
            </a:r>
          </a:p>
        </p:txBody>
      </p:sp>
      <p:pic>
        <p:nvPicPr>
          <p:cNvPr id="15" name="Screenshot S07_if_ifs" descr="S07_if_ifs.png"/>
          <p:cNvPicPr>
            <a:picLocks noChangeAspect="1"/>
          </p:cNvPicPr>
          <p:nvPr/>
        </p:nvPicPr>
        <p:blipFill>
          <a:blip r:embed="rId3"/>
          <a:stretch>
            <a:fillRect/>
          </a:stretch>
        </p:blipFill>
        <p:spPr>
          <a:xfrm>
            <a:off x="1527048" y="3024365"/>
            <a:ext cx="10122408" cy="1997989"/>
          </a:xfrm>
          <a:prstGeom prst="rect">
            <a:avLst/>
          </a:prstGeom>
          <a:ln w="9525">
            <a:solidFill>
              <a:srgbClr val="D9DEE8"/>
            </a:solidFill>
          </a:ln>
        </p:spPr>
      </p:pic>
      <p:sp>
        <p:nvSpPr>
          <p:cNvPr id="16" name="TIP callout"/>
          <p:cNvSpPr/>
          <p:nvPr/>
        </p:nvSpPr>
        <p:spPr>
          <a:xfrm>
            <a:off x="1527048" y="516636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p:cNvSpPr txBox="1"/>
          <p:nvPr/>
        </p:nvSpPr>
        <p:spPr>
          <a:xfrm>
            <a:off x="1636776" y="527608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8" name="TIP text"/>
          <p:cNvSpPr txBox="1"/>
          <p:nvPr/>
        </p:nvSpPr>
        <p:spPr>
          <a:xfrm>
            <a:off x="2212848" y="5257800"/>
            <a:ext cx="9326880" cy="685800"/>
          </a:xfrm>
          <a:prstGeom prst="rect">
            <a:avLst/>
          </a:prstGeom>
          <a:noFill/>
        </p:spPr>
        <p:txBody>
          <a:bodyPr wrap="square" lIns="0" tIns="0" rIns="0" bIns="0" anchor="t">
            <a:spAutoFit/>
          </a:bodyPr>
          <a:lstStyle/>
          <a:p>
            <a:r>
              <a:rPr sz="1600" b="0">
                <a:solidFill>
                  <a:srgbClr val="1B2230"/>
                </a:solidFill>
                <a:latin typeface="Arial"/>
              </a:rPr>
              <a:t>IFS xét từ trái sang phải: đặt ngưỡng cao trước. TRUE ở cuối = “các trường hợp còn lại”. Ô trống được tính là 0 → P041 chưa có giá vẫn ra “Thấp”.</a:t>
            </a:r>
          </a:p>
        </p:txBody>
      </p:sp>
      <p:sp>
        <p:nvSpPr>
          <p:cNvPr id="19"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Demo/B2_Demo_Logic.xlsx, sheet Demo_IF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 OR · NOT</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1 · HÀM LOGIC</a:t>
            </a:r>
          </a:p>
        </p:txBody>
      </p:sp>
      <p:sp>
        <p:nvSpPr>
          <p:cNvPr id="4" name="Tool name"/>
          <p:cNvSpPr txBox="1"/>
          <p:nvPr/>
        </p:nvSpPr>
        <p:spPr>
          <a:xfrm>
            <a:off x="1527048" y="1463040"/>
            <a:ext cx="3163824" cy="457200"/>
          </a:xfrm>
          <a:prstGeom prst="rect">
            <a:avLst/>
          </a:prstGeom>
          <a:noFill/>
        </p:spPr>
        <p:txBody>
          <a:bodyPr wrap="square" lIns="0" tIns="0" rIns="0" bIns="0" anchor="t">
            <a:spAutoFit/>
          </a:bodyPr>
          <a:lstStyle/>
          <a:p>
            <a:r>
              <a:rPr sz="2400" b="1">
                <a:solidFill>
                  <a:srgbClr val="C00000"/>
                </a:solidFill>
                <a:latin typeface="Arial"/>
              </a:rPr>
              <a:t>AND</a:t>
            </a:r>
          </a:p>
        </p:txBody>
      </p:sp>
      <p:sp>
        <p:nvSpPr>
          <p:cNvPr id="5" name="Tool purpose"/>
          <p:cNvSpPr txBox="1"/>
          <p:nvPr/>
        </p:nvSpPr>
        <p:spPr>
          <a:xfrm>
            <a:off x="1527048" y="1920240"/>
            <a:ext cx="3163824" cy="640080"/>
          </a:xfrm>
          <a:prstGeom prst="rect">
            <a:avLst/>
          </a:prstGeom>
          <a:noFill/>
        </p:spPr>
        <p:txBody>
          <a:bodyPr wrap="square" lIns="0" tIns="0" rIns="0" bIns="0" anchor="t">
            <a:spAutoFit/>
          </a:bodyPr>
          <a:lstStyle/>
          <a:p>
            <a:r>
              <a:rPr sz="1600" b="0">
                <a:solidFill>
                  <a:srgbClr val="585858"/>
                </a:solidFill>
                <a:latin typeface="Arial"/>
              </a:rPr>
              <a:t>TRUE khi MỌI điều kiện đúng.</a:t>
            </a:r>
          </a:p>
        </p:txBody>
      </p:sp>
      <p:sp>
        <p:nvSpPr>
          <p:cNvPr id="6" name="Formula bar"/>
          <p:cNvSpPr/>
          <p:nvPr/>
        </p:nvSpPr>
        <p:spPr>
          <a:xfrm>
            <a:off x="1527048" y="2651760"/>
            <a:ext cx="3163824"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65176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651760"/>
            <a:ext cx="2523744" cy="411480"/>
          </a:xfrm>
          <a:prstGeom prst="rect">
            <a:avLst/>
          </a:prstGeom>
          <a:noFill/>
        </p:spPr>
        <p:txBody>
          <a:bodyPr wrap="square" lIns="0" tIns="0" rIns="0" bIns="0" anchor="ctr">
            <a:spAutoFit/>
          </a:bodyPr>
          <a:lstStyle/>
          <a:p>
            <a:r>
              <a:rPr sz="1200" b="0">
                <a:solidFill>
                  <a:srgbClr val="1B2230"/>
                </a:solidFill>
                <a:latin typeface="Arial"/>
              </a:rPr>
              <a:t>=AND(C2="Bánh kẹo",F2&gt;=35%)</a:t>
            </a:r>
          </a:p>
        </p:txBody>
      </p:sp>
      <p:sp>
        <p:nvSpPr>
          <p:cNvPr id="9" name="Stat card"/>
          <p:cNvSpPr/>
          <p:nvPr/>
        </p:nvSpPr>
        <p:spPr>
          <a:xfrm>
            <a:off x="1527048" y="3200400"/>
            <a:ext cx="3163824" cy="685800"/>
          </a:xfrm>
          <a:prstGeom prst="roundRect">
            <a:avLst>
              <a:gd name="adj" fmla="val 1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p:cNvSpPr txBox="1"/>
          <p:nvPr/>
        </p:nvSpPr>
        <p:spPr>
          <a:xfrm>
            <a:off x="1664207" y="3200400"/>
            <a:ext cx="2889504" cy="685800"/>
          </a:xfrm>
          <a:prstGeom prst="rect">
            <a:avLst/>
          </a:prstGeom>
          <a:noFill/>
        </p:spPr>
        <p:txBody>
          <a:bodyPr wrap="square" lIns="0" tIns="0" rIns="0" bIns="0" anchor="ctr">
            <a:spAutoFit/>
          </a:bodyPr>
          <a:lstStyle/>
          <a:p>
            <a:r>
              <a:rPr sz="2600" b="1">
                <a:solidFill>
                  <a:srgbClr val="203864"/>
                </a:solidFill>
                <a:latin typeface="Arial"/>
              </a:rPr>
              <a:t>7  </a:t>
            </a:r>
            <a:r>
              <a:rPr sz="1400" b="0">
                <a:solidFill>
                  <a:srgbClr val="585858"/>
                </a:solidFill>
                <a:latin typeface="Arial"/>
              </a:rPr>
              <a:t>sản phẩm “Ưu tiên Tết”</a:t>
            </a:r>
          </a:p>
        </p:txBody>
      </p:sp>
      <p:cxnSp>
        <p:nvCxnSpPr>
          <p:cNvPr id="11" name="Connector 10"/>
          <p:cNvCxnSpPr/>
          <p:nvPr/>
        </p:nvCxnSpPr>
        <p:spPr>
          <a:xfrm>
            <a:off x="4846320" y="1463040"/>
            <a:ext cx="0" cy="242316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2" name="Tool name"/>
          <p:cNvSpPr txBox="1"/>
          <p:nvPr/>
        </p:nvSpPr>
        <p:spPr>
          <a:xfrm>
            <a:off x="5001768" y="1463040"/>
            <a:ext cx="3163824" cy="457200"/>
          </a:xfrm>
          <a:prstGeom prst="rect">
            <a:avLst/>
          </a:prstGeom>
          <a:noFill/>
        </p:spPr>
        <p:txBody>
          <a:bodyPr wrap="square" lIns="0" tIns="0" rIns="0" bIns="0" anchor="t">
            <a:spAutoFit/>
          </a:bodyPr>
          <a:lstStyle/>
          <a:p>
            <a:r>
              <a:rPr sz="2400" b="1">
                <a:solidFill>
                  <a:srgbClr val="C00000"/>
                </a:solidFill>
                <a:latin typeface="Arial"/>
              </a:rPr>
              <a:t>OR</a:t>
            </a:r>
          </a:p>
        </p:txBody>
      </p:sp>
      <p:sp>
        <p:nvSpPr>
          <p:cNvPr id="13" name="Tool purpose"/>
          <p:cNvSpPr txBox="1"/>
          <p:nvPr/>
        </p:nvSpPr>
        <p:spPr>
          <a:xfrm>
            <a:off x="5001768" y="1920240"/>
            <a:ext cx="3163824" cy="640080"/>
          </a:xfrm>
          <a:prstGeom prst="rect">
            <a:avLst/>
          </a:prstGeom>
          <a:noFill/>
        </p:spPr>
        <p:txBody>
          <a:bodyPr wrap="square" lIns="0" tIns="0" rIns="0" bIns="0" anchor="t">
            <a:spAutoFit/>
          </a:bodyPr>
          <a:lstStyle/>
          <a:p>
            <a:r>
              <a:rPr sz="1600" b="0">
                <a:solidFill>
                  <a:srgbClr val="585858"/>
                </a:solidFill>
                <a:latin typeface="Arial"/>
              </a:rPr>
              <a:t>TRUE khi ÍT NHẤT MỘT điều kiện đúng.</a:t>
            </a:r>
          </a:p>
        </p:txBody>
      </p:sp>
      <p:sp>
        <p:nvSpPr>
          <p:cNvPr id="14" name="Formula bar"/>
          <p:cNvSpPr/>
          <p:nvPr/>
        </p:nvSpPr>
        <p:spPr>
          <a:xfrm>
            <a:off x="5001768" y="2651760"/>
            <a:ext cx="3163824"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p:cNvSpPr txBox="1"/>
          <p:nvPr/>
        </p:nvSpPr>
        <p:spPr>
          <a:xfrm>
            <a:off x="5093207" y="265176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16" name="Formula"/>
          <p:cNvSpPr txBox="1"/>
          <p:nvPr/>
        </p:nvSpPr>
        <p:spPr>
          <a:xfrm>
            <a:off x="5550407" y="2651760"/>
            <a:ext cx="2523744" cy="411480"/>
          </a:xfrm>
          <a:prstGeom prst="rect">
            <a:avLst/>
          </a:prstGeom>
          <a:noFill/>
        </p:spPr>
        <p:txBody>
          <a:bodyPr wrap="square" lIns="0" tIns="0" rIns="0" bIns="0" anchor="ctr">
            <a:spAutoFit/>
          </a:bodyPr>
          <a:lstStyle/>
          <a:p>
            <a:r>
              <a:rPr sz="1200" b="0">
                <a:solidFill>
                  <a:srgbClr val="1B2230"/>
                </a:solidFill>
                <a:latin typeface="Arial"/>
              </a:rPr>
              <a:t>=OR(C2="Sữa",C2="Thực phẩm khô")</a:t>
            </a:r>
          </a:p>
        </p:txBody>
      </p:sp>
      <p:sp>
        <p:nvSpPr>
          <p:cNvPr id="17" name="Stat card"/>
          <p:cNvSpPr/>
          <p:nvPr/>
        </p:nvSpPr>
        <p:spPr>
          <a:xfrm>
            <a:off x="5001768" y="3200400"/>
            <a:ext cx="3163824" cy="685800"/>
          </a:xfrm>
          <a:prstGeom prst="roundRect">
            <a:avLst>
              <a:gd name="adj" fmla="val 1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p:cNvSpPr txBox="1"/>
          <p:nvPr/>
        </p:nvSpPr>
        <p:spPr>
          <a:xfrm>
            <a:off x="5138928" y="3200400"/>
            <a:ext cx="2889504" cy="685800"/>
          </a:xfrm>
          <a:prstGeom prst="rect">
            <a:avLst/>
          </a:prstGeom>
          <a:noFill/>
        </p:spPr>
        <p:txBody>
          <a:bodyPr wrap="square" lIns="0" tIns="0" rIns="0" bIns="0" anchor="ctr">
            <a:spAutoFit/>
          </a:bodyPr>
          <a:lstStyle/>
          <a:p>
            <a:r>
              <a:rPr sz="2600" b="1">
                <a:solidFill>
                  <a:srgbClr val="203864"/>
                </a:solidFill>
                <a:latin typeface="Arial"/>
              </a:rPr>
              <a:t>13  </a:t>
            </a:r>
            <a:r>
              <a:rPr sz="1400" b="0">
                <a:solidFill>
                  <a:srgbClr val="585858"/>
                </a:solidFill>
                <a:latin typeface="Arial"/>
              </a:rPr>
              <a:t>sản phẩm thiết yếu</a:t>
            </a:r>
          </a:p>
        </p:txBody>
      </p:sp>
      <p:cxnSp>
        <p:nvCxnSpPr>
          <p:cNvPr id="19" name="Connector 18"/>
          <p:cNvCxnSpPr/>
          <p:nvPr/>
        </p:nvCxnSpPr>
        <p:spPr>
          <a:xfrm>
            <a:off x="8321040" y="1463040"/>
            <a:ext cx="0" cy="242316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20" name="Tool name"/>
          <p:cNvSpPr txBox="1"/>
          <p:nvPr/>
        </p:nvSpPr>
        <p:spPr>
          <a:xfrm>
            <a:off x="8485632" y="1463040"/>
            <a:ext cx="3163824" cy="457200"/>
          </a:xfrm>
          <a:prstGeom prst="rect">
            <a:avLst/>
          </a:prstGeom>
          <a:noFill/>
        </p:spPr>
        <p:txBody>
          <a:bodyPr wrap="square" lIns="0" tIns="0" rIns="0" bIns="0" anchor="t">
            <a:spAutoFit/>
          </a:bodyPr>
          <a:lstStyle/>
          <a:p>
            <a:r>
              <a:rPr sz="2400" b="1">
                <a:solidFill>
                  <a:srgbClr val="C00000"/>
                </a:solidFill>
                <a:latin typeface="Arial"/>
              </a:rPr>
              <a:t>NOT</a:t>
            </a:r>
          </a:p>
        </p:txBody>
      </p:sp>
      <p:sp>
        <p:nvSpPr>
          <p:cNvPr id="21" name="Tool purpose"/>
          <p:cNvSpPr txBox="1"/>
          <p:nvPr/>
        </p:nvSpPr>
        <p:spPr>
          <a:xfrm>
            <a:off x="8485632" y="1920240"/>
            <a:ext cx="3163824" cy="640080"/>
          </a:xfrm>
          <a:prstGeom prst="rect">
            <a:avLst/>
          </a:prstGeom>
          <a:noFill/>
        </p:spPr>
        <p:txBody>
          <a:bodyPr wrap="square" lIns="0" tIns="0" rIns="0" bIns="0" anchor="t">
            <a:spAutoFit/>
          </a:bodyPr>
          <a:lstStyle/>
          <a:p>
            <a:r>
              <a:rPr sz="1600" b="0">
                <a:solidFill>
                  <a:srgbClr val="585858"/>
                </a:solidFill>
                <a:latin typeface="Arial"/>
              </a:rPr>
              <a:t>Đảo TRUE ↔ FALSE.</a:t>
            </a:r>
          </a:p>
        </p:txBody>
      </p:sp>
      <p:sp>
        <p:nvSpPr>
          <p:cNvPr id="22" name="Formula bar"/>
          <p:cNvSpPr/>
          <p:nvPr/>
        </p:nvSpPr>
        <p:spPr>
          <a:xfrm>
            <a:off x="8485632" y="2651760"/>
            <a:ext cx="3163824"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p:cNvSpPr txBox="1"/>
          <p:nvPr/>
        </p:nvSpPr>
        <p:spPr>
          <a:xfrm>
            <a:off x="8577072" y="265176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24" name="Formula"/>
          <p:cNvSpPr txBox="1"/>
          <p:nvPr/>
        </p:nvSpPr>
        <p:spPr>
          <a:xfrm>
            <a:off x="9034272" y="2651760"/>
            <a:ext cx="2523744" cy="411480"/>
          </a:xfrm>
          <a:prstGeom prst="rect">
            <a:avLst/>
          </a:prstGeom>
          <a:noFill/>
        </p:spPr>
        <p:txBody>
          <a:bodyPr wrap="square" lIns="0" tIns="0" rIns="0" bIns="0" anchor="ctr">
            <a:spAutoFit/>
          </a:bodyPr>
          <a:lstStyle/>
          <a:p>
            <a:r>
              <a:rPr sz="1200" b="0">
                <a:solidFill>
                  <a:srgbClr val="1B2230"/>
                </a:solidFill>
                <a:latin typeface="Arial"/>
              </a:rPr>
              <a:t>=NOT(J2)</a:t>
            </a:r>
          </a:p>
        </p:txBody>
      </p:sp>
      <p:sp>
        <p:nvSpPr>
          <p:cNvPr id="25" name="Stat card"/>
          <p:cNvSpPr/>
          <p:nvPr/>
        </p:nvSpPr>
        <p:spPr>
          <a:xfrm>
            <a:off x="8485632" y="3200400"/>
            <a:ext cx="3163824" cy="685800"/>
          </a:xfrm>
          <a:prstGeom prst="roundRect">
            <a:avLst>
              <a:gd name="adj" fmla="val 1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p:cNvSpPr txBox="1"/>
          <p:nvPr/>
        </p:nvSpPr>
        <p:spPr>
          <a:xfrm>
            <a:off x="8622792" y="3200400"/>
            <a:ext cx="2889504" cy="685800"/>
          </a:xfrm>
          <a:prstGeom prst="rect">
            <a:avLst/>
          </a:prstGeom>
          <a:noFill/>
        </p:spPr>
        <p:txBody>
          <a:bodyPr wrap="square" lIns="0" tIns="0" rIns="0" bIns="0" anchor="ctr">
            <a:spAutoFit/>
          </a:bodyPr>
          <a:lstStyle/>
          <a:p>
            <a:r>
              <a:rPr sz="2600" b="1">
                <a:solidFill>
                  <a:srgbClr val="203864"/>
                </a:solidFill>
                <a:latin typeface="Arial"/>
              </a:rPr>
              <a:t>29  </a:t>
            </a:r>
            <a:r>
              <a:rPr sz="1400" b="0">
                <a:solidFill>
                  <a:srgbClr val="585858"/>
                </a:solidFill>
                <a:latin typeface="Arial"/>
              </a:rPr>
              <a:t>sản phẩm không thiết yếu</a:t>
            </a:r>
          </a:p>
        </p:txBody>
      </p:sp>
      <p:pic>
        <p:nvPicPr>
          <p:cNvPr id="27" name="Screenshot S08_and_or_not" descr="S08_and_or_not.png"/>
          <p:cNvPicPr>
            <a:picLocks noChangeAspect="1"/>
          </p:cNvPicPr>
          <p:nvPr/>
        </p:nvPicPr>
        <p:blipFill>
          <a:blip r:embed="rId3"/>
          <a:stretch>
            <a:fillRect/>
          </a:stretch>
        </p:blipFill>
        <p:spPr>
          <a:xfrm>
            <a:off x="4023484" y="4023360"/>
            <a:ext cx="5129536" cy="1325880"/>
          </a:xfrm>
          <a:prstGeom prst="rect">
            <a:avLst/>
          </a:prstGeom>
          <a:ln w="9525">
            <a:solidFill>
              <a:srgbClr val="D9DEE8"/>
            </a:solidFill>
          </a:ln>
        </p:spPr>
      </p:pic>
      <p:sp>
        <p:nvSpPr>
          <p:cNvPr id="28" name="TIP callout"/>
          <p:cNvSpPr/>
          <p:nvPr/>
        </p:nvSpPr>
        <p:spPr>
          <a:xfrm>
            <a:off x="1527048" y="544068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p:cNvSpPr txBox="1"/>
          <p:nvPr/>
        </p:nvSpPr>
        <p:spPr>
          <a:xfrm>
            <a:off x="1636776" y="555040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30" name="TIP text"/>
          <p:cNvSpPr txBox="1"/>
          <p:nvPr/>
        </p:nvSpPr>
        <p:spPr>
          <a:xfrm>
            <a:off x="2212848" y="5532120"/>
            <a:ext cx="9326880" cy="502920"/>
          </a:xfrm>
          <a:prstGeom prst="rect">
            <a:avLst/>
          </a:prstGeom>
          <a:noFill/>
        </p:spPr>
        <p:txBody>
          <a:bodyPr wrap="square" lIns="0" tIns="0" rIns="0" bIns="0" anchor="t">
            <a:spAutoFit/>
          </a:bodyPr>
          <a:lstStyle/>
          <a:p>
            <a:r>
              <a:rPr sz="1600" b="0">
                <a:solidFill>
                  <a:srgbClr val="1B2230"/>
                </a:solidFill>
                <a:latin typeface="Arial"/>
              </a:rPr>
              <a:t>Thường lồng vào IF để ra nhãn dễ đọc: =IF(AND(C2="Bánh kẹo",F2&gt;=35%),"Ưu tiên",""). Mẹo nhớ: AND khó tính, OR dễ tính.</a:t>
            </a:r>
          </a:p>
        </p:txBody>
      </p:sp>
      <p:sp>
        <p:nvSpPr>
          <p:cNvPr id="31"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Demo/B2_Demo_Logic.xlsx, sheet Demo_IF (cột I, J, 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IFERROR</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1 · HÀM LOGIC</a:t>
            </a:r>
          </a:p>
        </p:txBody>
      </p:sp>
      <p:sp>
        <p:nvSpPr>
          <p:cNvPr id="4" name="Tool name"/>
          <p:cNvSpPr txBox="1"/>
          <p:nvPr/>
        </p:nvSpPr>
        <p:spPr>
          <a:xfrm>
            <a:off x="1527048" y="1463040"/>
            <a:ext cx="10122408" cy="457200"/>
          </a:xfrm>
          <a:prstGeom prst="rect">
            <a:avLst/>
          </a:prstGeom>
          <a:noFill/>
        </p:spPr>
        <p:txBody>
          <a:bodyPr wrap="square" lIns="0" tIns="0" rIns="0" bIns="0" anchor="t">
            <a:spAutoFit/>
          </a:bodyPr>
          <a:lstStyle/>
          <a:p>
            <a:r>
              <a:rPr sz="2400" b="1">
                <a:solidFill>
                  <a:srgbClr val="C00000"/>
                </a:solidFill>
                <a:latin typeface="Arial"/>
              </a:rPr>
              <a:t>IFERROR</a:t>
            </a:r>
          </a:p>
        </p:txBody>
      </p:sp>
      <p:sp>
        <p:nvSpPr>
          <p:cNvPr id="5" name="Tool purpose"/>
          <p:cNvSpPr txBox="1"/>
          <p:nvPr/>
        </p:nvSpPr>
        <p:spPr>
          <a:xfrm>
            <a:off x="1527048" y="1920240"/>
            <a:ext cx="10122408" cy="411480"/>
          </a:xfrm>
          <a:prstGeom prst="rect">
            <a:avLst/>
          </a:prstGeom>
          <a:noFill/>
        </p:spPr>
        <p:txBody>
          <a:bodyPr wrap="square" lIns="0" tIns="0" rIns="0" bIns="0" anchor="t">
            <a:spAutoFit/>
          </a:bodyPr>
          <a:lstStyle/>
          <a:p>
            <a:r>
              <a:rPr sz="1600" b="0">
                <a:solidFill>
                  <a:srgbClr val="585858"/>
                </a:solidFill>
                <a:latin typeface="Arial"/>
              </a:rPr>
              <a:t>Nếu công thức ra lỗi thì trả về giá trị thay thế.</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3774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tIns="0" rIns="0" bIns="0" anchor="ctr">
            <a:spAutoFit/>
          </a:bodyPr>
          <a:lstStyle/>
          <a:p>
            <a:r>
              <a:rPr sz="1600" b="0">
                <a:solidFill>
                  <a:srgbClr val="1B2230"/>
                </a:solidFill>
                <a:latin typeface="Arial"/>
              </a:rPr>
              <a:t>=IFERROR((D2-E2)/D2,"Chưa có giá")</a:t>
            </a:r>
          </a:p>
        </p:txBody>
      </p:sp>
      <p:pic>
        <p:nvPicPr>
          <p:cNvPr id="9" name="Screenshot S09_iferror" descr="S09_iferror.png"/>
          <p:cNvPicPr>
            <a:picLocks noChangeAspect="1"/>
          </p:cNvPicPr>
          <p:nvPr/>
        </p:nvPicPr>
        <p:blipFill>
          <a:blip r:embed="rId3"/>
          <a:stretch>
            <a:fillRect/>
          </a:stretch>
        </p:blipFill>
        <p:spPr>
          <a:xfrm>
            <a:off x="1527048" y="3059149"/>
            <a:ext cx="7406640" cy="1334061"/>
          </a:xfrm>
          <a:prstGeom prst="rect">
            <a:avLst/>
          </a:prstGeom>
          <a:ln w="9525">
            <a:solidFill>
              <a:srgbClr val="D9DEE8"/>
            </a:solidFill>
          </a:ln>
        </p:spPr>
      </p:pic>
      <p:sp>
        <p:nvSpPr>
          <p:cNvPr id="10" name="TIP callout"/>
          <p:cNvSpPr/>
          <p:nvPr/>
        </p:nvSpPr>
        <p:spPr>
          <a:xfrm>
            <a:off x="8933688" y="3017520"/>
            <a:ext cx="2715768" cy="13716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p:cNvSpPr txBox="1"/>
          <p:nvPr/>
        </p:nvSpPr>
        <p:spPr>
          <a:xfrm>
            <a:off x="9043415" y="312724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2" name="TIP text"/>
          <p:cNvSpPr txBox="1"/>
          <p:nvPr/>
        </p:nvSpPr>
        <p:spPr>
          <a:xfrm>
            <a:off x="9619488" y="3108960"/>
            <a:ext cx="1920240" cy="1188720"/>
          </a:xfrm>
          <a:prstGeom prst="rect">
            <a:avLst/>
          </a:prstGeom>
          <a:noFill/>
        </p:spPr>
        <p:txBody>
          <a:bodyPr wrap="square" lIns="0" tIns="0" rIns="0" bIns="0" anchor="t">
            <a:spAutoFit/>
          </a:bodyPr>
          <a:lstStyle/>
          <a:p>
            <a:r>
              <a:rPr sz="1600" b="0">
                <a:solidFill>
                  <a:srgbClr val="1B2230"/>
                </a:solidFill>
                <a:latin typeface="Arial"/>
              </a:rPr>
              <a:t>Có giá (25.000) → mọi cột tự tính lại: 44,0%.</a:t>
            </a:r>
          </a:p>
        </p:txBody>
      </p:sp>
      <p:sp>
        <p:nvSpPr>
          <p:cNvPr id="13" name="PRO TIP callout"/>
          <p:cNvSpPr/>
          <p:nvPr/>
        </p:nvSpPr>
        <p:spPr>
          <a:xfrm>
            <a:off x="1527048" y="457200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 TIP chip"/>
          <p:cNvSpPr/>
          <p:nvPr/>
        </p:nvSpPr>
        <p:spPr>
          <a:xfrm>
            <a:off x="1636776" y="46817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B2230"/>
                </a:solidFill>
                <a:latin typeface="Arial"/>
              </a:rPr>
              <a:t>PRO TIP</a:t>
            </a:r>
          </a:p>
        </p:txBody>
      </p:sp>
      <p:sp>
        <p:nvSpPr>
          <p:cNvPr id="15" name="PRO TIP text"/>
          <p:cNvSpPr txBox="1"/>
          <p:nvPr/>
        </p:nvSpPr>
        <p:spPr>
          <a:xfrm>
            <a:off x="2734056" y="4663440"/>
            <a:ext cx="8805672" cy="731520"/>
          </a:xfrm>
          <a:prstGeom prst="rect">
            <a:avLst/>
          </a:prstGeom>
          <a:noFill/>
        </p:spPr>
        <p:txBody>
          <a:bodyPr wrap="square" lIns="0" tIns="0" rIns="0" bIns="0" anchor="t">
            <a:spAutoFit/>
          </a:bodyPr>
          <a:lstStyle/>
          <a:p>
            <a:r>
              <a:rPr sz="1600" b="0">
                <a:solidFill>
                  <a:srgbClr val="1B2230"/>
                </a:solidFill>
                <a:latin typeface="Arial"/>
              </a:rPr>
              <a:t>IFERROR CHE lỗi chứ không SỬA lỗi. Thay bằng chữ có nghĩa, đừng thay bằng 0: “0%” là con số sai trông như thật.</a:t>
            </a:r>
          </a:p>
        </p:txBody>
      </p:sp>
      <p:sp>
        <p:nvSpPr>
          <p:cNvPr id="16"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Demo/B2_Demo_Logic.xlsx, sheet Demo_IF, dòng 42–43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Thống kê mô tả: một con số “trung bình” có thể nói dối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Thống kê mô tả: trung bình hay trung vị?</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2 · THỐNG KÊ</a:t>
            </a:r>
          </a:p>
        </p:txBody>
      </p:sp>
      <p:sp>
        <p:nvSpPr>
          <p:cNvPr id="4" name="Tool name"/>
          <p:cNvSpPr txBox="1"/>
          <p:nvPr/>
        </p:nvSpPr>
        <p:spPr>
          <a:xfrm>
            <a:off x="1527048" y="1463040"/>
            <a:ext cx="3163824" cy="457200"/>
          </a:xfrm>
          <a:prstGeom prst="rect">
            <a:avLst/>
          </a:prstGeom>
          <a:noFill/>
        </p:spPr>
        <p:txBody>
          <a:bodyPr wrap="square" lIns="0" tIns="0" rIns="0" bIns="0" anchor="t">
            <a:spAutoFit/>
          </a:bodyPr>
          <a:lstStyle/>
          <a:p>
            <a:r>
              <a:rPr sz="2000" b="1">
                <a:solidFill>
                  <a:srgbClr val="C00000"/>
                </a:solidFill>
                <a:latin typeface="Arial"/>
              </a:rPr>
              <a:t>COUNT / COUNTA</a:t>
            </a:r>
          </a:p>
        </p:txBody>
      </p:sp>
      <p:sp>
        <p:nvSpPr>
          <p:cNvPr id="5" name="Tool purpose"/>
          <p:cNvSpPr txBox="1"/>
          <p:nvPr/>
        </p:nvSpPr>
        <p:spPr>
          <a:xfrm>
            <a:off x="1527048" y="1920240"/>
            <a:ext cx="3163824" cy="411480"/>
          </a:xfrm>
          <a:prstGeom prst="rect">
            <a:avLst/>
          </a:prstGeom>
          <a:noFill/>
        </p:spPr>
        <p:txBody>
          <a:bodyPr wrap="square" lIns="0" tIns="0" rIns="0" bIns="0" anchor="t">
            <a:spAutoFit/>
          </a:bodyPr>
          <a:lstStyle/>
          <a:p>
            <a:r>
              <a:rPr sz="1600" b="0">
                <a:solidFill>
                  <a:srgbClr val="585858"/>
                </a:solidFill>
                <a:latin typeface="Arial"/>
              </a:rPr>
              <a:t>Đếm ô số / ô không trống.</a:t>
            </a:r>
          </a:p>
        </p:txBody>
      </p:sp>
      <p:cxnSp>
        <p:nvCxnSpPr>
          <p:cNvPr id="6" name="Connector 5"/>
          <p:cNvCxnSpPr/>
          <p:nvPr/>
        </p:nvCxnSpPr>
        <p:spPr>
          <a:xfrm>
            <a:off x="484632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5001768" y="1463040"/>
            <a:ext cx="3163824" cy="457200"/>
          </a:xfrm>
          <a:prstGeom prst="rect">
            <a:avLst/>
          </a:prstGeom>
          <a:noFill/>
        </p:spPr>
        <p:txBody>
          <a:bodyPr wrap="square" lIns="0" tIns="0" rIns="0" bIns="0" anchor="t">
            <a:spAutoFit/>
          </a:bodyPr>
          <a:lstStyle/>
          <a:p>
            <a:r>
              <a:rPr sz="2000" b="1">
                <a:solidFill>
                  <a:srgbClr val="C00000"/>
                </a:solidFill>
                <a:latin typeface="Arial"/>
              </a:rPr>
              <a:t>AVERAGE vs MEDIAN</a:t>
            </a:r>
          </a:p>
        </p:txBody>
      </p:sp>
      <p:sp>
        <p:nvSpPr>
          <p:cNvPr id="8" name="Tool purpose"/>
          <p:cNvSpPr txBox="1"/>
          <p:nvPr/>
        </p:nvSpPr>
        <p:spPr>
          <a:xfrm>
            <a:off x="5001768" y="1920240"/>
            <a:ext cx="3163824" cy="411480"/>
          </a:xfrm>
          <a:prstGeom prst="rect">
            <a:avLst/>
          </a:prstGeom>
          <a:noFill/>
        </p:spPr>
        <p:txBody>
          <a:bodyPr wrap="square" lIns="0" tIns="0" rIns="0" bIns="0" anchor="t">
            <a:spAutoFit/>
          </a:bodyPr>
          <a:lstStyle/>
          <a:p>
            <a:r>
              <a:rPr sz="1600" b="0">
                <a:solidFill>
                  <a:srgbClr val="585858"/>
                </a:solidFill>
                <a:latin typeface="Arial"/>
              </a:rPr>
              <a:t>Trung bình cộng vs giá trị ở giữa.</a:t>
            </a:r>
          </a:p>
        </p:txBody>
      </p:sp>
      <p:cxnSp>
        <p:nvCxnSpPr>
          <p:cNvPr id="9" name="Connector 8"/>
          <p:cNvCxnSpPr/>
          <p:nvPr/>
        </p:nvCxnSpPr>
        <p:spPr>
          <a:xfrm>
            <a:off x="832104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8476488" y="1463040"/>
            <a:ext cx="3163824" cy="457200"/>
          </a:xfrm>
          <a:prstGeom prst="rect">
            <a:avLst/>
          </a:prstGeom>
          <a:noFill/>
        </p:spPr>
        <p:txBody>
          <a:bodyPr wrap="square" lIns="0" tIns="0" rIns="0" bIns="0" anchor="t">
            <a:spAutoFit/>
          </a:bodyPr>
          <a:lstStyle/>
          <a:p>
            <a:r>
              <a:rPr sz="2000" b="1">
                <a:solidFill>
                  <a:srgbClr val="C00000"/>
                </a:solidFill>
                <a:latin typeface="Arial"/>
              </a:rPr>
              <a:t>MIN / MAX</a:t>
            </a:r>
          </a:p>
        </p:txBody>
      </p:sp>
      <p:sp>
        <p:nvSpPr>
          <p:cNvPr id="11" name="Tool purpose"/>
          <p:cNvSpPr txBox="1"/>
          <p:nvPr/>
        </p:nvSpPr>
        <p:spPr>
          <a:xfrm>
            <a:off x="8476488" y="1920240"/>
            <a:ext cx="3163824" cy="411480"/>
          </a:xfrm>
          <a:prstGeom prst="rect">
            <a:avLst/>
          </a:prstGeom>
          <a:noFill/>
        </p:spPr>
        <p:txBody>
          <a:bodyPr wrap="square" lIns="0" tIns="0" rIns="0" bIns="0" anchor="t">
            <a:spAutoFit/>
          </a:bodyPr>
          <a:lstStyle/>
          <a:p>
            <a:r>
              <a:rPr sz="1600" b="0">
                <a:solidFill>
                  <a:srgbClr val="585858"/>
                </a:solidFill>
                <a:latin typeface="Arial"/>
              </a:rPr>
              <a:t>Nhỏ nhất / lớn nhất.</a:t>
            </a:r>
          </a:p>
        </p:txBody>
      </p:sp>
      <p:sp>
        <p:nvSpPr>
          <p:cNvPr id="12" name="Stat card"/>
          <p:cNvSpPr/>
          <p:nvPr/>
        </p:nvSpPr>
        <p:spPr>
          <a:xfrm>
            <a:off x="1527048" y="2606040"/>
            <a:ext cx="2057400"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p:cNvSpPr txBox="1"/>
          <p:nvPr/>
        </p:nvSpPr>
        <p:spPr>
          <a:xfrm>
            <a:off x="1709928" y="2697480"/>
            <a:ext cx="1691640" cy="1005840"/>
          </a:xfrm>
          <a:prstGeom prst="rect">
            <a:avLst/>
          </a:prstGeom>
          <a:noFill/>
        </p:spPr>
        <p:txBody>
          <a:bodyPr wrap="square" lIns="0" tIns="0" rIns="0" bIns="0" anchor="ctr">
            <a:spAutoFit/>
          </a:bodyPr>
          <a:lstStyle/>
          <a:p>
            <a:r>
              <a:rPr sz="1400" b="0">
                <a:solidFill>
                  <a:srgbClr val="585858"/>
                </a:solidFill>
                <a:latin typeface="Arial"/>
              </a:rPr>
              <a:t>Số đơn Q1/2025</a:t>
            </a:r>
          </a:p>
          <a:p>
            <a:pPr>
              <a:spcBef>
                <a:spcPts val="200"/>
              </a:spcBef>
            </a:pPr>
            <a:r>
              <a:rPr sz="2800" b="1">
                <a:solidFill>
                  <a:srgbClr val="203864"/>
                </a:solidFill>
                <a:latin typeface="Arial"/>
              </a:rPr>
              <a:t>3.144</a:t>
            </a:r>
          </a:p>
          <a:p>
            <a:pPr>
              <a:spcBef>
                <a:spcPts val="200"/>
              </a:spcBef>
            </a:pPr>
            <a:r>
              <a:rPr sz="1400" b="0">
                <a:solidFill>
                  <a:srgbClr val="1B2230"/>
                </a:solidFill>
                <a:latin typeface="Arial"/>
              </a:rPr>
              <a:t>COUNT</a:t>
            </a:r>
          </a:p>
        </p:txBody>
      </p:sp>
      <p:sp>
        <p:nvSpPr>
          <p:cNvPr id="14" name="Stat card"/>
          <p:cNvSpPr/>
          <p:nvPr/>
        </p:nvSpPr>
        <p:spPr>
          <a:xfrm>
            <a:off x="3721608" y="2606040"/>
            <a:ext cx="2240280"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p:cNvSpPr txBox="1"/>
          <p:nvPr/>
        </p:nvSpPr>
        <p:spPr>
          <a:xfrm>
            <a:off x="3904488" y="2697480"/>
            <a:ext cx="1874520" cy="1005840"/>
          </a:xfrm>
          <a:prstGeom prst="rect">
            <a:avLst/>
          </a:prstGeom>
          <a:noFill/>
        </p:spPr>
        <p:txBody>
          <a:bodyPr wrap="square" lIns="0" tIns="0" rIns="0" bIns="0" anchor="ctr">
            <a:spAutoFit/>
          </a:bodyPr>
          <a:lstStyle/>
          <a:p>
            <a:r>
              <a:rPr sz="1400" b="0">
                <a:solidFill>
                  <a:srgbClr val="585858"/>
                </a:solidFill>
                <a:latin typeface="Arial"/>
              </a:rPr>
              <a:t>Trung bình</a:t>
            </a:r>
          </a:p>
          <a:p>
            <a:pPr>
              <a:spcBef>
                <a:spcPts val="200"/>
              </a:spcBef>
            </a:pPr>
            <a:r>
              <a:rPr sz="2800" b="1">
                <a:solidFill>
                  <a:srgbClr val="203864"/>
                </a:solidFill>
                <a:latin typeface="Arial"/>
              </a:rPr>
              <a:t>299.445</a:t>
            </a:r>
          </a:p>
          <a:p>
            <a:pPr>
              <a:spcBef>
                <a:spcPts val="200"/>
              </a:spcBef>
            </a:pPr>
            <a:r>
              <a:rPr sz="1400" b="0">
                <a:solidFill>
                  <a:srgbClr val="1B2230"/>
                </a:solidFill>
                <a:latin typeface="Arial"/>
              </a:rPr>
              <a:t>AVERAGE</a:t>
            </a:r>
          </a:p>
        </p:txBody>
      </p:sp>
      <p:sp>
        <p:nvSpPr>
          <p:cNvPr id="16" name="Stat card"/>
          <p:cNvSpPr/>
          <p:nvPr/>
        </p:nvSpPr>
        <p:spPr>
          <a:xfrm>
            <a:off x="6099048" y="2606040"/>
            <a:ext cx="2240280"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p:cNvSpPr txBox="1"/>
          <p:nvPr/>
        </p:nvSpPr>
        <p:spPr>
          <a:xfrm>
            <a:off x="6281928" y="2697480"/>
            <a:ext cx="1874520" cy="1005840"/>
          </a:xfrm>
          <a:prstGeom prst="rect">
            <a:avLst/>
          </a:prstGeom>
          <a:noFill/>
        </p:spPr>
        <p:txBody>
          <a:bodyPr wrap="square" lIns="0" tIns="0" rIns="0" bIns="0" anchor="ctr">
            <a:spAutoFit/>
          </a:bodyPr>
          <a:lstStyle/>
          <a:p>
            <a:r>
              <a:rPr sz="1400" b="0">
                <a:solidFill>
                  <a:srgbClr val="585858"/>
                </a:solidFill>
                <a:latin typeface="Arial"/>
              </a:rPr>
              <a:t>Trung vị</a:t>
            </a:r>
          </a:p>
          <a:p>
            <a:pPr>
              <a:spcBef>
                <a:spcPts val="200"/>
              </a:spcBef>
            </a:pPr>
            <a:r>
              <a:rPr sz="2800" b="1">
                <a:solidFill>
                  <a:srgbClr val="203864"/>
                </a:solidFill>
                <a:latin typeface="Arial"/>
              </a:rPr>
              <a:t>198.000</a:t>
            </a:r>
          </a:p>
          <a:p>
            <a:pPr>
              <a:spcBef>
                <a:spcPts val="200"/>
              </a:spcBef>
            </a:pPr>
            <a:r>
              <a:rPr sz="1400" b="0">
                <a:solidFill>
                  <a:srgbClr val="1B2230"/>
                </a:solidFill>
                <a:latin typeface="Arial"/>
              </a:rPr>
              <a:t>MEDIAN</a:t>
            </a:r>
          </a:p>
        </p:txBody>
      </p:sp>
      <p:sp>
        <p:nvSpPr>
          <p:cNvPr id="18" name="Stat card"/>
          <p:cNvSpPr/>
          <p:nvPr/>
        </p:nvSpPr>
        <p:spPr>
          <a:xfrm>
            <a:off x="8476488" y="2606040"/>
            <a:ext cx="2761488" cy="11887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p:cNvSpPr txBox="1"/>
          <p:nvPr/>
        </p:nvSpPr>
        <p:spPr>
          <a:xfrm>
            <a:off x="8659367" y="2697480"/>
            <a:ext cx="2395728" cy="1005840"/>
          </a:xfrm>
          <a:prstGeom prst="rect">
            <a:avLst/>
          </a:prstGeom>
          <a:noFill/>
        </p:spPr>
        <p:txBody>
          <a:bodyPr wrap="square" lIns="0" tIns="0" rIns="0" bIns="0" anchor="ctr">
            <a:spAutoFit/>
          </a:bodyPr>
          <a:lstStyle/>
          <a:p>
            <a:r>
              <a:rPr sz="1400" b="0">
                <a:solidFill>
                  <a:srgbClr val="585858"/>
                </a:solidFill>
                <a:latin typeface="Arial"/>
              </a:rPr>
              <a:t>Nhỏ nhất – lớn nhất</a:t>
            </a:r>
          </a:p>
          <a:p>
            <a:pPr>
              <a:spcBef>
                <a:spcPts val="200"/>
              </a:spcBef>
            </a:pPr>
            <a:r>
              <a:rPr sz="2200" b="1">
                <a:solidFill>
                  <a:srgbClr val="203864"/>
                </a:solidFill>
                <a:latin typeface="Arial"/>
              </a:rPr>
              <a:t>10.000 – 2.464.000</a:t>
            </a:r>
          </a:p>
          <a:p>
            <a:pPr>
              <a:spcBef>
                <a:spcPts val="200"/>
              </a:spcBef>
            </a:pPr>
            <a:r>
              <a:rPr sz="1400" b="0">
                <a:solidFill>
                  <a:srgbClr val="1B2230"/>
                </a:solidFill>
                <a:latin typeface="Arial"/>
              </a:rPr>
              <a:t>MIN – MAX</a:t>
            </a:r>
          </a:p>
        </p:txBody>
      </p:sp>
      <p:pic>
        <p:nvPicPr>
          <p:cNvPr id="20" name="Screenshot S11_average_median" descr="S11_average_median.png"/>
          <p:cNvPicPr>
            <a:picLocks noChangeAspect="1"/>
          </p:cNvPicPr>
          <p:nvPr/>
        </p:nvPicPr>
        <p:blipFill>
          <a:blip r:embed="rId3"/>
          <a:stretch>
            <a:fillRect/>
          </a:stretch>
        </p:blipFill>
        <p:spPr>
          <a:xfrm>
            <a:off x="2611055" y="3931920"/>
            <a:ext cx="3867026" cy="2103120"/>
          </a:xfrm>
          <a:prstGeom prst="rect">
            <a:avLst/>
          </a:prstGeom>
          <a:ln w="9525">
            <a:solidFill>
              <a:srgbClr val="D9DEE8"/>
            </a:solidFill>
          </a:ln>
        </p:spPr>
      </p:pic>
      <p:sp>
        <p:nvSpPr>
          <p:cNvPr id="21" name="TIP callout"/>
          <p:cNvSpPr/>
          <p:nvPr/>
        </p:nvSpPr>
        <p:spPr>
          <a:xfrm>
            <a:off x="7726679" y="3931920"/>
            <a:ext cx="3922776" cy="21031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p:cNvSpPr txBox="1"/>
          <p:nvPr/>
        </p:nvSpPr>
        <p:spPr>
          <a:xfrm>
            <a:off x="7836407" y="404164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23" name="TIP text"/>
          <p:cNvSpPr txBox="1"/>
          <p:nvPr/>
        </p:nvSpPr>
        <p:spPr>
          <a:xfrm>
            <a:off x="8412480" y="4023359"/>
            <a:ext cx="3127248" cy="1920239"/>
          </a:xfrm>
          <a:prstGeom prst="rect">
            <a:avLst/>
          </a:prstGeom>
          <a:noFill/>
        </p:spPr>
        <p:txBody>
          <a:bodyPr wrap="square" lIns="0" tIns="0" rIns="0" bIns="0" anchor="t">
            <a:spAutoFit/>
          </a:bodyPr>
          <a:lstStyle/>
          <a:p>
            <a:r>
              <a:rPr sz="1600" b="0">
                <a:solidFill>
                  <a:srgbClr val="1B2230"/>
                </a:solidFill>
                <a:latin typeface="Arial"/>
              </a:rPr>
              <a:t>Trung bình lớn hơn trung vị khoảng 51% → vài đơn rất lớn kéo trung bình lên (lệch phải). Chọn con số theo câu hỏi: “khách thường chi bao nhiêu” → trung vị; AOV nhân ngược ra doanh thu → trung bình.</a:t>
            </a:r>
          </a:p>
        </p:txBody>
      </p:sp>
      <p:sp>
        <p:nvSpPr>
          <p:cNvPr id="24"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Demo/B2_Demo_ThongKe.xlsx, sheet Demo_ThongKe (I2:I6)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STDEV · SKEW · Outlier</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2 · THỐNG KÊ</a:t>
            </a:r>
          </a:p>
        </p:txBody>
      </p:sp>
      <p:sp>
        <p:nvSpPr>
          <p:cNvPr id="4" name="Tool name"/>
          <p:cNvSpPr txBox="1"/>
          <p:nvPr/>
        </p:nvSpPr>
        <p:spPr>
          <a:xfrm>
            <a:off x="1527048" y="1463040"/>
            <a:ext cx="3163824" cy="457200"/>
          </a:xfrm>
          <a:prstGeom prst="rect">
            <a:avLst/>
          </a:prstGeom>
          <a:noFill/>
        </p:spPr>
        <p:txBody>
          <a:bodyPr wrap="square" lIns="0" tIns="0" rIns="0" bIns="0" anchor="t">
            <a:spAutoFit/>
          </a:bodyPr>
          <a:lstStyle/>
          <a:p>
            <a:r>
              <a:rPr sz="2400" b="1">
                <a:solidFill>
                  <a:srgbClr val="C00000"/>
                </a:solidFill>
                <a:latin typeface="Arial"/>
              </a:rPr>
              <a:t>STDEV.S</a:t>
            </a:r>
          </a:p>
        </p:txBody>
      </p:sp>
      <p:sp>
        <p:nvSpPr>
          <p:cNvPr id="5" name="Tool purpose"/>
          <p:cNvSpPr txBox="1"/>
          <p:nvPr/>
        </p:nvSpPr>
        <p:spPr>
          <a:xfrm>
            <a:off x="1527048" y="1920240"/>
            <a:ext cx="3163824" cy="411480"/>
          </a:xfrm>
          <a:prstGeom prst="rect">
            <a:avLst/>
          </a:prstGeom>
          <a:noFill/>
        </p:spPr>
        <p:txBody>
          <a:bodyPr wrap="square" lIns="0" tIns="0" rIns="0" bIns="0" anchor="t">
            <a:spAutoFit/>
          </a:bodyPr>
          <a:lstStyle/>
          <a:p>
            <a:r>
              <a:rPr sz="1600" b="0" dirty="0">
                <a:solidFill>
                  <a:srgbClr val="585858"/>
                </a:solidFill>
                <a:latin typeface="Arial"/>
              </a:rPr>
              <a:t>Độ </a:t>
            </a:r>
            <a:r>
              <a:rPr sz="1600" b="0" dirty="0" err="1">
                <a:solidFill>
                  <a:srgbClr val="585858"/>
                </a:solidFill>
                <a:latin typeface="Arial"/>
              </a:rPr>
              <a:t>phân</a:t>
            </a:r>
            <a:r>
              <a:rPr sz="1600" b="0" dirty="0">
                <a:solidFill>
                  <a:srgbClr val="585858"/>
                </a:solidFill>
                <a:latin typeface="Arial"/>
              </a:rPr>
              <a:t> </a:t>
            </a:r>
            <a:r>
              <a:rPr sz="1600" b="0" dirty="0" err="1">
                <a:solidFill>
                  <a:srgbClr val="585858"/>
                </a:solidFill>
                <a:latin typeface="Arial"/>
              </a:rPr>
              <a:t>tán</a:t>
            </a:r>
            <a:r>
              <a:rPr sz="1600" b="0" dirty="0">
                <a:solidFill>
                  <a:srgbClr val="585858"/>
                </a:solidFill>
                <a:latin typeface="Arial"/>
              </a:rPr>
              <a:t> </a:t>
            </a:r>
            <a:r>
              <a:rPr sz="1600" b="0" dirty="0" err="1">
                <a:solidFill>
                  <a:srgbClr val="585858"/>
                </a:solidFill>
                <a:latin typeface="Arial"/>
              </a:rPr>
              <a:t>quanh</a:t>
            </a:r>
            <a:r>
              <a:rPr sz="1600" b="0" dirty="0">
                <a:solidFill>
                  <a:srgbClr val="585858"/>
                </a:solidFill>
                <a:latin typeface="Arial"/>
              </a:rPr>
              <a:t> </a:t>
            </a:r>
            <a:r>
              <a:rPr sz="1600" b="0" dirty="0" err="1">
                <a:solidFill>
                  <a:srgbClr val="585858"/>
                </a:solidFill>
                <a:latin typeface="Arial"/>
              </a:rPr>
              <a:t>trung</a:t>
            </a:r>
            <a:r>
              <a:rPr sz="1600" b="0" dirty="0">
                <a:solidFill>
                  <a:srgbClr val="585858"/>
                </a:solidFill>
                <a:latin typeface="Arial"/>
              </a:rPr>
              <a:t> </a:t>
            </a:r>
            <a:r>
              <a:rPr sz="1600" b="0" dirty="0" err="1">
                <a:solidFill>
                  <a:srgbClr val="585858"/>
                </a:solidFill>
                <a:latin typeface="Arial"/>
              </a:rPr>
              <a:t>bình</a:t>
            </a:r>
            <a:r>
              <a:rPr sz="1600" b="0" dirty="0">
                <a:solidFill>
                  <a:srgbClr val="585858"/>
                </a:solidFill>
                <a:latin typeface="Arial"/>
              </a:rPr>
              <a:t>.</a:t>
            </a:r>
          </a:p>
        </p:txBody>
      </p:sp>
      <p:cxnSp>
        <p:nvCxnSpPr>
          <p:cNvPr id="6" name="Connector 5"/>
          <p:cNvCxnSpPr/>
          <p:nvPr/>
        </p:nvCxnSpPr>
        <p:spPr>
          <a:xfrm>
            <a:off x="484632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5001768" y="1463040"/>
            <a:ext cx="3163824" cy="457200"/>
          </a:xfrm>
          <a:prstGeom prst="rect">
            <a:avLst/>
          </a:prstGeom>
          <a:noFill/>
        </p:spPr>
        <p:txBody>
          <a:bodyPr wrap="square" lIns="0" tIns="0" rIns="0" bIns="0" anchor="t">
            <a:spAutoFit/>
          </a:bodyPr>
          <a:lstStyle/>
          <a:p>
            <a:r>
              <a:rPr sz="2400" b="1">
                <a:solidFill>
                  <a:srgbClr val="C00000"/>
                </a:solidFill>
                <a:latin typeface="Arial"/>
              </a:rPr>
              <a:t>SKEW</a:t>
            </a:r>
          </a:p>
        </p:txBody>
      </p:sp>
      <p:sp>
        <p:nvSpPr>
          <p:cNvPr id="8" name="Tool purpose"/>
          <p:cNvSpPr txBox="1"/>
          <p:nvPr/>
        </p:nvSpPr>
        <p:spPr>
          <a:xfrm>
            <a:off x="5001768" y="1920240"/>
            <a:ext cx="3163824" cy="411480"/>
          </a:xfrm>
          <a:prstGeom prst="rect">
            <a:avLst/>
          </a:prstGeom>
          <a:noFill/>
        </p:spPr>
        <p:txBody>
          <a:bodyPr wrap="square" lIns="0" tIns="0" rIns="0" bIns="0" anchor="t">
            <a:spAutoFit/>
          </a:bodyPr>
          <a:lstStyle/>
          <a:p>
            <a:r>
              <a:rPr sz="1600" b="0">
                <a:solidFill>
                  <a:srgbClr val="585858"/>
                </a:solidFill>
                <a:latin typeface="Arial"/>
              </a:rPr>
              <a:t>&gt; 0: đuôi dài bên phải.</a:t>
            </a:r>
          </a:p>
        </p:txBody>
      </p:sp>
      <p:cxnSp>
        <p:nvCxnSpPr>
          <p:cNvPr id="9" name="Connector 8"/>
          <p:cNvCxnSpPr/>
          <p:nvPr/>
        </p:nvCxnSpPr>
        <p:spPr>
          <a:xfrm>
            <a:off x="832104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8476488" y="1463040"/>
            <a:ext cx="3163824" cy="457200"/>
          </a:xfrm>
          <a:prstGeom prst="rect">
            <a:avLst/>
          </a:prstGeom>
          <a:noFill/>
        </p:spPr>
        <p:txBody>
          <a:bodyPr wrap="square" lIns="0" tIns="0" rIns="0" bIns="0" anchor="t">
            <a:spAutoFit/>
          </a:bodyPr>
          <a:lstStyle/>
          <a:p>
            <a:r>
              <a:rPr sz="2400" b="1">
                <a:solidFill>
                  <a:srgbClr val="C00000"/>
                </a:solidFill>
                <a:latin typeface="Arial"/>
              </a:rPr>
              <a:t>QUARTILE.INC</a:t>
            </a:r>
          </a:p>
        </p:txBody>
      </p:sp>
      <p:sp>
        <p:nvSpPr>
          <p:cNvPr id="11" name="Tool purpose"/>
          <p:cNvSpPr txBox="1"/>
          <p:nvPr/>
        </p:nvSpPr>
        <p:spPr>
          <a:xfrm>
            <a:off x="8476488" y="1920240"/>
            <a:ext cx="3163824" cy="411480"/>
          </a:xfrm>
          <a:prstGeom prst="rect">
            <a:avLst/>
          </a:prstGeom>
          <a:noFill/>
        </p:spPr>
        <p:txBody>
          <a:bodyPr wrap="square" lIns="0" tIns="0" rIns="0" bIns="0" anchor="t">
            <a:spAutoFit/>
          </a:bodyPr>
          <a:lstStyle/>
          <a:p>
            <a:r>
              <a:rPr sz="1600" b="0">
                <a:solidFill>
                  <a:srgbClr val="585858"/>
                </a:solidFill>
                <a:latin typeface="Arial"/>
              </a:rPr>
              <a:t>Q1, Q3 → ngưỡng outlier.</a:t>
            </a:r>
          </a:p>
        </p:txBody>
      </p:sp>
      <p:cxnSp>
        <p:nvCxnSpPr>
          <p:cNvPr id="12" name="Connector 11"/>
          <p:cNvCxnSpPr/>
          <p:nvPr/>
        </p:nvCxnSpPr>
        <p:spPr>
          <a:xfrm>
            <a:off x="1709928" y="3749039"/>
            <a:ext cx="9756648" cy="0"/>
          </a:xfrm>
          <a:prstGeom prst="line">
            <a:avLst/>
          </a:prstGeom>
          <a:ln w="25400">
            <a:solidFill>
              <a:srgbClr val="C3C7CF"/>
            </a:solidFill>
          </a:ln>
        </p:spPr>
        <p:style>
          <a:lnRef idx="2">
            <a:schemeClr val="accent1"/>
          </a:lnRef>
          <a:fillRef idx="0">
            <a:schemeClr val="accent1"/>
          </a:fillRef>
          <a:effectRef idx="1">
            <a:schemeClr val="accent1"/>
          </a:effectRef>
          <a:fontRef idx="minor">
            <a:schemeClr val="tx1"/>
          </a:fontRef>
        </p:style>
      </p:cxnSp>
      <p:sp>
        <p:nvSpPr>
          <p:cNvPr id="13" name="IQR box"/>
          <p:cNvSpPr/>
          <p:nvPr/>
        </p:nvSpPr>
        <p:spPr>
          <a:xfrm>
            <a:off x="2062339" y="3520439"/>
            <a:ext cx="1278976" cy="457200"/>
          </a:xfrm>
          <a:prstGeom prst="rect">
            <a:avLst/>
          </a:prstGeom>
          <a:solidFill>
            <a:srgbClr val="CDE2FB"/>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2062339" y="3428999"/>
            <a:ext cx="0" cy="640080"/>
          </a:xfrm>
          <a:prstGeom prst="line">
            <a:avLst/>
          </a:prstGeom>
          <a:ln w="15875">
            <a:solidFill>
              <a:srgbClr val="585858"/>
            </a:solidFill>
          </a:ln>
        </p:spPr>
        <p:style>
          <a:lnRef idx="2">
            <a:schemeClr val="accent1"/>
          </a:lnRef>
          <a:fillRef idx="0">
            <a:schemeClr val="accent1"/>
          </a:fillRef>
          <a:effectRef idx="1">
            <a:schemeClr val="accent1"/>
          </a:effectRef>
          <a:fontRef idx="minor">
            <a:schemeClr val="tx1"/>
          </a:fontRef>
        </p:style>
      </p:cxnSp>
      <p:sp>
        <p:nvSpPr>
          <p:cNvPr id="15" name="TextBox"/>
          <p:cNvSpPr txBox="1"/>
          <p:nvPr/>
        </p:nvSpPr>
        <p:spPr>
          <a:xfrm>
            <a:off x="1330819" y="4133087"/>
            <a:ext cx="1463040" cy="548640"/>
          </a:xfrm>
          <a:prstGeom prst="rect">
            <a:avLst/>
          </a:prstGeom>
          <a:noFill/>
        </p:spPr>
        <p:txBody>
          <a:bodyPr wrap="square" lIns="0" tIns="0" rIns="0" bIns="0" anchor="t">
            <a:spAutoFit/>
          </a:bodyPr>
          <a:lstStyle/>
          <a:p>
            <a:pPr algn="ctr"/>
            <a:r>
              <a:rPr sz="1300" b="0">
                <a:solidFill>
                  <a:srgbClr val="585858"/>
                </a:solidFill>
                <a:latin typeface="Arial"/>
              </a:rPr>
              <a:t>Q1
89.000</a:t>
            </a:r>
          </a:p>
        </p:txBody>
      </p:sp>
      <p:cxnSp>
        <p:nvCxnSpPr>
          <p:cNvPr id="16" name="Connector 15"/>
          <p:cNvCxnSpPr/>
          <p:nvPr/>
        </p:nvCxnSpPr>
        <p:spPr>
          <a:xfrm>
            <a:off x="2493944" y="3428999"/>
            <a:ext cx="0" cy="640080"/>
          </a:xfrm>
          <a:prstGeom prst="line">
            <a:avLst/>
          </a:prstGeom>
          <a:ln w="15875">
            <a:solidFill>
              <a:srgbClr val="203864"/>
            </a:solidFill>
          </a:ln>
        </p:spPr>
        <p:style>
          <a:lnRef idx="2">
            <a:schemeClr val="accent1"/>
          </a:lnRef>
          <a:fillRef idx="0">
            <a:schemeClr val="accent1"/>
          </a:fillRef>
          <a:effectRef idx="1">
            <a:schemeClr val="accent1"/>
          </a:effectRef>
          <a:fontRef idx="minor">
            <a:schemeClr val="tx1"/>
          </a:fontRef>
        </p:style>
      </p:cxnSp>
      <p:sp>
        <p:nvSpPr>
          <p:cNvPr id="17" name="TextBox"/>
          <p:cNvSpPr txBox="1"/>
          <p:nvPr/>
        </p:nvSpPr>
        <p:spPr>
          <a:xfrm>
            <a:off x="1762424" y="2834639"/>
            <a:ext cx="1463040" cy="548640"/>
          </a:xfrm>
          <a:prstGeom prst="rect">
            <a:avLst/>
          </a:prstGeom>
          <a:noFill/>
        </p:spPr>
        <p:txBody>
          <a:bodyPr wrap="square" lIns="0" tIns="0" rIns="0" bIns="0" anchor="b">
            <a:spAutoFit/>
          </a:bodyPr>
          <a:lstStyle/>
          <a:p>
            <a:pPr algn="ctr"/>
            <a:r>
              <a:rPr sz="1300" b="1">
                <a:solidFill>
                  <a:srgbClr val="203864"/>
                </a:solidFill>
                <a:latin typeface="Arial"/>
              </a:rPr>
              <a:t>Trung vị
198.000</a:t>
            </a:r>
          </a:p>
        </p:txBody>
      </p:sp>
      <p:cxnSp>
        <p:nvCxnSpPr>
          <p:cNvPr id="18" name="Connector 17"/>
          <p:cNvCxnSpPr/>
          <p:nvPr/>
        </p:nvCxnSpPr>
        <p:spPr>
          <a:xfrm>
            <a:off x="3341315" y="3428999"/>
            <a:ext cx="0" cy="640080"/>
          </a:xfrm>
          <a:prstGeom prst="line">
            <a:avLst/>
          </a:prstGeom>
          <a:ln w="15875">
            <a:solidFill>
              <a:srgbClr val="585858"/>
            </a:solidFill>
          </a:ln>
        </p:spPr>
        <p:style>
          <a:lnRef idx="2">
            <a:schemeClr val="accent1"/>
          </a:lnRef>
          <a:fillRef idx="0">
            <a:schemeClr val="accent1"/>
          </a:fillRef>
          <a:effectRef idx="1">
            <a:schemeClr val="accent1"/>
          </a:effectRef>
          <a:fontRef idx="minor">
            <a:schemeClr val="tx1"/>
          </a:fontRef>
        </p:style>
      </p:cxnSp>
      <p:sp>
        <p:nvSpPr>
          <p:cNvPr id="19" name="TextBox"/>
          <p:cNvSpPr txBox="1"/>
          <p:nvPr/>
        </p:nvSpPr>
        <p:spPr>
          <a:xfrm>
            <a:off x="2609795" y="4133087"/>
            <a:ext cx="1463040" cy="548640"/>
          </a:xfrm>
          <a:prstGeom prst="rect">
            <a:avLst/>
          </a:prstGeom>
          <a:noFill/>
        </p:spPr>
        <p:txBody>
          <a:bodyPr wrap="square" lIns="0" tIns="0" rIns="0" bIns="0" anchor="t">
            <a:spAutoFit/>
          </a:bodyPr>
          <a:lstStyle/>
          <a:p>
            <a:pPr algn="ctr"/>
            <a:r>
              <a:rPr sz="1300" b="0">
                <a:solidFill>
                  <a:srgbClr val="585858"/>
                </a:solidFill>
                <a:latin typeface="Arial"/>
              </a:rPr>
              <a:t>Q3
412.000</a:t>
            </a:r>
          </a:p>
        </p:txBody>
      </p:sp>
      <p:cxnSp>
        <p:nvCxnSpPr>
          <p:cNvPr id="20" name="Connector 19"/>
          <p:cNvCxnSpPr/>
          <p:nvPr/>
        </p:nvCxnSpPr>
        <p:spPr>
          <a:xfrm>
            <a:off x="5259779" y="3428999"/>
            <a:ext cx="0" cy="640080"/>
          </a:xfrm>
          <a:prstGeom prst="line">
            <a:avLst/>
          </a:prstGeom>
          <a:ln w="25400">
            <a:solidFill>
              <a:srgbClr val="9C0006"/>
            </a:solidFill>
          </a:ln>
        </p:spPr>
        <p:style>
          <a:lnRef idx="2">
            <a:schemeClr val="accent1"/>
          </a:lnRef>
          <a:fillRef idx="0">
            <a:schemeClr val="accent1"/>
          </a:fillRef>
          <a:effectRef idx="1">
            <a:schemeClr val="accent1"/>
          </a:effectRef>
          <a:fontRef idx="minor">
            <a:schemeClr val="tx1"/>
          </a:fontRef>
        </p:style>
      </p:cxnSp>
      <p:sp>
        <p:nvSpPr>
          <p:cNvPr id="21" name="TextBox"/>
          <p:cNvSpPr txBox="1"/>
          <p:nvPr/>
        </p:nvSpPr>
        <p:spPr>
          <a:xfrm>
            <a:off x="4528259" y="4133087"/>
            <a:ext cx="1463040" cy="548640"/>
          </a:xfrm>
          <a:prstGeom prst="rect">
            <a:avLst/>
          </a:prstGeom>
          <a:noFill/>
        </p:spPr>
        <p:txBody>
          <a:bodyPr wrap="square" lIns="0" tIns="0" rIns="0" bIns="0" anchor="t">
            <a:spAutoFit/>
          </a:bodyPr>
          <a:lstStyle/>
          <a:p>
            <a:pPr algn="ctr"/>
            <a:r>
              <a:rPr sz="1300" b="1">
                <a:solidFill>
                  <a:srgbClr val="9C0006"/>
                </a:solidFill>
                <a:latin typeface="Arial"/>
              </a:rPr>
              <a:t>Ngưỡng
896.500</a:t>
            </a:r>
          </a:p>
        </p:txBody>
      </p:sp>
      <p:cxnSp>
        <p:nvCxnSpPr>
          <p:cNvPr id="22" name="Connector 21"/>
          <p:cNvCxnSpPr/>
          <p:nvPr/>
        </p:nvCxnSpPr>
        <p:spPr>
          <a:xfrm>
            <a:off x="11466576" y="3428999"/>
            <a:ext cx="0" cy="640080"/>
          </a:xfrm>
          <a:prstGeom prst="line">
            <a:avLst/>
          </a:prstGeom>
          <a:ln w="15875">
            <a:solidFill>
              <a:srgbClr val="585858"/>
            </a:solidFill>
          </a:ln>
        </p:spPr>
        <p:style>
          <a:lnRef idx="2">
            <a:schemeClr val="accent1"/>
          </a:lnRef>
          <a:fillRef idx="0">
            <a:schemeClr val="accent1"/>
          </a:fillRef>
          <a:effectRef idx="1">
            <a:schemeClr val="accent1"/>
          </a:effectRef>
          <a:fontRef idx="minor">
            <a:schemeClr val="tx1"/>
          </a:fontRef>
        </p:style>
      </p:cxnSp>
      <p:sp>
        <p:nvSpPr>
          <p:cNvPr id="23" name="TextBox"/>
          <p:cNvSpPr txBox="1"/>
          <p:nvPr/>
        </p:nvSpPr>
        <p:spPr>
          <a:xfrm>
            <a:off x="10735056" y="4133087"/>
            <a:ext cx="1463040" cy="548640"/>
          </a:xfrm>
          <a:prstGeom prst="rect">
            <a:avLst/>
          </a:prstGeom>
          <a:noFill/>
        </p:spPr>
        <p:txBody>
          <a:bodyPr wrap="square" lIns="0" tIns="0" rIns="0" bIns="0" anchor="t">
            <a:spAutoFit/>
          </a:bodyPr>
          <a:lstStyle/>
          <a:p>
            <a:pPr algn="ctr"/>
            <a:r>
              <a:rPr sz="1300" b="0">
                <a:solidFill>
                  <a:srgbClr val="585858"/>
                </a:solidFill>
                <a:latin typeface="Arial"/>
              </a:rPr>
              <a:t>Max
2.464.000</a:t>
            </a:r>
          </a:p>
        </p:txBody>
      </p:sp>
      <p:sp>
        <p:nvSpPr>
          <p:cNvPr id="24" name="Outlier zone"/>
          <p:cNvSpPr/>
          <p:nvPr/>
        </p:nvSpPr>
        <p:spPr>
          <a:xfrm>
            <a:off x="5259779" y="3474720"/>
            <a:ext cx="6206796" cy="548640"/>
          </a:xfrm>
          <a:prstGeom prst="rect">
            <a:avLst/>
          </a:prstGeom>
          <a:solidFill>
            <a:srgbClr val="FFC7C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p:cNvSpPr txBox="1"/>
          <p:nvPr/>
        </p:nvSpPr>
        <p:spPr>
          <a:xfrm>
            <a:off x="5442659" y="2971799"/>
            <a:ext cx="4572000" cy="411480"/>
          </a:xfrm>
          <a:prstGeom prst="rect">
            <a:avLst/>
          </a:prstGeom>
          <a:noFill/>
        </p:spPr>
        <p:txBody>
          <a:bodyPr wrap="square" lIns="0" tIns="0" rIns="0" bIns="0" anchor="t">
            <a:spAutoFit/>
          </a:bodyPr>
          <a:lstStyle/>
          <a:p>
            <a:r>
              <a:rPr sz="1500" b="1">
                <a:solidFill>
                  <a:srgbClr val="9C0006"/>
                </a:solidFill>
                <a:latin typeface="Arial"/>
              </a:rPr>
              <a:t>138 đơn vượt ngưỡng = Q3 + 1,5 × (Q3 − Q1)</a:t>
            </a:r>
          </a:p>
        </p:txBody>
      </p:sp>
      <p:sp>
        <p:nvSpPr>
          <p:cNvPr id="26" name="TextBox"/>
          <p:cNvSpPr txBox="1"/>
          <p:nvPr/>
        </p:nvSpPr>
        <p:spPr>
          <a:xfrm>
            <a:off x="1527048" y="2331720"/>
            <a:ext cx="10122408" cy="457200"/>
          </a:xfrm>
          <a:prstGeom prst="rect">
            <a:avLst/>
          </a:prstGeom>
          <a:noFill/>
        </p:spPr>
        <p:txBody>
          <a:bodyPr wrap="square" lIns="0" tIns="0" rIns="0" bIns="0" anchor="t">
            <a:spAutoFit/>
          </a:bodyPr>
          <a:lstStyle/>
          <a:p>
            <a:r>
              <a:rPr sz="1700" b="0" dirty="0">
                <a:solidFill>
                  <a:srgbClr val="1B2230"/>
                </a:solidFill>
                <a:latin typeface="Arial"/>
              </a:rPr>
              <a:t>Độ </a:t>
            </a:r>
            <a:r>
              <a:rPr sz="1700" b="0" dirty="0" err="1">
                <a:solidFill>
                  <a:srgbClr val="1B2230"/>
                </a:solidFill>
                <a:latin typeface="Arial"/>
              </a:rPr>
              <a:t>lệch</a:t>
            </a:r>
            <a:r>
              <a:rPr sz="1700" b="0" dirty="0">
                <a:solidFill>
                  <a:srgbClr val="1B2230"/>
                </a:solidFill>
                <a:latin typeface="Arial"/>
              </a:rPr>
              <a:t> </a:t>
            </a:r>
            <a:r>
              <a:rPr sz="1700" b="0" dirty="0" err="1">
                <a:solidFill>
                  <a:srgbClr val="1B2230"/>
                </a:solidFill>
                <a:latin typeface="Arial"/>
              </a:rPr>
              <a:t>chuẩn</a:t>
            </a:r>
            <a:r>
              <a:rPr sz="1700" b="0" dirty="0">
                <a:solidFill>
                  <a:srgbClr val="1B2230"/>
                </a:solidFill>
                <a:latin typeface="Arial"/>
              </a:rPr>
              <a:t> </a:t>
            </a:r>
            <a:r>
              <a:rPr sz="1700" b="1" dirty="0">
                <a:solidFill>
                  <a:srgbClr val="203864"/>
                </a:solidFill>
                <a:latin typeface="Arial"/>
              </a:rPr>
              <a:t>289.919</a:t>
            </a:r>
            <a:r>
              <a:rPr sz="1700" b="0" dirty="0">
                <a:solidFill>
                  <a:srgbClr val="1B2230"/>
                </a:solidFill>
                <a:latin typeface="Arial"/>
              </a:rPr>
              <a:t> (</a:t>
            </a:r>
            <a:r>
              <a:rPr sz="1700" b="0" dirty="0" err="1">
                <a:solidFill>
                  <a:srgbClr val="1B2230"/>
                </a:solidFill>
                <a:latin typeface="Arial"/>
              </a:rPr>
              <a:t>gần</a:t>
            </a:r>
            <a:r>
              <a:rPr sz="1700" b="0" dirty="0">
                <a:solidFill>
                  <a:srgbClr val="1B2230"/>
                </a:solidFill>
                <a:latin typeface="Arial"/>
              </a:rPr>
              <a:t> </a:t>
            </a:r>
            <a:r>
              <a:rPr sz="1700" b="0" dirty="0" err="1">
                <a:solidFill>
                  <a:srgbClr val="1B2230"/>
                </a:solidFill>
                <a:latin typeface="Arial"/>
              </a:rPr>
              <a:t>bằng</a:t>
            </a:r>
            <a:r>
              <a:rPr sz="1700" b="0" dirty="0">
                <a:solidFill>
                  <a:srgbClr val="1B2230"/>
                </a:solidFill>
                <a:latin typeface="Arial"/>
              </a:rPr>
              <a:t> </a:t>
            </a:r>
            <a:r>
              <a:rPr sz="1700" b="0" dirty="0" err="1">
                <a:solidFill>
                  <a:srgbClr val="1B2230"/>
                </a:solidFill>
                <a:latin typeface="Arial"/>
              </a:rPr>
              <a:t>trung</a:t>
            </a:r>
            <a:r>
              <a:rPr sz="1700" b="0" dirty="0">
                <a:solidFill>
                  <a:srgbClr val="1B2230"/>
                </a:solidFill>
                <a:latin typeface="Arial"/>
              </a:rPr>
              <a:t> </a:t>
            </a:r>
            <a:r>
              <a:rPr sz="1700" b="0" dirty="0" err="1">
                <a:solidFill>
                  <a:srgbClr val="1B2230"/>
                </a:solidFill>
                <a:latin typeface="Arial"/>
              </a:rPr>
              <a:t>bình</a:t>
            </a:r>
            <a:r>
              <a:rPr sz="1700" b="0" dirty="0">
                <a:solidFill>
                  <a:srgbClr val="1B2230"/>
                </a:solidFill>
                <a:latin typeface="Arial"/>
              </a:rPr>
              <a:t>) · SKEW </a:t>
            </a:r>
            <a:r>
              <a:rPr sz="1700" b="1" dirty="0">
                <a:solidFill>
                  <a:srgbClr val="203864"/>
                </a:solidFill>
                <a:latin typeface="Arial"/>
              </a:rPr>
              <a:t>1,77</a:t>
            </a:r>
            <a:r>
              <a:rPr sz="1700" b="0" dirty="0">
                <a:solidFill>
                  <a:srgbClr val="1B2230"/>
                </a:solidFill>
                <a:latin typeface="Arial"/>
              </a:rPr>
              <a:t> (</a:t>
            </a:r>
            <a:r>
              <a:rPr sz="1700" b="0" dirty="0" err="1">
                <a:solidFill>
                  <a:srgbClr val="1B2230"/>
                </a:solidFill>
                <a:latin typeface="Arial"/>
              </a:rPr>
              <a:t>lệch</a:t>
            </a:r>
            <a:r>
              <a:rPr sz="1700" b="0" dirty="0">
                <a:solidFill>
                  <a:srgbClr val="1B2230"/>
                </a:solidFill>
                <a:latin typeface="Arial"/>
              </a:rPr>
              <a:t> </a:t>
            </a:r>
            <a:r>
              <a:rPr sz="1700" b="0" dirty="0" err="1">
                <a:solidFill>
                  <a:srgbClr val="1B2230"/>
                </a:solidFill>
                <a:latin typeface="Arial"/>
              </a:rPr>
              <a:t>phải</a:t>
            </a:r>
            <a:r>
              <a:rPr sz="1700" b="0" dirty="0">
                <a:solidFill>
                  <a:srgbClr val="1B2230"/>
                </a:solidFill>
                <a:latin typeface="Arial"/>
              </a:rPr>
              <a:t>)</a:t>
            </a:r>
          </a:p>
        </p:txBody>
      </p:sp>
      <p:pic>
        <p:nvPicPr>
          <p:cNvPr id="27" name="Screenshot S12_stdev_outlier" descr="S12_stdev_outlier.png"/>
          <p:cNvPicPr>
            <a:picLocks noChangeAspect="1"/>
          </p:cNvPicPr>
          <p:nvPr/>
        </p:nvPicPr>
        <p:blipFill>
          <a:blip r:embed="rId3"/>
          <a:stretch>
            <a:fillRect/>
          </a:stretch>
        </p:blipFill>
        <p:spPr>
          <a:xfrm>
            <a:off x="2749869" y="4754880"/>
            <a:ext cx="3589398" cy="1325880"/>
          </a:xfrm>
          <a:prstGeom prst="rect">
            <a:avLst/>
          </a:prstGeom>
          <a:ln w="9525">
            <a:solidFill>
              <a:srgbClr val="D9DEE8"/>
            </a:solidFill>
          </a:ln>
        </p:spPr>
      </p:pic>
      <p:sp>
        <p:nvSpPr>
          <p:cNvPr id="28" name="PRO TIP callout"/>
          <p:cNvSpPr/>
          <p:nvPr/>
        </p:nvSpPr>
        <p:spPr>
          <a:xfrm>
            <a:off x="7726679" y="4754880"/>
            <a:ext cx="3922776" cy="13258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RO TIP chip"/>
          <p:cNvSpPr/>
          <p:nvPr/>
        </p:nvSpPr>
        <p:spPr>
          <a:xfrm>
            <a:off x="7836407" y="486460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B2230"/>
                </a:solidFill>
                <a:latin typeface="Arial"/>
              </a:rPr>
              <a:t>PRO TIP</a:t>
            </a:r>
          </a:p>
        </p:txBody>
      </p:sp>
      <p:sp>
        <p:nvSpPr>
          <p:cNvPr id="30" name="PRO TIP text"/>
          <p:cNvSpPr txBox="1"/>
          <p:nvPr/>
        </p:nvSpPr>
        <p:spPr>
          <a:xfrm>
            <a:off x="8933688" y="4846320"/>
            <a:ext cx="2606040" cy="1143000"/>
          </a:xfrm>
          <a:prstGeom prst="rect">
            <a:avLst/>
          </a:prstGeom>
          <a:noFill/>
        </p:spPr>
        <p:txBody>
          <a:bodyPr wrap="square" lIns="0" tIns="0" rIns="0" bIns="0" anchor="t">
            <a:spAutoFit/>
          </a:bodyPr>
          <a:lstStyle/>
          <a:p>
            <a:r>
              <a:rPr sz="1600" b="0">
                <a:solidFill>
                  <a:srgbClr val="1B2230"/>
                </a:solidFill>
                <a:latin typeface="Arial"/>
              </a:rPr>
              <a:t>Outlier không phải “lỗi để xóa”: có thể là khách mua quà Tết, mua sỉ. Giải thích trước, quyết định sau.</a:t>
            </a:r>
          </a:p>
        </p:txBody>
      </p:sp>
      <p:sp>
        <p:nvSpPr>
          <p:cNvPr id="31"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Demo/B2_Demo_ThongKe.xlsx, sheet Demo_ThongKe (I7:I13)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RANK.EQ</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2 · THỐNG KÊ</a:t>
            </a:r>
          </a:p>
        </p:txBody>
      </p:sp>
      <p:sp>
        <p:nvSpPr>
          <p:cNvPr id="4" name="Tool name"/>
          <p:cNvSpPr txBox="1"/>
          <p:nvPr/>
        </p:nvSpPr>
        <p:spPr>
          <a:xfrm>
            <a:off x="1527048" y="1463040"/>
            <a:ext cx="4937760" cy="457200"/>
          </a:xfrm>
          <a:prstGeom prst="rect">
            <a:avLst/>
          </a:prstGeom>
          <a:noFill/>
        </p:spPr>
        <p:txBody>
          <a:bodyPr wrap="square" lIns="0" tIns="0" rIns="0" bIns="0" anchor="t">
            <a:spAutoFit/>
          </a:bodyPr>
          <a:lstStyle/>
          <a:p>
            <a:r>
              <a:rPr sz="2400" b="1">
                <a:solidFill>
                  <a:srgbClr val="C00000"/>
                </a:solidFill>
                <a:latin typeface="Arial"/>
              </a:rPr>
              <a:t>RANK.EQ</a:t>
            </a:r>
          </a:p>
        </p:txBody>
      </p:sp>
      <p:sp>
        <p:nvSpPr>
          <p:cNvPr id="5" name="Tool purpose"/>
          <p:cNvSpPr txBox="1"/>
          <p:nvPr/>
        </p:nvSpPr>
        <p:spPr>
          <a:xfrm>
            <a:off x="1527048" y="1920240"/>
            <a:ext cx="4937760" cy="640080"/>
          </a:xfrm>
          <a:prstGeom prst="rect">
            <a:avLst/>
          </a:prstGeom>
          <a:noFill/>
        </p:spPr>
        <p:txBody>
          <a:bodyPr wrap="square" lIns="0" tIns="0" rIns="0" bIns="0" anchor="t">
            <a:spAutoFit/>
          </a:bodyPr>
          <a:lstStyle/>
          <a:p>
            <a:r>
              <a:rPr sz="1600" b="0">
                <a:solidFill>
                  <a:srgbClr val="585858"/>
                </a:solidFill>
                <a:latin typeface="Arial"/>
              </a:rPr>
              <a:t>Xếp hạng một giá trị trong danh sách (0 = giảm dần).</a:t>
            </a:r>
          </a:p>
        </p:txBody>
      </p:sp>
      <p:sp>
        <p:nvSpPr>
          <p:cNvPr id="6" name="Formula bar"/>
          <p:cNvSpPr/>
          <p:nvPr/>
        </p:nvSpPr>
        <p:spPr>
          <a:xfrm>
            <a:off x="1527048" y="2606040"/>
            <a:ext cx="493776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6060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606040"/>
            <a:ext cx="4297680" cy="411480"/>
          </a:xfrm>
          <a:prstGeom prst="rect">
            <a:avLst/>
          </a:prstGeom>
          <a:noFill/>
        </p:spPr>
        <p:txBody>
          <a:bodyPr wrap="square" lIns="0" tIns="0" rIns="0" bIns="0" anchor="ctr">
            <a:spAutoFit/>
          </a:bodyPr>
          <a:lstStyle/>
          <a:p>
            <a:r>
              <a:rPr sz="1600" b="0">
                <a:solidFill>
                  <a:srgbClr val="1B2230"/>
                </a:solidFill>
                <a:latin typeface="Arial"/>
              </a:rPr>
              <a:t>=RANK.EQ(D2,$D$2:$D$13,0)</a:t>
            </a:r>
          </a:p>
        </p:txBody>
      </p:sp>
      <p:sp>
        <p:nvSpPr>
          <p:cNvPr id="9" name="TIP callout"/>
          <p:cNvSpPr/>
          <p:nvPr/>
        </p:nvSpPr>
        <p:spPr>
          <a:xfrm>
            <a:off x="1527048" y="3291840"/>
            <a:ext cx="49377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p:cNvSpPr txBox="1"/>
          <p:nvPr/>
        </p:nvSpPr>
        <p:spPr>
          <a:xfrm>
            <a:off x="1636776" y="340156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1" name="TIP text"/>
          <p:cNvSpPr txBox="1"/>
          <p:nvPr/>
        </p:nvSpPr>
        <p:spPr>
          <a:xfrm>
            <a:off x="2212848" y="3383280"/>
            <a:ext cx="4142232" cy="1005840"/>
          </a:xfrm>
          <a:prstGeom prst="rect">
            <a:avLst/>
          </a:prstGeom>
          <a:noFill/>
        </p:spPr>
        <p:txBody>
          <a:bodyPr wrap="square" lIns="0" tIns="0" rIns="0" bIns="0" anchor="t">
            <a:spAutoFit/>
          </a:bodyPr>
          <a:lstStyle/>
          <a:p>
            <a:r>
              <a:rPr sz="1600" b="0">
                <a:solidFill>
                  <a:srgbClr val="1B2230"/>
                </a:solidFill>
                <a:latin typeface="Arial"/>
              </a:rPr>
              <a:t>Vùng xếp hạng phải khóa $ — nếu không, kéo xuống vùng sẽ trôi.</a:t>
            </a:r>
          </a:p>
        </p:txBody>
      </p:sp>
      <p:sp>
        <p:nvSpPr>
          <p:cNvPr id="12" name="TextBox"/>
          <p:cNvSpPr txBox="1"/>
          <p:nvPr/>
        </p:nvSpPr>
        <p:spPr>
          <a:xfrm>
            <a:off x="1527048" y="4663440"/>
            <a:ext cx="4937760" cy="1097280"/>
          </a:xfrm>
          <a:prstGeom prst="rect">
            <a:avLst/>
          </a:prstGeom>
          <a:noFill/>
        </p:spPr>
        <p:txBody>
          <a:bodyPr wrap="square" lIns="0" tIns="0" rIns="0" bIns="0" anchor="t">
            <a:spAutoFit/>
          </a:bodyPr>
          <a:lstStyle/>
          <a:p>
            <a:r>
              <a:rPr sz="1600" b="0">
                <a:solidFill>
                  <a:srgbClr val="585858"/>
                </a:solidFill>
                <a:latin typeface="Arial"/>
              </a:rPr>
              <a:t>Xếp hạng chỉ có nghĩa khi so cùng loại (Mall vs mặt phố, trung tâm vs tỉnh). “Vì sao” → Buổi 3.</a:t>
            </a:r>
          </a:p>
        </p:txBody>
      </p:sp>
      <p:pic>
        <p:nvPicPr>
          <p:cNvPr id="13" name="Screenshot S13_rank" descr="S13_rank.png"/>
          <p:cNvPicPr>
            <a:picLocks noChangeAspect="1"/>
          </p:cNvPicPr>
          <p:nvPr/>
        </p:nvPicPr>
        <p:blipFill>
          <a:blip r:embed="rId3"/>
          <a:stretch>
            <a:fillRect/>
          </a:stretch>
        </p:blipFill>
        <p:spPr>
          <a:xfrm>
            <a:off x="6766560" y="2357351"/>
            <a:ext cx="4882896" cy="2509057"/>
          </a:xfrm>
          <a:prstGeom prst="rect">
            <a:avLst/>
          </a:prstGeom>
          <a:ln w="9525">
            <a:solidFill>
              <a:srgbClr val="D9DEE8"/>
            </a:solidFill>
          </a:ln>
        </p:spPr>
      </p:pic>
      <p:sp>
        <p:nvSpPr>
          <p:cNvPr id="14"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Demo/B2_Demo_ThongKe.xlsx, sheet Demo_RANK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SUMIFS: mỗi tiêu chí là một bộ lọc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Xương sống Chuỗi C: bộ lọc + phép tổng</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3 · SUMIFS</a:t>
            </a:r>
          </a:p>
        </p:txBody>
      </p:sp>
      <p:sp>
        <p:nvSpPr>
          <p:cNvPr id="4" name="Source column"/>
          <p:cNvSpPr/>
          <p:nvPr/>
        </p:nvSpPr>
        <p:spPr>
          <a:xfrm>
            <a:off x="1527048" y="2103120"/>
            <a:ext cx="2377440" cy="237744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p:cNvSpPr txBox="1"/>
          <p:nvPr/>
        </p:nvSpPr>
        <p:spPr>
          <a:xfrm>
            <a:off x="1527048" y="2103120"/>
            <a:ext cx="2377440" cy="2377440"/>
          </a:xfrm>
          <a:prstGeom prst="rect">
            <a:avLst/>
          </a:prstGeom>
          <a:noFill/>
        </p:spPr>
        <p:txBody>
          <a:bodyPr wrap="square" lIns="0" tIns="0" rIns="0" bIns="0" anchor="ctr">
            <a:spAutoFit/>
          </a:bodyPr>
          <a:lstStyle/>
          <a:p>
            <a:pPr algn="ctr"/>
            <a:r>
              <a:rPr sz="1800" b="1">
                <a:solidFill>
                  <a:srgbClr val="203864"/>
                </a:solidFill>
                <a:latin typeface="Arial"/>
              </a:rPr>
              <a:t>tblSales[Revenue]</a:t>
            </a:r>
          </a:p>
          <a:p>
            <a:pPr algn="ctr">
              <a:spcBef>
                <a:spcPts val="1000"/>
              </a:spcBef>
            </a:pPr>
            <a:r>
              <a:rPr sz="1800" b="0">
                <a:solidFill>
                  <a:srgbClr val="1B2230"/>
                </a:solidFill>
                <a:latin typeface="Arial"/>
              </a:rPr>
              <a:t>6.187 dòng</a:t>
            </a:r>
          </a:p>
          <a:p>
            <a:pPr algn="ctr">
              <a:spcBef>
                <a:spcPts val="1000"/>
              </a:spcBef>
            </a:pPr>
            <a:r>
              <a:rPr sz="1800" b="1">
                <a:solidFill>
                  <a:srgbClr val="1B2230"/>
                </a:solidFill>
                <a:latin typeface="Arial"/>
              </a:rPr>
              <a:t>∑ phép tổng</a:t>
            </a:r>
          </a:p>
        </p:txBody>
      </p:sp>
      <p:sp>
        <p:nvSpPr>
          <p:cNvPr id="6" name="Filter 1"/>
          <p:cNvSpPr/>
          <p:nvPr/>
        </p:nvSpPr>
        <p:spPr>
          <a:xfrm>
            <a:off x="4572000" y="2148840"/>
            <a:ext cx="2743200" cy="91440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4572000" y="2148840"/>
            <a:ext cx="2743200" cy="914400"/>
          </a:xfrm>
          <a:prstGeom prst="rect">
            <a:avLst/>
          </a:prstGeom>
          <a:noFill/>
        </p:spPr>
        <p:txBody>
          <a:bodyPr wrap="square" lIns="0" tIns="0" rIns="0" bIns="0" anchor="ctr">
            <a:spAutoFit/>
          </a:bodyPr>
          <a:lstStyle/>
          <a:p>
            <a:pPr algn="ctr"/>
            <a:r>
              <a:rPr sz="1400" b="0">
                <a:solidFill>
                  <a:srgbClr val="585858"/>
                </a:solidFill>
                <a:latin typeface="Arial"/>
              </a:rPr>
              <a:t>Bộ lọc  </a:t>
            </a:r>
            <a:r>
              <a:rPr sz="2000" b="1">
                <a:solidFill>
                  <a:srgbClr val="203864"/>
                </a:solidFill>
                <a:latin typeface="Arial"/>
              </a:rPr>
              <a:t>Vùng = Bắc</a:t>
            </a:r>
          </a:p>
        </p:txBody>
      </p:sp>
      <p:sp>
        <p:nvSpPr>
          <p:cNvPr id="8" name="Filter 2"/>
          <p:cNvSpPr/>
          <p:nvPr/>
        </p:nvSpPr>
        <p:spPr>
          <a:xfrm>
            <a:off x="4572000" y="3429000"/>
            <a:ext cx="2743200" cy="91440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p:cNvSpPr txBox="1"/>
          <p:nvPr/>
        </p:nvSpPr>
        <p:spPr>
          <a:xfrm>
            <a:off x="4572000" y="3429000"/>
            <a:ext cx="2743200" cy="914400"/>
          </a:xfrm>
          <a:prstGeom prst="rect">
            <a:avLst/>
          </a:prstGeom>
          <a:noFill/>
        </p:spPr>
        <p:txBody>
          <a:bodyPr wrap="square" lIns="0" tIns="0" rIns="0" bIns="0" anchor="ctr">
            <a:spAutoFit/>
          </a:bodyPr>
          <a:lstStyle/>
          <a:p>
            <a:pPr algn="ctr"/>
            <a:r>
              <a:rPr sz="1400" b="0">
                <a:solidFill>
                  <a:srgbClr val="585858"/>
                </a:solidFill>
                <a:latin typeface="Arial"/>
              </a:rPr>
              <a:t>Bộ lọc  </a:t>
            </a:r>
            <a:r>
              <a:rPr sz="2000" b="1">
                <a:solidFill>
                  <a:srgbClr val="203864"/>
                </a:solidFill>
                <a:latin typeface="Arial"/>
              </a:rPr>
              <a:t>Tháng = 3</a:t>
            </a:r>
          </a:p>
        </p:txBody>
      </p:sp>
      <p:cxnSp>
        <p:nvCxnSpPr>
          <p:cNvPr id="10" name="Connector 9"/>
          <p:cNvCxnSpPr/>
          <p:nvPr/>
        </p:nvCxnSpPr>
        <p:spPr>
          <a:xfrm flipV="1">
            <a:off x="3977639" y="2606040"/>
            <a:ext cx="594361" cy="68580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315200" y="2606040"/>
            <a:ext cx="1188720" cy="68580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77639" y="3291840"/>
            <a:ext cx="594361"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15200" y="3291840"/>
            <a:ext cx="1188720"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sp>
        <p:nvSpPr>
          <p:cNvPr id="14" name="Result cell"/>
          <p:cNvSpPr/>
          <p:nvPr/>
        </p:nvSpPr>
        <p:spPr>
          <a:xfrm>
            <a:off x="8503920" y="2514600"/>
            <a:ext cx="3145536" cy="155448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p:cNvSpPr txBox="1"/>
          <p:nvPr/>
        </p:nvSpPr>
        <p:spPr>
          <a:xfrm>
            <a:off x="8503920" y="2514600"/>
            <a:ext cx="3145536" cy="1554480"/>
          </a:xfrm>
          <a:prstGeom prst="rect">
            <a:avLst/>
          </a:prstGeom>
          <a:noFill/>
        </p:spPr>
        <p:txBody>
          <a:bodyPr wrap="square" lIns="0" tIns="0" rIns="0" bIns="0" anchor="ctr">
            <a:spAutoFit/>
          </a:bodyPr>
          <a:lstStyle/>
          <a:p>
            <a:pPr algn="ctr"/>
            <a:r>
              <a:rPr sz="1400" b="0">
                <a:solidFill>
                  <a:srgbClr val="CDE2FB"/>
                </a:solidFill>
                <a:latin typeface="Arial"/>
              </a:rPr>
              <a:t>Một ô kết quả</a:t>
            </a:r>
          </a:p>
          <a:p>
            <a:pPr algn="ctr">
              <a:spcBef>
                <a:spcPts val="400"/>
              </a:spcBef>
            </a:pPr>
            <a:r>
              <a:rPr sz="3000" b="1">
                <a:solidFill>
                  <a:srgbClr val="FFFFFF"/>
                </a:solidFill>
                <a:latin typeface="Arial"/>
              </a:rPr>
              <a:t>90.210.000</a:t>
            </a:r>
          </a:p>
        </p:txBody>
      </p:sp>
      <p:graphicFrame>
        <p:nvGraphicFramePr>
          <p:cNvPr id="16" name="Chain C"/>
          <p:cNvGraphicFramePr>
            <a:graphicFrameLocks noGrp="1"/>
          </p:cNvGraphicFramePr>
          <p:nvPr/>
        </p:nvGraphicFramePr>
        <p:xfrm>
          <a:off x="1527048" y="4800600"/>
          <a:ext cx="10122408" cy="768096"/>
        </p:xfrm>
        <a:graphic>
          <a:graphicData uri="http://schemas.openxmlformats.org/drawingml/2006/table">
            <a:tbl>
              <a:tblPr firstRow="1"/>
              <a:tblGrid>
                <a:gridCol w="3374136">
                  <a:extLst>
                    <a:ext uri="{9D8B030D-6E8A-4147-A177-3AD203B41FA5}">
                      <a16:colId xmlns:a16="http://schemas.microsoft.com/office/drawing/2014/main" val="20000"/>
                    </a:ext>
                  </a:extLst>
                </a:gridCol>
                <a:gridCol w="3374136">
                  <a:extLst>
                    <a:ext uri="{9D8B030D-6E8A-4147-A177-3AD203B41FA5}">
                      <a16:colId xmlns:a16="http://schemas.microsoft.com/office/drawing/2014/main" val="20001"/>
                    </a:ext>
                  </a:extLst>
                </a:gridCol>
                <a:gridCol w="3374136">
                  <a:extLst>
                    <a:ext uri="{9D8B030D-6E8A-4147-A177-3AD203B41FA5}">
                      <a16:colId xmlns:a16="http://schemas.microsoft.com/office/drawing/2014/main" val="20002"/>
                    </a:ext>
                  </a:extLst>
                </a:gridCol>
              </a:tblGrid>
              <a:tr h="384048">
                <a:tc>
                  <a:txBody>
                    <a:bodyPr/>
                    <a:lstStyle/>
                    <a:p>
                      <a:pPr algn="ctr"/>
                      <a:r>
                        <a:rPr sz="1700" b="1">
                          <a:solidFill>
                            <a:srgbClr val="FFFFFF"/>
                          </a:solidFill>
                          <a:latin typeface="Arial"/>
                        </a:rPr>
                        <a:t>B2 · SUMIFS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pPr algn="ctr"/>
                      <a:r>
                        <a:rPr sz="1700" b="1">
                          <a:solidFill>
                            <a:srgbClr val="FFFFFF"/>
                          </a:solidFill>
                          <a:latin typeface="Arial"/>
                        </a:rPr>
                        <a:t>B3 · PivotTable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pPr algn="ctr"/>
                      <a:r>
                        <a:rPr sz="1700" b="1">
                          <a:solidFill>
                            <a:srgbClr val="FFFFFF"/>
                          </a:solidFill>
                          <a:latin typeface="Arial"/>
                        </a:rPr>
                        <a:t>B5 ·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384048">
                <a:tc>
                  <a:txBody>
                    <a:bodyPr/>
                    <a:lstStyle/>
                    <a:p>
                      <a:pPr algn="ctr"/>
                      <a:r>
                        <a:rPr sz="1700" b="0">
                          <a:solidFill>
                            <a:srgbClr val="1B2230"/>
                          </a:solidFill>
                          <a:latin typeface="Arial"/>
                        </a:rPr>
                        <a:t>criteria</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700" b="0" dirty="0" err="1">
                          <a:solidFill>
                            <a:srgbClr val="1B2230"/>
                          </a:solidFill>
                          <a:latin typeface="Arial"/>
                        </a:rPr>
                        <a:t>tọa</a:t>
                      </a:r>
                      <a:r>
                        <a:rPr sz="1700" b="0" dirty="0">
                          <a:solidFill>
                            <a:srgbClr val="1B2230"/>
                          </a:solidFill>
                          <a:latin typeface="Arial"/>
                        </a:rPr>
                        <a:t> </a:t>
                      </a:r>
                      <a:r>
                        <a:rPr sz="1700" b="0" dirty="0" err="1">
                          <a:solidFill>
                            <a:srgbClr val="1B2230"/>
                          </a:solidFill>
                          <a:latin typeface="Arial"/>
                        </a:rPr>
                        <a:t>độ</a:t>
                      </a:r>
                      <a:r>
                        <a:rPr sz="1700" b="0" dirty="0">
                          <a:solidFill>
                            <a:srgbClr val="1B2230"/>
                          </a:solidFill>
                          <a:latin typeface="Arial"/>
                        </a:rPr>
                        <a:t> </a:t>
                      </a:r>
                      <a:r>
                        <a:rPr sz="1700" b="0" dirty="0" err="1">
                          <a:solidFill>
                            <a:srgbClr val="1B2230"/>
                          </a:solidFill>
                          <a:latin typeface="Arial"/>
                        </a:rPr>
                        <a:t>ô</a:t>
                      </a:r>
                      <a:r>
                        <a:rPr sz="1700" b="0" dirty="0">
                          <a:solidFill>
                            <a:srgbClr val="1B2230"/>
                          </a:solidFill>
                          <a:latin typeface="Arial"/>
                        </a:rPr>
                        <a:t> Pivot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pPr algn="ctr"/>
                      <a:r>
                        <a:rPr sz="1700" b="0">
                          <a:solidFill>
                            <a:srgbClr val="1B2230"/>
                          </a:solidFill>
                          <a:latin typeface="Arial"/>
                        </a:rPr>
                        <a:t>filter context</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bl>
          </a:graphicData>
        </a:graphic>
      </p:graphicFrame>
      <p:sp>
        <p:nvSpPr>
          <p:cNvPr id="17" name="TextBox"/>
          <p:cNvSpPr txBox="1"/>
          <p:nvPr/>
        </p:nvSpPr>
        <p:spPr>
          <a:xfrm>
            <a:off x="1527048" y="1508760"/>
            <a:ext cx="10122408" cy="457200"/>
          </a:xfrm>
          <a:prstGeom prst="rect">
            <a:avLst/>
          </a:prstGeom>
          <a:noFill/>
        </p:spPr>
        <p:txBody>
          <a:bodyPr wrap="square" lIns="0" tIns="0" rIns="0" bIns="0" anchor="t">
            <a:spAutoFit/>
          </a:bodyPr>
          <a:lstStyle/>
          <a:p>
            <a:r>
              <a:rPr sz="1600" b="0">
                <a:solidFill>
                  <a:srgbClr val="585858"/>
                </a:solidFill>
                <a:latin typeface="Arial"/>
              </a:rPr>
              <a:t>Cùng một ý, ba cái tên. Kiểm chứng: Filter Bắc + tháng 3 → Status Bar Sum = 90.210.000 (635 dòng).</a:t>
            </a:r>
          </a:p>
        </p:txBody>
      </p:sp>
      <p:sp>
        <p:nvSpPr>
          <p:cNvPr id="18"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Hình này dùng lại nguyên vẹn ở B3 và B5 · Demo/B2_Demo_SUMIFS.xlsx, sheet Sales và Demo_SUMIFS (D4)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SUMIFS · COUNTIFS · AVERAGEIFS</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3 · SUMIFS</a:t>
            </a:r>
          </a:p>
        </p:txBody>
      </p:sp>
      <p:graphicFrame>
        <p:nvGraphicFramePr>
          <p:cNvPr id="4" name="Functions"/>
          <p:cNvGraphicFramePr>
            <a:graphicFrameLocks noGrp="1"/>
          </p:cNvGraphicFramePr>
          <p:nvPr/>
        </p:nvGraphicFramePr>
        <p:xfrm>
          <a:off x="1527048" y="1463040"/>
          <a:ext cx="10122408" cy="2633472"/>
        </p:xfrm>
        <a:graphic>
          <a:graphicData uri="http://schemas.openxmlformats.org/drawingml/2006/table">
            <a:tbl>
              <a:tblPr firstRow="1"/>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916168">
                  <a:extLst>
                    <a:ext uri="{9D8B030D-6E8A-4147-A177-3AD203B41FA5}">
                      <a16:colId xmlns:a16="http://schemas.microsoft.com/office/drawing/2014/main" val="20002"/>
                    </a:ext>
                  </a:extLst>
                </a:gridCol>
              </a:tblGrid>
              <a:tr h="658368">
                <a:tc>
                  <a:txBody>
                    <a:bodyPr/>
                    <a:lstStyle/>
                    <a:p>
                      <a:r>
                        <a:rPr sz="1500" b="1">
                          <a:solidFill>
                            <a:srgbClr val="FFFFFF"/>
                          </a:solidFill>
                          <a:latin typeface="Arial"/>
                        </a:rPr>
                        <a:t>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5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500" b="1">
                          <a:solidFill>
                            <a:srgbClr val="FFFFFF"/>
                          </a:solidFill>
                          <a:latin typeface="Arial"/>
                        </a:rPr>
                        <a:t>Ví dụ: Bắc, tháng 3</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658368">
                <a:tc>
                  <a:txBody>
                    <a:bodyPr/>
                    <a:lstStyle/>
                    <a:p>
                      <a:r>
                        <a:rPr sz="1500" b="1">
                          <a:solidFill>
                            <a:srgbClr val="C00000"/>
                          </a:solidFill>
                          <a:latin typeface="Arial"/>
                        </a:rPr>
                        <a:t>SUMIFS</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Tổng có điều kiện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300" b="0">
                          <a:solidFill>
                            <a:srgbClr val="1B2230"/>
                          </a:solidFill>
                          <a:latin typeface="Arial"/>
                        </a:rPr>
                        <a:t>=SUMIFS(tblSales[Revenue],tblSales[Region],"Bắc",tblSales[Thang],3)</a:t>
                      </a:r>
                      <a:r>
                        <a:rPr sz="1500" b="1">
                          <a:solidFill>
                            <a:srgbClr val="203864"/>
                          </a:solidFill>
                          <a:latin typeface="Arial"/>
                        </a:rPr>
                        <a:t>  → 90.210.000</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658368">
                <a:tc>
                  <a:txBody>
                    <a:bodyPr/>
                    <a:lstStyle/>
                    <a:p>
                      <a:r>
                        <a:rPr sz="1500" b="1">
                          <a:solidFill>
                            <a:srgbClr val="C00000"/>
                          </a:solidFill>
                          <a:latin typeface="Arial"/>
                        </a:rPr>
                        <a:t>COUNTIFS</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Đếm có điều kiện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300" b="0">
                          <a:solidFill>
                            <a:srgbClr val="1B2230"/>
                          </a:solidFill>
                          <a:latin typeface="Arial"/>
                        </a:rPr>
                        <a:t>=COUNTIFS(tblSales[Region],"Bắc",tblSales[Thang],3)</a:t>
                      </a:r>
                      <a:r>
                        <a:rPr sz="1500" b="1">
                          <a:solidFill>
                            <a:srgbClr val="203864"/>
                          </a:solidFill>
                          <a:latin typeface="Arial"/>
                        </a:rPr>
                        <a:t>  → 635 dòng</a:t>
                      </a:r>
                      <a:r>
                        <a:rPr sz="1300" b="1">
                          <a:solidFill>
                            <a:srgbClr val="203864"/>
                          </a:solidFill>
                          <a:latin typeface="Arial"/>
                        </a:rPr>
                        <a:t>   + tblSales[Line_No],1 → 321 đơn</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658368">
                <a:tc>
                  <a:txBody>
                    <a:bodyPr/>
                    <a:lstStyle/>
                    <a:p>
                      <a:r>
                        <a:rPr sz="1500" b="1">
                          <a:solidFill>
                            <a:srgbClr val="C00000"/>
                          </a:solidFill>
                          <a:latin typeface="Arial"/>
                        </a:rPr>
                        <a:t>AVERAGEIFS</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Trung bình có điều kiện</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300" b="0">
                          <a:solidFill>
                            <a:srgbClr val="1B2230"/>
                          </a:solidFill>
                          <a:latin typeface="Arial"/>
                        </a:rPr>
                        <a:t>=AVERAGEIFS(tblSales[Revenue],…)</a:t>
                      </a:r>
                      <a:r>
                        <a:rPr sz="1500" b="1">
                          <a:solidFill>
                            <a:srgbClr val="203864"/>
                          </a:solidFill>
                          <a:latin typeface="Arial"/>
                        </a:rPr>
                        <a:t>  → 142.063 / dòng</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bl>
          </a:graphicData>
        </a:graphic>
      </p:graphicFrame>
      <p:sp>
        <p:nvSpPr>
          <p:cNvPr id="5" name="TextBox"/>
          <p:cNvSpPr txBox="1"/>
          <p:nvPr/>
        </p:nvSpPr>
        <p:spPr>
          <a:xfrm>
            <a:off x="1527048" y="4206240"/>
            <a:ext cx="4846320" cy="411480"/>
          </a:xfrm>
          <a:prstGeom prst="rect">
            <a:avLst/>
          </a:prstGeom>
          <a:noFill/>
        </p:spPr>
        <p:txBody>
          <a:bodyPr wrap="square" lIns="0" tIns="0" rIns="0" bIns="0" anchor="t">
            <a:spAutoFit/>
          </a:bodyPr>
          <a:lstStyle/>
          <a:p>
            <a:r>
              <a:rPr sz="1300" b="1">
                <a:solidFill>
                  <a:srgbClr val="3398DA"/>
                </a:solidFill>
                <a:latin typeface="Arial"/>
              </a:rPr>
              <a:t>① </a:t>
            </a:r>
            <a:r>
              <a:rPr sz="1300" b="0">
                <a:solidFill>
                  <a:srgbClr val="1B2230"/>
                </a:solidFill>
                <a:latin typeface="Arial"/>
              </a:rPr>
              <a:t>cột cần cộng (ĐẦU) · </a:t>
            </a:r>
            <a:r>
              <a:rPr sz="1300" b="1">
                <a:solidFill>
                  <a:srgbClr val="3398DA"/>
                </a:solidFill>
                <a:latin typeface="Arial"/>
              </a:rPr>
              <a:t>② </a:t>
            </a:r>
            <a:r>
              <a:rPr sz="1300" b="0">
                <a:solidFill>
                  <a:srgbClr val="1B2230"/>
                </a:solidFill>
                <a:latin typeface="Arial"/>
              </a:rPr>
              <a:t>cặp cột lọc, giá trị · </a:t>
            </a:r>
            <a:r>
              <a:rPr sz="1300" b="1">
                <a:solidFill>
                  <a:srgbClr val="3398DA"/>
                </a:solidFill>
                <a:latin typeface="Arial"/>
              </a:rPr>
              <a:t>③ </a:t>
            </a:r>
            <a:r>
              <a:rPr sz="1300" b="0">
                <a:solidFill>
                  <a:srgbClr val="1B2230"/>
                </a:solidFill>
                <a:latin typeface="Arial"/>
              </a:rPr>
              <a:t>thêm cặp</a:t>
            </a:r>
          </a:p>
        </p:txBody>
      </p:sp>
      <p:pic>
        <p:nvPicPr>
          <p:cNvPr id="6" name="Screenshot S16_sumifs_screentip" descr="S16_sumifs_screentip.png"/>
          <p:cNvPicPr>
            <a:picLocks noChangeAspect="1"/>
          </p:cNvPicPr>
          <p:nvPr/>
        </p:nvPicPr>
        <p:blipFill>
          <a:blip r:embed="rId3"/>
          <a:stretch>
            <a:fillRect/>
          </a:stretch>
        </p:blipFill>
        <p:spPr>
          <a:xfrm>
            <a:off x="1733481" y="4617720"/>
            <a:ext cx="4433453" cy="1463040"/>
          </a:xfrm>
          <a:prstGeom prst="rect">
            <a:avLst/>
          </a:prstGeom>
          <a:ln w="9525">
            <a:solidFill>
              <a:srgbClr val="D9DEE8"/>
            </a:solidFill>
          </a:ln>
        </p:spPr>
      </p:pic>
      <p:sp>
        <p:nvSpPr>
          <p:cNvPr id="7" name="TIP callout"/>
          <p:cNvSpPr/>
          <p:nvPr/>
        </p:nvSpPr>
        <p:spPr>
          <a:xfrm>
            <a:off x="6537960" y="4251960"/>
            <a:ext cx="511149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p:cNvSpPr txBox="1"/>
          <p:nvPr/>
        </p:nvSpPr>
        <p:spPr>
          <a:xfrm>
            <a:off x="6647688" y="436168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9" name="TIP text"/>
          <p:cNvSpPr txBox="1"/>
          <p:nvPr/>
        </p:nvSpPr>
        <p:spPr>
          <a:xfrm>
            <a:off x="7223760" y="4343400"/>
            <a:ext cx="4315968" cy="685800"/>
          </a:xfrm>
          <a:prstGeom prst="rect">
            <a:avLst/>
          </a:prstGeom>
          <a:noFill/>
        </p:spPr>
        <p:txBody>
          <a:bodyPr wrap="square" lIns="0" tIns="0" rIns="0" bIns="0" anchor="t">
            <a:spAutoFit/>
          </a:bodyPr>
          <a:lstStyle/>
          <a:p>
            <a:r>
              <a:rPr sz="1600" b="0">
                <a:solidFill>
                  <a:srgbClr val="1B2230"/>
                </a:solidFill>
                <a:latin typeface="Arial"/>
              </a:rPr>
              <a:t>Dùng cột của Table: các vùng luôn cùng kích thước, không bị #VALUE!.</a:t>
            </a:r>
          </a:p>
        </p:txBody>
      </p:sp>
      <p:sp>
        <p:nvSpPr>
          <p:cNvPr id="10" name="PRO TIP callout"/>
          <p:cNvSpPr/>
          <p:nvPr/>
        </p:nvSpPr>
        <p:spPr>
          <a:xfrm>
            <a:off x="6537960" y="5212080"/>
            <a:ext cx="511149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RO TIP chip"/>
          <p:cNvSpPr/>
          <p:nvPr/>
        </p:nvSpPr>
        <p:spPr>
          <a:xfrm>
            <a:off x="6647688" y="532180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B2230"/>
                </a:solidFill>
                <a:latin typeface="Arial"/>
              </a:rPr>
              <a:t>PRO TIP</a:t>
            </a:r>
          </a:p>
        </p:txBody>
      </p:sp>
      <p:sp>
        <p:nvSpPr>
          <p:cNvPr id="12" name="PRO TIP text"/>
          <p:cNvSpPr txBox="1"/>
          <p:nvPr/>
        </p:nvSpPr>
        <p:spPr>
          <a:xfrm>
            <a:off x="7744968" y="5303520"/>
            <a:ext cx="3794760" cy="685800"/>
          </a:xfrm>
          <a:prstGeom prst="rect">
            <a:avLst/>
          </a:prstGeom>
          <a:noFill/>
        </p:spPr>
        <p:txBody>
          <a:bodyPr wrap="square" lIns="0" tIns="0" rIns="0" bIns="0" anchor="t">
            <a:spAutoFit/>
          </a:bodyPr>
          <a:lstStyle/>
          <a:p>
            <a:r>
              <a:rPr sz="1600" b="0">
                <a:solidFill>
                  <a:srgbClr val="1B2230"/>
                </a:solidFill>
                <a:latin typeface="Arial"/>
              </a:rPr>
              <a:t>Grain là dòng sản phẩm: đếm ĐƠN thì COUNTIFS thêm Line_No = 1.</a:t>
            </a:r>
          </a:p>
        </p:txBody>
      </p:sp>
      <p:sp>
        <p:nvSpPr>
          <p:cNvPr id="13"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Demo/B2_Demo_SUMIFS.xlsx, sheet Demo_SUMIFS (D4:D7)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Bảng KPI 2 chiều · tổng ÷ tổng</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3 · SUMIFS</a:t>
            </a:r>
          </a:p>
        </p:txBody>
      </p:sp>
      <p:sp>
        <p:nvSpPr>
          <p:cNvPr id="4" name="Formula bar"/>
          <p:cNvSpPr/>
          <p:nvPr/>
        </p:nvSpPr>
        <p:spPr>
          <a:xfrm>
            <a:off x="1527048" y="14630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p:cNvSpPr txBox="1"/>
          <p:nvPr/>
        </p:nvSpPr>
        <p:spPr>
          <a:xfrm>
            <a:off x="1618488" y="14630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6" name="Formula"/>
          <p:cNvSpPr txBox="1"/>
          <p:nvPr/>
        </p:nvSpPr>
        <p:spPr>
          <a:xfrm>
            <a:off x="2075688" y="1463040"/>
            <a:ext cx="9482328" cy="411480"/>
          </a:xfrm>
          <a:prstGeom prst="rect">
            <a:avLst/>
          </a:prstGeom>
          <a:noFill/>
        </p:spPr>
        <p:txBody>
          <a:bodyPr wrap="square" lIns="0" tIns="0" rIns="0" bIns="0" anchor="ctr">
            <a:spAutoFit/>
          </a:bodyPr>
          <a:lstStyle/>
          <a:p>
            <a:r>
              <a:rPr sz="1600" b="0">
                <a:solidFill>
                  <a:srgbClr val="1B2230"/>
                </a:solidFill>
                <a:latin typeface="Arial"/>
              </a:rPr>
              <a:t>=SUMIFS(tblSales[Revenue],tblSales[Region],</a:t>
            </a:r>
            <a:r>
              <a:rPr sz="1600" b="1">
                <a:solidFill>
                  <a:srgbClr val="1F6FB2"/>
                </a:solidFill>
                <a:latin typeface="Arial"/>
              </a:rPr>
              <a:t>$A12</a:t>
            </a:r>
            <a:r>
              <a:rPr sz="1600" b="0">
                <a:solidFill>
                  <a:srgbClr val="1B2230"/>
                </a:solidFill>
                <a:latin typeface="Arial"/>
              </a:rPr>
              <a:t>,tblSales[Thang],</a:t>
            </a:r>
            <a:r>
              <a:rPr sz="1600" b="1">
                <a:solidFill>
                  <a:srgbClr val="1F6FB2"/>
                </a:solidFill>
                <a:latin typeface="Arial"/>
              </a:rPr>
              <a:t>B$11</a:t>
            </a:r>
            <a:r>
              <a:rPr sz="1600" b="0">
                <a:solidFill>
                  <a:srgbClr val="1B2230"/>
                </a:solidFill>
                <a:latin typeface="Arial"/>
              </a:rPr>
              <a:t>)</a:t>
            </a:r>
          </a:p>
        </p:txBody>
      </p:sp>
      <p:pic>
        <p:nvPicPr>
          <p:cNvPr id="7" name="Screenshot S17_sumifs_grid" descr="S17_sumifs_grid.png"/>
          <p:cNvPicPr>
            <a:picLocks noChangeAspect="1"/>
          </p:cNvPicPr>
          <p:nvPr/>
        </p:nvPicPr>
        <p:blipFill>
          <a:blip r:embed="rId3"/>
          <a:stretch>
            <a:fillRect/>
          </a:stretch>
        </p:blipFill>
        <p:spPr>
          <a:xfrm>
            <a:off x="1527048" y="2563982"/>
            <a:ext cx="6858000" cy="1318555"/>
          </a:xfrm>
          <a:prstGeom prst="rect">
            <a:avLst/>
          </a:prstGeom>
          <a:ln w="9525">
            <a:solidFill>
              <a:srgbClr val="D9DEE8"/>
            </a:solidFill>
          </a:ln>
        </p:spPr>
      </p:pic>
      <p:sp>
        <p:nvSpPr>
          <p:cNvPr id="8" name="TextBox"/>
          <p:cNvSpPr txBox="1"/>
          <p:nvPr/>
        </p:nvSpPr>
        <p:spPr>
          <a:xfrm>
            <a:off x="1527048" y="4434840"/>
            <a:ext cx="6858000" cy="731520"/>
          </a:xfrm>
          <a:prstGeom prst="rect">
            <a:avLst/>
          </a:prstGeom>
          <a:noFill/>
        </p:spPr>
        <p:txBody>
          <a:bodyPr wrap="square" lIns="0" tIns="0" rIns="0" bIns="0" anchor="t">
            <a:spAutoFit/>
          </a:bodyPr>
          <a:lstStyle/>
          <a:p>
            <a:r>
              <a:rPr sz="1500" b="0">
                <a:solidFill>
                  <a:srgbClr val="585858"/>
                </a:solidFill>
                <a:latin typeface="Arial"/>
              </a:rPr>
              <a:t>Một công thức, kéo ra 9 ô: khóa cột $A (Miền), khóa dòng B$11 (Tháng). Đối soát: Tổng = tổng cột Revenue.</a:t>
            </a:r>
          </a:p>
        </p:txBody>
      </p:sp>
      <p:sp>
        <p:nvSpPr>
          <p:cNvPr id="9" name="Stat card"/>
          <p:cNvSpPr/>
          <p:nvPr/>
        </p:nvSpPr>
        <p:spPr>
          <a:xfrm>
            <a:off x="8595360" y="2103120"/>
            <a:ext cx="305409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p:cNvSpPr txBox="1"/>
          <p:nvPr/>
        </p:nvSpPr>
        <p:spPr>
          <a:xfrm>
            <a:off x="8778240" y="2194560"/>
            <a:ext cx="2688336" cy="1143000"/>
          </a:xfrm>
          <a:prstGeom prst="rect">
            <a:avLst/>
          </a:prstGeom>
          <a:noFill/>
        </p:spPr>
        <p:txBody>
          <a:bodyPr wrap="square" lIns="0" tIns="0" rIns="0" bIns="0" anchor="ctr">
            <a:spAutoFit/>
          </a:bodyPr>
          <a:lstStyle/>
          <a:p>
            <a:r>
              <a:rPr sz="1400" b="0">
                <a:solidFill>
                  <a:srgbClr val="585858"/>
                </a:solidFill>
                <a:latin typeface="Arial"/>
              </a:rPr>
              <a:t>AVERAGE GM% 6 ngành</a:t>
            </a:r>
          </a:p>
          <a:p>
            <a:pPr>
              <a:spcBef>
                <a:spcPts val="200"/>
              </a:spcBef>
            </a:pPr>
            <a:r>
              <a:rPr sz="3000" b="1">
                <a:solidFill>
                  <a:srgbClr val="9C0006"/>
                </a:solidFill>
                <a:latin typeface="Arial"/>
              </a:rPr>
              <a:t>31,2%  ✘</a:t>
            </a:r>
          </a:p>
        </p:txBody>
      </p:sp>
      <p:sp>
        <p:nvSpPr>
          <p:cNvPr id="11" name="Stat card"/>
          <p:cNvSpPr/>
          <p:nvPr/>
        </p:nvSpPr>
        <p:spPr>
          <a:xfrm>
            <a:off x="8595360" y="3520440"/>
            <a:ext cx="305409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p:cNvSpPr txBox="1"/>
          <p:nvPr/>
        </p:nvSpPr>
        <p:spPr>
          <a:xfrm>
            <a:off x="8778240" y="3611880"/>
            <a:ext cx="2688336" cy="1143000"/>
          </a:xfrm>
          <a:prstGeom prst="rect">
            <a:avLst/>
          </a:prstGeom>
          <a:noFill/>
        </p:spPr>
        <p:txBody>
          <a:bodyPr wrap="square" lIns="0" tIns="0" rIns="0" bIns="0" anchor="ctr">
            <a:spAutoFit/>
          </a:bodyPr>
          <a:lstStyle/>
          <a:p>
            <a:r>
              <a:rPr sz="1400" b="0">
                <a:solidFill>
                  <a:srgbClr val="585858"/>
                </a:solidFill>
                <a:latin typeface="Arial"/>
              </a:rPr>
              <a:t>Tổng lãi gộp ÷ tổng doanh thu</a:t>
            </a:r>
          </a:p>
          <a:p>
            <a:pPr>
              <a:spcBef>
                <a:spcPts val="200"/>
              </a:spcBef>
            </a:pPr>
            <a:r>
              <a:rPr sz="3000" b="1">
                <a:solidFill>
                  <a:srgbClr val="2E7D32"/>
                </a:solidFill>
                <a:latin typeface="Arial"/>
              </a:rPr>
              <a:t>34,2%  ✔</a:t>
            </a:r>
          </a:p>
        </p:txBody>
      </p:sp>
      <p:sp>
        <p:nvSpPr>
          <p:cNvPr id="13" name="TIP callout"/>
          <p:cNvSpPr/>
          <p:nvPr/>
        </p:nvSpPr>
        <p:spPr>
          <a:xfrm>
            <a:off x="1527048" y="516636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p:cNvSpPr txBox="1"/>
          <p:nvPr/>
        </p:nvSpPr>
        <p:spPr>
          <a:xfrm>
            <a:off x="1636776" y="527608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5" name="TIP text"/>
          <p:cNvSpPr txBox="1"/>
          <p:nvPr/>
        </p:nvSpPr>
        <p:spPr>
          <a:xfrm>
            <a:off x="2212848" y="5257800"/>
            <a:ext cx="9326880" cy="685800"/>
          </a:xfrm>
          <a:prstGeom prst="rect">
            <a:avLst/>
          </a:prstGeom>
          <a:noFill/>
        </p:spPr>
        <p:txBody>
          <a:bodyPr wrap="square" lIns="0" tIns="0" rIns="0" bIns="0" anchor="t">
            <a:spAutoFit/>
          </a:bodyPr>
          <a:lstStyle/>
          <a:p>
            <a:r>
              <a:rPr sz="1600" b="0">
                <a:solidFill>
                  <a:srgbClr val="1B2230"/>
                </a:solidFill>
                <a:latin typeface="Arial"/>
              </a:rPr>
              <a:t>KPI tỷ lệ (AOV, Margin %) luôn tính TỔNG ÷ TỔNG. Ngành Sữa (16,6 triệu) không được “một phiếu” ngang Bánh kẹo (338,7 triệu).</a:t>
            </a:r>
          </a:p>
        </p:txBody>
      </p:sp>
      <p:sp>
        <p:nvSpPr>
          <p:cNvPr id="16"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Demo/B2_Demo_SUMIFS.xlsx, sheet Demo_SUMIFS (B12:E15, dòng 20–28)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file khởi đầu và B2_Product_DuplicateKey.xlsx</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Nối bảng: lấy thông tin từ bảng khác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VLOOKUP</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4 · LOOKUP</a:t>
            </a:r>
          </a:p>
        </p:txBody>
      </p:sp>
      <p:sp>
        <p:nvSpPr>
          <p:cNvPr id="4" name="Tool name"/>
          <p:cNvSpPr txBox="1"/>
          <p:nvPr/>
        </p:nvSpPr>
        <p:spPr>
          <a:xfrm>
            <a:off x="1527048" y="1463040"/>
            <a:ext cx="10122408" cy="457200"/>
          </a:xfrm>
          <a:prstGeom prst="rect">
            <a:avLst/>
          </a:prstGeom>
          <a:noFill/>
        </p:spPr>
        <p:txBody>
          <a:bodyPr wrap="square" lIns="0" tIns="0" rIns="0" bIns="0" anchor="t">
            <a:spAutoFit/>
          </a:bodyPr>
          <a:lstStyle/>
          <a:p>
            <a:r>
              <a:rPr sz="2400" b="1">
                <a:solidFill>
                  <a:srgbClr val="C00000"/>
                </a:solidFill>
                <a:latin typeface="Arial"/>
              </a:rPr>
              <a:t>VLOOKUP</a:t>
            </a:r>
          </a:p>
        </p:txBody>
      </p:sp>
      <p:sp>
        <p:nvSpPr>
          <p:cNvPr id="5" name="Tool purpose"/>
          <p:cNvSpPr txBox="1"/>
          <p:nvPr/>
        </p:nvSpPr>
        <p:spPr>
          <a:xfrm>
            <a:off x="1527048" y="1920240"/>
            <a:ext cx="10122408" cy="411480"/>
          </a:xfrm>
          <a:prstGeom prst="rect">
            <a:avLst/>
          </a:prstGeom>
          <a:noFill/>
        </p:spPr>
        <p:txBody>
          <a:bodyPr wrap="square" lIns="0" tIns="0" rIns="0" bIns="0" anchor="t">
            <a:spAutoFit/>
          </a:bodyPr>
          <a:lstStyle/>
          <a:p>
            <a:r>
              <a:rPr sz="1600" b="0">
                <a:solidFill>
                  <a:srgbClr val="585858"/>
                </a:solidFill>
                <a:latin typeface="Arial"/>
              </a:rPr>
              <a:t>Tìm ở CỘT ĐẦU của bảng, trả về cột thứ n bên phải.</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3774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tIns="0" rIns="0" bIns="0" anchor="ctr">
            <a:spAutoFit/>
          </a:bodyPr>
          <a:lstStyle/>
          <a:p>
            <a:r>
              <a:rPr sz="1600" b="0">
                <a:solidFill>
                  <a:srgbClr val="1B2230"/>
                </a:solidFill>
                <a:latin typeface="Arial"/>
              </a:rPr>
              <a:t>=VLOOKUP(A2,Product!$A$2:$E$42,5,FALSE)</a:t>
            </a:r>
          </a:p>
        </p:txBody>
      </p:sp>
      <p:pic>
        <p:nvPicPr>
          <p:cNvPr id="9" name="Screenshot S20_vlookup" descr="S20_vlookup.png"/>
          <p:cNvPicPr>
            <a:picLocks noChangeAspect="1"/>
          </p:cNvPicPr>
          <p:nvPr/>
        </p:nvPicPr>
        <p:blipFill>
          <a:blip r:embed="rId3"/>
          <a:stretch>
            <a:fillRect/>
          </a:stretch>
        </p:blipFill>
        <p:spPr>
          <a:xfrm>
            <a:off x="1527048" y="3029725"/>
            <a:ext cx="10122408" cy="2078709"/>
          </a:xfrm>
          <a:prstGeom prst="rect">
            <a:avLst/>
          </a:prstGeom>
          <a:ln w="9525">
            <a:solidFill>
              <a:srgbClr val="D9DEE8"/>
            </a:solidFill>
          </a:ln>
        </p:spPr>
      </p:pic>
      <p:sp>
        <p:nvSpPr>
          <p:cNvPr id="10" name="TIP callout"/>
          <p:cNvSpPr/>
          <p:nvPr/>
        </p:nvSpPr>
        <p:spPr>
          <a:xfrm>
            <a:off x="1527048" y="525780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p:cNvSpPr txBox="1"/>
          <p:nvPr/>
        </p:nvSpPr>
        <p:spPr>
          <a:xfrm>
            <a:off x="1636776" y="536752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2" name="TIP text"/>
          <p:cNvSpPr txBox="1"/>
          <p:nvPr/>
        </p:nvSpPr>
        <p:spPr>
          <a:xfrm>
            <a:off x="2212848" y="5349240"/>
            <a:ext cx="9326880" cy="594359"/>
          </a:xfrm>
          <a:prstGeom prst="rect">
            <a:avLst/>
          </a:prstGeom>
          <a:noFill/>
        </p:spPr>
        <p:txBody>
          <a:bodyPr wrap="square" lIns="0" tIns="0" rIns="0" bIns="0" anchor="t">
            <a:spAutoFit/>
          </a:bodyPr>
          <a:lstStyle/>
          <a:p>
            <a:r>
              <a:rPr sz="1600" b="0">
                <a:solidFill>
                  <a:srgbClr val="1B2230"/>
                </a:solidFill>
                <a:latin typeface="Arial"/>
              </a:rPr>
              <a:t>LUÔN ghi đối số cuối là FALSE (hoặc 0). Bỏ trống = khớp gần đúng: không thấy mã thì lấy mã gần nhất nhỏ hơn (P040), không báo lỗi.</a:t>
            </a:r>
          </a:p>
        </p:txBody>
      </p:sp>
      <p:sp>
        <p:nvSpPr>
          <p:cNvPr id="13"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Demo/B2_Demo_Lookup.xlsx, sheet Demo_VLOOKUP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INDEX / MATCH</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4 · LOOKUP</a:t>
            </a:r>
          </a:p>
        </p:txBody>
      </p:sp>
      <p:sp>
        <p:nvSpPr>
          <p:cNvPr id="4" name="Tool name"/>
          <p:cNvSpPr txBox="1"/>
          <p:nvPr/>
        </p:nvSpPr>
        <p:spPr>
          <a:xfrm>
            <a:off x="1527048" y="1463040"/>
            <a:ext cx="10122408" cy="457200"/>
          </a:xfrm>
          <a:prstGeom prst="rect">
            <a:avLst/>
          </a:prstGeom>
          <a:noFill/>
        </p:spPr>
        <p:txBody>
          <a:bodyPr wrap="square" lIns="0" tIns="0" rIns="0" bIns="0" anchor="t">
            <a:spAutoFit/>
          </a:bodyPr>
          <a:lstStyle/>
          <a:p>
            <a:r>
              <a:rPr sz="2400" b="1">
                <a:solidFill>
                  <a:srgbClr val="C00000"/>
                </a:solidFill>
                <a:latin typeface="Arial"/>
              </a:rPr>
              <a:t>INDEX / MATCH</a:t>
            </a:r>
          </a:p>
        </p:txBody>
      </p:sp>
      <p:sp>
        <p:nvSpPr>
          <p:cNvPr id="5" name="Tool purpose"/>
          <p:cNvSpPr txBox="1"/>
          <p:nvPr/>
        </p:nvSpPr>
        <p:spPr>
          <a:xfrm>
            <a:off x="1527048" y="1920240"/>
            <a:ext cx="10122408" cy="411480"/>
          </a:xfrm>
          <a:prstGeom prst="rect">
            <a:avLst/>
          </a:prstGeom>
          <a:noFill/>
        </p:spPr>
        <p:txBody>
          <a:bodyPr wrap="square" lIns="0" tIns="0" rIns="0" bIns="0" anchor="t">
            <a:spAutoFit/>
          </a:bodyPr>
          <a:lstStyle/>
          <a:p>
            <a:r>
              <a:rPr sz="1600" b="0">
                <a:solidFill>
                  <a:srgbClr val="585858"/>
                </a:solidFill>
                <a:latin typeface="Arial"/>
              </a:rPr>
              <a:t>MATCH tìm VỊ TRÍ, INDEX lấy giá trị Ở VỊ TRÍ ĐÓ.</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3774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tIns="0" rIns="0" bIns="0" anchor="ctr">
            <a:spAutoFit/>
          </a:bodyPr>
          <a:lstStyle/>
          <a:p>
            <a:r>
              <a:rPr sz="1600" b="0">
                <a:solidFill>
                  <a:srgbClr val="1B2230"/>
                </a:solidFill>
                <a:latin typeface="Arial"/>
              </a:rPr>
              <a:t>=INDEX(Product!$E$2:$E$42,MATCH(A2,Product!$A$2:$A$42,0))</a:t>
            </a:r>
          </a:p>
        </p:txBody>
      </p:sp>
      <p:pic>
        <p:nvPicPr>
          <p:cNvPr id="9" name="Screenshot S21_index_match" descr="S21_index_match.png"/>
          <p:cNvPicPr>
            <a:picLocks noChangeAspect="1"/>
          </p:cNvPicPr>
          <p:nvPr/>
        </p:nvPicPr>
        <p:blipFill>
          <a:blip r:embed="rId3"/>
          <a:stretch>
            <a:fillRect/>
          </a:stretch>
        </p:blipFill>
        <p:spPr>
          <a:xfrm>
            <a:off x="1527048" y="3127593"/>
            <a:ext cx="4663440" cy="1882974"/>
          </a:xfrm>
          <a:prstGeom prst="rect">
            <a:avLst/>
          </a:prstGeom>
          <a:ln w="9525">
            <a:solidFill>
              <a:srgbClr val="D9DEE8"/>
            </a:solidFill>
          </a:ln>
        </p:spPr>
      </p:pic>
      <p:sp>
        <p:nvSpPr>
          <p:cNvPr id="10" name="TextBox"/>
          <p:cNvSpPr txBox="1"/>
          <p:nvPr/>
        </p:nvSpPr>
        <p:spPr>
          <a:xfrm>
            <a:off x="6400800" y="3063240"/>
            <a:ext cx="5248656" cy="2011680"/>
          </a:xfrm>
          <a:prstGeom prst="rect">
            <a:avLst/>
          </a:prstGeom>
          <a:noFill/>
        </p:spPr>
        <p:txBody>
          <a:bodyPr wrap="square" lIns="0" tIns="0" rIns="0" bIns="0" anchor="t">
            <a:spAutoFit/>
          </a:bodyPr>
          <a:lstStyle/>
          <a:p>
            <a:r>
              <a:rPr sz="1700" b="1">
                <a:solidFill>
                  <a:srgbClr val="1B2230"/>
                </a:solidFill>
                <a:latin typeface="Arial"/>
              </a:rPr>
              <a:t>MATCH("P005", cột mã, 0)</a:t>
            </a:r>
            <a:r>
              <a:rPr sz="1700" b="0">
                <a:solidFill>
                  <a:srgbClr val="1B2230"/>
                </a:solidFill>
                <a:latin typeface="Arial"/>
              </a:rPr>
              <a:t> → dòng 5</a:t>
            </a:r>
          </a:p>
          <a:p>
            <a:pPr>
              <a:spcBef>
                <a:spcPts val="1000"/>
              </a:spcBef>
            </a:pPr>
            <a:r>
              <a:rPr sz="1700" b="1">
                <a:solidFill>
                  <a:srgbClr val="1B2230"/>
                </a:solidFill>
                <a:latin typeface="Arial"/>
              </a:rPr>
              <a:t>INDEX(cột Unit_Cost, 5)</a:t>
            </a:r>
            <a:r>
              <a:rPr sz="1700" b="0">
                <a:solidFill>
                  <a:srgbClr val="1B2230"/>
                </a:solidFill>
                <a:latin typeface="Arial"/>
              </a:rPr>
              <a:t> → 83.500</a:t>
            </a:r>
          </a:p>
          <a:p>
            <a:pPr>
              <a:spcBef>
                <a:spcPts val="1000"/>
              </a:spcBef>
            </a:pPr>
            <a:r>
              <a:rPr sz="1700" b="0">
                <a:solidFill>
                  <a:srgbClr val="1B2230"/>
                </a:solidFill>
                <a:latin typeface="Arial"/>
              </a:rPr>
              <a:t>Cột tìm và cột trả về tách rời: tìm được ở mọi cột, trả về bên trái, chèn cột không sai.</a:t>
            </a:r>
          </a:p>
        </p:txBody>
      </p:sp>
      <p:sp>
        <p:nvSpPr>
          <p:cNvPr id="11" name="TIP callout"/>
          <p:cNvSpPr/>
          <p:nvPr/>
        </p:nvSpPr>
        <p:spPr>
          <a:xfrm>
            <a:off x="1527048" y="525780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p:cNvSpPr txBox="1"/>
          <p:nvPr/>
        </p:nvSpPr>
        <p:spPr>
          <a:xfrm>
            <a:off x="1636776" y="536752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3" name="TIP text"/>
          <p:cNvSpPr txBox="1"/>
          <p:nvPr/>
        </p:nvSpPr>
        <p:spPr>
          <a:xfrm>
            <a:off x="2212848" y="5349240"/>
            <a:ext cx="9326880" cy="594359"/>
          </a:xfrm>
          <a:prstGeom prst="rect">
            <a:avLst/>
          </a:prstGeom>
          <a:noFill/>
        </p:spPr>
        <p:txBody>
          <a:bodyPr wrap="square" lIns="0" tIns="0" rIns="0" bIns="0" anchor="t">
            <a:spAutoFit/>
          </a:bodyPr>
          <a:lstStyle/>
          <a:p>
            <a:r>
              <a:rPr sz="1600" b="0">
                <a:solidFill>
                  <a:srgbClr val="1B2230"/>
                </a:solidFill>
                <a:latin typeface="Arial"/>
              </a:rPr>
              <a:t>Chạy trên MỌI phiên bản Excel. Dùng khi máy chưa có XLOOKUP (Excel 2016/2019).</a:t>
            </a:r>
          </a:p>
        </p:txBody>
      </p:sp>
      <p:sp>
        <p:nvSpPr>
          <p:cNvPr id="14"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Demo/B2_Demo_Lookup.xlsx, sheet Demo_XLOOKUP (cột 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XLOOKUP</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4 · LOOKUP</a:t>
            </a:r>
          </a:p>
        </p:txBody>
      </p:sp>
      <p:sp>
        <p:nvSpPr>
          <p:cNvPr id="4" name="Tool name"/>
          <p:cNvSpPr txBox="1"/>
          <p:nvPr/>
        </p:nvSpPr>
        <p:spPr>
          <a:xfrm>
            <a:off x="1527048" y="1463040"/>
            <a:ext cx="10122408" cy="457200"/>
          </a:xfrm>
          <a:prstGeom prst="rect">
            <a:avLst/>
          </a:prstGeom>
          <a:noFill/>
        </p:spPr>
        <p:txBody>
          <a:bodyPr wrap="square" lIns="0" tIns="0" rIns="0" bIns="0" anchor="t">
            <a:spAutoFit/>
          </a:bodyPr>
          <a:lstStyle/>
          <a:p>
            <a:r>
              <a:rPr sz="2400" b="1">
                <a:solidFill>
                  <a:srgbClr val="C00000"/>
                </a:solidFill>
                <a:latin typeface="Arial"/>
              </a:rPr>
              <a:t>XLOOKUP</a:t>
            </a:r>
          </a:p>
        </p:txBody>
      </p:sp>
      <p:sp>
        <p:nvSpPr>
          <p:cNvPr id="5" name="Tool purpose"/>
          <p:cNvSpPr txBox="1"/>
          <p:nvPr/>
        </p:nvSpPr>
        <p:spPr>
          <a:xfrm>
            <a:off x="1527048" y="1920240"/>
            <a:ext cx="10122408" cy="411480"/>
          </a:xfrm>
          <a:prstGeom prst="rect">
            <a:avLst/>
          </a:prstGeom>
          <a:noFill/>
        </p:spPr>
        <p:txBody>
          <a:bodyPr wrap="square" lIns="0" tIns="0" rIns="0" bIns="0" anchor="t">
            <a:spAutoFit/>
          </a:bodyPr>
          <a:lstStyle/>
          <a:p>
            <a:r>
              <a:rPr sz="1600" b="0">
                <a:solidFill>
                  <a:srgbClr val="585858"/>
                </a:solidFill>
                <a:latin typeface="Arial"/>
              </a:rPr>
              <a:t>Tìm trong một cột, trả về cột khác; mặc định khớp chính xác.</a:t>
            </a:r>
          </a:p>
        </p:txBody>
      </p:sp>
      <p:sp>
        <p:nvSpPr>
          <p:cNvPr id="6" name="Formula bar"/>
          <p:cNvSpPr/>
          <p:nvPr/>
        </p:nvSpPr>
        <p:spPr>
          <a:xfrm>
            <a:off x="1527048" y="23774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1618488" y="2377440"/>
            <a:ext cx="411480" cy="411480"/>
          </a:xfrm>
          <a:prstGeom prst="rect">
            <a:avLst/>
          </a:prstGeom>
          <a:noFill/>
        </p:spPr>
        <p:txBody>
          <a:bodyPr wrap="square" lIns="0" tIns="0" rIns="0" bIns="0" anchor="ctr">
            <a:spAutoFit/>
          </a:bodyPr>
          <a:lstStyle/>
          <a:p>
            <a:r>
              <a:rPr sz="1400" b="0" i="1">
                <a:solidFill>
                  <a:srgbClr val="6B6F76"/>
                </a:solidFill>
                <a:latin typeface="Arial"/>
              </a:rPr>
              <a:t>fx</a:t>
            </a:r>
          </a:p>
        </p:txBody>
      </p:sp>
      <p:sp>
        <p:nvSpPr>
          <p:cNvPr id="8" name="Formula"/>
          <p:cNvSpPr txBox="1"/>
          <p:nvPr/>
        </p:nvSpPr>
        <p:spPr>
          <a:xfrm>
            <a:off x="2075688" y="2377440"/>
            <a:ext cx="9482328" cy="411480"/>
          </a:xfrm>
          <a:prstGeom prst="rect">
            <a:avLst/>
          </a:prstGeom>
          <a:noFill/>
        </p:spPr>
        <p:txBody>
          <a:bodyPr wrap="square" lIns="0" tIns="0" rIns="0" bIns="0" anchor="ctr">
            <a:spAutoFit/>
          </a:bodyPr>
          <a:lstStyle/>
          <a:p>
            <a:r>
              <a:rPr sz="1600" b="0">
                <a:solidFill>
                  <a:srgbClr val="1B2230"/>
                </a:solidFill>
                <a:latin typeface="Arial"/>
              </a:rPr>
              <a:t>=XLOOKUP(A2,Product!$A$2:$A$42,Product!$E$2:$E$42,"Không có mã")</a:t>
            </a:r>
          </a:p>
        </p:txBody>
      </p:sp>
      <p:graphicFrame>
        <p:nvGraphicFramePr>
          <p:cNvPr id="9" name="Arguments"/>
          <p:cNvGraphicFramePr>
            <a:graphicFrameLocks noGrp="1"/>
          </p:cNvGraphicFramePr>
          <p:nvPr/>
        </p:nvGraphicFramePr>
        <p:xfrm>
          <a:off x="1527048" y="2971800"/>
          <a:ext cx="5577840" cy="2194560"/>
        </p:xfrm>
        <a:graphic>
          <a:graphicData uri="http://schemas.openxmlformats.org/drawingml/2006/table">
            <a:tbl>
              <a:tblPr firstRow="1"/>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400" b="1">
                          <a:solidFill>
                            <a:srgbClr val="FFFFFF"/>
                          </a:solidFill>
                          <a:latin typeface="Arial"/>
                        </a:rPr>
                        <a:t>Đối số</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400" b="1">
                          <a:solidFill>
                            <a:srgbClr val="FFFFFF"/>
                          </a:solidFill>
                          <a:latin typeface="Arial"/>
                        </a:rPr>
                        <a:t>Ý nghĩa</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365760">
                <a:tc>
                  <a:txBody>
                    <a:bodyPr/>
                    <a:lstStyle/>
                    <a:p>
                      <a:r>
                        <a:rPr sz="1400" b="0">
                          <a:solidFill>
                            <a:srgbClr val="1B2230"/>
                          </a:solidFill>
                          <a:latin typeface="Arial"/>
                        </a:rPr>
                        <a:t>①</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lookup_value</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Tìm cái gì</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365760">
                <a:tc>
                  <a:txBody>
                    <a:bodyPr/>
                    <a:lstStyle/>
                    <a:p>
                      <a:r>
                        <a:rPr sz="1400" b="0">
                          <a:solidFill>
                            <a:srgbClr val="1B2230"/>
                          </a:solidFill>
                          <a:latin typeface="Arial"/>
                        </a:rPr>
                        <a:t>②</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lookup_array</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Tìm trong cột nào</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365760">
                <a:tc>
                  <a:txBody>
                    <a:bodyPr/>
                    <a:lstStyle/>
                    <a:p>
                      <a:r>
                        <a:rPr sz="1400" b="0">
                          <a:solidFill>
                            <a:srgbClr val="1B2230"/>
                          </a:solidFill>
                          <a:latin typeface="Arial"/>
                        </a:rPr>
                        <a:t>③</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return_array</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Trả về cột nào</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365760">
                <a:tc>
                  <a:txBody>
                    <a:bodyPr/>
                    <a:lstStyle/>
                    <a:p>
                      <a:r>
                        <a:rPr sz="1400" b="0">
                          <a:solidFill>
                            <a:srgbClr val="1B2230"/>
                          </a:solidFill>
                          <a:latin typeface="Arial"/>
                        </a:rPr>
                        <a:t>④</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[if_not_found]</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Không thấy thì hiện gì</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365760">
                <a:tc>
                  <a:txBody>
                    <a:bodyPr/>
                    <a:lstStyle/>
                    <a:p>
                      <a:r>
                        <a:rPr sz="1400" b="0">
                          <a:solidFill>
                            <a:srgbClr val="1B2230"/>
                          </a:solidFill>
                          <a:latin typeface="Arial"/>
                        </a:rPr>
                        <a:t>⑤ ⑥</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[match_mode] [search_mode]</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Kiểu khớp · chiều tìm</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bl>
          </a:graphicData>
        </a:graphic>
      </p:graphicFrame>
      <p:pic>
        <p:nvPicPr>
          <p:cNvPr id="10" name="Screenshot S22_xlookup" descr="S22_xlookup.png"/>
          <p:cNvPicPr>
            <a:picLocks noChangeAspect="1"/>
          </p:cNvPicPr>
          <p:nvPr/>
        </p:nvPicPr>
        <p:blipFill>
          <a:blip r:embed="rId3"/>
          <a:stretch>
            <a:fillRect/>
          </a:stretch>
        </p:blipFill>
        <p:spPr>
          <a:xfrm>
            <a:off x="7315200" y="3262223"/>
            <a:ext cx="4334256" cy="882194"/>
          </a:xfrm>
          <a:prstGeom prst="rect">
            <a:avLst/>
          </a:prstGeom>
          <a:ln w="9525">
            <a:solidFill>
              <a:srgbClr val="D9DEE8"/>
            </a:solidFill>
          </a:ln>
        </p:spPr>
      </p:pic>
      <p:sp>
        <p:nvSpPr>
          <p:cNvPr id="11" name="TIP callout"/>
          <p:cNvSpPr/>
          <p:nvPr/>
        </p:nvSpPr>
        <p:spPr>
          <a:xfrm>
            <a:off x="7315200" y="4526280"/>
            <a:ext cx="4334256" cy="13716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p:cNvSpPr txBox="1"/>
          <p:nvPr/>
        </p:nvSpPr>
        <p:spPr>
          <a:xfrm>
            <a:off x="7424927" y="463600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3" name="TIP text"/>
          <p:cNvSpPr txBox="1"/>
          <p:nvPr/>
        </p:nvSpPr>
        <p:spPr>
          <a:xfrm>
            <a:off x="8001000" y="4617720"/>
            <a:ext cx="3538728" cy="1188720"/>
          </a:xfrm>
          <a:prstGeom prst="rect">
            <a:avLst/>
          </a:prstGeom>
          <a:noFill/>
        </p:spPr>
        <p:txBody>
          <a:bodyPr wrap="square" lIns="0" tIns="0" rIns="0" bIns="0" anchor="t">
            <a:spAutoFit/>
          </a:bodyPr>
          <a:lstStyle/>
          <a:p>
            <a:r>
              <a:rPr sz="1600" b="0">
                <a:solidFill>
                  <a:srgbClr val="1B2230"/>
                </a:solidFill>
                <a:latin typeface="Arial"/>
              </a:rPr>
              <a:t>Trong Table: =XLOOKUP([@Product_Code], tblProduct[Product_Code], tblProduct[Unit_Cost])</a:t>
            </a:r>
          </a:p>
        </p:txBody>
      </p:sp>
      <p:sp>
        <p:nvSpPr>
          <p:cNvPr id="14" name="PRO TIP callout"/>
          <p:cNvSpPr/>
          <p:nvPr/>
        </p:nvSpPr>
        <p:spPr>
          <a:xfrm>
            <a:off x="1527048" y="5257800"/>
            <a:ext cx="5577840"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 TIP chip"/>
          <p:cNvSpPr/>
          <p:nvPr/>
        </p:nvSpPr>
        <p:spPr>
          <a:xfrm>
            <a:off x="1636776"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B2230"/>
                </a:solidFill>
                <a:latin typeface="Arial"/>
              </a:rPr>
              <a:t>PRO TIP</a:t>
            </a:r>
          </a:p>
        </p:txBody>
      </p:sp>
      <p:sp>
        <p:nvSpPr>
          <p:cNvPr id="16" name="PRO TIP text"/>
          <p:cNvSpPr txBox="1"/>
          <p:nvPr/>
        </p:nvSpPr>
        <p:spPr>
          <a:xfrm>
            <a:off x="2734056" y="5349240"/>
            <a:ext cx="4261104" cy="640080"/>
          </a:xfrm>
          <a:prstGeom prst="rect">
            <a:avLst/>
          </a:prstGeom>
          <a:noFill/>
        </p:spPr>
        <p:txBody>
          <a:bodyPr wrap="square" lIns="0" tIns="0" rIns="0" bIns="0" anchor="t">
            <a:spAutoFit/>
          </a:bodyPr>
          <a:lstStyle/>
          <a:p>
            <a:r>
              <a:rPr sz="1600" b="0">
                <a:solidFill>
                  <a:srgbClr val="1B2230"/>
                </a:solidFill>
                <a:latin typeface="Arial"/>
              </a:rPr>
              <a:t>Chỉ dùng if_not_found khi đã hiểu vì sao không tìm thấy; đừng dùng để che lỗi dữ liệu.</a:t>
            </a:r>
          </a:p>
        </p:txBody>
      </p:sp>
      <p:sp>
        <p:nvSpPr>
          <p:cNvPr id="17"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Demo/B2_Demo_Lookup.xlsx, sheet Demo_XLOOKUP (cột C, F)</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Laws of Lookups: khóa phải duy nhất</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4 · LOOKUP</a:t>
            </a:r>
          </a:p>
        </p:txBody>
      </p:sp>
      <p:sp>
        <p:nvSpPr>
          <p:cNvPr id="4" name="TextBox"/>
          <p:cNvSpPr txBox="1"/>
          <p:nvPr/>
        </p:nvSpPr>
        <p:spPr>
          <a:xfrm>
            <a:off x="1527048" y="1463040"/>
            <a:ext cx="5486400" cy="2103120"/>
          </a:xfrm>
          <a:prstGeom prst="rect">
            <a:avLst/>
          </a:prstGeom>
          <a:noFill/>
        </p:spPr>
        <p:txBody>
          <a:bodyPr wrap="square" lIns="0" tIns="0" rIns="0" bIns="0" anchor="t">
            <a:spAutoFit/>
          </a:bodyPr>
          <a:lstStyle/>
          <a:p>
            <a:r>
              <a:rPr sz="1600" b="1">
                <a:solidFill>
                  <a:srgbClr val="203864"/>
                </a:solidFill>
                <a:latin typeface="Arial"/>
              </a:rPr>
              <a:t>Luật 1 · </a:t>
            </a:r>
            <a:r>
              <a:rPr sz="1600" b="0">
                <a:solidFill>
                  <a:srgbClr val="1B2230"/>
                </a:solidFill>
                <a:latin typeface="Arial"/>
              </a:rPr>
              <a:t>Khóa ở bảng tra phải DUY NHẤT. Trùng khóa → lấy dòng ĐẦU TIÊN, không báo lỗi.</a:t>
            </a:r>
          </a:p>
          <a:p>
            <a:pPr>
              <a:spcBef>
                <a:spcPts val="800"/>
              </a:spcBef>
            </a:pPr>
            <a:r>
              <a:rPr sz="1600" b="1">
                <a:solidFill>
                  <a:srgbClr val="203864"/>
                </a:solidFill>
                <a:latin typeface="Arial"/>
              </a:rPr>
              <a:t>Luật 2 · </a:t>
            </a:r>
            <a:r>
              <a:rPr sz="1600" b="0">
                <a:solidFill>
                  <a:srgbClr val="1B2230"/>
                </a:solidFill>
                <a:latin typeface="Arial"/>
              </a:rPr>
              <a:t>Khóa hai bên cùng kiểu, cùng cách viết (slide sau).</a:t>
            </a:r>
          </a:p>
          <a:p>
            <a:pPr>
              <a:spcBef>
                <a:spcPts val="800"/>
              </a:spcBef>
            </a:pPr>
            <a:r>
              <a:rPr sz="1600" b="1">
                <a:solidFill>
                  <a:srgbClr val="203864"/>
                </a:solidFill>
                <a:latin typeface="Arial"/>
              </a:rPr>
              <a:t>Luật 3 · </a:t>
            </a:r>
            <a:r>
              <a:rPr sz="1600" b="0">
                <a:solidFill>
                  <a:srgbClr val="1B2230"/>
                </a:solidFill>
                <a:latin typeface="Arial"/>
              </a:rPr>
              <a:t>Không thấy thì phải thấy #N/A, đừng khớp gần đúng.</a:t>
            </a:r>
          </a:p>
        </p:txBody>
      </p:sp>
      <p:pic>
        <p:nvPicPr>
          <p:cNvPr id="5" name="Screenshot S23_p021_duplicate" descr="S23_p021_duplicate.png"/>
          <p:cNvPicPr>
            <a:picLocks noChangeAspect="1"/>
          </p:cNvPicPr>
          <p:nvPr/>
        </p:nvPicPr>
        <p:blipFill>
          <a:blip r:embed="rId3"/>
          <a:stretch>
            <a:fillRect/>
          </a:stretch>
        </p:blipFill>
        <p:spPr>
          <a:xfrm>
            <a:off x="1527048" y="3967324"/>
            <a:ext cx="5577840" cy="752152"/>
          </a:xfrm>
          <a:prstGeom prst="rect">
            <a:avLst/>
          </a:prstGeom>
          <a:ln w="9525">
            <a:solidFill>
              <a:srgbClr val="D9DEE8"/>
            </a:solidFill>
          </a:ln>
        </p:spPr>
      </p:pic>
      <p:sp>
        <p:nvSpPr>
          <p:cNvPr id="6" name="Stat card"/>
          <p:cNvSpPr/>
          <p:nvPr/>
        </p:nvSpPr>
        <p:spPr>
          <a:xfrm>
            <a:off x="7406640" y="1463040"/>
            <a:ext cx="4242816" cy="14173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7589519" y="1554480"/>
            <a:ext cx="3877055" cy="1234440"/>
          </a:xfrm>
          <a:prstGeom prst="rect">
            <a:avLst/>
          </a:prstGeom>
          <a:noFill/>
        </p:spPr>
        <p:txBody>
          <a:bodyPr wrap="square" lIns="0" tIns="0" rIns="0" bIns="0" anchor="ctr">
            <a:spAutoFit/>
          </a:bodyPr>
          <a:lstStyle/>
          <a:p>
            <a:r>
              <a:rPr sz="1400" b="0">
                <a:solidFill>
                  <a:srgbClr val="585858"/>
                </a:solidFill>
                <a:latin typeface="Arial"/>
              </a:rPr>
              <a:t>COGS của P021 trong Q1 (143 dòng)</a:t>
            </a:r>
          </a:p>
          <a:p>
            <a:pPr>
              <a:spcBef>
                <a:spcPts val="200"/>
              </a:spcBef>
            </a:pPr>
            <a:r>
              <a:rPr sz="2800" b="1">
                <a:solidFill>
                  <a:srgbClr val="9C0006"/>
                </a:solidFill>
                <a:latin typeface="Arial"/>
              </a:rPr>
              <a:t>15.872.000</a:t>
            </a:r>
          </a:p>
          <a:p>
            <a:pPr>
              <a:spcBef>
                <a:spcPts val="200"/>
              </a:spcBef>
            </a:pPr>
            <a:r>
              <a:rPr sz="1400" b="0">
                <a:solidFill>
                  <a:srgbClr val="1B2230"/>
                </a:solidFill>
                <a:latin typeface="Arial"/>
              </a:rPr>
              <a:t>đúng: 17.664.000 · thiếu 1.792.000</a:t>
            </a:r>
          </a:p>
        </p:txBody>
      </p:sp>
      <p:sp>
        <p:nvSpPr>
          <p:cNvPr id="8" name="Stat card"/>
          <p:cNvSpPr/>
          <p:nvPr/>
        </p:nvSpPr>
        <p:spPr>
          <a:xfrm>
            <a:off x="7406640" y="3017520"/>
            <a:ext cx="4242816" cy="14173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p:cNvSpPr txBox="1"/>
          <p:nvPr/>
        </p:nvSpPr>
        <p:spPr>
          <a:xfrm>
            <a:off x="7589519" y="3108960"/>
            <a:ext cx="3877055" cy="1234440"/>
          </a:xfrm>
          <a:prstGeom prst="rect">
            <a:avLst/>
          </a:prstGeom>
          <a:noFill/>
        </p:spPr>
        <p:txBody>
          <a:bodyPr wrap="square" lIns="0" tIns="0" rIns="0" bIns="0" anchor="ctr">
            <a:spAutoFit/>
          </a:bodyPr>
          <a:lstStyle/>
          <a:p>
            <a:r>
              <a:rPr sz="1400" b="0">
                <a:solidFill>
                  <a:srgbClr val="585858"/>
                </a:solidFill>
                <a:latin typeface="Arial"/>
              </a:rPr>
              <a:t>Gross Margin % toàn công ty</a:t>
            </a:r>
          </a:p>
          <a:p>
            <a:pPr>
              <a:spcBef>
                <a:spcPts val="200"/>
              </a:spcBef>
            </a:pPr>
            <a:r>
              <a:rPr sz="2600" b="1">
                <a:solidFill>
                  <a:srgbClr val="9C0006"/>
                </a:solidFill>
                <a:latin typeface="Arial"/>
              </a:rPr>
              <a:t>34,4% vs 34,2%</a:t>
            </a:r>
          </a:p>
          <a:p>
            <a:pPr>
              <a:spcBef>
                <a:spcPts val="200"/>
              </a:spcBef>
            </a:pPr>
            <a:r>
              <a:rPr sz="1400" b="0">
                <a:solidFill>
                  <a:srgbClr val="1B2230"/>
                </a:solidFill>
                <a:latin typeface="Arial"/>
              </a:rPr>
              <a:t>đẹp hơn thực tế — không một ô lỗi</a:t>
            </a:r>
          </a:p>
        </p:txBody>
      </p:sp>
      <p:sp>
        <p:nvSpPr>
          <p:cNvPr id="10" name="TIP callout"/>
          <p:cNvSpPr/>
          <p:nvPr/>
        </p:nvSpPr>
        <p:spPr>
          <a:xfrm>
            <a:off x="7406640" y="4572000"/>
            <a:ext cx="4242816"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p:cNvSpPr txBox="1"/>
          <p:nvPr/>
        </p:nvSpPr>
        <p:spPr>
          <a:xfrm>
            <a:off x="7516367" y="468172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2" name="TIP text"/>
          <p:cNvSpPr txBox="1"/>
          <p:nvPr/>
        </p:nvSpPr>
        <p:spPr>
          <a:xfrm>
            <a:off x="8092440" y="4663440"/>
            <a:ext cx="3447287" cy="1005840"/>
          </a:xfrm>
          <a:prstGeom prst="rect">
            <a:avLst/>
          </a:prstGeom>
          <a:noFill/>
        </p:spPr>
        <p:txBody>
          <a:bodyPr wrap="square" lIns="0" tIns="0" rIns="0" bIns="0" anchor="t">
            <a:spAutoFit/>
          </a:bodyPr>
          <a:lstStyle/>
          <a:p>
            <a:r>
              <a:rPr sz="1600" b="0">
                <a:solidFill>
                  <a:srgbClr val="1B2230"/>
                </a:solidFill>
                <a:latin typeface="Arial"/>
              </a:rPr>
              <a:t>Kiểm tra trùng: =COUNTIF(tblProduct[Product_Code],[@Product_Code]) &gt; 1</a:t>
            </a:r>
          </a:p>
        </p:txBody>
      </p:sp>
      <p:sp>
        <p:nvSpPr>
          <p:cNvPr id="13" name="TextBox"/>
          <p:cNvSpPr txBox="1"/>
          <p:nvPr/>
        </p:nvSpPr>
        <p:spPr>
          <a:xfrm>
            <a:off x="1527048" y="5166360"/>
            <a:ext cx="5577840" cy="731520"/>
          </a:xfrm>
          <a:prstGeom prst="rect">
            <a:avLst/>
          </a:prstGeom>
          <a:noFill/>
        </p:spPr>
        <p:txBody>
          <a:bodyPr wrap="square" lIns="0" tIns="0" rIns="0" bIns="0" anchor="t">
            <a:spAutoFit/>
          </a:bodyPr>
          <a:lstStyle/>
          <a:p>
            <a:r>
              <a:rPr sz="1600" b="1">
                <a:solidFill>
                  <a:srgbClr val="203864"/>
                </a:solidFill>
                <a:latin typeface="Arial"/>
              </a:rPr>
              <a:t>Không lỗi ≠ không sai. Doanh thu vẫn đúng (giá bán lấy từ Sales); sai là GIÁ VỐN.</a:t>
            </a:r>
          </a:p>
        </p:txBody>
      </p:sp>
      <p:sp>
        <p:nvSpPr>
          <p:cNvPr id="14"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Demo/B2_Demo_Lookup.xlsx, sheet Demo_KhoaTrung và Product (dòng 22–23)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Khóa khác kiểu: TRIM · VALUE</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4 · LOOKUP</a:t>
            </a:r>
          </a:p>
        </p:txBody>
      </p:sp>
      <p:sp>
        <p:nvSpPr>
          <p:cNvPr id="4" name="Tool name"/>
          <p:cNvSpPr txBox="1"/>
          <p:nvPr/>
        </p:nvSpPr>
        <p:spPr>
          <a:xfrm>
            <a:off x="1527048" y="1463040"/>
            <a:ext cx="4846320" cy="457200"/>
          </a:xfrm>
          <a:prstGeom prst="rect">
            <a:avLst/>
          </a:prstGeom>
          <a:noFill/>
        </p:spPr>
        <p:txBody>
          <a:bodyPr wrap="square" lIns="0" tIns="0" rIns="0" bIns="0" anchor="t">
            <a:spAutoFit/>
          </a:bodyPr>
          <a:lstStyle/>
          <a:p>
            <a:r>
              <a:rPr sz="2400" b="1">
                <a:solidFill>
                  <a:srgbClr val="C00000"/>
                </a:solidFill>
                <a:latin typeface="Arial"/>
              </a:rPr>
              <a:t>TRIM</a:t>
            </a:r>
          </a:p>
        </p:txBody>
      </p:sp>
      <p:sp>
        <p:nvSpPr>
          <p:cNvPr id="5" name="Tool purpose"/>
          <p:cNvSpPr txBox="1"/>
          <p:nvPr/>
        </p:nvSpPr>
        <p:spPr>
          <a:xfrm>
            <a:off x="1527048" y="1920240"/>
            <a:ext cx="4846320" cy="411480"/>
          </a:xfrm>
          <a:prstGeom prst="rect">
            <a:avLst/>
          </a:prstGeom>
          <a:noFill/>
        </p:spPr>
        <p:txBody>
          <a:bodyPr wrap="square" lIns="0" tIns="0" rIns="0" bIns="0" anchor="t">
            <a:spAutoFit/>
          </a:bodyPr>
          <a:lstStyle/>
          <a:p>
            <a:r>
              <a:rPr sz="1600" b="0">
                <a:solidFill>
                  <a:srgbClr val="585858"/>
                </a:solidFill>
                <a:latin typeface="Arial"/>
              </a:rPr>
              <a:t>Bỏ dấu cách thừa ở đầu, cuối, giữa chuỗi.</a:t>
            </a:r>
          </a:p>
        </p:txBody>
      </p:sp>
      <p:cxnSp>
        <p:nvCxnSpPr>
          <p:cNvPr id="6" name="Connector 5"/>
          <p:cNvCxnSpPr/>
          <p:nvPr/>
        </p:nvCxnSpPr>
        <p:spPr>
          <a:xfrm>
            <a:off x="658368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tIns="0" rIns="0" bIns="0" anchor="t">
            <a:spAutoFit/>
          </a:bodyPr>
          <a:lstStyle/>
          <a:p>
            <a:r>
              <a:rPr sz="2400" b="1">
                <a:solidFill>
                  <a:srgbClr val="C00000"/>
                </a:solidFill>
                <a:latin typeface="Arial"/>
              </a:rPr>
              <a:t>VALUE / TEXT</a:t>
            </a:r>
          </a:p>
        </p:txBody>
      </p:sp>
      <p:sp>
        <p:nvSpPr>
          <p:cNvPr id="8" name="Tool purpose"/>
          <p:cNvSpPr txBox="1"/>
          <p:nvPr/>
        </p:nvSpPr>
        <p:spPr>
          <a:xfrm>
            <a:off x="6766560" y="1920240"/>
            <a:ext cx="4882896" cy="411480"/>
          </a:xfrm>
          <a:prstGeom prst="rect">
            <a:avLst/>
          </a:prstGeom>
          <a:noFill/>
        </p:spPr>
        <p:txBody>
          <a:bodyPr wrap="square" lIns="0" tIns="0" rIns="0" bIns="0" anchor="t">
            <a:spAutoFit/>
          </a:bodyPr>
          <a:lstStyle/>
          <a:p>
            <a:r>
              <a:rPr sz="1600" b="0">
                <a:solidFill>
                  <a:srgbClr val="585858"/>
                </a:solidFill>
                <a:latin typeface="Arial"/>
              </a:rPr>
              <a:t>Đổi số dạng chữ "1" ↔ số 1.</a:t>
            </a:r>
          </a:p>
        </p:txBody>
      </p:sp>
      <p:pic>
        <p:nvPicPr>
          <p:cNvPr id="9" name="Screenshot S24_trim_value" descr="S24_trim_value.png"/>
          <p:cNvPicPr>
            <a:picLocks noChangeAspect="1"/>
          </p:cNvPicPr>
          <p:nvPr/>
        </p:nvPicPr>
        <p:blipFill>
          <a:blip r:embed="rId3"/>
          <a:stretch>
            <a:fillRect/>
          </a:stretch>
        </p:blipFill>
        <p:spPr>
          <a:xfrm>
            <a:off x="3395132" y="2514600"/>
            <a:ext cx="6386239" cy="2331720"/>
          </a:xfrm>
          <a:prstGeom prst="rect">
            <a:avLst/>
          </a:prstGeom>
          <a:ln w="9525">
            <a:solidFill>
              <a:srgbClr val="D9DEE8"/>
            </a:solidFill>
          </a:ln>
        </p:spPr>
      </p:pic>
      <p:sp>
        <p:nvSpPr>
          <p:cNvPr id="10" name="TIP callout"/>
          <p:cNvSpPr/>
          <p:nvPr/>
        </p:nvSpPr>
        <p:spPr>
          <a:xfrm>
            <a:off x="1527048" y="502920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p:cNvSpPr txBox="1"/>
          <p:nvPr/>
        </p:nvSpPr>
        <p:spPr>
          <a:xfrm>
            <a:off x="1636776" y="513892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12" name="TIP text"/>
          <p:cNvSpPr txBox="1"/>
          <p:nvPr/>
        </p:nvSpPr>
        <p:spPr>
          <a:xfrm>
            <a:off x="2212848" y="5120640"/>
            <a:ext cx="9326880" cy="685800"/>
          </a:xfrm>
          <a:prstGeom prst="rect">
            <a:avLst/>
          </a:prstGeom>
          <a:noFill/>
        </p:spPr>
        <p:txBody>
          <a:bodyPr wrap="square" lIns="0" tIns="0" rIns="0" bIns="0" anchor="t">
            <a:spAutoFit/>
          </a:bodyPr>
          <a:lstStyle/>
          <a:p>
            <a:r>
              <a:rPr sz="1600" b="0">
                <a:solidFill>
                  <a:srgbClr val="1B2230"/>
                </a:solidFill>
                <a:latin typeface="Arial"/>
              </a:rPr>
              <a:t>#N/A dù “nhìn thấy có”? Kiểm tra =LEN(ô) ("P005 " ra 5, không phải 4) và căn lề: số căn phải, chữ căn trái.</a:t>
            </a:r>
          </a:p>
        </p:txBody>
      </p:sp>
      <p:sp>
        <p:nvSpPr>
          <p:cNvPr id="13"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Demo/B2_Demo_Lookup.xlsx, sheet Demo_KieuKhoa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Text &amp; Date: chuẩn hóa để phân tích theo thời gian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TRIM · LEFT / MID / RIGHT · TEXT · &amp;</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5 · TEXT &amp; DATE</a:t>
            </a:r>
          </a:p>
        </p:txBody>
      </p:sp>
      <p:graphicFrame>
        <p:nvGraphicFramePr>
          <p:cNvPr id="4" name="Functions"/>
          <p:cNvGraphicFramePr>
            <a:graphicFrameLocks noGrp="1"/>
          </p:cNvGraphicFramePr>
          <p:nvPr/>
        </p:nvGraphicFramePr>
        <p:xfrm>
          <a:off x="1527048" y="1463040"/>
          <a:ext cx="10122408" cy="2286000"/>
        </p:xfrm>
        <a:graphic>
          <a:graphicData uri="http://schemas.openxmlformats.org/drawingml/2006/table">
            <a:tbl>
              <a:tblPr firstRow="1"/>
              <a:tblGrid>
                <a:gridCol w="22860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630168">
                  <a:extLst>
                    <a:ext uri="{9D8B030D-6E8A-4147-A177-3AD203B41FA5}">
                      <a16:colId xmlns:a16="http://schemas.microsoft.com/office/drawing/2014/main" val="20002"/>
                    </a:ext>
                  </a:extLst>
                </a:gridCol>
              </a:tblGrid>
              <a:tr h="457200">
                <a:tc>
                  <a:txBody>
                    <a:bodyPr/>
                    <a:lstStyle/>
                    <a:p>
                      <a:r>
                        <a:rPr sz="1500" b="1">
                          <a:solidFill>
                            <a:srgbClr val="FFFFFF"/>
                          </a:solidFill>
                          <a:latin typeface="Arial"/>
                        </a:rPr>
                        <a:t>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500" b="1">
                          <a:solidFill>
                            <a:srgbClr val="FFFFFF"/>
                          </a:solidFill>
                          <a:latin typeface="Arial"/>
                        </a:rPr>
                        <a:t>Ví dụ</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500" b="1">
                          <a:solidFill>
                            <a:srgbClr val="FFFFFF"/>
                          </a:solidFill>
                          <a:latin typeface="Arial"/>
                        </a:rPr>
                        <a:t>Kết quả</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457200">
                <a:tc>
                  <a:txBody>
                    <a:bodyPr/>
                    <a:lstStyle/>
                    <a:p>
                      <a:r>
                        <a:rPr sz="1500" b="1">
                          <a:solidFill>
                            <a:srgbClr val="C00000"/>
                          </a:solidFill>
                          <a:latin typeface="Arial"/>
                        </a:rPr>
                        <a:t>LEFT / MID / RIGHT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=MID("HD2501-00001",3,4)</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2501  (năm 25, tháng 01)</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457200">
                <a:tc>
                  <a:txBody>
                    <a:bodyPr/>
                    <a:lstStyle/>
                    <a:p>
                      <a:r>
                        <a:rPr sz="1500" b="1">
                          <a:solidFill>
                            <a:srgbClr val="C00000"/>
                          </a:solidFill>
                          <a:latin typeface="Arial"/>
                        </a:rPr>
                        <a:t>TRIM</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=TRIM("  MCI Mart   Cầu Giấy")</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MCI Mart Cầu Giấy  (LEN 21 → 17)</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457200">
                <a:tc>
                  <a:txBody>
                    <a:bodyPr/>
                    <a:lstStyle/>
                    <a:p>
                      <a:r>
                        <a:rPr sz="1500" b="1">
                          <a:solidFill>
                            <a:srgbClr val="C00000"/>
                          </a:solidFill>
                          <a:latin typeface="Arial"/>
                        </a:rPr>
                        <a:t>&amp;</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=B2&amp;" – "&amp;TRIM(C2)</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ST01 – MCI Mart Cầu Giấy</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457200">
                <a:tc>
                  <a:txBody>
                    <a:bodyPr/>
                    <a:lstStyle/>
                    <a:p>
                      <a:r>
                        <a:rPr sz="1500" b="1">
                          <a:solidFill>
                            <a:srgbClr val="C00000"/>
                          </a:solidFill>
                          <a:latin typeface="Arial"/>
                        </a:rPr>
                        <a:t>TEXT</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=TEXT(D2,"#,##0")&amp;" đ"</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500" b="0">
                          <a:solidFill>
                            <a:srgbClr val="1B2230"/>
                          </a:solidFill>
                          <a:latin typeface="Arial"/>
                        </a:rPr>
                        <a:t>19,000 đ  (theo cài đặt vùng)</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bl>
          </a:graphicData>
        </a:graphic>
      </p:graphicFrame>
      <p:pic>
        <p:nvPicPr>
          <p:cNvPr id="5" name="Screenshot S26_text" descr="S26_text.png"/>
          <p:cNvPicPr>
            <a:picLocks noChangeAspect="1"/>
          </p:cNvPicPr>
          <p:nvPr/>
        </p:nvPicPr>
        <p:blipFill>
          <a:blip r:embed="rId3"/>
          <a:stretch>
            <a:fillRect/>
          </a:stretch>
        </p:blipFill>
        <p:spPr>
          <a:xfrm>
            <a:off x="1527048" y="4456067"/>
            <a:ext cx="6035040" cy="826226"/>
          </a:xfrm>
          <a:prstGeom prst="rect">
            <a:avLst/>
          </a:prstGeom>
          <a:ln w="9525">
            <a:solidFill>
              <a:srgbClr val="D9DEE8"/>
            </a:solidFill>
          </a:ln>
        </p:spPr>
      </p:pic>
      <p:sp>
        <p:nvSpPr>
          <p:cNvPr id="6" name="TIP callout"/>
          <p:cNvSpPr/>
          <p:nvPr/>
        </p:nvSpPr>
        <p:spPr>
          <a:xfrm>
            <a:off x="7726679" y="3886200"/>
            <a:ext cx="3922776" cy="1965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7836407" y="399592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8" name="TIP text"/>
          <p:cNvSpPr txBox="1"/>
          <p:nvPr/>
        </p:nvSpPr>
        <p:spPr>
          <a:xfrm>
            <a:off x="8412480" y="3977639"/>
            <a:ext cx="3127248" cy="1783080"/>
          </a:xfrm>
          <a:prstGeom prst="rect">
            <a:avLst/>
          </a:prstGeom>
          <a:noFill/>
        </p:spPr>
        <p:txBody>
          <a:bodyPr wrap="square" lIns="0" tIns="0" rIns="0" bIns="0" anchor="t">
            <a:spAutoFit/>
          </a:bodyPr>
          <a:lstStyle/>
          <a:p>
            <a:r>
              <a:rPr sz="1600" b="0">
                <a:solidFill>
                  <a:srgbClr val="1B2230"/>
                </a:solidFill>
                <a:latin typeface="Arial"/>
              </a:rPr>
              <a:t>Kết quả của TEXT là CHỮ: =J2+1 ra #VALUE!. Tính toán bằng số, chỉ dùng TEXT ở bước trình bày.</a:t>
            </a:r>
          </a:p>
        </p:txBody>
      </p:sp>
      <p:sp>
        <p:nvSpPr>
          <p:cNvPr id="9"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Demo/B2_Demo_Text_Date.xlsx, sheet Demo_Text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Hàm ngày lõi</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5 · TEXT &amp; DATE</a:t>
            </a:r>
          </a:p>
        </p:txBody>
      </p:sp>
      <p:graphicFrame>
        <p:nvGraphicFramePr>
          <p:cNvPr id="4" name="Functions"/>
          <p:cNvGraphicFramePr>
            <a:graphicFrameLocks noGrp="1"/>
          </p:cNvGraphicFramePr>
          <p:nvPr/>
        </p:nvGraphicFramePr>
        <p:xfrm>
          <a:off x="1527048" y="1463040"/>
          <a:ext cx="10122408" cy="2286000"/>
        </p:xfrm>
        <a:graphic>
          <a:graphicData uri="http://schemas.openxmlformats.org/drawingml/2006/table">
            <a:tbl>
              <a:tblPr firstRow="1"/>
              <a:tblGrid>
                <a:gridCol w="21031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264408">
                  <a:extLst>
                    <a:ext uri="{9D8B030D-6E8A-4147-A177-3AD203B41FA5}">
                      <a16:colId xmlns:a16="http://schemas.microsoft.com/office/drawing/2014/main" val="20002"/>
                    </a:ext>
                  </a:extLst>
                </a:gridCol>
              </a:tblGrid>
              <a:tr h="457200">
                <a:tc>
                  <a:txBody>
                    <a:bodyPr/>
                    <a:lstStyle/>
                    <a:p>
                      <a:r>
                        <a:rPr sz="1400" b="1">
                          <a:solidFill>
                            <a:srgbClr val="FFFFFF"/>
                          </a:solidFill>
                          <a:latin typeface="Arial"/>
                        </a:rPr>
                        <a:t>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400" b="1">
                          <a:solidFill>
                            <a:srgbClr val="FFFFFF"/>
                          </a:solidFill>
                          <a:latin typeface="Arial"/>
                        </a:rPr>
                        <a:t>Ví dụ (A2 = 15/01/2025)</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400" b="1">
                          <a:solidFill>
                            <a:srgbClr val="FFFFFF"/>
                          </a:solidFill>
                          <a:latin typeface="Arial"/>
                        </a:rPr>
                        <a:t>Kết quả</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457200">
                <a:tc>
                  <a:txBody>
                    <a:bodyPr/>
                    <a:lstStyle/>
                    <a:p>
                      <a:r>
                        <a:rPr sz="1400" b="1">
                          <a:solidFill>
                            <a:srgbClr val="C00000"/>
                          </a:solidFill>
                          <a:latin typeface="Arial"/>
                        </a:rPr>
                        <a:t>EOMONTH</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=EOMONTH(A2,0)  ·  =EOMONTH(A2,-1)+1</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31/01/2025 · 01/01/2025</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457200">
                <a:tc>
                  <a:txBody>
                    <a:bodyPr/>
                    <a:lstStyle/>
                    <a:p>
                      <a:r>
                        <a:rPr sz="1400" b="1">
                          <a:solidFill>
                            <a:srgbClr val="C00000"/>
                          </a:solidFill>
                          <a:latin typeface="Arial"/>
                        </a:rPr>
                        <a:t>MONTH / Quý</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=MONTH(A2)  ·  ="Q"&amp;ROUNDUP(MONTH(A2)/3,0)</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1 · Q1</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457200">
                <a:tc>
                  <a:txBody>
                    <a:bodyPr/>
                    <a:lstStyle/>
                    <a:p>
                      <a:r>
                        <a:rPr sz="1400" b="1">
                          <a:solidFill>
                            <a:srgbClr val="C00000"/>
                          </a:solidFill>
                          <a:latin typeface="Arial"/>
                        </a:rPr>
                        <a:t>TEXT / WEEKDAY</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=TEXT(A2,"ddd")  ·  =WEEKDAY(A2,2)</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Wed (máy tiếng Việt: T4) · 3</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457200">
                <a:tc>
                  <a:txBody>
                    <a:bodyPr/>
                    <a:lstStyle/>
                    <a:p>
                      <a:r>
                        <a:rPr sz="1400" b="1">
                          <a:solidFill>
                            <a:srgbClr val="C00000"/>
                          </a:solidFill>
                          <a:latin typeface="Arial"/>
                        </a:rPr>
                        <a:t>NETWORKDAYS</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0">
                          <a:solidFill>
                            <a:srgbClr val="1B2230"/>
                          </a:solidFill>
                          <a:latin typeface="Arial"/>
                        </a:rPr>
                        <a:t>=NETWORKDAYS(B10,C10,$H$10:$H$15)</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400" b="1">
                          <a:solidFill>
                            <a:srgbClr val="203864"/>
                          </a:solidFill>
                          <a:latin typeface="Arial"/>
                        </a:rPr>
                        <a:t>Tháng 1/2025: 23 → 17 ngày làm việc</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bl>
          </a:graphicData>
        </a:graphic>
      </p:graphicFrame>
      <p:pic>
        <p:nvPicPr>
          <p:cNvPr id="5" name="Screenshot S27_date" descr="S27_date.png"/>
          <p:cNvPicPr>
            <a:picLocks noChangeAspect="1"/>
          </p:cNvPicPr>
          <p:nvPr/>
        </p:nvPicPr>
        <p:blipFill>
          <a:blip r:embed="rId3"/>
          <a:stretch>
            <a:fillRect/>
          </a:stretch>
        </p:blipFill>
        <p:spPr>
          <a:xfrm>
            <a:off x="1527048" y="3940490"/>
            <a:ext cx="6035040" cy="1857380"/>
          </a:xfrm>
          <a:prstGeom prst="rect">
            <a:avLst/>
          </a:prstGeom>
          <a:ln w="9525">
            <a:solidFill>
              <a:srgbClr val="D9DEE8"/>
            </a:solidFill>
          </a:ln>
        </p:spPr>
      </p:pic>
      <p:sp>
        <p:nvSpPr>
          <p:cNvPr id="6" name="TIP callout"/>
          <p:cNvSpPr/>
          <p:nvPr/>
        </p:nvSpPr>
        <p:spPr>
          <a:xfrm>
            <a:off x="7726679" y="3886200"/>
            <a:ext cx="3922776" cy="1965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7836407" y="3995928"/>
            <a:ext cx="548640" cy="320040"/>
          </a:xfrm>
          <a:prstGeom prst="rect">
            <a:avLst/>
          </a:prstGeom>
          <a:noFill/>
        </p:spPr>
        <p:txBody>
          <a:bodyPr wrap="square" lIns="0" tIns="0" rIns="0" bIns="0" anchor="ctr">
            <a:spAutoFit/>
          </a:bodyPr>
          <a:lstStyle/>
          <a:p>
            <a:r>
              <a:rPr sz="1400" b="1">
                <a:solidFill>
                  <a:srgbClr val="203864"/>
                </a:solidFill>
                <a:latin typeface="Arial"/>
              </a:rPr>
              <a:t>TIP</a:t>
            </a:r>
          </a:p>
        </p:txBody>
      </p:sp>
      <p:sp>
        <p:nvSpPr>
          <p:cNvPr id="8" name="TIP text"/>
          <p:cNvSpPr txBox="1"/>
          <p:nvPr/>
        </p:nvSpPr>
        <p:spPr>
          <a:xfrm>
            <a:off x="8412480" y="3977639"/>
            <a:ext cx="3127248" cy="1783080"/>
          </a:xfrm>
          <a:prstGeom prst="rect">
            <a:avLst/>
          </a:prstGeom>
          <a:noFill/>
        </p:spPr>
        <p:txBody>
          <a:bodyPr wrap="square" lIns="0" tIns="0" rIns="0" bIns="0" anchor="t">
            <a:spAutoFit/>
          </a:bodyPr>
          <a:lstStyle/>
          <a:p>
            <a:r>
              <a:rPr sz="1600" b="0">
                <a:solidFill>
                  <a:srgbClr val="1B2230"/>
                </a:solidFill>
                <a:latin typeface="Arial"/>
              </a:rPr>
              <a:t>Ngày trong Excel là SỐ (01/01/2025 = 45658), nên cộng trừ được. Ngày căn trái = ngày lưu dạng chữ, không group theo tháng được.</a:t>
            </a:r>
          </a:p>
        </p:txBody>
      </p:sp>
      <p:sp>
        <p:nvSpPr>
          <p:cNvPr id="9"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Ảnh: Demo/B2_Demo_Text_Date.xlsx, sheet Demo_Date · ngày lễ: 01/01 và 27–31/01/2025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Chọn hàm theo câu hỏi</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5 · TEXT &amp; DATE</a:t>
            </a:r>
          </a:p>
        </p:txBody>
      </p:sp>
      <p:graphicFrame>
        <p:nvGraphicFramePr>
          <p:cNvPr id="4" name="Chooser"/>
          <p:cNvGraphicFramePr>
            <a:graphicFrameLocks noGrp="1"/>
          </p:cNvGraphicFramePr>
          <p:nvPr/>
        </p:nvGraphicFramePr>
        <p:xfrm>
          <a:off x="1527048" y="1554480"/>
          <a:ext cx="10122408" cy="3621024"/>
        </p:xfrm>
        <a:graphic>
          <a:graphicData uri="http://schemas.openxmlformats.org/drawingml/2006/table">
            <a:tbl>
              <a:tblPr firstRow="1"/>
              <a:tblGrid>
                <a:gridCol w="5669280">
                  <a:extLst>
                    <a:ext uri="{9D8B030D-6E8A-4147-A177-3AD203B41FA5}">
                      <a16:colId xmlns:a16="http://schemas.microsoft.com/office/drawing/2014/main" val="20000"/>
                    </a:ext>
                  </a:extLst>
                </a:gridCol>
                <a:gridCol w="4453128">
                  <a:extLst>
                    <a:ext uri="{9D8B030D-6E8A-4147-A177-3AD203B41FA5}">
                      <a16:colId xmlns:a16="http://schemas.microsoft.com/office/drawing/2014/main" val="20001"/>
                    </a:ext>
                  </a:extLst>
                </a:gridCol>
              </a:tblGrid>
              <a:tr h="603504">
                <a:tc>
                  <a:txBody>
                    <a:bodyPr/>
                    <a:lstStyle/>
                    <a:p>
                      <a:r>
                        <a:rPr sz="1800" b="1">
                          <a:solidFill>
                            <a:srgbClr val="FFFFFF"/>
                          </a:solidFill>
                          <a:latin typeface="Arial"/>
                        </a:rPr>
                        <a:t>Câu hỏi kinh doanh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a:lstStyle/>
                    <a:p>
                      <a:r>
                        <a:rPr sz="1800" b="1">
                          <a:solidFill>
                            <a:srgbClr val="FFFFFF"/>
                          </a:solidFill>
                          <a:latin typeface="Arial"/>
                        </a:rPr>
                        <a:t>Nhóm hàm</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extLst>
                  <a:ext uri="{0D108BD9-81ED-4DB2-BD59-A6C34878D82A}">
                    <a16:rowId xmlns:a16="http://schemas.microsoft.com/office/drawing/2014/main" val="10000"/>
                  </a:ext>
                </a:extLst>
              </a:tr>
              <a:tr h="603504">
                <a:tc>
                  <a:txBody>
                    <a:bodyPr/>
                    <a:lstStyle/>
                    <a:p>
                      <a:r>
                        <a:rPr sz="1800" b="0">
                          <a:solidFill>
                            <a:srgbClr val="1B2230"/>
                          </a:solidFill>
                          <a:latin typeface="Arial"/>
                        </a:rPr>
                        <a:t>“Sản phẩm này thuộc nhóm nào?”</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203864"/>
                          </a:solidFill>
                          <a:latin typeface="Arial"/>
                        </a:rPr>
                        <a:t>IF · IFS · AND · OR</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1"/>
                  </a:ext>
                </a:extLst>
              </a:tr>
              <a:tr h="603504">
                <a:tc>
                  <a:txBody>
                    <a:bodyPr/>
                    <a:lstStyle/>
                    <a:p>
                      <a:r>
                        <a:rPr sz="1800" b="0">
                          <a:solidFill>
                            <a:srgbClr val="1B2230"/>
                          </a:solidFill>
                          <a:latin typeface="Arial"/>
                        </a:rPr>
                        <a:t>“Khách thường chi bao nhiêu? Có gì bất thường?”</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203864"/>
                          </a:solidFill>
                          <a:latin typeface="Arial"/>
                        </a:rPr>
                        <a:t>MEDIAN · STDEV · QUARTILE</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2"/>
                  </a:ext>
                </a:extLst>
              </a:tr>
              <a:tr h="603504">
                <a:tc>
                  <a:txBody>
                    <a:bodyPr/>
                    <a:lstStyle/>
                    <a:p>
                      <a:r>
                        <a:rPr sz="1800" b="0">
                          <a:solidFill>
                            <a:srgbClr val="1B2230"/>
                          </a:solidFill>
                          <a:latin typeface="Arial"/>
                        </a:rPr>
                        <a:t>“Bao nhiêu, theo vùng / tháng?”</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203864"/>
                          </a:solidFill>
                          <a:latin typeface="Arial"/>
                        </a:rPr>
                        <a:t>SUMIFS · COUNTIFS · AVERAGEIFS</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3"/>
                  </a:ext>
                </a:extLst>
              </a:tr>
              <a:tr h="603504">
                <a:tc>
                  <a:txBody>
                    <a:bodyPr/>
                    <a:lstStyle/>
                    <a:p>
                      <a:r>
                        <a:rPr sz="1800" b="0">
                          <a:solidFill>
                            <a:srgbClr val="1B2230"/>
                          </a:solidFill>
                          <a:latin typeface="Arial"/>
                        </a:rPr>
                        <a:t>“Lấy thông tin từ bảng khác”</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203864"/>
                          </a:solidFill>
                          <a:latin typeface="Arial"/>
                        </a:rPr>
                        <a:t>XLOOKUP (INDEX / MATCH)</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4"/>
                  </a:ext>
                </a:extLst>
              </a:tr>
              <a:tr h="603504">
                <a:tc>
                  <a:txBody>
                    <a:bodyPr/>
                    <a:lstStyle/>
                    <a:p>
                      <a:r>
                        <a:rPr sz="1800" b="0">
                          <a:solidFill>
                            <a:srgbClr val="1B2230"/>
                          </a:solidFill>
                          <a:latin typeface="Arial"/>
                        </a:rPr>
                        <a:t>“Theo tháng / quý / thứ”</a:t>
                      </a:r>
                    </a:p>
                  </a:txBody>
                  <a:tcPr marL="73152" marR="73152" marT="27432" marB="27432" anchor="ctr">
                    <a:lnL w="0">
                      <a:noFill/>
                    </a:lnL>
                    <a:lnR w="0">
                      <a:noFill/>
                    </a:lnR>
                    <a:lnT w="12700">
                      <a:solidFill>
                        <a:srgbClr val="D9DEE8"/>
                      </a:solidFill>
                    </a:lnT>
                    <a:lnB w="12700">
                      <a:solidFill>
                        <a:srgbClr val="D9DEE8"/>
                      </a:solidFill>
                    </a:lnB>
                    <a:noFill/>
                  </a:tcPr>
                </a:tc>
                <a:tc>
                  <a:txBody>
                    <a:bodyPr/>
                    <a:lstStyle/>
                    <a:p>
                      <a:r>
                        <a:rPr sz="1800" b="0">
                          <a:solidFill>
                            <a:srgbClr val="203864"/>
                          </a:solidFill>
                          <a:latin typeface="Arial"/>
                        </a:rPr>
                        <a:t>MONTH · EOMONTH · TEXT · WEEKDAY</a:t>
                      </a:r>
                    </a:p>
                  </a:txBody>
                  <a:tcPr marL="73152" marR="73152" marT="27432" marB="27432" anchor="ctr">
                    <a:lnL w="0">
                      <a:noFill/>
                    </a:lnL>
                    <a:lnR w="0">
                      <a:noFill/>
                    </a:lnR>
                    <a:lnT w="12700">
                      <a:solidFill>
                        <a:srgbClr val="D9DEE8"/>
                      </a:solidFill>
                    </a:lnT>
                    <a:lnB w="12700">
                      <a:solidFill>
                        <a:srgbClr val="D9DEE8"/>
                      </a:solidFill>
                    </a:lnB>
                    <a:noFill/>
                  </a:tcPr>
                </a:tc>
                <a:extLst>
                  <a:ext uri="{0D108BD9-81ED-4DB2-BD59-A6C34878D82A}">
                    <a16:rowId xmlns:a16="http://schemas.microsoft.com/office/drawing/2014/main" val="10005"/>
                  </a:ext>
                </a:extLst>
              </a:tr>
            </a:tbl>
          </a:graphicData>
        </a:graphic>
      </p:graphicFrame>
      <p:sp>
        <p:nvSpPr>
          <p:cNvPr id="5" name="TextBox"/>
          <p:cNvSpPr txBox="1"/>
          <p:nvPr/>
        </p:nvSpPr>
        <p:spPr>
          <a:xfrm>
            <a:off x="1527048" y="5440680"/>
            <a:ext cx="10122408" cy="457200"/>
          </a:xfrm>
          <a:prstGeom prst="rect">
            <a:avLst/>
          </a:prstGeom>
          <a:noFill/>
        </p:spPr>
        <p:txBody>
          <a:bodyPr wrap="square" lIns="0" tIns="0" rIns="0" bIns="0" anchor="t">
            <a:spAutoFit/>
          </a:bodyPr>
          <a:lstStyle/>
          <a:p>
            <a:r>
              <a:rPr sz="1800" b="1">
                <a:solidFill>
                  <a:srgbClr val="203864"/>
                </a:solidFill>
                <a:latin typeface="Arial"/>
              </a:rPr>
              <a:t>Bắt đầu từ câu hỏi, rồi mới chọn hàm.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Thực hành 1: Làm giàu tblSales</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6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15 phút</a:t>
            </a:r>
          </a:p>
        </p:txBody>
      </p:sp>
      <p:sp>
        <p:nvSpPr>
          <p:cNvPr id="5" name="TextBox"/>
          <p:cNvSpPr txBox="1"/>
          <p:nvPr/>
        </p:nvSpPr>
        <p:spPr>
          <a:xfrm>
            <a:off x="1527048" y="2011680"/>
            <a:ext cx="6309360" cy="4114800"/>
          </a:xfrm>
          <a:prstGeom prst="rect">
            <a:avLst/>
          </a:prstGeom>
          <a:noFill/>
        </p:spPr>
        <p:txBody>
          <a:bodyPr wrap="square" lIns="0" tIns="0" rIns="0" bIns="0" anchor="t">
            <a:spAutoFit/>
          </a:bodyPr>
          <a:lstStyle/>
          <a:p>
            <a:r>
              <a:rPr sz="1500" b="1">
                <a:solidFill>
                  <a:srgbClr val="203864"/>
                </a:solidFill>
                <a:latin typeface="Arial"/>
              </a:rPr>
              <a:t>1. </a:t>
            </a:r>
            <a:r>
              <a:rPr sz="1500" b="0">
                <a:solidFill>
                  <a:srgbClr val="1B2230"/>
                </a:solidFill>
                <a:latin typeface="Arial"/>
              </a:rPr>
              <a:t>Mở file khởi đầu, lưu thành B2_&lt;HoTen&gt;.xlsx. Chép sheet Product từ B2_Product_DuplicateKey.xlsx: chuột phải tab → Move or Copy → tick Create a copy.</a:t>
            </a:r>
          </a:p>
          <a:p>
            <a:pPr>
              <a:spcBef>
                <a:spcPts val="1000"/>
              </a:spcBef>
            </a:pPr>
            <a:r>
              <a:rPr sz="1500" b="1">
                <a:solidFill>
                  <a:srgbClr val="203864"/>
                </a:solidFill>
                <a:latin typeface="Arial"/>
              </a:rPr>
              <a:t>2. </a:t>
            </a:r>
            <a:r>
              <a:rPr sz="1500" b="0">
                <a:solidFill>
                  <a:srgbClr val="1B2230"/>
                </a:solidFill>
                <a:latin typeface="Arial"/>
              </a:rPr>
              <a:t>Kiểm tra khóa: =COUNTIF(tblProduct[Product_Code],[@Product_Code]) → xóa bản ghi P021 cũ (dòng 22).</a:t>
            </a:r>
          </a:p>
          <a:p>
            <a:pPr>
              <a:spcBef>
                <a:spcPts val="1000"/>
              </a:spcBef>
            </a:pPr>
            <a:r>
              <a:rPr sz="1500" b="1">
                <a:solidFill>
                  <a:srgbClr val="203864"/>
                </a:solidFill>
                <a:latin typeface="Arial"/>
              </a:rPr>
              <a:t>3. </a:t>
            </a:r>
            <a:r>
              <a:rPr sz="1500" b="0">
                <a:solidFill>
                  <a:srgbClr val="1B2230"/>
                </a:solidFill>
                <a:latin typeface="Arial"/>
              </a:rPr>
              <a:t>tblSales thêm: Category, Unit_Cost (XLOOKUP) · COGS = [@Quantity]*[@Unit_Cost] · Gross_Margin = [@Revenue]-[@COGS].</a:t>
            </a:r>
          </a:p>
          <a:p>
            <a:pPr>
              <a:spcBef>
                <a:spcPts val="1000"/>
              </a:spcBef>
            </a:pPr>
            <a:r>
              <a:rPr sz="1500" b="1">
                <a:solidFill>
                  <a:srgbClr val="203864"/>
                </a:solidFill>
                <a:latin typeface="Arial"/>
              </a:rPr>
              <a:t>4. </a:t>
            </a:r>
            <a:r>
              <a:rPr sz="1500" b="0">
                <a:solidFill>
                  <a:srgbClr val="1B2230"/>
                </a:solidFill>
                <a:latin typeface="Arial"/>
              </a:rPr>
              <a:t>Thang = MONTH · Quy = "Q"&amp;ROUNDUP(MONTH(…)/3,0) · Thu = TEXT(…,"ddd") · Phan_khuc = IFS (≥100.000 Cao, ≥30.000 Trung, còn lại Thấp).</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8293608" y="1600200"/>
            <a:ext cx="3172968" cy="4297680"/>
          </a:xfrm>
          <a:prstGeom prst="rect">
            <a:avLst/>
          </a:prstGeom>
          <a:noFill/>
        </p:spPr>
        <p:txBody>
          <a:bodyPr wrap="square" lIns="0" tIns="0" rIns="0" bIns="0" anchor="t">
            <a:spAutoFit/>
          </a:bodyPr>
          <a:lstStyle/>
          <a:p>
            <a:r>
              <a:rPr sz="1600" b="1">
                <a:solidFill>
                  <a:srgbClr val="203864"/>
                </a:solidFill>
                <a:latin typeface="Arial"/>
              </a:rPr>
              <a:t>Kiểm tra</a:t>
            </a:r>
          </a:p>
          <a:p>
            <a:pPr>
              <a:spcBef>
                <a:spcPts val="800"/>
              </a:spcBef>
            </a:pPr>
            <a:r>
              <a:rPr sz="1500" b="0">
                <a:solidFill>
                  <a:srgbClr val="1B2230"/>
                </a:solidFill>
                <a:latin typeface="Arial"/>
              </a:rPr>
              <a:t>Không còn #N/A.</a:t>
            </a:r>
          </a:p>
          <a:p>
            <a:pPr>
              <a:spcBef>
                <a:spcPts val="800"/>
              </a:spcBef>
            </a:pPr>
            <a:r>
              <a:rPr sz="1500" b="1">
                <a:solidFill>
                  <a:srgbClr val="203864"/>
                </a:solidFill>
                <a:latin typeface="Arial"/>
              </a:rPr>
              <a:t>Tổng COGS</a:t>
            </a:r>
          </a:p>
          <a:p>
            <a:pPr>
              <a:spcBef>
                <a:spcPts val="800"/>
              </a:spcBef>
            </a:pPr>
            <a:r>
              <a:rPr sz="3000" b="1">
                <a:solidFill>
                  <a:srgbClr val="203864"/>
                </a:solidFill>
                <a:latin typeface="Arial"/>
              </a:rPr>
              <a:t>619.663.000</a:t>
            </a:r>
          </a:p>
          <a:p>
            <a:pPr>
              <a:spcBef>
                <a:spcPts val="800"/>
              </a:spcBef>
            </a:pPr>
            <a:r>
              <a:rPr sz="1500" b="0">
                <a:solidFill>
                  <a:srgbClr val="1B2230"/>
                </a:solidFill>
                <a:latin typeface="Arial"/>
              </a:rPr>
              <a:t>Nếu ra 617.871.000: còn P021 cũ.</a:t>
            </a:r>
          </a:p>
          <a:p>
            <a:pPr>
              <a:spcBef>
                <a:spcPts val="800"/>
              </a:spcBef>
            </a:pPr>
            <a:r>
              <a:rPr sz="1500" b="1">
                <a:solidFill>
                  <a:srgbClr val="203864"/>
                </a:solidFill>
                <a:latin typeface="Arial"/>
              </a:rPr>
              <a:t>Phan_khuc (dòng)</a:t>
            </a:r>
          </a:p>
          <a:p>
            <a:pPr>
              <a:spcBef>
                <a:spcPts val="800"/>
              </a:spcBef>
            </a:pPr>
            <a:r>
              <a:rPr sz="1500" b="0">
                <a:solidFill>
                  <a:srgbClr val="1B2230"/>
                </a:solidFill>
                <a:latin typeface="Arial"/>
              </a:rPr>
              <a:t>Cao 1.814 · Trung 3.005 · Thấp 1.368</a:t>
            </a:r>
          </a:p>
        </p:txBody>
      </p:sp>
      <p:sp>
        <p:nvSpPr>
          <p:cNvPr id="8"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File khởi đầu: ../B1_Nen_tang_Excel_Du_lieu/Practice/B1_MCI_Mart_Q1_2025_Answer.xlsx · Practice/B2_Product_DuplicateKey.xlsx</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Thực hành 2: Bảng KPI &amp; KPI Card</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6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12 phút</a:t>
            </a:r>
          </a:p>
        </p:txBody>
      </p:sp>
      <p:sp>
        <p:nvSpPr>
          <p:cNvPr id="5" name="TextBox"/>
          <p:cNvSpPr txBox="1"/>
          <p:nvPr/>
        </p:nvSpPr>
        <p:spPr>
          <a:xfrm>
            <a:off x="1527048" y="2011680"/>
            <a:ext cx="6309360" cy="4114800"/>
          </a:xfrm>
          <a:prstGeom prst="rect">
            <a:avLst/>
          </a:prstGeom>
          <a:noFill/>
        </p:spPr>
        <p:txBody>
          <a:bodyPr wrap="square" lIns="0" tIns="0" rIns="0" bIns="0" anchor="t">
            <a:spAutoFit/>
          </a:bodyPr>
          <a:lstStyle/>
          <a:p>
            <a:r>
              <a:rPr sz="1500" b="1">
                <a:solidFill>
                  <a:srgbClr val="203864"/>
                </a:solidFill>
                <a:latin typeface="Arial"/>
              </a:rPr>
              <a:t>1. </a:t>
            </a:r>
            <a:r>
              <a:rPr sz="1500" b="0">
                <a:solidFill>
                  <a:srgbClr val="1B2230"/>
                </a:solidFill>
                <a:latin typeface="Arial"/>
              </a:rPr>
              <a:t>Sheet KPI_SUMIFS: Doanh thu Miền (A6:A8) × Tháng (B5:D5 = 1, 2, 3). MỘT công thức ở B6, kéo ra 9 ô ($A6, B$5); thêm cột Quý 1 và dòng Tổng.</a:t>
            </a:r>
          </a:p>
          <a:p>
            <a:pPr>
              <a:spcBef>
                <a:spcPts val="1000"/>
              </a:spcBef>
            </a:pPr>
            <a:r>
              <a:rPr sz="1500" b="1">
                <a:solidFill>
                  <a:srgbClr val="203864"/>
                </a:solidFill>
                <a:latin typeface="Arial"/>
              </a:rPr>
              <a:t>2. </a:t>
            </a:r>
            <a:r>
              <a:rPr sz="1500" b="0">
                <a:solidFill>
                  <a:srgbClr val="1B2230"/>
                </a:solidFill>
                <a:latin typeface="Arial"/>
              </a:rPr>
              <a:t>Số đơn: COUNTIFS thêm tblSales[Line_No],1.</a:t>
            </a:r>
          </a:p>
          <a:p>
            <a:pPr>
              <a:spcBef>
                <a:spcPts val="1000"/>
              </a:spcBef>
            </a:pPr>
            <a:r>
              <a:rPr sz="1500" b="1">
                <a:solidFill>
                  <a:srgbClr val="203864"/>
                </a:solidFill>
                <a:latin typeface="Arial"/>
              </a:rPr>
              <a:t>3. </a:t>
            </a:r>
            <a:r>
              <a:rPr sz="1500" b="0">
                <a:solidFill>
                  <a:srgbClr val="1B2230"/>
                </a:solidFill>
                <a:latin typeface="Arial"/>
              </a:rPr>
              <a:t>AOV = Doanh thu ÷ Số đơn · Gross Margin % = SUMIFS(Gross_Margin) ÷ Doanh thu. Dòng Tổng: tổng ÷ tổng.</a:t>
            </a:r>
          </a:p>
          <a:p>
            <a:pPr>
              <a:spcBef>
                <a:spcPts val="1000"/>
              </a:spcBef>
            </a:pPr>
            <a:r>
              <a:rPr sz="1500" b="1">
                <a:solidFill>
                  <a:srgbClr val="203864"/>
                </a:solidFill>
                <a:latin typeface="Arial"/>
              </a:rPr>
              <a:t>4. </a:t>
            </a:r>
            <a:r>
              <a:rPr sz="1500" b="0">
                <a:solidFill>
                  <a:srgbClr val="1B2230"/>
                </a:solidFill>
                <a:latin typeface="Arial"/>
              </a:rPr>
              <a:t>Viết 2 card: Total Orders, Gross Margin %.</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8293608" y="1600200"/>
            <a:ext cx="3172968" cy="4297680"/>
          </a:xfrm>
          <a:prstGeom prst="rect">
            <a:avLst/>
          </a:prstGeom>
          <a:noFill/>
        </p:spPr>
        <p:txBody>
          <a:bodyPr wrap="square" lIns="0" tIns="0" rIns="0" bIns="0" anchor="t">
            <a:spAutoFit/>
          </a:bodyPr>
          <a:lstStyle/>
          <a:p>
            <a:r>
              <a:rPr sz="1600" b="1">
                <a:solidFill>
                  <a:srgbClr val="203864"/>
                </a:solidFill>
                <a:latin typeface="Arial"/>
              </a:rPr>
              <a:t>Kiểm tra</a:t>
            </a:r>
          </a:p>
          <a:p>
            <a:pPr>
              <a:spcBef>
                <a:spcPts val="800"/>
              </a:spcBef>
            </a:pPr>
            <a:r>
              <a:rPr sz="2800" b="1">
                <a:solidFill>
                  <a:srgbClr val="203864"/>
                </a:solidFill>
                <a:latin typeface="Arial"/>
              </a:rPr>
              <a:t>941.454.000</a:t>
            </a:r>
          </a:p>
          <a:p>
            <a:pPr>
              <a:spcBef>
                <a:spcPts val="800"/>
              </a:spcBef>
            </a:pPr>
            <a:r>
              <a:rPr sz="1500" b="0">
                <a:solidFill>
                  <a:srgbClr val="1B2230"/>
                </a:solidFill>
                <a:latin typeface="Arial"/>
              </a:rPr>
              <a:t>Tổng bảng doanh thu</a:t>
            </a:r>
          </a:p>
          <a:p>
            <a:pPr>
              <a:spcBef>
                <a:spcPts val="800"/>
              </a:spcBef>
            </a:pPr>
            <a:r>
              <a:rPr sz="1500" b="0">
                <a:solidFill>
                  <a:srgbClr val="1B2230"/>
                </a:solidFill>
                <a:latin typeface="Arial"/>
              </a:rPr>
              <a:t>Tháng 1: 425.850.000</a:t>
            </a:r>
          </a:p>
          <a:p>
            <a:pPr>
              <a:spcBef>
                <a:spcPts val="800"/>
              </a:spcBef>
            </a:pPr>
            <a:r>
              <a:rPr sz="1500" b="0">
                <a:solidFill>
                  <a:srgbClr val="1B2230"/>
                </a:solidFill>
                <a:latin typeface="Arial"/>
              </a:rPr>
              <a:t>Số đơn: 3.144 (không phải 6.187)</a:t>
            </a:r>
          </a:p>
          <a:p>
            <a:pPr>
              <a:spcBef>
                <a:spcPts val="800"/>
              </a:spcBef>
            </a:pPr>
            <a:r>
              <a:rPr sz="1500" b="0">
                <a:solidFill>
                  <a:srgbClr val="1B2230"/>
                </a:solidFill>
                <a:latin typeface="Arial"/>
              </a:rPr>
              <a:t>AOV: 299.445</a:t>
            </a:r>
          </a:p>
          <a:p>
            <a:pPr>
              <a:spcBef>
                <a:spcPts val="800"/>
              </a:spcBef>
            </a:pPr>
            <a:r>
              <a:rPr sz="1500" b="0">
                <a:solidFill>
                  <a:srgbClr val="1B2230"/>
                </a:solidFill>
                <a:latin typeface="Arial"/>
              </a:rPr>
              <a:t>Gross Margin: 34,2%</a:t>
            </a:r>
          </a:p>
        </p:txBody>
      </p:sp>
      <p:sp>
        <p:nvSpPr>
          <p:cNvPr id="8"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Mẫu card: Handout/B2_KPI_Definition_Card.docx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Chữa bài nhanh</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6 · THỰC HÀNH</a:t>
            </a:r>
          </a:p>
        </p:txBody>
      </p:sp>
      <p:sp>
        <p:nvSpPr>
          <p:cNvPr id="4" name="Checkbox 1"/>
          <p:cNvSpPr/>
          <p:nvPr/>
        </p:nvSpPr>
        <p:spPr>
          <a:xfrm>
            <a:off x="1527048" y="169164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p:cNvSpPr txBox="1"/>
          <p:nvPr/>
        </p:nvSpPr>
        <p:spPr>
          <a:xfrm>
            <a:off x="2075688" y="1645920"/>
            <a:ext cx="9573768" cy="457200"/>
          </a:xfrm>
          <a:prstGeom prst="rect">
            <a:avLst/>
          </a:prstGeom>
          <a:noFill/>
        </p:spPr>
        <p:txBody>
          <a:bodyPr wrap="square" lIns="0" tIns="0" rIns="0" bIns="0" anchor="ctr">
            <a:spAutoFit/>
          </a:bodyPr>
          <a:lstStyle/>
          <a:p>
            <a:r>
              <a:rPr sz="2000" b="0">
                <a:solidFill>
                  <a:srgbClr val="1B2230"/>
                </a:solidFill>
                <a:latin typeface="Arial"/>
              </a:rPr>
              <a:t>tblSales có Category, Unit_Cost, COGS, Gross_Margin, Thang, Quy, Thu, Phan_khuc; không còn #N/A</a:t>
            </a:r>
          </a:p>
        </p:txBody>
      </p:sp>
      <p:cxnSp>
        <p:nvCxnSpPr>
          <p:cNvPr id="6" name="Connector 5"/>
          <p:cNvCxnSpPr/>
          <p:nvPr/>
        </p:nvCxnSpPr>
        <p:spPr>
          <a:xfrm>
            <a:off x="1527048" y="230428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Checkbox 2"/>
          <p:cNvSpPr/>
          <p:nvPr/>
        </p:nvSpPr>
        <p:spPr>
          <a:xfrm>
            <a:off x="1527048" y="251460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p:cNvSpPr txBox="1"/>
          <p:nvPr/>
        </p:nvSpPr>
        <p:spPr>
          <a:xfrm>
            <a:off x="2075688" y="2468880"/>
            <a:ext cx="9573768" cy="457200"/>
          </a:xfrm>
          <a:prstGeom prst="rect">
            <a:avLst/>
          </a:prstGeom>
          <a:noFill/>
        </p:spPr>
        <p:txBody>
          <a:bodyPr wrap="square" lIns="0" tIns="0" rIns="0" bIns="0" anchor="ctr">
            <a:spAutoFit/>
          </a:bodyPr>
          <a:lstStyle/>
          <a:p>
            <a:r>
              <a:rPr sz="2000" b="0">
                <a:solidFill>
                  <a:srgbClr val="1B2230"/>
                </a:solidFill>
                <a:latin typeface="Arial"/>
              </a:rPr>
              <a:t>tblProduct không còn mã trùng</a:t>
            </a:r>
          </a:p>
        </p:txBody>
      </p:sp>
      <p:cxnSp>
        <p:nvCxnSpPr>
          <p:cNvPr id="9" name="Connector 8"/>
          <p:cNvCxnSpPr/>
          <p:nvPr/>
        </p:nvCxnSpPr>
        <p:spPr>
          <a:xfrm>
            <a:off x="1527048" y="312724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Checkbox 3"/>
          <p:cNvSpPr/>
          <p:nvPr/>
        </p:nvSpPr>
        <p:spPr>
          <a:xfrm>
            <a:off x="1527048" y="333756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p:cNvSpPr txBox="1"/>
          <p:nvPr/>
        </p:nvSpPr>
        <p:spPr>
          <a:xfrm>
            <a:off x="2075688" y="3291840"/>
            <a:ext cx="9573768" cy="457200"/>
          </a:xfrm>
          <a:prstGeom prst="rect">
            <a:avLst/>
          </a:prstGeom>
          <a:noFill/>
        </p:spPr>
        <p:txBody>
          <a:bodyPr wrap="square" lIns="0" tIns="0" rIns="0" bIns="0" anchor="ctr">
            <a:spAutoFit/>
          </a:bodyPr>
          <a:lstStyle/>
          <a:p>
            <a:r>
              <a:rPr sz="2000" b="0">
                <a:solidFill>
                  <a:srgbClr val="1B2230"/>
                </a:solidFill>
                <a:latin typeface="Arial"/>
              </a:rPr>
              <a:t>Bảng KPI Miền × Tháng: tổng = 941.454.000; số đơn = 3.144</a:t>
            </a:r>
          </a:p>
        </p:txBody>
      </p:sp>
      <p:cxnSp>
        <p:nvCxnSpPr>
          <p:cNvPr id="12" name="Connector 11"/>
          <p:cNvCxnSpPr/>
          <p:nvPr/>
        </p:nvCxnSpPr>
        <p:spPr>
          <a:xfrm>
            <a:off x="1527048" y="395020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3" name="Checkbox 4"/>
          <p:cNvSpPr/>
          <p:nvPr/>
        </p:nvSpPr>
        <p:spPr>
          <a:xfrm>
            <a:off x="1527048" y="416052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p:cNvSpPr txBox="1"/>
          <p:nvPr/>
        </p:nvSpPr>
        <p:spPr>
          <a:xfrm>
            <a:off x="2075688" y="4114800"/>
            <a:ext cx="9573768" cy="457200"/>
          </a:xfrm>
          <a:prstGeom prst="rect">
            <a:avLst/>
          </a:prstGeom>
          <a:noFill/>
        </p:spPr>
        <p:txBody>
          <a:bodyPr wrap="square" lIns="0" tIns="0" rIns="0" bIns="0" anchor="ctr">
            <a:spAutoFit/>
          </a:bodyPr>
          <a:lstStyle/>
          <a:p>
            <a:r>
              <a:rPr sz="2000" b="0">
                <a:solidFill>
                  <a:srgbClr val="1B2230"/>
                </a:solidFill>
                <a:latin typeface="Arial"/>
              </a:rPr>
              <a:t>AOV, Gross Margin % dòng Tổng tính tổng ÷ tổng</a:t>
            </a:r>
          </a:p>
        </p:txBody>
      </p:sp>
      <p:cxnSp>
        <p:nvCxnSpPr>
          <p:cNvPr id="15" name="Connector 14"/>
          <p:cNvCxnSpPr/>
          <p:nvPr/>
        </p:nvCxnSpPr>
        <p:spPr>
          <a:xfrm>
            <a:off x="1527048" y="477316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6" name="Checkbox 5"/>
          <p:cNvSpPr/>
          <p:nvPr/>
        </p:nvSpPr>
        <p:spPr>
          <a:xfrm>
            <a:off x="1527048" y="49834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p:cNvSpPr txBox="1"/>
          <p:nvPr/>
        </p:nvSpPr>
        <p:spPr>
          <a:xfrm>
            <a:off x="2075688" y="4937760"/>
            <a:ext cx="9573768" cy="457200"/>
          </a:xfrm>
          <a:prstGeom prst="rect">
            <a:avLst/>
          </a:prstGeom>
          <a:noFill/>
        </p:spPr>
        <p:txBody>
          <a:bodyPr wrap="square" lIns="0" tIns="0" rIns="0" bIns="0" anchor="ctr">
            <a:spAutoFit/>
          </a:bodyPr>
          <a:lstStyle/>
          <a:p>
            <a:r>
              <a:rPr sz="2000" b="0">
                <a:solidFill>
                  <a:srgbClr val="1B2230"/>
                </a:solidFill>
                <a:latin typeface="Arial"/>
              </a:rPr>
              <a:t>3 KPI Definition Card</a:t>
            </a:r>
          </a:p>
        </p:txBody>
      </p:sp>
      <p:sp>
        <p:nvSpPr>
          <p:cNvPr id="18" name="Footnote"/>
          <p:cNvSpPr txBox="1"/>
          <p:nvPr/>
        </p:nvSpPr>
        <p:spPr>
          <a:xfrm>
            <a:off x="1527048" y="6217920"/>
            <a:ext cx="10122408" cy="320040"/>
          </a:xfrm>
          <a:prstGeom prst="rect">
            <a:avLst/>
          </a:prstGeom>
          <a:noFill/>
        </p:spPr>
        <p:txBody>
          <a:bodyPr wrap="square" lIns="0" tIns="0" rIns="0" bIns="0" anchor="b">
            <a:spAutoFit/>
          </a:bodyPr>
          <a:lstStyle/>
          <a:p>
            <a:r>
              <a:rPr sz="1200" b="0">
                <a:solidFill>
                  <a:srgbClr val="6B6F76"/>
                </a:solidFill>
                <a:latin typeface="Arial"/>
              </a:rPr>
              <a:t>File đáp án Practice/B2_MCI_Mart_Q1_2025_Answer.xlsx (sheet Kiem_tra: 10 dòng đối soát) là file khởi đầu Buổi 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7 câu hỏi nhanh · câu 6–7 là tình huống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1: IFS</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200" b="0">
                <a:solidFill>
                  <a:srgbClr val="1B2230"/>
                </a:solidFill>
                <a:latin typeface="Arial"/>
              </a:rPr>
              <a:t>Giá bán 135.000 ra gì với =IFS(D2&gt;=30000,"Trung",D2&gt;=100000,"Cao",TRUE,"Thấp")?</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Cao</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Trung</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Thấp</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#N/A</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2: Statistics</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200" b="0">
                <a:solidFill>
                  <a:srgbClr val="1B2230"/>
                </a:solidFill>
                <a:latin typeface="Arial"/>
              </a:rPr>
              <a:t>Giá trị đơn Q1: trung bình 299.445, trung vị 198.000. Điều này cho biết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Dữ liệu có lỗi</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Có một số đơn rất lớn kéo trung bình lên</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Nửa số đơn trên 299.445</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Trung vị tính sai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3: SUMIFS</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200" b="0">
                <a:solidFill>
                  <a:srgbClr val="1B2230"/>
                </a:solidFill>
                <a:latin typeface="Arial"/>
              </a:rPr>
              <a:t>Trong SUMIFS, đối số ĐẦU TIÊN là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Vùng tiêu chí đầu tiên</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Tiêu chí đầu tiên</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Vùng cần cộng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Số tiêu chí</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4: VLOOKUP</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200" b="0">
                <a:solidFill>
                  <a:srgbClr val="1B2230"/>
                </a:solidFill>
                <a:latin typeface="Arial"/>
              </a:rPr>
              <a:t>=VLOOKUP(A2,Product!$A$2:$E$42,5) bỏ trống đối số cuối thì tra kiểu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Khớp chính xác</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Khớp gần đúng</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Báo lỗi</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Tìm từ dưới lên</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5: Date</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200" b="0">
                <a:solidFill>
                  <a:srgbClr val="1B2230"/>
                </a:solidFill>
                <a:latin typeface="Arial"/>
              </a:rPr>
              <a:t>=EOMONTH(DATE(2025,2,15),0) trả về?</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01/02/2025</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15/03/2025</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28/02/2025</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31/03/2025</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6: Tình huống — Lookup</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000" b="0">
                <a:solidFill>
                  <a:srgbClr val="1B2230"/>
                </a:solidFill>
                <a:latin typeface="Arial"/>
              </a:rPr>
              <a:t>Sau khi XLOOKUP giá vốn, Gross Margin % cao hơn tháng trước dù không có ô lỗi nào. Việc ĐẦU TIÊN nên làm?</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Đổi sang VLOOKUP</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Kiểm tra khóa trùng trong bảng Product (COUNTIF)</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Bọc IFERROR</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Định dạng lại cột %</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 7: Tình huống — KPI tỷ lệ</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10122408" cy="914400"/>
          </a:xfrm>
          <a:prstGeom prst="rect">
            <a:avLst/>
          </a:prstGeom>
          <a:noFill/>
        </p:spPr>
        <p:txBody>
          <a:bodyPr wrap="square" lIns="0" tIns="0" rIns="0" bIns="0" anchor="t">
            <a:spAutoFit/>
          </a:bodyPr>
          <a:lstStyle/>
          <a:p>
            <a:r>
              <a:rPr sz="2200" b="0">
                <a:solidFill>
                  <a:srgbClr val="1B2230"/>
                </a:solidFill>
                <a:latin typeface="Arial"/>
              </a:rPr>
              <a:t>Bạn có AOV của 3 miền; sếp hỏi AOV toàn công ty. Tính thế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tIns="0" rIns="0" bIns="0" anchor="ctr">
            <a:spAutoFit/>
          </a:bodyPr>
          <a:lstStyle/>
          <a:p>
            <a:r>
              <a:rPr sz="1800" b="0">
                <a:solidFill>
                  <a:srgbClr val="1B2230"/>
                </a:solidFill>
                <a:latin typeface="Arial"/>
              </a:rPr>
              <a:t>AVERAGE 3 AOV</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tIns="0" rIns="0" bIns="0" anchor="ctr">
            <a:spAutoFit/>
          </a:bodyPr>
          <a:lstStyle/>
          <a:p>
            <a:r>
              <a:rPr sz="1800" b="0">
                <a:solidFill>
                  <a:srgbClr val="1B2230"/>
                </a:solidFill>
                <a:latin typeface="Arial"/>
              </a:rPr>
              <a:t>Tổng doanh thu ÷ tổng số đơn</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tIns="0" rIns="0" bIns="0" anchor="ctr">
            <a:spAutoFit/>
          </a:bodyPr>
          <a:lstStyle/>
          <a:p>
            <a:r>
              <a:rPr sz="1800" b="0">
                <a:solidFill>
                  <a:srgbClr val="1B2230"/>
                </a:solidFill>
                <a:latin typeface="Arial"/>
              </a:rPr>
              <a:t>MEDIAN 3 AOV</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tIns="0" rIns="0" bIns="0" anchor="ctr">
            <a:spAutoFit/>
          </a:bodyPr>
          <a:lstStyle/>
          <a:p>
            <a:r>
              <a:rPr sz="1800" b="0">
                <a:solidFill>
                  <a:srgbClr val="1B2230"/>
                </a:solidFill>
                <a:latin typeface="Arial"/>
              </a:rPr>
              <a:t>Lấy AOV miền lớn nhất</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4572000" cy="411480"/>
          </a:xfrm>
          <a:prstGeom prst="rect">
            <a:avLst/>
          </a:prstGeom>
          <a:noFill/>
        </p:spPr>
        <p:txBody>
          <a:bodyPr wrap="square" lIns="0" tIns="0" r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572000" cy="3931920"/>
          </a:xfrm>
          <a:prstGeom prst="rect">
            <a:avLst/>
          </a:prstGeom>
          <a:noFill/>
        </p:spPr>
        <p:txBody>
          <a:bodyPr wrap="square" lIns="0" tIns="0" rIns="0" bIns="0" anchor="t">
            <a:spAutoFit/>
          </a:bodyPr>
          <a:lstStyle/>
          <a:p>
            <a:r>
              <a:rPr sz="1800" b="0">
                <a:solidFill>
                  <a:srgbClr val="1B2230"/>
                </a:solidFill>
                <a:latin typeface="Arial"/>
              </a:rPr>
              <a:t>(1) Định nghĩa KPI (card) trước, công thức sau.</a:t>
            </a:r>
          </a:p>
          <a:p>
            <a:pPr>
              <a:spcBef>
                <a:spcPts val="1200"/>
              </a:spcBef>
            </a:pPr>
            <a:r>
              <a:rPr sz="1800" b="0">
                <a:solidFill>
                  <a:srgbClr val="1B2230"/>
                </a:solidFill>
                <a:latin typeface="Arial"/>
              </a:rPr>
              <a:t>(2) Biết grain: 6.187 dòng ≠ 3.144 đơn.</a:t>
            </a:r>
          </a:p>
          <a:p>
            <a:pPr>
              <a:spcBef>
                <a:spcPts val="1200"/>
              </a:spcBef>
            </a:pPr>
            <a:r>
              <a:rPr sz="1800" b="0">
                <a:solidFill>
                  <a:srgbClr val="1B2230"/>
                </a:solidFill>
                <a:latin typeface="Arial"/>
              </a:rPr>
              <a:t>(3) Mỗi tiêu chí SUMIFS là một bộ lọc.</a:t>
            </a:r>
          </a:p>
          <a:p>
            <a:pPr>
              <a:spcBef>
                <a:spcPts val="1200"/>
              </a:spcBef>
            </a:pPr>
            <a:r>
              <a:rPr sz="1800" b="0">
                <a:solidFill>
                  <a:srgbClr val="1B2230"/>
                </a:solidFill>
                <a:latin typeface="Arial"/>
              </a:rPr>
              <a:t>(4) Khóa lookup phải duy nhất; không lỗi ≠ không sai.</a:t>
            </a:r>
          </a:p>
          <a:p>
            <a:pPr>
              <a:spcBef>
                <a:spcPts val="1200"/>
              </a:spcBef>
            </a:pPr>
            <a:r>
              <a:rPr sz="1800" b="0">
                <a:solidFill>
                  <a:srgbClr val="1B2230"/>
                </a:solidFill>
                <a:latin typeface="Arial"/>
              </a:rPr>
              <a:t>(5) KPI tỷ lệ: tổng ÷ tổng.</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p:cNvSpPr txBox="1"/>
          <p:nvPr/>
        </p:nvSpPr>
        <p:spPr>
          <a:xfrm>
            <a:off x="6556248" y="1645920"/>
            <a:ext cx="4910328" cy="411480"/>
          </a:xfrm>
          <a:prstGeom prst="rect">
            <a:avLst/>
          </a:prstGeom>
          <a:noFill/>
        </p:spPr>
        <p:txBody>
          <a:bodyPr wrap="square" lIns="0" tIns="0" r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tIns="0" rIns="0" bIns="0" anchor="t">
            <a:spAutoFit/>
          </a:bodyPr>
          <a:lstStyle/>
          <a:p>
            <a:r>
              <a:rPr sz="2200" b="0">
                <a:solidFill>
                  <a:srgbClr val="1B2230"/>
                </a:solidFill>
                <a:latin typeface="Arial"/>
              </a:rPr>
              <a:t>“Doanh thu tháng ___ là ___ (con số, có so sánh), vì ___ (nguyên nhân khả dĩ),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203864"/>
                </a:solidFill>
                <a:latin typeface="Arial"/>
              </a:rPr>
              <a:t>Hàm ý</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Buổi sau: PivotTable</a:t>
            </a:r>
          </a:p>
        </p:txBody>
      </p:sp>
      <p:sp>
        <p:nvSpPr>
          <p:cNvPr id="3" name="Rail label"/>
          <p:cNvSpPr txBox="1"/>
          <p:nvPr/>
        </p:nvSpPr>
        <p:spPr>
          <a:xfrm>
            <a:off x="0" y="1371600"/>
            <a:ext cx="978408" cy="4800600"/>
          </a:xfrm>
          <a:prstGeom prst="rect">
            <a:avLst/>
          </a:prstGeom>
          <a:noFill/>
        </p:spPr>
        <p:txBody>
          <a:bodyPr vert="vert270" wrap="square" lIns="0" tIns="0" rIns="0" bIns="0" anchor="ctr">
            <a:spAutoFit/>
          </a:bodyPr>
          <a:lstStyle/>
          <a:p>
            <a:pPr algn="ctr"/>
            <a:r>
              <a:rPr sz="1400" b="1">
                <a:solidFill>
                  <a:srgbClr val="FFFFFF"/>
                </a:solidFill>
                <a:latin typeface="Arial"/>
              </a:rPr>
              <a:t>PHẦN 7 · QUIZ &amp; TỔNG KẾT</a:t>
            </a:r>
          </a:p>
        </p:txBody>
      </p:sp>
      <p:sp>
        <p:nvSpPr>
          <p:cNvPr id="4" name="TextBox"/>
          <p:cNvSpPr txBox="1"/>
          <p:nvPr/>
        </p:nvSpPr>
        <p:spPr>
          <a:xfrm>
            <a:off x="1527048" y="1508760"/>
            <a:ext cx="6400800" cy="1005840"/>
          </a:xfrm>
          <a:prstGeom prst="rect">
            <a:avLst/>
          </a:prstGeom>
          <a:noFill/>
        </p:spPr>
        <p:txBody>
          <a:bodyPr wrap="square" lIns="0" tIns="0" rIns="0" bIns="0" anchor="t">
            <a:spAutoFit/>
          </a:bodyPr>
          <a:lstStyle/>
          <a:p>
            <a:r>
              <a:rPr sz="1900" b="1">
                <a:solidFill>
                  <a:srgbClr val="203864"/>
                </a:solidFill>
                <a:latin typeface="Arial"/>
              </a:rPr>
              <a:t>“Doanh thu biến động thế nào theo cửa hàng, ngày trong tuần và ngành hàng — và vì sao tháng 1 cao hơn hẳn tháng 2?”</a:t>
            </a:r>
          </a:p>
        </p:txBody>
      </p:sp>
      <p:sp>
        <p:nvSpPr>
          <p:cNvPr id="5" name="TextBox"/>
          <p:cNvSpPr txBox="1"/>
          <p:nvPr/>
        </p:nvSpPr>
        <p:spPr>
          <a:xfrm>
            <a:off x="1527048" y="2606040"/>
            <a:ext cx="6400800" cy="914400"/>
          </a:xfrm>
          <a:prstGeom prst="rect">
            <a:avLst/>
          </a:prstGeom>
          <a:noFill/>
        </p:spPr>
        <p:txBody>
          <a:bodyPr wrap="square" lIns="0" tIns="0" rIns="0" bIns="0" anchor="t">
            <a:spAutoFit/>
          </a:bodyPr>
          <a:lstStyle/>
          <a:p>
            <a:r>
              <a:rPr sz="1600" b="1">
                <a:solidFill>
                  <a:srgbClr val="1B2230"/>
                </a:solidFill>
                <a:latin typeface="Arial"/>
              </a:rPr>
              <a:t>Giới hạn hôm nay: </a:t>
            </a:r>
            <a:r>
              <a:rPr sz="1600" b="0">
                <a:solidFill>
                  <a:srgbClr val="1B2230"/>
                </a:solidFill>
                <a:latin typeface="Arial"/>
              </a:rPr>
              <a:t>mỗi chiều phân tích mới lại phải viết lại SUMIFS → PivotTable (Tầng 2–3).</a:t>
            </a:r>
          </a:p>
        </p:txBody>
      </p:sp>
      <p:sp>
        <p:nvSpPr>
          <p:cNvPr id="6" name="TextBox"/>
          <p:cNvSpPr txBox="1"/>
          <p:nvPr/>
        </p:nvSpPr>
        <p:spPr>
          <a:xfrm>
            <a:off x="1527048" y="3520440"/>
            <a:ext cx="6400800" cy="2560320"/>
          </a:xfrm>
          <a:prstGeom prst="rect">
            <a:avLst/>
          </a:prstGeom>
          <a:noFill/>
        </p:spPr>
        <p:txBody>
          <a:bodyPr wrap="square" lIns="0" tIns="0" rIns="0" bIns="0" anchor="t">
            <a:spAutoFit/>
          </a:bodyPr>
          <a:lstStyle/>
          <a:p>
            <a:r>
              <a:rPr sz="1500" b="1">
                <a:solidFill>
                  <a:srgbClr val="203864"/>
                </a:solidFill>
                <a:latin typeface="Arial"/>
              </a:rPr>
              <a:t>Về nhà</a:t>
            </a:r>
          </a:p>
          <a:p>
            <a:pPr>
              <a:spcBef>
                <a:spcPts val="600"/>
              </a:spcBef>
            </a:pPr>
            <a:r>
              <a:rPr sz="1500" b="0">
                <a:solidFill>
                  <a:srgbClr val="1B2230"/>
                </a:solidFill>
                <a:latin typeface="Arial"/>
              </a:rPr>
              <a:t>Đọc handout B2 · hoàn thành 3 KPI card</a:t>
            </a:r>
          </a:p>
          <a:p>
            <a:pPr>
              <a:spcBef>
                <a:spcPts val="600"/>
              </a:spcBef>
            </a:pPr>
            <a:r>
              <a:rPr sz="1500" b="0">
                <a:solidFill>
                  <a:srgbClr val="1B2230"/>
                </a:solidFill>
                <a:latin typeface="Arial"/>
              </a:rPr>
              <a:t>Bài tập về nhà (bắt buộc): B2_BTVN_MCI_Mart_T4_2025.xlsx — nộp trước Buổi 3 tại hocvien.mcivietnam.com, tên file B2_BTVN_&lt;HoTen&gt;.xlsx</a:t>
            </a:r>
          </a:p>
          <a:p>
            <a:pPr>
              <a:spcBef>
                <a:spcPts val="600"/>
              </a:spcBef>
            </a:pPr>
            <a:r>
              <a:rPr sz="1500" b="0">
                <a:solidFill>
                  <a:srgbClr val="1B2230"/>
                </a:solidFill>
                <a:latin typeface="Arial"/>
              </a:rPr>
              <a:t>Tick “Checklist trước Buổi 3” (mục 10 handout)</a:t>
            </a:r>
          </a:p>
        </p:txBody>
      </p:sp>
      <p:sp>
        <p:nvSpPr>
          <p:cNvPr id="7" name="Brick B2"/>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p:cNvSpPr txBox="1"/>
          <p:nvPr/>
        </p:nvSpPr>
        <p:spPr>
          <a:xfrm>
            <a:off x="8385048" y="4206240"/>
            <a:ext cx="3172968" cy="914400"/>
          </a:xfrm>
          <a:prstGeom prst="rect">
            <a:avLst/>
          </a:prstGeom>
          <a:noFill/>
        </p:spPr>
        <p:txBody>
          <a:bodyPr wrap="square" lIns="0" tIns="0" rIns="0" bIns="0" anchor="ctr">
            <a:spAutoFit/>
          </a:bodyPr>
          <a:lstStyle/>
          <a:p>
            <a:r>
              <a:rPr sz="1800" b="1">
                <a:solidFill>
                  <a:srgbClr val="FFFFFF"/>
                </a:solidFill>
                <a:latin typeface="Arial"/>
              </a:rPr>
              <a:t>✓  B2 · Bảng KPI (SUMIFS)</a:t>
            </a:r>
          </a:p>
        </p:txBody>
      </p:sp>
      <p:sp>
        <p:nvSpPr>
          <p:cNvPr id="9" name="Brick B3"/>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p:cNvSpPr txBox="1"/>
          <p:nvPr/>
        </p:nvSpPr>
        <p:spPr>
          <a:xfrm>
            <a:off x="8385048" y="3017520"/>
            <a:ext cx="3172968" cy="914400"/>
          </a:xfrm>
          <a:prstGeom prst="rect">
            <a:avLst/>
          </a:prstGeom>
          <a:noFill/>
        </p:spPr>
        <p:txBody>
          <a:bodyPr wrap="square" lIns="0" tIns="0" rIns="0" bIns="0" anchor="ctr">
            <a:spAutoFit/>
          </a:bodyPr>
          <a:lstStyle/>
          <a:p>
            <a:r>
              <a:rPr sz="1800" b="1">
                <a:solidFill>
                  <a:srgbClr val="203864"/>
                </a:solidFill>
                <a:latin typeface="Arial"/>
              </a:rPr>
              <a:t>B3 · Báo cáo Pivot</a:t>
            </a:r>
          </a:p>
        </p:txBody>
      </p:sp>
      <p:sp>
        <p:nvSpPr>
          <p:cNvPr id="11" name="TextBox"/>
          <p:cNvSpPr txBox="1"/>
          <p:nvPr/>
        </p:nvSpPr>
        <p:spPr>
          <a:xfrm>
            <a:off x="8293608" y="5212080"/>
            <a:ext cx="3355848" cy="457200"/>
          </a:xfrm>
          <a:prstGeom prst="rect">
            <a:avLst/>
          </a:prstGeom>
          <a:noFill/>
        </p:spPr>
        <p:txBody>
          <a:bodyPr wrap="square" lIns="0" tIns="0" rIns="0" bIns="0" anchor="t">
            <a:spAutoFit/>
          </a:bodyPr>
          <a:lstStyle/>
          <a:p>
            <a:r>
              <a:rPr sz="1300" b="0">
                <a:solidFill>
                  <a:srgbClr val="585858"/>
                </a:solidFill>
                <a:latin typeface="Arial"/>
              </a:rPr>
              <a:t>Giữ bảng KPI_SUMIFS: đáp án đối soát ở B3, B5.</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32</TotalTime>
  <Words>10331</Words>
  <Application>Microsoft Macintosh PowerPoint</Application>
  <PresentationFormat>Widescreen</PresentationFormat>
  <Paragraphs>716</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Recap Buổi 1 &amp; file khởi đầu</vt:lpstr>
      <vt:lpstr>Dimension · Measure · Grain</vt:lpstr>
      <vt:lpstr>KPI Definition Card</vt:lpstr>
      <vt:lpstr>1. Hàm logic: dạy Excel ra quyết định</vt:lpstr>
      <vt:lpstr>IF · IFS</vt:lpstr>
      <vt:lpstr>AND · OR · NOT</vt:lpstr>
      <vt:lpstr>IFERROR</vt:lpstr>
      <vt:lpstr>2. Thống kê mô tả: một con số “trung bình” có thể nói dối</vt:lpstr>
      <vt:lpstr>Thống kê mô tả: trung bình hay trung vị?</vt:lpstr>
      <vt:lpstr>STDEV · SKEW · Outlier</vt:lpstr>
      <vt:lpstr>RANK.EQ</vt:lpstr>
      <vt:lpstr>3. SUMIFS: mỗi tiêu chí là một bộ lọc</vt:lpstr>
      <vt:lpstr>Xương sống Chuỗi C: bộ lọc + phép tổng</vt:lpstr>
      <vt:lpstr>SUMIFS · COUNTIFS · AVERAGEIFS</vt:lpstr>
      <vt:lpstr>Bảng KPI 2 chiều · tổng ÷ tổng</vt:lpstr>
      <vt:lpstr>Nghỉ 10 phút</vt:lpstr>
      <vt:lpstr>4. Nối bảng: lấy thông tin từ bảng khác</vt:lpstr>
      <vt:lpstr>VLOOKUP</vt:lpstr>
      <vt:lpstr>INDEX / MATCH</vt:lpstr>
      <vt:lpstr>XLOOKUP</vt:lpstr>
      <vt:lpstr>Laws of Lookups: khóa phải duy nhất</vt:lpstr>
      <vt:lpstr>Khóa khác kiểu: TRIM · VALUE</vt:lpstr>
      <vt:lpstr>5. Text &amp; Date: chuẩn hóa để phân tích theo thời gian</vt:lpstr>
      <vt:lpstr>TRIM · LEFT / MID / RIGHT · TEXT · &amp;</vt:lpstr>
      <vt:lpstr>Hàm ngày lõi</vt:lpstr>
      <vt:lpstr>Chọn hàm theo câu hỏi</vt:lpstr>
      <vt:lpstr>Thực hành 1: Làm giàu tblSales</vt:lpstr>
      <vt:lpstr>Thực hành 2: Bảng KPI &amp; KPI Card</vt:lpstr>
      <vt:lpstr>Chữa bài nhanh</vt:lpstr>
      <vt:lpstr>Excel Quiz Challenge</vt:lpstr>
      <vt:lpstr>Question 1: IFS</vt:lpstr>
      <vt:lpstr>Question 2: Statistics</vt:lpstr>
      <vt:lpstr>Question 3: SUMIFS</vt:lpstr>
      <vt:lpstr>Question 4: VLOOKUP</vt:lpstr>
      <vt:lpstr>Question 5: Date</vt:lpstr>
      <vt:lpstr>Question 6: Tình huống — Lookup</vt:lpstr>
      <vt:lpstr>Question 7: Tình huống — KPI tỷ lệ</vt:lpstr>
      <vt:lpstr>Tổng kết &amp; insight của bạn</vt:lpstr>
      <vt:lpstr>Buổi sau: PivotTable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Nhan Le</cp:lastModifiedBy>
  <cp:revision>1</cp:revision>
  <dcterms:created xsi:type="dcterms:W3CDTF">2026-09-24T17:25:29Z</dcterms:created>
  <dcterms:modified xsi:type="dcterms:W3CDTF">2026-09-29T05:54:41Z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