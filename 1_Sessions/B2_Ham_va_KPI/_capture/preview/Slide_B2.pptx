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 id="341" r:id="rId4"/>
    <p:sldId id="342"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1.xml"/><Relationship Id="rId4" Type="http://schemas.openxmlformats.org/officeDocument/2006/relationships/slide" Target="slides/slide40.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các bạn quay lại Buổi 2. Buổi trước chúng ta mới dọn dữ liệu cho sạch; hôm nay mình bắt đầu tính ra con số để trả lời sếp.</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1,5 phút.</a:t>
            </a:r>
          </a:p>
          <a:p>
            <a:r>
              <a:t>LỜI GIẢNG</a:t>
            </a:r>
          </a:p>
          <a:p>
            <a:r>
              <a:t>Đây là câu hỏi Giám đốc bán hàng gửi cho chúng ta tuần này. Nghe rất đơn giản, đúng không? Nhưng mình hỏi các bạn một câu: "số đơn" là đếm cái gì? Đếm số dòng trong file, hay đếm cái gì khác?</a:t>
            </a:r>
          </a:p>
          <a:p>
            <a:r>
              <a:t>(→ chờ 2–3 câu trả lời, KHÔNG chốt đáp án)</a:t>
            </a:r>
          </a:p>
          <a:p>
            <a:r>
              <a:t>Các bạn thấy chưa, chỉ một chữ "số đơn" mà đã có nhiều cách hiểu. Còn "biên lợi nhuận" thì file hôm qua chưa có giá vốn. Vậy trước khi viết công thức nào, mình phải định nghĩa KPI cho rõ. Đó là việc đầu tiên hôm nay.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1,5 phút.</a:t>
            </a:r>
          </a:p>
          <a:p>
            <a:r>
              <a:t>LỜI GIẢNG</a:t>
            </a:r>
          </a:p>
          <a:p>
            <a:r>
              <a:t>Nhắc nhanh buổi trước. Viên gạch B1 là bảng tblSales: 6.187 dòng, tổng doanh thu 941 triệu 454 nghìn, không còn dòng tổng hay ô gộp.</a:t>
            </a:r>
          </a:p>
          <a:p>
            <a:r>
              <a:t>(→ demo: mở ../B1_Nen_tang_Excel_Du_lieu/Practice/B1_MCI_Mart_Q1_2025_Answer.xlsx, sheet Kiem_tra: 8 dòng ✔)</a:t>
            </a:r>
          </a:p>
          <a:p>
            <a:r>
              <a:t>Đây là file khởi đầu hôm nay, trợ giảng đã gửi trong nhóm chat. Dù file của bạn đã khớp hay chưa, hôm nay mọi người làm trên file này, để cả lớp cùng một nền. Các bạn mở nó ra và lưu thành tên mình, ví dụ B2_NguyenVanA.xlsx.</a:t>
            </a:r>
          </a:p>
          <a:p>
            <a:r>
              <a:t>Hai thứ từ buổi trước sẽ dùng liên tục hôm nay: dấu đô-la và công thức theo tên cột trong Table. Ai còn lúng túng với F4 thì để ý kỹ ở phần SUMIFS.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Ba từ này các bạn sẽ gặp đến hết khóa, nên mình giới thiệu ngay.</a:t>
            </a:r>
          </a:p>
          <a:p>
            <a:r>
              <a:t>Dimension là "theo cái gì": theo vùng, theo cửa hàng, theo tháng. Measure là "đo cái gì": số lượng, doanh thu. Câu hỏi của sếp có cả hai: "doanh thu" là measure, "từng vùng", "tháng này" là dimension.</a:t>
            </a:r>
          </a:p>
          <a:p>
            <a:r>
              <a:t>Từ thứ ba quan trọng nhất: Grain, tức là mỗi dòng trong bảng là gì. (→ mở ../B1_Nen_tang_Excel_Du_lieu/Practice/B1_MCI_Mart_Q1_2025_Answer.xlsx, sheet Sales, chỉ vào đơn HD2501-00002 ở dòng 3–4) Các bạn nhìn đơn này: một đơn hàng nhưng có hai dòng, vì khách mua hai sản phẩm. Vậy grain của tblSales là một sản phẩm trong một đơn.</a:t>
            </a:r>
          </a:p>
          <a:p>
            <a:r>
              <a:t>Hiểu grain thì trả lời được câu hỏi lúc nãy: bảng có 6.187 dòng nhưng chỉ có 3.144 đơn. Ai đếm số dòng rồi báo "Quý 1 có 6.187 đơn" là báo sai gần gấp đôi. Lát nữa mình sẽ đếm đơn đúng cách.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3,5 phút.</a:t>
            </a:r>
          </a:p>
          <a:p>
            <a:r>
              <a:t>LỜI GIẢNG</a:t>
            </a:r>
          </a:p>
          <a:p>
            <a:r>
              <a:t>Trong công ty, cùng một chữ "doanh thu" mà phòng Kinh doanh, phòng Tài chính tính ra hai con số khác nhau là chuyện rất thường gặp. Cách chữa là KPI Definition Card: một tờ ghi rõ KPI tên gì, tính thế nào, lấy dữ liệu ở đâu, theo chiều nào, ai chịu trách nhiệm.</a:t>
            </a:r>
          </a:p>
          <a:p>
            <a:r>
              <a:t>(→ phát mẫu Handout/B2_KPI_Definition_Card.docx bản in; cùng lớp điền card Total Revenue theo slide)</a:t>
            </a:r>
          </a:p>
          <a:p>
            <a:r>
              <a:t>Mình điền cùng các bạn card đầu tiên. Tên: Total Revenue. Mục đích: trả lời câu hỏi "bán được bao nhiêu tiền". Công thức: tổng số lượng nhân đơn giá. Để ý dòng Grain: dữ liệu ở mức từng sản phẩm trong đơn, nhưng KPI báo cáo theo tháng. Dòng Ghi chú giới hạn là chỗ các bạn thành thật với người đọc: con số này chưa trừ hàng trả lại.</a:t>
            </a:r>
          </a:p>
          <a:p>
            <a:r>
              <a:t>Hai card còn lại, Total Orders và Gross Margin %, các bạn tự viết trong phần thực hành. Quy tắc của khóa: viết card trước, viết công thức sau.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dạy Excel tự ra quyết định theo quy tắc kinh doanh, bằng IF và các hàm đi cùng nó.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 demo: mở Demo/B2_Demo_Logic.xlsx, sheet Demo_IF; các bước ở sheet Huong_dan) Đây là danh mục 40 sản phẩm của MCI Mart, cộng 2 sản phẩm mới ở cuối chưa có giá bán. Cột F là biên lợi nhuận của từng sản phẩm: giá bán trừ giá vốn, chia giá bán.</a:t>
            </a:r>
          </a:p>
          <a:p>
            <a:r>
              <a:t>Phòng mua hàng muốn chia sản phẩm thành "biên cao" và "biên thấp" với ngưỡng 35%. Một điều kiện, hai kết quả: đó là IF. (→ chọn G2:G43, Delete; gõ G2: =IF(F2&gt;=35%,"Biên cao","Biên thấp"), kéo xuống) Cấu trúc đọc như tiếng Việt: nếu biên từ 35% trở lên thì "Biên cao", ngược lại "Biên thấp". Kết quả: 16 sản phẩm biên cao, 24 biên thấp.</a:t>
            </a:r>
          </a:p>
          <a:p>
            <a:r>
              <a:t>Khi có nhiều hơn hai nhóm thì sao? Phân khúc giá: từ 100 nghìn trở lên là "Cao", từ 30 nghìn là "Trung", còn lại "Thấp". Ngày trước phải lồng IF trong IF rất rối; giờ có IFS. (→ H2: =IFS(D2&gt;=100000,"Cao",D2&gt;=30000,"Trung",TRUE,"Thấp"), kéo xuống) 12 sản phẩm phân khúc Cao.</a:t>
            </a:r>
          </a:p>
          <a:p>
            <a:r>
              <a:t>Câu hỏi cho lớp: nếu mình đảo thứ tự, đặt điều kiện "≥ 30.000" lên trước thì sản phẩm giá 135 nghìn ra gì? (→ chờ) Ra "Trung", vì IFS dừng ở điều kiện đúng đầu tiên. Đặt ngưỡng cao trước.</a:t>
            </a:r>
          </a:p>
          <a:p>
            <a:r>
              <a:t>Còn một điều các bạn nhìn xuống cuối bảng: hai sản phẩm chưa có giá mà IFS vẫn xếp vào "Thấp". Excel coi ô trống là số 0. Công thức không sai cú pháp, nhưng kết luận thì sai. Nhớ ví dụ này, lát nữa gặp lại.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Trước Tết, phòng mua hàng muốn đánh dấu sản phẩm ưu tiên nhập: phải là Bánh kẹo và biên từ 35% trở lên. Hai điều kiện cùng đúng: dùng AND. (→ trên Demo/B2_Demo_Logic.xlsx, sheet Demo_IF: I2 =AND(C2="Bánh kẹo",F2&gt;=35%), kéo xuống) Có 7 sản phẩm thỏa cả hai.</a:t>
            </a:r>
          </a:p>
          <a:p>
            <a:r>
              <a:t>Nhóm "hàng thiết yếu" thì khác: Sữa hoặc Thực phẩm khô, thuộc một trong hai là được. Đó là OR. (→ J2 =OR(C2="Sữa",C2="Thực phẩm khô")) 13 sản phẩm. Muốn lấy nhóm ngược lại, "không thiết yếu", thì bọc NOT bên ngoài. (→ K2 =NOT(J2))</a:t>
            </a:r>
          </a:p>
          <a:p>
            <a:r>
              <a:t>Ba hàm này trả về TRUE/FALSE, nên thường được lồng vào IF để ra nhãn dễ đọc. Mẹo nhớ: AND khó tính, OR dễ tính.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Hai sản phẩm mới chưa có giá, nên cột biên lợi nhuận ra #DIV/0!, chia cho 0. Báo cáo gửi sếp đầy lỗi thì không đẹp. IFERROR cho phép nói: "nếu ra lỗi thì hiện cái này thay thế". (→ trên Demo/B2_Demo_Logic.xlsx, sheet Demo_IF: L2 =IFERROR((D2-E2)/D2,"Chưa có giá"), kéo xuống; P041, P042 ở dòng 42–43)</a:t>
            </a:r>
          </a:p>
          <a:p>
            <a:r>
              <a:t>Nhưng mình muốn các bạn cẩn thận. Rất nhiều người viết IFERROR trả về 0. (→ sửa L42 thành =IFERROR((D42-E42)/D42,0)) Các bạn thấy không: bây giờ sản phẩm này hiện biên 0%. Người đọc sẽ nghĩ "sản phẩm này bán hòa vốn", trong khi sự thật là chưa có dữ liệu. Một con số sai trông như thật còn nguy hiểm hơn một ô báo lỗi.</a:t>
            </a:r>
          </a:p>
          <a:p>
            <a:r>
              <a:t>(→ Ctrl+Z; gõ giá 25000 vào D42) Khi có giá, mọi cột tự tính lại: biên 44%. Quy tắc: IFERROR để làm sạch hiển thị, không phải để giấu vấn đề. Đây là bài học D2 hôm nay: số hiển thị chưa chắc đúng.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ngắn nhưng rất quan trọng: chọn đúng con số để mô tả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demo: mở Demo/B2_Demo_ThongKe.xlsx, sheet Demo_ThongKe; mỗi dòng là một đơn hàng Q1, cột E là giá trị đơn) Sếp hỏi: "Một khách vào MCI Mart thường chi bao nhiêu?" Phản xạ đầu tiên là lấy AVERAGE: 299 nghìn.</a:t>
            </a:r>
          </a:p>
          <a:p>
            <a:r>
              <a:t>Giờ mình tính thêm MEDIAN, trung vị: xếp 3.144 đơn từ nhỏ đến lớn và lấy đơn đứng giữa. (→ chỉ ô I4) 198 nghìn. Chênh nhau hơn 50%!</a:t>
            </a:r>
          </a:p>
          <a:p>
            <a:r>
              <a:t>Theo các bạn, con số nào đúng hơn cho câu "khách thường chi bao nhiêu"? (→ chờ) Trung vị. Một nửa số đơn dưới 198 nghìn. Trung bình bị kéo lên bởi một số đơn rất lớn: đơn lớn nhất là 2 triệu 464 nghìn, trong khi đơn nhỏ nhất chỉ 10 nghìn.</a:t>
            </a:r>
          </a:p>
          <a:p>
            <a:r>
              <a:t>Nhưng lưu ý: KPI Avg Order Value trong dictionary vẫn dùng trung bình, vì nó nhân ngược được ra doanh thu: AOV × số đơn = doanh thu. Không có con số nào "đúng" tuyệt đối; chọn con số theo câu hỏi, và khi báo cáo trung bình thì nhìn thêm trung vị.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Độ lệch chuẩn của giá trị đơn là 290 nghìn, gần bằng chính trung bình: dữ liệu phân tán rất rộng. SKEW bằng 1,77, dương, nghĩa là đuôi dài bên phải: nhiều đơn nhỏ, ít đơn rất to.</a:t>
            </a:r>
          </a:p>
          <a:p>
            <a:r>
              <a:t>Vậy đơn nào là "bất thường"? Cách phổ biến là quy tắc IQR: lấy tứ phân vị thứ ba cộng 1,5 lần khoảng tứ phân vị. (→ trên Demo/B2_Demo_ThongKe.xlsx, sheet Demo_ThongKe, chỉ I9:I13) Ngưỡng là 896.500 đồng, và có 138 đơn vượt ngưỡng.</a:t>
            </a:r>
          </a:p>
          <a:p>
            <a:r>
              <a:t>138 đơn này có nên xóa không? (→ chờ) Không! Đây có thể là khách mua hộp quà Tết, mua sỉ; đúng là khách thật và doanh thu thật. Việc của người làm BI là giải thích outlier trước khi báo cáo: chúng đến từ đâu, có phải lỗi nhập liệu không. Xóa đi thì trung bình đẹp hơn nhưng báo cáo sai.</a:t>
            </a:r>
          </a:p>
          <a:p>
            <a:r>
              <a:t>(→ [có thể rút gọn] sort cột E giảm dần để thấy đơn lớn nhất HD2502-00141, rồi Ctrl+Z)</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 trên Demo/B2_Demo_ThongKe.xlsx, sheet Demo_RANK: E2 =RANK.EQ(D2,$D$2:$D$13,0), kéo xuống) Hàm cuối của phần này: RANK.EQ, xếp hạng cửa hàng theo doanh thu Quý 1. Đối số thứ hai là danh sách để so, và nó phải khóa bằng đô-la; các bạn thấy không, lại là bài học F4 hôm qua.</a:t>
            </a:r>
          </a:p>
          <a:p>
            <a:r>
              <a:t>Quận 1 đứng đầu với 130 triệu, Hạ Long đứng cuối với 45 triệu. Nhưng khoan kết luận Hạ Long "kém": một cửa hàng Mall ở trung tâm và một cửa hàng mặt phố ở tỉnh có quy mô khác nhau. Xếp hạng chỉ có nghĩa khi so cùng loại; câu hỏi "vì sao" thì để Buổi 3 trả lời.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3 là phần quan trọng nhất hôm nay. Khái niệm các bạn học ở đây sẽ quay lại ở Buổi 3 và Buổi 5 dưới hai cái tên khác.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Mình vẽ một hình và mong các bạn nhớ nó đến hết khóa. Bên phải là một ô kết quả: doanh thu Miền Bắc tháng 3. Để ra con số đó, Excel làm hai việc: lọc những dòng có Vùng = Bắc và Tháng = 3, rồi cộng cột Revenue của những dòng còn lại.</a:t>
            </a:r>
          </a:p>
          <a:p>
            <a:r>
              <a:t>Mỗi điều kiện là một bộ lọc. Hôm nay, trong SUMIFS, chúng ta gọi nó là criteria. Buổi 3, trong Pivot, nó là tọa độ của ô. Buổi 5, trong DAX, nó là filter context. Cùng một ý, ba cái tên. Hiểu nó hôm nay thì Buổi 5 nhẹ đi một nửa.</a:t>
            </a:r>
          </a:p>
          <a:p>
            <a:r>
              <a:t>(→ demo: mở Demo/B2_Demo_SUMIFS.xlsx, sheet Sales; lọc Region = Bắc, Thang = 3; chọn cột Revenue, nhìn Status Bar) Mình làm đúng việc đó bằng tay: lọc Bắc, lọc tháng 3, chọn cột Revenue. Status Bar: 90.210.000, 635 dòng. (→ Clear Filter; sang sheet Demo_SUMIFS, ô D4) Và đây là SUMIFS làm cùng việc đó trong một công thức: cũng 90.210.000.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8,5 phút.</a:t>
            </a:r>
          </a:p>
          <a:p>
            <a:r>
              <a:t>LỜI GIẢNG</a:t>
            </a:r>
          </a:p>
          <a:p>
            <a:r>
              <a:t>Cú pháp SUMIFS: đối số đầu tiên là cột cần cộng, sau đó là từng cặp: cột để lọc, giá trị lọc. Muốn thêm bộ lọc thì thêm cặp. (→ trên Demo/B2_Demo_SUMIFS.xlsx, sheet Demo_SUMIFS: F2 vào D4, chỉ từng phần) Ở đây giá trị lọc không gõ cứng "Bắc" mà trỏ vào ô B4, để mình đổi được.</a:t>
            </a:r>
          </a:p>
          <a:p>
            <a:r>
              <a:t>(→ đổi B4:B7 thành Nam, C4:C7 thành 1) Đổi thành Nam, tháng 1: 194 triệu 437 nghìn. Một công thức, trả lời được mọi cặp vùng – tháng.</a:t>
            </a:r>
          </a:p>
          <a:p>
            <a:r>
              <a:t>COUNTIFS cùng cấu trúc nhưng không có cột cần cộng, chỉ đếm. (→ trả B4:B7 về Bắc, C4:C7 về 3; chỉ D5, D6) Đếm Bắc tháng 3 ra 635. Câu hỏi: 635 là số đơn phải không? (→ chờ) Không, đó là số dòng, nhớ grain! Mỗi đơn có đúng một dòng Line_No bằng 1, nên thêm điều kiện Line_No = 1 là đếm được đơn: 321 đơn.</a:t>
            </a:r>
          </a:p>
          <a:p>
            <a:r>
              <a:t>AVERAGEIFS là trung bình có điều kiện: 142 nghìn mỗi dòng. Cẩn thận: đây là trung bình mỗi dòng sản phẩm, không phải giá trị đơn trung bình.</a:t>
            </a:r>
          </a:p>
          <a:p>
            <a:r>
              <a:t>Lỗi hay gặp: viết SUMIFS trên vùng thường mà vùng cộng và vùng tiêu chí lệch kích thước, Excel báo #VALUE!. Dùng cột của Table thì không bao giờ bị.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Sếp không hỏi một ô mà hỏi cả bảng: 3 miền × 3 tháng. Viết 9 công thức SUMIFS? Không cần, viết một công thức rồi kéo, và đây là lúc dấu đô-la hôm qua phát huy. (→ trên Demo/B2_Demo_SUMIFS.xlsx, sheet Demo_SUMIFS: xóa B12:D14, gõ B12 =SUMIFS(tblSales[Revenue],tblSales[Region],$A12,tblSales[Thang],B$11), kéo sang D12 rồi xuống dòng 14)</a:t>
            </a:r>
          </a:p>
          <a:p>
            <a:r>
              <a:t>Tên miền nằm ở cột A, nên khóa cột: đô-la A. Tháng nằm ở dòng 11, nên khóa dòng: B đô-la 11. Kéo ra 9 ô, và đối soát: ô tổng E15 phải bằng tổng cột Revenue, 941.454.000; ô E17 là hiệu hai số, bằng 0.</a:t>
            </a:r>
          </a:p>
          <a:p>
            <a:r>
              <a:t>Nhìn hàng Tổng: tháng 1 là 425,9 triệu, tháng 2 chỉ còn 246 triệu. Giảm hơn 40% chỉ sau một tháng. Mình ghi lại câu hỏi "vì sao?" lên góc bảng; hôm nay chưa trả lời, Buổi 3 sẽ trả lời.</a:t>
            </a:r>
          </a:p>
          <a:p>
            <a:r>
              <a:t>Một cái bẫy cuối. (→ cuộn tới khối Gross Margin % theo ngành, dòng 20–28) Muốn biên lợi nhuận toàn công ty, nhiều bạn lấy AVERAGE biên của 6 ngành: 31,2%. Sai. Ngành Sữa rất nhỏ, chỉ 16 triệu doanh thu, nhưng được tính "một phiếu" ngang với Bánh kẹo 339 triệu. Cách đúng là tổng lãi gộp chia tổng doanh thu: 34,2%. Với mọi KPI dạng tỷ lệ: tổng chia tổng, không lấy trung bình của trung bình.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Mình nghỉ 10 phút. Khi quay lại, các bạn mở sẵn file khởi đầu và file Practice/B2_Product_DuplicateKey.xlsx. Phần tiếp theo là nối bảng.</a:t>
            </a:r>
          </a:p>
          <a:p>
            <a:r>
              <a:t>(→ trong giờ nghỉ: kiểm tra học viên đã mở được file khởi đầu, đổi tên file theo tên mình)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tblSales có mã sản phẩm nhưng không có ngành hàng và giá vốn. Hai thứ đó nằm ở bảng Product. Phần 4 là cách nối hai bảng.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demo: mở Demo/B2_Demo_Lookup.xlsx, sheet Demo_VLOOKUP; các bước ở sheet Huong_dan) VLOOKUP là hàm tra cứu nổi tiếng nhất. Bốn đối số: tìm cái gì, tìm trong bảng nào, lấy cột thứ mấy, và khớp kiểu gì.</a:t>
            </a:r>
          </a:p>
          <a:p>
            <a:r>
              <a:t>Mình tra giá vốn, cột thứ 5 của bảng Product. Cột B viết đủ FALSE, cột C bỏ trống đối số cuối. Bốn mã đầu, hai cột giống nhau. Nhưng nhìn P041, mã hàng mới chưa có trong danh mục, và P21, mã gõ thiếu số 0. Cột B báo #N/A: đúng, không có mã này. Cột C trả về 71.500. Không báo lỗi gì cả.</a:t>
            </a:r>
          </a:p>
          <a:p>
            <a:r>
              <a:t>71.500 là gì? Là giá vốn của P040, dòng cuối cùng. Bỏ trống đối số cuối, VLOOKUP hiểu là khớp gần đúng: không thấy mã thì lấy mã gần nhất nhỏ hơn. Với bảng giá theo bậc thì hữu ích, còn tra mã sản phẩm thì là thảm họa. Luôn viết FALSE.</a:t>
            </a:r>
          </a:p>
          <a:p>
            <a:r>
              <a:t>VLOOKUP còn hai hạn chế: chỉ tìm được ở cột đầu và chỉ trả về cột bên phải; và số 5 là "số cứng", chèn thêm cột vào bảng là trả sai cột.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Cách khắc phục cổ điển là cặp INDEX / MATCH. (→ trên Demo/B2_Demo_Lookup.xlsx, sheet Demo_XLOOKUP, cột B) MATCH trả lời "mã này nằm ở dòng thứ mấy", số 0 cuối là khớp chính xác. INDEX trả lời "cột giá vốn, dòng thứ mấy, là bao nhiêu".</a:t>
            </a:r>
          </a:p>
          <a:p>
            <a:r>
              <a:t>Vì cột tìm và cột trả về tách rời nhau nên không còn giới hạn "cột đầu, bên phải", chèn cột cũng không sai. Nhược điểm: dài và khó đọc. Bạn nào dùng Excel 2016 hoặc 2019 thì đây là cách chính của bạn; còn Microsoft 365 có cách gọn hơn.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XLOOKUP gộp mọi ưu điểm: tìm ở đâu, trả về đâu, chỉ cần chỉ ra hai cột. Mặc định là khớp chính xác, không có cái bẫy như VLOOKUP. (→ trên Demo/B2_Demo_Lookup.xlsx, sheet Demo_XLOOKUP, cột C) P005 ra 83.500, và P041, P21 hiện "Không có mã" nhờ đối số thứ tư.</a:t>
            </a:r>
          </a:p>
          <a:p>
            <a:r>
              <a:t>Vì cột trả về có thể nằm bên trái, mình tra ngược được: từ tên sản phẩm ra mã. (→ cột F) "Gạo thơm 5kg" ra P014.</a:t>
            </a:r>
          </a:p>
          <a:p>
            <a:r>
              <a:t>Trong phần thực hành, các bạn viết XLOOKUP ngay trong tblSales, theo tên cột, như trên slide. Viết một ô, Table tự điền 6.187 dòng. Và lưu ý PRO TIP: đối số "không tìm thấy" rất tiện, nhưng nếu dùng nó để giấu #N/A thì các bạn đang lặp lại sai lầm IFERROR bằng 0 lúc nãy.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6,5 phút.</a:t>
            </a:r>
          </a:p>
          <a:p>
            <a:r>
              <a:t>LỜI GIẢNG</a:t>
            </a:r>
          </a:p>
          <a:p>
            <a:r>
              <a:t>Giờ đến bài học quan trọng nhất của phần này. (→ trên Demo/B2_Demo_Lookup.xlsx, sheet Demo_KhoaTrung) Đây là 143 dòng bán P021, bánh quy bơ hộp thiếc, trong Quý 1. Cột E là giá vốn tra bằng XLOOKUP: 62.000. Không có ô nào báo lỗi.</a:t>
            </a:r>
          </a:p>
          <a:p>
            <a:r>
              <a:t>Nhưng giá vốn thật của P021 là 69.000. (→ sang sheet Product, dòng 22–23) Nhìn đây: P021 xuất hiện hai lần. Dòng trên là bản ghi cũ, sản phẩm đã ngừng kinh doanh năm 2024, còn sót lại trong danh mục. XLOOKUP gặp dòng nào trước thì lấy dòng đó, và im lặng.</a:t>
            </a:r>
          </a:p>
          <a:p>
            <a:r>
              <a:t>Hậu quả là gì? Doanh thu không đổi, vì giá bán lấy từ Sales. Nhưng giá vốn bị thấp đi gần 1,8 triệu, nên biên lợi nhuận đẹp hơn thực tế: 34,4% thay vì 34,2%. Chênh lệch nhỏ nên càng khó phát hiện; báo cáo lên sếp là con số sai mà ai cũng tin.</a:t>
            </a:r>
          </a:p>
          <a:p>
            <a:r>
              <a:t>Đây là luật thứ nhất của lookup: khóa phải duy nhất. Trước khi tra, luôn kiểm tra bảng tra bằng COUNTIF. (→ ô D3, D4: P021 xuất hiện 2 lần; 2 dòng bị trùng) (→ xóa dòng 22 ở sheet Product; quay lại Demo_KhoaTrung: cột E thành 69.000, D5 = D6 = 17.664.000) Xóa bản ghi cũ, mọi thứ đúng lại.</a:t>
            </a:r>
          </a:p>
          <a:p>
            <a:r>
              <a:t>Và đây là tinh thần D2 của khóa: con số hiển thị chưa chắc đúng. Không có lỗi không có nghĩa là không có sai.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Luật thứ hai: khóa hai bên phải giống nhau từng ký tự và cùng kiểu. (→ trên Demo/B2_Demo_Lookup.xlsx, sheet Demo_KieuKhoa) Mã vùng số 1 trong bảng tra là số, nhưng giá trị tra lấy từ file CSV là chữ "1". Nhìn giống hệt, Excel vẫn báo #N/A. Sửa: VALUE để đổi chữ thành số.</a:t>
            </a:r>
          </a:p>
          <a:p>
            <a:r>
              <a:t>Mã "P005" có một dấu cách vô hình ở cuối. (→ gõ =LEN(A11) ở ô trống: ra 5) Bốn ký tự mà LEN ra 5. Sửa bằng TRIM. Bài về nhà hôm nay có đúng loại lỗi này, nên các bạn nhớ mẹo LEN.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vài hàm chữ và ngày để chuẩn bị cột Tháng, Quý, Thứ cho bảng KPI.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 demo: mở Demo/B2_Demo_Text_Date.xlsx, sheet Demo_Text) Mã đơn MCI Mart có quy luật: "HD", rồi năm-tháng, gạch ngang, số thứ tự. LEFT lấy ký tự bên trái, RIGHT bên phải, MID lấy ở giữa: từ ký tự thứ 3, lấy 4 ký tự, ra "2501".</a:t>
            </a:r>
          </a:p>
          <a:p>
            <a:r>
              <a:t>Tên cửa hàng gõ tay có dấu cách thừa lung tung. TRIM dọn sạch: bỏ cách ở đầu, cuối, và rút các cách ở giữa còn một. (→ gõ =LEN(C2) và =LEN(H2)) Độ dài từ 21 còn 17.</a:t>
            </a:r>
          </a:p>
          <a:p>
            <a:r>
              <a:t>Dấu &amp; nối chuỗi: mã cửa hàng, gạch ngang, tên. Và TEXT định dạng số thành chữ theo mẫu. (→ gõ =J2+1: ra #VALUE!) Nhưng các bạn thấy: kết quả của TEXT là chữ, cộng vào là lỗi. Tính toán bằng số, TEXT chỉ để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6,5 phút.</a:t>
            </a:r>
          </a:p>
          <a:p>
            <a:r>
              <a:t>LỜI GIẢNG</a:t>
            </a:r>
          </a:p>
          <a:p>
            <a:r>
              <a:t>(→ trên Demo/B2_Demo_Text_Date.xlsx, sheet Demo_Date) Ngày trong Excel thật ra là một con số đếm từ năm 1900, nên cộng trừ được. EOMONTH trả về ngày cuối tháng: đối số 0 là tháng này, âm 1 là tháng trước. Cuối tháng trước cộng 1 là ngày đầu tháng, mẹo rất hay dùng.</a:t>
            </a:r>
          </a:p>
          <a:p>
            <a:r>
              <a:t>Để phân tích theo thời gian, bảng KPI cần cột Tháng, Quý và Thứ. MONTH ra số tháng. Quý thì chia tháng cho 3 rồi làm tròn lên. Thứ dùng TEXT với mẫu "ddd"; máy tiếng Anh ra "Wed", máy tiếng Việt ra "T4". Nếu cần con số để sắp xếp thì dùng WEEKDAY với kiểu 2: thứ Hai là 1, Chủ nhật là 7. Ngày 29/01/2025, mùng 1 Tết Ất Tỵ, là thứ Tư.</a:t>
            </a:r>
          </a:p>
          <a:p>
            <a:r>
              <a:t>Cuối cùng NETWORKDAYS: số ngày làm việc giữa hai ngày, có thể trừ danh sách ngày lễ. (→ chỉ khối A10:E12) Tháng 1/2025 có 23 ngày thứ Hai đến thứ Sáu, nhưng trừ Tết Dương lịch và 5 ngày nghỉ Tết thì chỉ còn 17 ngày. Nhớ con số này; nó liên quan tới câu hỏi "vì sao" chúng ta vừa ghi lên bảng.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Trước khi thực hành, chốt lại bằng một bảng: bắt đầu từ câu hỏi, rồi mới chọn hàm. Đừng hỏi "hàm này dùng làm gì", hãy hỏi "câu hỏi này cần hàm nào". Bảng này là cẩm nang cho phần thực hành ngay sau đây.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15 phút.</a:t>
            </a:r>
          </a:p>
          <a:p>
            <a:r>
              <a:t>LỜI GIẢNG (giao bài)</a:t>
            </a:r>
          </a:p>
          <a:p>
            <a:r>
              <a:t>Giờ đến lượt các bạn, 15 phút. Mở file khởi đầu (→ ../B1_Nen_tang_Excel_Du_lieu/Practice/B1_MCI_Mart_Q1_2025_Answer.xlsx) và file sản phẩm (→ Practice/B2_Product_DuplicateKey.xlsx). Việc đầu tiên là chép sheet Product sang file của bạn: chuột phải vào tab, Move or Copy, chọn file của bạn, nhớ tick "Create a copy".</a:t>
            </a:r>
          </a:p>
          <a:p>
            <a:r>
              <a:t>Bước 2 là bước D2: trước khi tra, kiểm tra khóa. Thêm một cột COUNTIF tạm vào bảng Product, lọc những dòng lớn hơn 1. Các bạn đã biết trước là P021; xóa dòng bản ghi cũ đi rồi xóa cột kiểm tra.</a:t>
            </a:r>
          </a:p>
          <a:p>
            <a:r>
              <a:t>Bước 3 và 4: thêm các cột vào tblSales bằng công thức theo tên cột. Gõ ở một ô, Table tự điền cả cột.</a:t>
            </a:r>
          </a:p>
          <a:p>
            <a:r>
              <a:t>Tự kiểm tra: chọn cột COGS, Status Bar phải ra 619.663.000. Nếu bạn ra 617.871.000, thiếu đúng 1.792.000, thì bạn chưa xóa bản ghi P021 cũ.</a:t>
            </a:r>
          </a:p>
          <a:p>
            <a:r>
              <a:t>GHI CHÚ GIẢNG VIÊN</a:t>
            </a:r>
          </a:p>
          <a:p>
            <a:r>
              <a:t>Đi vòng lớp. Ba lỗi hay gặp nhất:</a:t>
            </a:r>
          </a:p>
          <a:p>
            <a:r>
              <a:t>Chép Product bằng copy–paste vùng thay vì Move or Copy → mất tên bảng tblProduct; đặt lại tên trong Table Design.</a:t>
            </a:r>
          </a:p>
          <a:p>
            <a:r>
              <a:t>Quên xóa P021 cũ (COGS 617.871.000).</a:t>
            </a:r>
          </a:p>
          <a:p>
            <a:r>
              <a:t>Cột Thu ra số (ví dụ 45658) → ô đang định dạng Number; đổi về General.</a:t>
            </a:r>
          </a:p>
          <a:p>
            <a:r>
              <a:t>Máy Excel 2016/2019 không có XLOOKUP, IFS: dùng INDEX/MATCH và IF lồng.</a:t>
            </a:r>
          </a:p>
          <a:p>
            <a:r>
              <a:t>Ai xong sớm: làm trước Thực hành 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12 phút.</a:t>
            </a:r>
          </a:p>
          <a:p>
            <a:r>
              <a:t>LỜI GIẢNG (giao bài)</a:t>
            </a:r>
          </a:p>
          <a:p>
            <a:r>
              <a:t>Bài 2 trả lời câu hỏi đầu buổi của sếp. 12 phút.</a:t>
            </a:r>
          </a:p>
          <a:p>
            <a:r>
              <a:t>Nhớ quy tắc: một công thức, kéo ra cả bảng. Nếu phải sửa từng ô là bạn đang khóa đô-la sai chỗ. Số đơn thì nhớ grain: thêm điều kiện Line_No bằng 1. AOV và biên lợi nhuận là tỷ lệ, nên dòng Tổng tính tổng chia tổng.</a:t>
            </a:r>
          </a:p>
          <a:p>
            <a:r>
              <a:t>Đáp án để tự kiểm: tổng bảng doanh thu 941.454.000, trùng tổng cột Revenue. Tháng 1 là 425 triệu 850 nghìn. Tổng số đơn 3.144. Nếu số đơn của bạn ra 6.187 thì bạn đang đếm dòng.</a:t>
            </a:r>
          </a:p>
          <a:p>
            <a:r>
              <a:t>Còn thời gian thì viết nốt hai KPI card. Không kịp thì hoàn thành ở nhà, cùng với bài về nhà.</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 mở Practice/B2_MCI_Mart_Q1_2025_Answer.xlsx, sheet Kiem_tra) Đây là file đáp án, sheet Kiem_tra có 10 dòng đối soát, tất cả tick xanh. Để ý dòng cuối sheet: nếu COGS của bạn ra 617.871.000 thì là lỗi P021. File này là file khởi đầu Buổi 3, và bảng KPI_SUMIFS trong đó sẽ là "đáp án" để các bạn đối soát khi dựng Pivot và khi viết measure ở Buổi 5. Đừng xóa nó.</a:t>
            </a:r>
          </a:p>
          <a:p>
            <a:r>
              <a:t>(→ hỏi lớp) Bạn nào tick đủ 5 ô? Ai còn thiếu thì mở file đáp án so với file của mình để biết sót ở đâu.</a:t>
            </a:r>
          </a:p>
          <a:p>
            <a:r>
              <a:t>GHI CHÚ GIẢNG VIÊN (kiểm tra cuối buổi, theo Course Plan)</a:t>
            </a:r>
          </a:p>
          <a:p>
            <a:r>
              <a:t>Tổng bảng KPI SUMIFS = tổng cột Revenue; không còn #N/A; đủ 3 KPI card (card nào chưa xong thì làm cùng bài về nhà).</a:t>
            </a:r>
          </a:p>
          <a:p>
            <a:r>
              <a:t>Nhắc lưu bảng SUMIFS: đối soát ở B3 và B5.</a:t>
            </a:r>
          </a:p>
          <a:p>
            <a:r>
              <a:t>Học viên dùng Mac: hỏi lại tiến độ máy Windows (hạn chót trước B4).</a:t>
            </a:r>
          </a:p>
          <a:p>
            <a:r>
              <a:t>D2 mong đợi: Developing (phát hiện P021 khi được nhắc; dùng IFERROR có chủ đích).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7 câu hỏi nhanh. Câu 6 và 7 là tình huống; các bạn phải suy luận.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Đáp án B, Trung. IFS dừng ở điều kiện đúng đầu tiên; 135 nghìn đã lớn hơn 30 nghìn nên không bao giờ tới điều kiện "Cao". Đặt ngưỡng cao trước.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Dữ liệu lệch phải: vài đơn rất lớn kéo trung bình lên. Không phải lỗi, và C sai vì một nửa số đơn nằm dưới trung vị, không phải dưới trung bình.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SUMIFS: cột cần cộng đứng đầu, sau đó là từng cặp vùng – tiêu chí. Hàm SUMIF cũ, không có chữ S, thì ngược lại; đó là lý do nên dùng luôn SUMIFS.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Và khớp gần đúng với mã sản phẩm là cái bẫy: P041 ra giá của P040. Luôn viết FALSE, hoặc dùng XLOOKUP.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ngày cuối tháng 2 năm 2025, là 28 vì 2025 không nhuận. Muốn ngày đầu tháng thì EOMONTH với âm 1, cộng 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Không có lỗi không có nghĩa là không có sai. Khóa trùng làm XLOOKUP lấy dòng đầu tiên mà không báo gì, đúng như P021 hôm nay. Khi con số "đẹp bất thường", nghi ngờ trước, ăn mừng sau.</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KPI tỷ lệ luôn tổng chia tổng. Lấy trung bình 3 miền là coi miền nhỏ nặng ngang miền lớn, giống ví dụ biên lợi nhuận 31,2% và 34,2% lúc nãy.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Tổng kết 5 điều cần nhớ (→ đọc lướt 5 ý trên slide).</a:t>
            </a:r>
          </a:p>
          <a:p>
            <a:r>
              <a:t>Giờ viết câu insight, 1 phút, nhìn vào bảng KPI của bạn.</a:t>
            </a:r>
          </a:p>
          <a:p>
            <a:r>
              <a:t>(→ chờ 1 phút, gọi 2–3 bạn đọc)</a:t>
            </a:r>
          </a:p>
          <a:p>
            <a:r>
              <a:t>Câu mẫu: "Doanh thu tháng 1/2025 là 425,9 triệu, cao hơn tháng 2 khoảng 73% (246 triệu). Số đơn giảm từ 1.398 xuống 823 trong khi AOV gần như giữ nguyên, khoảng 300 nghìn, nên doanh thu giảm vì ít lượt mua hơn, không phải vì khách chi ít hơn mỗi lần; cần xem theo ngày để biết điều gì xảy ra quanh cuối tháng 1."</a:t>
            </a:r>
          </a:p>
          <a:p>
            <a:r>
              <a:t>Để ý: câu này chưa nói "vì Tết". Chúng ta nghi là Tết, và nhớ NETWORKDAYS tháng 1 chỉ còn 17 ngày làm việc, nhưng chưa chứng minh. Buổi 3, với Pivot theo ngày, các bạn sẽ tự kiểm chứng.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 phút.</a:t>
            </a:r>
          </a:p>
          <a:p>
            <a:r>
              <a:t>LỜI GIẢNG</a:t>
            </a:r>
          </a:p>
          <a:p>
            <a:r>
              <a:t>Hôm nay các bạn đã trả lời được câu hỏi của sếp theo miền và tháng. Nhưng nếu sếp hỏi tiếp "theo cửa hàng", "theo thứ trong tuần", "theo ngành hàng", thì mỗi chiều mới các bạn lại phải dựng một bảng SUMIFS mới. Đó là giới hạn của SUMIFS, và là lý do Buổi 3 học PivotTable: kéo thả là đổi chiều. Buổi sau chúng ta cũng sẽ trả lời câu hỏi "vì sao tháng 1 cao hơn hẳn tháng 2".</a:t>
            </a:r>
          </a:p>
          <a:p>
            <a:r>
              <a:t>Về nhà: đọc handout Buổi 2, có thêm nhiều hàm hay như MAXIFS, SWITCH, WORKDAY. Làm bài tập về nhà bắt buộc: dữ liệu tháng 4 đã sạch, các bạn tra Region, ngành hàng, giá vốn, dựng bảng doanh thu Miền × Ngành hàng bằng một công thức SUMIFS, bảng số đơn, AOV, biên lợi nhuận theo miền, viết card cho AOV và một câu insight. Trong file có một lỗi lookup được cài sẵn; nhớ mẹo LEN hôm nay. Nộp trước Buổi 3 trên hocvien.mcivietnam.com.</a:t>
            </a:r>
          </a:p>
          <a:p>
            <a:r>
              <a:t>Cảm ơn cả lớp, hẹn gặp lại Buổi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2: Hàm cho phân tích — từ dữ liệu giao dịch đến KPI</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457200"/>
          </a:xfrm>
          <a:prstGeom prst="rect">
            <a:avLst/>
          </a:prstGeom>
          <a:noFill/>
          <a:ln>
            <a:noFill/>
          </a:ln>
        </p:spPr>
        <p:txBody>
          <a:bodyPr wrap="square" lIns="0" tIns="0" rIns="0" bIns="0" rtlCol="0" anchor="t">
            <a:noAutofit/>
          </a:bodyPr>
          <a:lstStyle/>
          <a:p>
            <a:pPr marL="0" indent="0">
              <a:buNone/>
            </a:pPr>
            <a:r>
              <a:rPr lang="vi-VN" sz="1400">
                <a:solidFill>
                  <a:srgbClr val="585858"/>
                </a:solidFill>
              </a:rPr>
              <a:t>Mở sẵn: file khởi đầu B1_MCI_Mart_Q1_2025_Answer.xlsx · B2_Product_DuplicateKey.xlsx</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ier chip"/>
          <p:cNvSpPr/>
          <p:nvPr/>
        </p:nvSpPr>
        <p:spPr>
          <a:xfrm>
            <a:off x="9354312" y="548640"/>
            <a:ext cx="228600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1 — Descriptive</a:t>
            </a:r>
          </a:p>
        </p:txBody>
      </p:sp>
      <p:sp>
        <p:nvSpPr>
          <p:cNvPr id="5" name="TextBox"/>
          <p:cNvSpPr txBox="1"/>
          <p:nvPr/>
        </p:nvSpPr>
        <p:spPr>
          <a:xfrm>
            <a:off x="1527048" y="1645920"/>
            <a:ext cx="4937760" cy="2011680"/>
          </a:xfrm>
          <a:prstGeom prst="rect">
            <a:avLst/>
          </a:prstGeom>
          <a:noFill/>
        </p:spPr>
        <p:txBody>
          <a:bodyPr wrap="square" lIns="0" rIns="0" tIns="0" bIns="0" anchor="t">
            <a:spAutoFit/>
          </a:bodyPr>
          <a:lstStyle/>
          <a:p>
            <a:r>
              <a:rPr sz="2800" b="1">
                <a:solidFill>
                  <a:srgbClr val="203864"/>
                </a:solidFill>
                <a:latin typeface="Arial"/>
              </a:rPr>
              <a:t>“Doanh thu, số đơn, biên lợi nhuận của từng vùng tháng này là bao nhiêu?”</a:t>
            </a:r>
          </a:p>
        </p:txBody>
      </p:sp>
      <p:sp>
        <p:nvSpPr>
          <p:cNvPr id="6" name="TextBox"/>
          <p:cNvSpPr txBox="1"/>
          <p:nvPr/>
        </p:nvSpPr>
        <p:spPr>
          <a:xfrm>
            <a:off x="1527048" y="3840480"/>
            <a:ext cx="4937760" cy="365760"/>
          </a:xfrm>
          <a:prstGeom prst="rect">
            <a:avLst/>
          </a:prstGeom>
          <a:noFill/>
        </p:spPr>
        <p:txBody>
          <a:bodyPr wrap="square" lIns="0" rIns="0" tIns="0" bIns="0" anchor="t">
            <a:spAutoFit/>
          </a:bodyPr>
          <a:lstStyle/>
          <a:p>
            <a:r>
              <a:rPr sz="1600" b="0">
                <a:solidFill>
                  <a:srgbClr val="585858"/>
                </a:solidFill>
                <a:latin typeface="Arial"/>
              </a:rPr>
              <a:t>— Giám đốc bán hàng, MCI Mart</a:t>
            </a:r>
          </a:p>
        </p:txBody>
      </p:sp>
      <p:sp>
        <p:nvSpPr>
          <p:cNvPr id="7" name="Keyword"/>
          <p:cNvSpPr/>
          <p:nvPr/>
        </p:nvSpPr>
        <p:spPr>
          <a:xfrm>
            <a:off x="1527048" y="4480560"/>
            <a:ext cx="150876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Doanh thu</a:t>
            </a:r>
          </a:p>
        </p:txBody>
      </p:sp>
      <p:sp>
        <p:nvSpPr>
          <p:cNvPr id="8" name="Keyword"/>
          <p:cNvSpPr/>
          <p:nvPr/>
        </p:nvSpPr>
        <p:spPr>
          <a:xfrm>
            <a:off x="3172968" y="4480560"/>
            <a:ext cx="150876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Số đơn</a:t>
            </a:r>
          </a:p>
        </p:txBody>
      </p:sp>
      <p:sp>
        <p:nvSpPr>
          <p:cNvPr id="9" name="Keyword"/>
          <p:cNvSpPr/>
          <p:nvPr/>
        </p:nvSpPr>
        <p:spPr>
          <a:xfrm>
            <a:off x="4818888" y="4480560"/>
            <a:ext cx="150876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Biên lợi nhuận</a:t>
            </a:r>
          </a:p>
        </p:txBody>
      </p:sp>
      <p:sp>
        <p:nvSpPr>
          <p:cNvPr id="10" name="TextBox"/>
          <p:cNvSpPr txBox="1"/>
          <p:nvPr/>
        </p:nvSpPr>
        <p:spPr>
          <a:xfrm>
            <a:off x="1527048" y="5029200"/>
            <a:ext cx="4937760" cy="731520"/>
          </a:xfrm>
          <a:prstGeom prst="rect">
            <a:avLst/>
          </a:prstGeom>
          <a:noFill/>
        </p:spPr>
        <p:txBody>
          <a:bodyPr wrap="square" lIns="0" rIns="0" tIns="0" bIns="0" anchor="t">
            <a:spAutoFit/>
          </a:bodyPr>
          <a:lstStyle/>
          <a:p>
            <a:r>
              <a:rPr sz="1600" b="0">
                <a:solidFill>
                  <a:srgbClr val="585858"/>
                </a:solidFill>
                <a:latin typeface="Arial"/>
              </a:rPr>
              <a:t>… của từng vùng … tháng này: Dimension nào? Measure nào? Đếm cái gì?</a:t>
            </a:r>
          </a:p>
        </p:txBody>
      </p:sp>
      <p:graphicFrame>
        <p:nvGraphicFramePr>
          <p:cNvPr id="11" name="Empty KPI table"/>
          <p:cNvGraphicFramePr>
            <a:graphicFrameLocks noGrp="1"/>
          </p:cNvGraphicFramePr>
          <p:nvPr/>
        </p:nvGraphicFramePr>
        <p:xfrm>
          <a:off x="6766560" y="1737360"/>
          <a:ext cx="4892040" cy="2560320"/>
        </p:xfrm>
        <a:graphic>
          <a:graphicData uri="http://schemas.openxmlformats.org/drawingml/2006/table">
            <a:tbl>
              <a:tblPr firstRow="1" bandRow="0"/>
              <a:tblGrid>
                <a:gridCol w="1371600"/>
                <a:gridCol w="1188720"/>
                <a:gridCol w="1188720"/>
                <a:gridCol w="1143000"/>
              </a:tblGrid>
              <a:tr h="640080">
                <a:tc>
                  <a:txBody>
                    <a:bodyPr wrap="square"/>
                    <a:lstStyle/>
                    <a:p>
                      <a:r>
                        <a:rPr sz="1600" b="1">
                          <a:solidFill>
                            <a:srgbClr val="FFFFFF"/>
                          </a:solidFill>
                          <a:latin typeface="Arial"/>
                        </a:rPr>
                        <a:t>Miền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600" b="1">
                          <a:solidFill>
                            <a:srgbClr val="FFFFFF"/>
                          </a:solidFill>
                          <a:latin typeface="Arial"/>
                        </a:rPr>
                        <a:t>Doanh thu</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600" b="1">
                          <a:solidFill>
                            <a:srgbClr val="FFFFFF"/>
                          </a:solidFill>
                          <a:latin typeface="Arial"/>
                        </a:rPr>
                        <a:t>Số đơn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600" b="1">
                          <a:solidFill>
                            <a:srgbClr val="FFFFFF"/>
                          </a:solidFill>
                          <a:latin typeface="Arial"/>
                        </a:rPr>
                        <a:t>Biên LN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640080">
                <a:tc>
                  <a:txBody>
                    <a:bodyPr wrap="square"/>
                    <a:lstStyle/>
                    <a:p>
                      <a:r>
                        <a:rPr sz="1600" b="1">
                          <a:solidFill>
                            <a:srgbClr val="1B2230"/>
                          </a:solidFill>
                          <a:latin typeface="Arial"/>
                        </a:rPr>
                        <a:t>Bắc</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r>
              <a:tr h="640080">
                <a:tc>
                  <a:txBody>
                    <a:bodyPr wrap="square"/>
                    <a:lstStyle/>
                    <a:p>
                      <a:r>
                        <a:rPr sz="1600" b="1">
                          <a:solidFill>
                            <a:srgbClr val="1B2230"/>
                          </a:solidFill>
                          <a:latin typeface="Arial"/>
                        </a:rPr>
                        <a:t>Trung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r>
              <a:tr h="640080">
                <a:tc>
                  <a:txBody>
                    <a:bodyPr wrap="square"/>
                    <a:lstStyle/>
                    <a:p>
                      <a:r>
                        <a:rPr sz="1600" b="1">
                          <a:solidFill>
                            <a:srgbClr val="1B2230"/>
                          </a:solidFill>
                          <a:latin typeface="Arial"/>
                        </a:rPr>
                        <a:t>Nam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2" name="TextBox"/>
          <p:cNvSpPr txBox="1"/>
          <p:nvPr/>
        </p:nvSpPr>
        <p:spPr>
          <a:xfrm>
            <a:off x="6766560" y="4572000"/>
            <a:ext cx="4892040" cy="731520"/>
          </a:xfrm>
          <a:prstGeom prst="rect">
            <a:avLst/>
          </a:prstGeom>
          <a:noFill/>
        </p:spPr>
        <p:txBody>
          <a:bodyPr wrap="square" lIns="0" rIns="0" tIns="0" bIns="0" anchor="t">
            <a:spAutoFit/>
          </a:bodyPr>
          <a:lstStyle/>
          <a:p>
            <a:r>
              <a:rPr sz="1200" b="0">
                <a:solidFill>
                  <a:srgbClr val="6B6F76"/>
                </a:solidFill>
                <a:latin typeface="Arial"/>
              </a:rPr>
              <a:t>[VẼ] Bảng KPI cần điền sau buổi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1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309360" cy="3291840"/>
          </a:xfrm>
          <a:prstGeom prst="rect">
            <a:avLst/>
          </a:prstGeom>
          <a:noFill/>
        </p:spPr>
        <p:txBody>
          <a:bodyPr wrap="square" lIns="0" rIns="0" tIns="0" bIns="0" anchor="t">
            <a:spAutoFit/>
          </a:bodyPr>
          <a:lstStyle/>
          <a:p>
            <a:r>
              <a:rPr sz="2000" b="1">
                <a:solidFill>
                  <a:srgbClr val="203864"/>
                </a:solidFill>
                <a:latin typeface="Arial"/>
              </a:rPr>
              <a:t>•  </a:t>
            </a:r>
            <a:r>
              <a:rPr sz="2000" b="1">
                <a:solidFill>
                  <a:srgbClr val="203864"/>
                </a:solidFill>
                <a:latin typeface="Arial"/>
              </a:rPr>
              <a:t>Viên gạch B1: </a:t>
            </a:r>
            <a:r>
              <a:rPr sz="2000" b="0">
                <a:solidFill>
                  <a:srgbClr val="1B2230"/>
                </a:solidFill>
                <a:latin typeface="Arial"/>
              </a:rPr>
              <a:t>tblSales · 6.187 dòng · 941.454.000 · không dòng tổng, không ô gộp.</a:t>
            </a:r>
          </a:p>
          <a:p>
            <a:pPr>
              <a:spcBef>
                <a:spcPts val="1400"/>
              </a:spcBef>
            </a:pPr>
            <a:r>
              <a:rPr sz="2000" b="1">
                <a:solidFill>
                  <a:srgbClr val="203864"/>
                </a:solidFill>
                <a:latin typeface="Arial"/>
              </a:rPr>
              <a:t>•  </a:t>
            </a:r>
            <a:r>
              <a:rPr sz="2000" b="1">
                <a:solidFill>
                  <a:srgbClr val="203864"/>
                </a:solidFill>
                <a:latin typeface="Arial"/>
              </a:rPr>
              <a:t>Hôm nay nhận file khởi đầu </a:t>
            </a:r>
            <a:r>
              <a:rPr sz="2000" b="0">
                <a:solidFill>
                  <a:srgbClr val="1B2230"/>
                </a:solidFill>
                <a:latin typeface="Arial"/>
              </a:rPr>
              <a:t>= đáp án B1 (B1_MCI_Mart_Q1_2025_Answer.xlsx). Mọi người làm trên cùng một nền; lưu thành B2_&lt;HoTen&gt;.xlsx.</a:t>
            </a:r>
          </a:p>
          <a:p>
            <a:pPr>
              <a:spcBef>
                <a:spcPts val="1400"/>
              </a:spcBef>
            </a:pPr>
            <a:r>
              <a:rPr sz="2000" b="1">
                <a:solidFill>
                  <a:srgbClr val="203864"/>
                </a:solidFill>
                <a:latin typeface="Arial"/>
              </a:rPr>
              <a:t>•  </a:t>
            </a:r>
            <a:r>
              <a:rPr sz="2000" b="1">
                <a:solidFill>
                  <a:srgbClr val="203864"/>
                </a:solidFill>
                <a:latin typeface="Arial"/>
              </a:rPr>
              <a:t>Hai thứ dùng lại hôm nay: </a:t>
            </a:r>
            <a:r>
              <a:rPr sz="2000" b="0">
                <a:solidFill>
                  <a:srgbClr val="1B2230"/>
                </a:solidFill>
                <a:latin typeface="Arial"/>
              </a:rPr>
              <a:t>dấu $ (F4) và công thức theo tên cột [@Cột] trong Table.</a:t>
            </a:r>
          </a:p>
        </p:txBody>
      </p:sp>
      <p:sp>
        <p:nvSpPr>
          <p:cNvPr id="5" name="Brick B1"/>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B1 · Dữ liệu tidy</a:t>
            </a:r>
          </a:p>
        </p:txBody>
      </p:sp>
      <p:sp>
        <p:nvSpPr>
          <p:cNvPr id="7" name="Brick B2"/>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B2 · Bảng KPI (SUMIFS)</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../B1_Nen_tang_Excel_Du_lieu/Practice/B1_MCI_Mart_Q1_2025_Answer.xlsx, sheet Kiem_tra (8/8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Dimension · Measure · Grain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graphicFrame>
        <p:nvGraphicFramePr>
          <p:cNvPr id="4" name="Table"/>
          <p:cNvGraphicFramePr>
            <a:graphicFrameLocks noGrp="1"/>
          </p:cNvGraphicFramePr>
          <p:nvPr/>
        </p:nvGraphicFramePr>
        <p:xfrm>
          <a:off x="1527048" y="1554480"/>
          <a:ext cx="10122408" cy="2267712"/>
        </p:xfrm>
        <a:graphic>
          <a:graphicData uri="http://schemas.openxmlformats.org/drawingml/2006/table">
            <a:tbl>
              <a:tblPr firstRow="1" bandRow="0"/>
              <a:tblGrid>
                <a:gridCol w="1828800"/>
                <a:gridCol w="2194560"/>
                <a:gridCol w="6099048"/>
              </a:tblGrid>
              <a:tr h="566928">
                <a:tc>
                  <a:txBody>
                    <a:bodyPr wrap="square"/>
                    <a:lstStyle/>
                    <a:p>
                      <a:r>
                        <a:rPr sz="1800" b="1">
                          <a:solidFill>
                            <a:srgbClr val="FFFFFF"/>
                          </a:solidFill>
                          <a:latin typeface="Arial"/>
                        </a:rPr>
                        <a:t>Vai trò</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800" b="1">
                          <a:solidFill>
                            <a:srgbClr val="FFFFFF"/>
                          </a:solidFill>
                          <a:latin typeface="Arial"/>
                        </a:rPr>
                        <a:t>Câu hỏi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800" b="1">
                          <a:solidFill>
                            <a:srgbClr val="FFFFFF"/>
                          </a:solidFill>
                          <a:latin typeface="Arial"/>
                        </a:rPr>
                        <a:t>Cột trong tblSales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66928">
                <a:tc>
                  <a:txBody>
                    <a:bodyPr wrap="square"/>
                    <a:lstStyle/>
                    <a:p>
                      <a:r>
                        <a:rPr sz="1800" b="1">
                          <a:solidFill>
                            <a:srgbClr val="2A78D6"/>
                          </a:solidFill>
                          <a:latin typeface="Arial"/>
                        </a:rPr>
                        <a:t>Dimension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1B2230"/>
                          </a:solidFill>
                          <a:latin typeface="Arial"/>
                        </a:rPr>
                        <a:t>“Theo cái gì?”</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1B2230"/>
                          </a:solidFill>
                          <a:latin typeface="Arial"/>
                        </a:rPr>
                        <a:t>Region, Store_Code, Order_Date (→ Tháng), Product_Code (→ Category)</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800" b="1">
                          <a:solidFill>
                            <a:srgbClr val="EB6834"/>
                          </a:solidFill>
                          <a:latin typeface="Arial"/>
                        </a:rPr>
                        <a:t>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1B2230"/>
                          </a:solidFill>
                          <a:latin typeface="Arial"/>
                        </a:rPr>
                        <a:t>“Đo cái gì?”</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1B2230"/>
                          </a:solidFill>
                          <a:latin typeface="Arial"/>
                        </a:rPr>
                        <a:t>Quantity, Revenue (→ COGS, Gross Margin)</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800" b="1">
                          <a:solidFill>
                            <a:srgbClr val="203864"/>
                          </a:solidFill>
                          <a:latin typeface="Arial"/>
                        </a:rPr>
                        <a:t>Grain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1B2230"/>
                          </a:solidFill>
                          <a:latin typeface="Arial"/>
                        </a:rPr>
                        <a:t>“Mỗi dòng là gì?”</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1">
                          <a:solidFill>
                            <a:srgbClr val="1B2230"/>
                          </a:solidFill>
                          <a:latin typeface="Arial"/>
                        </a:rPr>
                        <a:t>1 dòng = 1 sản phẩm trong 1 đơn</a:t>
                      </a:r>
                      <a:r>
                        <a:rPr sz="1800" b="0">
                          <a:solidFill>
                            <a:srgbClr val="1B2230"/>
                          </a:solidFill>
                          <a:latin typeface="Arial"/>
                        </a:rPr>
                        <a:t> (Order_ID × Line_No)</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04_grain" descr="S04_grain.png"/>
          <p:cNvPicPr>
            <a:picLocks noChangeAspect="1"/>
          </p:cNvPicPr>
          <p:nvPr/>
        </p:nvPicPr>
        <p:blipFill>
          <a:blip r:embed="rId2"/>
          <a:stretch>
            <a:fillRect/>
          </a:stretch>
        </p:blipFill>
        <p:spPr>
          <a:xfrm>
            <a:off x="1527048" y="4562117"/>
            <a:ext cx="5669280" cy="751286"/>
          </a:xfrm>
          <a:prstGeom prst="rect">
            <a:avLst/>
          </a:prstGeom>
          <a:ln w="9525">
            <a:solidFill>
              <a:srgbClr val="D9DEE8"/>
            </a:solidFill>
          </a:ln>
        </p:spPr>
      </p:pic>
      <p:sp>
        <p:nvSpPr>
          <p:cNvPr id="6" name="Stat card"/>
          <p:cNvSpPr/>
          <p:nvPr/>
        </p:nvSpPr>
        <p:spPr>
          <a:xfrm>
            <a:off x="7498079" y="4069080"/>
            <a:ext cx="4151376" cy="16002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7680959" y="4160520"/>
            <a:ext cx="3785615" cy="1417320"/>
          </a:xfrm>
          <a:prstGeom prst="rect">
            <a:avLst/>
          </a:prstGeom>
          <a:noFill/>
        </p:spPr>
        <p:txBody>
          <a:bodyPr wrap="square" lIns="0" rIns="0" tIns="0" bIns="0" anchor="ctr">
            <a:spAutoFit/>
          </a:bodyPr>
          <a:lstStyle/>
          <a:p>
            <a:r>
              <a:rPr sz="1400" b="0">
                <a:solidFill>
                  <a:srgbClr val="585858"/>
                </a:solidFill>
                <a:latin typeface="Arial"/>
              </a:rPr>
              <a:t>Đếm dòng ≠ đếm đơn</a:t>
            </a:r>
          </a:p>
          <a:p>
            <a:pPr>
              <a:spcBef>
                <a:spcPts val="200"/>
              </a:spcBef>
            </a:pPr>
            <a:r>
              <a:rPr sz="3000" b="1">
                <a:solidFill>
                  <a:srgbClr val="203864"/>
                </a:solidFill>
                <a:latin typeface="Arial"/>
              </a:rPr>
              <a:t>6.187 ≠ 3.144</a:t>
            </a:r>
          </a:p>
          <a:p>
            <a:pPr>
              <a:spcBef>
                <a:spcPts val="200"/>
              </a:spcBef>
            </a:pPr>
            <a:r>
              <a:rPr sz="1400" b="0">
                <a:solidFill>
                  <a:srgbClr val="1B2230"/>
                </a:solidFill>
                <a:latin typeface="Arial"/>
              </a:rPr>
              <a:t>dòng trong tblSales · đơn hàng Q1/2025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 Definition Card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graphicFrame>
        <p:nvGraphicFramePr>
          <p:cNvPr id="4" name="Table"/>
          <p:cNvGraphicFramePr>
            <a:graphicFrameLocks noGrp="1"/>
          </p:cNvGraphicFramePr>
          <p:nvPr/>
        </p:nvGraphicFramePr>
        <p:xfrm>
          <a:off x="1527048" y="1508760"/>
          <a:ext cx="6675120" cy="4114800"/>
        </p:xfrm>
        <a:graphic>
          <a:graphicData uri="http://schemas.openxmlformats.org/drawingml/2006/table">
            <a:tbl>
              <a:tblPr firstRow="1" bandRow="0"/>
              <a:tblGrid>
                <a:gridCol w="2103120"/>
                <a:gridCol w="4572000"/>
              </a:tblGrid>
              <a:tr h="457200">
                <a:tc>
                  <a:txBody>
                    <a:bodyPr wrap="square"/>
                    <a:lstStyle/>
                    <a:p>
                      <a:r>
                        <a:rPr sz="1500" b="1">
                          <a:solidFill>
                            <a:srgbClr val="FFFFFF"/>
                          </a:solidFill>
                          <a:latin typeface="Arial"/>
                        </a:rPr>
                        <a:t>Trường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Card 1 · Total Revenue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500" b="1">
                          <a:solidFill>
                            <a:srgbClr val="1B2230"/>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Tháng này bán được bao nhiêu tiền, ở đâu?</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1B2230"/>
                          </a:solidFill>
                          <a:latin typeface="Arial"/>
                        </a:rPr>
                        <a:t>Công thức</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SUM(Quantity × Unit_Price)</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1B2230"/>
                          </a:solidFill>
                          <a:latin typeface="Arial"/>
                        </a:rPr>
                        <a:t>Nguồn dữ liệu</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tblSales</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1B2230"/>
                          </a:solidFill>
                          <a:latin typeface="Arial"/>
                        </a:rPr>
                        <a:t>Grain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Dữ liệu: 1 sản phẩm trong 1 đơn · KPI: tháng</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1B2230"/>
                          </a:solidFill>
                          <a:latin typeface="Arial"/>
                        </a:rPr>
                        <a:t>Dimensions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Miền, cửa hàng, ngành hàng, tháng</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1B2230"/>
                          </a:solidFill>
                          <a:latin typeface="Arial"/>
                        </a:rPr>
                        <a:t>Owner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Giám đốc bán hàng</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1B2230"/>
                          </a:solidFill>
                          <a:latin typeface="Arial"/>
                        </a:rPr>
                        <a:t>Target / Ngưỡng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Bảng Target (từ B4) · Warning 90%, Critical 80%</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1B2230"/>
                          </a:solidFill>
                          <a:latin typeface="Arial"/>
                        </a:rPr>
                        <a:t>Ghi chú giới hạn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Chưa trừ trả hàng, khuyến mại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TIP callout"/>
          <p:cNvSpPr/>
          <p:nvPr/>
        </p:nvSpPr>
        <p:spPr>
          <a:xfrm>
            <a:off x="8412480" y="1508760"/>
            <a:ext cx="323697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522207" y="16184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7" name="TIP text"/>
          <p:cNvSpPr txBox="1"/>
          <p:nvPr/>
        </p:nvSpPr>
        <p:spPr>
          <a:xfrm>
            <a:off x="9098280" y="1600200"/>
            <a:ext cx="2441448" cy="1828800"/>
          </a:xfrm>
          <a:prstGeom prst="rect">
            <a:avLst/>
          </a:prstGeom>
          <a:noFill/>
        </p:spPr>
        <p:txBody>
          <a:bodyPr wrap="square" lIns="0" rIns="0" tIns="0" bIns="0" anchor="t">
            <a:spAutoFit/>
          </a:bodyPr>
          <a:lstStyle/>
          <a:p>
            <a:r>
              <a:rPr sz="1600" b="0">
                <a:solidFill>
                  <a:srgbClr val="1B2230"/>
                </a:solidFill>
                <a:latin typeface="Arial"/>
              </a:rPr>
              <a:t>Viết card TRƯỚC khi viết công thức. Card là “hợp đồng” giữa bạn và người đọc báo cáo.</a:t>
            </a:r>
          </a:p>
        </p:txBody>
      </p:sp>
      <p:sp>
        <p:nvSpPr>
          <p:cNvPr id="8" name="TextBox"/>
          <p:cNvSpPr txBox="1"/>
          <p:nvPr/>
        </p:nvSpPr>
        <p:spPr>
          <a:xfrm>
            <a:off x="8412480" y="3749039"/>
            <a:ext cx="3236976" cy="1645920"/>
          </a:xfrm>
          <a:prstGeom prst="rect">
            <a:avLst/>
          </a:prstGeom>
          <a:noFill/>
        </p:spPr>
        <p:txBody>
          <a:bodyPr wrap="square" lIns="0" rIns="0" tIns="0" bIns="0" anchor="t">
            <a:spAutoFit/>
          </a:bodyPr>
          <a:lstStyle/>
          <a:p>
            <a:r>
              <a:rPr sz="1600" b="1">
                <a:solidFill>
                  <a:srgbClr val="203864"/>
                </a:solidFill>
                <a:latin typeface="Arial"/>
              </a:rPr>
              <a:t>Hôm nay viết 3 card</a:t>
            </a:r>
          </a:p>
          <a:p>
            <a:pPr>
              <a:spcBef>
                <a:spcPts val="600"/>
              </a:spcBef>
            </a:pPr>
            <a:r>
              <a:rPr sz="1600" b="0">
                <a:solidFill>
                  <a:srgbClr val="1B2230"/>
                </a:solidFill>
                <a:latin typeface="Arial"/>
              </a:rPr>
              <a:t>1 · Total Revenue (cùng lớp)</a:t>
            </a:r>
          </a:p>
          <a:p>
            <a:pPr>
              <a:spcBef>
                <a:spcPts val="600"/>
              </a:spcBef>
            </a:pPr>
            <a:r>
              <a:rPr sz="1600" b="0">
                <a:solidFill>
                  <a:srgbClr val="1B2230"/>
                </a:solidFill>
                <a:latin typeface="Arial"/>
              </a:rPr>
              <a:t>2 · Total Orders (thực hành)</a:t>
            </a:r>
          </a:p>
          <a:p>
            <a:pPr>
              <a:spcBef>
                <a:spcPts val="600"/>
              </a:spcBef>
            </a:pPr>
            <a:r>
              <a:rPr sz="1600" b="0">
                <a:solidFill>
                  <a:srgbClr val="1B2230"/>
                </a:solidFill>
                <a:latin typeface="Arial"/>
              </a:rPr>
              <a:t>3 · Gross Margin % (thực hành)</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Mẫu in: Handout/B2_KPI_Definition_Card.docx · 10 trường theo KPI dictionary (Course Plan, Phụ lục 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Hàm logic: dạy Excel ra quyết định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 · 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HÀM LOGIC</a:t>
            </a:r>
          </a:p>
        </p:txBody>
      </p:sp>
      <p:sp>
        <p:nvSpPr>
          <p:cNvPr id="4" name="Tool name"/>
          <p:cNvSpPr txBox="1"/>
          <p:nvPr/>
        </p:nvSpPr>
        <p:spPr>
          <a:xfrm>
            <a:off x="1527048" y="1463040"/>
            <a:ext cx="3840480" cy="457200"/>
          </a:xfrm>
          <a:prstGeom prst="rect">
            <a:avLst/>
          </a:prstGeom>
          <a:noFill/>
        </p:spPr>
        <p:txBody>
          <a:bodyPr wrap="square" lIns="0" rIns="0" tIns="0" bIns="0" anchor="t">
            <a:spAutoFit/>
          </a:bodyPr>
          <a:lstStyle/>
          <a:p>
            <a:r>
              <a:rPr sz="2400" b="1">
                <a:solidFill>
                  <a:srgbClr val="C00000"/>
                </a:solidFill>
                <a:latin typeface="Arial"/>
              </a:rPr>
              <a:t>IF</a:t>
            </a:r>
          </a:p>
        </p:txBody>
      </p:sp>
      <p:sp>
        <p:nvSpPr>
          <p:cNvPr id="5" name="Tool purpose"/>
          <p:cNvSpPr txBox="1"/>
          <p:nvPr/>
        </p:nvSpPr>
        <p:spPr>
          <a:xfrm>
            <a:off x="1527048" y="1920240"/>
            <a:ext cx="3840480" cy="411480"/>
          </a:xfrm>
          <a:prstGeom prst="rect">
            <a:avLst/>
          </a:prstGeom>
          <a:noFill/>
        </p:spPr>
        <p:txBody>
          <a:bodyPr wrap="square" lIns="0" rIns="0" tIns="0" bIns="0" anchor="t">
            <a:spAutoFit/>
          </a:bodyPr>
          <a:lstStyle/>
          <a:p>
            <a:r>
              <a:rPr sz="1600" b="0">
                <a:solidFill>
                  <a:srgbClr val="585858"/>
                </a:solidFill>
                <a:latin typeface="Arial"/>
              </a:rPr>
              <a:t>Một điều kiện, hai kết quả.</a:t>
            </a:r>
          </a:p>
        </p:txBody>
      </p:sp>
      <p:sp>
        <p:nvSpPr>
          <p:cNvPr id="6" name="Formula bar"/>
          <p:cNvSpPr/>
          <p:nvPr/>
        </p:nvSpPr>
        <p:spPr>
          <a:xfrm>
            <a:off x="1527048" y="2377440"/>
            <a:ext cx="384048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3774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377440"/>
            <a:ext cx="3200400" cy="411480"/>
          </a:xfrm>
          <a:prstGeom prst="rect">
            <a:avLst/>
          </a:prstGeom>
          <a:noFill/>
        </p:spPr>
        <p:txBody>
          <a:bodyPr wrap="square" lIns="0" rIns="0" tIns="0" bIns="0" anchor="ctr">
            <a:spAutoFit/>
          </a:bodyPr>
          <a:lstStyle/>
          <a:p>
            <a:r>
              <a:rPr sz="1400" b="0">
                <a:solidFill>
                  <a:srgbClr val="1B2230"/>
                </a:solidFill>
                <a:latin typeface="Arial"/>
              </a:rPr>
              <a:t>=IF(F2&gt;=35%,"Biên cao","Biên thấp")</a:t>
            </a:r>
          </a:p>
        </p:txBody>
      </p:sp>
      <p:cxnSp>
        <p:nvCxnSpPr>
          <p:cNvPr id="9" name="Connector 8"/>
          <p:cNvCxnSpPr/>
          <p:nvPr/>
        </p:nvCxnSpPr>
        <p:spPr>
          <a:xfrm>
            <a:off x="5532120" y="1463040"/>
            <a:ext cx="0" cy="13716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5669280" y="1463040"/>
            <a:ext cx="5980176" cy="457200"/>
          </a:xfrm>
          <a:prstGeom prst="rect">
            <a:avLst/>
          </a:prstGeom>
          <a:noFill/>
        </p:spPr>
        <p:txBody>
          <a:bodyPr wrap="square" lIns="0" rIns="0" tIns="0" bIns="0" anchor="t">
            <a:spAutoFit/>
          </a:bodyPr>
          <a:lstStyle/>
          <a:p>
            <a:r>
              <a:rPr sz="2400" b="1">
                <a:solidFill>
                  <a:srgbClr val="C00000"/>
                </a:solidFill>
                <a:latin typeface="Arial"/>
              </a:rPr>
              <a:t>IFS</a:t>
            </a:r>
          </a:p>
        </p:txBody>
      </p:sp>
      <p:sp>
        <p:nvSpPr>
          <p:cNvPr id="11" name="Tool purpose"/>
          <p:cNvSpPr txBox="1"/>
          <p:nvPr/>
        </p:nvSpPr>
        <p:spPr>
          <a:xfrm>
            <a:off x="5669280" y="1920240"/>
            <a:ext cx="5980176" cy="411480"/>
          </a:xfrm>
          <a:prstGeom prst="rect">
            <a:avLst/>
          </a:prstGeom>
          <a:noFill/>
        </p:spPr>
        <p:txBody>
          <a:bodyPr wrap="square" lIns="0" rIns="0" tIns="0" bIns="0" anchor="t">
            <a:spAutoFit/>
          </a:bodyPr>
          <a:lstStyle/>
          <a:p>
            <a:r>
              <a:rPr sz="1600" b="0">
                <a:solidFill>
                  <a:srgbClr val="585858"/>
                </a:solidFill>
                <a:latin typeface="Arial"/>
              </a:rPr>
              <a:t>Nhiều điều kiện, dừng ở điều kiện ĐÚNG ĐẦU TIÊN.</a:t>
            </a:r>
          </a:p>
        </p:txBody>
      </p:sp>
      <p:sp>
        <p:nvSpPr>
          <p:cNvPr id="12" name="Formula bar"/>
          <p:cNvSpPr/>
          <p:nvPr/>
        </p:nvSpPr>
        <p:spPr>
          <a:xfrm>
            <a:off x="5669280" y="2377440"/>
            <a:ext cx="5980176"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5760720" y="23774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14" name="Formula"/>
          <p:cNvSpPr txBox="1"/>
          <p:nvPr/>
        </p:nvSpPr>
        <p:spPr>
          <a:xfrm>
            <a:off x="6217920" y="2377440"/>
            <a:ext cx="5340096" cy="411480"/>
          </a:xfrm>
          <a:prstGeom prst="rect">
            <a:avLst/>
          </a:prstGeom>
          <a:noFill/>
        </p:spPr>
        <p:txBody>
          <a:bodyPr wrap="square" lIns="0" rIns="0" tIns="0" bIns="0" anchor="ctr">
            <a:spAutoFit/>
          </a:bodyPr>
          <a:lstStyle/>
          <a:p>
            <a:r>
              <a:rPr sz="1400" b="0">
                <a:solidFill>
                  <a:srgbClr val="1B2230"/>
                </a:solidFill>
                <a:latin typeface="Arial"/>
              </a:rPr>
              <a:t>=IFS(D2&gt;=100000,"Cao",D2&gt;=30000,"Trung",TRUE,"Thấp")</a:t>
            </a:r>
          </a:p>
        </p:txBody>
      </p:sp>
      <p:pic>
        <p:nvPicPr>
          <p:cNvPr id="15" name="Screenshot S07_if_ifs" descr="S07_if_ifs.png"/>
          <p:cNvPicPr>
            <a:picLocks noChangeAspect="1"/>
          </p:cNvPicPr>
          <p:nvPr/>
        </p:nvPicPr>
        <p:blipFill>
          <a:blip r:embed="rId2"/>
          <a:stretch>
            <a:fillRect/>
          </a:stretch>
        </p:blipFill>
        <p:spPr>
          <a:xfrm>
            <a:off x="1527048" y="3024365"/>
            <a:ext cx="10122408" cy="1997989"/>
          </a:xfrm>
          <a:prstGeom prst="rect">
            <a:avLst/>
          </a:prstGeom>
          <a:ln w="9525">
            <a:solidFill>
              <a:srgbClr val="D9DEE8"/>
            </a:solidFill>
          </a:ln>
        </p:spPr>
      </p:pic>
      <p:sp>
        <p:nvSpPr>
          <p:cNvPr id="16" name="TIP callout"/>
          <p:cNvSpPr/>
          <p:nvPr/>
        </p:nvSpPr>
        <p:spPr>
          <a:xfrm>
            <a:off x="1527048" y="516636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1636776" y="52760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8" name="TIP text"/>
          <p:cNvSpPr txBox="1"/>
          <p:nvPr/>
        </p:nvSpPr>
        <p:spPr>
          <a:xfrm>
            <a:off x="2212848" y="5257800"/>
            <a:ext cx="9326880" cy="685800"/>
          </a:xfrm>
          <a:prstGeom prst="rect">
            <a:avLst/>
          </a:prstGeom>
          <a:noFill/>
        </p:spPr>
        <p:txBody>
          <a:bodyPr wrap="square" lIns="0" rIns="0" tIns="0" bIns="0" anchor="t">
            <a:spAutoFit/>
          </a:bodyPr>
          <a:lstStyle/>
          <a:p>
            <a:r>
              <a:rPr sz="1600" b="0">
                <a:solidFill>
                  <a:srgbClr val="1B2230"/>
                </a:solidFill>
                <a:latin typeface="Arial"/>
              </a:rPr>
              <a:t>IFS xét từ trái sang phải: đặt ngưỡng cao trước. TRUE ở cuối = “các trường hợp còn lại”. Ô trống được tính là 0 → P041 chưa có giá vẫn ra “Thấp”.</a:t>
            </a:r>
          </a:p>
        </p:txBody>
      </p:sp>
      <p:sp>
        <p:nvSpPr>
          <p:cNvPr id="1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Demo/B2_Demo_Logic.xlsx, sheet Demo_IF · Formulas PDF p17–20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AND · OR · NOT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HÀM LOGIC</a:t>
            </a:r>
          </a:p>
        </p:txBody>
      </p:sp>
      <p:sp>
        <p:nvSpPr>
          <p:cNvPr id="4" name="Tool name"/>
          <p:cNvSpPr txBox="1"/>
          <p:nvPr/>
        </p:nvSpPr>
        <p:spPr>
          <a:xfrm>
            <a:off x="1527048" y="1463040"/>
            <a:ext cx="3163824" cy="457200"/>
          </a:xfrm>
          <a:prstGeom prst="rect">
            <a:avLst/>
          </a:prstGeom>
          <a:noFill/>
        </p:spPr>
        <p:txBody>
          <a:bodyPr wrap="square" lIns="0" rIns="0" tIns="0" bIns="0" anchor="t">
            <a:spAutoFit/>
          </a:bodyPr>
          <a:lstStyle/>
          <a:p>
            <a:r>
              <a:rPr sz="2400" b="1">
                <a:solidFill>
                  <a:srgbClr val="C00000"/>
                </a:solidFill>
                <a:latin typeface="Arial"/>
              </a:rPr>
              <a:t>AND</a:t>
            </a:r>
          </a:p>
        </p:txBody>
      </p:sp>
      <p:sp>
        <p:nvSpPr>
          <p:cNvPr id="5" name="Tool purpose"/>
          <p:cNvSpPr txBox="1"/>
          <p:nvPr/>
        </p:nvSpPr>
        <p:spPr>
          <a:xfrm>
            <a:off x="1527048" y="1920240"/>
            <a:ext cx="3163824" cy="640080"/>
          </a:xfrm>
          <a:prstGeom prst="rect">
            <a:avLst/>
          </a:prstGeom>
          <a:noFill/>
        </p:spPr>
        <p:txBody>
          <a:bodyPr wrap="square" lIns="0" rIns="0" tIns="0" bIns="0" anchor="t">
            <a:spAutoFit/>
          </a:bodyPr>
          <a:lstStyle/>
          <a:p>
            <a:r>
              <a:rPr sz="1600" b="0">
                <a:solidFill>
                  <a:srgbClr val="585858"/>
                </a:solidFill>
                <a:latin typeface="Arial"/>
              </a:rPr>
              <a:t>TRUE khi MỌI điều kiện đúng.</a:t>
            </a:r>
          </a:p>
        </p:txBody>
      </p:sp>
      <p:sp>
        <p:nvSpPr>
          <p:cNvPr id="6" name="Formula bar"/>
          <p:cNvSpPr/>
          <p:nvPr/>
        </p:nvSpPr>
        <p:spPr>
          <a:xfrm>
            <a:off x="1527048" y="2651760"/>
            <a:ext cx="3163824"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65176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651760"/>
            <a:ext cx="2523744" cy="411480"/>
          </a:xfrm>
          <a:prstGeom prst="rect">
            <a:avLst/>
          </a:prstGeom>
          <a:noFill/>
        </p:spPr>
        <p:txBody>
          <a:bodyPr wrap="square" lIns="0" rIns="0" tIns="0" bIns="0" anchor="ctr">
            <a:spAutoFit/>
          </a:bodyPr>
          <a:lstStyle/>
          <a:p>
            <a:r>
              <a:rPr sz="1200" b="0">
                <a:solidFill>
                  <a:srgbClr val="1B2230"/>
                </a:solidFill>
                <a:latin typeface="Arial"/>
              </a:rPr>
              <a:t>=AND(C2="Bánh kẹo",F2&gt;=35%)</a:t>
            </a:r>
          </a:p>
        </p:txBody>
      </p:sp>
      <p:sp>
        <p:nvSpPr>
          <p:cNvPr id="9" name="Stat card"/>
          <p:cNvSpPr/>
          <p:nvPr/>
        </p:nvSpPr>
        <p:spPr>
          <a:xfrm>
            <a:off x="1527048" y="3200400"/>
            <a:ext cx="3163824" cy="685800"/>
          </a:xfrm>
          <a:prstGeom prst="roundRect">
            <a:avLst>
              <a:gd name="adj" fmla="val 1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64207" y="3200400"/>
            <a:ext cx="2889504" cy="685800"/>
          </a:xfrm>
          <a:prstGeom prst="rect">
            <a:avLst/>
          </a:prstGeom>
          <a:noFill/>
        </p:spPr>
        <p:txBody>
          <a:bodyPr wrap="square" lIns="0" rIns="0" tIns="0" bIns="0" anchor="ctr">
            <a:spAutoFit/>
          </a:bodyPr>
          <a:lstStyle/>
          <a:p>
            <a:r>
              <a:rPr sz="2600" b="1">
                <a:solidFill>
                  <a:srgbClr val="203864"/>
                </a:solidFill>
                <a:latin typeface="Arial"/>
              </a:rPr>
              <a:t>7  </a:t>
            </a:r>
            <a:r>
              <a:rPr sz="1400" b="0">
                <a:solidFill>
                  <a:srgbClr val="585858"/>
                </a:solidFill>
                <a:latin typeface="Arial"/>
              </a:rPr>
              <a:t>sản phẩm “Ưu tiên Tết”</a:t>
            </a:r>
          </a:p>
        </p:txBody>
      </p:sp>
      <p:cxnSp>
        <p:nvCxnSpPr>
          <p:cNvPr id="11" name="Connector 10"/>
          <p:cNvCxnSpPr/>
          <p:nvPr/>
        </p:nvCxnSpPr>
        <p:spPr>
          <a:xfrm>
            <a:off x="4846320" y="1463040"/>
            <a:ext cx="0" cy="242316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2" name="Tool name"/>
          <p:cNvSpPr txBox="1"/>
          <p:nvPr/>
        </p:nvSpPr>
        <p:spPr>
          <a:xfrm>
            <a:off x="5001768" y="1463040"/>
            <a:ext cx="3163824" cy="457200"/>
          </a:xfrm>
          <a:prstGeom prst="rect">
            <a:avLst/>
          </a:prstGeom>
          <a:noFill/>
        </p:spPr>
        <p:txBody>
          <a:bodyPr wrap="square" lIns="0" rIns="0" tIns="0" bIns="0" anchor="t">
            <a:spAutoFit/>
          </a:bodyPr>
          <a:lstStyle/>
          <a:p>
            <a:r>
              <a:rPr sz="2400" b="1">
                <a:solidFill>
                  <a:srgbClr val="C00000"/>
                </a:solidFill>
                <a:latin typeface="Arial"/>
              </a:rPr>
              <a:t>OR</a:t>
            </a:r>
          </a:p>
        </p:txBody>
      </p:sp>
      <p:sp>
        <p:nvSpPr>
          <p:cNvPr id="13" name="Tool purpose"/>
          <p:cNvSpPr txBox="1"/>
          <p:nvPr/>
        </p:nvSpPr>
        <p:spPr>
          <a:xfrm>
            <a:off x="5001768" y="1920240"/>
            <a:ext cx="3163824" cy="640080"/>
          </a:xfrm>
          <a:prstGeom prst="rect">
            <a:avLst/>
          </a:prstGeom>
          <a:noFill/>
        </p:spPr>
        <p:txBody>
          <a:bodyPr wrap="square" lIns="0" rIns="0" tIns="0" bIns="0" anchor="t">
            <a:spAutoFit/>
          </a:bodyPr>
          <a:lstStyle/>
          <a:p>
            <a:r>
              <a:rPr sz="1600" b="0">
                <a:solidFill>
                  <a:srgbClr val="585858"/>
                </a:solidFill>
                <a:latin typeface="Arial"/>
              </a:rPr>
              <a:t>TRUE khi ÍT NHẤT MỘT điều kiện đúng.</a:t>
            </a:r>
          </a:p>
        </p:txBody>
      </p:sp>
      <p:sp>
        <p:nvSpPr>
          <p:cNvPr id="14" name="Formula bar"/>
          <p:cNvSpPr/>
          <p:nvPr/>
        </p:nvSpPr>
        <p:spPr>
          <a:xfrm>
            <a:off x="5001768" y="2651760"/>
            <a:ext cx="3163824"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5093207" y="265176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16" name="Formula"/>
          <p:cNvSpPr txBox="1"/>
          <p:nvPr/>
        </p:nvSpPr>
        <p:spPr>
          <a:xfrm>
            <a:off x="5550407" y="2651760"/>
            <a:ext cx="2523744" cy="411480"/>
          </a:xfrm>
          <a:prstGeom prst="rect">
            <a:avLst/>
          </a:prstGeom>
          <a:noFill/>
        </p:spPr>
        <p:txBody>
          <a:bodyPr wrap="square" lIns="0" rIns="0" tIns="0" bIns="0" anchor="ctr">
            <a:spAutoFit/>
          </a:bodyPr>
          <a:lstStyle/>
          <a:p>
            <a:r>
              <a:rPr sz="1200" b="0">
                <a:solidFill>
                  <a:srgbClr val="1B2230"/>
                </a:solidFill>
                <a:latin typeface="Arial"/>
              </a:rPr>
              <a:t>=OR(C2="Sữa",C2="Thực phẩm khô")</a:t>
            </a:r>
          </a:p>
        </p:txBody>
      </p:sp>
      <p:sp>
        <p:nvSpPr>
          <p:cNvPr id="17" name="Stat card"/>
          <p:cNvSpPr/>
          <p:nvPr/>
        </p:nvSpPr>
        <p:spPr>
          <a:xfrm>
            <a:off x="5001768" y="3200400"/>
            <a:ext cx="3163824" cy="685800"/>
          </a:xfrm>
          <a:prstGeom prst="roundRect">
            <a:avLst>
              <a:gd name="adj" fmla="val 1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p:cNvSpPr txBox="1"/>
          <p:nvPr/>
        </p:nvSpPr>
        <p:spPr>
          <a:xfrm>
            <a:off x="5138928" y="3200400"/>
            <a:ext cx="2889504" cy="685800"/>
          </a:xfrm>
          <a:prstGeom prst="rect">
            <a:avLst/>
          </a:prstGeom>
          <a:noFill/>
        </p:spPr>
        <p:txBody>
          <a:bodyPr wrap="square" lIns="0" rIns="0" tIns="0" bIns="0" anchor="ctr">
            <a:spAutoFit/>
          </a:bodyPr>
          <a:lstStyle/>
          <a:p>
            <a:r>
              <a:rPr sz="2600" b="1">
                <a:solidFill>
                  <a:srgbClr val="203864"/>
                </a:solidFill>
                <a:latin typeface="Arial"/>
              </a:rPr>
              <a:t>13  </a:t>
            </a:r>
            <a:r>
              <a:rPr sz="1400" b="0">
                <a:solidFill>
                  <a:srgbClr val="585858"/>
                </a:solidFill>
                <a:latin typeface="Arial"/>
              </a:rPr>
              <a:t>sản phẩm thiết yếu</a:t>
            </a:r>
          </a:p>
        </p:txBody>
      </p:sp>
      <p:cxnSp>
        <p:nvCxnSpPr>
          <p:cNvPr id="19" name="Connector 18"/>
          <p:cNvCxnSpPr/>
          <p:nvPr/>
        </p:nvCxnSpPr>
        <p:spPr>
          <a:xfrm>
            <a:off x="8321040" y="1463040"/>
            <a:ext cx="0" cy="242316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20" name="Tool name"/>
          <p:cNvSpPr txBox="1"/>
          <p:nvPr/>
        </p:nvSpPr>
        <p:spPr>
          <a:xfrm>
            <a:off x="8485632" y="1463040"/>
            <a:ext cx="3163824" cy="457200"/>
          </a:xfrm>
          <a:prstGeom prst="rect">
            <a:avLst/>
          </a:prstGeom>
          <a:noFill/>
        </p:spPr>
        <p:txBody>
          <a:bodyPr wrap="square" lIns="0" rIns="0" tIns="0" bIns="0" anchor="t">
            <a:spAutoFit/>
          </a:bodyPr>
          <a:lstStyle/>
          <a:p>
            <a:r>
              <a:rPr sz="2400" b="1">
                <a:solidFill>
                  <a:srgbClr val="C00000"/>
                </a:solidFill>
                <a:latin typeface="Arial"/>
              </a:rPr>
              <a:t>NOT</a:t>
            </a:r>
          </a:p>
        </p:txBody>
      </p:sp>
      <p:sp>
        <p:nvSpPr>
          <p:cNvPr id="21" name="Tool purpose"/>
          <p:cNvSpPr txBox="1"/>
          <p:nvPr/>
        </p:nvSpPr>
        <p:spPr>
          <a:xfrm>
            <a:off x="8485632" y="1920240"/>
            <a:ext cx="3163824" cy="640080"/>
          </a:xfrm>
          <a:prstGeom prst="rect">
            <a:avLst/>
          </a:prstGeom>
          <a:noFill/>
        </p:spPr>
        <p:txBody>
          <a:bodyPr wrap="square" lIns="0" rIns="0" tIns="0" bIns="0" anchor="t">
            <a:spAutoFit/>
          </a:bodyPr>
          <a:lstStyle/>
          <a:p>
            <a:r>
              <a:rPr sz="1600" b="0">
                <a:solidFill>
                  <a:srgbClr val="585858"/>
                </a:solidFill>
                <a:latin typeface="Arial"/>
              </a:rPr>
              <a:t>Đảo TRUE ↔ FALSE.</a:t>
            </a:r>
          </a:p>
        </p:txBody>
      </p:sp>
      <p:sp>
        <p:nvSpPr>
          <p:cNvPr id="22" name="Formula bar"/>
          <p:cNvSpPr/>
          <p:nvPr/>
        </p:nvSpPr>
        <p:spPr>
          <a:xfrm>
            <a:off x="8485632" y="2651760"/>
            <a:ext cx="3163824"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p:cNvSpPr txBox="1"/>
          <p:nvPr/>
        </p:nvSpPr>
        <p:spPr>
          <a:xfrm>
            <a:off x="8577072" y="265176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24" name="Formula"/>
          <p:cNvSpPr txBox="1"/>
          <p:nvPr/>
        </p:nvSpPr>
        <p:spPr>
          <a:xfrm>
            <a:off x="9034272" y="2651760"/>
            <a:ext cx="2523744" cy="411480"/>
          </a:xfrm>
          <a:prstGeom prst="rect">
            <a:avLst/>
          </a:prstGeom>
          <a:noFill/>
        </p:spPr>
        <p:txBody>
          <a:bodyPr wrap="square" lIns="0" rIns="0" tIns="0" bIns="0" anchor="ctr">
            <a:spAutoFit/>
          </a:bodyPr>
          <a:lstStyle/>
          <a:p>
            <a:r>
              <a:rPr sz="1200" b="0">
                <a:solidFill>
                  <a:srgbClr val="1B2230"/>
                </a:solidFill>
                <a:latin typeface="Arial"/>
              </a:rPr>
              <a:t>=NOT(J2)</a:t>
            </a:r>
          </a:p>
        </p:txBody>
      </p:sp>
      <p:sp>
        <p:nvSpPr>
          <p:cNvPr id="25" name="Stat card"/>
          <p:cNvSpPr/>
          <p:nvPr/>
        </p:nvSpPr>
        <p:spPr>
          <a:xfrm>
            <a:off x="8485632" y="3200400"/>
            <a:ext cx="3163824" cy="685800"/>
          </a:xfrm>
          <a:prstGeom prst="roundRect">
            <a:avLst>
              <a:gd name="adj" fmla="val 1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p:cNvSpPr txBox="1"/>
          <p:nvPr/>
        </p:nvSpPr>
        <p:spPr>
          <a:xfrm>
            <a:off x="8622792" y="3200400"/>
            <a:ext cx="2889504" cy="685800"/>
          </a:xfrm>
          <a:prstGeom prst="rect">
            <a:avLst/>
          </a:prstGeom>
          <a:noFill/>
        </p:spPr>
        <p:txBody>
          <a:bodyPr wrap="square" lIns="0" rIns="0" tIns="0" bIns="0" anchor="ctr">
            <a:spAutoFit/>
          </a:bodyPr>
          <a:lstStyle/>
          <a:p>
            <a:r>
              <a:rPr sz="2600" b="1">
                <a:solidFill>
                  <a:srgbClr val="203864"/>
                </a:solidFill>
                <a:latin typeface="Arial"/>
              </a:rPr>
              <a:t>27  </a:t>
            </a:r>
            <a:r>
              <a:rPr sz="1400" b="0">
                <a:solidFill>
                  <a:srgbClr val="585858"/>
                </a:solidFill>
                <a:latin typeface="Arial"/>
              </a:rPr>
              <a:t>sản phẩm không thiết yếu</a:t>
            </a:r>
          </a:p>
        </p:txBody>
      </p:sp>
      <p:pic>
        <p:nvPicPr>
          <p:cNvPr id="27" name="Screenshot S08_and_or_not" descr="S08_and_or_not.png"/>
          <p:cNvPicPr>
            <a:picLocks noChangeAspect="1"/>
          </p:cNvPicPr>
          <p:nvPr/>
        </p:nvPicPr>
        <p:blipFill>
          <a:blip r:embed="rId2"/>
          <a:stretch>
            <a:fillRect/>
          </a:stretch>
        </p:blipFill>
        <p:spPr>
          <a:xfrm>
            <a:off x="4023484" y="4023360"/>
            <a:ext cx="5129536" cy="1325880"/>
          </a:xfrm>
          <a:prstGeom prst="rect">
            <a:avLst/>
          </a:prstGeom>
          <a:ln w="9525">
            <a:solidFill>
              <a:srgbClr val="D9DEE8"/>
            </a:solidFill>
          </a:ln>
        </p:spPr>
      </p:pic>
      <p:sp>
        <p:nvSpPr>
          <p:cNvPr id="28" name="TIP callout"/>
          <p:cNvSpPr/>
          <p:nvPr/>
        </p:nvSpPr>
        <p:spPr>
          <a:xfrm>
            <a:off x="1527048" y="5440680"/>
            <a:ext cx="10122408" cy="685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p:cNvSpPr txBox="1"/>
          <p:nvPr/>
        </p:nvSpPr>
        <p:spPr>
          <a:xfrm>
            <a:off x="1636776" y="55504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30" name="TIP text"/>
          <p:cNvSpPr txBox="1"/>
          <p:nvPr/>
        </p:nvSpPr>
        <p:spPr>
          <a:xfrm>
            <a:off x="2212848" y="5532120"/>
            <a:ext cx="9326880" cy="502920"/>
          </a:xfrm>
          <a:prstGeom prst="rect">
            <a:avLst/>
          </a:prstGeom>
          <a:noFill/>
        </p:spPr>
        <p:txBody>
          <a:bodyPr wrap="square" lIns="0" rIns="0" tIns="0" bIns="0" anchor="t">
            <a:spAutoFit/>
          </a:bodyPr>
          <a:lstStyle/>
          <a:p>
            <a:r>
              <a:rPr sz="1600" b="0">
                <a:solidFill>
                  <a:srgbClr val="1B2230"/>
                </a:solidFill>
                <a:latin typeface="Arial"/>
              </a:rPr>
              <a:t>Thường lồng vào IF để ra nhãn dễ đọc: =IF(AND(C2="Bánh kẹo",F2&gt;=35%),"Ưu tiên",""). Mẹo nhớ: AND khó tính, OR dễ tính.</a:t>
            </a:r>
          </a:p>
        </p:txBody>
      </p:sp>
      <p:sp>
        <p:nvSpPr>
          <p:cNvPr id="3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Demo/B2_Demo_Logic.xlsx, sheet Demo_IF (cột I, J, K) · Formulas PDF p21–22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IFERROR</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HÀM LOGIC</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IFERROR</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Nếu công thức ra lỗi thì trả về giá trị thay thế.</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3774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rIns="0" tIns="0" bIns="0" anchor="ctr">
            <a:spAutoFit/>
          </a:bodyPr>
          <a:lstStyle/>
          <a:p>
            <a:r>
              <a:rPr sz="1600" b="0">
                <a:solidFill>
                  <a:srgbClr val="1B2230"/>
                </a:solidFill>
                <a:latin typeface="Arial"/>
              </a:rPr>
              <a:t>=IFERROR((D2-E2)/D2,"Chưa có giá")</a:t>
            </a:r>
          </a:p>
        </p:txBody>
      </p:sp>
      <p:pic>
        <p:nvPicPr>
          <p:cNvPr id="9" name="Screenshot S09_iferror" descr="S09_iferror.png"/>
          <p:cNvPicPr>
            <a:picLocks noChangeAspect="1"/>
          </p:cNvPicPr>
          <p:nvPr/>
        </p:nvPicPr>
        <p:blipFill>
          <a:blip r:embed="rId2"/>
          <a:stretch>
            <a:fillRect/>
          </a:stretch>
        </p:blipFill>
        <p:spPr>
          <a:xfrm>
            <a:off x="1527048" y="3059149"/>
            <a:ext cx="7406640" cy="1334061"/>
          </a:xfrm>
          <a:prstGeom prst="rect">
            <a:avLst/>
          </a:prstGeom>
          <a:ln w="9525">
            <a:solidFill>
              <a:srgbClr val="D9DEE8"/>
            </a:solidFill>
          </a:ln>
        </p:spPr>
      </p:pic>
      <p:sp>
        <p:nvSpPr>
          <p:cNvPr id="10" name="TIP callout"/>
          <p:cNvSpPr/>
          <p:nvPr/>
        </p:nvSpPr>
        <p:spPr>
          <a:xfrm>
            <a:off x="8933688" y="3017520"/>
            <a:ext cx="2715768" cy="13716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043415" y="3127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9619488" y="3108960"/>
            <a:ext cx="1920240" cy="1188720"/>
          </a:xfrm>
          <a:prstGeom prst="rect">
            <a:avLst/>
          </a:prstGeom>
          <a:noFill/>
        </p:spPr>
        <p:txBody>
          <a:bodyPr wrap="square" lIns="0" rIns="0" tIns="0" bIns="0" anchor="t">
            <a:spAutoFit/>
          </a:bodyPr>
          <a:lstStyle/>
          <a:p>
            <a:r>
              <a:rPr sz="1600" b="0">
                <a:solidFill>
                  <a:srgbClr val="1B2230"/>
                </a:solidFill>
                <a:latin typeface="Arial"/>
              </a:rPr>
              <a:t>Có giá (25.000) → mọi cột tự tính lại: 44,0%.</a:t>
            </a:r>
          </a:p>
        </p:txBody>
      </p:sp>
      <p:sp>
        <p:nvSpPr>
          <p:cNvPr id="13" name="PRO TIP callout"/>
          <p:cNvSpPr/>
          <p:nvPr/>
        </p:nvSpPr>
        <p:spPr>
          <a:xfrm>
            <a:off x="1527048" y="457200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 TIP chip"/>
          <p:cNvSpPr/>
          <p:nvPr/>
        </p:nvSpPr>
        <p:spPr>
          <a:xfrm>
            <a:off x="1636776" y="46817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5" name="PRO TIP text"/>
          <p:cNvSpPr txBox="1"/>
          <p:nvPr/>
        </p:nvSpPr>
        <p:spPr>
          <a:xfrm>
            <a:off x="2734056" y="4663440"/>
            <a:ext cx="8805672" cy="731520"/>
          </a:xfrm>
          <a:prstGeom prst="rect">
            <a:avLst/>
          </a:prstGeom>
          <a:noFill/>
        </p:spPr>
        <p:txBody>
          <a:bodyPr wrap="square" lIns="0" rIns="0" tIns="0" bIns="0" anchor="t">
            <a:spAutoFit/>
          </a:bodyPr>
          <a:lstStyle/>
          <a:p>
            <a:r>
              <a:rPr sz="1600" b="0">
                <a:solidFill>
                  <a:srgbClr val="1B2230"/>
                </a:solidFill>
                <a:latin typeface="Arial"/>
              </a:rPr>
              <a:t>IFERROR CHE lỗi chứ không SỬA lỗi. Thay bằng chữ có nghĩa, đừng thay bằng 0: “0%” là con số sai trông như thật.</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Demo/B2_Demo_Logic.xlsx, sheet Demo_IF, dòng 42–43 · Formulas PDF p23–24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Thống kê mô tả: một con số “trung bình” có thể nói dối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Thống kê mô tả: trung bình hay trung vị?</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THỐNG KÊ</a:t>
            </a:r>
          </a:p>
        </p:txBody>
      </p:sp>
      <p:sp>
        <p:nvSpPr>
          <p:cNvPr id="4" name="Tool name"/>
          <p:cNvSpPr txBox="1"/>
          <p:nvPr/>
        </p:nvSpPr>
        <p:spPr>
          <a:xfrm>
            <a:off x="1527048" y="1463040"/>
            <a:ext cx="3163824" cy="457200"/>
          </a:xfrm>
          <a:prstGeom prst="rect">
            <a:avLst/>
          </a:prstGeom>
          <a:noFill/>
        </p:spPr>
        <p:txBody>
          <a:bodyPr wrap="square" lIns="0" rIns="0" tIns="0" bIns="0" anchor="t">
            <a:spAutoFit/>
          </a:bodyPr>
          <a:lstStyle/>
          <a:p>
            <a:r>
              <a:rPr sz="2000" b="1">
                <a:solidFill>
                  <a:srgbClr val="C00000"/>
                </a:solidFill>
                <a:latin typeface="Arial"/>
              </a:rPr>
              <a:t>COUNT / COUNTA</a:t>
            </a:r>
          </a:p>
        </p:txBody>
      </p:sp>
      <p:sp>
        <p:nvSpPr>
          <p:cNvPr id="5" name="Tool purpose"/>
          <p:cNvSpPr txBox="1"/>
          <p:nvPr/>
        </p:nvSpPr>
        <p:spPr>
          <a:xfrm>
            <a:off x="1527048" y="1920240"/>
            <a:ext cx="3163824" cy="411480"/>
          </a:xfrm>
          <a:prstGeom prst="rect">
            <a:avLst/>
          </a:prstGeom>
          <a:noFill/>
        </p:spPr>
        <p:txBody>
          <a:bodyPr wrap="square" lIns="0" rIns="0" tIns="0" bIns="0" anchor="t">
            <a:spAutoFit/>
          </a:bodyPr>
          <a:lstStyle/>
          <a:p>
            <a:r>
              <a:rPr sz="1600" b="0">
                <a:solidFill>
                  <a:srgbClr val="585858"/>
                </a:solidFill>
                <a:latin typeface="Arial"/>
              </a:rPr>
              <a:t>Đếm ô số / ô không trống.</a:t>
            </a:r>
          </a:p>
        </p:txBody>
      </p:sp>
      <p:cxnSp>
        <p:nvCxnSpPr>
          <p:cNvPr id="6" name="Connector 5"/>
          <p:cNvCxnSpPr/>
          <p:nvPr/>
        </p:nvCxnSpPr>
        <p:spPr>
          <a:xfrm>
            <a:off x="484632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5001768" y="1463040"/>
            <a:ext cx="3163824" cy="457200"/>
          </a:xfrm>
          <a:prstGeom prst="rect">
            <a:avLst/>
          </a:prstGeom>
          <a:noFill/>
        </p:spPr>
        <p:txBody>
          <a:bodyPr wrap="square" lIns="0" rIns="0" tIns="0" bIns="0" anchor="t">
            <a:spAutoFit/>
          </a:bodyPr>
          <a:lstStyle/>
          <a:p>
            <a:r>
              <a:rPr sz="2000" b="1">
                <a:solidFill>
                  <a:srgbClr val="C00000"/>
                </a:solidFill>
                <a:latin typeface="Arial"/>
              </a:rPr>
              <a:t>AVERAGE vs MEDIAN</a:t>
            </a:r>
          </a:p>
        </p:txBody>
      </p:sp>
      <p:sp>
        <p:nvSpPr>
          <p:cNvPr id="8" name="Tool purpose"/>
          <p:cNvSpPr txBox="1"/>
          <p:nvPr/>
        </p:nvSpPr>
        <p:spPr>
          <a:xfrm>
            <a:off x="5001768" y="1920240"/>
            <a:ext cx="3163824" cy="411480"/>
          </a:xfrm>
          <a:prstGeom prst="rect">
            <a:avLst/>
          </a:prstGeom>
          <a:noFill/>
        </p:spPr>
        <p:txBody>
          <a:bodyPr wrap="square" lIns="0" rIns="0" tIns="0" bIns="0" anchor="t">
            <a:spAutoFit/>
          </a:bodyPr>
          <a:lstStyle/>
          <a:p>
            <a:r>
              <a:rPr sz="1600" b="0">
                <a:solidFill>
                  <a:srgbClr val="585858"/>
                </a:solidFill>
                <a:latin typeface="Arial"/>
              </a:rPr>
              <a:t>Trung bình cộng vs giá trị ở giữa.</a:t>
            </a:r>
          </a:p>
        </p:txBody>
      </p:sp>
      <p:cxnSp>
        <p:nvCxnSpPr>
          <p:cNvPr id="9" name="Connector 8"/>
          <p:cNvCxnSpPr/>
          <p:nvPr/>
        </p:nvCxnSpPr>
        <p:spPr>
          <a:xfrm>
            <a:off x="832104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8476488" y="1463040"/>
            <a:ext cx="3163824" cy="457200"/>
          </a:xfrm>
          <a:prstGeom prst="rect">
            <a:avLst/>
          </a:prstGeom>
          <a:noFill/>
        </p:spPr>
        <p:txBody>
          <a:bodyPr wrap="square" lIns="0" rIns="0" tIns="0" bIns="0" anchor="t">
            <a:spAutoFit/>
          </a:bodyPr>
          <a:lstStyle/>
          <a:p>
            <a:r>
              <a:rPr sz="2000" b="1">
                <a:solidFill>
                  <a:srgbClr val="C00000"/>
                </a:solidFill>
                <a:latin typeface="Arial"/>
              </a:rPr>
              <a:t>MIN / MAX</a:t>
            </a:r>
          </a:p>
        </p:txBody>
      </p:sp>
      <p:sp>
        <p:nvSpPr>
          <p:cNvPr id="11" name="Tool purpose"/>
          <p:cNvSpPr txBox="1"/>
          <p:nvPr/>
        </p:nvSpPr>
        <p:spPr>
          <a:xfrm>
            <a:off x="8476488" y="1920240"/>
            <a:ext cx="3163824" cy="411480"/>
          </a:xfrm>
          <a:prstGeom prst="rect">
            <a:avLst/>
          </a:prstGeom>
          <a:noFill/>
        </p:spPr>
        <p:txBody>
          <a:bodyPr wrap="square" lIns="0" rIns="0" tIns="0" bIns="0" anchor="t">
            <a:spAutoFit/>
          </a:bodyPr>
          <a:lstStyle/>
          <a:p>
            <a:r>
              <a:rPr sz="1600" b="0">
                <a:solidFill>
                  <a:srgbClr val="585858"/>
                </a:solidFill>
                <a:latin typeface="Arial"/>
              </a:rPr>
              <a:t>Nhỏ nhất / lớn nhất.</a:t>
            </a:r>
          </a:p>
        </p:txBody>
      </p:sp>
      <p:sp>
        <p:nvSpPr>
          <p:cNvPr id="12" name="Stat card"/>
          <p:cNvSpPr/>
          <p:nvPr/>
        </p:nvSpPr>
        <p:spPr>
          <a:xfrm>
            <a:off x="1527048" y="2606040"/>
            <a:ext cx="2057400"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709928" y="2697480"/>
            <a:ext cx="1691640" cy="1005840"/>
          </a:xfrm>
          <a:prstGeom prst="rect">
            <a:avLst/>
          </a:prstGeom>
          <a:noFill/>
        </p:spPr>
        <p:txBody>
          <a:bodyPr wrap="square" lIns="0" rIns="0" tIns="0" bIns="0" anchor="ctr">
            <a:spAutoFit/>
          </a:bodyPr>
          <a:lstStyle/>
          <a:p>
            <a:r>
              <a:rPr sz="1400" b="0">
                <a:solidFill>
                  <a:srgbClr val="585858"/>
                </a:solidFill>
                <a:latin typeface="Arial"/>
              </a:rPr>
              <a:t>Số đơn Q1/2025</a:t>
            </a:r>
          </a:p>
          <a:p>
            <a:pPr>
              <a:spcBef>
                <a:spcPts val="200"/>
              </a:spcBef>
            </a:pPr>
            <a:r>
              <a:rPr sz="2800" b="1">
                <a:solidFill>
                  <a:srgbClr val="203864"/>
                </a:solidFill>
                <a:latin typeface="Arial"/>
              </a:rPr>
              <a:t>3.144</a:t>
            </a:r>
          </a:p>
          <a:p>
            <a:pPr>
              <a:spcBef>
                <a:spcPts val="200"/>
              </a:spcBef>
            </a:pPr>
            <a:r>
              <a:rPr sz="1400" b="0">
                <a:solidFill>
                  <a:srgbClr val="1B2230"/>
                </a:solidFill>
                <a:latin typeface="Arial"/>
              </a:rPr>
              <a:t>COUNT</a:t>
            </a:r>
          </a:p>
        </p:txBody>
      </p:sp>
      <p:sp>
        <p:nvSpPr>
          <p:cNvPr id="14" name="Stat card"/>
          <p:cNvSpPr/>
          <p:nvPr/>
        </p:nvSpPr>
        <p:spPr>
          <a:xfrm>
            <a:off x="3721608" y="2606040"/>
            <a:ext cx="2240280"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3904488" y="2697480"/>
            <a:ext cx="1874520" cy="1005840"/>
          </a:xfrm>
          <a:prstGeom prst="rect">
            <a:avLst/>
          </a:prstGeom>
          <a:noFill/>
        </p:spPr>
        <p:txBody>
          <a:bodyPr wrap="square" lIns="0" rIns="0" tIns="0" bIns="0" anchor="ctr">
            <a:spAutoFit/>
          </a:bodyPr>
          <a:lstStyle/>
          <a:p>
            <a:r>
              <a:rPr sz="1400" b="0">
                <a:solidFill>
                  <a:srgbClr val="585858"/>
                </a:solidFill>
                <a:latin typeface="Arial"/>
              </a:rPr>
              <a:t>Trung bình</a:t>
            </a:r>
          </a:p>
          <a:p>
            <a:pPr>
              <a:spcBef>
                <a:spcPts val="200"/>
              </a:spcBef>
            </a:pPr>
            <a:r>
              <a:rPr sz="2800" b="1">
                <a:solidFill>
                  <a:srgbClr val="203864"/>
                </a:solidFill>
                <a:latin typeface="Arial"/>
              </a:rPr>
              <a:t>299.445</a:t>
            </a:r>
          </a:p>
          <a:p>
            <a:pPr>
              <a:spcBef>
                <a:spcPts val="200"/>
              </a:spcBef>
            </a:pPr>
            <a:r>
              <a:rPr sz="1400" b="0">
                <a:solidFill>
                  <a:srgbClr val="1B2230"/>
                </a:solidFill>
                <a:latin typeface="Arial"/>
              </a:rPr>
              <a:t>AVERAGE</a:t>
            </a:r>
          </a:p>
        </p:txBody>
      </p:sp>
      <p:sp>
        <p:nvSpPr>
          <p:cNvPr id="16" name="Stat card"/>
          <p:cNvSpPr/>
          <p:nvPr/>
        </p:nvSpPr>
        <p:spPr>
          <a:xfrm>
            <a:off x="6099048" y="2606040"/>
            <a:ext cx="2240280"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6281928" y="2697480"/>
            <a:ext cx="1874520" cy="1005840"/>
          </a:xfrm>
          <a:prstGeom prst="rect">
            <a:avLst/>
          </a:prstGeom>
          <a:noFill/>
        </p:spPr>
        <p:txBody>
          <a:bodyPr wrap="square" lIns="0" rIns="0" tIns="0" bIns="0" anchor="ctr">
            <a:spAutoFit/>
          </a:bodyPr>
          <a:lstStyle/>
          <a:p>
            <a:r>
              <a:rPr sz="1400" b="0">
                <a:solidFill>
                  <a:srgbClr val="585858"/>
                </a:solidFill>
                <a:latin typeface="Arial"/>
              </a:rPr>
              <a:t>Trung vị</a:t>
            </a:r>
          </a:p>
          <a:p>
            <a:pPr>
              <a:spcBef>
                <a:spcPts val="200"/>
              </a:spcBef>
            </a:pPr>
            <a:r>
              <a:rPr sz="2800" b="1">
                <a:solidFill>
                  <a:srgbClr val="203864"/>
                </a:solidFill>
                <a:latin typeface="Arial"/>
              </a:rPr>
              <a:t>198.000</a:t>
            </a:r>
          </a:p>
          <a:p>
            <a:pPr>
              <a:spcBef>
                <a:spcPts val="200"/>
              </a:spcBef>
            </a:pPr>
            <a:r>
              <a:rPr sz="1400" b="0">
                <a:solidFill>
                  <a:srgbClr val="1B2230"/>
                </a:solidFill>
                <a:latin typeface="Arial"/>
              </a:rPr>
              <a:t>MEDIAN</a:t>
            </a:r>
          </a:p>
        </p:txBody>
      </p:sp>
      <p:sp>
        <p:nvSpPr>
          <p:cNvPr id="18" name="Stat card"/>
          <p:cNvSpPr/>
          <p:nvPr/>
        </p:nvSpPr>
        <p:spPr>
          <a:xfrm>
            <a:off x="8476488" y="2606040"/>
            <a:ext cx="2761488"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p:cNvSpPr txBox="1"/>
          <p:nvPr/>
        </p:nvSpPr>
        <p:spPr>
          <a:xfrm>
            <a:off x="8659367" y="2697480"/>
            <a:ext cx="2395728" cy="1005840"/>
          </a:xfrm>
          <a:prstGeom prst="rect">
            <a:avLst/>
          </a:prstGeom>
          <a:noFill/>
        </p:spPr>
        <p:txBody>
          <a:bodyPr wrap="square" lIns="0" rIns="0" tIns="0" bIns="0" anchor="ctr">
            <a:spAutoFit/>
          </a:bodyPr>
          <a:lstStyle/>
          <a:p>
            <a:r>
              <a:rPr sz="1400" b="0">
                <a:solidFill>
                  <a:srgbClr val="585858"/>
                </a:solidFill>
                <a:latin typeface="Arial"/>
              </a:rPr>
              <a:t>Nhỏ nhất – lớn nhất</a:t>
            </a:r>
          </a:p>
          <a:p>
            <a:pPr>
              <a:spcBef>
                <a:spcPts val="200"/>
              </a:spcBef>
            </a:pPr>
            <a:r>
              <a:rPr sz="2200" b="1">
                <a:solidFill>
                  <a:srgbClr val="203864"/>
                </a:solidFill>
                <a:latin typeface="Arial"/>
              </a:rPr>
              <a:t>10.000 – 2.464.000</a:t>
            </a:r>
          </a:p>
          <a:p>
            <a:pPr>
              <a:spcBef>
                <a:spcPts val="200"/>
              </a:spcBef>
            </a:pPr>
            <a:r>
              <a:rPr sz="1400" b="0">
                <a:solidFill>
                  <a:srgbClr val="1B2230"/>
                </a:solidFill>
                <a:latin typeface="Arial"/>
              </a:rPr>
              <a:t>MIN – MAX</a:t>
            </a:r>
          </a:p>
        </p:txBody>
      </p:sp>
      <p:sp>
        <p:nvSpPr>
          <p:cNvPr id="20" name="Image placeholder [CHỤP]"/>
          <p:cNvSpPr/>
          <p:nvPr/>
        </p:nvSpPr>
        <p:spPr>
          <a:xfrm>
            <a:off x="1527048" y="3931920"/>
            <a:ext cx="6035040" cy="210312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p:cNvSpPr txBox="1"/>
          <p:nvPr/>
        </p:nvSpPr>
        <p:spPr>
          <a:xfrm>
            <a:off x="1709928" y="4023359"/>
            <a:ext cx="5669279" cy="19202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Khối I2:I6 (COUNT, AVERAGE, MEDIAN, MIN, MAX) và Status Bar khi chọn cột E: Average 299.445</a:t>
            </a:r>
          </a:p>
          <a:p>
            <a:pPr algn="ctr">
              <a:spcBef>
                <a:spcPts val="400"/>
              </a:spcBef>
            </a:pPr>
            <a:r>
              <a:rPr sz="1200" b="0">
                <a:solidFill>
                  <a:srgbClr val="6B6F76"/>
                </a:solidFill>
                <a:latin typeface="Arial"/>
              </a:rPr>
              <a:t>Demo/B2_Demo_ThongKe.xlsx · sheet Demo_ThongKe · E1:I13 + Status Bar → S11_average_median.png</a:t>
            </a:r>
          </a:p>
        </p:txBody>
      </p:sp>
      <p:sp>
        <p:nvSpPr>
          <p:cNvPr id="22" name="TIP callout"/>
          <p:cNvSpPr/>
          <p:nvPr/>
        </p:nvSpPr>
        <p:spPr>
          <a:xfrm>
            <a:off x="7726679" y="3931920"/>
            <a:ext cx="3922776" cy="21031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p:cNvSpPr txBox="1"/>
          <p:nvPr/>
        </p:nvSpPr>
        <p:spPr>
          <a:xfrm>
            <a:off x="7836407" y="40416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4" name="TIP text"/>
          <p:cNvSpPr txBox="1"/>
          <p:nvPr/>
        </p:nvSpPr>
        <p:spPr>
          <a:xfrm>
            <a:off x="8412480" y="4023359"/>
            <a:ext cx="3127248" cy="1920239"/>
          </a:xfrm>
          <a:prstGeom prst="rect">
            <a:avLst/>
          </a:prstGeom>
          <a:noFill/>
        </p:spPr>
        <p:txBody>
          <a:bodyPr wrap="square" lIns="0" rIns="0" tIns="0" bIns="0" anchor="t">
            <a:spAutoFit/>
          </a:bodyPr>
          <a:lstStyle/>
          <a:p>
            <a:r>
              <a:rPr sz="1600" b="0">
                <a:solidFill>
                  <a:srgbClr val="1B2230"/>
                </a:solidFill>
                <a:latin typeface="Arial"/>
              </a:rPr>
              <a:t>Trung bình lớn hơn trung vị khoảng 51% → vài đơn rất lớn kéo trung bình lên (lệch phải). Chọn con số theo câu hỏi: “khách thường chi bao nhiêu” → trung vị; AOV nhân ngược ra doanh thu → trung bình.</a:t>
            </a:r>
          </a:p>
        </p:txBody>
      </p:sp>
      <p:sp>
        <p:nvSpPr>
          <p:cNvPr id="2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Demo/B2_Demo_ThongKe.xlsx, sheet Demo_ThongKe (I2:I6) · Formulas PDF p25–27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STDEV · SKEW · Outlier</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THỐNG KÊ</a:t>
            </a:r>
          </a:p>
        </p:txBody>
      </p:sp>
      <p:sp>
        <p:nvSpPr>
          <p:cNvPr id="4" name="Tool name"/>
          <p:cNvSpPr txBox="1"/>
          <p:nvPr/>
        </p:nvSpPr>
        <p:spPr>
          <a:xfrm>
            <a:off x="1527048" y="1463040"/>
            <a:ext cx="3163824" cy="457200"/>
          </a:xfrm>
          <a:prstGeom prst="rect">
            <a:avLst/>
          </a:prstGeom>
          <a:noFill/>
        </p:spPr>
        <p:txBody>
          <a:bodyPr wrap="square" lIns="0" rIns="0" tIns="0" bIns="0" anchor="t">
            <a:spAutoFit/>
          </a:bodyPr>
          <a:lstStyle/>
          <a:p>
            <a:r>
              <a:rPr sz="2400" b="1">
                <a:solidFill>
                  <a:srgbClr val="C00000"/>
                </a:solidFill>
                <a:latin typeface="Arial"/>
              </a:rPr>
              <a:t>STDEV.S</a:t>
            </a:r>
          </a:p>
        </p:txBody>
      </p:sp>
      <p:sp>
        <p:nvSpPr>
          <p:cNvPr id="5" name="Tool purpose"/>
          <p:cNvSpPr txBox="1"/>
          <p:nvPr/>
        </p:nvSpPr>
        <p:spPr>
          <a:xfrm>
            <a:off x="1527048" y="1920240"/>
            <a:ext cx="3163824" cy="411480"/>
          </a:xfrm>
          <a:prstGeom prst="rect">
            <a:avLst/>
          </a:prstGeom>
          <a:noFill/>
        </p:spPr>
        <p:txBody>
          <a:bodyPr wrap="square" lIns="0" rIns="0" tIns="0" bIns="0" anchor="t">
            <a:spAutoFit/>
          </a:bodyPr>
          <a:lstStyle/>
          <a:p>
            <a:r>
              <a:rPr sz="1600" b="0">
                <a:solidFill>
                  <a:srgbClr val="585858"/>
                </a:solidFill>
                <a:latin typeface="Arial"/>
              </a:rPr>
              <a:t>Độ phân tán quanh trung bình.</a:t>
            </a:r>
          </a:p>
        </p:txBody>
      </p:sp>
      <p:cxnSp>
        <p:nvCxnSpPr>
          <p:cNvPr id="6" name="Connector 5"/>
          <p:cNvCxnSpPr/>
          <p:nvPr/>
        </p:nvCxnSpPr>
        <p:spPr>
          <a:xfrm>
            <a:off x="484632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5001768" y="1463040"/>
            <a:ext cx="3163824" cy="457200"/>
          </a:xfrm>
          <a:prstGeom prst="rect">
            <a:avLst/>
          </a:prstGeom>
          <a:noFill/>
        </p:spPr>
        <p:txBody>
          <a:bodyPr wrap="square" lIns="0" rIns="0" tIns="0" bIns="0" anchor="t">
            <a:spAutoFit/>
          </a:bodyPr>
          <a:lstStyle/>
          <a:p>
            <a:r>
              <a:rPr sz="2400" b="1">
                <a:solidFill>
                  <a:srgbClr val="C00000"/>
                </a:solidFill>
                <a:latin typeface="Arial"/>
              </a:rPr>
              <a:t>SKEW</a:t>
            </a:r>
          </a:p>
        </p:txBody>
      </p:sp>
      <p:sp>
        <p:nvSpPr>
          <p:cNvPr id="8" name="Tool purpose"/>
          <p:cNvSpPr txBox="1"/>
          <p:nvPr/>
        </p:nvSpPr>
        <p:spPr>
          <a:xfrm>
            <a:off x="5001768" y="1920240"/>
            <a:ext cx="3163824" cy="411480"/>
          </a:xfrm>
          <a:prstGeom prst="rect">
            <a:avLst/>
          </a:prstGeom>
          <a:noFill/>
        </p:spPr>
        <p:txBody>
          <a:bodyPr wrap="square" lIns="0" rIns="0" tIns="0" bIns="0" anchor="t">
            <a:spAutoFit/>
          </a:bodyPr>
          <a:lstStyle/>
          <a:p>
            <a:r>
              <a:rPr sz="1600" b="0">
                <a:solidFill>
                  <a:srgbClr val="585858"/>
                </a:solidFill>
                <a:latin typeface="Arial"/>
              </a:rPr>
              <a:t>&gt; 0: đuôi dài bên phải.</a:t>
            </a:r>
          </a:p>
        </p:txBody>
      </p:sp>
      <p:cxnSp>
        <p:nvCxnSpPr>
          <p:cNvPr id="9" name="Connector 8"/>
          <p:cNvCxnSpPr/>
          <p:nvPr/>
        </p:nvCxnSpPr>
        <p:spPr>
          <a:xfrm>
            <a:off x="832104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8476488" y="1463040"/>
            <a:ext cx="3163824" cy="457200"/>
          </a:xfrm>
          <a:prstGeom prst="rect">
            <a:avLst/>
          </a:prstGeom>
          <a:noFill/>
        </p:spPr>
        <p:txBody>
          <a:bodyPr wrap="square" lIns="0" rIns="0" tIns="0" bIns="0" anchor="t">
            <a:spAutoFit/>
          </a:bodyPr>
          <a:lstStyle/>
          <a:p>
            <a:r>
              <a:rPr sz="2400" b="1">
                <a:solidFill>
                  <a:srgbClr val="C00000"/>
                </a:solidFill>
                <a:latin typeface="Arial"/>
              </a:rPr>
              <a:t>QUARTILE.INC</a:t>
            </a:r>
          </a:p>
        </p:txBody>
      </p:sp>
      <p:sp>
        <p:nvSpPr>
          <p:cNvPr id="11" name="Tool purpose"/>
          <p:cNvSpPr txBox="1"/>
          <p:nvPr/>
        </p:nvSpPr>
        <p:spPr>
          <a:xfrm>
            <a:off x="8476488" y="1920240"/>
            <a:ext cx="3163824" cy="411480"/>
          </a:xfrm>
          <a:prstGeom prst="rect">
            <a:avLst/>
          </a:prstGeom>
          <a:noFill/>
        </p:spPr>
        <p:txBody>
          <a:bodyPr wrap="square" lIns="0" rIns="0" tIns="0" bIns="0" anchor="t">
            <a:spAutoFit/>
          </a:bodyPr>
          <a:lstStyle/>
          <a:p>
            <a:r>
              <a:rPr sz="1600" b="0">
                <a:solidFill>
                  <a:srgbClr val="585858"/>
                </a:solidFill>
                <a:latin typeface="Arial"/>
              </a:rPr>
              <a:t>Q1, Q3 → ngưỡng outlier.</a:t>
            </a:r>
          </a:p>
        </p:txBody>
      </p:sp>
      <p:cxnSp>
        <p:nvCxnSpPr>
          <p:cNvPr id="12" name="Connector 11"/>
          <p:cNvCxnSpPr/>
          <p:nvPr/>
        </p:nvCxnSpPr>
        <p:spPr>
          <a:xfrm>
            <a:off x="1709928" y="3749039"/>
            <a:ext cx="9756648" cy="0"/>
          </a:xfrm>
          <a:prstGeom prst="line">
            <a:avLst/>
          </a:prstGeom>
          <a:ln w="25400">
            <a:solidFill>
              <a:srgbClr val="C3C7CF"/>
            </a:solidFill>
          </a:ln>
        </p:spPr>
        <p:style>
          <a:lnRef idx="2">
            <a:schemeClr val="accent1"/>
          </a:lnRef>
          <a:fillRef idx="0">
            <a:schemeClr val="accent1"/>
          </a:fillRef>
          <a:effectRef idx="1">
            <a:schemeClr val="accent1"/>
          </a:effectRef>
          <a:fontRef idx="minor">
            <a:schemeClr val="tx1"/>
          </a:fontRef>
        </p:style>
      </p:cxnSp>
      <p:sp>
        <p:nvSpPr>
          <p:cNvPr id="13" name="IQR box"/>
          <p:cNvSpPr/>
          <p:nvPr/>
        </p:nvSpPr>
        <p:spPr>
          <a:xfrm>
            <a:off x="2062339" y="3520439"/>
            <a:ext cx="1278976" cy="457200"/>
          </a:xfrm>
          <a:prstGeom prst="rect">
            <a:avLst/>
          </a:prstGeom>
          <a:solidFill>
            <a:srgbClr val="CDE2FB"/>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2062339" y="3428999"/>
            <a:ext cx="0" cy="640080"/>
          </a:xfrm>
          <a:prstGeom prst="line">
            <a:avLst/>
          </a:prstGeom>
          <a:ln w="15875">
            <a:solidFill>
              <a:srgbClr val="585858"/>
            </a:solidFill>
          </a:ln>
        </p:spPr>
        <p:style>
          <a:lnRef idx="2">
            <a:schemeClr val="accent1"/>
          </a:lnRef>
          <a:fillRef idx="0">
            <a:schemeClr val="accent1"/>
          </a:fillRef>
          <a:effectRef idx="1">
            <a:schemeClr val="accent1"/>
          </a:effectRef>
          <a:fontRef idx="minor">
            <a:schemeClr val="tx1"/>
          </a:fontRef>
        </p:style>
      </p:cxnSp>
      <p:sp>
        <p:nvSpPr>
          <p:cNvPr id="15" name="TextBox"/>
          <p:cNvSpPr txBox="1"/>
          <p:nvPr/>
        </p:nvSpPr>
        <p:spPr>
          <a:xfrm>
            <a:off x="1330819" y="4133087"/>
            <a:ext cx="1463040" cy="548640"/>
          </a:xfrm>
          <a:prstGeom prst="rect">
            <a:avLst/>
          </a:prstGeom>
          <a:noFill/>
        </p:spPr>
        <p:txBody>
          <a:bodyPr wrap="square" lIns="0" rIns="0" tIns="0" bIns="0" anchor="t">
            <a:spAutoFit/>
          </a:bodyPr>
          <a:lstStyle/>
          <a:p>
            <a:pPr algn="ctr"/>
            <a:r>
              <a:rPr sz="1300" b="0">
                <a:solidFill>
                  <a:srgbClr val="585858"/>
                </a:solidFill>
                <a:latin typeface="Arial"/>
              </a:rPr>
              <a:t>Q1
89.000</a:t>
            </a:r>
          </a:p>
        </p:txBody>
      </p:sp>
      <p:cxnSp>
        <p:nvCxnSpPr>
          <p:cNvPr id="16" name="Connector 15"/>
          <p:cNvCxnSpPr/>
          <p:nvPr/>
        </p:nvCxnSpPr>
        <p:spPr>
          <a:xfrm>
            <a:off x="2493944" y="3428999"/>
            <a:ext cx="0" cy="640080"/>
          </a:xfrm>
          <a:prstGeom prst="line">
            <a:avLst/>
          </a:prstGeom>
          <a:ln w="15875">
            <a:solidFill>
              <a:srgbClr val="203864"/>
            </a:solidFill>
          </a:ln>
        </p:spPr>
        <p:style>
          <a:lnRef idx="2">
            <a:schemeClr val="accent1"/>
          </a:lnRef>
          <a:fillRef idx="0">
            <a:schemeClr val="accent1"/>
          </a:fillRef>
          <a:effectRef idx="1">
            <a:schemeClr val="accent1"/>
          </a:effectRef>
          <a:fontRef idx="minor">
            <a:schemeClr val="tx1"/>
          </a:fontRef>
        </p:style>
      </p:cxnSp>
      <p:sp>
        <p:nvSpPr>
          <p:cNvPr id="17" name="TextBox"/>
          <p:cNvSpPr txBox="1"/>
          <p:nvPr/>
        </p:nvSpPr>
        <p:spPr>
          <a:xfrm>
            <a:off x="1762424" y="2834639"/>
            <a:ext cx="1463040" cy="548640"/>
          </a:xfrm>
          <a:prstGeom prst="rect">
            <a:avLst/>
          </a:prstGeom>
          <a:noFill/>
        </p:spPr>
        <p:txBody>
          <a:bodyPr wrap="square" lIns="0" rIns="0" tIns="0" bIns="0" anchor="b">
            <a:spAutoFit/>
          </a:bodyPr>
          <a:lstStyle/>
          <a:p>
            <a:pPr algn="ctr"/>
            <a:r>
              <a:rPr sz="1300" b="1">
                <a:solidFill>
                  <a:srgbClr val="203864"/>
                </a:solidFill>
                <a:latin typeface="Arial"/>
              </a:rPr>
              <a:t>Trung vị
198.000</a:t>
            </a:r>
          </a:p>
        </p:txBody>
      </p:sp>
      <p:cxnSp>
        <p:nvCxnSpPr>
          <p:cNvPr id="18" name="Connector 17"/>
          <p:cNvCxnSpPr/>
          <p:nvPr/>
        </p:nvCxnSpPr>
        <p:spPr>
          <a:xfrm>
            <a:off x="3341315" y="3428999"/>
            <a:ext cx="0" cy="640080"/>
          </a:xfrm>
          <a:prstGeom prst="line">
            <a:avLst/>
          </a:prstGeom>
          <a:ln w="15875">
            <a:solidFill>
              <a:srgbClr val="585858"/>
            </a:solidFill>
          </a:ln>
        </p:spPr>
        <p:style>
          <a:lnRef idx="2">
            <a:schemeClr val="accent1"/>
          </a:lnRef>
          <a:fillRef idx="0">
            <a:schemeClr val="accent1"/>
          </a:fillRef>
          <a:effectRef idx="1">
            <a:schemeClr val="accent1"/>
          </a:effectRef>
          <a:fontRef idx="minor">
            <a:schemeClr val="tx1"/>
          </a:fontRef>
        </p:style>
      </p:cxnSp>
      <p:sp>
        <p:nvSpPr>
          <p:cNvPr id="19" name="TextBox"/>
          <p:cNvSpPr txBox="1"/>
          <p:nvPr/>
        </p:nvSpPr>
        <p:spPr>
          <a:xfrm>
            <a:off x="2609795" y="4133087"/>
            <a:ext cx="1463040" cy="548640"/>
          </a:xfrm>
          <a:prstGeom prst="rect">
            <a:avLst/>
          </a:prstGeom>
          <a:noFill/>
        </p:spPr>
        <p:txBody>
          <a:bodyPr wrap="square" lIns="0" rIns="0" tIns="0" bIns="0" anchor="t">
            <a:spAutoFit/>
          </a:bodyPr>
          <a:lstStyle/>
          <a:p>
            <a:pPr algn="ctr"/>
            <a:r>
              <a:rPr sz="1300" b="0">
                <a:solidFill>
                  <a:srgbClr val="585858"/>
                </a:solidFill>
                <a:latin typeface="Arial"/>
              </a:rPr>
              <a:t>Q3
412.000</a:t>
            </a:r>
          </a:p>
        </p:txBody>
      </p:sp>
      <p:cxnSp>
        <p:nvCxnSpPr>
          <p:cNvPr id="20" name="Connector 19"/>
          <p:cNvCxnSpPr/>
          <p:nvPr/>
        </p:nvCxnSpPr>
        <p:spPr>
          <a:xfrm>
            <a:off x="5259779" y="3428999"/>
            <a:ext cx="0" cy="640080"/>
          </a:xfrm>
          <a:prstGeom prst="line">
            <a:avLst/>
          </a:prstGeom>
          <a:ln w="25400">
            <a:solidFill>
              <a:srgbClr val="9C0006"/>
            </a:solidFill>
          </a:ln>
        </p:spPr>
        <p:style>
          <a:lnRef idx="2">
            <a:schemeClr val="accent1"/>
          </a:lnRef>
          <a:fillRef idx="0">
            <a:schemeClr val="accent1"/>
          </a:fillRef>
          <a:effectRef idx="1">
            <a:schemeClr val="accent1"/>
          </a:effectRef>
          <a:fontRef idx="minor">
            <a:schemeClr val="tx1"/>
          </a:fontRef>
        </p:style>
      </p:cxnSp>
      <p:sp>
        <p:nvSpPr>
          <p:cNvPr id="21" name="TextBox"/>
          <p:cNvSpPr txBox="1"/>
          <p:nvPr/>
        </p:nvSpPr>
        <p:spPr>
          <a:xfrm>
            <a:off x="4528259" y="4133087"/>
            <a:ext cx="1463040" cy="548640"/>
          </a:xfrm>
          <a:prstGeom prst="rect">
            <a:avLst/>
          </a:prstGeom>
          <a:noFill/>
        </p:spPr>
        <p:txBody>
          <a:bodyPr wrap="square" lIns="0" rIns="0" tIns="0" bIns="0" anchor="t">
            <a:spAutoFit/>
          </a:bodyPr>
          <a:lstStyle/>
          <a:p>
            <a:pPr algn="ctr"/>
            <a:r>
              <a:rPr sz="1300" b="1">
                <a:solidFill>
                  <a:srgbClr val="9C0006"/>
                </a:solidFill>
                <a:latin typeface="Arial"/>
              </a:rPr>
              <a:t>Ngưỡng
896.500</a:t>
            </a:r>
          </a:p>
        </p:txBody>
      </p:sp>
      <p:cxnSp>
        <p:nvCxnSpPr>
          <p:cNvPr id="22" name="Connector 21"/>
          <p:cNvCxnSpPr/>
          <p:nvPr/>
        </p:nvCxnSpPr>
        <p:spPr>
          <a:xfrm>
            <a:off x="11466576" y="3428999"/>
            <a:ext cx="0" cy="640080"/>
          </a:xfrm>
          <a:prstGeom prst="line">
            <a:avLst/>
          </a:prstGeom>
          <a:ln w="15875">
            <a:solidFill>
              <a:srgbClr val="585858"/>
            </a:solidFill>
          </a:ln>
        </p:spPr>
        <p:style>
          <a:lnRef idx="2">
            <a:schemeClr val="accent1"/>
          </a:lnRef>
          <a:fillRef idx="0">
            <a:schemeClr val="accent1"/>
          </a:fillRef>
          <a:effectRef idx="1">
            <a:schemeClr val="accent1"/>
          </a:effectRef>
          <a:fontRef idx="minor">
            <a:schemeClr val="tx1"/>
          </a:fontRef>
        </p:style>
      </p:cxnSp>
      <p:sp>
        <p:nvSpPr>
          <p:cNvPr id="23" name="TextBox"/>
          <p:cNvSpPr txBox="1"/>
          <p:nvPr/>
        </p:nvSpPr>
        <p:spPr>
          <a:xfrm>
            <a:off x="10735056" y="4133087"/>
            <a:ext cx="1463040" cy="548640"/>
          </a:xfrm>
          <a:prstGeom prst="rect">
            <a:avLst/>
          </a:prstGeom>
          <a:noFill/>
        </p:spPr>
        <p:txBody>
          <a:bodyPr wrap="square" lIns="0" rIns="0" tIns="0" bIns="0" anchor="t">
            <a:spAutoFit/>
          </a:bodyPr>
          <a:lstStyle/>
          <a:p>
            <a:pPr algn="ctr"/>
            <a:r>
              <a:rPr sz="1300" b="0">
                <a:solidFill>
                  <a:srgbClr val="585858"/>
                </a:solidFill>
                <a:latin typeface="Arial"/>
              </a:rPr>
              <a:t>Max
2.464.000</a:t>
            </a:r>
          </a:p>
        </p:txBody>
      </p:sp>
      <p:sp>
        <p:nvSpPr>
          <p:cNvPr id="24" name="Outlier zone"/>
          <p:cNvSpPr/>
          <p:nvPr/>
        </p:nvSpPr>
        <p:spPr>
          <a:xfrm>
            <a:off x="5259779" y="3474720"/>
            <a:ext cx="6206796" cy="548640"/>
          </a:xfrm>
          <a:prstGeom prst="rect">
            <a:avLst/>
          </a:prstGeom>
          <a:solidFill>
            <a:srgbClr val="FFC7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p:cNvSpPr txBox="1"/>
          <p:nvPr/>
        </p:nvSpPr>
        <p:spPr>
          <a:xfrm>
            <a:off x="5442659" y="2971799"/>
            <a:ext cx="4572000" cy="411480"/>
          </a:xfrm>
          <a:prstGeom prst="rect">
            <a:avLst/>
          </a:prstGeom>
          <a:noFill/>
        </p:spPr>
        <p:txBody>
          <a:bodyPr wrap="square" lIns="0" rIns="0" tIns="0" bIns="0" anchor="t">
            <a:spAutoFit/>
          </a:bodyPr>
          <a:lstStyle/>
          <a:p>
            <a:r>
              <a:rPr sz="1500" b="1">
                <a:solidFill>
                  <a:srgbClr val="9C0006"/>
                </a:solidFill>
                <a:latin typeface="Arial"/>
              </a:rPr>
              <a:t>138 đơn vượt ngưỡng = Q3 + 1,5 × (Q3 − Q1)</a:t>
            </a:r>
          </a:p>
        </p:txBody>
      </p:sp>
      <p:sp>
        <p:nvSpPr>
          <p:cNvPr id="26" name="TextBox"/>
          <p:cNvSpPr txBox="1"/>
          <p:nvPr/>
        </p:nvSpPr>
        <p:spPr>
          <a:xfrm>
            <a:off x="1527048" y="2331720"/>
            <a:ext cx="10122408" cy="457200"/>
          </a:xfrm>
          <a:prstGeom prst="rect">
            <a:avLst/>
          </a:prstGeom>
          <a:noFill/>
        </p:spPr>
        <p:txBody>
          <a:bodyPr wrap="square" lIns="0" rIns="0" tIns="0" bIns="0" anchor="t">
            <a:spAutoFit/>
          </a:bodyPr>
          <a:lstStyle/>
          <a:p>
            <a:r>
              <a:rPr sz="1700" b="0">
                <a:solidFill>
                  <a:srgbClr val="1B2230"/>
                </a:solidFill>
                <a:latin typeface="Arial"/>
              </a:rPr>
              <a:t>Độ lệch chuẩn </a:t>
            </a:r>
            <a:r>
              <a:rPr sz="1700" b="1">
                <a:solidFill>
                  <a:srgbClr val="203864"/>
                </a:solidFill>
                <a:latin typeface="Arial"/>
              </a:rPr>
              <a:t>289.919</a:t>
            </a:r>
            <a:r>
              <a:rPr sz="1700" b="0">
                <a:solidFill>
                  <a:srgbClr val="1B2230"/>
                </a:solidFill>
                <a:latin typeface="Arial"/>
              </a:rPr>
              <a:t> (gần bằng trung bình) · SKEW </a:t>
            </a:r>
            <a:r>
              <a:rPr sz="1700" b="1">
                <a:solidFill>
                  <a:srgbClr val="203864"/>
                </a:solidFill>
                <a:latin typeface="Arial"/>
              </a:rPr>
              <a:t>1,77</a:t>
            </a:r>
            <a:r>
              <a:rPr sz="1700" b="0">
                <a:solidFill>
                  <a:srgbClr val="1B2230"/>
                </a:solidFill>
                <a:latin typeface="Arial"/>
              </a:rPr>
              <a:t> (lệch phải)</a:t>
            </a:r>
          </a:p>
        </p:txBody>
      </p:sp>
      <p:pic>
        <p:nvPicPr>
          <p:cNvPr id="27" name="Screenshot S12_stdev_outlier" descr="S12_stdev_outlier.png"/>
          <p:cNvPicPr>
            <a:picLocks noChangeAspect="1"/>
          </p:cNvPicPr>
          <p:nvPr/>
        </p:nvPicPr>
        <p:blipFill>
          <a:blip r:embed="rId2"/>
          <a:stretch>
            <a:fillRect/>
          </a:stretch>
        </p:blipFill>
        <p:spPr>
          <a:xfrm>
            <a:off x="2749869" y="4754880"/>
            <a:ext cx="3589398" cy="1325880"/>
          </a:xfrm>
          <a:prstGeom prst="rect">
            <a:avLst/>
          </a:prstGeom>
          <a:ln w="9525">
            <a:solidFill>
              <a:srgbClr val="D9DEE8"/>
            </a:solidFill>
          </a:ln>
        </p:spPr>
      </p:pic>
      <p:sp>
        <p:nvSpPr>
          <p:cNvPr id="28" name="PRO TIP callout"/>
          <p:cNvSpPr/>
          <p:nvPr/>
        </p:nvSpPr>
        <p:spPr>
          <a:xfrm>
            <a:off x="7726679" y="4754880"/>
            <a:ext cx="3922776" cy="13258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RO TIP chip"/>
          <p:cNvSpPr/>
          <p:nvPr/>
        </p:nvSpPr>
        <p:spPr>
          <a:xfrm>
            <a:off x="7836407" y="486460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30" name="PRO TIP text"/>
          <p:cNvSpPr txBox="1"/>
          <p:nvPr/>
        </p:nvSpPr>
        <p:spPr>
          <a:xfrm>
            <a:off x="8933688" y="4846320"/>
            <a:ext cx="2606040" cy="1143000"/>
          </a:xfrm>
          <a:prstGeom prst="rect">
            <a:avLst/>
          </a:prstGeom>
          <a:noFill/>
        </p:spPr>
        <p:txBody>
          <a:bodyPr wrap="square" lIns="0" rIns="0" tIns="0" bIns="0" anchor="t">
            <a:spAutoFit/>
          </a:bodyPr>
          <a:lstStyle/>
          <a:p>
            <a:r>
              <a:rPr sz="1600" b="0">
                <a:solidFill>
                  <a:srgbClr val="1B2230"/>
                </a:solidFill>
                <a:latin typeface="Arial"/>
              </a:rPr>
              <a:t>Outlier không phải “lỗi để xóa”: có thể là khách mua quà Tết, mua sỉ. Giải thích trước, quyết định sau.</a:t>
            </a:r>
          </a:p>
        </p:txBody>
      </p:sp>
      <p:sp>
        <p:nvSpPr>
          <p:cNvPr id="3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[VẼ] trục số · Ảnh: Demo/B2_Demo_ThongKe.xlsx, sheet Demo_ThongKe (I7:I13) · Statistics PDF p24–38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RANK.EQ</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THỐNG KÊ</a:t>
            </a:r>
          </a:p>
        </p:txBody>
      </p:sp>
      <p:sp>
        <p:nvSpPr>
          <p:cNvPr id="4" name="Tool name"/>
          <p:cNvSpPr txBox="1"/>
          <p:nvPr/>
        </p:nvSpPr>
        <p:spPr>
          <a:xfrm>
            <a:off x="1527048" y="1463040"/>
            <a:ext cx="4937760" cy="457200"/>
          </a:xfrm>
          <a:prstGeom prst="rect">
            <a:avLst/>
          </a:prstGeom>
          <a:noFill/>
        </p:spPr>
        <p:txBody>
          <a:bodyPr wrap="square" lIns="0" rIns="0" tIns="0" bIns="0" anchor="t">
            <a:spAutoFit/>
          </a:bodyPr>
          <a:lstStyle/>
          <a:p>
            <a:r>
              <a:rPr sz="2400" b="1">
                <a:solidFill>
                  <a:srgbClr val="C00000"/>
                </a:solidFill>
                <a:latin typeface="Arial"/>
              </a:rPr>
              <a:t>RANK.EQ</a:t>
            </a:r>
          </a:p>
        </p:txBody>
      </p:sp>
      <p:sp>
        <p:nvSpPr>
          <p:cNvPr id="5" name="Tool purpose"/>
          <p:cNvSpPr txBox="1"/>
          <p:nvPr/>
        </p:nvSpPr>
        <p:spPr>
          <a:xfrm>
            <a:off x="1527048" y="1920240"/>
            <a:ext cx="4937760" cy="640080"/>
          </a:xfrm>
          <a:prstGeom prst="rect">
            <a:avLst/>
          </a:prstGeom>
          <a:noFill/>
        </p:spPr>
        <p:txBody>
          <a:bodyPr wrap="square" lIns="0" rIns="0" tIns="0" bIns="0" anchor="t">
            <a:spAutoFit/>
          </a:bodyPr>
          <a:lstStyle/>
          <a:p>
            <a:r>
              <a:rPr sz="1600" b="0">
                <a:solidFill>
                  <a:srgbClr val="585858"/>
                </a:solidFill>
                <a:latin typeface="Arial"/>
              </a:rPr>
              <a:t>Xếp hạng một giá trị trong danh sách (0 = giảm dần).</a:t>
            </a:r>
          </a:p>
        </p:txBody>
      </p:sp>
      <p:sp>
        <p:nvSpPr>
          <p:cNvPr id="6" name="Formula bar"/>
          <p:cNvSpPr/>
          <p:nvPr/>
        </p:nvSpPr>
        <p:spPr>
          <a:xfrm>
            <a:off x="1527048" y="2606040"/>
            <a:ext cx="493776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6060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606040"/>
            <a:ext cx="4297680" cy="411480"/>
          </a:xfrm>
          <a:prstGeom prst="rect">
            <a:avLst/>
          </a:prstGeom>
          <a:noFill/>
        </p:spPr>
        <p:txBody>
          <a:bodyPr wrap="square" lIns="0" rIns="0" tIns="0" bIns="0" anchor="ctr">
            <a:spAutoFit/>
          </a:bodyPr>
          <a:lstStyle/>
          <a:p>
            <a:r>
              <a:rPr sz="1600" b="0">
                <a:solidFill>
                  <a:srgbClr val="1B2230"/>
                </a:solidFill>
                <a:latin typeface="Arial"/>
              </a:rPr>
              <a:t>=RANK.EQ(D2,$D$2:$D$13,0)</a:t>
            </a:r>
          </a:p>
        </p:txBody>
      </p:sp>
      <p:sp>
        <p:nvSpPr>
          <p:cNvPr id="9" name="TIP callout"/>
          <p:cNvSpPr/>
          <p:nvPr/>
        </p:nvSpPr>
        <p:spPr>
          <a:xfrm>
            <a:off x="1527048" y="3291840"/>
            <a:ext cx="49377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34015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3383280"/>
            <a:ext cx="4142232" cy="1005840"/>
          </a:xfrm>
          <a:prstGeom prst="rect">
            <a:avLst/>
          </a:prstGeom>
          <a:noFill/>
        </p:spPr>
        <p:txBody>
          <a:bodyPr wrap="square" lIns="0" rIns="0" tIns="0" bIns="0" anchor="t">
            <a:spAutoFit/>
          </a:bodyPr>
          <a:lstStyle/>
          <a:p>
            <a:r>
              <a:rPr sz="1600" b="0">
                <a:solidFill>
                  <a:srgbClr val="1B2230"/>
                </a:solidFill>
                <a:latin typeface="Arial"/>
              </a:rPr>
              <a:t>Vùng xếp hạng phải khóa $ — nếu không, kéo xuống vùng sẽ trôi.</a:t>
            </a:r>
          </a:p>
        </p:txBody>
      </p:sp>
      <p:sp>
        <p:nvSpPr>
          <p:cNvPr id="12" name="TextBox"/>
          <p:cNvSpPr txBox="1"/>
          <p:nvPr/>
        </p:nvSpPr>
        <p:spPr>
          <a:xfrm>
            <a:off x="1527048" y="4663440"/>
            <a:ext cx="4937760" cy="1097280"/>
          </a:xfrm>
          <a:prstGeom prst="rect">
            <a:avLst/>
          </a:prstGeom>
          <a:noFill/>
        </p:spPr>
        <p:txBody>
          <a:bodyPr wrap="square" lIns="0" rIns="0" tIns="0" bIns="0" anchor="t">
            <a:spAutoFit/>
          </a:bodyPr>
          <a:lstStyle/>
          <a:p>
            <a:r>
              <a:rPr sz="1600" b="0">
                <a:solidFill>
                  <a:srgbClr val="585858"/>
                </a:solidFill>
                <a:latin typeface="Arial"/>
              </a:rPr>
              <a:t>Xếp hạng chỉ có nghĩa khi so cùng loại (Mall vs mặt phố, trung tâm vs tỉnh). “Vì sao” → Buổi 3.</a:t>
            </a:r>
          </a:p>
        </p:txBody>
      </p:sp>
      <p:pic>
        <p:nvPicPr>
          <p:cNvPr id="13" name="Screenshot S13_rank" descr="S13_rank.png"/>
          <p:cNvPicPr>
            <a:picLocks noChangeAspect="1"/>
          </p:cNvPicPr>
          <p:nvPr/>
        </p:nvPicPr>
        <p:blipFill>
          <a:blip r:embed="rId2"/>
          <a:stretch>
            <a:fillRect/>
          </a:stretch>
        </p:blipFill>
        <p:spPr>
          <a:xfrm>
            <a:off x="6766560" y="2357351"/>
            <a:ext cx="4882896" cy="2509057"/>
          </a:xfrm>
          <a:prstGeom prst="rect">
            <a:avLst/>
          </a:prstGeom>
          <a:ln w="9525">
            <a:solidFill>
              <a:srgbClr val="D9DEE8"/>
            </a:solidFill>
          </a:ln>
        </p:spPr>
      </p:pic>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Demo/B2_Demo_ThongKe.xlsx, sheet Demo_RANK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SUMIFS: mỗi tiêu chí là một bộ lọc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Xương sống Chuỗi C: bộ lọc + phép tổng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SUMIFS</a:t>
            </a:r>
          </a:p>
        </p:txBody>
      </p:sp>
      <p:sp>
        <p:nvSpPr>
          <p:cNvPr id="4" name="Source column"/>
          <p:cNvSpPr/>
          <p:nvPr/>
        </p:nvSpPr>
        <p:spPr>
          <a:xfrm>
            <a:off x="1527048" y="2103120"/>
            <a:ext cx="2377440" cy="237744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527048" y="2103120"/>
            <a:ext cx="2377440" cy="2377440"/>
          </a:xfrm>
          <a:prstGeom prst="rect">
            <a:avLst/>
          </a:prstGeom>
          <a:noFill/>
        </p:spPr>
        <p:txBody>
          <a:bodyPr wrap="square" lIns="0" rIns="0" tIns="0" bIns="0" anchor="ctr">
            <a:spAutoFit/>
          </a:bodyPr>
          <a:lstStyle/>
          <a:p>
            <a:pPr algn="ctr"/>
            <a:r>
              <a:rPr sz="1800" b="1">
                <a:solidFill>
                  <a:srgbClr val="203864"/>
                </a:solidFill>
                <a:latin typeface="Arial"/>
              </a:rPr>
              <a:t>tblSales[Revenue]</a:t>
            </a:r>
          </a:p>
          <a:p>
            <a:pPr algn="ctr">
              <a:spcBef>
                <a:spcPts val="1000"/>
              </a:spcBef>
            </a:pPr>
            <a:r>
              <a:rPr sz="1800" b="0">
                <a:solidFill>
                  <a:srgbClr val="1B2230"/>
                </a:solidFill>
                <a:latin typeface="Arial"/>
              </a:rPr>
              <a:t>6.187 dòng</a:t>
            </a:r>
          </a:p>
          <a:p>
            <a:pPr algn="ctr">
              <a:spcBef>
                <a:spcPts val="1000"/>
              </a:spcBef>
            </a:pPr>
            <a:r>
              <a:rPr sz="1800" b="1">
                <a:solidFill>
                  <a:srgbClr val="1B2230"/>
                </a:solidFill>
                <a:latin typeface="Arial"/>
              </a:rPr>
              <a:t>∑ phép tổng</a:t>
            </a:r>
          </a:p>
        </p:txBody>
      </p:sp>
      <p:sp>
        <p:nvSpPr>
          <p:cNvPr id="6" name="Filter 1"/>
          <p:cNvSpPr/>
          <p:nvPr/>
        </p:nvSpPr>
        <p:spPr>
          <a:xfrm>
            <a:off x="4572000" y="2148840"/>
            <a:ext cx="2743200" cy="91440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4572000" y="2148840"/>
            <a:ext cx="2743200" cy="914400"/>
          </a:xfrm>
          <a:prstGeom prst="rect">
            <a:avLst/>
          </a:prstGeom>
          <a:noFill/>
        </p:spPr>
        <p:txBody>
          <a:bodyPr wrap="square" lIns="0" rIns="0" tIns="0" bIns="0" anchor="ctr">
            <a:spAutoFit/>
          </a:bodyPr>
          <a:lstStyle/>
          <a:p>
            <a:pPr algn="ctr"/>
            <a:r>
              <a:rPr sz="1400" b="0">
                <a:solidFill>
                  <a:srgbClr val="585858"/>
                </a:solidFill>
                <a:latin typeface="Arial"/>
              </a:rPr>
              <a:t>Bộ lọc  </a:t>
            </a:r>
            <a:r>
              <a:rPr sz="2000" b="1">
                <a:solidFill>
                  <a:srgbClr val="203864"/>
                </a:solidFill>
                <a:latin typeface="Arial"/>
              </a:rPr>
              <a:t>Vùng = Bắc</a:t>
            </a:r>
          </a:p>
        </p:txBody>
      </p:sp>
      <p:sp>
        <p:nvSpPr>
          <p:cNvPr id="8" name="Filter 2"/>
          <p:cNvSpPr/>
          <p:nvPr/>
        </p:nvSpPr>
        <p:spPr>
          <a:xfrm>
            <a:off x="4572000" y="3429000"/>
            <a:ext cx="2743200" cy="91440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4572000" y="3429000"/>
            <a:ext cx="2743200" cy="914400"/>
          </a:xfrm>
          <a:prstGeom prst="rect">
            <a:avLst/>
          </a:prstGeom>
          <a:noFill/>
        </p:spPr>
        <p:txBody>
          <a:bodyPr wrap="square" lIns="0" rIns="0" tIns="0" bIns="0" anchor="ctr">
            <a:spAutoFit/>
          </a:bodyPr>
          <a:lstStyle/>
          <a:p>
            <a:pPr algn="ctr"/>
            <a:r>
              <a:rPr sz="1400" b="0">
                <a:solidFill>
                  <a:srgbClr val="585858"/>
                </a:solidFill>
                <a:latin typeface="Arial"/>
              </a:rPr>
              <a:t>Bộ lọc  </a:t>
            </a:r>
            <a:r>
              <a:rPr sz="2000" b="1">
                <a:solidFill>
                  <a:srgbClr val="203864"/>
                </a:solidFill>
                <a:latin typeface="Arial"/>
              </a:rPr>
              <a:t>Tháng = 3</a:t>
            </a:r>
          </a:p>
        </p:txBody>
      </p:sp>
      <p:cxnSp>
        <p:nvCxnSpPr>
          <p:cNvPr id="10" name="Connector 9"/>
          <p:cNvCxnSpPr/>
          <p:nvPr/>
        </p:nvCxnSpPr>
        <p:spPr>
          <a:xfrm flipV="1">
            <a:off x="3977639" y="2606040"/>
            <a:ext cx="594361" cy="68580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315200" y="2606040"/>
            <a:ext cx="1188720" cy="68580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977639" y="3291840"/>
            <a:ext cx="594361"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15200" y="3291840"/>
            <a:ext cx="1188720"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sp>
        <p:nvSpPr>
          <p:cNvPr id="14" name="Result cell"/>
          <p:cNvSpPr/>
          <p:nvPr/>
        </p:nvSpPr>
        <p:spPr>
          <a:xfrm>
            <a:off x="8503920" y="2514600"/>
            <a:ext cx="3145536" cy="155448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8503920" y="2514600"/>
            <a:ext cx="3145536" cy="1554480"/>
          </a:xfrm>
          <a:prstGeom prst="rect">
            <a:avLst/>
          </a:prstGeom>
          <a:noFill/>
        </p:spPr>
        <p:txBody>
          <a:bodyPr wrap="square" lIns="0" rIns="0" tIns="0" bIns="0" anchor="ctr">
            <a:spAutoFit/>
          </a:bodyPr>
          <a:lstStyle/>
          <a:p>
            <a:pPr algn="ctr"/>
            <a:r>
              <a:rPr sz="1400" b="0">
                <a:solidFill>
                  <a:srgbClr val="CDE2FB"/>
                </a:solidFill>
                <a:latin typeface="Arial"/>
              </a:rPr>
              <a:t>Một ô kết quả</a:t>
            </a:r>
          </a:p>
          <a:p>
            <a:pPr algn="ctr">
              <a:spcBef>
                <a:spcPts val="400"/>
              </a:spcBef>
            </a:pPr>
            <a:r>
              <a:rPr sz="3000" b="1">
                <a:solidFill>
                  <a:srgbClr val="FFFFFF"/>
                </a:solidFill>
                <a:latin typeface="Arial"/>
              </a:rPr>
              <a:t>90.210.000</a:t>
            </a:r>
          </a:p>
        </p:txBody>
      </p:sp>
      <p:graphicFrame>
        <p:nvGraphicFramePr>
          <p:cNvPr id="16" name="Chain C"/>
          <p:cNvGraphicFramePr>
            <a:graphicFrameLocks noGrp="1"/>
          </p:cNvGraphicFramePr>
          <p:nvPr/>
        </p:nvGraphicFramePr>
        <p:xfrm>
          <a:off x="1527048" y="4800600"/>
          <a:ext cx="10122408" cy="768096"/>
        </p:xfrm>
        <a:graphic>
          <a:graphicData uri="http://schemas.openxmlformats.org/drawingml/2006/table">
            <a:tbl>
              <a:tblPr firstRow="1" bandRow="0"/>
              <a:tblGrid>
                <a:gridCol w="3374136"/>
                <a:gridCol w="3374136"/>
                <a:gridCol w="3374136"/>
              </a:tblGrid>
              <a:tr h="384048">
                <a:tc>
                  <a:txBody>
                    <a:bodyPr wrap="square"/>
                    <a:lstStyle/>
                    <a:p>
                      <a:pPr algn="ctr"/>
                      <a:r>
                        <a:rPr sz="1700" b="1">
                          <a:solidFill>
                            <a:srgbClr val="FFFFFF"/>
                          </a:solidFill>
                          <a:latin typeface="Arial"/>
                        </a:rPr>
                        <a:t>B2 · SUMIFS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700" b="1">
                          <a:solidFill>
                            <a:srgbClr val="FFFFFF"/>
                          </a:solidFill>
                          <a:latin typeface="Arial"/>
                        </a:rPr>
                        <a:t>B3 · PivotTable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700" b="1">
                          <a:solidFill>
                            <a:srgbClr val="FFFFFF"/>
                          </a:solidFill>
                          <a:latin typeface="Arial"/>
                        </a:rPr>
                        <a:t>B5 ·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pPr algn="ctr"/>
                      <a:r>
                        <a:rPr sz="1700" b="0">
                          <a:solidFill>
                            <a:srgbClr val="1B2230"/>
                          </a:solidFill>
                          <a:latin typeface="Arial"/>
                        </a:rPr>
                        <a:t>criteria</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700" b="0">
                          <a:solidFill>
                            <a:srgbClr val="1B2230"/>
                          </a:solidFill>
                          <a:latin typeface="Arial"/>
                        </a:rPr>
                        <a:t>tọa độ ô Pivot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700" b="0">
                          <a:solidFill>
                            <a:srgbClr val="1B2230"/>
                          </a:solidFill>
                          <a:latin typeface="Arial"/>
                        </a:rPr>
                        <a:t>filter context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7" name="TextBox"/>
          <p:cNvSpPr txBox="1"/>
          <p:nvPr/>
        </p:nvSpPr>
        <p:spPr>
          <a:xfrm>
            <a:off x="1527048" y="1508760"/>
            <a:ext cx="10122408" cy="457200"/>
          </a:xfrm>
          <a:prstGeom prst="rect">
            <a:avLst/>
          </a:prstGeom>
          <a:noFill/>
        </p:spPr>
        <p:txBody>
          <a:bodyPr wrap="square" lIns="0" rIns="0" tIns="0" bIns="0" anchor="t">
            <a:spAutoFit/>
          </a:bodyPr>
          <a:lstStyle/>
          <a:p>
            <a:r>
              <a:rPr sz="1600" b="0">
                <a:solidFill>
                  <a:srgbClr val="585858"/>
                </a:solidFill>
                <a:latin typeface="Arial"/>
              </a:rPr>
              <a:t>Cùng một ý, ba cái tên. Kiểm chứng: Filter Bắc + tháng 3 → Status Bar Sum = 90.210.000 (635 dòng).</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[VẼ] Hình dùng lại nguyên vẹn ở B3 và B5 · Demo/B2_Demo_SUMIFS.xlsx, sheet Sales và Demo_SUMIFS (D4)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SUMIFS · COUNTIFS · AVERAGEIFS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SUMIFS</a:t>
            </a:r>
          </a:p>
        </p:txBody>
      </p:sp>
      <p:graphicFrame>
        <p:nvGraphicFramePr>
          <p:cNvPr id="4" name="Functions"/>
          <p:cNvGraphicFramePr>
            <a:graphicFrameLocks noGrp="1"/>
          </p:cNvGraphicFramePr>
          <p:nvPr/>
        </p:nvGraphicFramePr>
        <p:xfrm>
          <a:off x="1527048" y="1463040"/>
          <a:ext cx="10122408" cy="2633472"/>
        </p:xfrm>
        <a:graphic>
          <a:graphicData uri="http://schemas.openxmlformats.org/drawingml/2006/table">
            <a:tbl>
              <a:tblPr firstRow="1" bandRow="0"/>
              <a:tblGrid>
                <a:gridCol w="2103120"/>
                <a:gridCol w="2103120"/>
                <a:gridCol w="5916168"/>
              </a:tblGrid>
              <a:tr h="658368">
                <a:tc>
                  <a:txBody>
                    <a:bodyPr wrap="square"/>
                    <a:lstStyle/>
                    <a:p>
                      <a:r>
                        <a:rPr sz="1500" b="1">
                          <a:solidFill>
                            <a:srgbClr val="FFFFFF"/>
                          </a:solidFill>
                          <a:latin typeface="Arial"/>
                        </a:rPr>
                        <a:t>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Ví dụ: Bắc, tháng 3</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658368">
                <a:tc>
                  <a:txBody>
                    <a:bodyPr wrap="square"/>
                    <a:lstStyle/>
                    <a:p>
                      <a:r>
                        <a:rPr sz="1500" b="1">
                          <a:solidFill>
                            <a:srgbClr val="C00000"/>
                          </a:solidFill>
                          <a:latin typeface="Arial"/>
                        </a:rPr>
                        <a:t>SUMIFS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Tổng có điều kiện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=SUMIFS(tblSales[Revenue],tblSales[Region],"Bắc",tblSales[Thang],3)</a:t>
                      </a:r>
                      <a:r>
                        <a:rPr sz="1500" b="1">
                          <a:solidFill>
                            <a:srgbClr val="203864"/>
                          </a:solidFill>
                          <a:latin typeface="Arial"/>
                        </a:rPr>
                        <a:t>  → 90.210.000</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500" b="1">
                          <a:solidFill>
                            <a:srgbClr val="C00000"/>
                          </a:solidFill>
                          <a:latin typeface="Arial"/>
                        </a:rPr>
                        <a:t>COUNTIFS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Đếm có điều kiện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=COUNTIFS(tblSales[Region],"Bắc",tblSales[Thang],3)</a:t>
                      </a:r>
                      <a:r>
                        <a:rPr sz="1500" b="1">
                          <a:solidFill>
                            <a:srgbClr val="203864"/>
                          </a:solidFill>
                          <a:latin typeface="Arial"/>
                        </a:rPr>
                        <a:t>  → 635 dòng</a:t>
                      </a:r>
                      <a:r>
                        <a:rPr sz="1300" b="1">
                          <a:solidFill>
                            <a:srgbClr val="203864"/>
                          </a:solidFill>
                          <a:latin typeface="Arial"/>
                        </a:rPr>
                        <a:t>   + tblSales[Line_No],1 → 321 đơn</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500" b="1">
                          <a:solidFill>
                            <a:srgbClr val="C00000"/>
                          </a:solidFill>
                          <a:latin typeface="Arial"/>
                        </a:rPr>
                        <a:t>AVERAGEIFS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Trung bình có điều kiện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=AVERAGEIFS(tblSales[Revenue],…)</a:t>
                      </a:r>
                      <a:r>
                        <a:rPr sz="1500" b="1">
                          <a:solidFill>
                            <a:srgbClr val="203864"/>
                          </a:solidFill>
                          <a:latin typeface="Arial"/>
                        </a:rPr>
                        <a:t>  → 142.063 / dòng</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TextBox"/>
          <p:cNvSpPr txBox="1"/>
          <p:nvPr/>
        </p:nvSpPr>
        <p:spPr>
          <a:xfrm>
            <a:off x="1527048" y="4206240"/>
            <a:ext cx="4846320" cy="411480"/>
          </a:xfrm>
          <a:prstGeom prst="rect">
            <a:avLst/>
          </a:prstGeom>
          <a:noFill/>
        </p:spPr>
        <p:txBody>
          <a:bodyPr wrap="square" lIns="0" rIns="0" tIns="0" bIns="0" anchor="t">
            <a:spAutoFit/>
          </a:bodyPr>
          <a:lstStyle/>
          <a:p>
            <a:r>
              <a:rPr sz="1300" b="1">
                <a:solidFill>
                  <a:srgbClr val="3398DA"/>
                </a:solidFill>
                <a:latin typeface="Arial"/>
              </a:rPr>
              <a:t>① </a:t>
            </a:r>
            <a:r>
              <a:rPr sz="1300" b="0">
                <a:solidFill>
                  <a:srgbClr val="1B2230"/>
                </a:solidFill>
                <a:latin typeface="Arial"/>
              </a:rPr>
              <a:t>cột cần cộng (ĐẦU) · </a:t>
            </a:r>
            <a:r>
              <a:rPr sz="1300" b="1">
                <a:solidFill>
                  <a:srgbClr val="3398DA"/>
                </a:solidFill>
                <a:latin typeface="Arial"/>
              </a:rPr>
              <a:t>② </a:t>
            </a:r>
            <a:r>
              <a:rPr sz="1300" b="0">
                <a:solidFill>
                  <a:srgbClr val="1B2230"/>
                </a:solidFill>
                <a:latin typeface="Arial"/>
              </a:rPr>
              <a:t>cặp cột lọc, giá trị · </a:t>
            </a:r>
            <a:r>
              <a:rPr sz="1300" b="1">
                <a:solidFill>
                  <a:srgbClr val="3398DA"/>
                </a:solidFill>
                <a:latin typeface="Arial"/>
              </a:rPr>
              <a:t>③ </a:t>
            </a:r>
            <a:r>
              <a:rPr sz="1300" b="0">
                <a:solidFill>
                  <a:srgbClr val="1B2230"/>
                </a:solidFill>
                <a:latin typeface="Arial"/>
              </a:rPr>
              <a:t>thêm cặp</a:t>
            </a:r>
          </a:p>
        </p:txBody>
      </p:sp>
      <p:sp>
        <p:nvSpPr>
          <p:cNvPr id="6" name="Image placeholder [CHỤP]"/>
          <p:cNvSpPr/>
          <p:nvPr/>
        </p:nvSpPr>
        <p:spPr>
          <a:xfrm>
            <a:off x="1527048" y="4617720"/>
            <a:ext cx="4846320" cy="1463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4709159"/>
            <a:ext cx="4480559" cy="1280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ScreenTip khi gõ =SUMIFS( trên tblSales: sum_range, criteria_range1, criteria1, …</a:t>
            </a:r>
          </a:p>
          <a:p>
            <a:pPr algn="ctr">
              <a:spcBef>
                <a:spcPts val="400"/>
              </a:spcBef>
            </a:pPr>
            <a:r>
              <a:rPr sz="1200" b="0">
                <a:solidFill>
                  <a:srgbClr val="6B6F76"/>
                </a:solidFill>
                <a:latin typeface="Arial"/>
              </a:rPr>
              <a:t>Demo/B2_Demo_SUMIFS.xlsx · sheet Demo_SUMIFS · ô trống, gõ =SUMIFS( → S16_sumifs_screentip.png</a:t>
            </a:r>
          </a:p>
        </p:txBody>
      </p:sp>
      <p:sp>
        <p:nvSpPr>
          <p:cNvPr id="8" name="TIP callout"/>
          <p:cNvSpPr/>
          <p:nvPr/>
        </p:nvSpPr>
        <p:spPr>
          <a:xfrm>
            <a:off x="6537960" y="4251960"/>
            <a:ext cx="511149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647688" y="4361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7223760" y="4343400"/>
            <a:ext cx="4315968" cy="685800"/>
          </a:xfrm>
          <a:prstGeom prst="rect">
            <a:avLst/>
          </a:prstGeom>
          <a:noFill/>
        </p:spPr>
        <p:txBody>
          <a:bodyPr wrap="square" lIns="0" rIns="0" tIns="0" bIns="0" anchor="t">
            <a:spAutoFit/>
          </a:bodyPr>
          <a:lstStyle/>
          <a:p>
            <a:r>
              <a:rPr sz="1600" b="0">
                <a:solidFill>
                  <a:srgbClr val="1B2230"/>
                </a:solidFill>
                <a:latin typeface="Arial"/>
              </a:rPr>
              <a:t>Dùng cột của Table: các vùng luôn cùng kích thước, không bị #VALUE!.</a:t>
            </a:r>
          </a:p>
        </p:txBody>
      </p:sp>
      <p:sp>
        <p:nvSpPr>
          <p:cNvPr id="11" name="PRO TIP callout"/>
          <p:cNvSpPr/>
          <p:nvPr/>
        </p:nvSpPr>
        <p:spPr>
          <a:xfrm>
            <a:off x="6537960" y="5212080"/>
            <a:ext cx="511149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 TIP chip"/>
          <p:cNvSpPr/>
          <p:nvPr/>
        </p:nvSpPr>
        <p:spPr>
          <a:xfrm>
            <a:off x="6647688" y="532180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3" name="PRO TIP text"/>
          <p:cNvSpPr txBox="1"/>
          <p:nvPr/>
        </p:nvSpPr>
        <p:spPr>
          <a:xfrm>
            <a:off x="7744968" y="5303520"/>
            <a:ext cx="3794760" cy="685800"/>
          </a:xfrm>
          <a:prstGeom prst="rect">
            <a:avLst/>
          </a:prstGeom>
          <a:noFill/>
        </p:spPr>
        <p:txBody>
          <a:bodyPr wrap="square" lIns="0" rIns="0" tIns="0" bIns="0" anchor="t">
            <a:spAutoFit/>
          </a:bodyPr>
          <a:lstStyle/>
          <a:p>
            <a:r>
              <a:rPr sz="1600" b="0">
                <a:solidFill>
                  <a:srgbClr val="1B2230"/>
                </a:solidFill>
                <a:latin typeface="Arial"/>
              </a:rPr>
              <a:t>Grain là dòng sản phẩm: đếm ĐƠN thì COUNTIFS thêm Line_No = 1.</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Demo/B2_Demo_SUMIFS.xlsx, sheet Demo_SUMIFS (D4:D7) · Formulas PDF p33–34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Bảng KPI 2 chiều · tổng ÷ tổng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SUMIFS</a:t>
            </a:r>
          </a:p>
        </p:txBody>
      </p:sp>
      <p:sp>
        <p:nvSpPr>
          <p:cNvPr id="4" name="Formula bar"/>
          <p:cNvSpPr/>
          <p:nvPr/>
        </p:nvSpPr>
        <p:spPr>
          <a:xfrm>
            <a:off x="1527048" y="14630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18488" y="14630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6" name="Formula"/>
          <p:cNvSpPr txBox="1"/>
          <p:nvPr/>
        </p:nvSpPr>
        <p:spPr>
          <a:xfrm>
            <a:off x="2075688" y="1463040"/>
            <a:ext cx="9482328" cy="411480"/>
          </a:xfrm>
          <a:prstGeom prst="rect">
            <a:avLst/>
          </a:prstGeom>
          <a:noFill/>
        </p:spPr>
        <p:txBody>
          <a:bodyPr wrap="square" lIns="0" rIns="0" tIns="0" bIns="0" anchor="ctr">
            <a:spAutoFit/>
          </a:bodyPr>
          <a:lstStyle/>
          <a:p>
            <a:r>
              <a:rPr sz="1600" b="0">
                <a:solidFill>
                  <a:srgbClr val="1B2230"/>
                </a:solidFill>
                <a:latin typeface="Arial"/>
              </a:rPr>
              <a:t>=SUMIFS(tblSales[Revenue],tblSales[Region],</a:t>
            </a:r>
            <a:r>
              <a:rPr sz="1600" b="1">
                <a:solidFill>
                  <a:srgbClr val="1F6FB2"/>
                </a:solidFill>
                <a:latin typeface="Arial"/>
              </a:rPr>
              <a:t>$A12</a:t>
            </a:r>
            <a:r>
              <a:rPr sz="1600" b="0">
                <a:solidFill>
                  <a:srgbClr val="1B2230"/>
                </a:solidFill>
                <a:latin typeface="Arial"/>
              </a:rPr>
              <a:t>,tblSales[Thang],</a:t>
            </a:r>
            <a:r>
              <a:rPr sz="1600" b="1">
                <a:solidFill>
                  <a:srgbClr val="1F6FB2"/>
                </a:solidFill>
                <a:latin typeface="Arial"/>
              </a:rPr>
              <a:t>B$11</a:t>
            </a:r>
            <a:r>
              <a:rPr sz="1600" b="0">
                <a:solidFill>
                  <a:srgbClr val="1B2230"/>
                </a:solidFill>
                <a:latin typeface="Arial"/>
              </a:rPr>
              <a:t>)</a:t>
            </a:r>
          </a:p>
        </p:txBody>
      </p:sp>
      <p:pic>
        <p:nvPicPr>
          <p:cNvPr id="7" name="Screenshot S17_sumifs_grid" descr="S17_sumifs_grid.png"/>
          <p:cNvPicPr>
            <a:picLocks noChangeAspect="1"/>
          </p:cNvPicPr>
          <p:nvPr/>
        </p:nvPicPr>
        <p:blipFill>
          <a:blip r:embed="rId2"/>
          <a:stretch>
            <a:fillRect/>
          </a:stretch>
        </p:blipFill>
        <p:spPr>
          <a:xfrm>
            <a:off x="1527048" y="2563982"/>
            <a:ext cx="6858000" cy="1318555"/>
          </a:xfrm>
          <a:prstGeom prst="rect">
            <a:avLst/>
          </a:prstGeom>
          <a:ln w="9525">
            <a:solidFill>
              <a:srgbClr val="D9DEE8"/>
            </a:solidFill>
          </a:ln>
        </p:spPr>
      </p:pic>
      <p:sp>
        <p:nvSpPr>
          <p:cNvPr id="8" name="TextBox"/>
          <p:cNvSpPr txBox="1"/>
          <p:nvPr/>
        </p:nvSpPr>
        <p:spPr>
          <a:xfrm>
            <a:off x="1527048" y="4434840"/>
            <a:ext cx="6858000" cy="731520"/>
          </a:xfrm>
          <a:prstGeom prst="rect">
            <a:avLst/>
          </a:prstGeom>
          <a:noFill/>
        </p:spPr>
        <p:txBody>
          <a:bodyPr wrap="square" lIns="0" rIns="0" tIns="0" bIns="0" anchor="t">
            <a:spAutoFit/>
          </a:bodyPr>
          <a:lstStyle/>
          <a:p>
            <a:r>
              <a:rPr sz="1500" b="0">
                <a:solidFill>
                  <a:srgbClr val="585858"/>
                </a:solidFill>
                <a:latin typeface="Arial"/>
              </a:rPr>
              <a:t>Một công thức, kéo ra 9 ô: khóa cột $A (Miền), khóa dòng B$11 (Tháng). Đối soát: Tổng = tổng cột Revenue.</a:t>
            </a:r>
          </a:p>
        </p:txBody>
      </p:sp>
      <p:sp>
        <p:nvSpPr>
          <p:cNvPr id="9" name="Stat card"/>
          <p:cNvSpPr/>
          <p:nvPr/>
        </p:nvSpPr>
        <p:spPr>
          <a:xfrm>
            <a:off x="8595360" y="2103120"/>
            <a:ext cx="305409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778240" y="2194560"/>
            <a:ext cx="2688336" cy="1143000"/>
          </a:xfrm>
          <a:prstGeom prst="rect">
            <a:avLst/>
          </a:prstGeom>
          <a:noFill/>
        </p:spPr>
        <p:txBody>
          <a:bodyPr wrap="square" lIns="0" rIns="0" tIns="0" bIns="0" anchor="ctr">
            <a:spAutoFit/>
          </a:bodyPr>
          <a:lstStyle/>
          <a:p>
            <a:r>
              <a:rPr sz="1400" b="0">
                <a:solidFill>
                  <a:srgbClr val="585858"/>
                </a:solidFill>
                <a:latin typeface="Arial"/>
              </a:rPr>
              <a:t>AVERAGE GM% 6 ngành</a:t>
            </a:r>
          </a:p>
          <a:p>
            <a:pPr>
              <a:spcBef>
                <a:spcPts val="200"/>
              </a:spcBef>
            </a:pPr>
            <a:r>
              <a:rPr sz="3000" b="1">
                <a:solidFill>
                  <a:srgbClr val="9C0006"/>
                </a:solidFill>
                <a:latin typeface="Arial"/>
              </a:rPr>
              <a:t>31,2%  ✘</a:t>
            </a:r>
          </a:p>
        </p:txBody>
      </p:sp>
      <p:sp>
        <p:nvSpPr>
          <p:cNvPr id="11" name="Stat card"/>
          <p:cNvSpPr/>
          <p:nvPr/>
        </p:nvSpPr>
        <p:spPr>
          <a:xfrm>
            <a:off x="8595360" y="3520440"/>
            <a:ext cx="305409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778240" y="3611880"/>
            <a:ext cx="2688336" cy="1143000"/>
          </a:xfrm>
          <a:prstGeom prst="rect">
            <a:avLst/>
          </a:prstGeom>
          <a:noFill/>
        </p:spPr>
        <p:txBody>
          <a:bodyPr wrap="square" lIns="0" rIns="0" tIns="0" bIns="0" anchor="ctr">
            <a:spAutoFit/>
          </a:bodyPr>
          <a:lstStyle/>
          <a:p>
            <a:r>
              <a:rPr sz="1400" b="0">
                <a:solidFill>
                  <a:srgbClr val="585858"/>
                </a:solidFill>
                <a:latin typeface="Arial"/>
              </a:rPr>
              <a:t>Tổng lãi gộp ÷ tổng doanh thu</a:t>
            </a:r>
          </a:p>
          <a:p>
            <a:pPr>
              <a:spcBef>
                <a:spcPts val="200"/>
              </a:spcBef>
            </a:pPr>
            <a:r>
              <a:rPr sz="3000" b="1">
                <a:solidFill>
                  <a:srgbClr val="2E7D32"/>
                </a:solidFill>
                <a:latin typeface="Arial"/>
              </a:rPr>
              <a:t>34,2%  ✔</a:t>
            </a:r>
          </a:p>
        </p:txBody>
      </p:sp>
      <p:sp>
        <p:nvSpPr>
          <p:cNvPr id="13" name="TIP callout"/>
          <p:cNvSpPr/>
          <p:nvPr/>
        </p:nvSpPr>
        <p:spPr>
          <a:xfrm>
            <a:off x="1527048" y="516636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636776" y="52760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2212848" y="5257800"/>
            <a:ext cx="9326880" cy="685800"/>
          </a:xfrm>
          <a:prstGeom prst="rect">
            <a:avLst/>
          </a:prstGeom>
          <a:noFill/>
        </p:spPr>
        <p:txBody>
          <a:bodyPr wrap="square" lIns="0" rIns="0" tIns="0" bIns="0" anchor="t">
            <a:spAutoFit/>
          </a:bodyPr>
          <a:lstStyle/>
          <a:p>
            <a:r>
              <a:rPr sz="1600" b="0">
                <a:solidFill>
                  <a:srgbClr val="1B2230"/>
                </a:solidFill>
                <a:latin typeface="Arial"/>
              </a:rPr>
              <a:t>KPI tỷ lệ (AOV, Margin %) luôn tính TỔNG ÷ TỔNG. Ngành Sữa (16,6 triệu) không được “một phiếu” ngang Bánh kẹo (338,7 triệu).</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Demo/B2_Demo_SUMIFS.xlsx, sheet Demo_SUMIFS (B12:E15, dòng 20–28)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file khởi đầu và B2_Product_DuplicateKey.xlsx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Nối bảng: lấy thông tin từ bảng khác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LOOKUP</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VLOOKUP</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Tìm ở CỘT ĐẦU của bảng, trả về cột thứ n bên phải.</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3774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rIns="0" tIns="0" bIns="0" anchor="ctr">
            <a:spAutoFit/>
          </a:bodyPr>
          <a:lstStyle/>
          <a:p>
            <a:r>
              <a:rPr sz="1600" b="0">
                <a:solidFill>
                  <a:srgbClr val="1B2230"/>
                </a:solidFill>
                <a:latin typeface="Arial"/>
              </a:rPr>
              <a:t>=VLOOKUP(A2,Product!$A$2:$E$42,5,FALSE)</a:t>
            </a:r>
          </a:p>
        </p:txBody>
      </p:sp>
      <p:pic>
        <p:nvPicPr>
          <p:cNvPr id="9" name="Screenshot S20_vlookup" descr="S20_vlookup.png"/>
          <p:cNvPicPr>
            <a:picLocks noChangeAspect="1"/>
          </p:cNvPicPr>
          <p:nvPr/>
        </p:nvPicPr>
        <p:blipFill>
          <a:blip r:embed="rId2"/>
          <a:stretch>
            <a:fillRect/>
          </a:stretch>
        </p:blipFill>
        <p:spPr>
          <a:xfrm>
            <a:off x="1527048" y="3029725"/>
            <a:ext cx="10122408" cy="2078709"/>
          </a:xfrm>
          <a:prstGeom prst="rect">
            <a:avLst/>
          </a:prstGeom>
          <a:ln w="9525">
            <a:solidFill>
              <a:srgbClr val="D9DEE8"/>
            </a:solidFill>
          </a:ln>
        </p:spPr>
      </p:pic>
      <p:sp>
        <p:nvSpPr>
          <p:cNvPr id="10" name="TIP callout"/>
          <p:cNvSpPr/>
          <p:nvPr/>
        </p:nvSpPr>
        <p:spPr>
          <a:xfrm>
            <a:off x="1527048" y="525780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349240"/>
            <a:ext cx="9326880" cy="594359"/>
          </a:xfrm>
          <a:prstGeom prst="rect">
            <a:avLst/>
          </a:prstGeom>
          <a:noFill/>
        </p:spPr>
        <p:txBody>
          <a:bodyPr wrap="square" lIns="0" rIns="0" tIns="0" bIns="0" anchor="t">
            <a:spAutoFit/>
          </a:bodyPr>
          <a:lstStyle/>
          <a:p>
            <a:r>
              <a:rPr sz="1600" b="0">
                <a:solidFill>
                  <a:srgbClr val="1B2230"/>
                </a:solidFill>
                <a:latin typeface="Arial"/>
              </a:rPr>
              <a:t>LUÔN ghi đối số cuối là FALSE (hoặc 0). Bỏ trống = khớp gần đúng: không thấy mã thì lấy mã gần nhất nhỏ hơn (P040), không báo lỗi.</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Demo/B2_Demo_Lookup.xlsx, sheet Demo_VLOOKUP · Formulas PDF p36–38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INDEX / MATCH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LOOKUP</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INDEX / MATCH</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MATCH tìm VỊ TRÍ, INDEX lấy giá trị Ở VỊ TRÍ ĐÓ.</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3774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rIns="0" tIns="0" bIns="0" anchor="ctr">
            <a:spAutoFit/>
          </a:bodyPr>
          <a:lstStyle/>
          <a:p>
            <a:r>
              <a:rPr sz="1600" b="0">
                <a:solidFill>
                  <a:srgbClr val="1B2230"/>
                </a:solidFill>
                <a:latin typeface="Arial"/>
              </a:rPr>
              <a:t>=INDEX(Product!$E$2:$E$42,MATCH(A2,Product!$A$2:$A$42,0))</a:t>
            </a:r>
          </a:p>
        </p:txBody>
      </p:sp>
      <p:pic>
        <p:nvPicPr>
          <p:cNvPr id="9" name="Screenshot S21_index_match" descr="S21_index_match.png"/>
          <p:cNvPicPr>
            <a:picLocks noChangeAspect="1"/>
          </p:cNvPicPr>
          <p:nvPr/>
        </p:nvPicPr>
        <p:blipFill>
          <a:blip r:embed="rId2"/>
          <a:stretch>
            <a:fillRect/>
          </a:stretch>
        </p:blipFill>
        <p:spPr>
          <a:xfrm>
            <a:off x="1527048" y="3127593"/>
            <a:ext cx="4663440" cy="1882974"/>
          </a:xfrm>
          <a:prstGeom prst="rect">
            <a:avLst/>
          </a:prstGeom>
          <a:ln w="9525">
            <a:solidFill>
              <a:srgbClr val="D9DEE8"/>
            </a:solidFill>
          </a:ln>
        </p:spPr>
      </p:pic>
      <p:sp>
        <p:nvSpPr>
          <p:cNvPr id="10" name="TextBox"/>
          <p:cNvSpPr txBox="1"/>
          <p:nvPr/>
        </p:nvSpPr>
        <p:spPr>
          <a:xfrm>
            <a:off x="6400800" y="3063240"/>
            <a:ext cx="5248656" cy="2011680"/>
          </a:xfrm>
          <a:prstGeom prst="rect">
            <a:avLst/>
          </a:prstGeom>
          <a:noFill/>
        </p:spPr>
        <p:txBody>
          <a:bodyPr wrap="square" lIns="0" rIns="0" tIns="0" bIns="0" anchor="t">
            <a:spAutoFit/>
          </a:bodyPr>
          <a:lstStyle/>
          <a:p>
            <a:r>
              <a:rPr sz="1700" b="1">
                <a:solidFill>
                  <a:srgbClr val="1B2230"/>
                </a:solidFill>
                <a:latin typeface="Arial"/>
              </a:rPr>
              <a:t>MATCH("P005", cột mã, 0)</a:t>
            </a:r>
            <a:r>
              <a:rPr sz="1700" b="0">
                <a:solidFill>
                  <a:srgbClr val="1B2230"/>
                </a:solidFill>
                <a:latin typeface="Arial"/>
              </a:rPr>
              <a:t> → dòng 5</a:t>
            </a:r>
          </a:p>
          <a:p>
            <a:pPr>
              <a:spcBef>
                <a:spcPts val="1000"/>
              </a:spcBef>
            </a:pPr>
            <a:r>
              <a:rPr sz="1700" b="1">
                <a:solidFill>
                  <a:srgbClr val="1B2230"/>
                </a:solidFill>
                <a:latin typeface="Arial"/>
              </a:rPr>
              <a:t>INDEX(cột Unit_Cost, 5)</a:t>
            </a:r>
            <a:r>
              <a:rPr sz="1700" b="0">
                <a:solidFill>
                  <a:srgbClr val="1B2230"/>
                </a:solidFill>
                <a:latin typeface="Arial"/>
              </a:rPr>
              <a:t> → 83.500</a:t>
            </a:r>
          </a:p>
          <a:p>
            <a:pPr>
              <a:spcBef>
                <a:spcPts val="1000"/>
              </a:spcBef>
            </a:pPr>
            <a:r>
              <a:rPr sz="1700" b="0">
                <a:solidFill>
                  <a:srgbClr val="1B2230"/>
                </a:solidFill>
                <a:latin typeface="Arial"/>
              </a:rPr>
              <a:t>Cột tìm và cột trả về tách rời: tìm được ở mọi cột, trả về bên trái, chèn cột không sai.</a:t>
            </a:r>
          </a:p>
        </p:txBody>
      </p:sp>
      <p:sp>
        <p:nvSpPr>
          <p:cNvPr id="11" name="TIP callout"/>
          <p:cNvSpPr/>
          <p:nvPr/>
        </p:nvSpPr>
        <p:spPr>
          <a:xfrm>
            <a:off x="1527048" y="525780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349240"/>
            <a:ext cx="9326880" cy="594359"/>
          </a:xfrm>
          <a:prstGeom prst="rect">
            <a:avLst/>
          </a:prstGeom>
          <a:noFill/>
        </p:spPr>
        <p:txBody>
          <a:bodyPr wrap="square" lIns="0" rIns="0" tIns="0" bIns="0" anchor="t">
            <a:spAutoFit/>
          </a:bodyPr>
          <a:lstStyle/>
          <a:p>
            <a:r>
              <a:rPr sz="1600" b="0">
                <a:solidFill>
                  <a:srgbClr val="1B2230"/>
                </a:solidFill>
                <a:latin typeface="Arial"/>
              </a:rPr>
              <a:t>Chạy trên MỌI phiên bản Excel. Dùng khi máy chưa có XLOOKUP (Excel 2016/2019).</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Demo/B2_Demo_Lookup.xlsx, sheet Demo_XLOOKUP (cột B) · Formulas PDF p39–42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LOOKUP</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XLOOKUP</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Tìm trong một cột, trả về cột khác; mặc định khớp chính xác.</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3774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rIns="0" tIns="0" bIns="0" anchor="ctr">
            <a:spAutoFit/>
          </a:bodyPr>
          <a:lstStyle/>
          <a:p>
            <a:r>
              <a:rPr sz="1600" b="0">
                <a:solidFill>
                  <a:srgbClr val="1B2230"/>
                </a:solidFill>
                <a:latin typeface="Arial"/>
              </a:rPr>
              <a:t>=XLOOKUP(A2,Product!$A$2:$A$42,Product!$E$2:$E$42,"Không có mã")</a:t>
            </a:r>
          </a:p>
        </p:txBody>
      </p:sp>
      <p:graphicFrame>
        <p:nvGraphicFramePr>
          <p:cNvPr id="9" name="Arguments"/>
          <p:cNvGraphicFramePr>
            <a:graphicFrameLocks noGrp="1"/>
          </p:cNvGraphicFramePr>
          <p:nvPr/>
        </p:nvGraphicFramePr>
        <p:xfrm>
          <a:off x="1527048" y="2971800"/>
          <a:ext cx="5577840" cy="2194560"/>
        </p:xfrm>
        <a:graphic>
          <a:graphicData uri="http://schemas.openxmlformats.org/drawingml/2006/table">
            <a:tbl>
              <a:tblPr firstRow="1" bandRow="0"/>
              <a:tblGrid>
                <a:gridCol w="457200"/>
                <a:gridCol w="2377440"/>
                <a:gridCol w="2743200"/>
              </a:tblGrid>
              <a:tr h="365760">
                <a:tc>
                  <a:txBody>
                    <a:bodyPr wrap="square"/>
                    <a:lstStyle/>
                    <a:p>
                      <a:r>
                        <a:rPr sz="1400" b="1">
                          <a:solidFill>
                            <a:srgbClr val="FFFFFF"/>
                          </a:solidFill>
                          <a:latin typeface="Arial"/>
                        </a:rPr>
                        <a: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Đối số</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Ý nghĩa</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65760">
                <a:tc>
                  <a:txBody>
                    <a:bodyPr wrap="square"/>
                    <a:lstStyle/>
                    <a:p>
                      <a:r>
                        <a:rPr sz="1400" b="0">
                          <a:solidFill>
                            <a:srgbClr val="1B2230"/>
                          </a:solidFill>
                          <a:latin typeface="Arial"/>
                        </a:rPr>
                        <a:t>①</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lookup_value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Tìm cái gì</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400" b="0">
                          <a:solidFill>
                            <a:srgbClr val="1B2230"/>
                          </a:solidFill>
                          <a:latin typeface="Arial"/>
                        </a:rPr>
                        <a:t>②</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lookup_array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Tìm trong cột nào</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400" b="0">
                          <a:solidFill>
                            <a:srgbClr val="1B2230"/>
                          </a:solidFill>
                          <a:latin typeface="Arial"/>
                        </a:rPr>
                        <a:t>③</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return_array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Trả về cột nào</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400" b="0">
                          <a:solidFill>
                            <a:srgbClr val="1B2230"/>
                          </a:solidFill>
                          <a:latin typeface="Arial"/>
                        </a:rPr>
                        <a:t>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[if_not_found]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Không thấy thì hiện gì</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400" b="0">
                          <a:solidFill>
                            <a:srgbClr val="1B2230"/>
                          </a:solidFill>
                          <a:latin typeface="Arial"/>
                        </a:rPr>
                        <a:t>⑤ ⑥</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[match_mode] [search_mode]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Kiểu khớp · chiều tìm</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10" name="Screenshot S22_xlookup" descr="S22_xlookup.png"/>
          <p:cNvPicPr>
            <a:picLocks noChangeAspect="1"/>
          </p:cNvPicPr>
          <p:nvPr/>
        </p:nvPicPr>
        <p:blipFill>
          <a:blip r:embed="rId2"/>
          <a:stretch>
            <a:fillRect/>
          </a:stretch>
        </p:blipFill>
        <p:spPr>
          <a:xfrm>
            <a:off x="7315200" y="3262223"/>
            <a:ext cx="4334256" cy="882194"/>
          </a:xfrm>
          <a:prstGeom prst="rect">
            <a:avLst/>
          </a:prstGeom>
          <a:ln w="9525">
            <a:solidFill>
              <a:srgbClr val="D9DEE8"/>
            </a:solidFill>
          </a:ln>
        </p:spPr>
      </p:pic>
      <p:sp>
        <p:nvSpPr>
          <p:cNvPr id="11" name="TIP callout"/>
          <p:cNvSpPr/>
          <p:nvPr/>
        </p:nvSpPr>
        <p:spPr>
          <a:xfrm>
            <a:off x="7315200" y="4526280"/>
            <a:ext cx="4334256" cy="13716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7424927" y="46360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8001000" y="4617720"/>
            <a:ext cx="3538728" cy="1188720"/>
          </a:xfrm>
          <a:prstGeom prst="rect">
            <a:avLst/>
          </a:prstGeom>
          <a:noFill/>
        </p:spPr>
        <p:txBody>
          <a:bodyPr wrap="square" lIns="0" rIns="0" tIns="0" bIns="0" anchor="t">
            <a:spAutoFit/>
          </a:bodyPr>
          <a:lstStyle/>
          <a:p>
            <a:r>
              <a:rPr sz="1600" b="0">
                <a:solidFill>
                  <a:srgbClr val="1B2230"/>
                </a:solidFill>
                <a:latin typeface="Arial"/>
              </a:rPr>
              <a:t>Trong Table: =XLOOKUP([@Product_Code], tblProduct[Product_Code], tblProduct[Unit_Cost])</a:t>
            </a:r>
          </a:p>
        </p:txBody>
      </p:sp>
      <p:sp>
        <p:nvSpPr>
          <p:cNvPr id="14" name="PRO TIP callout"/>
          <p:cNvSpPr/>
          <p:nvPr/>
        </p:nvSpPr>
        <p:spPr>
          <a:xfrm>
            <a:off x="1527048" y="5257800"/>
            <a:ext cx="5577840"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 TIP chip"/>
          <p:cNvSpPr/>
          <p:nvPr/>
        </p:nvSpPr>
        <p:spPr>
          <a:xfrm>
            <a:off x="1636776" y="53675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6" name="PRO TIP text"/>
          <p:cNvSpPr txBox="1"/>
          <p:nvPr/>
        </p:nvSpPr>
        <p:spPr>
          <a:xfrm>
            <a:off x="2734056" y="5349240"/>
            <a:ext cx="4261104" cy="640080"/>
          </a:xfrm>
          <a:prstGeom prst="rect">
            <a:avLst/>
          </a:prstGeom>
          <a:noFill/>
        </p:spPr>
        <p:txBody>
          <a:bodyPr wrap="square" lIns="0" rIns="0" tIns="0" bIns="0" anchor="t">
            <a:spAutoFit/>
          </a:bodyPr>
          <a:lstStyle/>
          <a:p>
            <a:r>
              <a:rPr sz="1600" b="0">
                <a:solidFill>
                  <a:srgbClr val="1B2230"/>
                </a:solidFill>
                <a:latin typeface="Arial"/>
              </a:rPr>
              <a:t>Chỉ dùng if_not_found khi đã hiểu vì sao không tìm thấy; đừng dùng để che lỗi dữ liệu.</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Demo/B2_Demo_Lookup.xlsx, sheet Demo_XLOOKUP (cột C, F) · Formulas PDF p43–46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Laws of Lookups: khóa phải duy nhất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LOOKUP</a:t>
            </a:r>
          </a:p>
        </p:txBody>
      </p:sp>
      <p:sp>
        <p:nvSpPr>
          <p:cNvPr id="4" name="TextBox"/>
          <p:cNvSpPr txBox="1"/>
          <p:nvPr/>
        </p:nvSpPr>
        <p:spPr>
          <a:xfrm>
            <a:off x="1527048" y="1463040"/>
            <a:ext cx="5486400" cy="2103120"/>
          </a:xfrm>
          <a:prstGeom prst="rect">
            <a:avLst/>
          </a:prstGeom>
          <a:noFill/>
        </p:spPr>
        <p:txBody>
          <a:bodyPr wrap="square" lIns="0" rIns="0" tIns="0" bIns="0" anchor="t">
            <a:spAutoFit/>
          </a:bodyPr>
          <a:lstStyle/>
          <a:p>
            <a:r>
              <a:rPr sz="1600" b="1">
                <a:solidFill>
                  <a:srgbClr val="203864"/>
                </a:solidFill>
                <a:latin typeface="Arial"/>
              </a:rPr>
              <a:t>Luật 1 · </a:t>
            </a:r>
            <a:r>
              <a:rPr sz="1600" b="0">
                <a:solidFill>
                  <a:srgbClr val="1B2230"/>
                </a:solidFill>
                <a:latin typeface="Arial"/>
              </a:rPr>
              <a:t>Khóa ở bảng tra phải DUY NHẤT. Trùng khóa → lấy dòng ĐẦU TIÊN, không báo lỗi.</a:t>
            </a:r>
          </a:p>
          <a:p>
            <a:pPr>
              <a:spcBef>
                <a:spcPts val="800"/>
              </a:spcBef>
            </a:pPr>
            <a:r>
              <a:rPr sz="1600" b="1">
                <a:solidFill>
                  <a:srgbClr val="203864"/>
                </a:solidFill>
                <a:latin typeface="Arial"/>
              </a:rPr>
              <a:t>Luật 2 · </a:t>
            </a:r>
            <a:r>
              <a:rPr sz="1600" b="0">
                <a:solidFill>
                  <a:srgbClr val="1B2230"/>
                </a:solidFill>
                <a:latin typeface="Arial"/>
              </a:rPr>
              <a:t>Khóa hai bên cùng kiểu, cùng cách viết (slide sau).</a:t>
            </a:r>
          </a:p>
          <a:p>
            <a:pPr>
              <a:spcBef>
                <a:spcPts val="800"/>
              </a:spcBef>
            </a:pPr>
            <a:r>
              <a:rPr sz="1600" b="1">
                <a:solidFill>
                  <a:srgbClr val="203864"/>
                </a:solidFill>
                <a:latin typeface="Arial"/>
              </a:rPr>
              <a:t>Luật 3 · </a:t>
            </a:r>
            <a:r>
              <a:rPr sz="1600" b="0">
                <a:solidFill>
                  <a:srgbClr val="1B2230"/>
                </a:solidFill>
                <a:latin typeface="Arial"/>
              </a:rPr>
              <a:t>Không thấy thì phải thấy #N/A, đừng khớp gần đúng.</a:t>
            </a:r>
          </a:p>
        </p:txBody>
      </p:sp>
      <p:pic>
        <p:nvPicPr>
          <p:cNvPr id="5" name="Screenshot S23_p021_duplicate" descr="S23_p021_duplicate.png"/>
          <p:cNvPicPr>
            <a:picLocks noChangeAspect="1"/>
          </p:cNvPicPr>
          <p:nvPr/>
        </p:nvPicPr>
        <p:blipFill>
          <a:blip r:embed="rId2"/>
          <a:stretch>
            <a:fillRect/>
          </a:stretch>
        </p:blipFill>
        <p:spPr>
          <a:xfrm>
            <a:off x="1527048" y="3967324"/>
            <a:ext cx="5577840" cy="752152"/>
          </a:xfrm>
          <a:prstGeom prst="rect">
            <a:avLst/>
          </a:prstGeom>
          <a:ln w="9525">
            <a:solidFill>
              <a:srgbClr val="D9DEE8"/>
            </a:solidFill>
          </a:ln>
        </p:spPr>
      </p:pic>
      <p:sp>
        <p:nvSpPr>
          <p:cNvPr id="6" name="Stat card"/>
          <p:cNvSpPr/>
          <p:nvPr/>
        </p:nvSpPr>
        <p:spPr>
          <a:xfrm>
            <a:off x="7406640" y="1463040"/>
            <a:ext cx="4242816" cy="14173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7589519" y="1554480"/>
            <a:ext cx="3877055" cy="1234440"/>
          </a:xfrm>
          <a:prstGeom prst="rect">
            <a:avLst/>
          </a:prstGeom>
          <a:noFill/>
        </p:spPr>
        <p:txBody>
          <a:bodyPr wrap="square" lIns="0" rIns="0" tIns="0" bIns="0" anchor="ctr">
            <a:spAutoFit/>
          </a:bodyPr>
          <a:lstStyle/>
          <a:p>
            <a:r>
              <a:rPr sz="1400" b="0">
                <a:solidFill>
                  <a:srgbClr val="585858"/>
                </a:solidFill>
                <a:latin typeface="Arial"/>
              </a:rPr>
              <a:t>COGS của P021 trong Q1 (143 dòng)</a:t>
            </a:r>
          </a:p>
          <a:p>
            <a:pPr>
              <a:spcBef>
                <a:spcPts val="200"/>
              </a:spcBef>
            </a:pPr>
            <a:r>
              <a:rPr sz="2800" b="1">
                <a:solidFill>
                  <a:srgbClr val="9C0006"/>
                </a:solidFill>
                <a:latin typeface="Arial"/>
              </a:rPr>
              <a:t>15.872.000</a:t>
            </a:r>
          </a:p>
          <a:p>
            <a:pPr>
              <a:spcBef>
                <a:spcPts val="200"/>
              </a:spcBef>
            </a:pPr>
            <a:r>
              <a:rPr sz="1400" b="0">
                <a:solidFill>
                  <a:srgbClr val="1B2230"/>
                </a:solidFill>
                <a:latin typeface="Arial"/>
              </a:rPr>
              <a:t>đúng: 17.664.000 · thiếu 1.792.000</a:t>
            </a:r>
          </a:p>
        </p:txBody>
      </p:sp>
      <p:sp>
        <p:nvSpPr>
          <p:cNvPr id="8" name="Stat card"/>
          <p:cNvSpPr/>
          <p:nvPr/>
        </p:nvSpPr>
        <p:spPr>
          <a:xfrm>
            <a:off x="7406640" y="3017520"/>
            <a:ext cx="4242816" cy="14173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7589519" y="3108960"/>
            <a:ext cx="3877055" cy="1234440"/>
          </a:xfrm>
          <a:prstGeom prst="rect">
            <a:avLst/>
          </a:prstGeom>
          <a:noFill/>
        </p:spPr>
        <p:txBody>
          <a:bodyPr wrap="square" lIns="0" rIns="0" tIns="0" bIns="0" anchor="ctr">
            <a:spAutoFit/>
          </a:bodyPr>
          <a:lstStyle/>
          <a:p>
            <a:r>
              <a:rPr sz="1400" b="0">
                <a:solidFill>
                  <a:srgbClr val="585858"/>
                </a:solidFill>
                <a:latin typeface="Arial"/>
              </a:rPr>
              <a:t>Gross Margin % toàn công ty</a:t>
            </a:r>
          </a:p>
          <a:p>
            <a:pPr>
              <a:spcBef>
                <a:spcPts val="200"/>
              </a:spcBef>
            </a:pPr>
            <a:r>
              <a:rPr sz="2600" b="1">
                <a:solidFill>
                  <a:srgbClr val="9C0006"/>
                </a:solidFill>
                <a:latin typeface="Arial"/>
              </a:rPr>
              <a:t>34,4% vs 34,2%</a:t>
            </a:r>
          </a:p>
          <a:p>
            <a:pPr>
              <a:spcBef>
                <a:spcPts val="200"/>
              </a:spcBef>
            </a:pPr>
            <a:r>
              <a:rPr sz="1400" b="0">
                <a:solidFill>
                  <a:srgbClr val="1B2230"/>
                </a:solidFill>
                <a:latin typeface="Arial"/>
              </a:rPr>
              <a:t>đẹp hơn thực tế — không một ô lỗi</a:t>
            </a:r>
          </a:p>
        </p:txBody>
      </p:sp>
      <p:sp>
        <p:nvSpPr>
          <p:cNvPr id="10" name="TIP callout"/>
          <p:cNvSpPr/>
          <p:nvPr/>
        </p:nvSpPr>
        <p:spPr>
          <a:xfrm>
            <a:off x="7406640" y="4572000"/>
            <a:ext cx="4242816"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7516367" y="46817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8092440" y="4663440"/>
            <a:ext cx="3447287" cy="1005840"/>
          </a:xfrm>
          <a:prstGeom prst="rect">
            <a:avLst/>
          </a:prstGeom>
          <a:noFill/>
        </p:spPr>
        <p:txBody>
          <a:bodyPr wrap="square" lIns="0" rIns="0" tIns="0" bIns="0" anchor="t">
            <a:spAutoFit/>
          </a:bodyPr>
          <a:lstStyle/>
          <a:p>
            <a:r>
              <a:rPr sz="1600" b="0">
                <a:solidFill>
                  <a:srgbClr val="1B2230"/>
                </a:solidFill>
                <a:latin typeface="Arial"/>
              </a:rPr>
              <a:t>Kiểm tra trùng: =COUNTIF(tblProduct[Product_Code],[@Product_Code]) &gt; 1</a:t>
            </a:r>
          </a:p>
        </p:txBody>
      </p:sp>
      <p:sp>
        <p:nvSpPr>
          <p:cNvPr id="13" name="TextBox"/>
          <p:cNvSpPr txBox="1"/>
          <p:nvPr/>
        </p:nvSpPr>
        <p:spPr>
          <a:xfrm>
            <a:off x="1527048" y="5166360"/>
            <a:ext cx="5577840" cy="731520"/>
          </a:xfrm>
          <a:prstGeom prst="rect">
            <a:avLst/>
          </a:prstGeom>
          <a:noFill/>
        </p:spPr>
        <p:txBody>
          <a:bodyPr wrap="square" lIns="0" rIns="0" tIns="0" bIns="0" anchor="t">
            <a:spAutoFit/>
          </a:bodyPr>
          <a:lstStyle/>
          <a:p>
            <a:r>
              <a:rPr sz="1600" b="1">
                <a:solidFill>
                  <a:srgbClr val="203864"/>
                </a:solidFill>
                <a:latin typeface="Arial"/>
              </a:rPr>
              <a:t>Không lỗi ≠ không sai. Doanh thu vẫn đúng (giá bán lấy từ Sales); sai là GIÁ VỐN.</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Demo/B2_Demo_Lookup.xlsx, sheet Demo_KhoaTrung và Product (dòng 22–23)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Khóa khác kiểu: TRIM · VALUE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LOOKUP</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TRIM</a:t>
            </a:r>
          </a:p>
        </p:txBody>
      </p:sp>
      <p:sp>
        <p:nvSpPr>
          <p:cNvPr id="5" name="Tool purpose"/>
          <p:cNvSpPr txBox="1"/>
          <p:nvPr/>
        </p:nvSpPr>
        <p:spPr>
          <a:xfrm>
            <a:off x="1527048" y="1920240"/>
            <a:ext cx="4846320" cy="411480"/>
          </a:xfrm>
          <a:prstGeom prst="rect">
            <a:avLst/>
          </a:prstGeom>
          <a:noFill/>
        </p:spPr>
        <p:txBody>
          <a:bodyPr wrap="square" lIns="0" rIns="0" tIns="0" bIns="0" anchor="t">
            <a:spAutoFit/>
          </a:bodyPr>
          <a:lstStyle/>
          <a:p>
            <a:r>
              <a:rPr sz="1600" b="0">
                <a:solidFill>
                  <a:srgbClr val="585858"/>
                </a:solidFill>
                <a:latin typeface="Arial"/>
              </a:rPr>
              <a:t>Bỏ dấu cách thừa ở đầu, cuối, giữa chuỗi.</a:t>
            </a:r>
          </a:p>
        </p:txBody>
      </p:sp>
      <p:cxnSp>
        <p:nvCxnSpPr>
          <p:cNvPr id="6" name="Connector 5"/>
          <p:cNvCxnSpPr/>
          <p:nvPr/>
        </p:nvCxnSpPr>
        <p:spPr>
          <a:xfrm>
            <a:off x="658368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VALUE / TEXT</a:t>
            </a:r>
          </a:p>
        </p:txBody>
      </p:sp>
      <p:sp>
        <p:nvSpPr>
          <p:cNvPr id="8" name="Tool purpose"/>
          <p:cNvSpPr txBox="1"/>
          <p:nvPr/>
        </p:nvSpPr>
        <p:spPr>
          <a:xfrm>
            <a:off x="6766560" y="1920240"/>
            <a:ext cx="4882896" cy="411480"/>
          </a:xfrm>
          <a:prstGeom prst="rect">
            <a:avLst/>
          </a:prstGeom>
          <a:noFill/>
        </p:spPr>
        <p:txBody>
          <a:bodyPr wrap="square" lIns="0" rIns="0" tIns="0" bIns="0" anchor="t">
            <a:spAutoFit/>
          </a:bodyPr>
          <a:lstStyle/>
          <a:p>
            <a:r>
              <a:rPr sz="1600" b="0">
                <a:solidFill>
                  <a:srgbClr val="585858"/>
                </a:solidFill>
                <a:latin typeface="Arial"/>
              </a:rPr>
              <a:t>Đổi số dạng chữ "1" ↔ số 1.</a:t>
            </a:r>
          </a:p>
        </p:txBody>
      </p:sp>
      <p:pic>
        <p:nvPicPr>
          <p:cNvPr id="9" name="Screenshot S24_trim_value" descr="S24_trim_value.png"/>
          <p:cNvPicPr>
            <a:picLocks noChangeAspect="1"/>
          </p:cNvPicPr>
          <p:nvPr/>
        </p:nvPicPr>
        <p:blipFill>
          <a:blip r:embed="rId2"/>
          <a:stretch>
            <a:fillRect/>
          </a:stretch>
        </p:blipFill>
        <p:spPr>
          <a:xfrm>
            <a:off x="3395132" y="2514600"/>
            <a:ext cx="6386239" cy="2331720"/>
          </a:xfrm>
          <a:prstGeom prst="rect">
            <a:avLst/>
          </a:prstGeom>
          <a:ln w="9525">
            <a:solidFill>
              <a:srgbClr val="D9DEE8"/>
            </a:solidFill>
          </a:ln>
        </p:spPr>
      </p:pic>
      <p:sp>
        <p:nvSpPr>
          <p:cNvPr id="10" name="TIP callout"/>
          <p:cNvSpPr/>
          <p:nvPr/>
        </p:nvSpPr>
        <p:spPr>
          <a:xfrm>
            <a:off x="1527048" y="502920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1389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120640"/>
            <a:ext cx="9326880" cy="685800"/>
          </a:xfrm>
          <a:prstGeom prst="rect">
            <a:avLst/>
          </a:prstGeom>
          <a:noFill/>
        </p:spPr>
        <p:txBody>
          <a:bodyPr wrap="square" lIns="0" rIns="0" tIns="0" bIns="0" anchor="t">
            <a:spAutoFit/>
          </a:bodyPr>
          <a:lstStyle/>
          <a:p>
            <a:r>
              <a:rPr sz="1600" b="0">
                <a:solidFill>
                  <a:srgbClr val="1B2230"/>
                </a:solidFill>
                <a:latin typeface="Arial"/>
              </a:rPr>
              <a:t>#N/A dù “nhìn thấy có”? Kiểm tra =LEN(ô) ("P005 " ra 5, không phải 4) và căn lề: số căn phải, chữ căn trái.</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Demo/B2_Demo_Lookup.xlsx, sheet Demo_KieuKhoa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Text &amp; Date: chuẩn hóa để phân tích theo thời gian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TRIM · LEFT / MID / RIGHT · TEXT · &amp;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TEXT &amp; DATE</a:t>
            </a:r>
          </a:p>
        </p:txBody>
      </p:sp>
      <p:graphicFrame>
        <p:nvGraphicFramePr>
          <p:cNvPr id="4" name="Functions"/>
          <p:cNvGraphicFramePr>
            <a:graphicFrameLocks noGrp="1"/>
          </p:cNvGraphicFramePr>
          <p:nvPr/>
        </p:nvGraphicFramePr>
        <p:xfrm>
          <a:off x="1527048" y="1463040"/>
          <a:ext cx="10122408" cy="2286000"/>
        </p:xfrm>
        <a:graphic>
          <a:graphicData uri="http://schemas.openxmlformats.org/drawingml/2006/table">
            <a:tbl>
              <a:tblPr firstRow="1" bandRow="0"/>
              <a:tblGrid>
                <a:gridCol w="2286000"/>
                <a:gridCol w="4206240"/>
                <a:gridCol w="3630168"/>
              </a:tblGrid>
              <a:tr h="457200">
                <a:tc>
                  <a:txBody>
                    <a:bodyPr wrap="square"/>
                    <a:lstStyle/>
                    <a:p>
                      <a:r>
                        <a:rPr sz="1500" b="1">
                          <a:solidFill>
                            <a:srgbClr val="FFFFFF"/>
                          </a:solidFill>
                          <a:latin typeface="Arial"/>
                        </a:rPr>
                        <a:t>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Ví dụ</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Kết quả</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500" b="1">
                          <a:solidFill>
                            <a:srgbClr val="C00000"/>
                          </a:solidFill>
                          <a:latin typeface="Arial"/>
                        </a:rPr>
                        <a:t>LEFT / MID / RIGHT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=MID("HD2501-00001",3,4)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2501  (năm 25, tháng 01)</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C00000"/>
                          </a:solidFill>
                          <a:latin typeface="Arial"/>
                        </a:rPr>
                        <a:t>TRIM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=TRIM("  MCI Mart   Cầu Giấy")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MCI Mart Cầu Giấy  (LEN 21 → 17)</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C00000"/>
                          </a:solidFill>
                          <a:latin typeface="Arial"/>
                        </a:rPr>
                        <a:t>&amp;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=B2&amp;" – "&amp;TRIM(C2)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ST01 – MCI Mart Cầu Giấy</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500" b="1">
                          <a:solidFill>
                            <a:srgbClr val="C00000"/>
                          </a:solidFill>
                          <a:latin typeface="Arial"/>
                        </a:rPr>
                        <a:t>TEXT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=TEXT(D2,"#,##0")&amp;" đ"</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19,000 đ  (theo cài đặt vùng)</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6_text" descr="S26_text.png"/>
          <p:cNvPicPr>
            <a:picLocks noChangeAspect="1"/>
          </p:cNvPicPr>
          <p:nvPr/>
        </p:nvPicPr>
        <p:blipFill>
          <a:blip r:embed="rId2"/>
          <a:stretch>
            <a:fillRect/>
          </a:stretch>
        </p:blipFill>
        <p:spPr>
          <a:xfrm>
            <a:off x="1527048" y="4456067"/>
            <a:ext cx="6035040" cy="826226"/>
          </a:xfrm>
          <a:prstGeom prst="rect">
            <a:avLst/>
          </a:prstGeom>
          <a:ln w="9525">
            <a:solidFill>
              <a:srgbClr val="D9DEE8"/>
            </a:solidFill>
          </a:ln>
        </p:spPr>
      </p:pic>
      <p:sp>
        <p:nvSpPr>
          <p:cNvPr id="6" name="TIP callout"/>
          <p:cNvSpPr/>
          <p:nvPr/>
        </p:nvSpPr>
        <p:spPr>
          <a:xfrm>
            <a:off x="7726679" y="3886200"/>
            <a:ext cx="3922776" cy="1965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7836407" y="39959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8412480" y="3977639"/>
            <a:ext cx="3127248" cy="1783080"/>
          </a:xfrm>
          <a:prstGeom prst="rect">
            <a:avLst/>
          </a:prstGeom>
          <a:noFill/>
        </p:spPr>
        <p:txBody>
          <a:bodyPr wrap="square" lIns="0" rIns="0" tIns="0" bIns="0" anchor="t">
            <a:spAutoFit/>
          </a:bodyPr>
          <a:lstStyle/>
          <a:p>
            <a:r>
              <a:rPr sz="1600" b="0">
                <a:solidFill>
                  <a:srgbClr val="1B2230"/>
                </a:solidFill>
                <a:latin typeface="Arial"/>
              </a:rPr>
              <a:t>Kết quả của TEXT là CHỮ: =J2+1 ra #VALUE!. Tính toán bằng số, chỉ dùng TEXT ở bước trình bày.</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Demo/B2_Demo_Text_Date.xlsx, sheet Demo_Text · Formulas PDF p50–53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Hàm ngày lõi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TEXT &amp; DATE</a:t>
            </a:r>
          </a:p>
        </p:txBody>
      </p:sp>
      <p:graphicFrame>
        <p:nvGraphicFramePr>
          <p:cNvPr id="4" name="Functions"/>
          <p:cNvGraphicFramePr>
            <a:graphicFrameLocks noGrp="1"/>
          </p:cNvGraphicFramePr>
          <p:nvPr/>
        </p:nvGraphicFramePr>
        <p:xfrm>
          <a:off x="1527048" y="1463040"/>
          <a:ext cx="10122408" cy="2286000"/>
        </p:xfrm>
        <a:graphic>
          <a:graphicData uri="http://schemas.openxmlformats.org/drawingml/2006/table">
            <a:tbl>
              <a:tblPr firstRow="1" bandRow="0"/>
              <a:tblGrid>
                <a:gridCol w="2103120"/>
                <a:gridCol w="4754880"/>
                <a:gridCol w="3264408"/>
              </a:tblGrid>
              <a:tr h="457200">
                <a:tc>
                  <a:txBody>
                    <a:bodyPr wrap="square"/>
                    <a:lstStyle/>
                    <a:p>
                      <a:r>
                        <a:rPr sz="1400" b="1">
                          <a:solidFill>
                            <a:srgbClr val="FFFFFF"/>
                          </a:solidFill>
                          <a:latin typeface="Arial"/>
                        </a:rPr>
                        <a:t>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Ví dụ (A2 = 15/01/2025)</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Kết quả</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1">
                          <a:solidFill>
                            <a:srgbClr val="C00000"/>
                          </a:solidFill>
                          <a:latin typeface="Arial"/>
                        </a:rPr>
                        <a:t>EOMONTH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=EOMONTH(A2,0)  ·  =EOMONTH(A2,-1)+1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31/01/2025 · 01/01/2025</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MONTH / Quý</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=MONTH(A2)  ·  ="Q"&amp;ROUNDUP(MONTH(A2)/3,0)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1 · Q1</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TEXT / WEEKDAY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=TEXT(A2,"ddd")  ·  =WEEKDAY(A2,2)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Wed (máy tiếng Việt: T4) · 3</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NETWORKDAYS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=NETWORKDAYS(B10,C10,$H$10:$H$15)</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203864"/>
                          </a:solidFill>
                          <a:latin typeface="Arial"/>
                        </a:rPr>
                        <a:t>Tháng 1/2025: 23 → 17 ngày làm việc</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7_date" descr="S27_date.png"/>
          <p:cNvPicPr>
            <a:picLocks noChangeAspect="1"/>
          </p:cNvPicPr>
          <p:nvPr/>
        </p:nvPicPr>
        <p:blipFill>
          <a:blip r:embed="rId2"/>
          <a:stretch>
            <a:fillRect/>
          </a:stretch>
        </p:blipFill>
        <p:spPr>
          <a:xfrm>
            <a:off x="1527048" y="3940490"/>
            <a:ext cx="6035040" cy="1857380"/>
          </a:xfrm>
          <a:prstGeom prst="rect">
            <a:avLst/>
          </a:prstGeom>
          <a:ln w="9525">
            <a:solidFill>
              <a:srgbClr val="D9DEE8"/>
            </a:solidFill>
          </a:ln>
        </p:spPr>
      </p:pic>
      <p:sp>
        <p:nvSpPr>
          <p:cNvPr id="6" name="TIP callout"/>
          <p:cNvSpPr/>
          <p:nvPr/>
        </p:nvSpPr>
        <p:spPr>
          <a:xfrm>
            <a:off x="7726679" y="3886200"/>
            <a:ext cx="3922776" cy="1965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7836407" y="39959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8412480" y="3977639"/>
            <a:ext cx="3127248" cy="1783080"/>
          </a:xfrm>
          <a:prstGeom prst="rect">
            <a:avLst/>
          </a:prstGeom>
          <a:noFill/>
        </p:spPr>
        <p:txBody>
          <a:bodyPr wrap="square" lIns="0" rIns="0" tIns="0" bIns="0" anchor="t">
            <a:spAutoFit/>
          </a:bodyPr>
          <a:lstStyle/>
          <a:p>
            <a:r>
              <a:rPr sz="1600" b="0">
                <a:solidFill>
                  <a:srgbClr val="1B2230"/>
                </a:solidFill>
                <a:latin typeface="Arial"/>
              </a:rPr>
              <a:t>Ngày trong Excel là SỐ (01/01/2025 = 45658), nên cộng trừ được. Ngày căn trái = ngày lưu dạng chữ, không group theo tháng được.</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Demo/B2_Demo_Text_Date.xlsx, sheet Demo_Date · ngày lễ: 01/01 và 27–31/01/2025 · Formulas PDF p57–65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Chọn hàm theo câu hỏi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TEXT &amp; DATE</a:t>
            </a:r>
          </a:p>
        </p:txBody>
      </p:sp>
      <p:graphicFrame>
        <p:nvGraphicFramePr>
          <p:cNvPr id="4" name="Chooser"/>
          <p:cNvGraphicFramePr>
            <a:graphicFrameLocks noGrp="1"/>
          </p:cNvGraphicFramePr>
          <p:nvPr/>
        </p:nvGraphicFramePr>
        <p:xfrm>
          <a:off x="1527048" y="1554480"/>
          <a:ext cx="10122408" cy="3621024"/>
        </p:xfrm>
        <a:graphic>
          <a:graphicData uri="http://schemas.openxmlformats.org/drawingml/2006/table">
            <a:tbl>
              <a:tblPr firstRow="1" bandRow="0"/>
              <a:tblGrid>
                <a:gridCol w="5669280"/>
                <a:gridCol w="4453128"/>
              </a:tblGrid>
              <a:tr h="603504">
                <a:tc>
                  <a:txBody>
                    <a:bodyPr wrap="square"/>
                    <a:lstStyle/>
                    <a:p>
                      <a:r>
                        <a:rPr sz="1800" b="1">
                          <a:solidFill>
                            <a:srgbClr val="FFFFFF"/>
                          </a:solidFill>
                          <a:latin typeface="Arial"/>
                        </a:rPr>
                        <a:t>Câu hỏi kinh doanh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800" b="1">
                          <a:solidFill>
                            <a:srgbClr val="FFFFFF"/>
                          </a:solidFill>
                          <a:latin typeface="Arial"/>
                        </a:rPr>
                        <a:t>Nhóm 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603504">
                <a:tc>
                  <a:txBody>
                    <a:bodyPr wrap="square"/>
                    <a:lstStyle/>
                    <a:p>
                      <a:r>
                        <a:rPr sz="1800" b="0">
                          <a:solidFill>
                            <a:srgbClr val="1B2230"/>
                          </a:solidFill>
                          <a:latin typeface="Arial"/>
                        </a:rPr>
                        <a:t>“Sản phẩm này thuộc nhóm nào?”</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203864"/>
                          </a:solidFill>
                          <a:latin typeface="Arial"/>
                        </a:rPr>
                        <a:t>IF · IFS · AND · OR</a:t>
                      </a:r>
                    </a:p>
                  </a:txBody>
                  <a:tcPr marL="73152" marR="73152" marT="27432" marB="27432" anchor="ctr">
                    <a:lnL w="0">
                      <a:noFill/>
                    </a:lnL>
                    <a:lnR w="0">
                      <a:noFill/>
                    </a:lnR>
                    <a:lnT w="12700">
                      <a:solidFill>
                        <a:srgbClr val="D9DEE8"/>
                      </a:solidFill>
                    </a:lnT>
                    <a:lnB w="12700">
                      <a:solidFill>
                        <a:srgbClr val="D9DEE8"/>
                      </a:solidFill>
                    </a:lnB>
                    <a:noFill/>
                  </a:tcPr>
                </a:tc>
              </a:tr>
              <a:tr h="603504">
                <a:tc>
                  <a:txBody>
                    <a:bodyPr wrap="square"/>
                    <a:lstStyle/>
                    <a:p>
                      <a:r>
                        <a:rPr sz="1800" b="0">
                          <a:solidFill>
                            <a:srgbClr val="1B2230"/>
                          </a:solidFill>
                          <a:latin typeface="Arial"/>
                        </a:rPr>
                        <a:t>“Khách thường chi bao nhiêu? Có gì bất thường?”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203864"/>
                          </a:solidFill>
                          <a:latin typeface="Arial"/>
                        </a:rPr>
                        <a:t>MEDIAN · STDEV · QUARTILE</a:t>
                      </a:r>
                    </a:p>
                  </a:txBody>
                  <a:tcPr marL="73152" marR="73152" marT="27432" marB="27432" anchor="ctr">
                    <a:lnL w="0">
                      <a:noFill/>
                    </a:lnL>
                    <a:lnR w="0">
                      <a:noFill/>
                    </a:lnR>
                    <a:lnT w="12700">
                      <a:solidFill>
                        <a:srgbClr val="D9DEE8"/>
                      </a:solidFill>
                    </a:lnT>
                    <a:lnB w="12700">
                      <a:solidFill>
                        <a:srgbClr val="D9DEE8"/>
                      </a:solidFill>
                    </a:lnB>
                    <a:noFill/>
                  </a:tcPr>
                </a:tc>
              </a:tr>
              <a:tr h="603504">
                <a:tc>
                  <a:txBody>
                    <a:bodyPr wrap="square"/>
                    <a:lstStyle/>
                    <a:p>
                      <a:r>
                        <a:rPr sz="1800" b="0">
                          <a:solidFill>
                            <a:srgbClr val="1B2230"/>
                          </a:solidFill>
                          <a:latin typeface="Arial"/>
                        </a:rPr>
                        <a:t>“Bao nhiêu, theo vùng / tháng?”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203864"/>
                          </a:solidFill>
                          <a:latin typeface="Arial"/>
                        </a:rPr>
                        <a:t>SUMIFS · COUNTIFS · AVERAGEIFS</a:t>
                      </a:r>
                    </a:p>
                  </a:txBody>
                  <a:tcPr marL="73152" marR="73152" marT="27432" marB="27432" anchor="ctr">
                    <a:lnL w="0">
                      <a:noFill/>
                    </a:lnL>
                    <a:lnR w="0">
                      <a:noFill/>
                    </a:lnR>
                    <a:lnT w="12700">
                      <a:solidFill>
                        <a:srgbClr val="D9DEE8"/>
                      </a:solidFill>
                    </a:lnT>
                    <a:lnB w="12700">
                      <a:solidFill>
                        <a:srgbClr val="D9DEE8"/>
                      </a:solidFill>
                    </a:lnB>
                    <a:noFill/>
                  </a:tcPr>
                </a:tc>
              </a:tr>
              <a:tr h="603504">
                <a:tc>
                  <a:txBody>
                    <a:bodyPr wrap="square"/>
                    <a:lstStyle/>
                    <a:p>
                      <a:r>
                        <a:rPr sz="1800" b="0">
                          <a:solidFill>
                            <a:srgbClr val="1B2230"/>
                          </a:solidFill>
                          <a:latin typeface="Arial"/>
                        </a:rPr>
                        <a:t>“Lấy thông tin từ bảng khác”</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203864"/>
                          </a:solidFill>
                          <a:latin typeface="Arial"/>
                        </a:rPr>
                        <a:t>XLOOKUP (INDEX / MATCH)</a:t>
                      </a:r>
                    </a:p>
                  </a:txBody>
                  <a:tcPr marL="73152" marR="73152" marT="27432" marB="27432" anchor="ctr">
                    <a:lnL w="0">
                      <a:noFill/>
                    </a:lnL>
                    <a:lnR w="0">
                      <a:noFill/>
                    </a:lnR>
                    <a:lnT w="12700">
                      <a:solidFill>
                        <a:srgbClr val="D9DEE8"/>
                      </a:solidFill>
                    </a:lnT>
                    <a:lnB w="12700">
                      <a:solidFill>
                        <a:srgbClr val="D9DEE8"/>
                      </a:solidFill>
                    </a:lnB>
                    <a:noFill/>
                  </a:tcPr>
                </a:tc>
              </a:tr>
              <a:tr h="603504">
                <a:tc>
                  <a:txBody>
                    <a:bodyPr wrap="square"/>
                    <a:lstStyle/>
                    <a:p>
                      <a:r>
                        <a:rPr sz="1800" b="0">
                          <a:solidFill>
                            <a:srgbClr val="1B2230"/>
                          </a:solidFill>
                          <a:latin typeface="Arial"/>
                        </a:rPr>
                        <a:t>“Theo tháng / quý / thứ”</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800" b="0">
                          <a:solidFill>
                            <a:srgbClr val="203864"/>
                          </a:solidFill>
                          <a:latin typeface="Arial"/>
                        </a:rPr>
                        <a:t>MONTH · EOMONTH · TEXT · WEEKDAY</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TextBox"/>
          <p:cNvSpPr txBox="1"/>
          <p:nvPr/>
        </p:nvSpPr>
        <p:spPr>
          <a:xfrm>
            <a:off x="1527048" y="5440680"/>
            <a:ext cx="10122408" cy="457200"/>
          </a:xfrm>
          <a:prstGeom prst="rect">
            <a:avLst/>
          </a:prstGeom>
          <a:noFill/>
        </p:spPr>
        <p:txBody>
          <a:bodyPr wrap="square" lIns="0" rIns="0" tIns="0" bIns="0" anchor="t">
            <a:spAutoFit/>
          </a:bodyPr>
          <a:lstStyle/>
          <a:p>
            <a:r>
              <a:rPr sz="1800" b="1">
                <a:solidFill>
                  <a:srgbClr val="203864"/>
                </a:solidFill>
                <a:latin typeface="Arial"/>
              </a:rPr>
              <a:t>Bắt đầu từ câu hỏi, rồi mới chọn hàm.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Làm giàu tblSales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15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500" b="1">
                <a:solidFill>
                  <a:srgbClr val="203864"/>
                </a:solidFill>
                <a:latin typeface="Arial"/>
              </a:rPr>
              <a:t>1. </a:t>
            </a:r>
            <a:r>
              <a:rPr sz="1500" b="0">
                <a:solidFill>
                  <a:srgbClr val="1B2230"/>
                </a:solidFill>
                <a:latin typeface="Arial"/>
              </a:rPr>
              <a:t>Mở file khởi đầu, lưu thành B2_&lt;HoTen&gt;.xlsx. Chép sheet Product từ B2_Product_DuplicateKey.xlsx: chuột phải tab → Move or Copy → tick Create a copy.</a:t>
            </a:r>
          </a:p>
          <a:p>
            <a:pPr>
              <a:spcBef>
                <a:spcPts val="1000"/>
              </a:spcBef>
            </a:pPr>
            <a:r>
              <a:rPr sz="1500" b="1">
                <a:solidFill>
                  <a:srgbClr val="203864"/>
                </a:solidFill>
                <a:latin typeface="Arial"/>
              </a:rPr>
              <a:t>2. </a:t>
            </a:r>
            <a:r>
              <a:rPr sz="1500" b="0">
                <a:solidFill>
                  <a:srgbClr val="1B2230"/>
                </a:solidFill>
                <a:latin typeface="Arial"/>
              </a:rPr>
              <a:t>Kiểm tra khóa: =COUNTIF(tblProduct[Product_Code],[@Product_Code]) → xóa bản ghi P021 cũ (dòng 22).</a:t>
            </a:r>
          </a:p>
          <a:p>
            <a:pPr>
              <a:spcBef>
                <a:spcPts val="1000"/>
              </a:spcBef>
            </a:pPr>
            <a:r>
              <a:rPr sz="1500" b="1">
                <a:solidFill>
                  <a:srgbClr val="203864"/>
                </a:solidFill>
                <a:latin typeface="Arial"/>
              </a:rPr>
              <a:t>3. </a:t>
            </a:r>
            <a:r>
              <a:rPr sz="1500" b="0">
                <a:solidFill>
                  <a:srgbClr val="1B2230"/>
                </a:solidFill>
                <a:latin typeface="Arial"/>
              </a:rPr>
              <a:t>tblSales thêm: Category, Unit_Cost (XLOOKUP) · COGS = [@Quantity]*[@Unit_Cost] · Gross_Margin = [@Revenue]-[@COGS].</a:t>
            </a:r>
          </a:p>
          <a:p>
            <a:pPr>
              <a:spcBef>
                <a:spcPts val="1000"/>
              </a:spcBef>
            </a:pPr>
            <a:r>
              <a:rPr sz="1500" b="1">
                <a:solidFill>
                  <a:srgbClr val="203864"/>
                </a:solidFill>
                <a:latin typeface="Arial"/>
              </a:rPr>
              <a:t>4. </a:t>
            </a:r>
            <a:r>
              <a:rPr sz="1500" b="0">
                <a:solidFill>
                  <a:srgbClr val="1B2230"/>
                </a:solidFill>
                <a:latin typeface="Arial"/>
              </a:rPr>
              <a:t>Thang = MONTH · Quy = "Q"&amp;ROUNDUP(MONTH(…)/3,0) · Thu = TEXT(…,"ddd") · Phan_khuc = IFS (≥100.000 Cao, ≥30.000 Trung, còn lại Thấp).</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a:t>
            </a:r>
          </a:p>
          <a:p>
            <a:pPr>
              <a:spcBef>
                <a:spcPts val="800"/>
              </a:spcBef>
            </a:pPr>
            <a:r>
              <a:rPr sz="1500" b="0">
                <a:solidFill>
                  <a:srgbClr val="1B2230"/>
                </a:solidFill>
                <a:latin typeface="Arial"/>
              </a:rPr>
              <a:t>Không còn #N/A.</a:t>
            </a:r>
          </a:p>
          <a:p>
            <a:pPr>
              <a:spcBef>
                <a:spcPts val="800"/>
              </a:spcBef>
            </a:pPr>
            <a:r>
              <a:rPr sz="1500" b="1">
                <a:solidFill>
                  <a:srgbClr val="203864"/>
                </a:solidFill>
                <a:latin typeface="Arial"/>
              </a:rPr>
              <a:t>Tổng COGS</a:t>
            </a:r>
          </a:p>
          <a:p>
            <a:pPr>
              <a:spcBef>
                <a:spcPts val="800"/>
              </a:spcBef>
            </a:pPr>
            <a:r>
              <a:rPr sz="3000" b="1">
                <a:solidFill>
                  <a:srgbClr val="203864"/>
                </a:solidFill>
                <a:latin typeface="Arial"/>
              </a:rPr>
              <a:t>619.663.000</a:t>
            </a:r>
          </a:p>
          <a:p>
            <a:pPr>
              <a:spcBef>
                <a:spcPts val="800"/>
              </a:spcBef>
            </a:pPr>
            <a:r>
              <a:rPr sz="1500" b="0">
                <a:solidFill>
                  <a:srgbClr val="1B2230"/>
                </a:solidFill>
                <a:latin typeface="Arial"/>
              </a:rPr>
              <a:t>Nếu ra 617.871.000: còn P021 cũ.</a:t>
            </a:r>
          </a:p>
          <a:p>
            <a:pPr>
              <a:spcBef>
                <a:spcPts val="800"/>
              </a:spcBef>
            </a:pPr>
            <a:r>
              <a:rPr sz="1500" b="1">
                <a:solidFill>
                  <a:srgbClr val="203864"/>
                </a:solidFill>
                <a:latin typeface="Arial"/>
              </a:rPr>
              <a:t>Phan_khuc (dòng)</a:t>
            </a:r>
          </a:p>
          <a:p>
            <a:pPr>
              <a:spcBef>
                <a:spcPts val="800"/>
              </a:spcBef>
            </a:pPr>
            <a:r>
              <a:rPr sz="1500" b="0">
                <a:solidFill>
                  <a:srgbClr val="1B2230"/>
                </a:solidFill>
                <a:latin typeface="Arial"/>
              </a:rPr>
              <a:t>Cao 1.814 · Trung 3.005 · Thấp 1.368</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khởi đầu: ../B1_Nen_tang_Excel_Du_lieu/Practice/B1_MCI_Mart_Q1_2025_Answer.xlsx · Practice/B2_Product_DuplicateKey.xlsx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Bảng KPI &amp; KPI Card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12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500" b="1">
                <a:solidFill>
                  <a:srgbClr val="203864"/>
                </a:solidFill>
                <a:latin typeface="Arial"/>
              </a:rPr>
              <a:t>1. </a:t>
            </a:r>
            <a:r>
              <a:rPr sz="1500" b="0">
                <a:solidFill>
                  <a:srgbClr val="1B2230"/>
                </a:solidFill>
                <a:latin typeface="Arial"/>
              </a:rPr>
              <a:t>Sheet KPI_SUMIFS: Doanh thu Miền (A6:A8) × Tháng (B5:D5 = 1, 2, 3). MỘT công thức ở B6, kéo ra 9 ô ($A6, B$5); thêm cột Quý 1 và dòng Tổng.</a:t>
            </a:r>
          </a:p>
          <a:p>
            <a:pPr>
              <a:spcBef>
                <a:spcPts val="1000"/>
              </a:spcBef>
            </a:pPr>
            <a:r>
              <a:rPr sz="1500" b="1">
                <a:solidFill>
                  <a:srgbClr val="203864"/>
                </a:solidFill>
                <a:latin typeface="Arial"/>
              </a:rPr>
              <a:t>2. </a:t>
            </a:r>
            <a:r>
              <a:rPr sz="1500" b="0">
                <a:solidFill>
                  <a:srgbClr val="1B2230"/>
                </a:solidFill>
                <a:latin typeface="Arial"/>
              </a:rPr>
              <a:t>Số đơn: COUNTIFS thêm tblSales[Line_No],1.</a:t>
            </a:r>
          </a:p>
          <a:p>
            <a:pPr>
              <a:spcBef>
                <a:spcPts val="1000"/>
              </a:spcBef>
            </a:pPr>
            <a:r>
              <a:rPr sz="1500" b="1">
                <a:solidFill>
                  <a:srgbClr val="203864"/>
                </a:solidFill>
                <a:latin typeface="Arial"/>
              </a:rPr>
              <a:t>3. </a:t>
            </a:r>
            <a:r>
              <a:rPr sz="1500" b="0">
                <a:solidFill>
                  <a:srgbClr val="1B2230"/>
                </a:solidFill>
                <a:latin typeface="Arial"/>
              </a:rPr>
              <a:t>AOV = Doanh thu ÷ Số đơn · Gross Margin % = SUMIFS(Gross_Margin) ÷ Doanh thu. Dòng Tổng: tổng ÷ tổng.</a:t>
            </a:r>
          </a:p>
          <a:p>
            <a:pPr>
              <a:spcBef>
                <a:spcPts val="1000"/>
              </a:spcBef>
            </a:pPr>
            <a:r>
              <a:rPr sz="1500" b="1">
                <a:solidFill>
                  <a:srgbClr val="203864"/>
                </a:solidFill>
                <a:latin typeface="Arial"/>
              </a:rPr>
              <a:t>4. </a:t>
            </a:r>
            <a:r>
              <a:rPr sz="1500" b="0">
                <a:solidFill>
                  <a:srgbClr val="1B2230"/>
                </a:solidFill>
                <a:latin typeface="Arial"/>
              </a:rPr>
              <a:t>Viết 2 card: Total Orders, Gross Margin %.</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a:t>
            </a:r>
          </a:p>
          <a:p>
            <a:pPr>
              <a:spcBef>
                <a:spcPts val="800"/>
              </a:spcBef>
            </a:pPr>
            <a:r>
              <a:rPr sz="2800" b="1">
                <a:solidFill>
                  <a:srgbClr val="203864"/>
                </a:solidFill>
                <a:latin typeface="Arial"/>
              </a:rPr>
              <a:t>941.454.000</a:t>
            </a:r>
          </a:p>
          <a:p>
            <a:pPr>
              <a:spcBef>
                <a:spcPts val="800"/>
              </a:spcBef>
            </a:pPr>
            <a:r>
              <a:rPr sz="1500" b="0">
                <a:solidFill>
                  <a:srgbClr val="1B2230"/>
                </a:solidFill>
                <a:latin typeface="Arial"/>
              </a:rPr>
              <a:t>Tổng bảng doanh thu</a:t>
            </a:r>
          </a:p>
          <a:p>
            <a:pPr>
              <a:spcBef>
                <a:spcPts val="800"/>
              </a:spcBef>
            </a:pPr>
            <a:r>
              <a:rPr sz="1500" b="0">
                <a:solidFill>
                  <a:srgbClr val="1B2230"/>
                </a:solidFill>
                <a:latin typeface="Arial"/>
              </a:rPr>
              <a:t>Tháng 1: 425.850.000</a:t>
            </a:r>
          </a:p>
          <a:p>
            <a:pPr>
              <a:spcBef>
                <a:spcPts val="800"/>
              </a:spcBef>
            </a:pPr>
            <a:r>
              <a:rPr sz="1500" b="0">
                <a:solidFill>
                  <a:srgbClr val="1B2230"/>
                </a:solidFill>
                <a:latin typeface="Arial"/>
              </a:rPr>
              <a:t>Số đơn: 3.144 (không phải 6.187)</a:t>
            </a:r>
          </a:p>
          <a:p>
            <a:pPr>
              <a:spcBef>
                <a:spcPts val="800"/>
              </a:spcBef>
            </a:pPr>
            <a:r>
              <a:rPr sz="1500" b="0">
                <a:solidFill>
                  <a:srgbClr val="1B2230"/>
                </a:solidFill>
                <a:latin typeface="Arial"/>
              </a:rPr>
              <a:t>AOV: 299.445</a:t>
            </a:r>
          </a:p>
          <a:p>
            <a:pPr>
              <a:spcBef>
                <a:spcPts val="800"/>
              </a:spcBef>
            </a:pPr>
            <a:r>
              <a:rPr sz="1500" b="0">
                <a:solidFill>
                  <a:srgbClr val="1B2230"/>
                </a:solidFill>
                <a:latin typeface="Arial"/>
              </a:rPr>
              <a:t>Gross Margin: 34,2%</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Mẫu card: Handout/B2_KPI_Definition_Card.docx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Chữa bài nhanh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THỰC HÀNH</a:t>
            </a:r>
          </a:p>
        </p:txBody>
      </p:sp>
      <p:sp>
        <p:nvSpPr>
          <p:cNvPr id="4" name="Checkbox 1"/>
          <p:cNvSpPr/>
          <p:nvPr/>
        </p:nvSpPr>
        <p:spPr>
          <a:xfrm>
            <a:off x="1527048" y="169164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2075688" y="1645920"/>
            <a:ext cx="9573768" cy="457200"/>
          </a:xfrm>
          <a:prstGeom prst="rect">
            <a:avLst/>
          </a:prstGeom>
          <a:noFill/>
        </p:spPr>
        <p:txBody>
          <a:bodyPr wrap="square" lIns="0" rIns="0" tIns="0" bIns="0" anchor="ctr">
            <a:spAutoFit/>
          </a:bodyPr>
          <a:lstStyle/>
          <a:p>
            <a:r>
              <a:rPr sz="2000" b="0">
                <a:solidFill>
                  <a:srgbClr val="1B2230"/>
                </a:solidFill>
                <a:latin typeface="Arial"/>
              </a:rPr>
              <a:t>tblSales có Category, Unit_Cost, COGS, Gross_Margin, Thang, Quy, Thu, Phan_khuc; không còn #N/A</a:t>
            </a:r>
          </a:p>
        </p:txBody>
      </p:sp>
      <p:cxnSp>
        <p:nvCxnSpPr>
          <p:cNvPr id="6" name="Connector 5"/>
          <p:cNvCxnSpPr/>
          <p:nvPr/>
        </p:nvCxnSpPr>
        <p:spPr>
          <a:xfrm>
            <a:off x="1527048" y="230428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Checkbox 2"/>
          <p:cNvSpPr/>
          <p:nvPr/>
        </p:nvSpPr>
        <p:spPr>
          <a:xfrm>
            <a:off x="1527048" y="251460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2075688" y="2468880"/>
            <a:ext cx="9573768" cy="457200"/>
          </a:xfrm>
          <a:prstGeom prst="rect">
            <a:avLst/>
          </a:prstGeom>
          <a:noFill/>
        </p:spPr>
        <p:txBody>
          <a:bodyPr wrap="square" lIns="0" rIns="0" tIns="0" bIns="0" anchor="ctr">
            <a:spAutoFit/>
          </a:bodyPr>
          <a:lstStyle/>
          <a:p>
            <a:r>
              <a:rPr sz="2000" b="0">
                <a:solidFill>
                  <a:srgbClr val="1B2230"/>
                </a:solidFill>
                <a:latin typeface="Arial"/>
              </a:rPr>
              <a:t>tblProduct không còn mã trùng</a:t>
            </a:r>
          </a:p>
        </p:txBody>
      </p:sp>
      <p:cxnSp>
        <p:nvCxnSpPr>
          <p:cNvPr id="9" name="Connector 8"/>
          <p:cNvCxnSpPr/>
          <p:nvPr/>
        </p:nvCxnSpPr>
        <p:spPr>
          <a:xfrm>
            <a:off x="1527048" y="312724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Checkbox 3"/>
          <p:cNvSpPr/>
          <p:nvPr/>
        </p:nvSpPr>
        <p:spPr>
          <a:xfrm>
            <a:off x="1527048" y="333756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2075688" y="3291840"/>
            <a:ext cx="9573768" cy="457200"/>
          </a:xfrm>
          <a:prstGeom prst="rect">
            <a:avLst/>
          </a:prstGeom>
          <a:noFill/>
        </p:spPr>
        <p:txBody>
          <a:bodyPr wrap="square" lIns="0" rIns="0" tIns="0" bIns="0" anchor="ctr">
            <a:spAutoFit/>
          </a:bodyPr>
          <a:lstStyle/>
          <a:p>
            <a:r>
              <a:rPr sz="2000" b="0">
                <a:solidFill>
                  <a:srgbClr val="1B2230"/>
                </a:solidFill>
                <a:latin typeface="Arial"/>
              </a:rPr>
              <a:t>Bảng KPI Miền × Tháng: tổng = 941.454.000; số đơn = 3.144</a:t>
            </a:r>
          </a:p>
        </p:txBody>
      </p:sp>
      <p:cxnSp>
        <p:nvCxnSpPr>
          <p:cNvPr id="12" name="Connector 11"/>
          <p:cNvCxnSpPr/>
          <p:nvPr/>
        </p:nvCxnSpPr>
        <p:spPr>
          <a:xfrm>
            <a:off x="1527048" y="395020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3" name="Checkbox 4"/>
          <p:cNvSpPr/>
          <p:nvPr/>
        </p:nvSpPr>
        <p:spPr>
          <a:xfrm>
            <a:off x="1527048" y="416052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2075688" y="4114800"/>
            <a:ext cx="9573768" cy="457200"/>
          </a:xfrm>
          <a:prstGeom prst="rect">
            <a:avLst/>
          </a:prstGeom>
          <a:noFill/>
        </p:spPr>
        <p:txBody>
          <a:bodyPr wrap="square" lIns="0" rIns="0" tIns="0" bIns="0" anchor="ctr">
            <a:spAutoFit/>
          </a:bodyPr>
          <a:lstStyle/>
          <a:p>
            <a:r>
              <a:rPr sz="2000" b="0">
                <a:solidFill>
                  <a:srgbClr val="1B2230"/>
                </a:solidFill>
                <a:latin typeface="Arial"/>
              </a:rPr>
              <a:t>AOV, Gross Margin % dòng Tổng tính tổng ÷ tổng</a:t>
            </a:r>
          </a:p>
        </p:txBody>
      </p:sp>
      <p:cxnSp>
        <p:nvCxnSpPr>
          <p:cNvPr id="15" name="Connector 14"/>
          <p:cNvCxnSpPr/>
          <p:nvPr/>
        </p:nvCxnSpPr>
        <p:spPr>
          <a:xfrm>
            <a:off x="1527048" y="477316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6" name="Checkbox 5"/>
          <p:cNvSpPr/>
          <p:nvPr/>
        </p:nvSpPr>
        <p:spPr>
          <a:xfrm>
            <a:off x="1527048" y="49834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2075688" y="4937760"/>
            <a:ext cx="9573768" cy="457200"/>
          </a:xfrm>
          <a:prstGeom prst="rect">
            <a:avLst/>
          </a:prstGeom>
          <a:noFill/>
        </p:spPr>
        <p:txBody>
          <a:bodyPr wrap="square" lIns="0" rIns="0" tIns="0" bIns="0" anchor="ctr">
            <a:spAutoFit/>
          </a:bodyPr>
          <a:lstStyle/>
          <a:p>
            <a:r>
              <a:rPr sz="2000" b="0">
                <a:solidFill>
                  <a:srgbClr val="1B2230"/>
                </a:solidFill>
                <a:latin typeface="Arial"/>
              </a:rPr>
              <a:t>3 KPI Definition Card</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đáp án Practice/B2_MCI_Mart_Q1_2025_Answer.xlsx (sheet Kiem_tra: 10 dòng đối soát) là file khởi đầu Buổi 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7 câu hỏi nhanh · câu 6–7 là tình huống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Giá bán 135.000 ra gì với =IFS(D2&gt;=30000,"Trung",D2&gt;=100000,"Cao",TRUE,"Thấp")?</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Cao</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Trung</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Thấp</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#N/A</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Statistics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Giá trị đơn Q1: trung bình 299.445, trung vị 198.000. Điều này cho biết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Dữ liệu có lỗi</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Có một số đơn rất lớn kéo trung bình lên</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Nửa số đơn trên 299.445</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Trung vị tính sai</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SUMIFS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Trong SUMIFS, đối số ĐẦU TIÊN là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Vùng tiêu chí đầu tiên</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Tiêu chí đầu tiên</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Vùng cần cộng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Số tiêu chí</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VLOOKUP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=VLOOKUP(A2,Product!$A$2:$E$42,5) bỏ trống đối số cuối thì tra kiểu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Khớp chính xác</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Khớp gần đúng</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Báo lỗi</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Tìm từ dưới lên</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 Date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=EOMONTH(DATE(2025,2,15),0) trả về?</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01/02/2025</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15/03/2025</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28/02/2025</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31/03/2025</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 Tình huống —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Sau khi XLOOKUP giá vốn, Gross Margin % cao hơn tháng trước dù không có ô lỗi nào. Việc ĐẦU TIÊN nên làm?</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Đổi sang VLOOKUP</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Kiểm tra khóa trùng trong bảng Product (COUNTIF)</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Bọc IFERROR</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Định dạng lại cột %</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 Tình huống — KPI tỷ lệ</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Bạn có AOV của 3 miền; sếp hỏi AOV toàn công ty. Tính thế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AVERAGE 3 AOV</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Tổng doanh thu ÷ tổng số đơn</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MEDIAN 3 AOV</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Lấy AOV miền lớn nhất</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457200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572000" cy="3931920"/>
          </a:xfrm>
          <a:prstGeom prst="rect">
            <a:avLst/>
          </a:prstGeom>
          <a:noFill/>
        </p:spPr>
        <p:txBody>
          <a:bodyPr wrap="square" lIns="0" rIns="0" tIns="0" bIns="0" anchor="t">
            <a:spAutoFit/>
          </a:bodyPr>
          <a:lstStyle/>
          <a:p>
            <a:r>
              <a:rPr sz="1800" b="0">
                <a:solidFill>
                  <a:srgbClr val="1B2230"/>
                </a:solidFill>
                <a:latin typeface="Arial"/>
              </a:rPr>
              <a:t>(1) Định nghĩa KPI (card) trước, công thức sau.</a:t>
            </a:r>
          </a:p>
          <a:p>
            <a:pPr>
              <a:spcBef>
                <a:spcPts val="1200"/>
              </a:spcBef>
            </a:pPr>
            <a:r>
              <a:rPr sz="1800" b="0">
                <a:solidFill>
                  <a:srgbClr val="1B2230"/>
                </a:solidFill>
                <a:latin typeface="Arial"/>
              </a:rPr>
              <a:t>(2) Biết grain: 6.187 dòng ≠ 3.144 đơn.</a:t>
            </a:r>
          </a:p>
          <a:p>
            <a:pPr>
              <a:spcBef>
                <a:spcPts val="1200"/>
              </a:spcBef>
            </a:pPr>
            <a:r>
              <a:rPr sz="1800" b="0">
                <a:solidFill>
                  <a:srgbClr val="1B2230"/>
                </a:solidFill>
                <a:latin typeface="Arial"/>
              </a:rPr>
              <a:t>(3) Mỗi tiêu chí SUMIFS là một bộ lọc.</a:t>
            </a:r>
          </a:p>
          <a:p>
            <a:pPr>
              <a:spcBef>
                <a:spcPts val="1200"/>
              </a:spcBef>
            </a:pPr>
            <a:r>
              <a:rPr sz="1800" b="0">
                <a:solidFill>
                  <a:srgbClr val="1B2230"/>
                </a:solidFill>
                <a:latin typeface="Arial"/>
              </a:rPr>
              <a:t>(4) Khóa lookup phải duy nhất; không lỗi ≠ không sai.</a:t>
            </a:r>
          </a:p>
          <a:p>
            <a:pPr>
              <a:spcBef>
                <a:spcPts val="1200"/>
              </a:spcBef>
            </a:pPr>
            <a:r>
              <a:rPr sz="1800" b="0">
                <a:solidFill>
                  <a:srgbClr val="1B2230"/>
                </a:solidFill>
                <a:latin typeface="Arial"/>
              </a:rPr>
              <a:t>(5) KPI tỷ lệ: tổng ÷ tổng.</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2200" b="0">
                <a:solidFill>
                  <a:srgbClr val="1B2230"/>
                </a:solidFill>
                <a:latin typeface="Arial"/>
              </a:rPr>
              <a:t>“Doanh thu tháng ___ là ___ (con số, có so sánh), vì ___ (nguyên nhân khả dĩ),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PivotTable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6400800" cy="1005840"/>
          </a:xfrm>
          <a:prstGeom prst="rect">
            <a:avLst/>
          </a:prstGeom>
          <a:noFill/>
        </p:spPr>
        <p:txBody>
          <a:bodyPr wrap="square" lIns="0" rIns="0" tIns="0" bIns="0" anchor="t">
            <a:spAutoFit/>
          </a:bodyPr>
          <a:lstStyle/>
          <a:p>
            <a:r>
              <a:rPr sz="1900" b="1">
                <a:solidFill>
                  <a:srgbClr val="203864"/>
                </a:solidFill>
                <a:latin typeface="Arial"/>
              </a:rPr>
              <a:t>“Doanh thu biến động thế nào theo cửa hàng, ngày trong tuần và ngành hàng — và vì sao tháng 1 cao hơn hẳn tháng 2?”</a:t>
            </a:r>
          </a:p>
        </p:txBody>
      </p:sp>
      <p:sp>
        <p:nvSpPr>
          <p:cNvPr id="5" name="TextBox"/>
          <p:cNvSpPr txBox="1"/>
          <p:nvPr/>
        </p:nvSpPr>
        <p:spPr>
          <a:xfrm>
            <a:off x="1527048" y="2606040"/>
            <a:ext cx="6400800" cy="914400"/>
          </a:xfrm>
          <a:prstGeom prst="rect">
            <a:avLst/>
          </a:prstGeom>
          <a:noFill/>
        </p:spPr>
        <p:txBody>
          <a:bodyPr wrap="square" lIns="0" rIns="0" tIns="0" bIns="0" anchor="t">
            <a:spAutoFit/>
          </a:bodyPr>
          <a:lstStyle/>
          <a:p>
            <a:r>
              <a:rPr sz="1600" b="1">
                <a:solidFill>
                  <a:srgbClr val="1B2230"/>
                </a:solidFill>
                <a:latin typeface="Arial"/>
              </a:rPr>
              <a:t>Giới hạn hôm nay: </a:t>
            </a:r>
            <a:r>
              <a:rPr sz="1600" b="0">
                <a:solidFill>
                  <a:srgbClr val="1B2230"/>
                </a:solidFill>
                <a:latin typeface="Arial"/>
              </a:rPr>
              <a:t>mỗi chiều phân tích mới lại phải viết lại SUMIFS → PivotTable (Tầng 2–3).</a:t>
            </a:r>
          </a:p>
        </p:txBody>
      </p:sp>
      <p:sp>
        <p:nvSpPr>
          <p:cNvPr id="6" name="TextBox"/>
          <p:cNvSpPr txBox="1"/>
          <p:nvPr/>
        </p:nvSpPr>
        <p:spPr>
          <a:xfrm>
            <a:off x="1527048" y="3520440"/>
            <a:ext cx="6400800" cy="2560320"/>
          </a:xfrm>
          <a:prstGeom prst="rect">
            <a:avLst/>
          </a:prstGeom>
          <a:noFill/>
        </p:spPr>
        <p:txBody>
          <a:bodyPr wrap="square" lIns="0" rIns="0" tIns="0" bIns="0" anchor="t">
            <a:spAutoFit/>
          </a:bodyPr>
          <a:lstStyle/>
          <a:p>
            <a:r>
              <a:rPr sz="1500" b="1">
                <a:solidFill>
                  <a:srgbClr val="203864"/>
                </a:solidFill>
                <a:latin typeface="Arial"/>
              </a:rPr>
              <a:t>Về nhà</a:t>
            </a:r>
          </a:p>
          <a:p>
            <a:pPr>
              <a:spcBef>
                <a:spcPts val="600"/>
              </a:spcBef>
            </a:pPr>
            <a:r>
              <a:rPr sz="1500" b="0">
                <a:solidFill>
                  <a:srgbClr val="1B2230"/>
                </a:solidFill>
                <a:latin typeface="Arial"/>
              </a:rPr>
              <a:t>Đọc handout B2 · hoàn thành 3 KPI card</a:t>
            </a:r>
          </a:p>
          <a:p>
            <a:pPr>
              <a:spcBef>
                <a:spcPts val="600"/>
              </a:spcBef>
            </a:pPr>
            <a:r>
              <a:rPr sz="1500" b="0">
                <a:solidFill>
                  <a:srgbClr val="1B2230"/>
                </a:solidFill>
                <a:latin typeface="Arial"/>
              </a:rPr>
              <a:t>Bài tập về nhà (bắt buộc): B2_BTVN_MCI_Mart_T4_2025.xlsx — nộp trước Buổi 3 tại hocvien.mcivietnam.com, tên file B2_BTVN_&lt;HoTen&gt;.xlsx</a:t>
            </a:r>
          </a:p>
          <a:p>
            <a:pPr>
              <a:spcBef>
                <a:spcPts val="600"/>
              </a:spcBef>
            </a:pPr>
            <a:r>
              <a:rPr sz="1500" b="0">
                <a:solidFill>
                  <a:srgbClr val="1B2230"/>
                </a:solidFill>
                <a:latin typeface="Arial"/>
              </a:rPr>
              <a:t>Tick “Checklist trước Buổi 3” (mục 10 handout)</a:t>
            </a:r>
          </a:p>
        </p:txBody>
      </p:sp>
      <p:sp>
        <p:nvSpPr>
          <p:cNvPr id="7" name="Brick B2"/>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B2 · Bảng KPI (SUMIFS)</a:t>
            </a:r>
          </a:p>
        </p:txBody>
      </p:sp>
      <p:sp>
        <p:nvSpPr>
          <p:cNvPr id="9" name="Brick B3"/>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B3 · Báo cáo Pivot</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Giữ bảng KPI_SUMIFS: đáp án đối soát ở B3, B5.</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