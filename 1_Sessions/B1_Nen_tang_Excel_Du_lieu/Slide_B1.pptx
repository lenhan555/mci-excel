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3"/>
  </p:notesMasterIdLst>
  <p:sldIdLst>
    <p:sldId id="302" r:id="rId2"/>
    <p:sldId id="303" r:id="rId3"/>
    <p:sldId id="310" r:id="rId4"/>
    <p:sldId id="305" r:id="rId5"/>
    <p:sldId id="306" r:id="rId6"/>
    <p:sldId id="307" r:id="rId7"/>
    <p:sldId id="308" r:id="rId8"/>
    <p:sldId id="309" r:id="rId9"/>
    <p:sldId id="301" r:id="rId10"/>
    <p:sldId id="311" r:id="rId11"/>
    <p:sldId id="312" r:id="rId12"/>
    <p:sldId id="304" r:id="rId13"/>
    <p:sldId id="313" r:id="rId14"/>
    <p:sldId id="314" r:id="rId15"/>
    <p:sldId id="315" r:id="rId16"/>
    <p:sldId id="316" r:id="rId17"/>
    <p:sldId id="317" r:id="rId18"/>
    <p:sldId id="318" r:id="rId19"/>
    <p:sldId id="319" r:id="rId20"/>
    <p:sldId id="320" r:id="rId21"/>
    <p:sldId id="321" r:id="rId22"/>
    <p:sldId id="322" r:id="rId23"/>
    <p:sldId id="323" r:id="rId24"/>
    <p:sldId id="324" r:id="rId25"/>
    <p:sldId id="332" r:id="rId26"/>
    <p:sldId id="326" r:id="rId27"/>
    <p:sldId id="327" r:id="rId28"/>
    <p:sldId id="328" r:id="rId29"/>
    <p:sldId id="344" r:id="rId30"/>
    <p:sldId id="345" r:id="rId31"/>
    <p:sldId id="331" r:id="rId32"/>
    <p:sldId id="333" r:id="rId33"/>
    <p:sldId id="334" r:id="rId34"/>
    <p:sldId id="335" r:id="rId35"/>
    <p:sldId id="336" r:id="rId36"/>
    <p:sldId id="337" r:id="rId37"/>
    <p:sldId id="338" r:id="rId38"/>
    <p:sldId id="339" r:id="rId39"/>
    <p:sldId id="340" r:id="rId40"/>
    <p:sldId id="343" r:id="rId41"/>
    <p:sldId id="34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B359BD-AC51-4C4E-B5CF-7451A28AFD30}" v="26" dt="2026-09-27T06:48:4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6/11/relationships/changesInfo" Target="changesInfos/changesInfo1.xml"/><Relationship Id="rId4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n Pham Le" userId="6366da15f1f739f9" providerId="LiveId" clId="{B7E72FC1-F79A-4602-B51C-6ED1DC3BF548}"/>
    <pc:docChg chg="undo custSel modSld">
      <pc:chgData name="Nhan Pham Le" userId="6366da15f1f739f9" providerId="LiveId" clId="{B7E72FC1-F79A-4602-B51C-6ED1DC3BF548}" dt="2026-09-27T12:45:57.791" v="170" actId="1076"/>
      <pc:docMkLst>
        <pc:docMk/>
      </pc:docMkLst>
      <pc:sldChg chg="modSp mod">
        <pc:chgData name="Nhan Pham Le" userId="6366da15f1f739f9" providerId="LiveId" clId="{B7E72FC1-F79A-4602-B51C-6ED1DC3BF548}" dt="2026-09-27T06:10:51.550" v="155" actId="20577"/>
        <pc:sldMkLst>
          <pc:docMk/>
          <pc:sldMk cId="2243051540" sldId="302"/>
        </pc:sldMkLst>
        <pc:spChg chg="mod">
          <ac:chgData name="Nhan Pham Le" userId="6366da15f1f739f9" providerId="LiveId" clId="{B7E72FC1-F79A-4602-B51C-6ED1DC3BF548}" dt="2026-09-27T06:10:51.550" v="155" actId="20577"/>
          <ac:spMkLst>
            <pc:docMk/>
            <pc:sldMk cId="2243051540" sldId="302"/>
            <ac:spMk id="15" creationId="{00000000-0000-0000-0000-000000000000}"/>
          </ac:spMkLst>
        </pc:spChg>
      </pc:sldChg>
      <pc:sldChg chg="modNotesTx">
        <pc:chgData name="Nhan Pham Le" userId="6366da15f1f739f9" providerId="LiveId" clId="{B7E72FC1-F79A-4602-B51C-6ED1DC3BF548}" dt="2026-09-27T04:16:20.387" v="153" actId="20577"/>
        <pc:sldMkLst>
          <pc:docMk/>
          <pc:sldMk cId="2890397441" sldId="305"/>
        </pc:sldMkLst>
      </pc:sldChg>
      <pc:sldChg chg="modSp mod">
        <pc:chgData name="Nhan Pham Le" userId="6366da15f1f739f9" providerId="LiveId" clId="{B7E72FC1-F79A-4602-B51C-6ED1DC3BF548}" dt="2026-09-27T06:48:42.492" v="164" actId="20577"/>
        <pc:sldMkLst>
          <pc:docMk/>
          <pc:sldMk cId="1101845905" sldId="308"/>
        </pc:sldMkLst>
        <pc:spChg chg="mod">
          <ac:chgData name="Nhan Pham Le" userId="6366da15f1f739f9" providerId="LiveId" clId="{B7E72FC1-F79A-4602-B51C-6ED1DC3BF548}" dt="2026-09-27T06:48:42.492" v="164" actId="20577"/>
          <ac:spMkLst>
            <pc:docMk/>
            <pc:sldMk cId="1101845905" sldId="308"/>
            <ac:spMk id="16" creationId="{00000000-0000-0000-0000-000000000000}"/>
          </ac:spMkLst>
        </pc:spChg>
      </pc:sldChg>
      <pc:sldChg chg="addSp delSp modSp mod">
        <pc:chgData name="Nhan Pham Le" userId="6366da15f1f739f9" providerId="LiveId" clId="{B7E72FC1-F79A-4602-B51C-6ED1DC3BF548}" dt="2026-09-26T03:51:11.711" v="79" actId="1076"/>
        <pc:sldMkLst>
          <pc:docMk/>
          <pc:sldMk cId="2305079537" sldId="309"/>
        </pc:sldMkLst>
        <pc:spChg chg="del">
          <ac:chgData name="Nhan Pham Le" userId="6366da15f1f739f9" providerId="LiveId" clId="{B7E72FC1-F79A-4602-B51C-6ED1DC3BF548}" dt="2026-09-26T03:50:42.316" v="71" actId="478"/>
          <ac:spMkLst>
            <pc:docMk/>
            <pc:sldMk cId="2305079537" sldId="309"/>
            <ac:spMk id="15" creationId="{00000000-0000-0000-0000-000000000000}"/>
          </ac:spMkLst>
        </pc:spChg>
        <pc:spChg chg="add del">
          <ac:chgData name="Nhan Pham Le" userId="6366da15f1f739f9" providerId="LiveId" clId="{B7E72FC1-F79A-4602-B51C-6ED1DC3BF548}" dt="2026-09-26T03:50:12.435" v="55" actId="478"/>
          <ac:spMkLst>
            <pc:docMk/>
            <pc:sldMk cId="2305079537" sldId="309"/>
            <ac:spMk id="19" creationId="{00000000-0000-0000-0000-000000000000}"/>
          </ac:spMkLst>
        </pc:spChg>
        <pc:spChg chg="del">
          <ac:chgData name="Nhan Pham Le" userId="6366da15f1f739f9" providerId="LiveId" clId="{B7E72FC1-F79A-4602-B51C-6ED1DC3BF548}" dt="2026-09-26T03:49:31.084" v="23" actId="478"/>
          <ac:spMkLst>
            <pc:docMk/>
            <pc:sldMk cId="2305079537" sldId="309"/>
            <ac:spMk id="26" creationId="{00000000-0000-0000-0000-000000000000}"/>
          </ac:spMkLst>
        </pc:spChg>
        <pc:picChg chg="add mod">
          <ac:chgData name="Nhan Pham Le" userId="6366da15f1f739f9" providerId="LiveId" clId="{B7E72FC1-F79A-4602-B51C-6ED1DC3BF548}" dt="2026-09-26T03:51:00.474" v="73" actId="1076"/>
          <ac:picMkLst>
            <pc:docMk/>
            <pc:sldMk cId="2305079537" sldId="309"/>
            <ac:picMk id="3" creationId="{3C617E78-B8BD-D553-69B2-2A5B3120DB34}"/>
          </ac:picMkLst>
        </pc:picChg>
        <pc:picChg chg="add del mod">
          <ac:chgData name="Nhan Pham Le" userId="6366da15f1f739f9" providerId="LiveId" clId="{B7E72FC1-F79A-4602-B51C-6ED1DC3BF548}" dt="2026-09-26T03:49:54.698" v="51" actId="931"/>
          <ac:picMkLst>
            <pc:docMk/>
            <pc:sldMk cId="2305079537" sldId="309"/>
            <ac:picMk id="5" creationId="{989499CC-C265-5E62-B7BC-31A300092470}"/>
          </ac:picMkLst>
        </pc:picChg>
        <pc:picChg chg="add mod">
          <ac:chgData name="Nhan Pham Le" userId="6366da15f1f739f9" providerId="LiveId" clId="{B7E72FC1-F79A-4602-B51C-6ED1DC3BF548}" dt="2026-09-26T03:50:39.909" v="70" actId="1076"/>
          <ac:picMkLst>
            <pc:docMk/>
            <pc:sldMk cId="2305079537" sldId="309"/>
            <ac:picMk id="6" creationId="{DD883AE4-6470-0C84-0E26-C702578F279A}"/>
          </ac:picMkLst>
        </pc:picChg>
        <pc:picChg chg="add mod">
          <ac:chgData name="Nhan Pham Le" userId="6366da15f1f739f9" providerId="LiveId" clId="{B7E72FC1-F79A-4602-B51C-6ED1DC3BF548}" dt="2026-09-26T03:51:11.711" v="79" actId="1076"/>
          <ac:picMkLst>
            <pc:docMk/>
            <pc:sldMk cId="2305079537" sldId="309"/>
            <ac:picMk id="8" creationId="{3F45C3E1-B429-9813-BF6A-49EEE0488E98}"/>
          </ac:picMkLst>
        </pc:picChg>
      </pc:sldChg>
      <pc:sldChg chg="addSp delSp modSp mod">
        <pc:chgData name="Nhan Pham Le" userId="6366da15f1f739f9" providerId="LiveId" clId="{B7E72FC1-F79A-4602-B51C-6ED1DC3BF548}" dt="2026-09-27T12:45:57.791" v="170" actId="1076"/>
        <pc:sldMkLst>
          <pc:docMk/>
          <pc:sldMk cId="581420438" sldId="311"/>
        </pc:sldMkLst>
        <pc:spChg chg="del">
          <ac:chgData name="Nhan Pham Le" userId="6366da15f1f739f9" providerId="LiveId" clId="{B7E72FC1-F79A-4602-B51C-6ED1DC3BF548}" dt="2026-09-26T03:24:48.767" v="5" actId="478"/>
          <ac:spMkLst>
            <pc:docMk/>
            <pc:sldMk cId="581420438" sldId="311"/>
            <ac:spMk id="13" creationId="{00000000-0000-0000-0000-000000000000}"/>
          </ac:spMkLst>
        </pc:spChg>
        <pc:picChg chg="add mod">
          <ac:chgData name="Nhan Pham Le" userId="6366da15f1f739f9" providerId="LiveId" clId="{B7E72FC1-F79A-4602-B51C-6ED1DC3BF548}" dt="2026-09-27T12:45:57.791" v="170" actId="1076"/>
          <ac:picMkLst>
            <pc:docMk/>
            <pc:sldMk cId="581420438" sldId="311"/>
            <ac:picMk id="2" creationId="{98605493-0F18-F786-A36C-68C4B37DD16E}"/>
          </ac:picMkLst>
        </pc:picChg>
      </pc:sldChg>
      <pc:sldChg chg="addSp modSp mod">
        <pc:chgData name="Nhan Pham Le" userId="6366da15f1f739f9" providerId="LiveId" clId="{B7E72FC1-F79A-4602-B51C-6ED1DC3BF548}" dt="2026-09-26T04:33:33.870" v="123" actId="1076"/>
        <pc:sldMkLst>
          <pc:docMk/>
          <pc:sldMk cId="4276141528" sldId="312"/>
        </pc:sldMkLst>
        <pc:picChg chg="add mod">
          <ac:chgData name="Nhan Pham Le" userId="6366da15f1f739f9" providerId="LiveId" clId="{B7E72FC1-F79A-4602-B51C-6ED1DC3BF548}" dt="2026-09-26T04:33:33.870" v="123" actId="1076"/>
          <ac:picMkLst>
            <pc:docMk/>
            <pc:sldMk cId="4276141528" sldId="312"/>
            <ac:picMk id="3" creationId="{86E05C74-85F6-F0AB-5F35-FCEC61971E81}"/>
          </ac:picMkLst>
        </pc:picChg>
      </pc:sldChg>
      <pc:sldChg chg="addSp delSp modSp mod">
        <pc:chgData name="Nhan Pham Le" userId="6366da15f1f739f9" providerId="LiveId" clId="{B7E72FC1-F79A-4602-B51C-6ED1DC3BF548}" dt="2026-09-26T03:58:45.692" v="88" actId="1076"/>
        <pc:sldMkLst>
          <pc:docMk/>
          <pc:sldMk cId="2738025778" sldId="313"/>
        </pc:sldMkLst>
        <pc:spChg chg="del mod">
          <ac:chgData name="Nhan Pham Le" userId="6366da15f1f739f9" providerId="LiveId" clId="{B7E72FC1-F79A-4602-B51C-6ED1DC3BF548}" dt="2026-09-26T03:58:36.896" v="84" actId="478"/>
          <ac:spMkLst>
            <pc:docMk/>
            <pc:sldMk cId="2738025778" sldId="313"/>
            <ac:spMk id="21" creationId="{00000000-0000-0000-0000-000000000000}"/>
          </ac:spMkLst>
        </pc:spChg>
        <pc:picChg chg="add mod">
          <ac:chgData name="Nhan Pham Le" userId="6366da15f1f739f9" providerId="LiveId" clId="{B7E72FC1-F79A-4602-B51C-6ED1DC3BF548}" dt="2026-09-26T03:58:45.692" v="88" actId="1076"/>
          <ac:picMkLst>
            <pc:docMk/>
            <pc:sldMk cId="2738025778" sldId="313"/>
            <ac:picMk id="2" creationId="{AAB78CDC-E109-F1A3-2B4E-ECC07A0591AD}"/>
          </ac:picMkLst>
        </pc:picChg>
      </pc:sldChg>
      <pc:sldChg chg="addSp delSp modSp mod">
        <pc:chgData name="Nhan Pham Le" userId="6366da15f1f739f9" providerId="LiveId" clId="{B7E72FC1-F79A-4602-B51C-6ED1DC3BF548}" dt="2026-09-26T04:17:16.854" v="110"/>
        <pc:sldMkLst>
          <pc:docMk/>
          <pc:sldMk cId="3127729708" sldId="314"/>
        </pc:sldMkLst>
        <pc:spChg chg="del">
          <ac:chgData name="Nhan Pham Le" userId="6366da15f1f739f9" providerId="LiveId" clId="{B7E72FC1-F79A-4602-B51C-6ED1DC3BF548}" dt="2026-09-26T04:08:34.452" v="92" actId="478"/>
          <ac:spMkLst>
            <pc:docMk/>
            <pc:sldMk cId="3127729708" sldId="314"/>
            <ac:spMk id="15" creationId="{00000000-0000-0000-0000-000000000000}"/>
          </ac:spMkLst>
        </pc:spChg>
        <pc:spChg chg="del">
          <ac:chgData name="Nhan Pham Le" userId="6366da15f1f739f9" providerId="LiveId" clId="{B7E72FC1-F79A-4602-B51C-6ED1DC3BF548}" dt="2026-09-26T04:09:20.617" v="96" actId="478"/>
          <ac:spMkLst>
            <pc:docMk/>
            <pc:sldMk cId="3127729708" sldId="314"/>
            <ac:spMk id="23" creationId="{00000000-0000-0000-0000-000000000000}"/>
          </ac:spMkLst>
        </pc:spChg>
        <pc:picChg chg="add mod">
          <ac:chgData name="Nhan Pham Le" userId="6366da15f1f739f9" providerId="LiveId" clId="{B7E72FC1-F79A-4602-B51C-6ED1DC3BF548}" dt="2026-09-26T04:17:16.854" v="106"/>
          <ac:picMkLst>
            <pc:docMk/>
            <pc:sldMk cId="3127729708" sldId="314"/>
            <ac:picMk id="2" creationId="{D9B43E15-821C-27C4-802B-45F8A890A497}"/>
          </ac:picMkLst>
        </pc:picChg>
        <pc:picChg chg="add mod">
          <ac:chgData name="Nhan Pham Le" userId="6366da15f1f739f9" providerId="LiveId" clId="{B7E72FC1-F79A-4602-B51C-6ED1DC3BF548}" dt="2026-09-26T04:17:16.854" v="110"/>
          <ac:picMkLst>
            <pc:docMk/>
            <pc:sldMk cId="3127729708" sldId="314"/>
            <ac:picMk id="4" creationId="{90577642-D658-1AD2-2A99-A06066F85288}"/>
          </ac:picMkLst>
        </pc:picChg>
      </pc:sldChg>
      <pc:sldChg chg="addSp modSp mod">
        <pc:chgData name="Nhan Pham Le" userId="6366da15f1f739f9" providerId="LiveId" clId="{B7E72FC1-F79A-4602-B51C-6ED1DC3BF548}" dt="2026-09-26T04:31:35.753" v="119" actId="1076"/>
        <pc:sldMkLst>
          <pc:docMk/>
          <pc:sldMk cId="3367633301" sldId="315"/>
        </pc:sldMkLst>
        <pc:picChg chg="add mod">
          <ac:chgData name="Nhan Pham Le" userId="6366da15f1f739f9" providerId="LiveId" clId="{B7E72FC1-F79A-4602-B51C-6ED1DC3BF548}" dt="2026-09-26T04:29:20.508" v="114" actId="1076"/>
          <ac:picMkLst>
            <pc:docMk/>
            <pc:sldMk cId="3367633301" sldId="315"/>
            <ac:picMk id="3" creationId="{2C4DBD73-1E69-54EA-EE3A-DDB5DAA27206}"/>
          </ac:picMkLst>
        </pc:picChg>
        <pc:picChg chg="add mod">
          <ac:chgData name="Nhan Pham Le" userId="6366da15f1f739f9" providerId="LiveId" clId="{B7E72FC1-F79A-4602-B51C-6ED1DC3BF548}" dt="2026-09-26T04:31:35.753" v="119" actId="1076"/>
          <ac:picMkLst>
            <pc:docMk/>
            <pc:sldMk cId="3367633301" sldId="315"/>
            <ac:picMk id="5" creationId="{4271772C-46F6-5A6B-E0CD-7A39AFBB231A}"/>
          </ac:picMkLst>
        </pc:picChg>
      </pc:sldChg>
      <pc:sldChg chg="addSp delSp modSp mod">
        <pc:chgData name="Nhan Pham Le" userId="6366da15f1f739f9" providerId="LiveId" clId="{B7E72FC1-F79A-4602-B51C-6ED1DC3BF548}" dt="2026-09-26T04:36:52.633" v="131" actId="1076"/>
        <pc:sldMkLst>
          <pc:docMk/>
          <pc:sldMk cId="4045343611" sldId="318"/>
        </pc:sldMkLst>
        <pc:spChg chg="del">
          <ac:chgData name="Nhan Pham Le" userId="6366da15f1f739f9" providerId="LiveId" clId="{B7E72FC1-F79A-4602-B51C-6ED1DC3BF548}" dt="2026-09-26T04:36:45.842" v="127" actId="478"/>
          <ac:spMkLst>
            <pc:docMk/>
            <pc:sldMk cId="4045343611" sldId="318"/>
            <ac:spMk id="26" creationId="{00000000-0000-0000-0000-000000000000}"/>
          </ac:spMkLst>
        </pc:spChg>
        <pc:picChg chg="add mod">
          <ac:chgData name="Nhan Pham Le" userId="6366da15f1f739f9" providerId="LiveId" clId="{B7E72FC1-F79A-4602-B51C-6ED1DC3BF548}" dt="2026-09-26T04:36:52.633" v="131" actId="1076"/>
          <ac:picMkLst>
            <pc:docMk/>
            <pc:sldMk cId="4045343611" sldId="318"/>
            <ac:picMk id="3" creationId="{AFC4F2DD-C53F-E88B-10F6-C3CEBA05A009}"/>
          </ac:picMkLst>
        </pc:picChg>
      </pc:sldChg>
      <pc:sldChg chg="addSp delSp modSp mod">
        <pc:chgData name="Nhan Pham Le" userId="6366da15f1f739f9" providerId="LiveId" clId="{B7E72FC1-F79A-4602-B51C-6ED1DC3BF548}" dt="2026-09-26T10:32:30.127" v="141" actId="962"/>
        <pc:sldMkLst>
          <pc:docMk/>
          <pc:sldMk cId="3317628156" sldId="322"/>
        </pc:sldMkLst>
        <pc:spChg chg="del">
          <ac:chgData name="Nhan Pham Le" userId="6366da15f1f739f9" providerId="LiveId" clId="{B7E72FC1-F79A-4602-B51C-6ED1DC3BF548}" dt="2026-09-26T10:32:04.859" v="139" actId="478"/>
          <ac:spMkLst>
            <pc:docMk/>
            <pc:sldMk cId="3317628156" sldId="322"/>
            <ac:spMk id="15" creationId="{00000000-0000-0000-0000-000000000000}"/>
          </ac:spMkLst>
        </pc:spChg>
        <pc:picChg chg="add mod">
          <ac:chgData name="Nhan Pham Le" userId="6366da15f1f739f9" providerId="LiveId" clId="{B7E72FC1-F79A-4602-B51C-6ED1DC3BF548}" dt="2026-09-26T10:32:30.127" v="141" actId="962"/>
          <ac:picMkLst>
            <pc:docMk/>
            <pc:sldMk cId="3317628156" sldId="322"/>
            <ac:picMk id="3" creationId="{EBEEDFE3-3F9B-C84C-2D4E-2A98C806E7C3}"/>
          </ac:picMkLst>
        </pc:picChg>
      </pc:sldChg>
      <pc:sldChg chg="modSp mod">
        <pc:chgData name="Nhan Pham Le" userId="6366da15f1f739f9" providerId="LiveId" clId="{B7E72FC1-F79A-4602-B51C-6ED1DC3BF548}" dt="2026-09-27T06:47:11.517" v="162" actId="20577"/>
        <pc:sldMkLst>
          <pc:docMk/>
          <pc:sldMk cId="866443025" sldId="342"/>
        </pc:sldMkLst>
        <pc:spChg chg="mod">
          <ac:chgData name="Nhan Pham Le" userId="6366da15f1f739f9" providerId="LiveId" clId="{B7E72FC1-F79A-4602-B51C-6ED1DC3BF548}" dt="2026-09-27T06:47:11.517" v="162" actId="20577"/>
          <ac:spMkLst>
            <pc:docMk/>
            <pc:sldMk cId="866443025" sldId="342"/>
            <ac:spMk id="15" creationId="{00000000-0000-0000-0000-000000000000}"/>
          </ac:spMkLst>
        </pc:spChg>
      </pc:sldChg>
      <pc:sldChg chg="modSp mod">
        <pc:chgData name="Nhan Pham Le" userId="6366da15f1f739f9" providerId="LiveId" clId="{B7E72FC1-F79A-4602-B51C-6ED1DC3BF548}" dt="2026-09-27T06:37:38.965" v="161" actId="1036"/>
        <pc:sldMkLst>
          <pc:docMk/>
          <pc:sldMk cId="1573090695" sldId="344"/>
        </pc:sldMkLst>
        <pc:spChg chg="mod">
          <ac:chgData name="Nhan Pham Le" userId="6366da15f1f739f9" providerId="LiveId" clId="{B7E72FC1-F79A-4602-B51C-6ED1DC3BF548}" dt="2026-09-27T06:37:38.965" v="161" actId="1036"/>
          <ac:spMkLst>
            <pc:docMk/>
            <pc:sldMk cId="1573090695" sldId="344"/>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E4C46-C12C-FA42-B2D3-1CBB24092E48}" type="datetimeFigureOut">
              <a:rPr lang="en-US" smtClean="0"/>
              <a:t>27/9/2026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7CC85-BE76-EA4B-8DBD-E5CC9E8FEA7A}" type="slidenum">
              <a:rPr lang="en-US" smtClean="0"/>
              <a:t>‹#›</a:t>
            </a:fld>
            <a:endParaRPr lang="en-US"/>
          </a:p>
        </p:txBody>
      </p:sp>
    </p:spTree>
    <p:extLst>
      <p:ext uri="{BB962C8B-B14F-4D97-AF65-F5344CB8AC3E}">
        <p14:creationId xmlns:p14="http://schemas.microsoft.com/office/powerpoint/2010/main" val="109102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1 phút.</a:t>
            </a:r>
          </a:p>
          <a:p>
            <a:r>
              <a:rPr lang="vi-VN"/>
              <a:t>Ghi chú giảng viên: yêu cầu này đã được gửi trong email trước khóa học (Course Plan, "Yêu cầu đầu vào"). Nhắc lại ở đây để ai chưa đọc email cũng biết ngay từ phút đầu.</a:t>
            </a:r>
          </a:p>
          <a:p>
            <a:r>
              <a:rPr lang="vi-VN"/>
              <a:t>LỜI GIẢNG</a:t>
            </a:r>
          </a:p>
          <a:p>
            <a:r>
              <a:rPr lang="vi-VN"/>
              <a:t>Chào cả lớp, chào mừng các bạn đến với khóa Excel for Business Intelligence Analyst của MCI.</a:t>
            </a:r>
          </a:p>
          <a:p>
            <a:r>
              <a:rPr lang="vi-VN"/>
              <a:t>Trước khi vào bài, một thông tin quan trọng về máy tính, dù email trước khóa học đã nhắc: </a:t>
            </a:r>
            <a:r>
              <a:rPr lang="vi-VN" b="1"/>
              <a:t>khóa này cần Excel trên Windows.</a:t>
            </a:r>
            <a:r>
              <a:rPr lang="vi-VN"/>
              <a:t> Bạn nào đang dùng Mac thì nhớ giúp mình điều này; chút nữa ở Phần 1 mình sẽ nói kỹ vì sao và cách chuẩn bị. Nói ngay từ đầu để các bạn có đủ thời gian sắp xếp, chứ không phải đến giữa khóa mới phát hiện.</a:t>
            </a:r>
          </a:p>
          <a:p>
            <a:r>
              <a:rPr lang="vi-VN"/>
              <a:t>Và thêm một điều để các bạn khỏi bất ngờ: buổi hôm nay chúng ta </a:t>
            </a:r>
            <a:r>
              <a:rPr lang="vi-VN" b="1"/>
              <a:t>chưa làm phân tích gì cả</a:t>
            </a:r>
            <a:r>
              <a:rPr lang="vi-VN"/>
              <a:t>. Hôm nay mình học một kỹ năng mà người làm BI dùng mỗi ngày nhưng ít ai dạy, đó là nhìn vào một file dữ liệu và biết nó có dùng được hay không. Nghe thì đơn giản, nhưng một nửa số báo cáo sai mình từng gặp là sai từ bước này.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1,5 phút.</a:t>
            </a:r>
          </a:p>
          <a:p>
            <a:r>
              <a:rPr lang="vi-VN"/>
              <a:t>LỜI GIẢNG</a:t>
            </a:r>
          </a:p>
          <a:p>
            <a:r>
              <a:rPr lang="vi-VN"/>
              <a:t>Đây là file bán hàng Quý 1 năm 2025 của MCI Mart, một chuỗi bán lẻ mà các bạn sẽ đồng hành suốt khóa học. File này được xuất thẳng từ hệ thống bán hàng, đúng kiểu file mà sếp hay chuyển tiếp cho các bạn kèm một dòng: "Em xem giúp anh doanh thu từng miền."</a:t>
            </a:r>
          </a:p>
          <a:p>
            <a:r>
              <a:rPr lang="vi-VN"/>
              <a:t>Mình cho các bạn 30 giây. </a:t>
            </a:r>
            <a:r>
              <a:rPr lang="vi-VN" b="1"/>
              <a:t>Nhìn vào file này, bạn thấy có điều gì có thể làm mình tính sai không?</a:t>
            </a:r>
          </a:p>
          <a:p>
            <a:r>
              <a:rPr lang="vi-VN"/>
              <a:t>(→ chờ 30 giây, gọi 2–3 bạn, ghi ý của các bạn lên bảng, KHÔNG nhận xét đúng sai)</a:t>
            </a:r>
          </a:p>
          <a:p>
            <a:r>
              <a:rPr lang="vi-VN"/>
              <a:t>Cảm ơn các bạn. Mình giữ các ý này trên bảng. Cuối buổi, ở Phần 5, mình sẽ quay lại xem các bạn đã tìm ra được bao nhiêu vấn đề. Hiện file này có </a:t>
            </a:r>
            <a:r>
              <a:rPr lang="vi-VN" b="1"/>
              <a:t>ít nhất 9 loại vấn đề</a:t>
            </a:r>
            <a:r>
              <a:rPr lang="vi-VN"/>
              <a:t> được cài sẵn.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2,5 phút.</a:t>
            </a:r>
          </a:p>
          <a:p>
            <a:r>
              <a:rPr lang="vi-VN"/>
              <a:t>LỜI GIẢNG</a:t>
            </a:r>
          </a:p>
          <a:p>
            <a:r>
              <a:rPr lang="vi-VN"/>
              <a:t>Trước khi vào Excel, mình muốn các bạn nhìn thấy bức tranh lớn. Làm BI, dù bằng Excel, Power BI hay bất kỳ công cụ nào, luôn đi qua 5 bước.</a:t>
            </a:r>
          </a:p>
          <a:p>
            <a:r>
              <a:rPr lang="vi-VN" b="1"/>
              <a:t>Bước 1 là Hỏi:</a:t>
            </a:r>
            <a:r>
              <a:rPr lang="vi-VN"/>
              <a:t> mình cần trả lời câu hỏi kinh doanh gì. </a:t>
            </a:r>
            <a:r>
              <a:rPr lang="vi-VN" b="1"/>
              <a:t>Bước 2 là Thu thập:</a:t>
            </a:r>
            <a:r>
              <a:rPr lang="vi-VN"/>
              <a:t> lấy dữ liệu từ đâu. </a:t>
            </a:r>
            <a:r>
              <a:rPr lang="vi-VN" b="1"/>
              <a:t>Bước 3 là Làm sạch:</a:t>
            </a:r>
            <a:r>
              <a:rPr lang="vi-VN"/>
              <a:t> sửa những lỗi như trong file vừa rồi. </a:t>
            </a:r>
            <a:r>
              <a:rPr lang="vi-VN" b="1"/>
              <a:t>Bước 4 là Phân tích:</a:t>
            </a:r>
            <a:r>
              <a:rPr lang="vi-VN"/>
              <a:t> tính toán, so sánh. </a:t>
            </a:r>
            <a:r>
              <a:rPr lang="vi-VN" b="1"/>
              <a:t>Bước 5 là Trình bày:</a:t>
            </a:r>
            <a:r>
              <a:rPr lang="vi-VN"/>
              <a:t> biến con số thành thông điệp mà người ra quyết định hiểu được.</a:t>
            </a:r>
          </a:p>
          <a:p>
            <a:r>
              <a:rPr lang="vi-VN"/>
              <a:t>Các bạn để ý mình tô đậm bước đầu tiên. Người mới làm BI thường nhảy thẳng vào bước 4: mở file là kéo Pivot ngay. Nhưng nếu câu hỏi sai hoặc mơ hồ thì phân tích đẹp đến đâu cũng vô ích.</a:t>
            </a:r>
          </a:p>
          <a:p>
            <a:r>
              <a:rPr lang="vi-VN"/>
              <a:t>Vì vậy khóa này có một quy tắc: </a:t>
            </a:r>
            <a:r>
              <a:rPr lang="vi-VN" b="1"/>
              <a:t>mỗi buổi đều mở bằng một câu hỏi kinh doanh và kết thúc bằng một câu insight các bạn tự viết.</a:t>
            </a:r>
            <a:r>
              <a:rPr lang="vi-VN"/>
              <a:t> Khóa học không dạy "Excel có những nút gì", mà dạy "làm BI bằng Excel".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3,5 phút.</a:t>
            </a:r>
          </a:p>
          <a:p>
            <a:r>
              <a:rPr lang="vi-VN"/>
              <a:t>LỜI GIẢNG</a:t>
            </a:r>
          </a:p>
          <a:p>
            <a:r>
              <a:rPr lang="vi-VN"/>
              <a:t>Khóa học có 7 buổi và mình gọi mỗi buổi là một viên gạch. Viên gạch hôm nay nằm ở dưới cùng: một file dữ liệu tidy, dạng Excel Table. Buổi 2 làm giàu chính bảng đó và tính KPI bằng SUMIFS. Buổi 3 dựng báo cáo Pivot trên cùng bảng dữ liệu. Buổi 4 tự động hóa toàn bộ bằng Power Query, Buổi 5 dựng mô hình dữ liệu, và đến Buổi 6 các bạn có một dashboard hoàn chỉnh. Buổi 7 các bạn tự làm lại toàn bộ trên dữ liệu của một công ty khác, làm cá nhân.</a:t>
            </a:r>
          </a:p>
          <a:p>
            <a:r>
              <a:rPr lang="vi-VN"/>
              <a:t>Điều này có nghĩa là </a:t>
            </a:r>
            <a:r>
              <a:rPr lang="vi-VN" b="1"/>
              <a:t>sản phẩm hôm nay là nguyên liệu của buổi sau</a:t>
            </a:r>
            <a:r>
              <a:rPr lang="vi-VN"/>
              <a:t>. Nếu file hôm nay còn dòng tổng lẫn trong dữ liệu, tổng số lượng ở Buổi 2 sẽ bị cộng gần gấp ba mà các bạn không hề biết.</a:t>
            </a:r>
          </a:p>
          <a:p>
            <a:r>
              <a:rPr lang="vi-VN"/>
              <a:t>Cột bên phải là </a:t>
            </a:r>
            <a:r>
              <a:rPr lang="vi-VN" b="1"/>
              <a:t>thang 5 tầng câu hỏi</a:t>
            </a:r>
            <a:r>
              <a:rPr lang="vi-VN"/>
              <a:t>. Quy trình 5 bước vừa rồi cho biết làm theo thứ tự nào; thang này cho biết câu hỏi sâu đến đâu. Tầng 1 hỏi "chuyện gì đã xảy ra", tầng cao nhất hỏi "sắp tới sẽ thế nào". Câu hỏi hôm nay ở </a:t>
            </a:r>
            <a:r>
              <a:rPr lang="vi-VN" b="1"/>
              <a:t>Tầng 1</a:t>
            </a:r>
            <a:r>
              <a:rPr lang="vi-VN"/>
              <a:t>, và mỗi buổi các bạn sẽ leo thêm một bậc.</a:t>
            </a:r>
          </a:p>
          <a:p>
            <a:r>
              <a:rPr lang="vi-VN"/>
              <a:t>Một lưu ý để các bạn yên tâm: nếu vì lý do gì đó bạn chưa làm xong, đầu buổi sau lớp sẽ phát </a:t>
            </a:r>
            <a:r>
              <a:rPr lang="vi-VN" b="1"/>
              <a:t>file khởi đầu</a:t>
            </a:r>
            <a:r>
              <a:rPr lang="vi-VN"/>
              <a:t>, tức là đáp án của buổi trước, để bạn theo tiếp. Không ai bị bỏ lại vì lỡ một viên gạch.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1,5 phút.</a:t>
            </a:r>
          </a:p>
          <a:p>
            <a:r>
              <a:rPr lang="vi-VN"/>
              <a:t>LỜI GIẢNG</a:t>
            </a:r>
          </a:p>
          <a:p>
            <a:r>
              <a:rPr lang="vi-VN"/>
              <a:t>Giới thiệu nhanh công ty của chúng ta. MCI Mart có 12 cửa hàng trải khắp 3 miền, từ Cầu Giấy, Hoàn Kiếm ngoài Hà Nội, qua Đà Nẵng, Huế, Nha Trang, vào tới Quận 1, Thủ Đức và Cần Thơ. Công ty bán 40 sản phẩm thuộc 6 ngành hàng: đồ uống, sữa, thực phẩm khô, bánh kẹo, chăm sóc cá nhân và gia dụng.</a:t>
            </a:r>
          </a:p>
          <a:p>
            <a:r>
              <a:rPr lang="vi-VN"/>
              <a:t>Người dùng báo cáo của chúng ta là </a:t>
            </a:r>
            <a:r>
              <a:rPr lang="vi-VN" b="1"/>
              <a:t>Giám đốc bán hàng</a:t>
            </a:r>
            <a:r>
              <a:rPr lang="vi-VN"/>
              <a:t>. Mỗi buổi, anh ấy sẽ hỏi một câu và chúng ta phải trả lời.</a:t>
            </a:r>
          </a:p>
          <a:p>
            <a:r>
              <a:rPr lang="vi-VN"/>
              <a:t>Đây là dữ liệu giả lập nhưng được làm rất giống thật: có mùa Tết, có cửa hàng mới mở, có cửa hàng gặp sự cố. Những "câu chuyện" này nằm sẵn trong dữ liệu. Mỗi buổi sẽ mở khóa một phần, bắt đầu từ Buổi 2, và nhiệm vụ của các bạn là tự tìm ra và gọi tên chúng trong câu insight cuối buổi.</a:t>
            </a:r>
          </a:p>
          <a:p>
            <a:r>
              <a:rPr lang="vi-VN"/>
              <a:t>Năm bảng trên slide hiện đứng riêng lẻ. Đến Buổi 4, các bạn sẽ tự tạo thêm bảng thứ sáu là bảng lịch (Calendar), và đến Buổi 5 thì nối tất cả lại thành một mô hình.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0,5 phút.</a:t>
            </a:r>
          </a:p>
          <a:p>
            <a:r>
              <a:rPr lang="vi-VN"/>
              <a:t>LỜI GIẢNG</a:t>
            </a:r>
          </a:p>
          <a:p>
            <a:r>
              <a:rPr lang="vi-VN"/>
              <a:t>Phần đầu tiên rất thực tế: đảm bảo máy của các bạn học được hết khóa này.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6 phút.</a:t>
            </a:r>
          </a:p>
          <a:p>
            <a:r>
              <a:rPr lang="vi-VN"/>
              <a:t>LỜI GIẢNG</a:t>
            </a:r>
          </a:p>
          <a:p>
            <a:r>
              <a:rPr lang="vi-VN"/>
              <a:t>Có nhiều phiên bản Excel, và với người làm BI chúng khác nhau rất nhiều. Mình không so giá, vì giá thay đổi liên tục. Mình chỉ so những thứ ảnh hưởng tới khóa học.</a:t>
            </a:r>
          </a:p>
          <a:p>
            <a:r>
              <a:rPr lang="vi-VN"/>
              <a:t>Các bạn nhìn dòng thứ hai: </a:t>
            </a:r>
            <a:r>
              <a:rPr lang="vi-VN" b="1"/>
              <a:t>Power Pivot</a:t>
            </a:r>
            <a:r>
              <a:rPr lang="vi-VN"/>
              <a:t>, hay Data Model. Đây là công cụ dựng mô hình dữ liệu. Buổi 4 chúng ta bắt đầu load dữ liệu vào Data Model, và từ Buổi 5 đến Buổi 7 mọi thứ xoay quanh nó. Nó chỉ có trên Excel cho Windows, và không phải bản Windows nào cũng có. </a:t>
            </a:r>
            <a:r>
              <a:rPr lang="vi-VN" b="1"/>
              <a:t>Excel trên Mac và Excel Online không có Power Pivot.</a:t>
            </a:r>
            <a:r>
              <a:rPr lang="vi-VN"/>
              <a:t> Đây là thông tin chính thức từ tài liệu của Microsoft, không phải ý kiến của mình.</a:t>
            </a:r>
          </a:p>
          <a:p>
            <a:r>
              <a:rPr lang="vi-VN"/>
              <a:t>(→ hỏi lớp) </a:t>
            </a:r>
            <a:r>
              <a:rPr lang="vi-VN" b="1"/>
              <a:t>Ai đang dùng Mac giơ tay giúp mình?</a:t>
            </a:r>
            <a:r>
              <a:rPr lang="vi-VN"/>
              <a:t> Cảm ơn các bạn. Từ Buổi 4 các bạn bắt buộc phải có Excel chạy trên Windows. Cách mình khuyến nghị là cài phần mềm máy ảo như Parallels Desktop hoặc VMware Fusion để chạy Windows và Excel bản Windows ngay trên máy Mac; nếu không cài được thì các bạn chuẩn bị một laptop Windows khác để mang theo. Máy móc là phần các bạn tự chuẩn bị, lớp không có máy cho mượn. Nhưng mình khuyên đừng đợi đến Buổi 4: hãy chuẩn bị xong </a:t>
            </a:r>
            <a:r>
              <a:rPr lang="vi-VN" b="1"/>
              <a:t>trước Buổi 2</a:t>
            </a:r>
            <a:r>
              <a:rPr lang="vi-VN"/>
              <a:t>. Lý do là giao diện, phím tắt và cả một số menu trên Mac khác Windows. Nếu Buổi 2 và Buổi 3 các bạn đã quen với Windows, thì đến Buổi 4, khi bài khó hơn hẳn, các bạn chỉ phải tập trung vào nội dung chứ không phải vừa học Power Query vừa làm quen máy mới.</a:t>
            </a:r>
          </a:p>
          <a:p>
            <a:r>
              <a:rPr lang="vi-VN"/>
              <a:t>Hôm nay vẫn học được trên Mac; handout có bảng phím tắt tương đương để các bạn tạm dùng.</a:t>
            </a:r>
          </a:p>
          <a:p>
            <a:r>
              <a:rPr lang="vi-VN"/>
              <a:t>Dòng thứ ba là Dynamic Arrays, gồm các hàm mới như XLOOKUP, FILTER. Excel 2016 và 2019 không có. Nếu đang dùng bản cũ, bạn vẫn học được nhưng sẽ cần cách làm thay thế mà mình chỉ ở Buổi 2.</a:t>
            </a:r>
          </a:p>
          <a:p>
            <a:r>
              <a:rPr lang="vi-VN"/>
              <a:t>Tóm lại: </a:t>
            </a:r>
            <a:r>
              <a:rPr lang="vi-VN" b="1"/>
              <a:t>khuyến nghị Microsoft 365 trên Windows.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3,5 phút. Trợ giảng ghi vào B1_PhieuGhiNhan_KiemTraMay.docx.</a:t>
            </a:r>
          </a:p>
          <a:p>
            <a:r>
              <a:t>LỜI GIẢNG</a:t>
            </a:r>
          </a:p>
          <a:p>
            <a:r>
              <a:t>Trước buổi học, các bạn đã nhận checklist kiểm tra máy trong nhóm chat của lớp. Đây là 3 bước trong checklist: </a:t>
            </a:r>
            <a:r>
              <a:rPr b="1"/>
              <a:t>Get Data</a:t>
            </a:r>
            <a:r>
              <a:t> để biết máy có Power Query, </a:t>
            </a:r>
            <a:r>
              <a:rPr b="1"/>
              <a:t>COM Add-ins</a:t>
            </a:r>
            <a:r>
              <a:t> để bật Power Pivot, và </a:t>
            </a:r>
            <a:r>
              <a:rPr b="1"/>
              <a:t>About Excel</a:t>
            </a:r>
            <a:r>
              <a:t> để xem máy là bản 32-bit hay 64-bit.</a:t>
            </a:r>
          </a:p>
          <a:p>
            <a:r>
              <a:t>(→ hỏi lớp) </a:t>
            </a:r>
            <a:r>
              <a:rPr b="1"/>
              <a:t>Bạn nào đã làm đủ 3 bước và thấy tab Power Pivot trên Ribbon, giơ tay giúp mình.</a:t>
            </a:r>
            <a:r>
              <a:t> Cảm ơn các bạn. </a:t>
            </a:r>
            <a:r>
              <a:rPr b="1"/>
              <a:t>Còn bạn nào chưa làm kịp, hoặc có bước không đạt?</a:t>
            </a:r>
            <a:r>
              <a:t> Cứ giơ tay, trợ giảng sẽ tới làm cùng bạn ngay.</a:t>
            </a:r>
          </a:p>
          <a:p>
            <a:r>
              <a:t>(→ trợ giảng đi vòng; bạn chưa làm thì làm bước 2 cùng trợ giảng. Giảng viên không chờ, chuyển sang Phần 2)</a:t>
            </a:r>
          </a:p>
          <a:p>
            <a:r>
              <a:t>Bạn nào </a:t>
            </a:r>
            <a:r>
              <a:rPr b="1"/>
              <a:t>không thấy</a:t>
            </a:r>
            <a:r>
              <a:t> dòng Power Pivot trong danh sách thì đừng lo. Thường là do phiên bản Office không kèm Power Pivot. Các bạn chuẩn bị phương án máy (máy ảo Windows hoặc một laptop Windows khác) trước Buổi 2; cần hỏi thêm thì nhắn trợ giảng trong nhóm chat của lớp.</a:t>
            </a:r>
          </a:p>
          <a:p>
            <a:r>
              <a:t>Các bạn để ý: kiểm tra máy trước khi học chính là </a:t>
            </a:r>
            <a:r>
              <a:rPr b="1"/>
              <a:t>đối soát</a:t>
            </a:r>
            <a:r>
              <a:t>, tức là kiểm tra trước chứ không giả định. Trong BI, giả định "chắc là đúng" là nguồn gốc của rất nhiều sai sót. Đây là thói quen đầu tiên mình muốn các bạn mang theo.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0,5 phút.</a:t>
            </a:r>
          </a:p>
          <a:p>
            <a:r>
              <a:rPr lang="vi-VN"/>
              <a:t>LỜI GIẢNG</a:t>
            </a:r>
          </a:p>
          <a:p>
            <a:r>
              <a:rPr lang="vi-VN"/>
              <a:t>Phần này nhiều bạn đã biết rồi. Mình sẽ đi nhanh và chỉ dừng lại ở những chỗ người làm BI dùng nhiều nhất.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7 phút (lớp đã biết Excel: chỉ giữ Name Box và Status Bar).</a:t>
            </a:r>
          </a:p>
          <a:p>
            <a:r>
              <a:rPr lang="vi-VN"/>
              <a:t>LỜI GIẢNG</a:t>
            </a:r>
          </a:p>
          <a:p>
            <a:r>
              <a:rPr lang="vi-VN"/>
              <a:t>Mình đi nhanh qua màn hình chính. </a:t>
            </a:r>
            <a:r>
              <a:rPr lang="vi-VN" b="1"/>
              <a:t>Số 1</a:t>
            </a:r>
            <a:r>
              <a:rPr lang="vi-VN"/>
              <a:t> là Ribbon, dải lệnh phía trên. </a:t>
            </a:r>
            <a:r>
              <a:rPr lang="vi-VN" b="1"/>
              <a:t>Số 2</a:t>
            </a:r>
            <a:r>
              <a:rPr lang="vi-VN"/>
              <a:t> là Name Box: nó cho biết bạn đang đứng ở ô nào, và bạn có thể gõ địa chỉ vào đó để nhảy tới. Thử gõ A5000 rồi Enter xem. </a:t>
            </a:r>
            <a:r>
              <a:rPr lang="vi-VN" b="1"/>
              <a:t>Số 3</a:t>
            </a:r>
            <a:r>
              <a:rPr lang="vi-VN"/>
              <a:t> là Formula Bar: ô đang chứa công thức gì sẽ hiện ở đây. </a:t>
            </a:r>
            <a:r>
              <a:rPr lang="vi-VN" b="1"/>
              <a:t>Số 4</a:t>
            </a:r>
            <a:r>
              <a:rPr lang="vi-VN"/>
              <a:t> là lưới ô, dòng, cột. </a:t>
            </a:r>
            <a:r>
              <a:rPr lang="vi-VN" b="1"/>
              <a:t>Số 5</a:t>
            </a:r>
            <a:r>
              <a:rPr lang="vi-VN"/>
              <a:t> là các tab sheet ở dưới cùng.</a:t>
            </a:r>
          </a:p>
          <a:p>
            <a:r>
              <a:rPr lang="vi-VN"/>
              <a:t>Giờ mình muốn các bạn dừng lại ở </a:t>
            </a:r>
            <a:r>
              <a:rPr lang="vi-VN" b="1"/>
              <a:t>số 6: Status Bar</a:t>
            </a:r>
            <a:r>
              <a:rPr lang="vi-VN"/>
              <a:t>, dải nhỏ ở đáy màn hình mà ít ai để ý. Các bạn thử bôi đen một cột số bất kỳ. Thấy không? Status Bar hiện ngay tổng, trung bình và số ô được đếm, không cần viết công thức nào.</a:t>
            </a:r>
          </a:p>
          <a:p>
            <a:r>
              <a:rPr lang="vi-VN"/>
              <a:t>(→ demo: mở Practice/B1_MCI_Mart_Q1_2025_Answer.xlsx, sheet Sales, chọn cột Revenue; Status Bar hiện Sum 941.454.000)</a:t>
            </a:r>
          </a:p>
          <a:p>
            <a:r>
              <a:rPr lang="vi-VN"/>
              <a:t>Vì sao mình nhấn mạnh chỗ này? Vì từ Buổi 3 trở đi, mỗi lần dựng xong một báo cáo, các bạn sẽ bôi đen dữ liệu gốc, nhìn Status Bar và so với tổng trên báo cáo. Khớp thì yên tâm; lệch là có vấn đề. </a:t>
            </a:r>
            <a:r>
              <a:rPr lang="vi-VN" b="1"/>
              <a:t>Đó là cách đối soát nhanh nhất trong Excel.</a:t>
            </a:r>
          </a:p>
          <a:p>
            <a:r>
              <a:rPr lang="vi-VN"/>
              <a:t>Cuối cùng, </a:t>
            </a:r>
            <a:r>
              <a:rPr lang="vi-VN" b="1"/>
              <a:t>số 7:</a:t>
            </a:r>
            <a:r>
              <a:rPr lang="vi-VN"/>
              <a:t> Workbook là cả file, còn Sheet là từng trang tính bên trong. Hai từ này sẽ xuất hiện liên tục.</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7,5 phút (lớp đã biết Excel: chỉ nêu quy tắc "việc X → tab Y", bỏ câu hỏi nhanh).</a:t>
            </a:r>
          </a:p>
          <a:p>
            <a:r>
              <a:rPr lang="vi-VN"/>
              <a:t>LỜI GIẢNG</a:t>
            </a:r>
          </a:p>
          <a:p>
            <a:r>
              <a:rPr lang="vi-VN"/>
              <a:t>Excel có hàng trăm nút lệnh. Mình sẽ </a:t>
            </a:r>
            <a:r>
              <a:rPr lang="vi-VN" b="1"/>
              <a:t>không</a:t>
            </a:r>
            <a:r>
              <a:rPr lang="vi-VN"/>
              <a:t> đi qua từng nút, vì tour chi tiết từng tab đã có trong handout, các bạn đọc ở nhà. Hôm nay các bạn chỉ cần nhớ một quy tắc: </a:t>
            </a:r>
            <a:r>
              <a:rPr lang="vi-VN" b="1"/>
              <a:t>"cần làm việc X thì vào tab Y."</a:t>
            </a:r>
          </a:p>
          <a:p>
            <a:r>
              <a:rPr lang="vi-VN"/>
              <a:t>Muốn định dạng, tô màu: tab </a:t>
            </a:r>
            <a:r>
              <a:rPr lang="vi-VN" b="1"/>
              <a:t>Home</a:t>
            </a:r>
            <a:r>
              <a:rPr lang="vi-VN"/>
              <a:t>. Muốn tạo bảng, Pivot, biểu đồ: tab </a:t>
            </a:r>
            <a:r>
              <a:rPr lang="vi-VN" b="1"/>
              <a:t>Insert</a:t>
            </a:r>
            <a:r>
              <a:rPr lang="vi-VN"/>
              <a:t>. Muốn viết hàm hay dò lỗi công thức: tab </a:t>
            </a:r>
            <a:r>
              <a:rPr lang="vi-VN" b="1"/>
              <a:t>Formulas</a:t>
            </a:r>
            <a:r>
              <a:rPr lang="vi-VN"/>
              <a:t>. Muốn lấy dữ liệu, lọc, kiểm soát nhập liệu: tab </a:t>
            </a:r>
            <a:r>
              <a:rPr lang="vi-VN" b="1"/>
              <a:t>Data</a:t>
            </a:r>
            <a:r>
              <a:rPr lang="vi-VN"/>
              <a:t>. Muốn khóa file trước khi gửi sếp: tab </a:t>
            </a:r>
            <a:r>
              <a:rPr lang="vi-VN" b="1"/>
              <a:t>Review</a:t>
            </a:r>
            <a:r>
              <a:rPr lang="vi-VN"/>
              <a:t>. Muốn cố định dòng tiêu đề: tab </a:t>
            </a:r>
            <a:r>
              <a:rPr lang="vi-VN" b="1"/>
              <a:t>View</a:t>
            </a:r>
            <a:r>
              <a:rPr lang="vi-VN"/>
              <a:t>.</a:t>
            </a:r>
          </a:p>
          <a:p>
            <a:r>
              <a:rPr lang="vi-VN"/>
              <a:t>Cột bên phải cho biết mỗi tab được dùng nhiều ở buổi nào. Ví dụ tab Data: hôm nay dùng cho Data Validation, đến Buổi 4 thì nó trở thành "cửa chính" của Power Query.</a:t>
            </a:r>
          </a:p>
          <a:p>
            <a:r>
              <a:rPr lang="vi-VN"/>
              <a:t>[có thể rút gọn] (→ hỏi nhanh) </a:t>
            </a:r>
            <a:r>
              <a:rPr lang="vi-VN" b="1"/>
              <a:t>Muốn tìm nút Freeze Panes, bạn vào tab nào?</a:t>
            </a:r>
            <a:r>
              <a:rPr lang="vi-VN"/>
              <a:t> Đúng rồi, View.</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0,5 phút.</a:t>
            </a:r>
          </a:p>
          <a:p>
            <a:r>
              <a:rPr lang="vi-VN"/>
              <a:t>LỜI GIẢNG</a:t>
            </a:r>
          </a:p>
          <a:p>
            <a:r>
              <a:rPr lang="vi-VN"/>
              <a:t>File quý 1 của chúng ta có hơn 6.000 dòng. Cả năm sẽ là hơn 20.000 dòng. Kéo chuột qua từng đó dòng là không khả thi, nên chúng ta cần phím tắt.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5 phút (lớp đã biết Excel: giữ Ctrl + ↓ để phát hiện dòng trống).</a:t>
            </a:r>
          </a:p>
          <a:p>
            <a:r>
              <a:rPr lang="vi-VN"/>
              <a:t>LỜI GIẢNG</a:t>
            </a:r>
          </a:p>
          <a:p>
            <a:r>
              <a:rPr lang="vi-VN"/>
              <a:t>Phím tắt quan trọng nhất với dữ liệu lớn là </a:t>
            </a:r>
            <a:r>
              <a:rPr lang="vi-VN" b="1"/>
              <a:t>Ctrl + mũi tên</a:t>
            </a:r>
            <a:r>
              <a:rPr lang="vi-VN"/>
              <a:t>. Các bạn mở file B1_MCI_Mart_Q1_2025_Dirty.xlsx (→ Practice/B1_MCI_Mart_Q1_2025_Dirty.xlsx), đứng ở ô B6 (dòng dữ liệu đầu tiên) rồi nhấn </a:t>
            </a:r>
            <a:r>
              <a:rPr lang="vi-VN" b="1"/>
              <a:t>Ctrl + mũi tên xuống</a:t>
            </a:r>
            <a:r>
              <a:rPr lang="vi-VN"/>
              <a:t>.</a:t>
            </a:r>
          </a:p>
          <a:p>
            <a:r>
              <a:rPr lang="vi-VN"/>
              <a:t>(→ chờ lớp làm)</a:t>
            </a:r>
          </a:p>
          <a:p>
            <a:r>
              <a:rPr lang="vi-VN"/>
              <a:t>Bạn nào thấy con trỏ dừng lại </a:t>
            </a:r>
            <a:r>
              <a:rPr lang="vi-VN" b="1"/>
              <a:t>giữa chừng</a:t>
            </a:r>
            <a:r>
              <a:rPr lang="vi-VN"/>
              <a:t> chứ không xuống tới cuối file? Dừng ở khoảng dòng 2.700 phải không? Nhìn kỹ xem, ngay bên dưới là gì? </a:t>
            </a:r>
            <a:r>
              <a:rPr lang="vi-VN" b="1"/>
              <a:t>Một dòng trống.</a:t>
            </a:r>
          </a:p>
          <a:p>
            <a:r>
              <a:rPr lang="vi-VN"/>
              <a:t>Đây là điều mình muốn các bạn nhớ: Ctrl + mũi tên không chỉ để di chuyển nhanh, nó còn là </a:t>
            </a:r>
            <a:r>
              <a:rPr lang="vi-VN" b="1"/>
              <a:t>công cụ phát hiện lỗi</a:t>
            </a:r>
            <a:r>
              <a:rPr lang="vi-VN"/>
              <a:t>. Dữ liệu sạch thì Ctrl + ↓ chạy một mạch xuống dòng cuối. Nếu nó dừng giữa chừng, dữ liệu có lỗ hổng. Mình ghi lỗi này lên bảng; nó sẽ được sửa ở phần thực hành.</a:t>
            </a:r>
          </a:p>
          <a:p>
            <a:r>
              <a:rPr lang="vi-VN"/>
              <a:t>Thêm </a:t>
            </a:r>
            <a:r>
              <a:rPr lang="vi-VN" b="1"/>
              <a:t>Shift</a:t>
            </a:r>
            <a:r>
              <a:rPr lang="vi-VN"/>
              <a:t> thành </a:t>
            </a:r>
            <a:r>
              <a:rPr lang="vi-VN" b="1"/>
              <a:t>Ctrl + Shift + ↓</a:t>
            </a:r>
            <a:r>
              <a:rPr lang="vi-VN"/>
              <a:t> thì Excel bôi đen từ ô hiện tại xuống cuối vùng. </a:t>
            </a:r>
            <a:r>
              <a:rPr lang="vi-VN" b="1"/>
              <a:t>Ctrl + Home</a:t>
            </a:r>
            <a:r>
              <a:rPr lang="vi-VN"/>
              <a:t> đưa bạn về ô A1, còn </a:t>
            </a:r>
            <a:r>
              <a:rPr lang="vi-VN" b="1"/>
              <a:t>Ctrl + End</a:t>
            </a:r>
            <a:r>
              <a:rPr lang="vi-VN"/>
              <a:t> đưa tới ô cuối cùng có dữ liệu.</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5 phút (lớp đã biết Excel: giữ F4).</a:t>
            </a:r>
          </a:p>
          <a:p>
            <a:r>
              <a:rPr lang="vi-VN"/>
              <a:t>LỜI GIẢNG</a:t>
            </a:r>
          </a:p>
          <a:p>
            <a:r>
              <a:rPr lang="vi-VN"/>
              <a:t>Ba phím chức năng người làm BI dùng nhiều nhất.</a:t>
            </a:r>
          </a:p>
          <a:p>
            <a:r>
              <a:rPr lang="vi-VN" b="1"/>
              <a:t>F2</a:t>
            </a:r>
            <a:r>
              <a:rPr lang="vi-VN"/>
              <a:t> để sửa ô. Nhưng điều hay hơn là khi bạn F2 vào một ô công thức, Excel </a:t>
            </a:r>
            <a:r>
              <a:rPr lang="vi-VN" b="1"/>
              <a:t>tô màu</a:t>
            </a:r>
            <a:r>
              <a:rPr lang="vi-VN"/>
              <a:t> các ô mà công thức đang dùng. Đây là cách nhanh nhất để trả lời câu hỏi "công thức này đang lấy số ở đâu?".</a:t>
            </a:r>
          </a:p>
          <a:p>
            <a:r>
              <a:rPr lang="vi-VN" b="1"/>
              <a:t>F4</a:t>
            </a:r>
            <a:r>
              <a:rPr lang="vi-VN"/>
              <a:t> là phím mình sẽ dùng rất nhiều ngay trong Phần 4. Khi đang sửa công thức, mỗi lần nhấn F4 là tham chiếu đổi dạng: A1, rồi đô-la A đô-la 1, rồi A đô-la 1, rồi đô-la A 1, rồi quay về A1. Tạm thời các bạn chỉ cần nhớ phím này; ý nghĩa của dấu đô-la mình giải thích ngay sau giờ nghỉ.</a:t>
            </a:r>
          </a:p>
          <a:p>
            <a:r>
              <a:rPr lang="vi-VN" b="1"/>
              <a:t>F9</a:t>
            </a:r>
            <a:r>
              <a:rPr lang="vi-VN"/>
              <a:t> là mẹo cho người thích "mổ xẻ" công thức: bôi đen một phần công thức trên Formula Bar, nhấn F9, Excel cho bạn biết phần đó bằng bao nhiêu. Nhưng nhớ nhấn </a:t>
            </a:r>
            <a:r>
              <a:rPr lang="vi-VN" b="1"/>
              <a:t>Esc</a:t>
            </a:r>
            <a:r>
              <a:rPr lang="vi-VN"/>
              <a:t> để thoát; nếu lỡ nhấn Enter, phần đó bị thay bằng con số cứng.</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4,5 phút (lớp đã biết Excel: chỉ nêu 3 tổ hợp Alt).</a:t>
            </a:r>
          </a:p>
          <a:p>
            <a:r>
              <a:rPr lang="vi-VN"/>
              <a:t>LỜI GIẢNG</a:t>
            </a:r>
          </a:p>
          <a:p>
            <a:r>
              <a:rPr lang="vi-VN"/>
              <a:t>Các bạn thử nhấn phím </a:t>
            </a:r>
            <a:r>
              <a:rPr lang="vi-VN" b="1"/>
              <a:t>Alt</a:t>
            </a:r>
            <a:r>
              <a:rPr lang="vi-VN"/>
              <a:t> rồi </a:t>
            </a:r>
            <a:r>
              <a:rPr lang="vi-VN" b="1"/>
              <a:t>thả ra</a:t>
            </a:r>
            <a:r>
              <a:rPr lang="vi-VN"/>
              <a:t>, đừng giữ. Thấy các chữ cái nhỏ hiện trên Ribbon chưa? Đó là Key Tips: mỗi chữ cái đưa bạn vào một tab, gõ tiếp thì vào sâu hơn.</a:t>
            </a:r>
          </a:p>
          <a:p>
            <a:r>
              <a:rPr lang="vi-VN"/>
              <a:t>Không ai thuộc hết. Mình chỉ đề nghị ba tổ hợp. </a:t>
            </a:r>
            <a:r>
              <a:rPr lang="vi-VN" b="1"/>
              <a:t>Alt, H, V, V</a:t>
            </a:r>
            <a:r>
              <a:rPr lang="vi-VN"/>
              <a:t> để dán giá trị: bạn sẽ dùng nó mỗi khi muốn "đóng băng" kết quả công thức thành số. </a:t>
            </a:r>
            <a:r>
              <a:rPr lang="vi-VN" b="1"/>
              <a:t>Alt, A, T</a:t>
            </a:r>
            <a:r>
              <a:rPr lang="vi-VN"/>
              <a:t> để bật tắt bộ lọc. </a:t>
            </a:r>
            <a:r>
              <a:rPr lang="vi-VN" b="1"/>
              <a:t>Alt, M, V</a:t>
            </a:r>
            <a:r>
              <a:rPr lang="vi-VN"/>
              <a:t> để mở Evaluate Formula, công cụ mình giới thiệu ngay sau đây.</a:t>
            </a:r>
          </a:p>
          <a:p>
            <a:r>
              <a:rPr lang="vi-VN"/>
              <a:t>Còn </a:t>
            </a:r>
            <a:r>
              <a:rPr lang="vi-VN" b="1"/>
              <a:t>Quick Access Toolbar</a:t>
            </a:r>
            <a:r>
              <a:rPr lang="vi-VN"/>
              <a:t> là thanh nhỏ trên cùng. Bạn chuột phải vào bất kỳ nút nào và chọn "Add to Quick Access Toolbar" là ghim được. Mình khuyên ghim ngay nút </a:t>
            </a:r>
            <a:r>
              <a:rPr lang="vi-VN" b="1"/>
              <a:t>Refresh All</a:t>
            </a:r>
            <a:r>
              <a:rPr lang="vi-VN"/>
              <a:t>, vì từ Buổi 3 các bạn sẽ bấm nó liên tục.</a:t>
            </a:r>
          </a:p>
          <a:p>
            <a:r>
              <a:rPr lang="vi-VN"/>
              <a:t>Lời khuyên của mình: mỗi buổi chọn </a:t>
            </a:r>
            <a:r>
              <a:rPr lang="vi-VN" b="1"/>
              <a:t>một</a:t>
            </a:r>
            <a:r>
              <a:rPr lang="vi-VN"/>
              <a:t> phím tắt và ép mình dùng nó đến khi thành phản xạ. Sau 7 buổi là 7 phím tắt, đủ để bạn nhanh hơn hẳn đồng nghiệp.</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10 phút.</a:t>
            </a:r>
          </a:p>
          <a:p>
            <a:r>
              <a:rPr lang="vi-VN"/>
              <a:t>LỜI GIẢNG</a:t>
            </a:r>
          </a:p>
          <a:p>
            <a:r>
              <a:rPr lang="vi-VN"/>
              <a:t>Mình nghỉ 10 phút. Khi quay lại, các bạn mở sẵn file Dirty nhé. Phần tiếp theo là phần quan trọng nhất hôm nay.</a:t>
            </a:r>
          </a:p>
          <a:p>
            <a:r>
              <a:rPr lang="vi-VN"/>
              <a:t>(→ trong giờ nghỉ: trợ giảng hỗ trợ tiếp các bạn chưa bật được Power Pivot)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0,5 phút.</a:t>
            </a:r>
          </a:p>
          <a:p>
            <a:r>
              <a:rPr lang="vi-VN"/>
              <a:t>LỜI GIẢNG</a:t>
            </a:r>
          </a:p>
          <a:p>
            <a:r>
              <a:rPr lang="vi-VN"/>
              <a:t>Phần 4 có ba ý: viết công thức đúng cú pháp, sao chép công thức mà không bị sai, và khi có lỗi thì tìm ra nguyên nhân thay vì đoán.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5 phút.</a:t>
            </a:r>
          </a:p>
          <a:p>
            <a:r>
              <a:rPr lang="vi-VN"/>
              <a:t>LỜI GIẢNG</a:t>
            </a:r>
          </a:p>
          <a:p>
            <a:r>
              <a:rPr lang="vi-VN"/>
              <a:t>Mọi công thức trong Excel đều có cùng một khung. Luôn bắt đầu bằng </a:t>
            </a:r>
            <a:r>
              <a:rPr lang="vi-VN" b="1"/>
              <a:t>dấu bằng</a:t>
            </a:r>
            <a:r>
              <a:rPr lang="vi-VN"/>
              <a:t>. Tiếp theo là </a:t>
            </a:r>
            <a:r>
              <a:rPr lang="vi-VN" b="1"/>
              <a:t>tên hàm</a:t>
            </a:r>
            <a:r>
              <a:rPr lang="vi-VN"/>
              <a:t>; Excel có khoảng 500 hàm và gõ hoa hay thường đều được. Sau đó là </a:t>
            </a:r>
            <a:r>
              <a:rPr lang="vi-VN" b="1"/>
              <a:t>các đối số</a:t>
            </a:r>
            <a:r>
              <a:rPr lang="vi-VN"/>
              <a:t> trong ngoặc tròn. Đối số nào nằm trong </a:t>
            </a:r>
            <a:r>
              <a:rPr lang="vi-VN" b="1"/>
              <a:t>ngoặc vuông</a:t>
            </a:r>
            <a:r>
              <a:rPr lang="vi-VN"/>
              <a:t> là không bắt buộc.</a:t>
            </a:r>
          </a:p>
          <a:p>
            <a:r>
              <a:rPr lang="vi-VN"/>
              <a:t>Giờ đến một chi tiết mà người Việt hay vấp. (→ hỏi lớp) </a:t>
            </a:r>
            <a:r>
              <a:rPr lang="vi-VN" b="1"/>
              <a:t>Các bạn thử gõ =SUM(1,2) rồi Enter xem máy báo gì?</a:t>
            </a:r>
          </a:p>
          <a:p>
            <a:r>
              <a:rPr lang="vi-VN"/>
              <a:t>(→ chờ)</a:t>
            </a:r>
          </a:p>
          <a:p>
            <a:r>
              <a:rPr lang="vi-VN"/>
              <a:t>Máy một số bạn ra 3, máy một số bạn báo lỗi đúng không? Đó là vì máy cài định dạng vùng Việt Nam dùng </a:t>
            </a:r>
            <a:r>
              <a:rPr lang="vi-VN" b="1"/>
              <a:t>dấu chấm phẩy</a:t>
            </a:r>
            <a:r>
              <a:rPr lang="vi-VN"/>
              <a:t> để ngăn đối số, còn máy cài vùng Mỹ dùng </a:t>
            </a:r>
            <a:r>
              <a:rPr lang="vi-VN" b="1"/>
              <a:t>dấu phẩy</a:t>
            </a:r>
            <a:r>
              <a:rPr lang="vi-VN"/>
              <a:t>. Tài liệu tiếng Anh, kể cả slide khóa này, viết theo dấu phẩy. Nếu máy bạn dùng chấm phẩy thì khi chép công thức, bạn đổi dấu. Chỉ vậy thôi, không có gì sai cả.</a:t>
            </a:r>
          </a:p>
          <a:p>
            <a:r>
              <a:rPr lang="vi-VN"/>
              <a:t>Mẹo cuối: khi gõ tên hàm và mở ngoặc, Excel hiện một </a:t>
            </a:r>
            <a:r>
              <a:rPr lang="vi-VN" b="1"/>
              <a:t>dòng gợi ý</a:t>
            </a:r>
            <a:r>
              <a:rPr lang="vi-VN"/>
              <a:t> ngay bên dưới. Đối số đang in đậm là đối số bạn đang nhập. Hãy tập đọc dòng gợi ý này; nó là người hướng dẫn miễn phí tốt nhất.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9,5 phút.</a:t>
            </a:r>
          </a:p>
          <a:p>
            <a:r>
              <a:rPr lang="vi-VN"/>
              <a:t>LỜI GIẢNG</a:t>
            </a:r>
          </a:p>
          <a:p>
            <a:r>
              <a:rPr lang="vi-VN"/>
              <a:t>Đây là slide quan trọng nhất trước phần thực hành. Mình sẽ không giải thích lý thuyết trước; các bạn làm cùng mình trước đã.</a:t>
            </a:r>
          </a:p>
          <a:p>
            <a:r>
              <a:rPr lang="vi-VN"/>
              <a:t>(→ demo: mở Demo/B1_Demo_PctShare.xlsx, sheet Demo_PctShare (các bước ở sheet Huong_dan): 3 dòng doanh thu theo miền Bắc 323.978.000, Trung 189.813.000, Nam 427.663.000, ô tổng 941.454.000 ở B5)</a:t>
            </a:r>
          </a:p>
          <a:p>
            <a:r>
              <a:rPr lang="vi-VN"/>
              <a:t>Câu hỏi của Giám đốc: </a:t>
            </a:r>
            <a:r>
              <a:rPr lang="vi-VN" b="1"/>
              <a:t>"Mỗi miền đóng góp bao nhiêu phần trăm doanh thu?"</a:t>
            </a:r>
            <a:r>
              <a:rPr lang="vi-VN"/>
              <a:t> Dễ thôi: doanh thu miền chia cho tổng. Ở dòng Bắc, mình gõ bằng ô Bắc chia cho ô tổng, Enter: 34,4%. Giờ mình kéo công thức xuống cho Trung và Nam.</a:t>
            </a:r>
          </a:p>
          <a:p>
            <a:r>
              <a:rPr lang="vi-VN"/>
              <a:t>(→ cột C: gõ =B2/B5 ở C2, kéo xuống C4; Trung và Nam ra #DIV/0!)</a:t>
            </a:r>
          </a:p>
          <a:p>
            <a:r>
              <a:rPr lang="vi-VN"/>
              <a:t>Ơ, Trung ra lỗi chia cho 0. </a:t>
            </a:r>
            <a:r>
              <a:rPr lang="vi-VN" b="1"/>
              <a:t>Tại sao?</a:t>
            </a:r>
            <a:r>
              <a:rPr lang="vi-VN"/>
              <a:t> Các bạn bấm vào ô đó và nhấn F2.</a:t>
            </a:r>
          </a:p>
          <a:p>
            <a:r>
              <a:rPr lang="vi-VN"/>
              <a:t>(→ chờ lớp nhìn)</a:t>
            </a:r>
          </a:p>
          <a:p>
            <a:r>
              <a:rPr lang="vi-VN"/>
              <a:t>Thấy chưa: tử số đúng là ô Trung, nhưng mẫu số đã </a:t>
            </a:r>
            <a:r>
              <a:rPr lang="vi-VN" b="1"/>
              <a:t>trôi xuống</a:t>
            </a:r>
            <a:r>
              <a:rPr lang="vi-VN"/>
              <a:t> một ô, trỏ vào ô trống bên dưới ô tổng. Khi kéo công thức, Excel mặc định dịch </a:t>
            </a:r>
            <a:r>
              <a:rPr lang="vi-VN" b="1"/>
              <a:t>mọi</a:t>
            </a:r>
            <a:r>
              <a:rPr lang="vi-VN"/>
              <a:t> tham chiếu theo. Kiểu tham chiếu mặc định này gọi là </a:t>
            </a:r>
            <a:r>
              <a:rPr lang="vi-VN" b="1"/>
              <a:t>tương đối</a:t>
            </a:r>
            <a:r>
              <a:rPr lang="vi-VN"/>
              <a:t>. Với tử số thì dịch là đúng, vì mỗi dòng một miền. Nhưng mẫu số phải </a:t>
            </a:r>
            <a:r>
              <a:rPr lang="vi-VN" b="1"/>
              <a:t>đứng yên</a:t>
            </a:r>
            <a:r>
              <a:rPr lang="vi-VN"/>
              <a:t> ở ô tổng.</a:t>
            </a:r>
          </a:p>
          <a:p>
            <a:r>
              <a:rPr lang="vi-VN"/>
              <a:t>Cách sửa: quay lại công thức đầu tiên, đặt con trỏ vào ô tổng trong công thức và nhấn </a:t>
            </a:r>
            <a:r>
              <a:rPr lang="vi-VN" b="1"/>
              <a:t>F4</a:t>
            </a:r>
            <a:r>
              <a:rPr lang="vi-VN"/>
              <a:t>. Ô tổng giờ có đô-la ở cả cột và dòng, tức là </a:t>
            </a:r>
            <a:r>
              <a:rPr lang="vi-VN" b="1"/>
              <a:t>khóa cứng</a:t>
            </a:r>
            <a:r>
              <a:rPr lang="vi-VN"/>
              <a:t>. Kéo lại xuống: Bắc 34,4%, Trung 20,2%, Nam 45,4%, cộng lại 100%.</a:t>
            </a:r>
          </a:p>
          <a:p>
            <a:r>
              <a:rPr lang="vi-VN"/>
              <a:t>Bốn kiểu trên slide chỉ là bốn cách khóa: </a:t>
            </a:r>
            <a:r>
              <a:rPr lang="vi-VN" b="1"/>
              <a:t>không khóa gì</a:t>
            </a:r>
            <a:r>
              <a:rPr lang="vi-VN"/>
              <a:t>, </a:t>
            </a:r>
            <a:r>
              <a:rPr lang="vi-VN" b="1"/>
              <a:t>khóa dòng</a:t>
            </a:r>
            <a:r>
              <a:rPr lang="vi-VN"/>
              <a:t>, </a:t>
            </a:r>
            <a:r>
              <a:rPr lang="vi-VN" b="1"/>
              <a:t>khóa cột</a:t>
            </a:r>
            <a:r>
              <a:rPr lang="vi-VN"/>
              <a:t>, </a:t>
            </a:r>
            <a:r>
              <a:rPr lang="vi-VN" b="1"/>
              <a:t>khóa cả hai</a:t>
            </a:r>
            <a:r>
              <a:rPr lang="vi-VN"/>
              <a:t>. Dấu đô-la đứng trước phần nào thì phần đó bị khóa.</a:t>
            </a:r>
          </a:p>
          <a:p>
            <a:r>
              <a:rPr lang="vi-VN"/>
              <a:t>Vì sao đây là "mẹo số 1"? Buổi sau các bạn sẽ viết SUMIFS và XLOOKUP: gần như mọi công thức đều có một vùng cần khóa. </a:t>
            </a:r>
            <a:r>
              <a:rPr lang="vi-VN" b="1"/>
              <a:t>Không vững dấu đô-la hôm nay thì Buổi 2 sẽ rất vất vả.</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4 phút.</a:t>
            </a:r>
          </a:p>
          <a:p>
            <a:r>
              <a:rPr lang="vi-VN"/>
              <a:t>LỜI GIẢNG</a:t>
            </a:r>
          </a:p>
          <a:p>
            <a:r>
              <a:rPr lang="vi-VN"/>
              <a:t>Sáu lỗi này các bạn sẽ gặp suốt khóa học. Mình đi nhanh.</a:t>
            </a:r>
          </a:p>
          <a:p>
            <a:r>
              <a:rPr lang="vi-VN" b="1"/>
              <a:t>Dấu thăng liên tiếp</a:t>
            </a:r>
            <a:r>
              <a:rPr lang="vi-VN"/>
              <a:t> không phải lỗi thật; cột quá hẹp thôi, double-click vào mép cột là xong. </a:t>
            </a:r>
            <a:r>
              <a:rPr lang="vi-VN" b="1"/>
              <a:t>#NAME?</a:t>
            </a:r>
            <a:r>
              <a:rPr lang="vi-VN"/>
              <a:t> nghĩa là Excel không hiểu bạn viết gì, thường là gõ sai tên hàm. </a:t>
            </a:r>
            <a:r>
              <a:rPr lang="vi-VN" b="1"/>
              <a:t>#VALUE!</a:t>
            </a:r>
            <a:r>
              <a:rPr lang="vi-VN"/>
              <a:t> là sai kiểu dữ liệu, ví dụ đem một ô chữ nhân với số. Lỗi này hay gặp khi </a:t>
            </a:r>
            <a:r>
              <a:rPr lang="vi-VN" b="1"/>
              <a:t>số bị lưu dạng chữ</a:t>
            </a:r>
            <a:r>
              <a:rPr lang="vi-VN"/>
              <a:t>; file Dirty có 15 ô như vậy, lát nữa các bạn sẽ gặp. </a:t>
            </a:r>
            <a:r>
              <a:rPr lang="vi-VN" b="1"/>
              <a:t>#DIV/0!</a:t>
            </a:r>
            <a:r>
              <a:rPr lang="vi-VN"/>
              <a:t> chính là lỗi vừa rồi. </a:t>
            </a:r>
            <a:r>
              <a:rPr lang="vi-VN" b="1"/>
              <a:t>#REF!</a:t>
            </a:r>
            <a:r>
              <a:rPr lang="vi-VN"/>
              <a:t> xuất hiện khi bạn xóa một ô đang được công thức khác dùng. </a:t>
            </a:r>
            <a:r>
              <a:rPr lang="vi-VN" b="1"/>
              <a:t>#N/A</a:t>
            </a:r>
            <a:r>
              <a:rPr lang="vi-VN"/>
              <a:t> là "không tìm thấy", các bạn sẽ gặp nó rất nhiều khi học XLOOKUP ở buổi sau.</a:t>
            </a:r>
          </a:p>
          <a:p>
            <a:r>
              <a:rPr lang="vi-VN"/>
              <a:t>Mình muốn các bạn đổi cách nhìn: </a:t>
            </a:r>
            <a:r>
              <a:rPr lang="vi-VN" b="1"/>
              <a:t>lỗi không phải kẻ thù, lỗi là tín hiệu.</a:t>
            </a:r>
            <a:r>
              <a:rPr lang="vi-VN"/>
              <a:t> Một ô báo lỗi đang cố nói với bạn rằng dữ liệu hoặc logic có vấn đề. Điều đáng sợ hơn nhiều là những con số </a:t>
            </a:r>
            <a:r>
              <a:rPr lang="vi-VN" b="1"/>
              <a:t>sai mà không báo lỗi</a:t>
            </a:r>
            <a:r>
              <a:rPr lang="vi-VN"/>
              <a:t>, và phần còn lại của khóa học sẽ dạy các bạn bắt chúng.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2,5 phút.</a:t>
            </a:r>
          </a:p>
          <a:p>
            <a:r>
              <a:rPr lang="vi-VN"/>
              <a:t>LỜI GIẢNG</a:t>
            </a:r>
          </a:p>
          <a:p>
            <a:r>
              <a:rPr lang="vi-VN"/>
              <a:t>(→ demo trên Demo/B1_Demo_PctShare.xlsx, sheet Demo_PctShare: D2 → Trace Precedents; B5 → Trace Dependents) Khi một file có hàng trăm công thức, làm sao biết ô nào phụ thuộc vào ô nào? Vào tab </a:t>
            </a:r>
            <a:r>
              <a:rPr lang="vi-VN" b="1"/>
              <a:t>Formulas</a:t>
            </a:r>
            <a:r>
              <a:rPr lang="vi-VN"/>
              <a:t>, nhóm </a:t>
            </a:r>
            <a:r>
              <a:rPr lang="vi-VN" b="1"/>
              <a:t>Formula Auditing</a:t>
            </a:r>
            <a:r>
              <a:rPr lang="vi-VN"/>
              <a:t>.</a:t>
            </a:r>
          </a:p>
          <a:p>
            <a:r>
              <a:rPr lang="vi-VN"/>
              <a:t>Chọn ô % của miền Bắc, bấm </a:t>
            </a:r>
            <a:r>
              <a:rPr lang="vi-VN" b="1"/>
              <a:t>Trace Precedents</a:t>
            </a:r>
            <a:r>
              <a:rPr lang="vi-VN"/>
              <a:t>: mũi tên xanh chỉ từ các ô "nuôi" nó, là ô doanh thu Bắc và ô tổng. Ngược lại, chọn ô tổng rồi bấm </a:t>
            </a:r>
            <a:r>
              <a:rPr lang="vi-VN" b="1"/>
              <a:t>Trace Dependents</a:t>
            </a:r>
            <a:r>
              <a:rPr lang="vi-VN"/>
              <a:t>: mũi tên chỉ tới mọi ô phần trăm đang dùng ô tổng, tức là nếu ô tổng sai thì tất cả các ô này sai theo.</a:t>
            </a:r>
          </a:p>
          <a:p>
            <a:r>
              <a:rPr lang="vi-VN" b="1"/>
              <a:t>Show Formulas</a:t>
            </a:r>
            <a:r>
              <a:rPr lang="vi-VN"/>
              <a:t>, hay Ctrl + phím huyền, cho hiện toàn bộ công thức thay vì kết quả. Rất tiện khi nhận một file lạ và muốn biết ô nào là số gõ tay, ô nào là công thức.</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2,5 phút (lớp đã biết Excel: 12 phút cho slide 21–22; demo Evaluate Formula trên =IFERROR(B2/$B$5,0); cả lớp tự đặt 2–3 ô vào Watch Window).</a:t>
            </a:r>
          </a:p>
          <a:p>
            <a:r>
              <a:rPr lang="vi-VN"/>
              <a:t>LỜI GIẢNG</a:t>
            </a:r>
          </a:p>
          <a:p>
            <a:r>
              <a:rPr lang="vi-VN"/>
              <a:t>(→ demo trên Demo/B1_Demo_PctShare.xlsx, sheet Demo_PctShare: Evaluate Formula ở ô E2; Watch Window thêm ô B5) Ba công cụ nữa. </a:t>
            </a:r>
            <a:r>
              <a:rPr lang="vi-VN" b="1"/>
              <a:t>Evaluate Formula</a:t>
            </a:r>
            <a:r>
              <a:rPr lang="vi-VN"/>
              <a:t> cho bạn chạy công thức từng bước một, giống xem phim quay chậm. Với công thức dài lồng nhiều hàm, đây là cách nhanh nhất để biết nó hỏng ở đâu.</a:t>
            </a:r>
          </a:p>
          <a:p>
            <a:r>
              <a:rPr lang="vi-VN" b="1"/>
              <a:t>Error Checking</a:t>
            </a:r>
            <a:r>
              <a:rPr lang="vi-VN"/>
              <a:t> quét cả sheet và dẫn bạn tới từng ô lỗi. Lát nữa các bạn dùng nó để tìm những ô số bị lưu dạng chữ.</a:t>
            </a:r>
          </a:p>
          <a:p>
            <a:r>
              <a:rPr lang="vi-VN"/>
              <a:t>Còn </a:t>
            </a:r>
            <a:r>
              <a:rPr lang="vi-VN" b="1"/>
              <a:t>Watch Window</a:t>
            </a:r>
            <a:r>
              <a:rPr lang="vi-VN"/>
              <a:t>, mình rất thích dùng khi làm BI. Bạn đặt ô </a:t>
            </a:r>
            <a:r>
              <a:rPr lang="vi-VN" b="1"/>
              <a:t>Tổng doanh thu</a:t>
            </a:r>
            <a:r>
              <a:rPr lang="vi-VN"/>
              <a:t> vào cửa sổ này. Sau đó dù bạn đang sửa dữ liệu ở đâu, cửa sổ vẫn hiện con số tổng. Xóa nhầm một dòng là thấy tổng nhảy ngay. Hôm nay các bạn sẽ đặt ô tổng 941.454.000 vào Watch Window trong lúc thực hành.</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1 phút.</a:t>
            </a:r>
          </a:p>
          <a:p>
            <a:r>
              <a:rPr lang="vi-VN"/>
              <a:t>LỜI GIẢNG</a:t>
            </a:r>
          </a:p>
          <a:p>
            <a:r>
              <a:rPr lang="vi-VN"/>
              <a:t>Chốt lại Phần 4 bằng ba câu: </a:t>
            </a:r>
            <a:r>
              <a:rPr lang="vi-VN" b="1"/>
              <a:t>Dấu đô-la</a:t>
            </a:r>
            <a:r>
              <a:rPr lang="vi-VN"/>
              <a:t> quyết định công thức có sao chép được hay không. </a:t>
            </a:r>
            <a:r>
              <a:rPr lang="vi-VN" b="1"/>
              <a:t>Lỗi là tín hiệu</a:t>
            </a:r>
            <a:r>
              <a:rPr lang="vi-VN"/>
              <a:t>, đừng vội giấu nó đi. Và khi có vấn đề, </a:t>
            </a:r>
            <a:r>
              <a:rPr lang="vi-VN" b="1"/>
              <a:t>dùng Auditing để tìm nguyên nhân</a:t>
            </a:r>
            <a:r>
              <a:rPr lang="vi-VN"/>
              <a:t> thay vì ngồi đoán.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0,5 phút.</a:t>
            </a:r>
          </a:p>
          <a:p>
            <a:r>
              <a:rPr lang="vi-VN"/>
              <a:t>LỜI GIẢNG</a:t>
            </a:r>
          </a:p>
          <a:p>
            <a:r>
              <a:rPr lang="vi-VN"/>
              <a:t>Giờ mình quay lại câu hỏi đầu buổi: làm sao biết file này dùng được?</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4,5 phút (lớp đã biết Excel: slide 25–26 kéo dài 17,5 phút; lớp tự liệt kê hết lỗi tidy của file Dirty theo nhóm 2 người trước khi giảng viên chữa).</a:t>
            </a:r>
          </a:p>
          <a:p>
            <a:r>
              <a:rPr lang="vi-VN"/>
              <a:t>LỜI GIẢNG</a:t>
            </a:r>
          </a:p>
          <a:p>
            <a:r>
              <a:rPr lang="vi-VN"/>
              <a:t>Người làm dữ liệu gọi dữ liệu "sạch về cấu trúc" là </a:t>
            </a:r>
            <a:r>
              <a:rPr lang="vi-VN" b="1"/>
              <a:t>tidy data</a:t>
            </a:r>
            <a:r>
              <a:rPr lang="vi-VN"/>
              <a:t>. Quy tắc gói gọn trong một câu: </a:t>
            </a:r>
            <a:r>
              <a:rPr lang="vi-VN" b="1"/>
              <a:t>mỗi dòng là một bản ghi, mỗi cột là một trường thông tin.</a:t>
            </a:r>
            <a:r>
              <a:rPr lang="vi-VN"/>
              <a:t> Với file bán hàng, một dòng là một sản phẩm trong một đơn hàng.</a:t>
            </a:r>
          </a:p>
          <a:p>
            <a:r>
              <a:rPr lang="vi-VN"/>
              <a:t>Giờ đối chiếu với những gì các bạn ghi trên bảng lúc đầu buổi. (→ đọc lại các ý trên bảng, tick từng ý) Các bạn đã thấy ô gộp ở cột Vùng, tiêu đề hai tầng, màu nền, đúng hết.</a:t>
            </a:r>
          </a:p>
          <a:p>
            <a:r>
              <a:rPr lang="vi-VN"/>
              <a:t>Nhưng có một lỗi nguy hiểm nhất mà ít người để ý. (→ mở Practice/B1_MCI_Mart_Q1_2025_Dirty.xlsx, cuộn tới dòng "Tổng Miền Bắc", dòng 2120) </a:t>
            </a:r>
            <a:r>
              <a:rPr lang="vi-VN" b="1"/>
              <a:t>Dòng này.</a:t>
            </a:r>
            <a:r>
              <a:rPr lang="vi-VN"/>
              <a:t> File có 3 dòng tổng miền và 1 dòng tổng cộng nằm ngay trong dữ liệu. Nếu các bạn cộng cả cột Quantity, </a:t>
            </a:r>
            <a:r>
              <a:rPr lang="vi-VN" b="1"/>
              <a:t>mỗi sản phẩm bị đếm tới ba lần</a:t>
            </a:r>
            <a:r>
              <a:rPr lang="vi-VN"/>
              <a:t>: một lần ở dòng chi tiết, một lần ở dòng tổng miền, một lần ở dòng tổng cộng. Tổng số lượng thật là 10.990, nhưng SUM cả cột sẽ ra </a:t>
            </a:r>
            <a:r>
              <a:rPr lang="vi-VN" b="1"/>
              <a:t>32.931</a:t>
            </a:r>
            <a:r>
              <a:rPr lang="vi-VN"/>
              <a:t>. Và Excel </a:t>
            </a:r>
            <a:r>
              <a:rPr lang="vi-VN" b="1"/>
              <a:t>không báo lỗi gì cả</a:t>
            </a:r>
            <a:r>
              <a:rPr lang="vi-VN"/>
              <a:t>; nó chỉ lặng lẽ cho bạn một con số sai gần gấp ba.</a:t>
            </a:r>
          </a:p>
          <a:p>
            <a:r>
              <a:rPr lang="vi-VN"/>
              <a:t>Vì sao file lại có dạng này? Vì nó được thiết kế để </a:t>
            </a:r>
            <a:r>
              <a:rPr lang="vi-VN" b="1"/>
              <a:t>người đọc</a:t>
            </a:r>
            <a:r>
              <a:rPr lang="vi-VN"/>
              <a:t>, không phải để </a:t>
            </a:r>
            <a:r>
              <a:rPr lang="vi-VN" b="1"/>
              <a:t>máy tính</a:t>
            </a:r>
            <a:r>
              <a:rPr lang="vi-VN"/>
              <a:t>. Đẹp để in ra, nhưng không dùng để phân tích được. Việc đầu tiên của người làm BI luôn là chuyển file "để đọc" thành file "để tính".</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5 phút (lớp đã biết Excel: demo Table tự mở rộng bằng cách dán thêm dữ liệu).</a:t>
            </a:r>
          </a:p>
          <a:p>
            <a:r>
              <a:rPr lang="vi-VN"/>
              <a:t>LỜI GIẢNG</a:t>
            </a:r>
          </a:p>
          <a:p>
            <a:r>
              <a:rPr lang="vi-VN"/>
              <a:t>(→ demo: mở Demo/B1_Demo_Table_Validation.xlsx, sheet Sales; các bước ở sheet Huong_dan) Khi dữ liệu đã tidy, việc tiếp theo là biến nó thành </a:t>
            </a:r>
            <a:r>
              <a:rPr lang="vi-VN" b="1"/>
              <a:t>Excel Table</a:t>
            </a:r>
            <a:r>
              <a:rPr lang="vi-VN"/>
              <a:t>. Đứng trong vùng dữ liệu, nhấn </a:t>
            </a:r>
            <a:r>
              <a:rPr lang="vi-VN" b="1"/>
              <a:t>Ctrl + T</a:t>
            </a:r>
            <a:r>
              <a:rPr lang="vi-VN"/>
              <a:t>, tick "My table has headers", OK. Sau đó vào tab </a:t>
            </a:r>
            <a:r>
              <a:rPr lang="vi-VN" b="1"/>
              <a:t>Table Design</a:t>
            </a:r>
            <a:r>
              <a:rPr lang="vi-VN"/>
              <a:t> và đặt tên bảng. Chúng ta đặt là </a:t>
            </a:r>
            <a:r>
              <a:rPr lang="vi-VN" b="1"/>
              <a:t>tblSales</a:t>
            </a:r>
            <a:r>
              <a:rPr lang="vi-VN"/>
              <a:t>: "tbl" để biết đây là bảng, "Sales" để biết nội dung.</a:t>
            </a:r>
          </a:p>
          <a:p>
            <a:r>
              <a:rPr lang="vi-VN"/>
              <a:t>Table có hai điểm lợi lớn. Thứ nhất, công thức đọc được bằng tên cột. Thay vì =I2*J2, bạn viết =[@Quantity]*[@Unit_Price], đọc là "số lượng của dòng này nhân đơn giá của dòng này". Gõ ở một ô, Excel tự điền cả 6.187 dòng.</a:t>
            </a:r>
          </a:p>
          <a:p>
            <a:r>
              <a:rPr lang="vi-VN"/>
              <a:t>Thứ hai, và đây là điều quan trọng nhất: </a:t>
            </a:r>
            <a:r>
              <a:rPr lang="vi-VN" b="1"/>
              <a:t>Table tự mở rộng.</a:t>
            </a:r>
            <a:r>
              <a:rPr lang="vi-VN"/>
              <a:t> (→ demo: copy 5 dòng ở sheet Them_dong, dán ngay dưới bảng trong sheet Sales) Thấy chưa, dòng mới tự thuộc về bảng, cột Revenue tự tính. Đến Buổi 3, Pivot dựng trên Table sẽ tự nhận dữ liệu mới; đến Buổi 4, Power Query cũng vậy.</a:t>
            </a:r>
          </a:p>
          <a:p>
            <a:r>
              <a:rPr lang="vi-VN"/>
              <a:t>Đây là bước đầu tiên của thứ mình gọi là </a:t>
            </a:r>
            <a:r>
              <a:rPr lang="vi-VN" b="1"/>
              <a:t>tư duy tự động hóa</a:t>
            </a:r>
            <a:r>
              <a:rPr lang="vi-VN"/>
              <a:t>: làm một lần, dùng mãi.</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6 phút. Ảnh tham khảo PDF p15.</a:t>
            </a:r>
          </a:p>
          <a:p>
            <a:r>
              <a:rPr lang="vi-VN"/>
              <a:t>LỜI GIẢNG</a:t>
            </a:r>
          </a:p>
          <a:p>
            <a:r>
              <a:rPr lang="vi-VN"/>
              <a:t>Dọn dữ liệu bẩn tốn thời gian. Cách rẻ nhất là </a:t>
            </a:r>
            <a:r>
              <a:rPr lang="vi-VN" b="1"/>
              <a:t>đừng để dữ liệu bẩn lọt vào ngay từ đầu.</a:t>
            </a:r>
            <a:r>
              <a:rPr lang="vi-VN"/>
              <a:t> Đó là việc của </a:t>
            </a:r>
            <a:r>
              <a:rPr lang="vi-VN" b="1"/>
              <a:t>Data Validation</a:t>
            </a:r>
            <a:r>
              <a:rPr lang="vi-VN"/>
              <a:t>.</a:t>
            </a:r>
          </a:p>
          <a:p>
            <a:r>
              <a:rPr lang="vi-VN"/>
              <a:t>(→ demo tiếp trên Demo/B1_Demo_Table_Validation.xlsx, sheet Sales) Ví dụ cột Store_Code: MCI Mart chỉ có 12 cửa hàng, từ ST01 đến ST12. Mình chọn cả cột, vào </a:t>
            </a:r>
            <a:r>
              <a:rPr lang="vi-VN" b="1"/>
              <a:t>Data → Data Validation</a:t>
            </a:r>
            <a:r>
              <a:rPr lang="vi-VN"/>
              <a:t>, phần Allow chọn </a:t>
            </a:r>
            <a:r>
              <a:rPr lang="vi-VN" b="1"/>
              <a:t>List</a:t>
            </a:r>
            <a:r>
              <a:rPr lang="vi-VN"/>
              <a:t>, phần Source trỏ tới danh sách 12 mã trong sheet Store. Từ giờ ô đó có một mũi tên xổ xuống, và gõ sai mã là Excel chặn lại.</a:t>
            </a:r>
          </a:p>
          <a:p>
            <a:r>
              <a:rPr lang="vi-VN"/>
              <a:t>Với Quantity, mình chọn </a:t>
            </a:r>
            <a:r>
              <a:rPr lang="vi-VN" b="1"/>
              <a:t>Whole number</a:t>
            </a:r>
            <a:r>
              <a:rPr lang="vi-VN"/>
              <a:t>, </a:t>
            </a:r>
            <a:r>
              <a:rPr lang="vi-VN" b="1"/>
              <a:t>greater than 0</a:t>
            </a:r>
            <a:r>
              <a:rPr lang="vi-VN"/>
              <a:t>: chỉ nhận số nguyên dương.</a:t>
            </a:r>
          </a:p>
          <a:p>
            <a:r>
              <a:rPr lang="vi-VN"/>
              <a:t>Mẹo nhỏ: sang tab </a:t>
            </a:r>
            <a:r>
              <a:rPr lang="vi-VN" b="1"/>
              <a:t>Error Alert</a:t>
            </a:r>
            <a:r>
              <a:rPr lang="vi-VN"/>
              <a:t> và tự viết thông báo, ví dụ "Chỉ nhập mã có trong danh sách cửa hàng ST01–ST12". Người nhập liệu đọc là hiểu phải sửa gì, thay vì một thông báo tiếng Anh khó hiểu.</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4 phút.</a:t>
            </a:r>
          </a:p>
          <a:p>
            <a:r>
              <a:rPr lang="vi-VN"/>
              <a:t>LỜI GIẢNG</a:t>
            </a:r>
          </a:p>
          <a:p>
            <a:r>
              <a:rPr lang="vi-VN"/>
              <a:t>Có một điều ít người biết: Data Validation </a:t>
            </a:r>
            <a:r>
              <a:rPr lang="vi-VN" b="1"/>
              <a:t>chỉ chặn dữ liệu nhập mới.</a:t>
            </a:r>
            <a:r>
              <a:rPr lang="vi-VN"/>
              <a:t> Những ô đã sai từ trước vẫn nằm im đó. Vậy làm sao tìm chúng?</a:t>
            </a:r>
          </a:p>
          <a:p>
            <a:r>
              <a:rPr lang="vi-VN"/>
              <a:t>Bấm vào mũi tên nhỏ cạnh nút Data Validation và chọn </a:t>
            </a:r>
            <a:r>
              <a:rPr lang="vi-VN" b="1"/>
              <a:t>Circle Invalid Data</a:t>
            </a:r>
            <a:r>
              <a:rPr lang="vi-VN"/>
              <a:t>. (→ demo trên Demo/B1_Demo_Table_Validation.xlsx, sheet Sales, sau khi đã đặt Validation ở slide 27) Excel khoanh đỏ mọi ô vi phạm quy tắc. Trong file của chúng ta có </a:t>
            </a:r>
            <a:r>
              <a:rPr lang="vi-VN" b="1"/>
              <a:t>5 ô</a:t>
            </a:r>
            <a:r>
              <a:rPr lang="vi-VN"/>
              <a:t>: ba ô ghi mã cửa hàng là "ST3" thay vì "ST03", và hai ô số lượng bị âm.</a:t>
            </a:r>
          </a:p>
          <a:p>
            <a:r>
              <a:rPr lang="vi-VN" b="1"/>
              <a:t>Theo các bạn, "ST3" nên sửa thành gì?</a:t>
            </a:r>
            <a:r>
              <a:rPr lang="vi-VN"/>
              <a:t> Đúng, ST03. Cả ba dòng đều thuộc Miền Bắc, và ST03 là Hải Phòng, cũng ở Miền Bắc. Còn số lượng âm thì nhiều khả năng là lỗi gõ dấu, nên sửa thành số dương.</a:t>
            </a:r>
          </a:p>
          <a:p>
            <a:r>
              <a:rPr lang="vi-VN"/>
              <a:t>Các bạn thấy không: mình vừa làm một bài </a:t>
            </a:r>
            <a:r>
              <a:rPr lang="vi-VN" b="1"/>
              <a:t>đối soát</a:t>
            </a:r>
            <a:r>
              <a:rPr lang="vi-VN"/>
              <a:t> nhỏ: đặt quy tắc, rồi để Excel chỉ ra chỗ vi phạm. Đây là tinh thần của người làm BI: </a:t>
            </a:r>
            <a:r>
              <a:rPr lang="vi-VN" b="1"/>
              <a:t>không tin số liệu cho đến khi đã kiểm tra.</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20 phút.</a:t>
            </a:r>
          </a:p>
          <a:p>
            <a:r>
              <a:rPr lang="vi-VN"/>
              <a:t>LỜI GIẢNG (giao bài)</a:t>
            </a:r>
          </a:p>
          <a:p>
            <a:r>
              <a:rPr lang="vi-VN"/>
              <a:t>Giờ đến lượt các bạn. Mở file Dirty và làm theo 5 bước trên slide, thời gian 20 phút.</a:t>
            </a:r>
          </a:p>
          <a:p>
            <a:r>
              <a:rPr lang="vi-VN"/>
              <a:t>Mình gợi ý hai chỗ khó. </a:t>
            </a:r>
            <a:r>
              <a:rPr lang="vi-VN" b="1"/>
              <a:t>Bước 2</a:t>
            </a:r>
            <a:r>
              <a:rPr lang="vi-VN"/>
              <a:t>, điền lại cột Region sau khi bỏ gộp ô: bỏ gộp xong chỉ ô đầu mỗi khối có giá trị, còn lại trống. Các bạn chọn cả cột, nhấn </a:t>
            </a:r>
            <a:r>
              <a:rPr lang="vi-VN" b="1"/>
              <a:t>Ctrl + G → Special → Blanks</a:t>
            </a:r>
            <a:r>
              <a:rPr lang="vi-VN"/>
              <a:t>, gõ dấu bằng rồi trỏ vào ô ngay trên, sau đó nhấn </a:t>
            </a:r>
            <a:r>
              <a:rPr lang="vi-VN" b="1"/>
              <a:t>Ctrl + Enter</a:t>
            </a:r>
            <a:r>
              <a:rPr lang="vi-VN"/>
              <a:t>. Cuối cùng copy và dán giá trị (Alt H V V) để bỏ công thức. Nhớ đổi "Miền Bắc" thành "Bắc" cho gọn.</a:t>
            </a:r>
          </a:p>
          <a:p>
            <a:r>
              <a:rPr lang="vi-VN" b="1"/>
              <a:t>Bước 4</a:t>
            </a:r>
            <a:r>
              <a:rPr lang="vi-VN"/>
              <a:t>, số dạng text: ô có tam giác xanh ở góc là dấu hiệu. Dùng </a:t>
            </a:r>
            <a:r>
              <a:rPr lang="vi-VN" b="1"/>
              <a:t>Error Checking → Convert to Number</a:t>
            </a:r>
            <a:r>
              <a:rPr lang="vi-VN"/>
              <a:t>. Với ngày dạng text, dùng </a:t>
            </a:r>
            <a:r>
              <a:rPr lang="vi-VN" b="1"/>
              <a:t>Text to Columns</a:t>
            </a:r>
            <a:r>
              <a:rPr lang="vi-VN"/>
              <a:t> với định dạng </a:t>
            </a:r>
            <a:r>
              <a:rPr lang="vi-VN" b="1"/>
              <a:t>DMY</a:t>
            </a:r>
            <a:r>
              <a:rPr lang="vi-VN"/>
              <a:t>, hoặc hàm DATEVALUE.</a:t>
            </a:r>
          </a:p>
          <a:p>
            <a:r>
              <a:rPr lang="vi-VN"/>
              <a:t>Làm xong, các bạn tự kiểm tra: đứng ở dòng đầu, nhấn Ctrl + ↓. Nếu con trỏ chạy một mạch xuống dòng cuối là đạt. Bấm ô Order_ID đầu tiên, nhấn Ctrl + Shift + ↓ để chọn cả cột dữ liệu, không lấy ô tiêu đề, rồi nhìn Status Bar: </a:t>
            </a:r>
            <a:r>
              <a:rPr lang="vi-VN" b="1"/>
              <a:t>Count phải là 6.187. Nếu bấm chữ cái trên đầu cột thì Excel đếm cả ô tiêu đề và ra 6.188.</a:t>
            </a:r>
          </a:p>
          <a:p>
            <a:r>
              <a:rPr lang="vi-VN"/>
              <a:t>GHI CHÚ GIẢNG VIÊN</a:t>
            </a:r>
          </a:p>
          <a:p>
            <a:r>
              <a:rPr lang="vi-VN"/>
              <a:t>Đi vòng lớp. Ba lỗi hay gặp nhất: quên dòng "TỔNG CỘNG" ở cuối file (Count ra 6.188 khi đã chọn đúng vùng không gồm tiêu đề; nếu học viên chọn cả cột thì 6.188 là bình thường, hỏi lại cách chọn trước); quên dòng trống giữa khối Miền Trung; để lại chữ "Miền" trong Region. Ai làm xong sớm: cho làm trước Thực hành 2.</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10 phút.</a:t>
            </a:r>
          </a:p>
          <a:p>
            <a:r>
              <a:rPr lang="vi-VN"/>
              <a:t>LỜI GIẢNG (giao bài)</a:t>
            </a:r>
          </a:p>
          <a:p>
            <a:r>
              <a:rPr lang="vi-VN"/>
              <a:t>Bài 2 dùng mọi thứ vừa học: Table, dấu đô-la, Validation, Watch Window. Thời gian 10 phút.</a:t>
            </a:r>
          </a:p>
          <a:p>
            <a:r>
              <a:rPr lang="vi-VN"/>
              <a:t>Đáp án để các bạn tự kiểm: tổng doanh thu Quý 1 phải đúng </a:t>
            </a:r>
            <a:r>
              <a:rPr lang="vi-VN" b="1"/>
              <a:t>941 triệu 454 nghìn đồng</a:t>
            </a:r>
            <a:r>
              <a:rPr lang="vi-VN"/>
              <a:t>. Tổng số lượng phải là </a:t>
            </a:r>
            <a:r>
              <a:rPr lang="vi-VN" b="1"/>
              <a:t>10.990</a:t>
            </a:r>
            <a:r>
              <a:rPr lang="vi-VN"/>
              <a:t>. Nếu bạn ra một con số lớn hơn nhiều, ví dụ hơn 20 nghìn, thì mình biết ngay bạn còn sót dòng tổng. Nếu doanh thu thấp hơn đáp án khoảng 140 nghìn, nhiều khả năng bạn còn ô số lượng âm chưa sửa.</a:t>
            </a:r>
          </a:p>
          <a:p>
            <a:r>
              <a:rPr lang="vi-VN"/>
              <a:t>Đây chính là giá trị của việc biết đáp án trước: </a:t>
            </a:r>
            <a:r>
              <a:rPr lang="vi-VN" b="1"/>
              <a:t>con số lệch sẽ chỉ cho bạn loại lỗi.</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5 phút.</a:t>
            </a:r>
          </a:p>
          <a:p>
            <a:r>
              <a:rPr lang="vi-VN"/>
              <a:t>LỜI GIẢNG</a:t>
            </a:r>
          </a:p>
          <a:p>
            <a:r>
              <a:rPr lang="vi-VN"/>
              <a:t>Các bạn tự tick checklist này. (→ mở Practice/B1_MCI_Mart_Q1_2025_Answer.xlsx, sheet Kiem_tra) Đây là file đáp án. Sheet Kiem_tra có 8 dòng đối soát, mỗi dòng so kết quả công thức với đáp án và hiện dấu tick xanh khi khớp. Các bạn sẽ được nhận file này làm </a:t>
            </a:r>
            <a:r>
              <a:rPr lang="vi-VN" b="1"/>
              <a:t>file khởi đầu Buổi 2</a:t>
            </a:r>
            <a:r>
              <a:rPr lang="vi-VN"/>
              <a:t>.</a:t>
            </a:r>
          </a:p>
          <a:p>
            <a:r>
              <a:rPr lang="vi-VN"/>
              <a:t>(→ hỏi lớp) </a:t>
            </a:r>
            <a:r>
              <a:rPr lang="vi-VN" b="1"/>
              <a:t>Bạn nào tick đủ 5 ô?</a:t>
            </a:r>
            <a:r>
              <a:rPr lang="vi-VN"/>
              <a:t> Tuyệt vời. Bạn nào còn thiếu cũng không sao; buổi sau các bạn bắt đầu từ file đáp án. Nhưng hãy mở file đáp án ra so với file của mình để biết mình sót gì. Đó là cách học nhanh nhất.</a:t>
            </a:r>
          </a:p>
          <a:p>
            <a:r>
              <a:rPr lang="vi-VN"/>
              <a:t>GHI CHÚ GIẢNG VIÊN (kiểm tra cuối buổi, theo Course Plan)</a:t>
            </a:r>
          </a:p>
          <a:p>
            <a:r>
              <a:rPr lang="vi-VN"/>
              <a:t>File của học viên đã là Table, không ô gộp, không dòng tổng, có Data Validation.</a:t>
            </a:r>
          </a:p>
          <a:p>
            <a:r>
              <a:rPr lang="vi-VN"/>
              <a:t>Năng lực </a:t>
            </a:r>
            <a:r>
              <a:rPr lang="vi-VN" b="1"/>
              <a:t>D2</a:t>
            </a:r>
            <a:r>
              <a:rPr lang="vi-VN"/>
              <a:t> (hoài nghi và đối soát) mong đợi ở mức </a:t>
            </a:r>
            <a:r>
              <a:rPr lang="vi-VN" b="1"/>
              <a:t>Developing</a:t>
            </a:r>
            <a:r>
              <a:rPr lang="vi-VN"/>
              <a:t>: học viên phát hiện được lỗi dữ liệu khi được nhắc.</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khoảng 0,2 phút. Quiz kiểu hỏi nhanh: khoảng 40 giây mỗi câu, cả lớp giơ tay A/B/C/D hoặc dùng Kahoot/Mentimeter.</a:t>
            </a:r>
          </a:p>
          <a:p>
            <a:r>
              <a:rPr lang="vi-VN"/>
              <a:t>LỜI GIẢNG</a:t>
            </a:r>
          </a:p>
          <a:p>
            <a:r>
              <a:rPr lang="vi-VN"/>
              <a:t>Trước khi về, 7 câu hỏi nhanh. Câu 6 và 7 là tình huống thực tế, không có trong slide; các bạn phải suy luận.</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Khoảng 40 giây. Đáp án: B.</a:t>
            </a:r>
          </a:p>
          <a:p>
            <a:r>
              <a:rPr lang="vi-VN"/>
              <a:t>LỜI GIẢNG</a:t>
            </a:r>
          </a:p>
          <a:p>
            <a:r>
              <a:rPr lang="vi-VN"/>
              <a:t>Đáp án B, dấu đô-la. Dễ đúng không?</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Khoảng 40 giây. Đáp án: C.</a:t>
            </a:r>
          </a:p>
          <a:p>
            <a:r>
              <a:rPr lang="vi-VN"/>
              <a:t>LỜI GIẢNG</a:t>
            </a:r>
          </a:p>
          <a:p>
            <a:r>
              <a:rPr lang="vi-VN"/>
              <a:t>Đáp án C. Nhớ quy tắc: </a:t>
            </a:r>
            <a:r>
              <a:rPr lang="vi-VN" b="1"/>
              <a:t>đô-la đứng trước phần nào thì phần đó bị khóa.</a:t>
            </a:r>
            <a:r>
              <a:rPr lang="vi-VN"/>
              <a:t> Ở đây đô-la đứng trước số 1, nên khóa dòng.</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Khoảng 40 giây. Đáp án: A.</a:t>
            </a:r>
          </a:p>
          <a:p>
            <a:r>
              <a:rPr lang="vi-VN"/>
              <a:t>LỜI GIẢNG</a:t>
            </a:r>
          </a:p>
          <a:p>
            <a:r>
              <a:rPr lang="vi-VN"/>
              <a:t>A. Còn Ctrl + Alt + V mở hộp Paste Special; cũng dán được giá trị, nhưng phải thêm bước chọn.</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Khoảng 40 giây. Đáp án: C.</a:t>
            </a:r>
          </a:p>
          <a:p>
            <a:r>
              <a:rPr lang="vi-VN"/>
              <a:t>LỜI GIẢNG</a:t>
            </a:r>
          </a:p>
          <a:p>
            <a:r>
              <a:rPr lang="vi-VN"/>
              <a:t>C. Mẹo nhớ: </a:t>
            </a:r>
            <a:r>
              <a:rPr lang="vi-VN" b="1"/>
              <a:t>Dependents</a:t>
            </a:r>
            <a:r>
              <a:rPr lang="vi-VN"/>
              <a:t> là "những ô phụ thuộc vào tôi", </a:t>
            </a:r>
            <a:r>
              <a:rPr lang="vi-VN" b="1"/>
              <a:t>Precedents</a:t>
            </a:r>
            <a:r>
              <a:rPr lang="vi-VN"/>
              <a:t> là "những ô đứng trước tôi".</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Khoảng 40 giây. Đáp án: D.</a:t>
            </a:r>
          </a:p>
          <a:p>
            <a:r>
              <a:rPr lang="vi-VN"/>
              <a:t>LỜI GIẢNG</a:t>
            </a:r>
          </a:p>
          <a:p>
            <a:r>
              <a:rPr lang="vi-VN"/>
              <a:t>D, #REF!, viết tắt của reference: tham chiếu đã mất.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Khoảng 40 giây. Đáp án: B.</a:t>
            </a:r>
          </a:p>
          <a:p>
            <a:r>
              <a:rPr lang="vi-VN"/>
              <a:t>LỜI GIẢNG</a:t>
            </a:r>
          </a:p>
          <a:p>
            <a:r>
              <a:rPr lang="vi-VN"/>
              <a:t>Đáp án B. Nhưng mình muốn hỏi thêm: </a:t>
            </a:r>
            <a:r>
              <a:rPr lang="vi-VN" b="1"/>
              <a:t>nếu làm A thì chuyện gì xảy ra?</a:t>
            </a:r>
          </a:p>
          <a:p>
            <a:r>
              <a:rPr lang="vi-VN"/>
              <a:t>(→ chờ 1 bạn trả lời)</a:t>
            </a:r>
          </a:p>
          <a:p>
            <a:r>
              <a:rPr lang="vi-VN"/>
              <a:t>Đúng rồi: SUM cả cột sẽ cộng luôn dòng tổng, nên doanh thu bị </a:t>
            </a:r>
            <a:r>
              <a:rPr lang="vi-VN" b="1"/>
              <a:t>nhân đôi</a:t>
            </a:r>
            <a:r>
              <a:rPr lang="vi-VN"/>
              <a:t>, và Excel không báo lỗi gì. Đó là lý do việc đầu tiên luôn là sửa cấu trúc.</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Khoảng 40 giây. Đáp án: B.</a:t>
            </a:r>
          </a:p>
          <a:p>
            <a:r>
              <a:rPr lang="vi-VN"/>
              <a:t>LỜI GIẢNG</a:t>
            </a:r>
          </a:p>
          <a:p>
            <a:r>
              <a:rPr lang="vi-VN"/>
              <a:t>B. Table tự mở rộng và tự điền công thức cho dòng mới. Đây là hạt giống của tự động hóa; đến Buổi 4 các bạn sẽ thấy nó "nở hoa" với Power Query.</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2 phút.</a:t>
            </a:r>
          </a:p>
          <a:p>
            <a:r>
              <a:rPr lang="vi-VN"/>
              <a:t>LỜI GIẢNG</a:t>
            </a:r>
          </a:p>
          <a:p>
            <a:r>
              <a:rPr lang="vi-VN"/>
              <a:t>Tổng kết 5 điều cần nhớ hôm nay (→ đọc lướt 5 ý trên slide).</a:t>
            </a:r>
          </a:p>
          <a:p>
            <a:r>
              <a:rPr lang="vi-VN"/>
              <a:t>Giờ là thói quen mà mình muốn các bạn giữ suốt khóa học: </a:t>
            </a:r>
            <a:r>
              <a:rPr lang="vi-VN" b="1"/>
              <a:t>viết một câu insight.</a:t>
            </a:r>
            <a:r>
              <a:rPr lang="vi-VN"/>
              <a:t> Điền vào câu mẫu trên slide, trong 1 phút.</a:t>
            </a:r>
          </a:p>
          <a:p>
            <a:r>
              <a:rPr lang="vi-VN"/>
              <a:t>(→ chờ 1 phút, gọi 2–3 bạn đọc)</a:t>
            </a:r>
          </a:p>
          <a:p>
            <a:r>
              <a:rPr lang="vi-VN"/>
              <a:t>Một câu mẫu để các bạn tham khảo: "File có 6.187 dòng giao dịch và tôi tìm thấy 9 loại lỗi. Lỗi nguy hiểm nhất là 4 dòng tổng nằm lẫn trong dữ liệu, nên nếu không sửa thì tổng số lượng bán Quý 1 sẽ bị báo gần gấp ba, 32.931 thay vì 10.990, và mọi báo cáo theo vùng đều sai theo."</a:t>
            </a:r>
          </a:p>
          <a:p>
            <a:r>
              <a:rPr lang="vi-VN"/>
              <a:t>Các bạn để ý câu này có ba thứ: </a:t>
            </a:r>
            <a:r>
              <a:rPr lang="vi-VN" b="1"/>
              <a:t>con số</a:t>
            </a:r>
            <a:r>
              <a:rPr lang="vi-VN"/>
              <a:t>, </a:t>
            </a:r>
            <a:r>
              <a:rPr lang="vi-VN" b="1"/>
              <a:t>nguyên nhân</a:t>
            </a:r>
            <a:r>
              <a:rPr lang="vi-VN"/>
              <a:t> và </a:t>
            </a:r>
            <a:r>
              <a:rPr lang="vi-VN" b="1"/>
              <a:t>hàm ý</a:t>
            </a:r>
            <a:r>
              <a:rPr lang="vi-VN"/>
              <a:t>, tức là "vậy thì sao". Một insight tốt luôn có đủ cả ba. Hôm nay chúng ta mới ở Tầng 1, "chuyện gì đã xảy ra", nhưng từ Buổi 2 trở đi các câu chuyện trong dữ liệu MCI Mart sẽ lần lượt lộ ra, và câu insight của các bạn sẽ là nơi gọi tên chúng.</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1 phút.</a:t>
            </a:r>
          </a:p>
          <a:p>
            <a:r>
              <a:rPr lang="vi-VN"/>
              <a:t>LỜI GIẢNG</a:t>
            </a:r>
          </a:p>
          <a:p>
            <a:r>
              <a:rPr lang="vi-VN"/>
              <a:t>Buổi sau, Giám đốc bán hàng hỏi: "Doanh thu, số đơn và biên lợi nhuận của từng miền tháng này là bao nhiêu?" Vẫn là câu hỏi Tầng 1, nhưng lần này phải định nghĩa KPI cho rõ trước khi tính. Chúng ta sẽ trả lời bằng chính bảng tblSales các bạn vừa làm sạch, cộng thêm bảng sản phẩm.</a:t>
            </a:r>
          </a:p>
          <a:p>
            <a:r>
              <a:rPr lang="vi-VN"/>
              <a:t>Về nhà các bạn có mấy việc. Một, </a:t>
            </a:r>
            <a:r>
              <a:rPr lang="vi-VN" b="1"/>
              <a:t>đọc handout Buổi 1</a:t>
            </a:r>
            <a:r>
              <a:rPr lang="vi-VN"/>
              <a:t>, nhất là phần tour Ribbon mà hôm nay mình đã lướt qua. Hai, </a:t>
            </a:r>
            <a:r>
              <a:rPr lang="vi-VN" b="1"/>
              <a:t>ôn lại dấu đô-la</a:t>
            </a:r>
            <a:r>
              <a:rPr lang="vi-VN"/>
              <a:t>, buổi sau sẽ cần nó rất nhiều. Ba, làm </a:t>
            </a:r>
            <a:r>
              <a:rPr lang="vi-VN" b="1"/>
              <a:t>bài tập về nhà</a:t>
            </a:r>
            <a:r>
              <a:rPr lang="vi-VN"/>
              <a:t>, đây là bài bắt buộc. File đề là báo cáo bán hàng tháng 4 xuất theo từng cửa hàng, các bạn làm lại đúng quy trình hôm nay: làm sạch, chuyển thành Table, thêm Revenue và Pct_Share, đặt Validation rồi viết một câu insight. Yêu cầu và con số tự kiểm tra có ở mục 10 handout. Các bạn nộp trước Buổi 2 trên hocvien.mcivietnam.com, đăng nhập bằng email đã đăng ký với MCI, đặt tên file là B1_BTVN kèm họ tên. Tiếp theo, tick </a:t>
            </a:r>
            <a:r>
              <a:rPr lang="vi-VN" b="1"/>
              <a:t>Checklist trước Buổi 2</a:t>
            </a:r>
            <a:r>
              <a:rPr lang="vi-VN"/>
              <a:t> ở mục 11 handout; nếu file của bạn chưa khớp 941.454.000 thì đừng lo, đầu buổi sau lớp phát file khởi đầu.</a:t>
            </a:r>
          </a:p>
          <a:p>
            <a:r>
              <a:rPr lang="vi-VN"/>
              <a:t>Và nhắc lại lần cuối: bạn nào dùng Mac, hãy </a:t>
            </a:r>
            <a:r>
              <a:rPr lang="vi-VN" b="1"/>
              <a:t>báo mình và chốt máy Windows trước Buổi 2</a:t>
            </a:r>
            <a:r>
              <a:rPr lang="vi-VN"/>
              <a:t>, để buổi sau các bạn làm bài trên đúng môi trường của cả khóa.</a:t>
            </a:r>
          </a:p>
          <a:p>
            <a:r>
              <a:rPr lang="vi-VN"/>
              <a:t>Cảm ơn cả lớp, hẹn gặp lại Buổi 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2664-F3C6-6151-5EEA-86A461E82C44}"/>
              </a:ext>
            </a:extLst>
          </p:cNvPr>
          <p:cNvSpPr>
            <a:spLocks noGrp="1"/>
          </p:cNvSpPr>
          <p:nvPr>
            <p:ph type="ctrTitle"/>
          </p:nvPr>
        </p:nvSpPr>
        <p:spPr>
          <a:xfrm>
            <a:off x="1432560" y="2011680"/>
            <a:ext cx="10302240" cy="1737360"/>
          </a:xfrm>
        </p:spPr>
        <p:txBody>
          <a:bodyPr anchor="b"/>
          <a:lstStyle>
            <a:lvl1pPr algn="l">
              <a:defRPr sz="4800" b="1"/>
            </a:lvl1pPr>
          </a:lstStyle>
          <a:p>
            <a:r>
              <a:rPr lang="en-GB"/>
              <a:t>Click to edit Master title style</a:t>
            </a:r>
            <a:endParaRPr lang="en-US"/>
          </a:p>
        </p:txBody>
      </p:sp>
      <p:sp>
        <p:nvSpPr>
          <p:cNvPr id="3" name="Subtitle 2">
            <a:extLst>
              <a:ext uri="{FF2B5EF4-FFF2-40B4-BE49-F238E27FC236}">
                <a16:creationId xmlns:a16="http://schemas.microsoft.com/office/drawing/2014/main" id="{55A5D9FC-D4AA-338A-F692-F1B120AC9F9B}"/>
              </a:ext>
            </a:extLst>
          </p:cNvPr>
          <p:cNvSpPr>
            <a:spLocks noGrp="1"/>
          </p:cNvSpPr>
          <p:nvPr>
            <p:ph type="subTitle" idx="1"/>
          </p:nvPr>
        </p:nvSpPr>
        <p:spPr>
          <a:xfrm>
            <a:off x="1432560" y="3931920"/>
            <a:ext cx="10302240" cy="1097280"/>
          </a:xfrm>
        </p:spPr>
        <p:txBody>
          <a:bodyPr/>
          <a:lstStyle>
            <a:lvl1pPr marL="0" indent="0" algn="l">
              <a:buNone/>
              <a:defRPr sz="2400">
                <a:solidFill>
                  <a:srgbClr val="585858"/>
                </a:solidFill>
              </a:defRPr>
            </a:lvl1pPr>
            <a:lvl2pPr marL="457200" indent="0" algn="ctr">
              <a:buNone/>
              <a:defRPr sz="2000">
                <a:solidFill>
                  <a:srgbClr val="585858"/>
                </a:solidFill>
              </a:defRPr>
            </a:lvl2pPr>
            <a:lvl3pPr marL="914400" indent="0" algn="ctr">
              <a:buNone/>
              <a:defRPr sz="1800">
                <a:solidFill>
                  <a:srgbClr val="585858"/>
                </a:solidFill>
              </a:defRPr>
            </a:lvl3pPr>
            <a:lvl4pPr marL="1371600" indent="0" algn="ctr">
              <a:buNone/>
              <a:defRPr sz="1600">
                <a:solidFill>
                  <a:srgbClr val="585858"/>
                </a:solidFill>
              </a:defRPr>
            </a:lvl4pPr>
            <a:lvl5pPr marL="1828800" indent="0" algn="ctr">
              <a:buNone/>
              <a:defRPr sz="1600">
                <a:solidFill>
                  <a:srgbClr val="585858"/>
                </a:solidFill>
              </a:defRPr>
            </a:lvl5pPr>
            <a:lvl6pPr marL="2286000" indent="0" algn="ctr">
              <a:buNone/>
              <a:defRPr sz="1600">
                <a:solidFill>
                  <a:srgbClr val="585858"/>
                </a:solidFill>
              </a:defRPr>
            </a:lvl6pPr>
            <a:lvl7pPr marL="2743200" indent="0" algn="ctr">
              <a:buNone/>
              <a:defRPr sz="1600">
                <a:solidFill>
                  <a:srgbClr val="585858"/>
                </a:solidFill>
              </a:defRPr>
            </a:lvl7pPr>
            <a:lvl8pPr marL="3200400" indent="0" algn="ctr">
              <a:buNone/>
              <a:defRPr sz="1600">
                <a:solidFill>
                  <a:srgbClr val="585858"/>
                </a:solidFill>
              </a:defRPr>
            </a:lvl8pPr>
            <a:lvl9pPr marL="3657600" indent="0" algn="ctr">
              <a:buNone/>
              <a:defRPr sz="1600">
                <a:solidFill>
                  <a:srgbClr val="585858"/>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00E1E18-61FE-3D83-17A2-F3939106825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0AB0BF97-2C91-ED2E-CD8F-3CAC10D59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FBB26-71FB-8170-009A-EF8735C76EBF}"/>
              </a:ext>
            </a:extLst>
          </p:cNvPr>
          <p:cNvSpPr>
            <a:spLocks noGrp="1"/>
          </p:cNvSpPr>
          <p:nvPr>
            <p:ph type="sldNum" sz="quarter" idx="12"/>
          </p:nvPr>
        </p:nvSpPr>
        <p:spPr/>
        <p:txBody>
          <a:bodyPr/>
          <a:lstStyle/>
          <a:p>
            <a:fld id="{7A9419BB-C971-F34B-8B82-C5E9A3ED8678}" type="slidenum">
              <a:rPr lang="en-US" smtClean="0"/>
              <a:t>‹#›</a:t>
            </a:fld>
            <a:endParaRPr lang="en-US"/>
          </a:p>
        </p:txBody>
      </p:sp>
      <p:sp>
        <p:nvSpPr>
          <p:cNvPr id="30" name="MCI Wordmark"/>
          <p:cNvSpPr txBox="1"/>
          <p:nvPr userDrawn="1"/>
        </p:nvSpPr>
        <p:spPr>
          <a:xfrm>
            <a:off x="1432560" y="548640"/>
            <a:ext cx="2743200" cy="548640"/>
          </a:xfrm>
          <a:prstGeom prst="rect">
            <a:avLst/>
          </a:prstGeom>
          <a:noFill/>
        </p:spPr>
        <p:txBody>
          <a:bodyPr wrap="none" lIns="91440" anchor="t"/>
          <a:lstStyle/>
          <a:p>
            <a:r>
              <a:rPr lang="en-US" sz="2800" b="1">
                <a:solidFill>
                  <a:srgbClr val="203864"/>
                </a:solidFill>
                <a:latin typeface="Arial"/>
              </a:rPr>
              <a:t>MCI</a:t>
            </a:r>
          </a:p>
        </p:txBody>
      </p:sp>
    </p:spTree>
    <p:extLst>
      <p:ext uri="{BB962C8B-B14F-4D97-AF65-F5344CB8AC3E}">
        <p14:creationId xmlns:p14="http://schemas.microsoft.com/office/powerpoint/2010/main" val="286849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25951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9C69-77BA-2FF0-04BC-65E5F21C410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A047FBA-36F6-5941-AE5A-3C28ABD9791D}"/>
              </a:ext>
            </a:extLst>
          </p:cNvPr>
          <p:cNvSpPr>
            <a:spLocks noGrp="1"/>
          </p:cNvSpPr>
          <p:nvPr>
            <p:ph sz="half" idx="1"/>
          </p:nvPr>
        </p:nvSpPr>
        <p:spPr>
          <a:xfrm>
            <a:off x="1432560"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363C48E-6F94-484B-3886-58203F5425D9}"/>
              </a:ext>
            </a:extLst>
          </p:cNvPr>
          <p:cNvSpPr>
            <a:spLocks noGrp="1"/>
          </p:cNvSpPr>
          <p:nvPr>
            <p:ph sz="half" idx="2"/>
          </p:nvPr>
        </p:nvSpPr>
        <p:spPr>
          <a:xfrm>
            <a:off x="6658334"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AA01DA5-559C-410C-9CC7-0933837962D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D24F1E9D-60B2-BB85-7303-C28EBFC26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712A5-3FB3-1E06-8027-6B8BD1AA8F2A}"/>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91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rgbClr val="203864"/>
        </a:solidFill>
        <a:effectLst/>
      </p:bgPr>
    </p:bg>
    <p:spTree>
      <p:nvGrpSpPr>
        <p:cNvPr id="1" name=""/>
        <p:cNvGrpSpPr/>
        <p:nvPr/>
      </p:nvGrpSpPr>
      <p:grpSpPr>
        <a:xfrm>
          <a:off x="0" y="0"/>
          <a:ext cx="0" cy="0"/>
          <a:chOff x="0" y="0"/>
          <a:chExt cx="0" cy="0"/>
        </a:xfrm>
      </p:grpSpPr>
      <p:sp>
        <p:nvSpPr>
          <p:cNvPr id="7" name="MCI wordmark"/>
          <p:cNvSpPr txBox="1"/>
          <p:nvPr userDrawn="1"/>
        </p:nvSpPr>
        <p:spPr>
          <a:xfrm>
            <a:off x="914400" y="640080"/>
            <a:ext cx="6400800" cy="457200"/>
          </a:xfrm>
          <a:prstGeom prst="rect">
            <a:avLst/>
          </a:prstGeom>
          <a:noFill/>
        </p:spPr>
        <p:txBody>
          <a:bodyPr wrap="none" lIns="0" rIns="0" anchor="ctr"/>
          <a:lstStyle/>
          <a:p>
            <a:r>
              <a:rPr lang="en-US" sz="2400" b="1">
                <a:solidFill>
                  <a:srgbClr val="FFFFFF"/>
                </a:solidFill>
              </a:rPr>
              <a:t>MCI</a:t>
            </a:r>
            <a:r>
              <a:rPr lang="en-US" sz="1200" spc="200">
                <a:solidFill>
                  <a:srgbClr val="FFFFFF"/>
                </a:solidFill>
              </a:rPr>
              <a:t>   MAGIC CODE INSTITUTE</a:t>
            </a:r>
          </a:p>
        </p:txBody>
      </p:sp>
      <p:sp>
        <p:nvSpPr>
          <p:cNvPr id="8" name="Gold rule"/>
          <p:cNvSpPr/>
          <p:nvPr userDrawn="1"/>
        </p:nvSpPr>
        <p:spPr>
          <a:xfrm>
            <a:off x="914400" y="4480560"/>
            <a:ext cx="1097280" cy="54864"/>
          </a:xfrm>
          <a:prstGeom prst="rect">
            <a:avLst/>
          </a:prstGeom>
          <a:solidFill>
            <a:srgbClr val="FFC000"/>
          </a:solidFill>
          <a:ln>
            <a:noFill/>
          </a:ln>
        </p:spPr>
      </p:sp>
      <p:sp>
        <p:nvSpPr>
          <p:cNvPr id="2" name="Title 1"/>
          <p:cNvSpPr>
            <a:spLocks noGrp="1"/>
          </p:cNvSpPr>
          <p:nvPr>
            <p:ph type="title"/>
          </p:nvPr>
        </p:nvSpPr>
        <p:spPr>
          <a:xfrm>
            <a:off x="914400" y="2286000"/>
            <a:ext cx="10363200" cy="2011680"/>
          </a:xfrm>
        </p:spPr>
        <p:txBody>
          <a:bodyPr lIns="0" anchor="b">
            <a:normAutofit/>
          </a:bodyPr>
          <a:lstStyle>
            <a:lvl1pPr algn="l">
              <a:defRPr sz="3200" b="1">
                <a:solidFill>
                  <a:srgbClr val="FFFFFF"/>
                </a:solidFill>
              </a:defRPr>
            </a:lvl1pPr>
          </a:lstStyle>
          <a:p>
            <a:r>
              <a:rPr lang="en-GB"/>
              <a:t>Click to edit Master title style</a:t>
            </a:r>
          </a:p>
        </p:txBody>
      </p:sp>
      <p:sp>
        <p:nvSpPr>
          <p:cNvPr id="3" name="Text Placeholder 2"/>
          <p:cNvSpPr>
            <a:spLocks noGrp="1"/>
          </p:cNvSpPr>
          <p:nvPr>
            <p:ph type="body" idx="1"/>
          </p:nvPr>
        </p:nvSpPr>
        <p:spPr>
          <a:xfrm>
            <a:off x="914400" y="4709160"/>
            <a:ext cx="10363200" cy="914400"/>
          </a:xfrm>
        </p:spPr>
        <p:txBody>
          <a:bodyPr lIns="0">
            <a:normAutofit/>
          </a:bodyPr>
          <a:lstStyle>
            <a:lvl1pPr marL="0" indent="0">
              <a:buNone/>
              <a:defRPr sz="2000">
                <a:solidFill>
                  <a:srgbClr val="D9DEE8"/>
                </a:solidFill>
              </a:defRPr>
            </a:lvl1pPr>
          </a:lstStyle>
          <a:p>
            <a:r>
              <a:rPr lang="en-GB"/>
              <a:t>Click to edit Master text styles</a:t>
            </a:r>
          </a:p>
        </p:txBody>
      </p:sp>
    </p:spTree>
    <p:extLst>
      <p:ext uri="{BB962C8B-B14F-4D97-AF65-F5344CB8AC3E}">
        <p14:creationId xmlns:p14="http://schemas.microsoft.com/office/powerpoint/2010/main" val="131384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F857-DF32-3922-EA31-5B12F1BF389B}"/>
              </a:ext>
            </a:extLst>
          </p:cNvPr>
          <p:cNvSpPr>
            <a:spLocks noGrp="1"/>
          </p:cNvSpPr>
          <p:nvPr>
            <p:ph type="title"/>
          </p:nvPr>
        </p:nvSpPr>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4679F92-7EED-D73E-34B9-2B5BEA02D8D5}"/>
              </a:ext>
            </a:extLst>
          </p:cNvPr>
          <p:cNvSpPr>
            <a:spLocks noGrp="1"/>
          </p:cNvSpPr>
          <p:nvPr>
            <p:ph type="body" idx="1"/>
          </p:nvPr>
        </p:nvSpPr>
        <p:spPr>
          <a:xfrm>
            <a:off x="1434116" y="1681163"/>
            <a:ext cx="50531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662207B-D76F-1445-6E60-70B87DB80392}"/>
              </a:ext>
            </a:extLst>
          </p:cNvPr>
          <p:cNvSpPr>
            <a:spLocks noGrp="1"/>
          </p:cNvSpPr>
          <p:nvPr>
            <p:ph sz="half" idx="2"/>
          </p:nvPr>
        </p:nvSpPr>
        <p:spPr>
          <a:xfrm>
            <a:off x="1434116" y="2505075"/>
            <a:ext cx="505313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CA2C473-0CB1-0F03-79FD-FCFC188E51A4}"/>
              </a:ext>
            </a:extLst>
          </p:cNvPr>
          <p:cNvSpPr>
            <a:spLocks noGrp="1"/>
          </p:cNvSpPr>
          <p:nvPr>
            <p:ph type="body" sz="quarter" idx="3"/>
          </p:nvPr>
        </p:nvSpPr>
        <p:spPr>
          <a:xfrm>
            <a:off x="6658334" y="1681163"/>
            <a:ext cx="507802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BAADC17-123C-1B98-9C55-4D7D49845E27}"/>
              </a:ext>
            </a:extLst>
          </p:cNvPr>
          <p:cNvSpPr>
            <a:spLocks noGrp="1"/>
          </p:cNvSpPr>
          <p:nvPr>
            <p:ph sz="quarter" idx="4"/>
          </p:nvPr>
        </p:nvSpPr>
        <p:spPr>
          <a:xfrm>
            <a:off x="6658334" y="2505075"/>
            <a:ext cx="507802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D65B6DB-77BD-9C6E-5E6D-A7BE78333BB6}"/>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8" name="Footer Placeholder 7">
            <a:extLst>
              <a:ext uri="{FF2B5EF4-FFF2-40B4-BE49-F238E27FC236}">
                <a16:creationId xmlns:a16="http://schemas.microsoft.com/office/drawing/2014/main" id="{20E678BE-8847-6D2F-3F45-91CA985AB5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D1A3EE-6065-DD56-6A88-F914D5B4C1CD}"/>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10104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3570-678E-8041-1DC8-86B01C4FBAB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59A16AD-B058-70BE-DBC1-78AA9918405A}"/>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a:extLst>
              <a:ext uri="{FF2B5EF4-FFF2-40B4-BE49-F238E27FC236}">
                <a16:creationId xmlns:a16="http://schemas.microsoft.com/office/drawing/2014/main" id="{1B6D8CAC-8260-A67D-8732-DD7230794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C877EE-C1CB-3D64-07B4-8AA215343EB2}"/>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33194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BE4EAE-A436-DD75-26A9-7E4EF0EABAB8}"/>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3" name="Footer Placeholder 2">
            <a:extLst>
              <a:ext uri="{FF2B5EF4-FFF2-40B4-BE49-F238E27FC236}">
                <a16:creationId xmlns:a16="http://schemas.microsoft.com/office/drawing/2014/main" id="{F04AE991-C68F-060D-534A-2D1CFE379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A977B5-CCC9-8A85-1F45-60EE63654905}"/>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69755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3B96-0970-502F-414D-7E067632F191}"/>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A5074C-7090-612E-5DF9-E393D6B4F569}"/>
              </a:ext>
            </a:extLst>
          </p:cNvPr>
          <p:cNvSpPr>
            <a:spLocks noGrp="1"/>
          </p:cNvSpPr>
          <p:nvPr>
            <p:ph idx="1"/>
          </p:nvPr>
        </p:nvSpPr>
        <p:spPr>
          <a:xfrm>
            <a:off x="5689389" y="987425"/>
            <a:ext cx="604696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913B6C-C8CA-B03D-EAFC-66D24F36F00D}"/>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F8C85-7E3A-1BF3-57B7-67DC51295901}"/>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C1759792-564A-D064-DC38-377FE5F36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2A526-D348-A6A7-D6D8-765874ABCCF7}"/>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467445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2A28-28CD-FDCB-9BDE-BBD7761D9F80}"/>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202B5F-EA9B-1AF8-17E8-85154BC8C380}"/>
              </a:ext>
            </a:extLst>
          </p:cNvPr>
          <p:cNvSpPr>
            <a:spLocks noGrp="1" noChangeAspect="1"/>
          </p:cNvSpPr>
          <p:nvPr>
            <p:ph type="pic" idx="1"/>
          </p:nvPr>
        </p:nvSpPr>
        <p:spPr>
          <a:xfrm>
            <a:off x="5689389" y="987425"/>
            <a:ext cx="604696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5D4558-CC71-6A22-1E4F-81F961813C80}"/>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5ABD8-1DA1-C358-4422-ED8A78AC2C6E}"/>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8E16271F-39F3-E81F-443B-21DC458CD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728C95-36D3-1FDC-12F9-75C4D3BE95B3}"/>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9165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C102-A4A5-EF09-43CF-6253ED77AA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E998EF-69FA-C77A-8A76-22992DE77A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B466E2-7B90-931F-632B-D59F99017C2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3A3200D8-8910-5148-4843-3D52384BF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2BED4-5DB4-45F1-5ACC-643FFD821F64}"/>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0741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FF3541-96FF-94D7-F45B-F634CD3B44BF}"/>
              </a:ext>
            </a:extLst>
          </p:cNvPr>
          <p:cNvSpPr>
            <a:spLocks noGrp="1"/>
          </p:cNvSpPr>
          <p:nvPr>
            <p:ph type="title" orient="vert"/>
          </p:nvPr>
        </p:nvSpPr>
        <p:spPr>
          <a:xfrm>
            <a:off x="9159240" y="365125"/>
            <a:ext cx="257556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A22BC46-4E1A-B46B-F1C8-4E24A201B337}"/>
              </a:ext>
            </a:extLst>
          </p:cNvPr>
          <p:cNvSpPr>
            <a:spLocks noGrp="1"/>
          </p:cNvSpPr>
          <p:nvPr>
            <p:ph type="body" orient="vert" idx="1"/>
          </p:nvPr>
        </p:nvSpPr>
        <p:spPr>
          <a:xfrm>
            <a:off x="1432560" y="365125"/>
            <a:ext cx="7577372"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63504C-0F86-E102-3E0C-290A4BB0A6D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12A90F48-5867-0DF6-F507-5379E890B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93CD6-4795-CA01-149F-B154B4516B3C}"/>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684304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MCI Rail"/>
          <p:cNvSpPr/>
          <p:nvPr userDrawn="1"/>
        </p:nvSpPr>
        <p:spPr>
          <a:xfrm>
            <a:off x="0" y="0"/>
            <a:ext cx="975360" cy="6858000"/>
          </a:xfrm>
          <a:prstGeom prst="rect">
            <a:avLst/>
          </a:prstGeom>
          <a:solidFill>
            <a:srgbClr val="203864"/>
          </a:solidFill>
          <a:ln>
            <a:noFill/>
          </a:ln>
        </p:spPr>
        <p:txBody>
          <a:bodyPr/>
          <a:lstStyle/>
          <a:p>
            <a:endParaRPr lang="en-US"/>
          </a:p>
        </p:txBody>
      </p:sp>
      <p:sp>
        <p:nvSpPr>
          <p:cNvPr id="2" name="Title Placeholder 1">
            <a:extLst>
              <a:ext uri="{FF2B5EF4-FFF2-40B4-BE49-F238E27FC236}">
                <a16:creationId xmlns:a16="http://schemas.microsoft.com/office/drawing/2014/main" id="{5773FA29-7399-D724-95CF-8F2F56D526D4}"/>
              </a:ext>
            </a:extLst>
          </p:cNvPr>
          <p:cNvSpPr>
            <a:spLocks noGrp="1"/>
          </p:cNvSpPr>
          <p:nvPr>
            <p:ph type="title"/>
          </p:nvPr>
        </p:nvSpPr>
        <p:spPr>
          <a:xfrm>
            <a:off x="1432560" y="365760"/>
            <a:ext cx="10302240" cy="100584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5F95C9-A218-9682-28A0-7A7C952763F2}"/>
              </a:ext>
            </a:extLst>
          </p:cNvPr>
          <p:cNvSpPr>
            <a:spLocks noGrp="1"/>
          </p:cNvSpPr>
          <p:nvPr>
            <p:ph type="body" idx="1"/>
          </p:nvPr>
        </p:nvSpPr>
        <p:spPr>
          <a:xfrm>
            <a:off x="1432560" y="1554480"/>
            <a:ext cx="10302240" cy="4572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9F865D-4C91-A852-2C9F-A2DE37302B15}"/>
              </a:ext>
            </a:extLst>
          </p:cNvPr>
          <p:cNvSpPr>
            <a:spLocks noGrp="1"/>
          </p:cNvSpPr>
          <p:nvPr>
            <p:ph type="dt" sz="half" idx="2"/>
          </p:nvPr>
        </p:nvSpPr>
        <p:spPr>
          <a:xfrm>
            <a:off x="1432560" y="6309360"/>
            <a:ext cx="2743200" cy="320040"/>
          </a:xfrm>
          <a:prstGeom prst="rect">
            <a:avLst/>
          </a:prstGeom>
        </p:spPr>
        <p:txBody>
          <a:bodyPr vert="horz" lIns="91440" tIns="45720" rIns="91440" bIns="45720" rtlCol="0" anchor="ctr"/>
          <a:lstStyle>
            <a:lvl1pPr algn="l">
              <a:defRPr sz="1200">
                <a:solidFill>
                  <a:srgbClr val="6B6F76"/>
                </a:solidFill>
              </a:defRPr>
            </a:lvl1p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D75018BC-A677-96B0-5B2E-4AEDE18B0ABF}"/>
              </a:ext>
            </a:extLst>
          </p:cNvPr>
          <p:cNvSpPr>
            <a:spLocks noGrp="1"/>
          </p:cNvSpPr>
          <p:nvPr>
            <p:ph type="ftr" sz="quarter" idx="3"/>
          </p:nvPr>
        </p:nvSpPr>
        <p:spPr>
          <a:xfrm>
            <a:off x="4358640" y="6309360"/>
            <a:ext cx="6187440" cy="320040"/>
          </a:xfrm>
          <a:prstGeom prst="rect">
            <a:avLst/>
          </a:prstGeom>
        </p:spPr>
        <p:txBody>
          <a:bodyPr vert="horz" lIns="91440" tIns="45720" rIns="91440" bIns="45720" rtlCol="0" anchor="ctr"/>
          <a:lstStyle>
            <a:lvl1pPr algn="ctr">
              <a:defRPr sz="1200">
                <a:solidFill>
                  <a:srgbClr val="6B6F76"/>
                </a:solidFill>
              </a:defRPr>
            </a:lvl1pPr>
          </a:lstStyle>
          <a:p>
            <a:endParaRPr lang="en-US"/>
          </a:p>
        </p:txBody>
      </p:sp>
      <p:sp>
        <p:nvSpPr>
          <p:cNvPr id="6" name="Slide Number Placeholder 5">
            <a:extLst>
              <a:ext uri="{FF2B5EF4-FFF2-40B4-BE49-F238E27FC236}">
                <a16:creationId xmlns:a16="http://schemas.microsoft.com/office/drawing/2014/main" id="{E03E26B6-86C7-AF0E-2F2F-E4F6A075784B}"/>
              </a:ext>
            </a:extLst>
          </p:cNvPr>
          <p:cNvSpPr>
            <a:spLocks noGrp="1"/>
          </p:cNvSpPr>
          <p:nvPr>
            <p:ph type="sldNum" sz="quarter" idx="4"/>
          </p:nvPr>
        </p:nvSpPr>
        <p:spPr>
          <a:xfrm>
            <a:off x="10637520" y="6309360"/>
            <a:ext cx="1097280" cy="320040"/>
          </a:xfrm>
          <a:prstGeom prst="rect">
            <a:avLst/>
          </a:prstGeom>
        </p:spPr>
        <p:txBody>
          <a:bodyPr vert="horz" lIns="91440" tIns="45720" rIns="91440" bIns="45720" rtlCol="0" anchor="ctr"/>
          <a:lstStyle>
            <a:lvl1pPr algn="r">
              <a:defRPr sz="1200">
                <a:solidFill>
                  <a:srgbClr val="6B6F76"/>
                </a:solidFill>
              </a:defRPr>
            </a:lvl1pPr>
          </a:lstStyle>
          <a:p>
            <a:fld id="{7A9419BB-C971-F34B-8B82-C5E9A3ED8678}" type="slidenum">
              <a:rPr lang="en-US" smtClean="0"/>
              <a:t>‹#›</a:t>
            </a:fld>
            <a:endParaRPr lang="en-US"/>
          </a:p>
        </p:txBody>
      </p:sp>
    </p:spTree>
    <p:extLst>
      <p:ext uri="{BB962C8B-B14F-4D97-AF65-F5344CB8AC3E}">
        <p14:creationId xmlns:p14="http://schemas.microsoft.com/office/powerpoint/2010/main" val="2916804908"/>
      </p:ext>
    </p:extLst>
  </p:cSld>
  <p:clrMap bg1="lt1" tx1="dk1" bg2="lt2" tx2="dk2" accent1="accent1" accent2="accent2" accent3="accent3" accent4="accent4" accent5="accent5" accent6="accent6" hlink="hlink" folHlink="folHlink"/>
  <p:sldLayoutIdLst>
    <p:sldLayoutId id="2147483699" r:id="rId1"/>
    <p:sldLayoutId id="2147483696" r:id="rId2"/>
    <p:sldLayoutId id="2147483700" r:id="rId3"/>
    <p:sldLayoutId id="2147483697"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p:cNvSpPr txBox="1"/>
          <p:nvPr/>
        </p:nvSpPr>
        <p:spPr>
          <a:xfrm>
            <a:off x="1524000" y="1554480"/>
            <a:ext cx="10119360" cy="320040"/>
          </a:xfrm>
          <a:prstGeom prst="rect">
            <a:avLst/>
          </a:prstGeom>
          <a:noFill/>
          <a:ln>
            <a:noFill/>
          </a:ln>
        </p:spPr>
        <p:txBody>
          <a:bodyPr wrap="square" lIns="0" tIns="0" rIns="0" bIns="0" rtlCol="0" anchor="b">
            <a:noAutofit/>
          </a:bodyPr>
          <a:lstStyle/>
          <a:p>
            <a:pPr marL="0" indent="0">
              <a:buNone/>
            </a:pPr>
            <a:r>
              <a:rPr lang="vi-VN" sz="1400" b="1" spc="200">
                <a:solidFill>
                  <a:srgbClr val="585858"/>
                </a:solidFill>
              </a:rPr>
              <a:t>CONSULTING &amp; ANALYTICS</a:t>
            </a:r>
            <a:endParaRPr lang="vi-VN" sz="1400"/>
          </a:p>
        </p:txBody>
      </p:sp>
      <p:sp>
        <p:nvSpPr>
          <p:cNvPr id="12" name="ctrTitle 12"/>
          <p:cNvSpPr>
            <a:spLocks noGrp="1"/>
          </p:cNvSpPr>
          <p:nvPr>
            <p:ph type="ctrTitle"/>
          </p:nvPr>
        </p:nvSpPr>
        <p:spPr/>
        <p:txBody>
          <a:bodyPr>
            <a:normAutofit/>
          </a:bodyPr>
          <a:lstStyle/>
          <a:p>
            <a:r>
              <a:rPr lang="vi-VN"/>
              <a:t>Excel for Business Intelligence Analyst</a:t>
            </a:r>
          </a:p>
        </p:txBody>
      </p:sp>
      <p:sp>
        <p:nvSpPr>
          <p:cNvPr id="13" name="subTitle 13"/>
          <p:cNvSpPr>
            <a:spLocks noGrp="1"/>
          </p:cNvSpPr>
          <p:nvPr>
            <p:ph type="subTitle" idx="1"/>
          </p:nvPr>
        </p:nvSpPr>
        <p:spPr/>
        <p:txBody>
          <a:bodyPr>
            <a:normAutofit/>
          </a:bodyPr>
          <a:lstStyle/>
          <a:p>
            <a:r>
              <a:rPr lang="vi-VN"/>
              <a:t>Buổi 1: Giới thiệu Excel, nền tảng công thức &amp; dữ liệu có cấu trúc</a:t>
            </a:r>
          </a:p>
        </p:txBody>
      </p:sp>
      <p:cxnSp>
        <p:nvCxnSpPr>
          <p:cNvPr id="14" name="Line 14"/>
          <p:cNvCxnSpPr/>
          <p:nvPr/>
        </p:nvCxnSpPr>
        <p:spPr>
          <a:xfrm>
            <a:off x="1524000" y="5669280"/>
            <a:ext cx="10119360" cy="0"/>
          </a:xfrm>
          <a:prstGeom prst="line">
            <a:avLst/>
          </a:prstGeom>
          <a:ln w="12700">
            <a:solidFill>
              <a:srgbClr val="D9DEE8"/>
            </a:solidFill>
          </a:ln>
        </p:spPr>
      </p:cxnSp>
      <p:sp>
        <p:nvSpPr>
          <p:cNvPr id="15" name="TextBox"/>
          <p:cNvSpPr txBox="1"/>
          <p:nvPr/>
        </p:nvSpPr>
        <p:spPr>
          <a:xfrm>
            <a:off x="1524000" y="5760720"/>
            <a:ext cx="10119360" cy="457200"/>
          </a:xfrm>
          <a:prstGeom prst="rect">
            <a:avLst/>
          </a:prstGeom>
          <a:noFill/>
          <a:ln>
            <a:noFill/>
          </a:ln>
        </p:spPr>
        <p:txBody>
          <a:bodyPr wrap="square" lIns="0" tIns="0" rIns="0" bIns="0" rtlCol="0" anchor="t">
            <a:noAutofit/>
          </a:bodyPr>
          <a:lstStyle/>
          <a:p>
            <a:pPr marL="0" indent="0">
              <a:buNone/>
            </a:pPr>
            <a:r>
              <a:rPr lang="vi-VN" sz="1400">
                <a:solidFill>
                  <a:srgbClr val="585858"/>
                </a:solidFill>
              </a:rPr>
              <a:t>Yêu cầu máy: Excel 365 (hoặc 2016+) trên </a:t>
            </a:r>
            <a:r>
              <a:rPr lang="vi-VN" sz="1400" b="1">
                <a:solidFill>
                  <a:srgbClr val="1B2230"/>
                </a:solidFill>
              </a:rPr>
              <a:t>Windows</a:t>
            </a:r>
            <a:r>
              <a:rPr lang="vi-VN" sz="1400">
                <a:solidFill>
                  <a:srgbClr val="585858"/>
                </a:solidFill>
              </a:rPr>
              <a:t>.</a:t>
            </a:r>
            <a:endParaRPr lang="vi-VN" sz="1400"/>
          </a:p>
        </p:txBody>
      </p:sp>
    </p:spTree>
    <p:extLst>
      <p:ext uri="{BB962C8B-B14F-4D97-AF65-F5344CB8AC3E}">
        <p14:creationId xmlns:p14="http://schemas.microsoft.com/office/powerpoint/2010/main" val="2243051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0 · MỞ ĐẦU</a:t>
            </a:r>
            <a:endParaRPr lang="vi-VN" sz="1400"/>
          </a:p>
        </p:txBody>
      </p:sp>
      <p:sp>
        <p:nvSpPr>
          <p:cNvPr id="12" name="title 12"/>
          <p:cNvSpPr>
            <a:spLocks noGrp="1"/>
          </p:cNvSpPr>
          <p:nvPr>
            <p:ph type="title"/>
          </p:nvPr>
        </p:nvSpPr>
        <p:spPr/>
        <p:txBody>
          <a:bodyPr>
            <a:normAutofit/>
          </a:bodyPr>
          <a:lstStyle/>
          <a:p>
            <a:r>
              <a:rPr lang="vi-VN"/>
              <a:t>Câu hỏi mở buổi</a:t>
            </a:r>
          </a:p>
        </p:txBody>
      </p:sp>
      <p:sp>
        <p:nvSpPr>
          <p:cNvPr id="13" name="Tier chip"/>
          <p:cNvSpPr/>
          <p:nvPr/>
        </p:nvSpPr>
        <p:spPr>
          <a:xfrm>
            <a:off x="9357360" y="548640"/>
            <a:ext cx="2286000" cy="365760"/>
          </a:xfrm>
          <a:prstGeom prst="roundRect">
            <a:avLst>
              <a:gd name="adj" fmla="val 20000"/>
            </a:avLst>
          </a:prstGeom>
          <a:noFill/>
          <a:ln w="12700">
            <a:solidFill>
              <a:srgbClr val="203864"/>
            </a:solidFill>
          </a:ln>
        </p:spPr>
        <p:txBody>
          <a:bodyPr wrap="square" lIns="0" tIns="0" rIns="0" bIns="0" rtlCol="0" anchor="ctr">
            <a:noAutofit/>
          </a:bodyPr>
          <a:lstStyle/>
          <a:p>
            <a:pPr marL="0" indent="0" algn="ctr">
              <a:buNone/>
            </a:pPr>
            <a:r>
              <a:rPr lang="vi-VN" sz="1400" b="1">
                <a:solidFill>
                  <a:srgbClr val="203864"/>
                </a:solidFill>
              </a:rPr>
              <a:t>Tầng 1 — Descriptive</a:t>
            </a:r>
            <a:endParaRPr lang="vi-VN" sz="1400"/>
          </a:p>
        </p:txBody>
      </p:sp>
      <p:sp>
        <p:nvSpPr>
          <p:cNvPr id="14" name="TextBox"/>
          <p:cNvSpPr txBox="1"/>
          <p:nvPr/>
        </p:nvSpPr>
        <p:spPr>
          <a:xfrm>
            <a:off x="1524000" y="1828800"/>
            <a:ext cx="4480560" cy="3200400"/>
          </a:xfrm>
          <a:prstGeom prst="rect">
            <a:avLst/>
          </a:prstGeom>
          <a:noFill/>
          <a:ln>
            <a:noFill/>
          </a:ln>
        </p:spPr>
        <p:txBody>
          <a:bodyPr wrap="square" lIns="0" tIns="0" rIns="0" bIns="0" rtlCol="0" anchor="t">
            <a:noAutofit/>
          </a:bodyPr>
          <a:lstStyle/>
          <a:p>
            <a:pPr marL="0" indent="0">
              <a:lnSpc>
                <a:spcPct val="110000"/>
              </a:lnSpc>
              <a:buNone/>
            </a:pPr>
            <a:r>
              <a:rPr lang="vi-VN" sz="2800" b="1">
                <a:solidFill>
                  <a:srgbClr val="203864"/>
                </a:solidFill>
              </a:rPr>
              <a:t>“Công ty có một file bán hàng. Trước khi phân tích, làm sao biết file này dùng được?”</a:t>
            </a:r>
            <a:endParaRPr lang="vi-VN" sz="2800"/>
          </a:p>
        </p:txBody>
      </p:sp>
      <p:pic>
        <p:nvPicPr>
          <p:cNvPr id="16" name="Screenshot S2" descr="S2.png"/>
          <p:cNvPicPr>
            <a:picLocks noChangeAspect="1"/>
          </p:cNvPicPr>
          <p:nvPr/>
        </p:nvPicPr>
        <p:blipFill>
          <a:blip r:embed="rId3"/>
          <a:stretch>
            <a:fillRect/>
          </a:stretch>
        </p:blipFill>
        <p:spPr>
          <a:xfrm>
            <a:off x="6278880" y="1878874"/>
            <a:ext cx="5364480" cy="3831771"/>
          </a:xfrm>
          <a:prstGeom prst="rect">
            <a:avLst/>
          </a:prstGeom>
          <a:ln w="9525">
            <a:solidFill>
              <a:srgbClr val="BFBFBF"/>
            </a:solidFill>
          </a:ln>
        </p:spPr>
      </p:pic>
    </p:spTree>
    <p:extLst>
      <p:ext uri="{BB962C8B-B14F-4D97-AF65-F5344CB8AC3E}">
        <p14:creationId xmlns:p14="http://schemas.microsoft.com/office/powerpoint/2010/main" val="2276555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0 · MỞ ĐẦU</a:t>
            </a:r>
            <a:endParaRPr lang="vi-VN" sz="1400"/>
          </a:p>
        </p:txBody>
      </p:sp>
      <p:sp>
        <p:nvSpPr>
          <p:cNvPr id="12" name="title 12"/>
          <p:cNvSpPr>
            <a:spLocks noGrp="1"/>
          </p:cNvSpPr>
          <p:nvPr>
            <p:ph type="title"/>
          </p:nvPr>
        </p:nvSpPr>
        <p:spPr/>
        <p:txBody>
          <a:bodyPr>
            <a:normAutofit/>
          </a:bodyPr>
          <a:lstStyle/>
          <a:p>
            <a:r>
              <a:rPr lang="vi-VN"/>
              <a:t>Quy trình BI 5 bước</a:t>
            </a:r>
          </a:p>
        </p:txBody>
      </p:sp>
      <p:sp>
        <p:nvSpPr>
          <p:cNvPr id="13" name="Step 1"/>
          <p:cNvSpPr/>
          <p:nvPr/>
        </p:nvSpPr>
        <p:spPr>
          <a:xfrm>
            <a:off x="1524000" y="2194560"/>
            <a:ext cx="1950720" cy="1280160"/>
          </a:xfrm>
          <a:prstGeom prst="homePlate">
            <a:avLst>
              <a:gd name="adj" fmla="val 28000"/>
            </a:avLst>
          </a:prstGeom>
          <a:solidFill>
            <a:srgbClr val="203864"/>
          </a:solidFill>
          <a:ln>
            <a:noFill/>
          </a:ln>
        </p:spPr>
        <p:txBody>
          <a:bodyPr wrap="square" lIns="228600" tIns="0" rIns="91440" bIns="0" rtlCol="0" anchor="ctr">
            <a:noAutofit/>
          </a:bodyPr>
          <a:lstStyle/>
          <a:p>
            <a:pPr marL="0" indent="0" algn="ctr">
              <a:buNone/>
            </a:pPr>
            <a:r>
              <a:rPr lang="vi-VN" sz="1600" b="1">
                <a:solidFill>
                  <a:srgbClr val="FFFFFF"/>
                </a:solidFill>
              </a:rPr>
              <a:t>1</a:t>
            </a:r>
            <a:endParaRPr lang="vi-VN" sz="1600"/>
          </a:p>
          <a:p>
            <a:pPr marL="0" indent="0" algn="ctr">
              <a:buNone/>
            </a:pPr>
            <a:r>
              <a:rPr lang="vi-VN" sz="2000" b="1">
                <a:solidFill>
                  <a:srgbClr val="FFFFFF"/>
                </a:solidFill>
              </a:rPr>
              <a:t>Hỏi</a:t>
            </a:r>
            <a:endParaRPr lang="vi-VN" sz="2400"/>
          </a:p>
        </p:txBody>
      </p:sp>
      <p:sp>
        <p:nvSpPr>
          <p:cNvPr id="14" name="TextBox"/>
          <p:cNvSpPr txBox="1"/>
          <p:nvPr/>
        </p:nvSpPr>
        <p:spPr>
          <a:xfrm>
            <a:off x="1524000" y="3657600"/>
            <a:ext cx="1950720" cy="640080"/>
          </a:xfrm>
          <a:prstGeom prst="rect">
            <a:avLst/>
          </a:prstGeom>
          <a:noFill/>
          <a:ln>
            <a:noFill/>
          </a:ln>
        </p:spPr>
        <p:txBody>
          <a:bodyPr wrap="square" lIns="0" tIns="0" rIns="0" bIns="0" rtlCol="0" anchor="t">
            <a:noAutofit/>
          </a:bodyPr>
          <a:lstStyle/>
          <a:p>
            <a:pPr marL="0" indent="0" algn="ctr">
              <a:buNone/>
            </a:pPr>
            <a:r>
              <a:rPr lang="vi-VN" sz="1800">
                <a:solidFill>
                  <a:srgbClr val="585858"/>
                </a:solidFill>
              </a:rPr>
              <a:t>Câu hỏi kinh doanh</a:t>
            </a:r>
            <a:endParaRPr lang="vi-VN" sz="1800"/>
          </a:p>
        </p:txBody>
      </p:sp>
      <p:sp>
        <p:nvSpPr>
          <p:cNvPr id="15" name="Step 2"/>
          <p:cNvSpPr/>
          <p:nvPr/>
        </p:nvSpPr>
        <p:spPr>
          <a:xfrm>
            <a:off x="3566160" y="2194560"/>
            <a:ext cx="1950720" cy="1280160"/>
          </a:xfrm>
          <a:prstGeom prst="chevron">
            <a:avLst>
              <a:gd name="adj" fmla="val 28000"/>
            </a:avLst>
          </a:prstGeom>
          <a:solidFill>
            <a:srgbClr val="F3F5F9"/>
          </a:solidFill>
          <a:ln>
            <a:noFill/>
          </a:ln>
        </p:spPr>
        <p:txBody>
          <a:bodyPr wrap="square" lIns="228600" tIns="0" rIns="91440" bIns="0" rtlCol="0" anchor="ctr">
            <a:noAutofit/>
          </a:bodyPr>
          <a:lstStyle/>
          <a:p>
            <a:pPr marL="0" indent="0" algn="ctr">
              <a:buNone/>
            </a:pPr>
            <a:r>
              <a:rPr lang="vi-VN" sz="1600" b="1">
                <a:solidFill>
                  <a:srgbClr val="585858"/>
                </a:solidFill>
              </a:rPr>
              <a:t>2</a:t>
            </a:r>
            <a:endParaRPr lang="vi-VN" sz="1600"/>
          </a:p>
          <a:p>
            <a:pPr marL="0" indent="0" algn="ctr">
              <a:buNone/>
            </a:pPr>
            <a:r>
              <a:rPr lang="vi-VN" sz="2000" b="1">
                <a:solidFill>
                  <a:srgbClr val="203864"/>
                </a:solidFill>
              </a:rPr>
              <a:t>Thu thập</a:t>
            </a:r>
            <a:endParaRPr lang="vi-VN" sz="2400"/>
          </a:p>
        </p:txBody>
      </p:sp>
      <p:sp>
        <p:nvSpPr>
          <p:cNvPr id="16" name="TextBox"/>
          <p:cNvSpPr txBox="1"/>
          <p:nvPr/>
        </p:nvSpPr>
        <p:spPr>
          <a:xfrm>
            <a:off x="3566160" y="3657600"/>
            <a:ext cx="1950720" cy="640080"/>
          </a:xfrm>
          <a:prstGeom prst="rect">
            <a:avLst/>
          </a:prstGeom>
          <a:noFill/>
          <a:ln>
            <a:noFill/>
          </a:ln>
        </p:spPr>
        <p:txBody>
          <a:bodyPr wrap="square" lIns="0" tIns="0" rIns="0" bIns="0" rtlCol="0" anchor="t">
            <a:noAutofit/>
          </a:bodyPr>
          <a:lstStyle/>
          <a:p>
            <a:pPr marL="0" indent="0" algn="ctr">
              <a:buNone/>
            </a:pPr>
            <a:r>
              <a:rPr lang="vi-VN" sz="1800">
                <a:solidFill>
                  <a:srgbClr val="585858"/>
                </a:solidFill>
              </a:rPr>
              <a:t>Get Data</a:t>
            </a:r>
            <a:endParaRPr lang="vi-VN" sz="1800"/>
          </a:p>
        </p:txBody>
      </p:sp>
      <p:sp>
        <p:nvSpPr>
          <p:cNvPr id="17" name="Step 3"/>
          <p:cNvSpPr/>
          <p:nvPr/>
        </p:nvSpPr>
        <p:spPr>
          <a:xfrm>
            <a:off x="5608320" y="2194560"/>
            <a:ext cx="1950720" cy="1280160"/>
          </a:xfrm>
          <a:prstGeom prst="chevron">
            <a:avLst>
              <a:gd name="adj" fmla="val 28000"/>
            </a:avLst>
          </a:prstGeom>
          <a:solidFill>
            <a:srgbClr val="F3F5F9"/>
          </a:solidFill>
          <a:ln>
            <a:noFill/>
          </a:ln>
        </p:spPr>
        <p:txBody>
          <a:bodyPr wrap="square" lIns="228600" tIns="0" rIns="91440" bIns="0" rtlCol="0" anchor="ctr">
            <a:noAutofit/>
          </a:bodyPr>
          <a:lstStyle/>
          <a:p>
            <a:pPr marL="0" indent="0" algn="ctr">
              <a:buNone/>
            </a:pPr>
            <a:r>
              <a:rPr lang="vi-VN" sz="1600" b="1">
                <a:solidFill>
                  <a:srgbClr val="585858"/>
                </a:solidFill>
              </a:rPr>
              <a:t>3</a:t>
            </a:r>
            <a:endParaRPr lang="vi-VN" sz="1600"/>
          </a:p>
          <a:p>
            <a:pPr marL="0" indent="0" algn="ctr">
              <a:buNone/>
            </a:pPr>
            <a:r>
              <a:rPr lang="vi-VN" sz="2000" b="1">
                <a:solidFill>
                  <a:srgbClr val="203864"/>
                </a:solidFill>
              </a:rPr>
              <a:t>Làm sạch</a:t>
            </a:r>
            <a:endParaRPr lang="vi-VN" sz="2400"/>
          </a:p>
        </p:txBody>
      </p:sp>
      <p:sp>
        <p:nvSpPr>
          <p:cNvPr id="18" name="TextBox"/>
          <p:cNvSpPr txBox="1"/>
          <p:nvPr/>
        </p:nvSpPr>
        <p:spPr>
          <a:xfrm>
            <a:off x="5608320" y="3657600"/>
            <a:ext cx="1950720" cy="640080"/>
          </a:xfrm>
          <a:prstGeom prst="rect">
            <a:avLst/>
          </a:prstGeom>
          <a:noFill/>
          <a:ln>
            <a:noFill/>
          </a:ln>
        </p:spPr>
        <p:txBody>
          <a:bodyPr wrap="square" lIns="0" tIns="0" rIns="0" bIns="0" rtlCol="0" anchor="t">
            <a:noAutofit/>
          </a:bodyPr>
          <a:lstStyle/>
          <a:p>
            <a:pPr marL="0" indent="0" algn="ctr">
              <a:buNone/>
            </a:pPr>
            <a:r>
              <a:rPr lang="vi-VN" sz="1800">
                <a:solidFill>
                  <a:srgbClr val="585858"/>
                </a:solidFill>
              </a:rPr>
              <a:t>Power Query</a:t>
            </a:r>
            <a:endParaRPr lang="vi-VN" sz="1800"/>
          </a:p>
        </p:txBody>
      </p:sp>
      <p:sp>
        <p:nvSpPr>
          <p:cNvPr id="19" name="Step 4"/>
          <p:cNvSpPr/>
          <p:nvPr/>
        </p:nvSpPr>
        <p:spPr>
          <a:xfrm>
            <a:off x="7650480" y="2194560"/>
            <a:ext cx="1950720" cy="1280160"/>
          </a:xfrm>
          <a:prstGeom prst="chevron">
            <a:avLst>
              <a:gd name="adj" fmla="val 28000"/>
            </a:avLst>
          </a:prstGeom>
          <a:solidFill>
            <a:srgbClr val="F3F5F9"/>
          </a:solidFill>
          <a:ln>
            <a:noFill/>
          </a:ln>
        </p:spPr>
        <p:txBody>
          <a:bodyPr wrap="square" lIns="228600" tIns="0" rIns="91440" bIns="0" rtlCol="0" anchor="ctr">
            <a:noAutofit/>
          </a:bodyPr>
          <a:lstStyle/>
          <a:p>
            <a:pPr marL="0" indent="0" algn="ctr">
              <a:buNone/>
            </a:pPr>
            <a:r>
              <a:rPr lang="vi-VN" sz="1600" b="1">
                <a:solidFill>
                  <a:srgbClr val="585858"/>
                </a:solidFill>
              </a:rPr>
              <a:t>4</a:t>
            </a:r>
            <a:endParaRPr lang="vi-VN" sz="1600"/>
          </a:p>
          <a:p>
            <a:pPr marL="0" indent="0" algn="ctr">
              <a:buNone/>
            </a:pPr>
            <a:r>
              <a:rPr lang="vi-VN" sz="2000" b="1">
                <a:solidFill>
                  <a:srgbClr val="203864"/>
                </a:solidFill>
              </a:rPr>
              <a:t>Phân tích</a:t>
            </a:r>
            <a:endParaRPr lang="vi-VN" sz="2400"/>
          </a:p>
        </p:txBody>
      </p:sp>
      <p:sp>
        <p:nvSpPr>
          <p:cNvPr id="20" name="TextBox"/>
          <p:cNvSpPr txBox="1"/>
          <p:nvPr/>
        </p:nvSpPr>
        <p:spPr>
          <a:xfrm>
            <a:off x="7650480" y="3657600"/>
            <a:ext cx="1950720" cy="640080"/>
          </a:xfrm>
          <a:prstGeom prst="rect">
            <a:avLst/>
          </a:prstGeom>
          <a:noFill/>
          <a:ln>
            <a:noFill/>
          </a:ln>
        </p:spPr>
        <p:txBody>
          <a:bodyPr wrap="square" lIns="0" tIns="0" rIns="0" bIns="0" rtlCol="0" anchor="t">
            <a:noAutofit/>
          </a:bodyPr>
          <a:lstStyle/>
          <a:p>
            <a:pPr marL="0" indent="0" algn="ctr">
              <a:buNone/>
            </a:pPr>
            <a:r>
              <a:rPr lang="vi-VN" sz="1800">
                <a:solidFill>
                  <a:srgbClr val="585858"/>
                </a:solidFill>
              </a:rPr>
              <a:t>Pivot – DAX</a:t>
            </a:r>
            <a:endParaRPr lang="vi-VN" sz="1800"/>
          </a:p>
        </p:txBody>
      </p:sp>
      <p:sp>
        <p:nvSpPr>
          <p:cNvPr id="21" name="Step 5"/>
          <p:cNvSpPr/>
          <p:nvPr/>
        </p:nvSpPr>
        <p:spPr>
          <a:xfrm>
            <a:off x="9692640" y="2194560"/>
            <a:ext cx="1950720" cy="1280160"/>
          </a:xfrm>
          <a:prstGeom prst="chevron">
            <a:avLst>
              <a:gd name="adj" fmla="val 28000"/>
            </a:avLst>
          </a:prstGeom>
          <a:solidFill>
            <a:srgbClr val="F3F5F9"/>
          </a:solidFill>
          <a:ln>
            <a:noFill/>
          </a:ln>
        </p:spPr>
        <p:txBody>
          <a:bodyPr wrap="square" lIns="228600" tIns="0" rIns="91440" bIns="0" rtlCol="0" anchor="ctr">
            <a:noAutofit/>
          </a:bodyPr>
          <a:lstStyle/>
          <a:p>
            <a:pPr marL="0" indent="0" algn="ctr">
              <a:buNone/>
            </a:pPr>
            <a:r>
              <a:rPr lang="vi-VN" sz="1600" b="1">
                <a:solidFill>
                  <a:srgbClr val="585858"/>
                </a:solidFill>
              </a:rPr>
              <a:t>5</a:t>
            </a:r>
            <a:endParaRPr lang="vi-VN" sz="1600"/>
          </a:p>
          <a:p>
            <a:pPr marL="0" indent="0" algn="ctr">
              <a:buNone/>
            </a:pPr>
            <a:r>
              <a:rPr lang="vi-VN" sz="2000" b="1">
                <a:solidFill>
                  <a:srgbClr val="203864"/>
                </a:solidFill>
              </a:rPr>
              <a:t>Trình bày</a:t>
            </a:r>
            <a:endParaRPr lang="vi-VN" sz="2400"/>
          </a:p>
        </p:txBody>
      </p:sp>
      <p:sp>
        <p:nvSpPr>
          <p:cNvPr id="22" name="TextBox"/>
          <p:cNvSpPr txBox="1"/>
          <p:nvPr/>
        </p:nvSpPr>
        <p:spPr>
          <a:xfrm>
            <a:off x="9692640" y="3657600"/>
            <a:ext cx="1950720" cy="640080"/>
          </a:xfrm>
          <a:prstGeom prst="rect">
            <a:avLst/>
          </a:prstGeom>
          <a:noFill/>
          <a:ln>
            <a:noFill/>
          </a:ln>
        </p:spPr>
        <p:txBody>
          <a:bodyPr wrap="square" lIns="0" tIns="0" rIns="0" bIns="0" rtlCol="0" anchor="t">
            <a:noAutofit/>
          </a:bodyPr>
          <a:lstStyle/>
          <a:p>
            <a:pPr marL="0" indent="0" algn="ctr">
              <a:buNone/>
            </a:pPr>
            <a:r>
              <a:rPr lang="vi-VN" sz="1800">
                <a:solidFill>
                  <a:srgbClr val="585858"/>
                </a:solidFill>
              </a:rPr>
              <a:t>Dashboard</a:t>
            </a:r>
            <a:endParaRPr lang="vi-VN" sz="1800"/>
          </a:p>
        </p:txBody>
      </p:sp>
      <p:sp>
        <p:nvSpPr>
          <p:cNvPr id="23" name="TextBox"/>
          <p:cNvSpPr txBox="1"/>
          <p:nvPr/>
        </p:nvSpPr>
        <p:spPr>
          <a:xfrm>
            <a:off x="1524000" y="4663440"/>
            <a:ext cx="10119360" cy="914400"/>
          </a:xfrm>
          <a:prstGeom prst="rect">
            <a:avLst/>
          </a:prstGeom>
          <a:noFill/>
          <a:ln>
            <a:noFill/>
          </a:ln>
        </p:spPr>
        <p:txBody>
          <a:bodyPr wrap="square" lIns="0" tIns="0" rIns="0" bIns="0" rtlCol="0" anchor="t">
            <a:noAutofit/>
          </a:bodyPr>
          <a:lstStyle/>
          <a:p>
            <a:pPr marL="0" indent="0">
              <a:buNone/>
            </a:pPr>
            <a:r>
              <a:rPr lang="vi-VN" sz="2000">
                <a:solidFill>
                  <a:srgbClr val="1B2230"/>
                </a:solidFill>
              </a:rPr>
              <a:t>Quy tắc của khóa: mỗi buổi </a:t>
            </a:r>
            <a:r>
              <a:rPr lang="vi-VN" sz="2000" b="1">
                <a:solidFill>
                  <a:srgbClr val="203864"/>
                </a:solidFill>
              </a:rPr>
              <a:t>mở bằng một câu hỏi kinh doanh</a:t>
            </a:r>
            <a:r>
              <a:rPr lang="vi-VN" sz="2000">
                <a:solidFill>
                  <a:srgbClr val="1B2230"/>
                </a:solidFill>
              </a:rPr>
              <a:t> và </a:t>
            </a:r>
            <a:r>
              <a:rPr lang="vi-VN" sz="2000" b="1">
                <a:solidFill>
                  <a:srgbClr val="203864"/>
                </a:solidFill>
              </a:rPr>
              <a:t>kết thúc bằng một câu insight</a:t>
            </a:r>
            <a:r>
              <a:rPr lang="vi-VN" sz="2000">
                <a:solidFill>
                  <a:srgbClr val="1B2230"/>
                </a:solidFill>
              </a:rPr>
              <a:t> các bạn tự viết.</a:t>
            </a:r>
            <a:endParaRPr lang="vi-VN" sz="2000"/>
          </a:p>
        </p:txBody>
      </p:sp>
    </p:spTree>
    <p:extLst>
      <p:ext uri="{BB962C8B-B14F-4D97-AF65-F5344CB8AC3E}">
        <p14:creationId xmlns:p14="http://schemas.microsoft.com/office/powerpoint/2010/main" val="3246935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0 · MỞ ĐẦU</a:t>
            </a:r>
            <a:endParaRPr lang="vi-VN" sz="1400"/>
          </a:p>
        </p:txBody>
      </p:sp>
      <p:sp>
        <p:nvSpPr>
          <p:cNvPr id="12" name="title 12"/>
          <p:cNvSpPr>
            <a:spLocks noGrp="1"/>
          </p:cNvSpPr>
          <p:nvPr>
            <p:ph type="title"/>
          </p:nvPr>
        </p:nvSpPr>
        <p:spPr/>
        <p:txBody>
          <a:bodyPr>
            <a:normAutofit fontScale="90000"/>
          </a:bodyPr>
          <a:lstStyle/>
          <a:p>
            <a:r>
              <a:rPr lang="vi-VN"/>
              <a:t>Bản đồ 7 viên gạch &amp; thang 5 tầng câu hỏi</a:t>
            </a:r>
          </a:p>
        </p:txBody>
      </p:sp>
      <p:graphicFrame>
        <p:nvGraphicFramePr>
          <p:cNvPr id="13" name="Table 13"/>
          <p:cNvGraphicFramePr>
            <a:graphicFrameLocks noGrp="1"/>
          </p:cNvGraphicFramePr>
          <p:nvPr/>
        </p:nvGraphicFramePr>
        <p:xfrm>
          <a:off x="1524000" y="1554480"/>
          <a:ext cx="6903720" cy="4251960"/>
        </p:xfrm>
        <a:graphic>
          <a:graphicData uri="http://schemas.openxmlformats.org/drawingml/2006/table">
            <a:tbl>
              <a:tblPr firstRow="1"/>
              <a:tblGrid>
                <a:gridCol w="685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11480">
                <a:tc>
                  <a:txBody>
                    <a:bodyPr/>
                    <a:lstStyle/>
                    <a:p>
                      <a:pPr marL="0" indent="0" algn="l">
                        <a:buNone/>
                      </a:pPr>
                      <a:r>
                        <a:rPr lang="vi-VN" sz="1400" b="1">
                          <a:solidFill>
                            <a:srgbClr val="FFFFFF"/>
                          </a:solidFill>
                        </a:rPr>
                        <a:t>Buổi</a:t>
                      </a:r>
                      <a:endParaRPr lang="vi-VN" sz="1400"/>
                    </a:p>
                  </a:txBody>
                  <a:tcPr anchor="ctr">
                    <a:lnL w="0">
                      <a:noFill/>
                    </a:lnL>
                    <a:lnR w="0">
                      <a:noFill/>
                    </a:lnR>
                    <a:lnT w="0">
                      <a:noFill/>
                    </a:lnT>
                    <a:lnB w="12700">
                      <a:solidFill>
                        <a:srgbClr val="D9DEE8"/>
                      </a:solidFill>
                    </a:lnB>
                    <a:solidFill>
                      <a:srgbClr val="203864"/>
                    </a:solidFill>
                  </a:tcPr>
                </a:tc>
                <a:tc>
                  <a:txBody>
                    <a:bodyPr/>
                    <a:lstStyle/>
                    <a:p>
                      <a:pPr marL="0" indent="0" algn="l">
                        <a:buNone/>
                      </a:pPr>
                      <a:r>
                        <a:rPr lang="vi-VN" sz="1400" b="1">
                          <a:solidFill>
                            <a:srgbClr val="FFFFFF"/>
                          </a:solidFill>
                        </a:rPr>
                        <a:t>Viên gạch (brick output)</a:t>
                      </a:r>
                      <a:endParaRPr lang="vi-VN" sz="1400"/>
                    </a:p>
                  </a:txBody>
                  <a:tcPr anchor="ctr">
                    <a:lnL w="0">
                      <a:noFill/>
                    </a:lnL>
                    <a:lnR w="0">
                      <a:noFill/>
                    </a:lnR>
                    <a:lnT w="0">
                      <a:noFill/>
                    </a:lnT>
                    <a:lnB w="12700">
                      <a:solidFill>
                        <a:srgbClr val="D9DEE8"/>
                      </a:solidFill>
                    </a:lnB>
                    <a:solidFill>
                      <a:srgbClr val="203864"/>
                    </a:solidFill>
                  </a:tcPr>
                </a:tc>
                <a:tc>
                  <a:txBody>
                    <a:bodyPr/>
                    <a:lstStyle/>
                    <a:p>
                      <a:pPr marL="0" indent="0" algn="l">
                        <a:buNone/>
                      </a:pPr>
                      <a:r>
                        <a:rPr lang="vi-VN" sz="1400" b="1">
                          <a:solidFill>
                            <a:srgbClr val="FFFFFF"/>
                          </a:solidFill>
                        </a:rPr>
                        <a:t>Tầng câu hỏi</a:t>
                      </a:r>
                      <a:endParaRPr lang="vi-VN" sz="1400"/>
                    </a:p>
                  </a:txBody>
                  <a:tcPr anchor="ctr">
                    <a:lnL w="0">
                      <a:noFill/>
                    </a:lnL>
                    <a:lnR w="0">
                      <a:noFill/>
                    </a:lnR>
                    <a:lnT w="0">
                      <a:noFill/>
                    </a:lnT>
                    <a:lnB w="12700">
                      <a:solidFill>
                        <a:srgbClr val="D9DEE8"/>
                      </a:solidFill>
                    </a:lnB>
                    <a:solidFill>
                      <a:srgbClr val="203864"/>
                    </a:solidFill>
                  </a:tcPr>
                </a:tc>
                <a:extLst>
                  <a:ext uri="{0D108BD9-81ED-4DB2-BD59-A6C34878D82A}">
                    <a16:rowId xmlns:a16="http://schemas.microsoft.com/office/drawing/2014/main" val="10000"/>
                  </a:ext>
                </a:extLst>
              </a:tr>
              <a:tr h="411480">
                <a:tc>
                  <a:txBody>
                    <a:bodyPr/>
                    <a:lstStyle/>
                    <a:p>
                      <a:pPr marL="0" indent="0" algn="l">
                        <a:buNone/>
                      </a:pPr>
                      <a:r>
                        <a:rPr lang="vi-VN" sz="1400" b="1">
                          <a:solidFill>
                            <a:srgbClr val="1B2230"/>
                          </a:solidFill>
                        </a:rPr>
                        <a:t>B1</a:t>
                      </a:r>
                      <a:endParaRPr lang="vi-VN" sz="1400"/>
                    </a:p>
                  </a:txBody>
                  <a:tcPr anchor="ctr">
                    <a:lnL w="0">
                      <a:noFill/>
                    </a:lnL>
                    <a:lnR w="0">
                      <a:noFill/>
                    </a:lnR>
                    <a:lnT w="12700">
                      <a:solidFill>
                        <a:srgbClr val="D9DEE8"/>
                      </a:solidFill>
                    </a:lnT>
                    <a:lnB w="12700">
                      <a:solidFill>
                        <a:srgbClr val="D9DEE8"/>
                      </a:solidFill>
                    </a:lnB>
                    <a:solidFill>
                      <a:srgbClr val="E3EDF9"/>
                    </a:solidFill>
                  </a:tcPr>
                </a:tc>
                <a:tc>
                  <a:txBody>
                    <a:bodyPr/>
                    <a:lstStyle/>
                    <a:p>
                      <a:pPr marL="0" indent="0" algn="l">
                        <a:buNone/>
                      </a:pPr>
                      <a:r>
                        <a:rPr lang="vi-VN" sz="1400" b="1">
                          <a:solidFill>
                            <a:srgbClr val="1B2230"/>
                          </a:solidFill>
                        </a:rPr>
                        <a:t>Dữ liệu gốc tidy (Excel Table)</a:t>
                      </a:r>
                      <a:endParaRPr lang="vi-VN" sz="1400"/>
                    </a:p>
                  </a:txBody>
                  <a:tcPr anchor="ctr">
                    <a:lnL w="0">
                      <a:noFill/>
                    </a:lnL>
                    <a:lnR w="0">
                      <a:noFill/>
                    </a:lnR>
                    <a:lnT w="12700">
                      <a:solidFill>
                        <a:srgbClr val="D9DEE8"/>
                      </a:solidFill>
                    </a:lnT>
                    <a:lnB w="12700">
                      <a:solidFill>
                        <a:srgbClr val="D9DEE8"/>
                      </a:solidFill>
                    </a:lnB>
                    <a:solidFill>
                      <a:srgbClr val="E3EDF9"/>
                    </a:solidFill>
                  </a:tcPr>
                </a:tc>
                <a:tc>
                  <a:txBody>
                    <a:bodyPr/>
                    <a:lstStyle/>
                    <a:p>
                      <a:pPr marL="0" indent="0" algn="l">
                        <a:buNone/>
                      </a:pPr>
                      <a:r>
                        <a:rPr lang="vi-VN" sz="1400" b="1">
                          <a:solidFill>
                            <a:srgbClr val="1B2230"/>
                          </a:solidFill>
                        </a:rPr>
                        <a:t>1 — Chuyện gì đã xảy ra?</a:t>
                      </a:r>
                      <a:endParaRPr lang="vi-VN" sz="1400"/>
                    </a:p>
                  </a:txBody>
                  <a:tcPr anchor="ctr">
                    <a:lnL w="0">
                      <a:noFill/>
                    </a:lnL>
                    <a:lnR w="0">
                      <a:noFill/>
                    </a:lnR>
                    <a:lnT w="12700">
                      <a:solidFill>
                        <a:srgbClr val="D9DEE8"/>
                      </a:solidFill>
                    </a:lnT>
                    <a:lnB w="12700">
                      <a:solidFill>
                        <a:srgbClr val="D9DEE8"/>
                      </a:solidFill>
                    </a:lnB>
                    <a:solidFill>
                      <a:srgbClr val="E3EDF9"/>
                    </a:solidFill>
                  </a:tcPr>
                </a:tc>
                <a:extLst>
                  <a:ext uri="{0D108BD9-81ED-4DB2-BD59-A6C34878D82A}">
                    <a16:rowId xmlns:a16="http://schemas.microsoft.com/office/drawing/2014/main" val="10001"/>
                  </a:ext>
                </a:extLst>
              </a:tr>
              <a:tr h="548640">
                <a:tc>
                  <a:txBody>
                    <a:bodyPr/>
                    <a:lstStyle/>
                    <a:p>
                      <a:pPr marL="0" indent="0" algn="l">
                        <a:buNone/>
                      </a:pPr>
                      <a:r>
                        <a:rPr lang="vi-VN" sz="1400">
                          <a:solidFill>
                            <a:srgbClr val="1B2230"/>
                          </a:solidFill>
                        </a:rPr>
                        <a:t>B2</a:t>
                      </a:r>
                      <a:endParaRPr lang="vi-VN" sz="14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400">
                          <a:solidFill>
                            <a:srgbClr val="1B2230"/>
                          </a:solidFill>
                        </a:rPr>
                        <a:t>Bảng làm giàu + bảng KPI bằng SUMIFS</a:t>
                      </a:r>
                      <a:endParaRPr lang="vi-VN" sz="14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400">
                          <a:solidFill>
                            <a:srgbClr val="1B2230"/>
                          </a:solidFill>
                        </a:rPr>
                        <a:t>1 — Chuyện gì đã xảy ra?</a:t>
                      </a:r>
                      <a:endParaRPr lang="vi-VN" sz="14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2"/>
                  </a:ext>
                </a:extLst>
              </a:tr>
              <a:tr h="640080">
                <a:tc>
                  <a:txBody>
                    <a:bodyPr/>
                    <a:lstStyle/>
                    <a:p>
                      <a:pPr marL="0" indent="0" algn="l">
                        <a:buNone/>
                      </a:pPr>
                      <a:r>
                        <a:rPr lang="vi-VN" sz="1400">
                          <a:solidFill>
                            <a:srgbClr val="1B2230"/>
                          </a:solidFill>
                        </a:rPr>
                        <a:t>B3</a:t>
                      </a:r>
                      <a:endParaRPr lang="vi-VN" sz="14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400">
                          <a:solidFill>
                            <a:srgbClr val="1B2230"/>
                          </a:solidFill>
                        </a:rPr>
                        <a:t>Báo cáo Pivot</a:t>
                      </a:r>
                      <a:endParaRPr lang="vi-VN" sz="14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400">
                          <a:solidFill>
                            <a:srgbClr val="1B2230"/>
                          </a:solidFill>
                        </a:rPr>
                        <a:t>2 — Ở đâu, khi nào, nhóm nào?</a:t>
                      </a:r>
                      <a:endParaRPr lang="vi-VN" sz="1400"/>
                    </a:p>
                    <a:p>
                      <a:pPr marL="0" indent="0" algn="l">
                        <a:buNone/>
                      </a:pPr>
                      <a:r>
                        <a:rPr lang="vi-VN" sz="1400">
                          <a:solidFill>
                            <a:srgbClr val="1B2230"/>
                          </a:solidFill>
                        </a:rPr>
                        <a:t>3 — Vì sao? (drill-down)</a:t>
                      </a:r>
                      <a:endParaRPr lang="vi-VN" sz="14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3"/>
                  </a:ext>
                </a:extLst>
              </a:tr>
              <a:tr h="548640">
                <a:tc>
                  <a:txBody>
                    <a:bodyPr/>
                    <a:lstStyle/>
                    <a:p>
                      <a:pPr marL="0" indent="0" algn="l">
                        <a:buNone/>
                      </a:pPr>
                      <a:r>
                        <a:rPr lang="vi-VN" sz="1400">
                          <a:solidFill>
                            <a:srgbClr val="1B2230"/>
                          </a:solidFill>
                        </a:rPr>
                        <a:t>B4</a:t>
                      </a:r>
                      <a:endParaRPr lang="vi-VN" sz="14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400">
                          <a:solidFill>
                            <a:srgbClr val="1B2230"/>
                          </a:solidFill>
                        </a:rPr>
                        <a:t>Pipeline Power Query tự refresh</a:t>
                      </a:r>
                      <a:endParaRPr lang="vi-VN" sz="14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400">
                          <a:solidFill>
                            <a:srgbClr val="1B2230"/>
                          </a:solidFill>
                        </a:rPr>
                        <a:t>Nền móng: giúp các tầng sau đáng tin</a:t>
                      </a:r>
                      <a:endParaRPr lang="vi-VN" sz="14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4"/>
                  </a:ext>
                </a:extLst>
              </a:tr>
              <a:tr h="411480">
                <a:tc>
                  <a:txBody>
                    <a:bodyPr/>
                    <a:lstStyle/>
                    <a:p>
                      <a:pPr marL="0" indent="0" algn="l">
                        <a:buNone/>
                      </a:pPr>
                      <a:r>
                        <a:rPr lang="vi-VN" sz="1400">
                          <a:solidFill>
                            <a:srgbClr val="1B2230"/>
                          </a:solidFill>
                        </a:rPr>
                        <a:t>B5</a:t>
                      </a:r>
                      <a:endParaRPr lang="vi-VN" sz="14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400">
                          <a:solidFill>
                            <a:srgbClr val="1B2230"/>
                          </a:solidFill>
                        </a:rPr>
                        <a:t>Star schema + KPI dictionary</a:t>
                      </a:r>
                      <a:endParaRPr lang="vi-VN" sz="14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400">
                          <a:solidFill>
                            <a:srgbClr val="1B2230"/>
                          </a:solidFill>
                        </a:rPr>
                        <a:t>3 — Vì sao?</a:t>
                      </a:r>
                      <a:endParaRPr lang="vi-VN" sz="14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5"/>
                  </a:ext>
                </a:extLst>
              </a:tr>
              <a:tr h="640080">
                <a:tc>
                  <a:txBody>
                    <a:bodyPr/>
                    <a:lstStyle/>
                    <a:p>
                      <a:pPr marL="0" indent="0" algn="l">
                        <a:buNone/>
                      </a:pPr>
                      <a:r>
                        <a:rPr lang="vi-VN" sz="1400">
                          <a:solidFill>
                            <a:srgbClr val="1B2230"/>
                          </a:solidFill>
                        </a:rPr>
                        <a:t>B6</a:t>
                      </a:r>
                      <a:endParaRPr lang="vi-VN" sz="14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400">
                          <a:solidFill>
                            <a:srgbClr val="1B2230"/>
                          </a:solidFill>
                        </a:rPr>
                        <a:t>Dashboard có target / RAG</a:t>
                      </a:r>
                      <a:endParaRPr lang="vi-VN" sz="14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400">
                          <a:solidFill>
                            <a:srgbClr val="1B2230"/>
                          </a:solidFill>
                        </a:rPr>
                        <a:t>4 — Nên làm gì? · 5 — Sắp tới thế nào? (nhập môn)</a:t>
                      </a:r>
                      <a:endParaRPr lang="vi-VN" sz="14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6"/>
                  </a:ext>
                </a:extLst>
              </a:tr>
              <a:tr h="640080">
                <a:tc>
                  <a:txBody>
                    <a:bodyPr/>
                    <a:lstStyle/>
                    <a:p>
                      <a:pPr marL="0" indent="0" algn="l">
                        <a:buNone/>
                      </a:pPr>
                      <a:r>
                        <a:rPr lang="vi-VN" sz="1400">
                          <a:solidFill>
                            <a:srgbClr val="1B2230"/>
                          </a:solidFill>
                        </a:rPr>
                        <a:t>B7</a:t>
                      </a:r>
                      <a:endParaRPr lang="vi-VN" sz="14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400">
                          <a:solidFill>
                            <a:srgbClr val="1B2230"/>
                          </a:solidFill>
                        </a:rPr>
                        <a:t>Dự án BI end-to-end + thuyết trình (bộ dữ liệu mới)</a:t>
                      </a:r>
                      <a:endParaRPr lang="vi-VN" sz="14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400">
                          <a:solidFill>
                            <a:srgbClr val="1B2230"/>
                          </a:solidFill>
                        </a:rPr>
                        <a:t>Đủ 5 tầng</a:t>
                      </a:r>
                      <a:endParaRPr lang="vi-VN" sz="14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7"/>
                  </a:ext>
                </a:extLst>
              </a:tr>
            </a:tbl>
          </a:graphicData>
        </a:graphic>
      </p:graphicFrame>
      <p:sp>
        <p:nvSpPr>
          <p:cNvPr id="14" name="TextBox"/>
          <p:cNvSpPr txBox="1"/>
          <p:nvPr/>
        </p:nvSpPr>
        <p:spPr>
          <a:xfrm>
            <a:off x="8747760" y="1554480"/>
            <a:ext cx="2895600" cy="365760"/>
          </a:xfrm>
          <a:prstGeom prst="rect">
            <a:avLst/>
          </a:prstGeom>
          <a:noFill/>
          <a:ln>
            <a:noFill/>
          </a:ln>
        </p:spPr>
        <p:txBody>
          <a:bodyPr wrap="square" lIns="0" tIns="0" rIns="0" bIns="0" rtlCol="0" anchor="t">
            <a:noAutofit/>
          </a:bodyPr>
          <a:lstStyle/>
          <a:p>
            <a:pPr marL="0" indent="0">
              <a:buNone/>
            </a:pPr>
            <a:r>
              <a:rPr lang="vi-VN" sz="1600" b="1">
                <a:solidFill>
                  <a:srgbClr val="203864"/>
                </a:solidFill>
              </a:rPr>
              <a:t>Thang 5 tầng câu hỏi</a:t>
            </a:r>
            <a:endParaRPr lang="vi-VN" sz="1600"/>
          </a:p>
        </p:txBody>
      </p:sp>
      <p:sp>
        <p:nvSpPr>
          <p:cNvPr id="15" name="Tier 1"/>
          <p:cNvSpPr/>
          <p:nvPr/>
        </p:nvSpPr>
        <p:spPr>
          <a:xfrm>
            <a:off x="8747760" y="4572000"/>
            <a:ext cx="2346960" cy="594360"/>
          </a:xfrm>
          <a:prstGeom prst="rect">
            <a:avLst/>
          </a:prstGeom>
          <a:solidFill>
            <a:srgbClr val="203864"/>
          </a:solidFill>
          <a:ln>
            <a:noFill/>
          </a:ln>
        </p:spPr>
        <p:txBody>
          <a:bodyPr wrap="square" lIns="91440" tIns="0" rIns="45720" bIns="0" rtlCol="0" anchor="ctr">
            <a:noAutofit/>
          </a:bodyPr>
          <a:lstStyle/>
          <a:p>
            <a:pPr marL="0" indent="0">
              <a:buNone/>
            </a:pPr>
            <a:r>
              <a:rPr lang="vi-VN" sz="1400" b="1">
                <a:solidFill>
                  <a:srgbClr val="FFFFFF"/>
                </a:solidFill>
              </a:rPr>
              <a:t>1 · Chuyện gì đã xảy ra?</a:t>
            </a:r>
            <a:endParaRPr lang="vi-VN" sz="1400"/>
          </a:p>
        </p:txBody>
      </p:sp>
      <p:sp>
        <p:nvSpPr>
          <p:cNvPr id="16" name="Tier 2"/>
          <p:cNvSpPr/>
          <p:nvPr/>
        </p:nvSpPr>
        <p:spPr>
          <a:xfrm>
            <a:off x="8884920" y="3931920"/>
            <a:ext cx="2346960" cy="594360"/>
          </a:xfrm>
          <a:prstGeom prst="rect">
            <a:avLst/>
          </a:prstGeom>
          <a:solidFill>
            <a:srgbClr val="F3F5F9"/>
          </a:solidFill>
          <a:ln>
            <a:noFill/>
          </a:ln>
        </p:spPr>
        <p:txBody>
          <a:bodyPr wrap="square" lIns="91440" tIns="0" rIns="45720" bIns="0" rtlCol="0" anchor="ctr">
            <a:noAutofit/>
          </a:bodyPr>
          <a:lstStyle/>
          <a:p>
            <a:pPr marL="0" indent="0">
              <a:buNone/>
            </a:pPr>
            <a:r>
              <a:rPr lang="vi-VN" sz="1400">
                <a:solidFill>
                  <a:srgbClr val="1B2230"/>
                </a:solidFill>
              </a:rPr>
              <a:t>2 · Ở đâu, khi nào, nhóm nào?</a:t>
            </a:r>
            <a:endParaRPr lang="vi-VN" sz="1400"/>
          </a:p>
        </p:txBody>
      </p:sp>
      <p:sp>
        <p:nvSpPr>
          <p:cNvPr id="17" name="Tier 3"/>
          <p:cNvSpPr/>
          <p:nvPr/>
        </p:nvSpPr>
        <p:spPr>
          <a:xfrm>
            <a:off x="9022080" y="3291840"/>
            <a:ext cx="2346960" cy="594360"/>
          </a:xfrm>
          <a:prstGeom prst="rect">
            <a:avLst/>
          </a:prstGeom>
          <a:solidFill>
            <a:srgbClr val="F3F5F9"/>
          </a:solidFill>
          <a:ln>
            <a:noFill/>
          </a:ln>
        </p:spPr>
        <p:txBody>
          <a:bodyPr wrap="square" lIns="91440" tIns="0" rIns="45720" bIns="0" rtlCol="0" anchor="ctr">
            <a:noAutofit/>
          </a:bodyPr>
          <a:lstStyle/>
          <a:p>
            <a:pPr marL="0" indent="0">
              <a:buNone/>
            </a:pPr>
            <a:r>
              <a:rPr lang="vi-VN" sz="1400">
                <a:solidFill>
                  <a:srgbClr val="1B2230"/>
                </a:solidFill>
              </a:rPr>
              <a:t>3 · Vì sao?</a:t>
            </a:r>
            <a:endParaRPr lang="vi-VN" sz="1400"/>
          </a:p>
        </p:txBody>
      </p:sp>
      <p:sp>
        <p:nvSpPr>
          <p:cNvPr id="18" name="Tier 4"/>
          <p:cNvSpPr/>
          <p:nvPr/>
        </p:nvSpPr>
        <p:spPr>
          <a:xfrm>
            <a:off x="9159240" y="2651760"/>
            <a:ext cx="2346960" cy="594360"/>
          </a:xfrm>
          <a:prstGeom prst="rect">
            <a:avLst/>
          </a:prstGeom>
          <a:solidFill>
            <a:srgbClr val="F3F5F9"/>
          </a:solidFill>
          <a:ln>
            <a:noFill/>
          </a:ln>
        </p:spPr>
        <p:txBody>
          <a:bodyPr wrap="square" lIns="91440" tIns="0" rIns="45720" bIns="0" rtlCol="0" anchor="ctr">
            <a:noAutofit/>
          </a:bodyPr>
          <a:lstStyle/>
          <a:p>
            <a:pPr marL="0" indent="0">
              <a:buNone/>
            </a:pPr>
            <a:r>
              <a:rPr lang="vi-VN" sz="1400">
                <a:solidFill>
                  <a:srgbClr val="1B2230"/>
                </a:solidFill>
              </a:rPr>
              <a:t>4 · Nên làm gì?</a:t>
            </a:r>
            <a:endParaRPr lang="vi-VN" sz="1400"/>
          </a:p>
        </p:txBody>
      </p:sp>
      <p:sp>
        <p:nvSpPr>
          <p:cNvPr id="19" name="Tier 5"/>
          <p:cNvSpPr/>
          <p:nvPr/>
        </p:nvSpPr>
        <p:spPr>
          <a:xfrm>
            <a:off x="9296400" y="2011680"/>
            <a:ext cx="2346960" cy="594360"/>
          </a:xfrm>
          <a:prstGeom prst="rect">
            <a:avLst/>
          </a:prstGeom>
          <a:solidFill>
            <a:srgbClr val="F3F5F9"/>
          </a:solidFill>
          <a:ln>
            <a:noFill/>
          </a:ln>
        </p:spPr>
        <p:txBody>
          <a:bodyPr wrap="square" lIns="91440" tIns="0" rIns="45720" bIns="0" rtlCol="0" anchor="ctr">
            <a:noAutofit/>
          </a:bodyPr>
          <a:lstStyle/>
          <a:p>
            <a:pPr marL="0" indent="0">
              <a:buNone/>
            </a:pPr>
            <a:r>
              <a:rPr lang="vi-VN" sz="1400">
                <a:solidFill>
                  <a:srgbClr val="1B2230"/>
                </a:solidFill>
              </a:rPr>
              <a:t>5 · Sắp tới thế nào?</a:t>
            </a:r>
            <a:endParaRPr lang="vi-VN" sz="1400"/>
          </a:p>
        </p:txBody>
      </p:sp>
      <p:sp>
        <p:nvSpPr>
          <p:cNvPr id="20" name="TextBox"/>
          <p:cNvSpPr txBox="1"/>
          <p:nvPr/>
        </p:nvSpPr>
        <p:spPr>
          <a:xfrm>
            <a:off x="8747760" y="5257800"/>
            <a:ext cx="2895600" cy="640080"/>
          </a:xfrm>
          <a:prstGeom prst="rect">
            <a:avLst/>
          </a:prstGeom>
          <a:noFill/>
          <a:ln>
            <a:noFill/>
          </a:ln>
        </p:spPr>
        <p:txBody>
          <a:bodyPr wrap="square" lIns="0" tIns="0" rIns="0" bIns="0" rtlCol="0" anchor="t">
            <a:noAutofit/>
          </a:bodyPr>
          <a:lstStyle/>
          <a:p>
            <a:pPr marL="0" indent="0">
              <a:buNone/>
            </a:pPr>
            <a:r>
              <a:rPr lang="vi-VN" sz="1400">
                <a:solidFill>
                  <a:srgbClr val="585858"/>
                </a:solidFill>
              </a:rPr>
              <a:t>Mỗi buổi leo thêm một bậc. Hôm nay: </a:t>
            </a:r>
            <a:r>
              <a:rPr lang="vi-VN" sz="1400" b="1">
                <a:solidFill>
                  <a:srgbClr val="203864"/>
                </a:solidFill>
              </a:rPr>
              <a:t>Tầng 1</a:t>
            </a:r>
            <a:r>
              <a:rPr lang="vi-VN" sz="1400">
                <a:solidFill>
                  <a:srgbClr val="585858"/>
                </a:solidFill>
              </a:rPr>
              <a:t>.</a:t>
            </a:r>
            <a:endParaRPr lang="vi-VN" sz="1400"/>
          </a:p>
        </p:txBody>
      </p:sp>
    </p:spTree>
    <p:extLst>
      <p:ext uri="{BB962C8B-B14F-4D97-AF65-F5344CB8AC3E}">
        <p14:creationId xmlns:p14="http://schemas.microsoft.com/office/powerpoint/2010/main" val="2890397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0 · MỞ ĐẦU</a:t>
            </a:r>
            <a:endParaRPr lang="vi-VN" sz="1400"/>
          </a:p>
        </p:txBody>
      </p:sp>
      <p:sp>
        <p:nvSpPr>
          <p:cNvPr id="12" name="title 12"/>
          <p:cNvSpPr>
            <a:spLocks noGrp="1"/>
          </p:cNvSpPr>
          <p:nvPr>
            <p:ph type="title"/>
          </p:nvPr>
        </p:nvSpPr>
        <p:spPr/>
        <p:txBody>
          <a:bodyPr>
            <a:normAutofit/>
          </a:bodyPr>
          <a:lstStyle/>
          <a:p>
            <a:r>
              <a:rPr lang="vi-VN"/>
              <a:t>Case khóa học: chuỗi bán lẻ MCI Mart</a:t>
            </a:r>
          </a:p>
        </p:txBody>
      </p:sp>
      <p:sp>
        <p:nvSpPr>
          <p:cNvPr id="13" name="KPI cửa hàng"/>
          <p:cNvSpPr/>
          <p:nvPr/>
        </p:nvSpPr>
        <p:spPr>
          <a:xfrm>
            <a:off x="1524000" y="1554480"/>
            <a:ext cx="2358390" cy="1417320"/>
          </a:xfrm>
          <a:prstGeom prst="roundRect">
            <a:avLst>
              <a:gd name="adj" fmla="val 1792"/>
            </a:avLst>
          </a:prstGeom>
          <a:solidFill>
            <a:srgbClr val="FFFFFF"/>
          </a:solidFill>
          <a:ln w="12700">
            <a:solidFill>
              <a:srgbClr val="D9DEE8"/>
            </a:solidFill>
          </a:ln>
        </p:spPr>
        <p:txBody>
          <a:bodyPr wrap="square" lIns="182880" tIns="45720" rIns="91440" bIns="45720" rtlCol="0" anchor="ctr">
            <a:noAutofit/>
          </a:bodyPr>
          <a:lstStyle/>
          <a:p>
            <a:pPr marL="0" indent="0">
              <a:buNone/>
            </a:pPr>
            <a:r>
              <a:rPr lang="vi-VN" sz="3600" b="1">
                <a:solidFill>
                  <a:srgbClr val="203864"/>
                </a:solidFill>
              </a:rPr>
              <a:t>12</a:t>
            </a:r>
            <a:endParaRPr lang="vi-VN" sz="3600"/>
          </a:p>
          <a:p>
            <a:pPr marL="0" indent="0">
              <a:buNone/>
            </a:pPr>
            <a:r>
              <a:rPr lang="vi-VN" sz="1800" b="1">
                <a:solidFill>
                  <a:srgbClr val="1B2230"/>
                </a:solidFill>
              </a:rPr>
              <a:t>cửa hàng</a:t>
            </a:r>
            <a:endParaRPr lang="vi-VN" sz="1800"/>
          </a:p>
          <a:p>
            <a:pPr marL="0" indent="0">
              <a:buNone/>
            </a:pPr>
            <a:r>
              <a:rPr lang="vi-VN" sz="1400">
                <a:solidFill>
                  <a:srgbClr val="585858"/>
                </a:solidFill>
              </a:rPr>
              <a:t>Bắc 4 · Trung 3 · Nam 5</a:t>
            </a:r>
            <a:endParaRPr lang="vi-VN" sz="1400"/>
          </a:p>
        </p:txBody>
      </p:sp>
      <p:sp>
        <p:nvSpPr>
          <p:cNvPr id="14" name="KPI miền"/>
          <p:cNvSpPr/>
          <p:nvPr/>
        </p:nvSpPr>
        <p:spPr>
          <a:xfrm>
            <a:off x="4110990" y="1554480"/>
            <a:ext cx="2358390" cy="1417320"/>
          </a:xfrm>
          <a:prstGeom prst="roundRect">
            <a:avLst>
              <a:gd name="adj" fmla="val 1792"/>
            </a:avLst>
          </a:prstGeom>
          <a:solidFill>
            <a:srgbClr val="FFFFFF"/>
          </a:solidFill>
          <a:ln w="12700">
            <a:solidFill>
              <a:srgbClr val="D9DEE8"/>
            </a:solidFill>
          </a:ln>
        </p:spPr>
        <p:txBody>
          <a:bodyPr wrap="square" lIns="182880" tIns="45720" rIns="91440" bIns="45720" rtlCol="0" anchor="ctr">
            <a:noAutofit/>
          </a:bodyPr>
          <a:lstStyle/>
          <a:p>
            <a:pPr marL="0" indent="0">
              <a:buNone/>
            </a:pPr>
            <a:r>
              <a:rPr lang="vi-VN" sz="3600" b="1">
                <a:solidFill>
                  <a:srgbClr val="203864"/>
                </a:solidFill>
              </a:rPr>
              <a:t>3</a:t>
            </a:r>
            <a:endParaRPr lang="vi-VN" sz="3600"/>
          </a:p>
          <a:p>
            <a:pPr marL="0" indent="0">
              <a:buNone/>
            </a:pPr>
            <a:r>
              <a:rPr lang="vi-VN" sz="1800" b="1">
                <a:solidFill>
                  <a:srgbClr val="1B2230"/>
                </a:solidFill>
              </a:rPr>
              <a:t>miền</a:t>
            </a:r>
            <a:endParaRPr lang="vi-VN" sz="1800"/>
          </a:p>
          <a:p>
            <a:pPr marL="0" indent="0">
              <a:buNone/>
            </a:pPr>
            <a:r>
              <a:rPr lang="vi-VN" sz="1400">
                <a:solidFill>
                  <a:srgbClr val="585858"/>
                </a:solidFill>
              </a:rPr>
              <a:t>Bắc · Trung · Nam</a:t>
            </a:r>
            <a:endParaRPr lang="vi-VN" sz="1400"/>
          </a:p>
        </p:txBody>
      </p:sp>
      <p:sp>
        <p:nvSpPr>
          <p:cNvPr id="15" name="KPI sản phẩm"/>
          <p:cNvSpPr/>
          <p:nvPr/>
        </p:nvSpPr>
        <p:spPr>
          <a:xfrm>
            <a:off x="6697980" y="1554480"/>
            <a:ext cx="2358390" cy="1417320"/>
          </a:xfrm>
          <a:prstGeom prst="roundRect">
            <a:avLst>
              <a:gd name="adj" fmla="val 1792"/>
            </a:avLst>
          </a:prstGeom>
          <a:solidFill>
            <a:srgbClr val="FFFFFF"/>
          </a:solidFill>
          <a:ln w="12700">
            <a:solidFill>
              <a:srgbClr val="D9DEE8"/>
            </a:solidFill>
          </a:ln>
        </p:spPr>
        <p:txBody>
          <a:bodyPr wrap="square" lIns="182880" tIns="45720" rIns="91440" bIns="45720" rtlCol="0" anchor="ctr">
            <a:noAutofit/>
          </a:bodyPr>
          <a:lstStyle/>
          <a:p>
            <a:pPr marL="0" indent="0">
              <a:buNone/>
            </a:pPr>
            <a:r>
              <a:rPr lang="vi-VN" sz="3600" b="1">
                <a:solidFill>
                  <a:srgbClr val="203864"/>
                </a:solidFill>
              </a:rPr>
              <a:t>40</a:t>
            </a:r>
            <a:endParaRPr lang="vi-VN" sz="3600"/>
          </a:p>
          <a:p>
            <a:pPr marL="0" indent="0">
              <a:buNone/>
            </a:pPr>
            <a:r>
              <a:rPr lang="vi-VN" sz="1800" b="1">
                <a:solidFill>
                  <a:srgbClr val="1B2230"/>
                </a:solidFill>
              </a:rPr>
              <a:t>sản phẩm</a:t>
            </a:r>
            <a:endParaRPr lang="vi-VN" sz="1800"/>
          </a:p>
          <a:p>
            <a:pPr marL="0" indent="0">
              <a:buNone/>
            </a:pPr>
            <a:r>
              <a:rPr lang="vi-VN" sz="1400">
                <a:solidFill>
                  <a:srgbClr val="585858"/>
                </a:solidFill>
              </a:rPr>
              <a:t>6 ngành hàng</a:t>
            </a:r>
            <a:endParaRPr lang="vi-VN" sz="1400"/>
          </a:p>
        </p:txBody>
      </p:sp>
      <p:sp>
        <p:nvSpPr>
          <p:cNvPr id="16" name="KPI khách hàng"/>
          <p:cNvSpPr/>
          <p:nvPr/>
        </p:nvSpPr>
        <p:spPr>
          <a:xfrm>
            <a:off x="9284970" y="1554480"/>
            <a:ext cx="2358390" cy="1417320"/>
          </a:xfrm>
          <a:prstGeom prst="roundRect">
            <a:avLst>
              <a:gd name="adj" fmla="val 1792"/>
            </a:avLst>
          </a:prstGeom>
          <a:solidFill>
            <a:srgbClr val="FFFFFF"/>
          </a:solidFill>
          <a:ln w="12700">
            <a:solidFill>
              <a:srgbClr val="D9DEE8"/>
            </a:solidFill>
          </a:ln>
        </p:spPr>
        <p:txBody>
          <a:bodyPr wrap="square" lIns="182880" tIns="45720" rIns="91440" bIns="45720" rtlCol="0" anchor="ctr">
            <a:noAutofit/>
          </a:bodyPr>
          <a:lstStyle/>
          <a:p>
            <a:pPr marL="0" indent="0">
              <a:buNone/>
            </a:pPr>
            <a:r>
              <a:rPr lang="vi-VN" sz="3600" b="1">
                <a:solidFill>
                  <a:srgbClr val="203864"/>
                </a:solidFill>
              </a:rPr>
              <a:t>1.500</a:t>
            </a:r>
            <a:endParaRPr lang="vi-VN" sz="3600"/>
          </a:p>
          <a:p>
            <a:pPr marL="0" indent="0">
              <a:buNone/>
            </a:pPr>
            <a:r>
              <a:rPr lang="vi-VN" sz="1800" b="1">
                <a:solidFill>
                  <a:srgbClr val="1B2230"/>
                </a:solidFill>
              </a:rPr>
              <a:t>khách hàng</a:t>
            </a:r>
            <a:endParaRPr lang="vi-VN" sz="1800"/>
          </a:p>
          <a:p>
            <a:pPr marL="0" indent="0">
              <a:buNone/>
            </a:pPr>
            <a:r>
              <a:rPr lang="vi-VN" sz="1400">
                <a:solidFill>
                  <a:srgbClr val="585858"/>
                </a:solidFill>
              </a:rPr>
              <a:t>thành viên</a:t>
            </a:r>
            <a:endParaRPr lang="vi-VN" sz="1400"/>
          </a:p>
        </p:txBody>
      </p:sp>
      <p:sp>
        <p:nvSpPr>
          <p:cNvPr id="17" name="TextBox"/>
          <p:cNvSpPr txBox="1"/>
          <p:nvPr/>
        </p:nvSpPr>
        <p:spPr>
          <a:xfrm>
            <a:off x="1524000" y="3200400"/>
            <a:ext cx="10119360" cy="457200"/>
          </a:xfrm>
          <a:prstGeom prst="rect">
            <a:avLst/>
          </a:prstGeom>
          <a:noFill/>
          <a:ln>
            <a:noFill/>
          </a:ln>
        </p:spPr>
        <p:txBody>
          <a:bodyPr wrap="square" lIns="0" tIns="0" rIns="0" bIns="0" rtlCol="0" anchor="t">
            <a:noAutofit/>
          </a:bodyPr>
          <a:lstStyle/>
          <a:p>
            <a:pPr marL="0" indent="0">
              <a:buNone/>
            </a:pPr>
            <a:r>
              <a:rPr lang="vi-VN" sz="2000">
                <a:solidFill>
                  <a:srgbClr val="585858"/>
                </a:solidFill>
              </a:rPr>
              <a:t>Người dùng báo cáo: </a:t>
            </a:r>
            <a:r>
              <a:rPr lang="vi-VN" sz="2000" b="1">
                <a:solidFill>
                  <a:srgbClr val="1B2230"/>
                </a:solidFill>
              </a:rPr>
              <a:t>Giám đốc bán hàng</a:t>
            </a:r>
            <a:r>
              <a:rPr lang="vi-VN" sz="2000">
                <a:solidFill>
                  <a:srgbClr val="585858"/>
                </a:solidFill>
              </a:rPr>
              <a:t>   ·   Dữ liệu: </a:t>
            </a:r>
            <a:r>
              <a:rPr lang="vi-VN" sz="2000" b="1">
                <a:solidFill>
                  <a:srgbClr val="1B2230"/>
                </a:solidFill>
              </a:rPr>
              <a:t>01/2024 – 04/2025</a:t>
            </a:r>
            <a:endParaRPr lang="vi-VN" sz="2000"/>
          </a:p>
        </p:txBody>
      </p:sp>
      <p:sp>
        <p:nvSpPr>
          <p:cNvPr id="18" name="Table box Sales"/>
          <p:cNvSpPr/>
          <p:nvPr/>
        </p:nvSpPr>
        <p:spPr>
          <a:xfrm>
            <a:off x="1524000" y="3886200"/>
            <a:ext cx="1804416" cy="118872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9" name="Table head Sales"/>
          <p:cNvSpPr/>
          <p:nvPr/>
        </p:nvSpPr>
        <p:spPr>
          <a:xfrm>
            <a:off x="1524000" y="3886200"/>
            <a:ext cx="1804416" cy="411480"/>
          </a:xfrm>
          <a:prstGeom prst="rect">
            <a:avLst/>
          </a:prstGeom>
          <a:solidFill>
            <a:srgbClr val="203864"/>
          </a:solidFill>
          <a:ln>
            <a:noFill/>
          </a:ln>
        </p:spPr>
        <p:txBody>
          <a:bodyPr wrap="square" lIns="0" tIns="0" rIns="0" bIns="0" rtlCol="0" anchor="ctr">
            <a:noAutofit/>
          </a:bodyPr>
          <a:lstStyle/>
          <a:p>
            <a:pPr marL="0" indent="0" algn="ctr">
              <a:buNone/>
            </a:pPr>
            <a:r>
              <a:rPr lang="vi-VN" sz="1600" b="1">
                <a:solidFill>
                  <a:srgbClr val="FFFFFF"/>
                </a:solidFill>
              </a:rPr>
              <a:t>Sales</a:t>
            </a:r>
            <a:endParaRPr lang="vi-VN" sz="1600"/>
          </a:p>
        </p:txBody>
      </p:sp>
      <p:sp>
        <p:nvSpPr>
          <p:cNvPr id="20" name="row"/>
          <p:cNvSpPr/>
          <p:nvPr/>
        </p:nvSpPr>
        <p:spPr>
          <a:xfrm>
            <a:off x="1661160" y="4434840"/>
            <a:ext cx="15300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21" name="row"/>
          <p:cNvSpPr/>
          <p:nvPr/>
        </p:nvSpPr>
        <p:spPr>
          <a:xfrm>
            <a:off x="1661160" y="4617720"/>
            <a:ext cx="15300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22" name="row"/>
          <p:cNvSpPr/>
          <p:nvPr/>
        </p:nvSpPr>
        <p:spPr>
          <a:xfrm>
            <a:off x="1661160" y="4800600"/>
            <a:ext cx="10728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23" name="Table box Product"/>
          <p:cNvSpPr/>
          <p:nvPr/>
        </p:nvSpPr>
        <p:spPr>
          <a:xfrm>
            <a:off x="3602736" y="3886200"/>
            <a:ext cx="1804416" cy="118872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4" name="Table head Product"/>
          <p:cNvSpPr/>
          <p:nvPr/>
        </p:nvSpPr>
        <p:spPr>
          <a:xfrm>
            <a:off x="3602736" y="3886200"/>
            <a:ext cx="1804416" cy="411480"/>
          </a:xfrm>
          <a:prstGeom prst="rect">
            <a:avLst/>
          </a:prstGeom>
          <a:solidFill>
            <a:srgbClr val="203864"/>
          </a:solidFill>
          <a:ln>
            <a:noFill/>
          </a:ln>
        </p:spPr>
        <p:txBody>
          <a:bodyPr wrap="square" lIns="0" tIns="0" rIns="0" bIns="0" rtlCol="0" anchor="ctr">
            <a:noAutofit/>
          </a:bodyPr>
          <a:lstStyle/>
          <a:p>
            <a:pPr marL="0" indent="0" algn="ctr">
              <a:buNone/>
            </a:pPr>
            <a:r>
              <a:rPr lang="vi-VN" sz="1600" b="1">
                <a:solidFill>
                  <a:srgbClr val="FFFFFF"/>
                </a:solidFill>
              </a:rPr>
              <a:t>Product</a:t>
            </a:r>
            <a:endParaRPr lang="vi-VN" sz="1600"/>
          </a:p>
        </p:txBody>
      </p:sp>
      <p:sp>
        <p:nvSpPr>
          <p:cNvPr id="25" name="row"/>
          <p:cNvSpPr/>
          <p:nvPr/>
        </p:nvSpPr>
        <p:spPr>
          <a:xfrm>
            <a:off x="3739896" y="4434840"/>
            <a:ext cx="15300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26" name="row"/>
          <p:cNvSpPr/>
          <p:nvPr/>
        </p:nvSpPr>
        <p:spPr>
          <a:xfrm>
            <a:off x="3739896" y="4617720"/>
            <a:ext cx="15300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27" name="row"/>
          <p:cNvSpPr/>
          <p:nvPr/>
        </p:nvSpPr>
        <p:spPr>
          <a:xfrm>
            <a:off x="3739896" y="4800600"/>
            <a:ext cx="10728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28" name="Table box Store"/>
          <p:cNvSpPr/>
          <p:nvPr/>
        </p:nvSpPr>
        <p:spPr>
          <a:xfrm>
            <a:off x="5681472" y="3886200"/>
            <a:ext cx="1804416" cy="118872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9" name="Table head Store"/>
          <p:cNvSpPr/>
          <p:nvPr/>
        </p:nvSpPr>
        <p:spPr>
          <a:xfrm>
            <a:off x="5681472" y="3886200"/>
            <a:ext cx="1804416" cy="411480"/>
          </a:xfrm>
          <a:prstGeom prst="rect">
            <a:avLst/>
          </a:prstGeom>
          <a:solidFill>
            <a:srgbClr val="203864"/>
          </a:solidFill>
          <a:ln>
            <a:noFill/>
          </a:ln>
        </p:spPr>
        <p:txBody>
          <a:bodyPr wrap="square" lIns="0" tIns="0" rIns="0" bIns="0" rtlCol="0" anchor="ctr">
            <a:noAutofit/>
          </a:bodyPr>
          <a:lstStyle/>
          <a:p>
            <a:pPr marL="0" indent="0" algn="ctr">
              <a:buNone/>
            </a:pPr>
            <a:r>
              <a:rPr lang="vi-VN" sz="1600" b="1">
                <a:solidFill>
                  <a:srgbClr val="FFFFFF"/>
                </a:solidFill>
              </a:rPr>
              <a:t>Store</a:t>
            </a:r>
            <a:endParaRPr lang="vi-VN" sz="1600"/>
          </a:p>
        </p:txBody>
      </p:sp>
      <p:sp>
        <p:nvSpPr>
          <p:cNvPr id="30" name="row"/>
          <p:cNvSpPr/>
          <p:nvPr/>
        </p:nvSpPr>
        <p:spPr>
          <a:xfrm>
            <a:off x="5818632" y="4434840"/>
            <a:ext cx="15300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31" name="row"/>
          <p:cNvSpPr/>
          <p:nvPr/>
        </p:nvSpPr>
        <p:spPr>
          <a:xfrm>
            <a:off x="5818632" y="4617720"/>
            <a:ext cx="15300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32" name="row"/>
          <p:cNvSpPr/>
          <p:nvPr/>
        </p:nvSpPr>
        <p:spPr>
          <a:xfrm>
            <a:off x="5818632" y="4800600"/>
            <a:ext cx="10728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33" name="Table box Customer"/>
          <p:cNvSpPr/>
          <p:nvPr/>
        </p:nvSpPr>
        <p:spPr>
          <a:xfrm>
            <a:off x="7760208" y="3886200"/>
            <a:ext cx="1804416" cy="118872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34" name="Table head Customer"/>
          <p:cNvSpPr/>
          <p:nvPr/>
        </p:nvSpPr>
        <p:spPr>
          <a:xfrm>
            <a:off x="7760208" y="3886200"/>
            <a:ext cx="1804416" cy="411480"/>
          </a:xfrm>
          <a:prstGeom prst="rect">
            <a:avLst/>
          </a:prstGeom>
          <a:solidFill>
            <a:srgbClr val="203864"/>
          </a:solidFill>
          <a:ln>
            <a:noFill/>
          </a:ln>
        </p:spPr>
        <p:txBody>
          <a:bodyPr wrap="square" lIns="0" tIns="0" rIns="0" bIns="0" rtlCol="0" anchor="ctr">
            <a:noAutofit/>
          </a:bodyPr>
          <a:lstStyle/>
          <a:p>
            <a:pPr marL="0" indent="0" algn="ctr">
              <a:buNone/>
            </a:pPr>
            <a:r>
              <a:rPr lang="vi-VN" sz="1600" b="1">
                <a:solidFill>
                  <a:srgbClr val="FFFFFF"/>
                </a:solidFill>
              </a:rPr>
              <a:t>Customer</a:t>
            </a:r>
            <a:endParaRPr lang="vi-VN" sz="1600"/>
          </a:p>
        </p:txBody>
      </p:sp>
      <p:sp>
        <p:nvSpPr>
          <p:cNvPr id="35" name="row"/>
          <p:cNvSpPr/>
          <p:nvPr/>
        </p:nvSpPr>
        <p:spPr>
          <a:xfrm>
            <a:off x="7897368" y="4434840"/>
            <a:ext cx="15300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36" name="row"/>
          <p:cNvSpPr/>
          <p:nvPr/>
        </p:nvSpPr>
        <p:spPr>
          <a:xfrm>
            <a:off x="7897368" y="4617720"/>
            <a:ext cx="15300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37" name="row"/>
          <p:cNvSpPr/>
          <p:nvPr/>
        </p:nvSpPr>
        <p:spPr>
          <a:xfrm>
            <a:off x="7897368" y="4800600"/>
            <a:ext cx="10728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38" name="Table box Target"/>
          <p:cNvSpPr/>
          <p:nvPr/>
        </p:nvSpPr>
        <p:spPr>
          <a:xfrm>
            <a:off x="9838944" y="3886200"/>
            <a:ext cx="1804416" cy="118872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39" name="Table head Target"/>
          <p:cNvSpPr/>
          <p:nvPr/>
        </p:nvSpPr>
        <p:spPr>
          <a:xfrm>
            <a:off x="9838944" y="3886200"/>
            <a:ext cx="1804416" cy="411480"/>
          </a:xfrm>
          <a:prstGeom prst="rect">
            <a:avLst/>
          </a:prstGeom>
          <a:solidFill>
            <a:srgbClr val="203864"/>
          </a:solidFill>
          <a:ln>
            <a:noFill/>
          </a:ln>
        </p:spPr>
        <p:txBody>
          <a:bodyPr wrap="square" lIns="0" tIns="0" rIns="0" bIns="0" rtlCol="0" anchor="ctr">
            <a:noAutofit/>
          </a:bodyPr>
          <a:lstStyle/>
          <a:p>
            <a:pPr marL="0" indent="0" algn="ctr">
              <a:buNone/>
            </a:pPr>
            <a:r>
              <a:rPr lang="vi-VN" sz="1600" b="1">
                <a:solidFill>
                  <a:srgbClr val="FFFFFF"/>
                </a:solidFill>
              </a:rPr>
              <a:t>Target</a:t>
            </a:r>
            <a:endParaRPr lang="vi-VN" sz="1600"/>
          </a:p>
        </p:txBody>
      </p:sp>
      <p:sp>
        <p:nvSpPr>
          <p:cNvPr id="40" name="row"/>
          <p:cNvSpPr/>
          <p:nvPr/>
        </p:nvSpPr>
        <p:spPr>
          <a:xfrm>
            <a:off x="9976104" y="4434840"/>
            <a:ext cx="15300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41" name="row"/>
          <p:cNvSpPr/>
          <p:nvPr/>
        </p:nvSpPr>
        <p:spPr>
          <a:xfrm>
            <a:off x="9976104" y="4617720"/>
            <a:ext cx="15300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42" name="row"/>
          <p:cNvSpPr/>
          <p:nvPr/>
        </p:nvSpPr>
        <p:spPr>
          <a:xfrm>
            <a:off x="9976104" y="4800600"/>
            <a:ext cx="1072896" cy="73152"/>
          </a:xfrm>
          <a:prstGeom prst="rect">
            <a:avLst/>
          </a:prstGeom>
          <a:solidFill>
            <a:srgbClr val="D9DEE8"/>
          </a:solidFill>
          <a:ln>
            <a:noFill/>
          </a:ln>
        </p:spPr>
        <p:txBody>
          <a:bodyPr wrap="square" lIns="91440" tIns="45720" rIns="91440" bIns="45720" rtlCol="0" anchor="t">
            <a:noAutofit/>
          </a:bodyPr>
          <a:lstStyle/>
          <a:p>
            <a:pPr marL="0" indent="0">
              <a:buNone/>
            </a:pPr>
            <a:endParaRPr lang="vi-VN"/>
          </a:p>
        </p:txBody>
      </p:sp>
      <p:sp>
        <p:nvSpPr>
          <p:cNvPr id="43" name="TextBox"/>
          <p:cNvSpPr txBox="1"/>
          <p:nvPr/>
        </p:nvSpPr>
        <p:spPr>
          <a:xfrm>
            <a:off x="1524000" y="5166360"/>
            <a:ext cx="10119360" cy="320040"/>
          </a:xfrm>
          <a:prstGeom prst="rect">
            <a:avLst/>
          </a:prstGeom>
          <a:noFill/>
          <a:ln>
            <a:noFill/>
          </a:ln>
        </p:spPr>
        <p:txBody>
          <a:bodyPr wrap="square" lIns="0" tIns="0" rIns="0" bIns="0" rtlCol="0" anchor="t">
            <a:noAutofit/>
          </a:bodyPr>
          <a:lstStyle/>
          <a:p>
            <a:pPr marL="0" indent="0">
              <a:buNone/>
            </a:pPr>
            <a:r>
              <a:rPr lang="vi-VN" sz="1400">
                <a:solidFill>
                  <a:srgbClr val="6B6F76"/>
                </a:solidFill>
              </a:rPr>
              <a:t>5 bảng đứng riêng lẻ, chưa nối quan hệ. B4 thêm bảng Calendar; B5 nối thành mô hình.</a:t>
            </a:r>
            <a:endParaRPr lang="vi-VN" sz="1400"/>
          </a:p>
        </p:txBody>
      </p:sp>
    </p:spTree>
    <p:extLst>
      <p:ext uri="{BB962C8B-B14F-4D97-AF65-F5344CB8AC3E}">
        <p14:creationId xmlns:p14="http://schemas.microsoft.com/office/powerpoint/2010/main" val="3198454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1"/>
          <p:cNvSpPr>
            <a:spLocks noGrp="1"/>
          </p:cNvSpPr>
          <p:nvPr>
            <p:ph type="title"/>
          </p:nvPr>
        </p:nvSpPr>
        <p:spPr/>
        <p:txBody>
          <a:bodyPr>
            <a:normAutofit/>
          </a:bodyPr>
          <a:lstStyle/>
          <a:p>
            <a:r>
              <a:rPr lang="vi-VN"/>
              <a:t>1. Excel dùng cho BI: phiên bản &amp; chuẩn bị máy</a:t>
            </a:r>
          </a:p>
        </p:txBody>
      </p:sp>
    </p:spTree>
    <p:extLst>
      <p:ext uri="{BB962C8B-B14F-4D97-AF65-F5344CB8AC3E}">
        <p14:creationId xmlns:p14="http://schemas.microsoft.com/office/powerpoint/2010/main" val="2215174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1 · PHIÊN BẢN &amp; MÁY</a:t>
            </a:r>
            <a:endParaRPr lang="vi-VN" sz="1400"/>
          </a:p>
        </p:txBody>
      </p:sp>
      <p:sp>
        <p:nvSpPr>
          <p:cNvPr id="12" name="title 12"/>
          <p:cNvSpPr>
            <a:spLocks noGrp="1"/>
          </p:cNvSpPr>
          <p:nvPr>
            <p:ph type="title"/>
          </p:nvPr>
        </p:nvSpPr>
        <p:spPr/>
        <p:txBody>
          <a:bodyPr>
            <a:normAutofit/>
          </a:bodyPr>
          <a:lstStyle/>
          <a:p>
            <a:r>
              <a:rPr lang="vi-VN"/>
              <a:t>So sánh phiên bản Excel cho BI</a:t>
            </a:r>
          </a:p>
        </p:txBody>
      </p:sp>
      <p:graphicFrame>
        <p:nvGraphicFramePr>
          <p:cNvPr id="13" name="Table 13"/>
          <p:cNvGraphicFramePr>
            <a:graphicFrameLocks noGrp="1"/>
          </p:cNvGraphicFramePr>
          <p:nvPr/>
        </p:nvGraphicFramePr>
        <p:xfrm>
          <a:off x="1524000" y="1554480"/>
          <a:ext cx="10119360" cy="3048000"/>
        </p:xfrm>
        <a:graphic>
          <a:graphicData uri="http://schemas.openxmlformats.org/drawingml/2006/table">
            <a:tbl>
              <a:tblPr firstRow="1"/>
              <a:tblGrid>
                <a:gridCol w="265176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981200">
                  <a:extLst>
                    <a:ext uri="{9D8B030D-6E8A-4147-A177-3AD203B41FA5}">
                      <a16:colId xmlns:a16="http://schemas.microsoft.com/office/drawing/2014/main" val="20004"/>
                    </a:ext>
                  </a:extLst>
                </a:gridCol>
              </a:tblGrid>
              <a:tr h="640080">
                <a:tc>
                  <a:txBody>
                    <a:bodyPr/>
                    <a:lstStyle/>
                    <a:p>
                      <a:pPr marL="0" indent="0" algn="l">
                        <a:buNone/>
                      </a:pPr>
                      <a:endParaRPr lang="vi-VN" sz="1600"/>
                    </a:p>
                  </a:txBody>
                  <a:tcPr anchor="ctr">
                    <a:lnL w="0">
                      <a:noFill/>
                    </a:lnL>
                    <a:lnR w="0">
                      <a:noFill/>
                    </a:lnR>
                    <a:lnT w="0">
                      <a:noFill/>
                    </a:lnT>
                    <a:lnB w="12700">
                      <a:solidFill>
                        <a:srgbClr val="D9DEE8"/>
                      </a:solidFill>
                    </a:lnB>
                    <a:solidFill>
                      <a:srgbClr val="203864"/>
                    </a:solidFill>
                  </a:tcPr>
                </a:tc>
                <a:tc>
                  <a:txBody>
                    <a:bodyPr/>
                    <a:lstStyle/>
                    <a:p>
                      <a:pPr marL="0" indent="0" algn="l">
                        <a:buNone/>
                      </a:pPr>
                      <a:r>
                        <a:rPr lang="vi-VN" sz="1600" b="1">
                          <a:solidFill>
                            <a:srgbClr val="FFFFFF"/>
                          </a:solidFill>
                        </a:rPr>
                        <a:t>Excel 2016+ (Windows)</a:t>
                      </a:r>
                      <a:endParaRPr lang="vi-VN" sz="1600"/>
                    </a:p>
                  </a:txBody>
                  <a:tcPr anchor="ctr">
                    <a:lnL w="0">
                      <a:noFill/>
                    </a:lnL>
                    <a:lnR w="0">
                      <a:noFill/>
                    </a:lnR>
                    <a:lnT w="0">
                      <a:noFill/>
                    </a:lnT>
                    <a:lnB w="12700">
                      <a:solidFill>
                        <a:srgbClr val="D9DEE8"/>
                      </a:solidFill>
                    </a:lnB>
                    <a:solidFill>
                      <a:srgbClr val="203864"/>
                    </a:solidFill>
                  </a:tcPr>
                </a:tc>
                <a:tc>
                  <a:txBody>
                    <a:bodyPr/>
                    <a:lstStyle/>
                    <a:p>
                      <a:pPr marL="0" indent="0" algn="l">
                        <a:buNone/>
                      </a:pPr>
                      <a:r>
                        <a:rPr lang="vi-VN" sz="1600" b="1">
                          <a:solidFill>
                            <a:srgbClr val="FFFFFF"/>
                          </a:solidFill>
                        </a:rPr>
                        <a:t>Microsoft 365 (Windows)</a:t>
                      </a:r>
                      <a:endParaRPr lang="vi-VN" sz="1600"/>
                    </a:p>
                  </a:txBody>
                  <a:tcPr anchor="ctr">
                    <a:lnL w="0">
                      <a:noFill/>
                    </a:lnL>
                    <a:lnR w="0">
                      <a:noFill/>
                    </a:lnR>
                    <a:lnT w="0">
                      <a:noFill/>
                    </a:lnT>
                    <a:lnB w="12700">
                      <a:solidFill>
                        <a:srgbClr val="D9DEE8"/>
                      </a:solidFill>
                    </a:lnB>
                    <a:solidFill>
                      <a:srgbClr val="203864"/>
                    </a:solidFill>
                  </a:tcPr>
                </a:tc>
                <a:tc>
                  <a:txBody>
                    <a:bodyPr/>
                    <a:lstStyle/>
                    <a:p>
                      <a:pPr marL="0" indent="0" algn="l">
                        <a:buNone/>
                      </a:pPr>
                      <a:r>
                        <a:rPr lang="vi-VN" sz="1600" b="1">
                          <a:solidFill>
                            <a:srgbClr val="FFFFFF"/>
                          </a:solidFill>
                        </a:rPr>
                        <a:t>Excel Online</a:t>
                      </a:r>
                      <a:endParaRPr lang="vi-VN" sz="1600"/>
                    </a:p>
                  </a:txBody>
                  <a:tcPr anchor="ctr">
                    <a:lnL w="0">
                      <a:noFill/>
                    </a:lnL>
                    <a:lnR w="0">
                      <a:noFill/>
                    </a:lnR>
                    <a:lnT w="0">
                      <a:noFill/>
                    </a:lnT>
                    <a:lnB w="12700">
                      <a:solidFill>
                        <a:srgbClr val="D9DEE8"/>
                      </a:solidFill>
                    </a:lnB>
                    <a:solidFill>
                      <a:srgbClr val="203864"/>
                    </a:solidFill>
                  </a:tcPr>
                </a:tc>
                <a:tc>
                  <a:txBody>
                    <a:bodyPr/>
                    <a:lstStyle/>
                    <a:p>
                      <a:pPr marL="0" indent="0" algn="l">
                        <a:buNone/>
                      </a:pPr>
                      <a:r>
                        <a:rPr lang="vi-VN" sz="1600" b="1">
                          <a:solidFill>
                            <a:srgbClr val="FFFFFF"/>
                          </a:solidFill>
                        </a:rPr>
                        <a:t>Excel cho Mac</a:t>
                      </a:r>
                      <a:endParaRPr lang="vi-VN" sz="1600"/>
                    </a:p>
                  </a:txBody>
                  <a:tcPr anchor="ctr">
                    <a:lnL w="0">
                      <a:noFill/>
                    </a:lnL>
                    <a:lnR w="0">
                      <a:noFill/>
                    </a:lnR>
                    <a:lnT w="0">
                      <a:noFill/>
                    </a:lnT>
                    <a:lnB w="12700">
                      <a:solidFill>
                        <a:srgbClr val="D9DEE8"/>
                      </a:solidFill>
                    </a:lnB>
                    <a:solidFill>
                      <a:srgbClr val="203864"/>
                    </a:solidFill>
                  </a:tcPr>
                </a:tc>
                <a:extLst>
                  <a:ext uri="{0D108BD9-81ED-4DB2-BD59-A6C34878D82A}">
                    <a16:rowId xmlns:a16="http://schemas.microsoft.com/office/drawing/2014/main" val="10000"/>
                  </a:ext>
                </a:extLst>
              </a:tr>
              <a:tr h="548640">
                <a:tc>
                  <a:txBody>
                    <a:bodyPr/>
                    <a:lstStyle/>
                    <a:p>
                      <a:pPr marL="0" indent="0" algn="l">
                        <a:buNone/>
                      </a:pPr>
                      <a:r>
                        <a:rPr lang="vi-VN" sz="1600" b="1">
                          <a:solidFill>
                            <a:srgbClr val="1B2230"/>
                          </a:solidFill>
                        </a:rPr>
                        <a:t>Power Query</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Có</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Có</a:t>
                      </a:r>
                      <a:endParaRPr lang="vi-VN" sz="1600"/>
                    </a:p>
                  </a:txBody>
                  <a:tcPr anchor="ctr">
                    <a:lnL w="0">
                      <a:noFill/>
                    </a:lnL>
                    <a:lnR w="0">
                      <a:noFill/>
                    </a:lnR>
                    <a:lnT w="12700">
                      <a:solidFill>
                        <a:srgbClr val="D9DEE8"/>
                      </a:solidFill>
                    </a:lnT>
                    <a:lnB w="12700">
                      <a:solidFill>
                        <a:srgbClr val="D9DEE8"/>
                      </a:solidFill>
                    </a:lnB>
                    <a:solidFill>
                      <a:srgbClr val="E3EDF9"/>
                    </a:solidFill>
                  </a:tcPr>
                </a:tc>
                <a:tc>
                  <a:txBody>
                    <a:bodyPr/>
                    <a:lstStyle/>
                    <a:p>
                      <a:pPr marL="0" indent="0" algn="l">
                        <a:buNone/>
                      </a:pPr>
                      <a:r>
                        <a:rPr lang="vi-VN" sz="1600">
                          <a:solidFill>
                            <a:srgbClr val="1B2230"/>
                          </a:solidFill>
                        </a:rPr>
                        <a:t>Hạn chế</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Có, thiếu một số connector</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1"/>
                  </a:ext>
                </a:extLst>
              </a:tr>
              <a:tr h="548640">
                <a:tc>
                  <a:txBody>
                    <a:bodyPr/>
                    <a:lstStyle/>
                    <a:p>
                      <a:pPr marL="0" indent="0" algn="l">
                        <a:buNone/>
                      </a:pPr>
                      <a:r>
                        <a:rPr lang="vi-VN" sz="1600" b="1">
                          <a:solidFill>
                            <a:srgbClr val="1B2230"/>
                          </a:solidFill>
                        </a:rPr>
                        <a:t>Power Pivot / Data Model</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Chỉ một số bản</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Có</a:t>
                      </a:r>
                      <a:endParaRPr lang="vi-VN" sz="1600"/>
                    </a:p>
                  </a:txBody>
                  <a:tcPr anchor="ctr">
                    <a:lnL w="0">
                      <a:noFill/>
                    </a:lnL>
                    <a:lnR w="0">
                      <a:noFill/>
                    </a:lnR>
                    <a:lnT w="12700">
                      <a:solidFill>
                        <a:srgbClr val="D9DEE8"/>
                      </a:solidFill>
                    </a:lnT>
                    <a:lnB w="12700">
                      <a:solidFill>
                        <a:srgbClr val="D9DEE8"/>
                      </a:solidFill>
                    </a:lnB>
                    <a:solidFill>
                      <a:srgbClr val="E3EDF9"/>
                    </a:solidFill>
                  </a:tcPr>
                </a:tc>
                <a:tc>
                  <a:txBody>
                    <a:bodyPr/>
                    <a:lstStyle/>
                    <a:p>
                      <a:pPr marL="0" indent="0" algn="l">
                        <a:buNone/>
                      </a:pPr>
                      <a:r>
                        <a:rPr lang="vi-VN" sz="1600" b="1">
                          <a:solidFill>
                            <a:srgbClr val="1B2230"/>
                          </a:solidFill>
                        </a:rPr>
                        <a:t>Không</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b="1">
                          <a:solidFill>
                            <a:srgbClr val="1B2230"/>
                          </a:solidFill>
                        </a:rPr>
                        <a:t>Không</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2"/>
                  </a:ext>
                </a:extLst>
              </a:tr>
              <a:tr h="640080">
                <a:tc>
                  <a:txBody>
                    <a:bodyPr/>
                    <a:lstStyle/>
                    <a:p>
                      <a:pPr marL="0" indent="0" algn="l">
                        <a:buNone/>
                      </a:pPr>
                      <a:r>
                        <a:rPr lang="vi-VN" sz="1600" b="1">
                          <a:solidFill>
                            <a:srgbClr val="1B2230"/>
                          </a:solidFill>
                        </a:rPr>
                        <a:t>Dynamic Arrays</a:t>
                      </a:r>
                      <a:r>
                        <a:rPr lang="vi-VN" sz="1600">
                          <a:solidFill>
                            <a:srgbClr val="1B2230"/>
                          </a:solidFill>
                        </a:rPr>
                        <a:t> (FILTER, XLOOKUP…)</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Không (2016/2019)</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Có</a:t>
                      </a:r>
                      <a:endParaRPr lang="vi-VN" sz="1600"/>
                    </a:p>
                  </a:txBody>
                  <a:tcPr anchor="ctr">
                    <a:lnL w="0">
                      <a:noFill/>
                    </a:lnL>
                    <a:lnR w="0">
                      <a:noFill/>
                    </a:lnR>
                    <a:lnT w="12700">
                      <a:solidFill>
                        <a:srgbClr val="D9DEE8"/>
                      </a:solidFill>
                    </a:lnT>
                    <a:lnB w="12700">
                      <a:solidFill>
                        <a:srgbClr val="D9DEE8"/>
                      </a:solidFill>
                    </a:lnB>
                    <a:solidFill>
                      <a:srgbClr val="E3EDF9"/>
                    </a:solidFill>
                  </a:tcPr>
                </a:tc>
                <a:tc>
                  <a:txBody>
                    <a:bodyPr/>
                    <a:lstStyle/>
                    <a:p>
                      <a:pPr marL="0" indent="0" algn="l">
                        <a:buNone/>
                      </a:pPr>
                      <a:r>
                        <a:rPr lang="vi-VN" sz="1600">
                          <a:solidFill>
                            <a:srgbClr val="1B2230"/>
                          </a:solidFill>
                        </a:rPr>
                        <a:t>Có</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Có (365)</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3"/>
                  </a:ext>
                </a:extLst>
              </a:tr>
              <a:tr h="640080">
                <a:tc>
                  <a:txBody>
                    <a:bodyPr/>
                    <a:lstStyle/>
                    <a:p>
                      <a:pPr marL="0" indent="0" algn="l">
                        <a:buNone/>
                      </a:pPr>
                      <a:r>
                        <a:rPr lang="vi-VN" sz="1600" b="1">
                          <a:solidFill>
                            <a:srgbClr val="1B2230"/>
                          </a:solidFill>
                        </a:rPr>
                        <a:t>Học được khóa này?</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Được nếu có Power Pivot</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b="1">
                          <a:solidFill>
                            <a:srgbClr val="1B2230"/>
                          </a:solidFill>
                        </a:rPr>
                        <a:t>Khuyến nghị</a:t>
                      </a:r>
                      <a:endParaRPr lang="vi-VN" sz="1600"/>
                    </a:p>
                  </a:txBody>
                  <a:tcPr anchor="ctr">
                    <a:lnL w="0">
                      <a:noFill/>
                    </a:lnL>
                    <a:lnR w="0">
                      <a:noFill/>
                    </a:lnR>
                    <a:lnT w="12700">
                      <a:solidFill>
                        <a:srgbClr val="D9DEE8"/>
                      </a:solidFill>
                    </a:lnT>
                    <a:lnB w="12700">
                      <a:solidFill>
                        <a:srgbClr val="D9DEE8"/>
                      </a:solidFill>
                    </a:lnB>
                    <a:solidFill>
                      <a:srgbClr val="E3EDF9"/>
                    </a:solidFill>
                  </a:tcPr>
                </a:tc>
                <a:tc>
                  <a:txBody>
                    <a:bodyPr/>
                    <a:lstStyle/>
                    <a:p>
                      <a:pPr marL="0" indent="0" algn="l">
                        <a:buNone/>
                      </a:pPr>
                      <a:r>
                        <a:rPr lang="vi-VN" sz="1600">
                          <a:solidFill>
                            <a:srgbClr val="1B2230"/>
                          </a:solidFill>
                        </a:rPr>
                        <a:t>Không (từ B4)</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Không (từ B4)</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4"/>
                  </a:ext>
                </a:extLst>
              </a:tr>
            </a:tbl>
          </a:graphicData>
        </a:graphic>
      </p:graphicFrame>
      <p:sp>
        <p:nvSpPr>
          <p:cNvPr id="14" name="TIP callout"/>
          <p:cNvSpPr/>
          <p:nvPr/>
        </p:nvSpPr>
        <p:spPr>
          <a:xfrm>
            <a:off x="1524000" y="4983480"/>
            <a:ext cx="10119360" cy="1005840"/>
          </a:xfrm>
          <a:prstGeom prst="roundRect">
            <a:avLst>
              <a:gd name="adj" fmla="val 2525"/>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15" name="TextBox"/>
          <p:cNvSpPr txBox="1"/>
          <p:nvPr/>
        </p:nvSpPr>
        <p:spPr>
          <a:xfrm>
            <a:off x="1633728" y="5093208"/>
            <a:ext cx="548640" cy="320040"/>
          </a:xfrm>
          <a:prstGeom prst="rect">
            <a:avLst/>
          </a:prstGeom>
          <a:noFill/>
          <a:ln>
            <a:noFill/>
          </a:ln>
        </p:spPr>
        <p:txBody>
          <a:bodyPr wrap="square" lIns="0" tIns="0" rIns="0" bIns="0" rtlCol="0" anchor="ctr">
            <a:noAutofit/>
          </a:bodyPr>
          <a:lstStyle/>
          <a:p>
            <a:pPr marL="0" indent="0">
              <a:buNone/>
            </a:pPr>
            <a:r>
              <a:rPr lang="vi-VN" sz="1400" b="1">
                <a:solidFill>
                  <a:srgbClr val="203864"/>
                </a:solidFill>
              </a:rPr>
              <a:t>TIP</a:t>
            </a:r>
            <a:endParaRPr lang="vi-VN" sz="1400"/>
          </a:p>
        </p:txBody>
      </p:sp>
      <p:sp>
        <p:nvSpPr>
          <p:cNvPr id="16" name="TIP text"/>
          <p:cNvSpPr txBox="1"/>
          <p:nvPr/>
        </p:nvSpPr>
        <p:spPr>
          <a:xfrm>
            <a:off x="2273808" y="5070348"/>
            <a:ext cx="9259824" cy="832104"/>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1B2230"/>
                </a:solidFill>
              </a:rPr>
              <a:t>Bạn dùng Mac? Nên cài máy ảo Windows (Parallels Desktop hoặc VMware Fusion)</a:t>
            </a:r>
            <a:r>
              <a:rPr lang="en-US" sz="1800">
                <a:solidFill>
                  <a:srgbClr val="1B2230"/>
                </a:solidFill>
              </a:rPr>
              <a:t>.</a:t>
            </a:r>
            <a:endParaRPr lang="vi-VN" sz="1800"/>
          </a:p>
        </p:txBody>
      </p:sp>
    </p:spTree>
    <p:extLst>
      <p:ext uri="{BB962C8B-B14F-4D97-AF65-F5344CB8AC3E}">
        <p14:creationId xmlns:p14="http://schemas.microsoft.com/office/powerpoint/2010/main" val="1101845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1 · PHIÊN BẢN &amp; MÁY</a:t>
            </a:r>
            <a:endParaRPr lang="vi-VN" sz="1400"/>
          </a:p>
        </p:txBody>
      </p:sp>
      <p:sp>
        <p:nvSpPr>
          <p:cNvPr id="12" name="title 12"/>
          <p:cNvSpPr>
            <a:spLocks noGrp="1"/>
          </p:cNvSpPr>
          <p:nvPr>
            <p:ph type="title"/>
          </p:nvPr>
        </p:nvSpPr>
        <p:spPr/>
        <p:txBody>
          <a:bodyPr>
            <a:normAutofit/>
          </a:bodyPr>
          <a:lstStyle/>
          <a:p>
            <a:r>
              <a:rPr lang="vi-VN"/>
              <a:t>Xác nhận kiểm tra máy</a:t>
            </a:r>
          </a:p>
        </p:txBody>
      </p:sp>
      <p:sp>
        <p:nvSpPr>
          <p:cNvPr id="13" name="Tool name"/>
          <p:cNvSpPr txBox="1"/>
          <p:nvPr/>
        </p:nvSpPr>
        <p:spPr>
          <a:xfrm>
            <a:off x="15240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Get Data</a:t>
            </a:r>
            <a:endParaRPr lang="vi-VN" sz="2400"/>
          </a:p>
        </p:txBody>
      </p:sp>
      <p:sp>
        <p:nvSpPr>
          <p:cNvPr id="14" name="Tool purpose"/>
          <p:cNvSpPr txBox="1"/>
          <p:nvPr/>
        </p:nvSpPr>
        <p:spPr>
          <a:xfrm>
            <a:off x="1524000" y="2011680"/>
            <a:ext cx="3159760" cy="64008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Có Power Query không?</a:t>
            </a:r>
            <a:endParaRPr lang="vi-VN" sz="1800"/>
          </a:p>
        </p:txBody>
      </p:sp>
      <p:cxnSp>
        <p:nvCxnSpPr>
          <p:cNvPr id="16" name="Line 16"/>
          <p:cNvCxnSpPr/>
          <p:nvPr/>
        </p:nvCxnSpPr>
        <p:spPr>
          <a:xfrm>
            <a:off x="4843780" y="1554480"/>
            <a:ext cx="0" cy="4343400"/>
          </a:xfrm>
          <a:prstGeom prst="line">
            <a:avLst/>
          </a:prstGeom>
          <a:ln w="12700">
            <a:solidFill>
              <a:srgbClr val="D9DEE8"/>
            </a:solidFill>
          </a:ln>
        </p:spPr>
      </p:cxnSp>
      <p:sp>
        <p:nvSpPr>
          <p:cNvPr id="17" name="Tool name"/>
          <p:cNvSpPr txBox="1"/>
          <p:nvPr/>
        </p:nvSpPr>
        <p:spPr>
          <a:xfrm>
            <a:off x="50038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COM Add-ins</a:t>
            </a:r>
            <a:endParaRPr lang="vi-VN" sz="2400"/>
          </a:p>
        </p:txBody>
      </p:sp>
      <p:sp>
        <p:nvSpPr>
          <p:cNvPr id="18" name="Tool purpose"/>
          <p:cNvSpPr txBox="1"/>
          <p:nvPr/>
        </p:nvSpPr>
        <p:spPr>
          <a:xfrm>
            <a:off x="5003800" y="2011680"/>
            <a:ext cx="3159760" cy="64008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Có Power Pivot không?</a:t>
            </a:r>
            <a:endParaRPr lang="vi-VN" sz="1800"/>
          </a:p>
        </p:txBody>
      </p:sp>
      <p:sp>
        <p:nvSpPr>
          <p:cNvPr id="20" name="TIP callout"/>
          <p:cNvSpPr/>
          <p:nvPr/>
        </p:nvSpPr>
        <p:spPr>
          <a:xfrm>
            <a:off x="5003800" y="4892040"/>
            <a:ext cx="3159760" cy="1005840"/>
          </a:xfrm>
          <a:prstGeom prst="roundRect">
            <a:avLst>
              <a:gd name="adj" fmla="val 2525"/>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21" name="TextBox"/>
          <p:cNvSpPr txBox="1"/>
          <p:nvPr/>
        </p:nvSpPr>
        <p:spPr>
          <a:xfrm>
            <a:off x="5113528" y="5001768"/>
            <a:ext cx="548640" cy="320040"/>
          </a:xfrm>
          <a:prstGeom prst="rect">
            <a:avLst/>
          </a:prstGeom>
          <a:noFill/>
          <a:ln>
            <a:noFill/>
          </a:ln>
        </p:spPr>
        <p:txBody>
          <a:bodyPr wrap="square" lIns="0" tIns="0" rIns="0" bIns="0" rtlCol="0" anchor="ctr">
            <a:noAutofit/>
          </a:bodyPr>
          <a:lstStyle/>
          <a:p>
            <a:pPr marL="0" indent="0">
              <a:buNone/>
            </a:pPr>
            <a:r>
              <a:rPr lang="vi-VN" sz="1400" b="1">
                <a:solidFill>
                  <a:srgbClr val="203864"/>
                </a:solidFill>
              </a:rPr>
              <a:t>TIP</a:t>
            </a:r>
            <a:endParaRPr lang="vi-VN" sz="1400"/>
          </a:p>
        </p:txBody>
      </p:sp>
      <p:sp>
        <p:nvSpPr>
          <p:cNvPr id="22" name="TIP text"/>
          <p:cNvSpPr txBox="1"/>
          <p:nvPr/>
        </p:nvSpPr>
        <p:spPr>
          <a:xfrm>
            <a:off x="5753608" y="4978908"/>
            <a:ext cx="2300224" cy="832104"/>
          </a:xfrm>
          <a:prstGeom prst="rect">
            <a:avLst/>
          </a:prstGeom>
          <a:noFill/>
          <a:ln>
            <a:noFill/>
          </a:ln>
        </p:spPr>
        <p:txBody>
          <a:bodyPr wrap="square" lIns="0" tIns="0" rIns="0" bIns="0" rtlCol="0" anchor="t">
            <a:noAutofit/>
          </a:bodyPr>
          <a:lstStyle/>
          <a:p>
            <a:pPr marL="0" indent="0">
              <a:lnSpc>
                <a:spcPct val="100000"/>
              </a:lnSpc>
              <a:buNone/>
            </a:pPr>
            <a:r>
              <a:rPr lang="vi-VN" sz="1400">
                <a:solidFill>
                  <a:srgbClr val="1B2230"/>
                </a:solidFill>
              </a:rPr>
              <a:t>Tick xong, Ribbon có tab </a:t>
            </a:r>
            <a:r>
              <a:rPr lang="vi-VN" sz="1400" b="1">
                <a:solidFill>
                  <a:srgbClr val="1B2230"/>
                </a:solidFill>
              </a:rPr>
              <a:t>Power Pivot</a:t>
            </a:r>
            <a:r>
              <a:rPr lang="vi-VN" sz="1400">
                <a:solidFill>
                  <a:srgbClr val="1B2230"/>
                </a:solidFill>
              </a:rPr>
              <a:t>.</a:t>
            </a:r>
            <a:endParaRPr lang="vi-VN" sz="1400"/>
          </a:p>
        </p:txBody>
      </p:sp>
      <p:cxnSp>
        <p:nvCxnSpPr>
          <p:cNvPr id="23" name="Line 23"/>
          <p:cNvCxnSpPr/>
          <p:nvPr/>
        </p:nvCxnSpPr>
        <p:spPr>
          <a:xfrm>
            <a:off x="8323580" y="1554480"/>
            <a:ext cx="0" cy="4343400"/>
          </a:xfrm>
          <a:prstGeom prst="line">
            <a:avLst/>
          </a:prstGeom>
          <a:ln w="12700">
            <a:solidFill>
              <a:srgbClr val="D9DEE8"/>
            </a:solidFill>
          </a:ln>
        </p:spPr>
      </p:cxnSp>
      <p:sp>
        <p:nvSpPr>
          <p:cNvPr id="24" name="Tool name"/>
          <p:cNvSpPr txBox="1"/>
          <p:nvPr/>
        </p:nvSpPr>
        <p:spPr>
          <a:xfrm>
            <a:off x="84836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About Excel</a:t>
            </a:r>
            <a:endParaRPr lang="vi-VN" sz="2400"/>
          </a:p>
        </p:txBody>
      </p:sp>
      <p:sp>
        <p:nvSpPr>
          <p:cNvPr id="25" name="Tool purpose"/>
          <p:cNvSpPr txBox="1"/>
          <p:nvPr/>
        </p:nvSpPr>
        <p:spPr>
          <a:xfrm>
            <a:off x="8483600" y="2011680"/>
            <a:ext cx="3159760" cy="64008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32-bit hay 64-bit?</a:t>
            </a:r>
            <a:endParaRPr lang="vi-VN" sz="1800"/>
          </a:p>
        </p:txBody>
      </p:sp>
      <p:sp>
        <p:nvSpPr>
          <p:cNvPr id="27" name="PRO TIP callout"/>
          <p:cNvSpPr/>
          <p:nvPr/>
        </p:nvSpPr>
        <p:spPr>
          <a:xfrm>
            <a:off x="8483600" y="4892040"/>
            <a:ext cx="3159760" cy="1005840"/>
          </a:xfrm>
          <a:prstGeom prst="roundRect">
            <a:avLst>
              <a:gd name="adj" fmla="val 2525"/>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28" name="PRO TIP chip"/>
          <p:cNvSpPr/>
          <p:nvPr/>
        </p:nvSpPr>
        <p:spPr>
          <a:xfrm>
            <a:off x="8593328" y="5001768"/>
            <a:ext cx="1005840" cy="320040"/>
          </a:xfrm>
          <a:prstGeom prst="roundRect">
            <a:avLst>
              <a:gd name="adj" fmla="val 25000"/>
            </a:avLst>
          </a:prstGeom>
          <a:solidFill>
            <a:srgbClr val="FFC000"/>
          </a:solidFill>
          <a:ln>
            <a:noFill/>
          </a:ln>
        </p:spPr>
        <p:txBody>
          <a:bodyPr wrap="square" lIns="0" tIns="0" rIns="0" bIns="0" rtlCol="0" anchor="ctr">
            <a:noAutofit/>
          </a:bodyPr>
          <a:lstStyle/>
          <a:p>
            <a:pPr marL="0" indent="0" algn="ctr">
              <a:buNone/>
            </a:pPr>
            <a:r>
              <a:rPr lang="vi-VN" sz="1200" b="1">
                <a:solidFill>
                  <a:srgbClr val="1B2230"/>
                </a:solidFill>
              </a:rPr>
              <a:t>PRO TIP</a:t>
            </a:r>
            <a:endParaRPr lang="vi-VN" sz="1200"/>
          </a:p>
        </p:txBody>
      </p:sp>
      <p:sp>
        <p:nvSpPr>
          <p:cNvPr id="29" name="PRO TIP text"/>
          <p:cNvSpPr txBox="1"/>
          <p:nvPr/>
        </p:nvSpPr>
        <p:spPr>
          <a:xfrm>
            <a:off x="9690608" y="4978908"/>
            <a:ext cx="1843024" cy="832104"/>
          </a:xfrm>
          <a:prstGeom prst="rect">
            <a:avLst/>
          </a:prstGeom>
          <a:noFill/>
          <a:ln>
            <a:noFill/>
          </a:ln>
        </p:spPr>
        <p:txBody>
          <a:bodyPr wrap="square" lIns="0" tIns="0" rIns="0" bIns="0" rtlCol="0" anchor="t">
            <a:noAutofit/>
          </a:bodyPr>
          <a:lstStyle/>
          <a:p>
            <a:pPr marL="0" indent="0">
              <a:lnSpc>
                <a:spcPct val="100000"/>
              </a:lnSpc>
              <a:buNone/>
            </a:pPr>
            <a:r>
              <a:rPr lang="vi-VN" sz="1400">
                <a:solidFill>
                  <a:srgbClr val="1B2230"/>
                </a:solidFill>
              </a:rPr>
              <a:t>64-bit xử lý mô hình lớn tốt hơn.</a:t>
            </a:r>
            <a:endParaRPr lang="vi-VN" sz="1400"/>
          </a:p>
        </p:txBody>
      </p:sp>
      <p:sp>
        <p:nvSpPr>
          <p:cNvPr id="30" name="Footnote"/>
          <p:cNvSpPr txBox="1"/>
          <p:nvPr/>
        </p:nvSpPr>
        <p:spPr>
          <a:xfrm>
            <a:off x="1524000" y="6217920"/>
            <a:ext cx="10119360" cy="320040"/>
          </a:xfrm>
          <a:prstGeom prst="rect">
            <a:avLst/>
          </a:prstGeom>
          <a:noFill/>
          <a:ln>
            <a:noFill/>
          </a:ln>
        </p:spPr>
        <p:txBody>
          <a:bodyPr wrap="square" lIns="0" tIns="0" rIns="0" bIns="0" rtlCol="0" anchor="b">
            <a:noAutofit/>
          </a:bodyPr>
          <a:lstStyle/>
          <a:p>
            <a:pPr marL="0" indent="0">
              <a:buNone/>
            </a:pPr>
            <a:r>
              <a:rPr lang="vi-VN" sz="1200">
                <a:solidFill>
                  <a:srgbClr val="6B6F76"/>
                </a:solidFill>
              </a:rPr>
              <a:t>Checklist đã gửi trong nhóm chat trước buổi học. Chưa đạt hoặc chưa làm được: báo trợ giảng ngay.</a:t>
            </a:r>
            <a:endParaRPr lang="vi-VN" sz="1200"/>
          </a:p>
        </p:txBody>
      </p:sp>
      <p:pic>
        <p:nvPicPr>
          <p:cNvPr id="3" name="Picture 2">
            <a:extLst>
              <a:ext uri="{FF2B5EF4-FFF2-40B4-BE49-F238E27FC236}">
                <a16:creationId xmlns:a16="http://schemas.microsoft.com/office/drawing/2014/main" id="{3C617E78-B8BD-D553-69B2-2A5B3120DB34}"/>
              </a:ext>
            </a:extLst>
          </p:cNvPr>
          <p:cNvPicPr>
            <a:picLocks noChangeAspect="1"/>
          </p:cNvPicPr>
          <p:nvPr/>
        </p:nvPicPr>
        <p:blipFill>
          <a:blip r:embed="rId3"/>
          <a:stretch>
            <a:fillRect/>
          </a:stretch>
        </p:blipFill>
        <p:spPr>
          <a:xfrm>
            <a:off x="1488258" y="2788920"/>
            <a:ext cx="3161211" cy="2011680"/>
          </a:xfrm>
          <a:prstGeom prst="rect">
            <a:avLst/>
          </a:prstGeom>
        </p:spPr>
      </p:pic>
      <p:pic>
        <p:nvPicPr>
          <p:cNvPr id="6" name="Picture 5">
            <a:extLst>
              <a:ext uri="{FF2B5EF4-FFF2-40B4-BE49-F238E27FC236}">
                <a16:creationId xmlns:a16="http://schemas.microsoft.com/office/drawing/2014/main" id="{DD883AE4-6470-0C84-0E26-C702578F279A}"/>
              </a:ext>
            </a:extLst>
          </p:cNvPr>
          <p:cNvPicPr>
            <a:picLocks noChangeAspect="1"/>
          </p:cNvPicPr>
          <p:nvPr/>
        </p:nvPicPr>
        <p:blipFill>
          <a:blip r:embed="rId4"/>
          <a:stretch>
            <a:fillRect/>
          </a:stretch>
        </p:blipFill>
        <p:spPr>
          <a:xfrm>
            <a:off x="4918509" y="2957921"/>
            <a:ext cx="3405071" cy="1444915"/>
          </a:xfrm>
          <a:prstGeom prst="rect">
            <a:avLst/>
          </a:prstGeom>
        </p:spPr>
      </p:pic>
      <p:pic>
        <p:nvPicPr>
          <p:cNvPr id="8" name="Picture 7">
            <a:extLst>
              <a:ext uri="{FF2B5EF4-FFF2-40B4-BE49-F238E27FC236}">
                <a16:creationId xmlns:a16="http://schemas.microsoft.com/office/drawing/2014/main" id="{3F45C3E1-B429-9813-BF6A-49EEE0488E98}"/>
              </a:ext>
            </a:extLst>
          </p:cNvPr>
          <p:cNvPicPr>
            <a:picLocks noChangeAspect="1"/>
          </p:cNvPicPr>
          <p:nvPr/>
        </p:nvPicPr>
        <p:blipFill>
          <a:blip r:embed="rId5"/>
          <a:stretch>
            <a:fillRect/>
          </a:stretch>
        </p:blipFill>
        <p:spPr>
          <a:xfrm>
            <a:off x="8398308" y="2738628"/>
            <a:ext cx="3165922" cy="2011680"/>
          </a:xfrm>
          <a:prstGeom prst="rect">
            <a:avLst/>
          </a:prstGeom>
        </p:spPr>
      </p:pic>
    </p:spTree>
    <p:extLst>
      <p:ext uri="{BB962C8B-B14F-4D97-AF65-F5344CB8AC3E}">
        <p14:creationId xmlns:p14="http://schemas.microsoft.com/office/powerpoint/2010/main" val="2305079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1"/>
          <p:cNvSpPr>
            <a:spLocks noGrp="1"/>
          </p:cNvSpPr>
          <p:nvPr>
            <p:ph type="title"/>
          </p:nvPr>
        </p:nvSpPr>
        <p:spPr/>
        <p:txBody>
          <a:bodyPr>
            <a:normAutofit/>
          </a:bodyPr>
          <a:lstStyle/>
          <a:p>
            <a:r>
              <a:rPr lang="vi-VN"/>
              <a:t>2. Giao diện Excel: những gì người làm BI dùng hằng ngày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2 · GIAO DIỆN</a:t>
            </a:r>
            <a:endParaRPr lang="vi-VN" sz="1400"/>
          </a:p>
        </p:txBody>
      </p:sp>
      <p:sp>
        <p:nvSpPr>
          <p:cNvPr id="12" name="title 12"/>
          <p:cNvSpPr>
            <a:spLocks noGrp="1"/>
          </p:cNvSpPr>
          <p:nvPr>
            <p:ph type="title"/>
          </p:nvPr>
        </p:nvSpPr>
        <p:spPr/>
        <p:txBody>
          <a:bodyPr>
            <a:normAutofit/>
          </a:bodyPr>
          <a:lstStyle/>
          <a:p>
            <a:r>
              <a:rPr lang="vi-VN"/>
              <a:t>Giao diện chính</a:t>
            </a:r>
          </a:p>
        </p:txBody>
      </p:sp>
      <p:sp>
        <p:nvSpPr>
          <p:cNvPr id="14" name="Callout number 1"/>
          <p:cNvSpPr/>
          <p:nvPr/>
        </p:nvSpPr>
        <p:spPr>
          <a:xfrm>
            <a:off x="7879080" y="1600200"/>
            <a:ext cx="365760" cy="365760"/>
          </a:xfrm>
          <a:prstGeom prst="ellipse">
            <a:avLst/>
          </a:prstGeom>
          <a:solidFill>
            <a:srgbClr val="3398DA"/>
          </a:solidFill>
          <a:ln>
            <a:noFill/>
          </a:ln>
        </p:spPr>
        <p:txBody>
          <a:bodyPr wrap="square" lIns="0" tIns="0" rIns="0" bIns="0" rtlCol="0" anchor="ctr">
            <a:noAutofit/>
          </a:bodyPr>
          <a:lstStyle/>
          <a:p>
            <a:pPr marL="0" indent="0" algn="ctr">
              <a:buNone/>
            </a:pPr>
            <a:r>
              <a:rPr lang="vi-VN" sz="1400" b="1">
                <a:solidFill>
                  <a:srgbClr val="FFFFFF"/>
                </a:solidFill>
              </a:rPr>
              <a:t>1</a:t>
            </a:r>
            <a:endParaRPr lang="vi-VN" sz="1400"/>
          </a:p>
        </p:txBody>
      </p:sp>
      <p:sp>
        <p:nvSpPr>
          <p:cNvPr id="15" name="TextBox"/>
          <p:cNvSpPr txBox="1"/>
          <p:nvPr/>
        </p:nvSpPr>
        <p:spPr>
          <a:xfrm>
            <a:off x="8382000" y="1554480"/>
            <a:ext cx="3261360" cy="457200"/>
          </a:xfrm>
          <a:prstGeom prst="rect">
            <a:avLst/>
          </a:prstGeom>
          <a:noFill/>
          <a:ln>
            <a:noFill/>
          </a:ln>
        </p:spPr>
        <p:txBody>
          <a:bodyPr wrap="square" lIns="0" tIns="0" rIns="0" bIns="0" rtlCol="0" anchor="ctr">
            <a:noAutofit/>
          </a:bodyPr>
          <a:lstStyle/>
          <a:p>
            <a:pPr marL="0" indent="0">
              <a:buNone/>
            </a:pPr>
            <a:r>
              <a:rPr lang="vi-VN" sz="1800">
                <a:solidFill>
                  <a:srgbClr val="1B2230"/>
                </a:solidFill>
              </a:rPr>
              <a:t>Ribbon</a:t>
            </a:r>
            <a:endParaRPr lang="vi-VN" sz="1800"/>
          </a:p>
        </p:txBody>
      </p:sp>
      <p:sp>
        <p:nvSpPr>
          <p:cNvPr id="16" name="Callout number 2"/>
          <p:cNvSpPr/>
          <p:nvPr/>
        </p:nvSpPr>
        <p:spPr>
          <a:xfrm>
            <a:off x="7879080" y="2130552"/>
            <a:ext cx="365760" cy="365760"/>
          </a:xfrm>
          <a:prstGeom prst="ellipse">
            <a:avLst/>
          </a:prstGeom>
          <a:solidFill>
            <a:srgbClr val="3398DA"/>
          </a:solidFill>
          <a:ln>
            <a:noFill/>
          </a:ln>
        </p:spPr>
        <p:txBody>
          <a:bodyPr wrap="square" lIns="0" tIns="0" rIns="0" bIns="0" rtlCol="0" anchor="ctr">
            <a:noAutofit/>
          </a:bodyPr>
          <a:lstStyle/>
          <a:p>
            <a:pPr marL="0" indent="0" algn="ctr">
              <a:buNone/>
            </a:pPr>
            <a:r>
              <a:rPr lang="vi-VN" sz="1400" b="1">
                <a:solidFill>
                  <a:srgbClr val="FFFFFF"/>
                </a:solidFill>
              </a:rPr>
              <a:t>2</a:t>
            </a:r>
            <a:endParaRPr lang="vi-VN" sz="1400"/>
          </a:p>
        </p:txBody>
      </p:sp>
      <p:sp>
        <p:nvSpPr>
          <p:cNvPr id="17" name="TextBox"/>
          <p:cNvSpPr txBox="1"/>
          <p:nvPr/>
        </p:nvSpPr>
        <p:spPr>
          <a:xfrm>
            <a:off x="8382000" y="2084832"/>
            <a:ext cx="3261360" cy="457200"/>
          </a:xfrm>
          <a:prstGeom prst="rect">
            <a:avLst/>
          </a:prstGeom>
          <a:noFill/>
          <a:ln>
            <a:noFill/>
          </a:ln>
        </p:spPr>
        <p:txBody>
          <a:bodyPr wrap="square" lIns="0" tIns="0" rIns="0" bIns="0" rtlCol="0" anchor="ctr">
            <a:noAutofit/>
          </a:bodyPr>
          <a:lstStyle/>
          <a:p>
            <a:pPr marL="0" indent="0">
              <a:buNone/>
            </a:pPr>
            <a:r>
              <a:rPr lang="vi-VN" sz="1800">
                <a:solidFill>
                  <a:srgbClr val="1B2230"/>
                </a:solidFill>
              </a:rPr>
              <a:t>Name Box</a:t>
            </a:r>
            <a:endParaRPr lang="vi-VN" sz="1800"/>
          </a:p>
        </p:txBody>
      </p:sp>
      <p:sp>
        <p:nvSpPr>
          <p:cNvPr id="18" name="Callout number 3"/>
          <p:cNvSpPr/>
          <p:nvPr/>
        </p:nvSpPr>
        <p:spPr>
          <a:xfrm>
            <a:off x="7879080" y="2660904"/>
            <a:ext cx="365760" cy="365760"/>
          </a:xfrm>
          <a:prstGeom prst="ellipse">
            <a:avLst/>
          </a:prstGeom>
          <a:solidFill>
            <a:srgbClr val="3398DA"/>
          </a:solidFill>
          <a:ln>
            <a:noFill/>
          </a:ln>
        </p:spPr>
        <p:txBody>
          <a:bodyPr wrap="square" lIns="0" tIns="0" rIns="0" bIns="0" rtlCol="0" anchor="ctr">
            <a:noAutofit/>
          </a:bodyPr>
          <a:lstStyle/>
          <a:p>
            <a:pPr marL="0" indent="0" algn="ctr">
              <a:buNone/>
            </a:pPr>
            <a:r>
              <a:rPr lang="vi-VN" sz="1400" b="1">
                <a:solidFill>
                  <a:srgbClr val="FFFFFF"/>
                </a:solidFill>
              </a:rPr>
              <a:t>3</a:t>
            </a:r>
            <a:endParaRPr lang="vi-VN" sz="1400"/>
          </a:p>
        </p:txBody>
      </p:sp>
      <p:sp>
        <p:nvSpPr>
          <p:cNvPr id="19" name="TextBox"/>
          <p:cNvSpPr txBox="1"/>
          <p:nvPr/>
        </p:nvSpPr>
        <p:spPr>
          <a:xfrm>
            <a:off x="8382000" y="2615184"/>
            <a:ext cx="3261360" cy="457200"/>
          </a:xfrm>
          <a:prstGeom prst="rect">
            <a:avLst/>
          </a:prstGeom>
          <a:noFill/>
          <a:ln>
            <a:noFill/>
          </a:ln>
        </p:spPr>
        <p:txBody>
          <a:bodyPr wrap="square" lIns="0" tIns="0" rIns="0" bIns="0" rtlCol="0" anchor="ctr">
            <a:noAutofit/>
          </a:bodyPr>
          <a:lstStyle/>
          <a:p>
            <a:pPr marL="0" indent="0">
              <a:buNone/>
            </a:pPr>
            <a:r>
              <a:rPr lang="vi-VN" sz="1800">
                <a:solidFill>
                  <a:srgbClr val="1B2230"/>
                </a:solidFill>
              </a:rPr>
              <a:t>Formula Bar</a:t>
            </a:r>
            <a:endParaRPr lang="vi-VN" sz="1800"/>
          </a:p>
        </p:txBody>
      </p:sp>
      <p:sp>
        <p:nvSpPr>
          <p:cNvPr id="20" name="Callout number 4"/>
          <p:cNvSpPr/>
          <p:nvPr/>
        </p:nvSpPr>
        <p:spPr>
          <a:xfrm>
            <a:off x="7879080" y="3191256"/>
            <a:ext cx="365760" cy="365760"/>
          </a:xfrm>
          <a:prstGeom prst="ellipse">
            <a:avLst/>
          </a:prstGeom>
          <a:solidFill>
            <a:srgbClr val="3398DA"/>
          </a:solidFill>
          <a:ln>
            <a:noFill/>
          </a:ln>
        </p:spPr>
        <p:txBody>
          <a:bodyPr wrap="square" lIns="0" tIns="0" rIns="0" bIns="0" rtlCol="0" anchor="ctr">
            <a:noAutofit/>
          </a:bodyPr>
          <a:lstStyle/>
          <a:p>
            <a:pPr marL="0" indent="0" algn="ctr">
              <a:buNone/>
            </a:pPr>
            <a:r>
              <a:rPr lang="vi-VN" sz="1400" b="1">
                <a:solidFill>
                  <a:srgbClr val="FFFFFF"/>
                </a:solidFill>
              </a:rPr>
              <a:t>4</a:t>
            </a:r>
            <a:endParaRPr lang="vi-VN" sz="1400"/>
          </a:p>
        </p:txBody>
      </p:sp>
      <p:sp>
        <p:nvSpPr>
          <p:cNvPr id="21" name="TextBox"/>
          <p:cNvSpPr txBox="1"/>
          <p:nvPr/>
        </p:nvSpPr>
        <p:spPr>
          <a:xfrm>
            <a:off x="8382000" y="3145536"/>
            <a:ext cx="3261360" cy="457200"/>
          </a:xfrm>
          <a:prstGeom prst="rect">
            <a:avLst/>
          </a:prstGeom>
          <a:noFill/>
          <a:ln>
            <a:noFill/>
          </a:ln>
        </p:spPr>
        <p:txBody>
          <a:bodyPr wrap="square" lIns="0" tIns="0" rIns="0" bIns="0" rtlCol="0" anchor="ctr">
            <a:noAutofit/>
          </a:bodyPr>
          <a:lstStyle/>
          <a:p>
            <a:pPr marL="0" indent="0">
              <a:buNone/>
            </a:pPr>
            <a:r>
              <a:rPr lang="vi-VN" sz="1800">
                <a:solidFill>
                  <a:srgbClr val="1B2230"/>
                </a:solidFill>
              </a:rPr>
              <a:t>Ô / Dòng / Cột</a:t>
            </a:r>
            <a:endParaRPr lang="vi-VN" sz="1800"/>
          </a:p>
        </p:txBody>
      </p:sp>
      <p:sp>
        <p:nvSpPr>
          <p:cNvPr id="22" name="Callout number 5"/>
          <p:cNvSpPr/>
          <p:nvPr/>
        </p:nvSpPr>
        <p:spPr>
          <a:xfrm>
            <a:off x="7879080" y="3721608"/>
            <a:ext cx="365760" cy="365760"/>
          </a:xfrm>
          <a:prstGeom prst="ellipse">
            <a:avLst/>
          </a:prstGeom>
          <a:solidFill>
            <a:srgbClr val="3398DA"/>
          </a:solidFill>
          <a:ln>
            <a:noFill/>
          </a:ln>
        </p:spPr>
        <p:txBody>
          <a:bodyPr wrap="square" lIns="0" tIns="0" rIns="0" bIns="0" rtlCol="0" anchor="ctr">
            <a:noAutofit/>
          </a:bodyPr>
          <a:lstStyle/>
          <a:p>
            <a:pPr marL="0" indent="0" algn="ctr">
              <a:buNone/>
            </a:pPr>
            <a:r>
              <a:rPr lang="vi-VN" sz="1400" b="1">
                <a:solidFill>
                  <a:srgbClr val="FFFFFF"/>
                </a:solidFill>
              </a:rPr>
              <a:t>5</a:t>
            </a:r>
            <a:endParaRPr lang="vi-VN" sz="1400"/>
          </a:p>
        </p:txBody>
      </p:sp>
      <p:sp>
        <p:nvSpPr>
          <p:cNvPr id="23" name="TextBox"/>
          <p:cNvSpPr txBox="1"/>
          <p:nvPr/>
        </p:nvSpPr>
        <p:spPr>
          <a:xfrm>
            <a:off x="8382000" y="3675888"/>
            <a:ext cx="3261360" cy="457200"/>
          </a:xfrm>
          <a:prstGeom prst="rect">
            <a:avLst/>
          </a:prstGeom>
          <a:noFill/>
          <a:ln>
            <a:noFill/>
          </a:ln>
        </p:spPr>
        <p:txBody>
          <a:bodyPr wrap="square" lIns="0" tIns="0" rIns="0" bIns="0" rtlCol="0" anchor="ctr">
            <a:noAutofit/>
          </a:bodyPr>
          <a:lstStyle/>
          <a:p>
            <a:pPr marL="0" indent="0">
              <a:buNone/>
            </a:pPr>
            <a:r>
              <a:rPr lang="vi-VN" sz="1800">
                <a:solidFill>
                  <a:srgbClr val="1B2230"/>
                </a:solidFill>
              </a:rPr>
              <a:t>Sheet tabs</a:t>
            </a:r>
            <a:endParaRPr lang="vi-VN" sz="1800"/>
          </a:p>
        </p:txBody>
      </p:sp>
      <p:sp>
        <p:nvSpPr>
          <p:cNvPr id="24" name="Callout number 6"/>
          <p:cNvSpPr/>
          <p:nvPr/>
        </p:nvSpPr>
        <p:spPr>
          <a:xfrm>
            <a:off x="7879080" y="4251960"/>
            <a:ext cx="365760" cy="365760"/>
          </a:xfrm>
          <a:prstGeom prst="ellipse">
            <a:avLst/>
          </a:prstGeom>
          <a:solidFill>
            <a:srgbClr val="3398DA"/>
          </a:solidFill>
          <a:ln>
            <a:noFill/>
          </a:ln>
        </p:spPr>
        <p:txBody>
          <a:bodyPr wrap="square" lIns="0" tIns="0" rIns="0" bIns="0" rtlCol="0" anchor="ctr">
            <a:noAutofit/>
          </a:bodyPr>
          <a:lstStyle/>
          <a:p>
            <a:pPr marL="0" indent="0" algn="ctr">
              <a:buNone/>
            </a:pPr>
            <a:r>
              <a:rPr lang="vi-VN" sz="1400" b="1">
                <a:solidFill>
                  <a:srgbClr val="FFFFFF"/>
                </a:solidFill>
              </a:rPr>
              <a:t>6</a:t>
            </a:r>
            <a:endParaRPr lang="vi-VN" sz="1400"/>
          </a:p>
        </p:txBody>
      </p:sp>
      <p:sp>
        <p:nvSpPr>
          <p:cNvPr id="25" name="TextBox"/>
          <p:cNvSpPr txBox="1"/>
          <p:nvPr/>
        </p:nvSpPr>
        <p:spPr>
          <a:xfrm>
            <a:off x="8382000" y="4206240"/>
            <a:ext cx="3261360" cy="457200"/>
          </a:xfrm>
          <a:prstGeom prst="rect">
            <a:avLst/>
          </a:prstGeom>
          <a:noFill/>
          <a:ln>
            <a:noFill/>
          </a:ln>
        </p:spPr>
        <p:txBody>
          <a:bodyPr wrap="square" lIns="0" tIns="0" rIns="0" bIns="0" rtlCol="0" anchor="ctr">
            <a:noAutofit/>
          </a:bodyPr>
          <a:lstStyle/>
          <a:p>
            <a:pPr marL="0" indent="0">
              <a:buNone/>
            </a:pPr>
            <a:r>
              <a:rPr lang="vi-VN" sz="1800" b="1">
                <a:solidFill>
                  <a:srgbClr val="203864"/>
                </a:solidFill>
              </a:rPr>
              <a:t>Status Bar</a:t>
            </a:r>
            <a:endParaRPr lang="vi-VN" sz="1800"/>
          </a:p>
        </p:txBody>
      </p:sp>
      <p:sp>
        <p:nvSpPr>
          <p:cNvPr id="26" name="Callout number 7"/>
          <p:cNvSpPr/>
          <p:nvPr/>
        </p:nvSpPr>
        <p:spPr>
          <a:xfrm>
            <a:off x="7879080" y="4782312"/>
            <a:ext cx="365760" cy="365760"/>
          </a:xfrm>
          <a:prstGeom prst="ellipse">
            <a:avLst/>
          </a:prstGeom>
          <a:solidFill>
            <a:srgbClr val="3398DA"/>
          </a:solidFill>
          <a:ln>
            <a:noFill/>
          </a:ln>
        </p:spPr>
        <p:txBody>
          <a:bodyPr wrap="square" lIns="0" tIns="0" rIns="0" bIns="0" rtlCol="0" anchor="ctr">
            <a:noAutofit/>
          </a:bodyPr>
          <a:lstStyle/>
          <a:p>
            <a:pPr marL="0" indent="0" algn="ctr">
              <a:buNone/>
            </a:pPr>
            <a:r>
              <a:rPr lang="vi-VN" sz="1400" b="1">
                <a:solidFill>
                  <a:srgbClr val="FFFFFF"/>
                </a:solidFill>
              </a:rPr>
              <a:t>7</a:t>
            </a:r>
            <a:endParaRPr lang="vi-VN" sz="1400"/>
          </a:p>
        </p:txBody>
      </p:sp>
      <p:sp>
        <p:nvSpPr>
          <p:cNvPr id="27" name="TextBox"/>
          <p:cNvSpPr txBox="1"/>
          <p:nvPr/>
        </p:nvSpPr>
        <p:spPr>
          <a:xfrm>
            <a:off x="8382000" y="4736592"/>
            <a:ext cx="3261360" cy="457200"/>
          </a:xfrm>
          <a:prstGeom prst="rect">
            <a:avLst/>
          </a:prstGeom>
          <a:noFill/>
          <a:ln>
            <a:noFill/>
          </a:ln>
        </p:spPr>
        <p:txBody>
          <a:bodyPr wrap="square" lIns="0" tIns="0" rIns="0" bIns="0" rtlCol="0" anchor="ctr">
            <a:noAutofit/>
          </a:bodyPr>
          <a:lstStyle/>
          <a:p>
            <a:pPr marL="0" indent="0">
              <a:buNone/>
            </a:pPr>
            <a:r>
              <a:rPr lang="vi-VN" sz="1800">
                <a:solidFill>
                  <a:srgbClr val="1B2230"/>
                </a:solidFill>
              </a:rPr>
              <a:t>Workbook = file, Sheet = trang tính</a:t>
            </a:r>
            <a:endParaRPr lang="vi-VN" sz="1800"/>
          </a:p>
        </p:txBody>
      </p:sp>
      <p:sp>
        <p:nvSpPr>
          <p:cNvPr id="28" name="TIP callout"/>
          <p:cNvSpPr/>
          <p:nvPr/>
        </p:nvSpPr>
        <p:spPr>
          <a:xfrm>
            <a:off x="1524000" y="5532120"/>
            <a:ext cx="10119360" cy="777240"/>
          </a:xfrm>
          <a:prstGeom prst="roundRect">
            <a:avLst>
              <a:gd name="adj" fmla="val 3268"/>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29" name="TextBox"/>
          <p:cNvSpPr txBox="1"/>
          <p:nvPr/>
        </p:nvSpPr>
        <p:spPr>
          <a:xfrm>
            <a:off x="1633728" y="5641848"/>
            <a:ext cx="548640" cy="320040"/>
          </a:xfrm>
          <a:prstGeom prst="rect">
            <a:avLst/>
          </a:prstGeom>
          <a:noFill/>
          <a:ln>
            <a:noFill/>
          </a:ln>
        </p:spPr>
        <p:txBody>
          <a:bodyPr wrap="square" lIns="0" tIns="0" rIns="0" bIns="0" rtlCol="0" anchor="ctr">
            <a:noAutofit/>
          </a:bodyPr>
          <a:lstStyle/>
          <a:p>
            <a:pPr marL="0" indent="0">
              <a:buNone/>
            </a:pPr>
            <a:r>
              <a:rPr lang="vi-VN" sz="1400" b="1">
                <a:solidFill>
                  <a:srgbClr val="203864"/>
                </a:solidFill>
              </a:rPr>
              <a:t>TIP</a:t>
            </a:r>
            <a:endParaRPr lang="vi-VN" sz="1400"/>
          </a:p>
        </p:txBody>
      </p:sp>
      <p:sp>
        <p:nvSpPr>
          <p:cNvPr id="30" name="TIP text"/>
          <p:cNvSpPr txBox="1"/>
          <p:nvPr/>
        </p:nvSpPr>
        <p:spPr>
          <a:xfrm>
            <a:off x="2273808" y="5618988"/>
            <a:ext cx="9259824" cy="603504"/>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1B2230"/>
                </a:solidFill>
              </a:rPr>
              <a:t>Chọn một cột số, </a:t>
            </a:r>
            <a:r>
              <a:rPr lang="vi-VN" sz="1800" b="1">
                <a:solidFill>
                  <a:srgbClr val="1B2230"/>
                </a:solidFill>
              </a:rPr>
              <a:t>Status Bar hiện ngay Sum / Average / Count</a:t>
            </a:r>
            <a:r>
              <a:rPr lang="vi-VN" sz="1800">
                <a:solidFill>
                  <a:srgbClr val="1B2230"/>
                </a:solidFill>
              </a:rPr>
              <a:t>. Đây là cách đối soát nhanh nhất trong Excel.</a:t>
            </a:r>
            <a:endParaRPr lang="vi-VN" sz="1800"/>
          </a:p>
        </p:txBody>
      </p:sp>
      <p:pic>
        <p:nvPicPr>
          <p:cNvPr id="2" name="Picture 1">
            <a:extLst>
              <a:ext uri="{FF2B5EF4-FFF2-40B4-BE49-F238E27FC236}">
                <a16:creationId xmlns:a16="http://schemas.microsoft.com/office/drawing/2014/main" id="{98605493-0F18-F786-A36C-68C4B37DD16E}"/>
              </a:ext>
            </a:extLst>
          </p:cNvPr>
          <p:cNvPicPr>
            <a:picLocks noChangeAspect="1"/>
          </p:cNvPicPr>
          <p:nvPr/>
        </p:nvPicPr>
        <p:blipFill>
          <a:blip r:embed="rId3"/>
          <a:stretch>
            <a:fillRect/>
          </a:stretch>
        </p:blipFill>
        <p:spPr>
          <a:xfrm>
            <a:off x="241163" y="365760"/>
            <a:ext cx="7569337" cy="4862948"/>
          </a:xfrm>
          <a:prstGeom prst="rect">
            <a:avLst/>
          </a:prstGeom>
        </p:spPr>
      </p:pic>
    </p:spTree>
    <p:extLst>
      <p:ext uri="{BB962C8B-B14F-4D97-AF65-F5344CB8AC3E}">
        <p14:creationId xmlns:p14="http://schemas.microsoft.com/office/powerpoint/2010/main" val="581420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2 · GIAO DIỆN</a:t>
            </a:r>
            <a:endParaRPr lang="vi-VN" sz="1400"/>
          </a:p>
        </p:txBody>
      </p:sp>
      <p:sp>
        <p:nvSpPr>
          <p:cNvPr id="12" name="title 12"/>
          <p:cNvSpPr>
            <a:spLocks noGrp="1"/>
          </p:cNvSpPr>
          <p:nvPr>
            <p:ph type="title"/>
          </p:nvPr>
        </p:nvSpPr>
        <p:spPr/>
        <p:txBody>
          <a:bodyPr>
            <a:normAutofit/>
          </a:bodyPr>
          <a:lstStyle/>
          <a:p>
            <a:r>
              <a:rPr lang="vi-VN"/>
              <a:t>8 tab Ribbon: tab nào dùng ở buổi nào</a:t>
            </a:r>
          </a:p>
        </p:txBody>
      </p:sp>
      <p:graphicFrame>
        <p:nvGraphicFramePr>
          <p:cNvPr id="13" name="Table 13"/>
          <p:cNvGraphicFramePr>
            <a:graphicFrameLocks noGrp="1"/>
          </p:cNvGraphicFramePr>
          <p:nvPr/>
        </p:nvGraphicFramePr>
        <p:xfrm>
          <a:off x="1524000" y="1554480"/>
          <a:ext cx="5943600" cy="4383024"/>
        </p:xfrm>
        <a:graphic>
          <a:graphicData uri="http://schemas.openxmlformats.org/drawingml/2006/table">
            <a:tbl>
              <a:tblPr firstRow="1"/>
              <a:tblGrid>
                <a:gridCol w="17373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475488">
                <a:tc>
                  <a:txBody>
                    <a:bodyPr/>
                    <a:lstStyle/>
                    <a:p>
                      <a:pPr marL="0" indent="0" algn="l">
                        <a:buNone/>
                      </a:pPr>
                      <a:r>
                        <a:rPr lang="vi-VN" sz="1600" b="1">
                          <a:solidFill>
                            <a:srgbClr val="FFFFFF"/>
                          </a:solidFill>
                        </a:rPr>
                        <a:t>Tab</a:t>
                      </a:r>
                      <a:endParaRPr lang="vi-VN" sz="1600"/>
                    </a:p>
                  </a:txBody>
                  <a:tcPr anchor="ctr">
                    <a:lnL w="0">
                      <a:noFill/>
                    </a:lnL>
                    <a:lnR w="0">
                      <a:noFill/>
                    </a:lnR>
                    <a:lnT w="0">
                      <a:noFill/>
                    </a:lnT>
                    <a:lnB w="12700">
                      <a:solidFill>
                        <a:srgbClr val="D9DEE8"/>
                      </a:solidFill>
                    </a:lnB>
                    <a:solidFill>
                      <a:srgbClr val="203864"/>
                    </a:solidFill>
                  </a:tcPr>
                </a:tc>
                <a:tc>
                  <a:txBody>
                    <a:bodyPr/>
                    <a:lstStyle/>
                    <a:p>
                      <a:pPr marL="0" indent="0" algn="l">
                        <a:buNone/>
                      </a:pPr>
                      <a:r>
                        <a:rPr lang="vi-VN" sz="1600" b="1">
                          <a:solidFill>
                            <a:srgbClr val="FFFFFF"/>
                          </a:solidFill>
                        </a:rPr>
                        <a:t>Dùng ở</a:t>
                      </a:r>
                      <a:endParaRPr lang="vi-VN" sz="1600"/>
                    </a:p>
                  </a:txBody>
                  <a:tcPr anchor="ctr">
                    <a:lnL w="0">
                      <a:noFill/>
                    </a:lnL>
                    <a:lnR w="0">
                      <a:noFill/>
                    </a:lnR>
                    <a:lnT w="0">
                      <a:noFill/>
                    </a:lnT>
                    <a:lnB w="12700">
                      <a:solidFill>
                        <a:srgbClr val="D9DEE8"/>
                      </a:solidFill>
                    </a:lnB>
                    <a:solidFill>
                      <a:srgbClr val="203864"/>
                    </a:solidFill>
                  </a:tcPr>
                </a:tc>
                <a:extLst>
                  <a:ext uri="{0D108BD9-81ED-4DB2-BD59-A6C34878D82A}">
                    <a16:rowId xmlns:a16="http://schemas.microsoft.com/office/drawing/2014/main" val="10000"/>
                  </a:ext>
                </a:extLst>
              </a:tr>
              <a:tr h="475488">
                <a:tc>
                  <a:txBody>
                    <a:bodyPr/>
                    <a:lstStyle/>
                    <a:p>
                      <a:pPr marL="0" indent="0" algn="l">
                        <a:buNone/>
                      </a:pPr>
                      <a:r>
                        <a:rPr lang="vi-VN" sz="1600" b="1">
                          <a:solidFill>
                            <a:srgbClr val="1B2230"/>
                          </a:solidFill>
                        </a:rPr>
                        <a:t>Home</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Mọi buổi</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1"/>
                  </a:ext>
                </a:extLst>
              </a:tr>
              <a:tr h="475488">
                <a:tc>
                  <a:txBody>
                    <a:bodyPr/>
                    <a:lstStyle/>
                    <a:p>
                      <a:pPr marL="0" indent="0" algn="l">
                        <a:buNone/>
                      </a:pPr>
                      <a:r>
                        <a:rPr lang="vi-VN" sz="1600" b="1">
                          <a:solidFill>
                            <a:srgbClr val="1B2230"/>
                          </a:solidFill>
                        </a:rPr>
                        <a:t>Insert</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B1 (Table), B3 (Pivot), B6 (Chart)</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2"/>
                  </a:ext>
                </a:extLst>
              </a:tr>
              <a:tr h="475488">
                <a:tc>
                  <a:txBody>
                    <a:bodyPr/>
                    <a:lstStyle/>
                    <a:p>
                      <a:pPr marL="0" indent="0" algn="l">
                        <a:buNone/>
                      </a:pPr>
                      <a:r>
                        <a:rPr lang="vi-VN" sz="1600" b="1">
                          <a:solidFill>
                            <a:srgbClr val="1B2230"/>
                          </a:solidFill>
                        </a:rPr>
                        <a:t>Page Layout</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B6</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3"/>
                  </a:ext>
                </a:extLst>
              </a:tr>
              <a:tr h="475488">
                <a:tc>
                  <a:txBody>
                    <a:bodyPr/>
                    <a:lstStyle/>
                    <a:p>
                      <a:pPr marL="0" indent="0" algn="l">
                        <a:buNone/>
                      </a:pPr>
                      <a:r>
                        <a:rPr lang="vi-VN" sz="1600" b="1">
                          <a:solidFill>
                            <a:srgbClr val="1B2230"/>
                          </a:solidFill>
                        </a:rPr>
                        <a:t>Formulas</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B1 (Auditing), B2</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4"/>
                  </a:ext>
                </a:extLst>
              </a:tr>
              <a:tr h="475488">
                <a:tc>
                  <a:txBody>
                    <a:bodyPr/>
                    <a:lstStyle/>
                    <a:p>
                      <a:pPr marL="0" indent="0" algn="l">
                        <a:buNone/>
                      </a:pPr>
                      <a:r>
                        <a:rPr lang="vi-VN" sz="1600" b="1">
                          <a:solidFill>
                            <a:srgbClr val="1B2230"/>
                          </a:solidFill>
                        </a:rPr>
                        <a:t>Data</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B1 (Validation), B3 (Refresh All), B4 (Get Data)</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5"/>
                  </a:ext>
                </a:extLst>
              </a:tr>
              <a:tr h="475488">
                <a:tc>
                  <a:txBody>
                    <a:bodyPr/>
                    <a:lstStyle/>
                    <a:p>
                      <a:pPr marL="0" indent="0" algn="l">
                        <a:buNone/>
                      </a:pPr>
                      <a:r>
                        <a:rPr lang="vi-VN" sz="1600" b="1">
                          <a:solidFill>
                            <a:srgbClr val="1B2230"/>
                          </a:solidFill>
                        </a:rPr>
                        <a:t>Review</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B6 (Protect Sheet)</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6"/>
                  </a:ext>
                </a:extLst>
              </a:tr>
              <a:tr h="475488">
                <a:tc>
                  <a:txBody>
                    <a:bodyPr/>
                    <a:lstStyle/>
                    <a:p>
                      <a:pPr marL="0" indent="0" algn="l">
                        <a:buNone/>
                      </a:pPr>
                      <a:r>
                        <a:rPr lang="vi-VN" sz="1600" b="1">
                          <a:solidFill>
                            <a:srgbClr val="1B2230"/>
                          </a:solidFill>
                        </a:rPr>
                        <a:t>View</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B1 (Freeze Panes), B6 (ẩn gridline)</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7"/>
                  </a:ext>
                </a:extLst>
              </a:tr>
              <a:tr h="475488">
                <a:tc>
                  <a:txBody>
                    <a:bodyPr/>
                    <a:lstStyle/>
                    <a:p>
                      <a:pPr marL="0" indent="0" algn="l">
                        <a:buNone/>
                      </a:pPr>
                      <a:r>
                        <a:rPr lang="vi-VN" sz="1600" b="1">
                          <a:solidFill>
                            <a:srgbClr val="1B2230"/>
                          </a:solidFill>
                        </a:rPr>
                        <a:t>Power Pivot</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B5–B6 (bật ở B1, dùng từ B5)</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8"/>
                  </a:ext>
                </a:extLst>
              </a:tr>
            </a:tbl>
          </a:graphicData>
        </a:graphic>
      </p:graphicFrame>
      <p:sp>
        <p:nvSpPr>
          <p:cNvPr id="15" name="Rule box"/>
          <p:cNvSpPr/>
          <p:nvPr/>
        </p:nvSpPr>
        <p:spPr>
          <a:xfrm>
            <a:off x="7741920" y="3657600"/>
            <a:ext cx="3901440" cy="1965960"/>
          </a:xfrm>
          <a:prstGeom prst="roundRect">
            <a:avLst>
              <a:gd name="adj" fmla="val 1292"/>
            </a:avLst>
          </a:prstGeom>
          <a:solidFill>
            <a:srgbClr val="F3F5F9"/>
          </a:solidFill>
          <a:ln>
            <a:noFill/>
          </a:ln>
        </p:spPr>
        <p:txBody>
          <a:bodyPr wrap="square" lIns="137160" tIns="137160" rIns="137160" bIns="137160" rtlCol="0" anchor="t">
            <a:noAutofit/>
          </a:bodyPr>
          <a:lstStyle/>
          <a:p>
            <a:pPr marL="0" indent="0">
              <a:spcAft>
                <a:spcPts val="600"/>
              </a:spcAft>
              <a:buNone/>
            </a:pPr>
            <a:r>
              <a:rPr lang="vi-VN" sz="1600" b="1">
                <a:solidFill>
                  <a:srgbClr val="203864"/>
                </a:solidFill>
              </a:rPr>
              <a:t>Quy tắc cần nhớ</a:t>
            </a:r>
            <a:endParaRPr lang="vi-VN" sz="1600"/>
          </a:p>
          <a:p>
            <a:pPr marL="0" indent="0">
              <a:spcAft>
                <a:spcPts val="600"/>
              </a:spcAft>
              <a:buNone/>
            </a:pPr>
            <a:r>
              <a:rPr lang="vi-VN" sz="2000">
                <a:solidFill>
                  <a:srgbClr val="1B2230"/>
                </a:solidFill>
              </a:rPr>
              <a:t>Cần làm việc </a:t>
            </a:r>
            <a:r>
              <a:rPr lang="vi-VN" sz="2000" b="1">
                <a:solidFill>
                  <a:srgbClr val="1B2230"/>
                </a:solidFill>
              </a:rPr>
              <a:t>X</a:t>
            </a:r>
            <a:r>
              <a:rPr lang="vi-VN" sz="2000">
                <a:solidFill>
                  <a:srgbClr val="1B2230"/>
                </a:solidFill>
              </a:rPr>
              <a:t> → vào tab </a:t>
            </a:r>
            <a:r>
              <a:rPr lang="vi-VN" sz="2000" b="1">
                <a:solidFill>
                  <a:srgbClr val="1B2230"/>
                </a:solidFill>
              </a:rPr>
              <a:t>Y</a:t>
            </a:r>
            <a:r>
              <a:rPr lang="vi-VN" sz="2000">
                <a:solidFill>
                  <a:srgbClr val="1B2230"/>
                </a:solidFill>
              </a:rPr>
              <a:t>.</a:t>
            </a:r>
            <a:endParaRPr lang="vi-VN" sz="2000"/>
          </a:p>
          <a:p>
            <a:pPr marL="0" indent="0">
              <a:buNone/>
            </a:pPr>
            <a:r>
              <a:rPr lang="vi-VN" sz="1400">
                <a:solidFill>
                  <a:srgbClr val="585858"/>
                </a:solidFill>
              </a:rPr>
              <a:t>Tour chi tiết từng tab có trong handout.</a:t>
            </a:r>
            <a:endParaRPr lang="vi-VN" sz="1400"/>
          </a:p>
        </p:txBody>
      </p:sp>
      <p:pic>
        <p:nvPicPr>
          <p:cNvPr id="3" name="Picture 2">
            <a:extLst>
              <a:ext uri="{FF2B5EF4-FFF2-40B4-BE49-F238E27FC236}">
                <a16:creationId xmlns:a16="http://schemas.microsoft.com/office/drawing/2014/main" id="{86E05C74-85F6-F0AB-5F35-FCEC61971E81}"/>
              </a:ext>
            </a:extLst>
          </p:cNvPr>
          <p:cNvPicPr>
            <a:picLocks noChangeAspect="1"/>
          </p:cNvPicPr>
          <p:nvPr/>
        </p:nvPicPr>
        <p:blipFill>
          <a:blip r:embed="rId3"/>
          <a:stretch>
            <a:fillRect/>
          </a:stretch>
        </p:blipFill>
        <p:spPr>
          <a:xfrm>
            <a:off x="6949440" y="1531088"/>
            <a:ext cx="4360244" cy="2126512"/>
          </a:xfrm>
          <a:prstGeom prst="rect">
            <a:avLst/>
          </a:prstGeom>
        </p:spPr>
      </p:pic>
    </p:spTree>
    <p:extLst>
      <p:ext uri="{BB962C8B-B14F-4D97-AF65-F5344CB8AC3E}">
        <p14:creationId xmlns:p14="http://schemas.microsoft.com/office/powerpoint/2010/main" val="4276141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1"/>
          <p:cNvSpPr>
            <a:spLocks noGrp="1"/>
          </p:cNvSpPr>
          <p:nvPr>
            <p:ph type="title"/>
          </p:nvPr>
        </p:nvSpPr>
        <p:spPr/>
        <p:txBody>
          <a:bodyPr>
            <a:normAutofit/>
          </a:bodyPr>
          <a:lstStyle/>
          <a:p>
            <a:r>
              <a:rPr lang="vi-VN"/>
              <a:t>3. Phím tắt: làm việc với dữ liệu lớn không cần chuột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3 · PHÍM TẮT</a:t>
            </a:r>
            <a:endParaRPr lang="vi-VN" sz="1400"/>
          </a:p>
        </p:txBody>
      </p:sp>
      <p:sp>
        <p:nvSpPr>
          <p:cNvPr id="12" name="title 12"/>
          <p:cNvSpPr>
            <a:spLocks noGrp="1"/>
          </p:cNvSpPr>
          <p:nvPr>
            <p:ph type="title"/>
          </p:nvPr>
        </p:nvSpPr>
        <p:spPr/>
        <p:txBody>
          <a:bodyPr>
            <a:normAutofit/>
          </a:bodyPr>
          <a:lstStyle/>
          <a:p>
            <a:r>
              <a:rPr lang="vi-VN"/>
              <a:t>Ctrl Shortcuts</a:t>
            </a:r>
          </a:p>
        </p:txBody>
      </p:sp>
      <p:sp>
        <p:nvSpPr>
          <p:cNvPr id="13" name="TextBox"/>
          <p:cNvSpPr txBox="1"/>
          <p:nvPr/>
        </p:nvSpPr>
        <p:spPr>
          <a:xfrm>
            <a:off x="15240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Ctrl + Arrow</a:t>
            </a:r>
            <a:endParaRPr lang="vi-VN" sz="2400"/>
          </a:p>
        </p:txBody>
      </p:sp>
      <p:sp>
        <p:nvSpPr>
          <p:cNvPr id="14" name="TextBox"/>
          <p:cNvSpPr txBox="1"/>
          <p:nvPr/>
        </p:nvSpPr>
        <p:spPr>
          <a:xfrm>
            <a:off x="1524000" y="2011680"/>
            <a:ext cx="3159760" cy="68580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Nhảy tới ô cuối vùng dữ liệu theo hướng mũi tên</a:t>
            </a:r>
            <a:endParaRPr lang="vi-VN" sz="1800"/>
          </a:p>
        </p:txBody>
      </p:sp>
      <p:cxnSp>
        <p:nvCxnSpPr>
          <p:cNvPr id="15" name="Line 15"/>
          <p:cNvCxnSpPr/>
          <p:nvPr/>
        </p:nvCxnSpPr>
        <p:spPr>
          <a:xfrm>
            <a:off x="4843780" y="1554480"/>
            <a:ext cx="0" cy="1143000"/>
          </a:xfrm>
          <a:prstGeom prst="line">
            <a:avLst/>
          </a:prstGeom>
          <a:ln w="12700">
            <a:solidFill>
              <a:srgbClr val="D9DEE8"/>
            </a:solidFill>
          </a:ln>
        </p:spPr>
      </p:cxnSp>
      <p:sp>
        <p:nvSpPr>
          <p:cNvPr id="16" name="TextBox"/>
          <p:cNvSpPr txBox="1"/>
          <p:nvPr/>
        </p:nvSpPr>
        <p:spPr>
          <a:xfrm>
            <a:off x="50038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Ctrl + Shift + Arrow</a:t>
            </a:r>
            <a:endParaRPr lang="vi-VN" sz="2400"/>
          </a:p>
        </p:txBody>
      </p:sp>
      <p:sp>
        <p:nvSpPr>
          <p:cNvPr id="17" name="TextBox"/>
          <p:cNvSpPr txBox="1"/>
          <p:nvPr/>
        </p:nvSpPr>
        <p:spPr>
          <a:xfrm>
            <a:off x="5003800" y="2011680"/>
            <a:ext cx="3159760" cy="68580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Chọn tới ô cuối vùng dữ liệu</a:t>
            </a:r>
            <a:endParaRPr lang="vi-VN" sz="1800"/>
          </a:p>
        </p:txBody>
      </p:sp>
      <p:cxnSp>
        <p:nvCxnSpPr>
          <p:cNvPr id="18" name="Line 18"/>
          <p:cNvCxnSpPr/>
          <p:nvPr/>
        </p:nvCxnSpPr>
        <p:spPr>
          <a:xfrm>
            <a:off x="8323580" y="1554480"/>
            <a:ext cx="0" cy="1143000"/>
          </a:xfrm>
          <a:prstGeom prst="line">
            <a:avLst/>
          </a:prstGeom>
          <a:ln w="12700">
            <a:solidFill>
              <a:srgbClr val="D9DEE8"/>
            </a:solidFill>
          </a:ln>
        </p:spPr>
      </p:cxnSp>
      <p:sp>
        <p:nvSpPr>
          <p:cNvPr id="19" name="TextBox"/>
          <p:cNvSpPr txBox="1"/>
          <p:nvPr/>
        </p:nvSpPr>
        <p:spPr>
          <a:xfrm>
            <a:off x="84836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Ctrl + Home / End</a:t>
            </a:r>
            <a:endParaRPr lang="vi-VN" sz="2400"/>
          </a:p>
        </p:txBody>
      </p:sp>
      <p:sp>
        <p:nvSpPr>
          <p:cNvPr id="20" name="TextBox"/>
          <p:cNvSpPr txBox="1"/>
          <p:nvPr/>
        </p:nvSpPr>
        <p:spPr>
          <a:xfrm>
            <a:off x="8483600" y="2011680"/>
            <a:ext cx="3159760" cy="68580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Về ô đầu / ô cuối có dữ liệu</a:t>
            </a:r>
            <a:endParaRPr lang="vi-VN" sz="1800"/>
          </a:p>
        </p:txBody>
      </p:sp>
      <p:sp>
        <p:nvSpPr>
          <p:cNvPr id="22" name="TIP callout"/>
          <p:cNvSpPr/>
          <p:nvPr/>
        </p:nvSpPr>
        <p:spPr>
          <a:xfrm>
            <a:off x="8153400" y="2880360"/>
            <a:ext cx="3489960" cy="1005840"/>
          </a:xfrm>
          <a:prstGeom prst="roundRect">
            <a:avLst>
              <a:gd name="adj" fmla="val 2525"/>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23" name="TextBox"/>
          <p:cNvSpPr txBox="1"/>
          <p:nvPr/>
        </p:nvSpPr>
        <p:spPr>
          <a:xfrm>
            <a:off x="8263128" y="2990088"/>
            <a:ext cx="548640" cy="320040"/>
          </a:xfrm>
          <a:prstGeom prst="rect">
            <a:avLst/>
          </a:prstGeom>
          <a:noFill/>
          <a:ln>
            <a:noFill/>
          </a:ln>
        </p:spPr>
        <p:txBody>
          <a:bodyPr wrap="square" lIns="0" tIns="0" rIns="0" bIns="0" rtlCol="0" anchor="ctr">
            <a:noAutofit/>
          </a:bodyPr>
          <a:lstStyle/>
          <a:p>
            <a:pPr marL="0" indent="0">
              <a:buNone/>
            </a:pPr>
            <a:r>
              <a:rPr lang="vi-VN" sz="1400" b="1">
                <a:solidFill>
                  <a:srgbClr val="203864"/>
                </a:solidFill>
              </a:rPr>
              <a:t>TIP</a:t>
            </a:r>
            <a:endParaRPr lang="vi-VN" sz="1400"/>
          </a:p>
        </p:txBody>
      </p:sp>
      <p:sp>
        <p:nvSpPr>
          <p:cNvPr id="24" name="TIP text"/>
          <p:cNvSpPr txBox="1"/>
          <p:nvPr/>
        </p:nvSpPr>
        <p:spPr>
          <a:xfrm>
            <a:off x="8903208" y="2967228"/>
            <a:ext cx="2630424" cy="832104"/>
          </a:xfrm>
          <a:prstGeom prst="rect">
            <a:avLst/>
          </a:prstGeom>
          <a:noFill/>
          <a:ln>
            <a:noFill/>
          </a:ln>
        </p:spPr>
        <p:txBody>
          <a:bodyPr wrap="square" lIns="0" tIns="0" rIns="0" bIns="0" rtlCol="0" anchor="t">
            <a:noAutofit/>
          </a:bodyPr>
          <a:lstStyle/>
          <a:p>
            <a:pPr marL="0" indent="0">
              <a:lnSpc>
                <a:spcPct val="100000"/>
              </a:lnSpc>
              <a:buNone/>
            </a:pPr>
            <a:r>
              <a:rPr lang="vi-VN" sz="1600" b="1">
                <a:solidFill>
                  <a:srgbClr val="1B2230"/>
                </a:solidFill>
              </a:rPr>
              <a:t>Ctrl + PgUp / PgDn</a:t>
            </a:r>
            <a:r>
              <a:rPr lang="vi-VN" sz="1600">
                <a:solidFill>
                  <a:srgbClr val="1B2230"/>
                </a:solidFill>
              </a:rPr>
              <a:t> để chuyển sheet.</a:t>
            </a:r>
            <a:endParaRPr lang="vi-VN" sz="1600"/>
          </a:p>
        </p:txBody>
      </p:sp>
      <p:sp>
        <p:nvSpPr>
          <p:cNvPr id="25" name="TextBox"/>
          <p:cNvSpPr txBox="1"/>
          <p:nvPr/>
        </p:nvSpPr>
        <p:spPr>
          <a:xfrm>
            <a:off x="8153400" y="4069080"/>
            <a:ext cx="3489960" cy="2240280"/>
          </a:xfrm>
          <a:prstGeom prst="rect">
            <a:avLst/>
          </a:prstGeom>
          <a:noFill/>
          <a:ln>
            <a:noFill/>
          </a:ln>
        </p:spPr>
        <p:txBody>
          <a:bodyPr wrap="square" lIns="0" tIns="0" rIns="0" bIns="0" rtlCol="0" anchor="t">
            <a:noAutofit/>
          </a:bodyPr>
          <a:lstStyle/>
          <a:p>
            <a:pPr marL="0" indent="0">
              <a:spcAft>
                <a:spcPts val="400"/>
              </a:spcAft>
              <a:buNone/>
            </a:pPr>
            <a:r>
              <a:rPr lang="vi-VN" sz="1600" b="1">
                <a:solidFill>
                  <a:srgbClr val="203864"/>
                </a:solidFill>
              </a:rPr>
              <a:t>Ctrl + ↓ dừng giữa chừng?</a:t>
            </a:r>
            <a:endParaRPr lang="vi-VN" sz="1600"/>
          </a:p>
          <a:p>
            <a:pPr marL="0" indent="0">
              <a:buNone/>
            </a:pPr>
            <a:r>
              <a:rPr lang="vi-VN" sz="1600">
                <a:solidFill>
                  <a:srgbClr val="1B2230"/>
                </a:solidFill>
              </a:rPr>
              <a:t>Dữ liệu có </a:t>
            </a:r>
            <a:r>
              <a:rPr lang="vi-VN" sz="1600" b="1">
                <a:solidFill>
                  <a:srgbClr val="1B2230"/>
                </a:solidFill>
              </a:rPr>
              <a:t>dòng trống</a:t>
            </a:r>
            <a:r>
              <a:rPr lang="vi-VN" sz="1600">
                <a:solidFill>
                  <a:srgbClr val="1B2230"/>
                </a:solidFill>
              </a:rPr>
              <a:t>. Phím tắt này cũng là công cụ phát hiện lỗi.</a:t>
            </a:r>
            <a:endParaRPr lang="vi-VN" sz="1600"/>
          </a:p>
        </p:txBody>
      </p:sp>
      <p:pic>
        <p:nvPicPr>
          <p:cNvPr id="2" name="Picture 1">
            <a:extLst>
              <a:ext uri="{FF2B5EF4-FFF2-40B4-BE49-F238E27FC236}">
                <a16:creationId xmlns:a16="http://schemas.microsoft.com/office/drawing/2014/main" id="{AAB78CDC-E109-F1A3-2B4E-ECC07A0591AD}"/>
              </a:ext>
            </a:extLst>
          </p:cNvPr>
          <p:cNvPicPr>
            <a:picLocks noChangeAspect="1"/>
          </p:cNvPicPr>
          <p:nvPr/>
        </p:nvPicPr>
        <p:blipFill>
          <a:blip r:embed="rId3"/>
          <a:stretch>
            <a:fillRect/>
          </a:stretch>
        </p:blipFill>
        <p:spPr>
          <a:xfrm>
            <a:off x="2081656" y="2697480"/>
            <a:ext cx="4318531" cy="4102604"/>
          </a:xfrm>
          <a:prstGeom prst="rect">
            <a:avLst/>
          </a:prstGeom>
        </p:spPr>
      </p:pic>
    </p:spTree>
    <p:extLst>
      <p:ext uri="{BB962C8B-B14F-4D97-AF65-F5344CB8AC3E}">
        <p14:creationId xmlns:p14="http://schemas.microsoft.com/office/powerpoint/2010/main" val="2738025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3 · PHÍM TẮT</a:t>
            </a:r>
            <a:endParaRPr lang="vi-VN" sz="1400"/>
          </a:p>
        </p:txBody>
      </p:sp>
      <p:sp>
        <p:nvSpPr>
          <p:cNvPr id="12" name="title 12"/>
          <p:cNvSpPr>
            <a:spLocks noGrp="1"/>
          </p:cNvSpPr>
          <p:nvPr>
            <p:ph type="title"/>
          </p:nvPr>
        </p:nvSpPr>
        <p:spPr/>
        <p:txBody>
          <a:bodyPr>
            <a:normAutofit/>
          </a:bodyPr>
          <a:lstStyle/>
          <a:p>
            <a:r>
              <a:rPr lang="vi-VN"/>
              <a:t>Fn Shortcuts</a:t>
            </a:r>
          </a:p>
        </p:txBody>
      </p:sp>
      <p:sp>
        <p:nvSpPr>
          <p:cNvPr id="13" name="Tool name"/>
          <p:cNvSpPr txBox="1"/>
          <p:nvPr/>
        </p:nvSpPr>
        <p:spPr>
          <a:xfrm>
            <a:off x="15240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F2</a:t>
            </a:r>
            <a:endParaRPr lang="vi-VN" sz="2400"/>
          </a:p>
        </p:txBody>
      </p:sp>
      <p:sp>
        <p:nvSpPr>
          <p:cNvPr id="14" name="Tool purpose"/>
          <p:cNvSpPr txBox="1"/>
          <p:nvPr/>
        </p:nvSpPr>
        <p:spPr>
          <a:xfrm>
            <a:off x="1524000" y="2011680"/>
            <a:ext cx="3159760" cy="91440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Sửa ô đang chọn; tô màu các ô công thức tham chiếu</a:t>
            </a:r>
            <a:endParaRPr lang="vi-VN" sz="1800"/>
          </a:p>
        </p:txBody>
      </p:sp>
      <p:cxnSp>
        <p:nvCxnSpPr>
          <p:cNvPr id="16" name="Line 16"/>
          <p:cNvCxnSpPr/>
          <p:nvPr/>
        </p:nvCxnSpPr>
        <p:spPr>
          <a:xfrm>
            <a:off x="4843780" y="1554480"/>
            <a:ext cx="0" cy="4480560"/>
          </a:xfrm>
          <a:prstGeom prst="line">
            <a:avLst/>
          </a:prstGeom>
          <a:ln w="12700">
            <a:solidFill>
              <a:srgbClr val="D9DEE8"/>
            </a:solidFill>
          </a:ln>
        </p:spPr>
      </p:cxnSp>
      <p:sp>
        <p:nvSpPr>
          <p:cNvPr id="17" name="Tool name"/>
          <p:cNvSpPr txBox="1"/>
          <p:nvPr/>
        </p:nvSpPr>
        <p:spPr>
          <a:xfrm>
            <a:off x="50038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F4</a:t>
            </a:r>
            <a:endParaRPr lang="vi-VN" sz="2400"/>
          </a:p>
        </p:txBody>
      </p:sp>
      <p:sp>
        <p:nvSpPr>
          <p:cNvPr id="18" name="Tool purpose"/>
          <p:cNvSpPr txBox="1"/>
          <p:nvPr/>
        </p:nvSpPr>
        <p:spPr>
          <a:xfrm>
            <a:off x="5003800" y="2011680"/>
            <a:ext cx="3159760" cy="91440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Đang sửa công thức: đổi A1 → $A$1 → A$1 → $A1. Không sửa: lặp lại thao tác cuối</a:t>
            </a:r>
            <a:endParaRPr lang="vi-VN" sz="1800"/>
          </a:p>
        </p:txBody>
      </p:sp>
      <p:sp>
        <p:nvSpPr>
          <p:cNvPr id="19" name="Image placeholder"/>
          <p:cNvSpPr/>
          <p:nvPr/>
        </p:nvSpPr>
        <p:spPr>
          <a:xfrm>
            <a:off x="5003800" y="3017520"/>
            <a:ext cx="3159760" cy="2011680"/>
          </a:xfrm>
          <a:prstGeom prst="rect">
            <a:avLst/>
          </a:prstGeom>
          <a:solidFill>
            <a:srgbClr val="F3F5F9"/>
          </a:solidFill>
          <a:ln w="12700">
            <a:solidFill>
              <a:srgbClr val="D9DEE8"/>
            </a:solidFill>
          </a:ln>
        </p:spPr>
        <p:txBody>
          <a:bodyPr wrap="square" lIns="91440" tIns="91440" rIns="91440" bIns="91440" rtlCol="0" anchor="ctr">
            <a:noAutofit/>
          </a:bodyPr>
          <a:lstStyle/>
          <a:p>
            <a:pPr marL="0" indent="0" algn="ctr">
              <a:buNone/>
            </a:pPr>
            <a:r>
              <a:rPr lang="vi-VN" sz="1200">
                <a:solidFill>
                  <a:srgbClr val="6B6F76"/>
                </a:solidFill>
              </a:rPr>
              <a:t> </a:t>
            </a:r>
            <a:endParaRPr lang="vi-VN" sz="1200"/>
          </a:p>
        </p:txBody>
      </p:sp>
      <p:cxnSp>
        <p:nvCxnSpPr>
          <p:cNvPr id="20" name="Line 20"/>
          <p:cNvCxnSpPr/>
          <p:nvPr/>
        </p:nvCxnSpPr>
        <p:spPr>
          <a:xfrm>
            <a:off x="8323580" y="1554480"/>
            <a:ext cx="0" cy="4480560"/>
          </a:xfrm>
          <a:prstGeom prst="line">
            <a:avLst/>
          </a:prstGeom>
          <a:ln w="12700">
            <a:solidFill>
              <a:srgbClr val="D9DEE8"/>
            </a:solidFill>
          </a:ln>
        </p:spPr>
      </p:cxnSp>
      <p:sp>
        <p:nvSpPr>
          <p:cNvPr id="21" name="Tool name"/>
          <p:cNvSpPr txBox="1"/>
          <p:nvPr/>
        </p:nvSpPr>
        <p:spPr>
          <a:xfrm>
            <a:off x="84836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F9</a:t>
            </a:r>
            <a:endParaRPr lang="vi-VN" sz="2400"/>
          </a:p>
        </p:txBody>
      </p:sp>
      <p:sp>
        <p:nvSpPr>
          <p:cNvPr id="22" name="Tool purpose"/>
          <p:cNvSpPr txBox="1"/>
          <p:nvPr/>
        </p:nvSpPr>
        <p:spPr>
          <a:xfrm>
            <a:off x="8483600" y="2011680"/>
            <a:ext cx="3159760" cy="91440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Tính giá trị phần công thức đang bôi đen</a:t>
            </a:r>
            <a:endParaRPr lang="vi-VN" sz="1800"/>
          </a:p>
        </p:txBody>
      </p:sp>
      <p:sp>
        <p:nvSpPr>
          <p:cNvPr id="24" name="TIP callout"/>
          <p:cNvSpPr/>
          <p:nvPr/>
        </p:nvSpPr>
        <p:spPr>
          <a:xfrm>
            <a:off x="8483600" y="5166360"/>
            <a:ext cx="3159760" cy="1005840"/>
          </a:xfrm>
          <a:prstGeom prst="roundRect">
            <a:avLst>
              <a:gd name="adj" fmla="val 2525"/>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25" name="TextBox"/>
          <p:cNvSpPr txBox="1"/>
          <p:nvPr/>
        </p:nvSpPr>
        <p:spPr>
          <a:xfrm>
            <a:off x="8593328" y="5276088"/>
            <a:ext cx="548640" cy="320040"/>
          </a:xfrm>
          <a:prstGeom prst="rect">
            <a:avLst/>
          </a:prstGeom>
          <a:noFill/>
          <a:ln>
            <a:noFill/>
          </a:ln>
        </p:spPr>
        <p:txBody>
          <a:bodyPr wrap="square" lIns="0" tIns="0" rIns="0" bIns="0" rtlCol="0" anchor="ctr">
            <a:noAutofit/>
          </a:bodyPr>
          <a:lstStyle/>
          <a:p>
            <a:pPr marL="0" indent="0">
              <a:buNone/>
            </a:pPr>
            <a:r>
              <a:rPr lang="vi-VN" sz="1400" b="1">
                <a:solidFill>
                  <a:srgbClr val="203864"/>
                </a:solidFill>
              </a:rPr>
              <a:t>TIP</a:t>
            </a:r>
            <a:endParaRPr lang="vi-VN" sz="1400"/>
          </a:p>
        </p:txBody>
      </p:sp>
      <p:sp>
        <p:nvSpPr>
          <p:cNvPr id="26" name="TIP text"/>
          <p:cNvSpPr txBox="1"/>
          <p:nvPr/>
        </p:nvSpPr>
        <p:spPr>
          <a:xfrm>
            <a:off x="9233408" y="5253228"/>
            <a:ext cx="2300224" cy="832104"/>
          </a:xfrm>
          <a:prstGeom prst="rect">
            <a:avLst/>
          </a:prstGeom>
          <a:noFill/>
          <a:ln>
            <a:noFill/>
          </a:ln>
        </p:spPr>
        <p:txBody>
          <a:bodyPr wrap="square" lIns="0" tIns="0" rIns="0" bIns="0" rtlCol="0" anchor="t">
            <a:noAutofit/>
          </a:bodyPr>
          <a:lstStyle/>
          <a:p>
            <a:pPr marL="0" indent="0">
              <a:lnSpc>
                <a:spcPct val="100000"/>
              </a:lnSpc>
              <a:buNone/>
            </a:pPr>
            <a:r>
              <a:rPr lang="vi-VN" sz="1400">
                <a:solidFill>
                  <a:srgbClr val="1B2230"/>
                </a:solidFill>
              </a:rPr>
              <a:t>Xong nhấn </a:t>
            </a:r>
            <a:r>
              <a:rPr lang="vi-VN" sz="1400" b="1">
                <a:solidFill>
                  <a:srgbClr val="1B2230"/>
                </a:solidFill>
              </a:rPr>
              <a:t>Esc</a:t>
            </a:r>
            <a:r>
              <a:rPr lang="vi-VN" sz="1400">
                <a:solidFill>
                  <a:srgbClr val="1B2230"/>
                </a:solidFill>
              </a:rPr>
              <a:t> để không ghi đè công thức.</a:t>
            </a:r>
            <a:endParaRPr lang="vi-VN" sz="1400"/>
          </a:p>
        </p:txBody>
      </p:sp>
      <p:sp>
        <p:nvSpPr>
          <p:cNvPr id="27" name="Ref A1"/>
          <p:cNvSpPr/>
          <p:nvPr/>
        </p:nvSpPr>
        <p:spPr>
          <a:xfrm>
            <a:off x="5232400" y="3474720"/>
            <a:ext cx="1143000" cy="411480"/>
          </a:xfrm>
          <a:prstGeom prst="rect">
            <a:avLst/>
          </a:prstGeom>
          <a:solidFill>
            <a:srgbClr val="FFFFFF"/>
          </a:solidFill>
          <a:ln w="12700">
            <a:solidFill>
              <a:srgbClr val="D9DEE8"/>
            </a:solidFill>
          </a:ln>
        </p:spPr>
        <p:txBody>
          <a:bodyPr wrap="square" lIns="0" tIns="0" rIns="0" bIns="0" rtlCol="0" anchor="ctr">
            <a:noAutofit/>
          </a:bodyPr>
          <a:lstStyle/>
          <a:p>
            <a:pPr marL="0" indent="0" algn="ctr">
              <a:buNone/>
            </a:pPr>
            <a:r>
              <a:rPr lang="vi-VN" sz="1800" b="1">
                <a:solidFill>
                  <a:srgbClr val="203864"/>
                </a:solidFill>
              </a:rPr>
              <a:t>A1</a:t>
            </a:r>
            <a:endParaRPr lang="vi-VN" sz="1800"/>
          </a:p>
        </p:txBody>
      </p:sp>
      <p:sp>
        <p:nvSpPr>
          <p:cNvPr id="28" name="Ref $A$1"/>
          <p:cNvSpPr/>
          <p:nvPr/>
        </p:nvSpPr>
        <p:spPr>
          <a:xfrm>
            <a:off x="6791960" y="3474720"/>
            <a:ext cx="1143000" cy="411480"/>
          </a:xfrm>
          <a:prstGeom prst="rect">
            <a:avLst/>
          </a:prstGeom>
          <a:solidFill>
            <a:srgbClr val="FFFFFF"/>
          </a:solidFill>
          <a:ln w="12700">
            <a:solidFill>
              <a:srgbClr val="D9DEE8"/>
            </a:solidFill>
          </a:ln>
        </p:spPr>
        <p:txBody>
          <a:bodyPr wrap="square" lIns="0" tIns="0" rIns="0" bIns="0" rtlCol="0" anchor="ctr">
            <a:noAutofit/>
          </a:bodyPr>
          <a:lstStyle/>
          <a:p>
            <a:pPr marL="0" indent="0" algn="ctr">
              <a:buNone/>
            </a:pPr>
            <a:r>
              <a:rPr lang="vi-VN" sz="1800" b="1">
                <a:solidFill>
                  <a:srgbClr val="203864"/>
                </a:solidFill>
              </a:rPr>
              <a:t>$A$1</a:t>
            </a:r>
            <a:endParaRPr lang="vi-VN" sz="1800"/>
          </a:p>
        </p:txBody>
      </p:sp>
      <p:sp>
        <p:nvSpPr>
          <p:cNvPr id="29" name="Ref A$1"/>
          <p:cNvSpPr/>
          <p:nvPr/>
        </p:nvSpPr>
        <p:spPr>
          <a:xfrm>
            <a:off x="6791960" y="4343400"/>
            <a:ext cx="1143000" cy="411480"/>
          </a:xfrm>
          <a:prstGeom prst="rect">
            <a:avLst/>
          </a:prstGeom>
          <a:solidFill>
            <a:srgbClr val="FFFFFF"/>
          </a:solidFill>
          <a:ln w="12700">
            <a:solidFill>
              <a:srgbClr val="D9DEE8"/>
            </a:solidFill>
          </a:ln>
        </p:spPr>
        <p:txBody>
          <a:bodyPr wrap="square" lIns="0" tIns="0" rIns="0" bIns="0" rtlCol="0" anchor="ctr">
            <a:noAutofit/>
          </a:bodyPr>
          <a:lstStyle/>
          <a:p>
            <a:pPr marL="0" indent="0" algn="ctr">
              <a:buNone/>
            </a:pPr>
            <a:r>
              <a:rPr lang="vi-VN" sz="1800" b="1">
                <a:solidFill>
                  <a:srgbClr val="203864"/>
                </a:solidFill>
              </a:rPr>
              <a:t>A$1</a:t>
            </a:r>
            <a:endParaRPr lang="vi-VN" sz="1800"/>
          </a:p>
        </p:txBody>
      </p:sp>
      <p:sp>
        <p:nvSpPr>
          <p:cNvPr id="30" name="Ref $A1"/>
          <p:cNvSpPr/>
          <p:nvPr/>
        </p:nvSpPr>
        <p:spPr>
          <a:xfrm>
            <a:off x="5232400" y="4343400"/>
            <a:ext cx="1143000" cy="411480"/>
          </a:xfrm>
          <a:prstGeom prst="rect">
            <a:avLst/>
          </a:prstGeom>
          <a:solidFill>
            <a:srgbClr val="FFFFFF"/>
          </a:solidFill>
          <a:ln w="12700">
            <a:solidFill>
              <a:srgbClr val="D9DEE8"/>
            </a:solidFill>
          </a:ln>
        </p:spPr>
        <p:txBody>
          <a:bodyPr wrap="square" lIns="0" tIns="0" rIns="0" bIns="0" rtlCol="0" anchor="ctr">
            <a:noAutofit/>
          </a:bodyPr>
          <a:lstStyle/>
          <a:p>
            <a:pPr marL="0" indent="0" algn="ctr">
              <a:buNone/>
            </a:pPr>
            <a:r>
              <a:rPr lang="vi-VN" sz="1800" b="1">
                <a:solidFill>
                  <a:srgbClr val="203864"/>
                </a:solidFill>
              </a:rPr>
              <a:t>$A1</a:t>
            </a:r>
            <a:endParaRPr lang="vi-VN" sz="1800"/>
          </a:p>
        </p:txBody>
      </p:sp>
      <p:cxnSp>
        <p:nvCxnSpPr>
          <p:cNvPr id="31" name="Line 31"/>
          <p:cNvCxnSpPr/>
          <p:nvPr/>
        </p:nvCxnSpPr>
        <p:spPr>
          <a:xfrm>
            <a:off x="6421120" y="3680460"/>
            <a:ext cx="325120" cy="0"/>
          </a:xfrm>
          <a:prstGeom prst="line">
            <a:avLst/>
          </a:prstGeom>
          <a:ln w="19050">
            <a:solidFill>
              <a:srgbClr val="3398DA"/>
            </a:solidFill>
            <a:tailEnd type="triangle" w="med" len="med"/>
          </a:ln>
        </p:spPr>
      </p:cxnSp>
      <p:cxnSp>
        <p:nvCxnSpPr>
          <p:cNvPr id="32" name="Line 32"/>
          <p:cNvCxnSpPr/>
          <p:nvPr/>
        </p:nvCxnSpPr>
        <p:spPr>
          <a:xfrm>
            <a:off x="7363460" y="3931920"/>
            <a:ext cx="0" cy="365760"/>
          </a:xfrm>
          <a:prstGeom prst="line">
            <a:avLst/>
          </a:prstGeom>
          <a:ln w="19050">
            <a:solidFill>
              <a:srgbClr val="3398DA"/>
            </a:solidFill>
            <a:tailEnd type="triangle" w="med" len="med"/>
          </a:ln>
        </p:spPr>
      </p:cxnSp>
      <p:cxnSp>
        <p:nvCxnSpPr>
          <p:cNvPr id="33" name="Line 33"/>
          <p:cNvCxnSpPr/>
          <p:nvPr/>
        </p:nvCxnSpPr>
        <p:spPr>
          <a:xfrm flipH="1">
            <a:off x="6421120" y="4549140"/>
            <a:ext cx="325120" cy="0"/>
          </a:xfrm>
          <a:prstGeom prst="line">
            <a:avLst/>
          </a:prstGeom>
          <a:ln w="19050">
            <a:solidFill>
              <a:srgbClr val="3398DA"/>
            </a:solidFill>
            <a:tailEnd type="triangle" w="med" len="med"/>
          </a:ln>
        </p:spPr>
      </p:cxnSp>
      <p:cxnSp>
        <p:nvCxnSpPr>
          <p:cNvPr id="34" name="Line 34"/>
          <p:cNvCxnSpPr/>
          <p:nvPr/>
        </p:nvCxnSpPr>
        <p:spPr>
          <a:xfrm flipV="1">
            <a:off x="5803900" y="3931920"/>
            <a:ext cx="0" cy="365760"/>
          </a:xfrm>
          <a:prstGeom prst="line">
            <a:avLst/>
          </a:prstGeom>
          <a:ln w="19050">
            <a:solidFill>
              <a:srgbClr val="3398DA"/>
            </a:solidFill>
            <a:tailEnd type="triangle" w="med" len="med"/>
          </a:ln>
        </p:spPr>
      </p:cxnSp>
      <p:sp>
        <p:nvSpPr>
          <p:cNvPr id="35" name="TextBox"/>
          <p:cNvSpPr txBox="1"/>
          <p:nvPr/>
        </p:nvSpPr>
        <p:spPr>
          <a:xfrm>
            <a:off x="5003800" y="3108960"/>
            <a:ext cx="3159760" cy="320040"/>
          </a:xfrm>
          <a:prstGeom prst="rect">
            <a:avLst/>
          </a:prstGeom>
          <a:noFill/>
          <a:ln>
            <a:noFill/>
          </a:ln>
        </p:spPr>
        <p:txBody>
          <a:bodyPr wrap="square" lIns="0" tIns="0" rIns="0" bIns="0" rtlCol="0" anchor="t">
            <a:noAutofit/>
          </a:bodyPr>
          <a:lstStyle/>
          <a:p>
            <a:pPr marL="0" indent="0" algn="ctr">
              <a:buNone/>
            </a:pPr>
            <a:r>
              <a:rPr lang="vi-VN" sz="1400">
                <a:solidFill>
                  <a:srgbClr val="585858"/>
                </a:solidFill>
              </a:rPr>
              <a:t>Mỗi lần nhấn F4</a:t>
            </a:r>
            <a:endParaRPr lang="vi-VN" sz="1400"/>
          </a:p>
        </p:txBody>
      </p:sp>
      <p:pic>
        <p:nvPicPr>
          <p:cNvPr id="2" name="Picture 1">
            <a:extLst>
              <a:ext uri="{FF2B5EF4-FFF2-40B4-BE49-F238E27FC236}">
                <a16:creationId xmlns:a16="http://schemas.microsoft.com/office/drawing/2014/main" id="{D9B43E15-821C-27C4-802B-45F8A890A497}"/>
              </a:ext>
            </a:extLst>
          </p:cNvPr>
          <p:cNvPicPr>
            <a:picLocks noChangeAspect="1"/>
          </p:cNvPicPr>
          <p:nvPr/>
        </p:nvPicPr>
        <p:blipFill>
          <a:blip r:embed="rId3"/>
          <a:stretch>
            <a:fillRect/>
          </a:stretch>
        </p:blipFill>
        <p:spPr>
          <a:xfrm>
            <a:off x="1524000" y="3022600"/>
            <a:ext cx="3162300" cy="2006600"/>
          </a:xfrm>
          <a:prstGeom prst="rect">
            <a:avLst/>
          </a:prstGeom>
        </p:spPr>
      </p:pic>
      <p:pic>
        <p:nvPicPr>
          <p:cNvPr id="4" name="Picture 3">
            <a:extLst>
              <a:ext uri="{FF2B5EF4-FFF2-40B4-BE49-F238E27FC236}">
                <a16:creationId xmlns:a16="http://schemas.microsoft.com/office/drawing/2014/main" id="{90577642-D658-1AD2-2A99-A06066F85288}"/>
              </a:ext>
            </a:extLst>
          </p:cNvPr>
          <p:cNvPicPr>
            <a:picLocks noChangeAspect="1"/>
          </p:cNvPicPr>
          <p:nvPr/>
        </p:nvPicPr>
        <p:blipFill>
          <a:blip r:embed="rId4"/>
          <a:stretch>
            <a:fillRect/>
          </a:stretch>
        </p:blipFill>
        <p:spPr>
          <a:xfrm>
            <a:off x="8483600" y="3022600"/>
            <a:ext cx="3162300" cy="2006600"/>
          </a:xfrm>
          <a:prstGeom prst="rect">
            <a:avLst/>
          </a:prstGeom>
        </p:spPr>
      </p:pic>
    </p:spTree>
    <p:extLst>
      <p:ext uri="{BB962C8B-B14F-4D97-AF65-F5344CB8AC3E}">
        <p14:creationId xmlns:p14="http://schemas.microsoft.com/office/powerpoint/2010/main" val="3127729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3 · PHÍM TẮT</a:t>
            </a:r>
            <a:endParaRPr lang="vi-VN" sz="1400"/>
          </a:p>
        </p:txBody>
      </p:sp>
      <p:sp>
        <p:nvSpPr>
          <p:cNvPr id="12" name="title 12"/>
          <p:cNvSpPr>
            <a:spLocks noGrp="1"/>
          </p:cNvSpPr>
          <p:nvPr>
            <p:ph type="title"/>
          </p:nvPr>
        </p:nvSpPr>
        <p:spPr/>
        <p:txBody>
          <a:bodyPr>
            <a:normAutofit/>
          </a:bodyPr>
          <a:lstStyle/>
          <a:p>
            <a:r>
              <a:rPr lang="vi-VN"/>
              <a:t>Alt Key Tips &amp; Quick Access Toolbar</a:t>
            </a:r>
          </a:p>
        </p:txBody>
      </p:sp>
      <p:sp>
        <p:nvSpPr>
          <p:cNvPr id="13" name="Tool name"/>
          <p:cNvSpPr txBox="1"/>
          <p:nvPr/>
        </p:nvSpPr>
        <p:spPr>
          <a:xfrm>
            <a:off x="1524000" y="1554480"/>
            <a:ext cx="48996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Alt Key Tips</a:t>
            </a:r>
            <a:endParaRPr lang="vi-VN" sz="2400"/>
          </a:p>
        </p:txBody>
      </p:sp>
      <p:sp>
        <p:nvSpPr>
          <p:cNvPr id="14" name="Tool purpose"/>
          <p:cNvSpPr txBox="1"/>
          <p:nvPr/>
        </p:nvSpPr>
        <p:spPr>
          <a:xfrm>
            <a:off x="1524000" y="2011680"/>
            <a:ext cx="4899660" cy="73152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Nhấn rồi thả Alt, Ribbon hiện chữ cái; gõ lần lượt để đi sâu vào menu</a:t>
            </a:r>
            <a:endParaRPr lang="vi-VN" sz="1800"/>
          </a:p>
        </p:txBody>
      </p:sp>
      <p:cxnSp>
        <p:nvCxnSpPr>
          <p:cNvPr id="16" name="Line 16"/>
          <p:cNvCxnSpPr/>
          <p:nvPr/>
        </p:nvCxnSpPr>
        <p:spPr>
          <a:xfrm>
            <a:off x="6583680" y="1554480"/>
            <a:ext cx="0" cy="3291840"/>
          </a:xfrm>
          <a:prstGeom prst="line">
            <a:avLst/>
          </a:prstGeom>
          <a:ln w="12700">
            <a:solidFill>
              <a:srgbClr val="D9DEE8"/>
            </a:solidFill>
          </a:ln>
        </p:spPr>
      </p:cxnSp>
      <p:sp>
        <p:nvSpPr>
          <p:cNvPr id="17" name="Tool name"/>
          <p:cNvSpPr txBox="1"/>
          <p:nvPr/>
        </p:nvSpPr>
        <p:spPr>
          <a:xfrm>
            <a:off x="6743700" y="1554480"/>
            <a:ext cx="48996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Quick Access Toolbar</a:t>
            </a:r>
            <a:endParaRPr lang="vi-VN" sz="2400"/>
          </a:p>
        </p:txBody>
      </p:sp>
      <p:sp>
        <p:nvSpPr>
          <p:cNvPr id="18" name="Tool purpose"/>
          <p:cNvSpPr txBox="1"/>
          <p:nvPr/>
        </p:nvSpPr>
        <p:spPr>
          <a:xfrm>
            <a:off x="6743700" y="2011680"/>
            <a:ext cx="4899660" cy="73152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Ghim lệnh hay dùng lên thanh trên cùng</a:t>
            </a:r>
            <a:endParaRPr lang="vi-VN" sz="1800"/>
          </a:p>
        </p:txBody>
      </p:sp>
      <p:sp>
        <p:nvSpPr>
          <p:cNvPr id="20" name="PRO TIP callout"/>
          <p:cNvSpPr/>
          <p:nvPr/>
        </p:nvSpPr>
        <p:spPr>
          <a:xfrm>
            <a:off x="1524000" y="5029200"/>
            <a:ext cx="10119360" cy="1188720"/>
          </a:xfrm>
          <a:prstGeom prst="roundRect">
            <a:avLst>
              <a:gd name="adj" fmla="val 2137"/>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21" name="PRO TIP chip"/>
          <p:cNvSpPr/>
          <p:nvPr/>
        </p:nvSpPr>
        <p:spPr>
          <a:xfrm>
            <a:off x="1633728" y="5138928"/>
            <a:ext cx="1005840" cy="320040"/>
          </a:xfrm>
          <a:prstGeom prst="roundRect">
            <a:avLst>
              <a:gd name="adj" fmla="val 25000"/>
            </a:avLst>
          </a:prstGeom>
          <a:solidFill>
            <a:srgbClr val="FFC000"/>
          </a:solidFill>
          <a:ln>
            <a:noFill/>
          </a:ln>
        </p:spPr>
        <p:txBody>
          <a:bodyPr wrap="square" lIns="0" tIns="0" rIns="0" bIns="0" rtlCol="0" anchor="ctr">
            <a:noAutofit/>
          </a:bodyPr>
          <a:lstStyle/>
          <a:p>
            <a:pPr marL="0" indent="0" algn="ctr">
              <a:buNone/>
            </a:pPr>
            <a:r>
              <a:rPr lang="vi-VN" sz="1200" b="1">
                <a:solidFill>
                  <a:srgbClr val="1B2230"/>
                </a:solidFill>
              </a:rPr>
              <a:t>PRO TIP</a:t>
            </a:r>
            <a:endParaRPr lang="vi-VN" sz="1200"/>
          </a:p>
        </p:txBody>
      </p:sp>
      <p:sp>
        <p:nvSpPr>
          <p:cNvPr id="22" name="PRO TIP text"/>
          <p:cNvSpPr txBox="1"/>
          <p:nvPr/>
        </p:nvSpPr>
        <p:spPr>
          <a:xfrm>
            <a:off x="2731008" y="5116068"/>
            <a:ext cx="8802624" cy="1014984"/>
          </a:xfrm>
          <a:prstGeom prst="rect">
            <a:avLst/>
          </a:prstGeom>
          <a:noFill/>
          <a:ln>
            <a:noFill/>
          </a:ln>
        </p:spPr>
        <p:txBody>
          <a:bodyPr wrap="square" lIns="0" tIns="0" rIns="0" bIns="0" rtlCol="0" anchor="t">
            <a:noAutofit/>
          </a:bodyPr>
          <a:lstStyle/>
          <a:p>
            <a:pPr marL="0" indent="0">
              <a:lnSpc>
                <a:spcPct val="100000"/>
              </a:lnSpc>
              <a:buNone/>
            </a:pPr>
            <a:r>
              <a:rPr lang="vi-VN" sz="1600">
                <a:solidFill>
                  <a:srgbClr val="1B2230"/>
                </a:solidFill>
              </a:rPr>
              <a:t>3 tổ hợp đáng nhớ nhất:</a:t>
            </a:r>
            <a:endParaRPr lang="vi-VN" sz="1600"/>
          </a:p>
          <a:p>
            <a:pPr marL="0" indent="0">
              <a:lnSpc>
                <a:spcPct val="100000"/>
              </a:lnSpc>
              <a:buNone/>
            </a:pPr>
            <a:r>
              <a:rPr lang="vi-VN" sz="1600" b="1">
                <a:solidFill>
                  <a:srgbClr val="1B2230"/>
                </a:solidFill>
              </a:rPr>
              <a:t>Alt H V V</a:t>
            </a:r>
            <a:r>
              <a:rPr lang="vi-VN" sz="1600">
                <a:solidFill>
                  <a:srgbClr val="1B2230"/>
                </a:solidFill>
              </a:rPr>
              <a:t>  dán giá trị (Paste Values)    ·    </a:t>
            </a:r>
            <a:r>
              <a:rPr lang="vi-VN" sz="1600" b="1">
                <a:solidFill>
                  <a:srgbClr val="1B2230"/>
                </a:solidFill>
              </a:rPr>
              <a:t>Alt A T</a:t>
            </a:r>
            <a:r>
              <a:rPr lang="vi-VN" sz="1600">
                <a:solidFill>
                  <a:srgbClr val="1B2230"/>
                </a:solidFill>
              </a:rPr>
              <a:t>  bật/tắt Filter    ·    </a:t>
            </a:r>
            <a:r>
              <a:rPr lang="vi-VN" sz="1600" b="1">
                <a:solidFill>
                  <a:srgbClr val="1B2230"/>
                </a:solidFill>
              </a:rPr>
              <a:t>Alt M V</a:t>
            </a:r>
            <a:r>
              <a:rPr lang="vi-VN" sz="1600">
                <a:solidFill>
                  <a:srgbClr val="1B2230"/>
                </a:solidFill>
              </a:rPr>
              <a:t>  Evaluate Formula</a:t>
            </a:r>
            <a:endParaRPr lang="vi-VN" sz="1600"/>
          </a:p>
        </p:txBody>
      </p:sp>
      <p:pic>
        <p:nvPicPr>
          <p:cNvPr id="3" name="Picture 2">
            <a:extLst>
              <a:ext uri="{FF2B5EF4-FFF2-40B4-BE49-F238E27FC236}">
                <a16:creationId xmlns:a16="http://schemas.microsoft.com/office/drawing/2014/main" id="{2C4DBD73-1E69-54EA-EE3A-DDB5DAA27206}"/>
              </a:ext>
            </a:extLst>
          </p:cNvPr>
          <p:cNvPicPr>
            <a:picLocks noChangeAspect="1"/>
          </p:cNvPicPr>
          <p:nvPr/>
        </p:nvPicPr>
        <p:blipFill>
          <a:blip r:embed="rId3"/>
          <a:stretch>
            <a:fillRect/>
          </a:stretch>
        </p:blipFill>
        <p:spPr>
          <a:xfrm>
            <a:off x="2522696" y="2788920"/>
            <a:ext cx="2909887" cy="2148840"/>
          </a:xfrm>
          <a:prstGeom prst="rect">
            <a:avLst/>
          </a:prstGeom>
        </p:spPr>
      </p:pic>
      <p:pic>
        <p:nvPicPr>
          <p:cNvPr id="5" name="Picture 4">
            <a:extLst>
              <a:ext uri="{FF2B5EF4-FFF2-40B4-BE49-F238E27FC236}">
                <a16:creationId xmlns:a16="http://schemas.microsoft.com/office/drawing/2014/main" id="{4271772C-46F6-5A6B-E0CD-7A39AFBB231A}"/>
              </a:ext>
            </a:extLst>
          </p:cNvPr>
          <p:cNvPicPr>
            <a:picLocks noChangeAspect="1"/>
          </p:cNvPicPr>
          <p:nvPr/>
        </p:nvPicPr>
        <p:blipFill>
          <a:blip r:embed="rId4"/>
          <a:stretch>
            <a:fillRect/>
          </a:stretch>
        </p:blipFill>
        <p:spPr>
          <a:xfrm>
            <a:off x="6748272" y="2863882"/>
            <a:ext cx="4901184" cy="1998914"/>
          </a:xfrm>
          <a:prstGeom prst="rect">
            <a:avLst/>
          </a:prstGeom>
        </p:spPr>
      </p:pic>
    </p:spTree>
    <p:extLst>
      <p:ext uri="{BB962C8B-B14F-4D97-AF65-F5344CB8AC3E}">
        <p14:creationId xmlns:p14="http://schemas.microsoft.com/office/powerpoint/2010/main" val="3367633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1"/>
          <p:cNvSpPr>
            <a:spLocks noGrp="1"/>
          </p:cNvSpPr>
          <p:nvPr>
            <p:ph type="title"/>
          </p:nvPr>
        </p:nvSpPr>
        <p:spPr/>
        <p:txBody>
          <a:bodyPr>
            <a:normAutofit/>
          </a:bodyPr>
          <a:lstStyle/>
          <a:p>
            <a:r>
              <a:rPr lang="vi-VN"/>
              <a:t>Nghỉ 10 phút</a:t>
            </a:r>
          </a:p>
        </p:txBody>
      </p:sp>
      <p:sp>
        <p:nvSpPr>
          <p:cNvPr id="12" name="body 12"/>
          <p:cNvSpPr>
            <a:spLocks noGrp="1"/>
          </p:cNvSpPr>
          <p:nvPr>
            <p:ph type="body" idx="1"/>
          </p:nvPr>
        </p:nvSpPr>
        <p:spPr/>
        <p:txBody>
          <a:bodyPr>
            <a:normAutofit/>
          </a:bodyPr>
          <a:lstStyle/>
          <a:p>
            <a:r>
              <a:rPr lang="vi-VN"/>
              <a:t>Trước khi quay lại: mở sẵn file B1_MCI_Mart_Q1_2025_Dirty.xlsx</a:t>
            </a:r>
          </a:p>
        </p:txBody>
      </p:sp>
    </p:spTree>
    <p:extLst>
      <p:ext uri="{BB962C8B-B14F-4D97-AF65-F5344CB8AC3E}">
        <p14:creationId xmlns:p14="http://schemas.microsoft.com/office/powerpoint/2010/main" val="1751930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1"/>
          <p:cNvSpPr>
            <a:spLocks noGrp="1"/>
          </p:cNvSpPr>
          <p:nvPr>
            <p:ph type="title"/>
          </p:nvPr>
        </p:nvSpPr>
        <p:spPr/>
        <p:txBody>
          <a:bodyPr>
            <a:normAutofit/>
          </a:bodyPr>
          <a:lstStyle/>
          <a:p>
            <a:r>
              <a:rPr lang="vi-VN"/>
              <a:t>4. Công thức: viết đúng, sao chép đúng, tìm lỗi nhanh</a:t>
            </a:r>
          </a:p>
        </p:txBody>
      </p:sp>
    </p:spTree>
    <p:extLst>
      <p:ext uri="{BB962C8B-B14F-4D97-AF65-F5344CB8AC3E}">
        <p14:creationId xmlns:p14="http://schemas.microsoft.com/office/powerpoint/2010/main" val="853887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4 · CÔNG THỨC</a:t>
            </a:r>
            <a:endParaRPr lang="vi-VN" sz="1400"/>
          </a:p>
        </p:txBody>
      </p:sp>
      <p:sp>
        <p:nvSpPr>
          <p:cNvPr id="12" name="title 12"/>
          <p:cNvSpPr>
            <a:spLocks noGrp="1"/>
          </p:cNvSpPr>
          <p:nvPr>
            <p:ph type="title"/>
          </p:nvPr>
        </p:nvSpPr>
        <p:spPr/>
        <p:txBody>
          <a:bodyPr>
            <a:normAutofit/>
          </a:bodyPr>
          <a:lstStyle/>
          <a:p>
            <a:r>
              <a:rPr lang="vi-VN"/>
              <a:t>Formula Syntax</a:t>
            </a:r>
          </a:p>
        </p:txBody>
      </p:sp>
      <p:sp>
        <p:nvSpPr>
          <p:cNvPr id="13" name="Formula"/>
          <p:cNvSpPr/>
          <p:nvPr/>
        </p:nvSpPr>
        <p:spPr>
          <a:xfrm>
            <a:off x="1524000" y="1554480"/>
            <a:ext cx="10119360" cy="822960"/>
          </a:xfrm>
          <a:prstGeom prst="rect">
            <a:avLst/>
          </a:prstGeom>
          <a:solidFill>
            <a:srgbClr val="F3F5F9"/>
          </a:solidFill>
          <a:ln>
            <a:noFill/>
          </a:ln>
        </p:spPr>
        <p:txBody>
          <a:bodyPr wrap="square" lIns="91440" tIns="91440" rIns="91440" bIns="91440" rtlCol="0" anchor="ctr">
            <a:noAutofit/>
          </a:bodyPr>
          <a:lstStyle/>
          <a:p>
            <a:pPr marL="0" indent="0" algn="ctr">
              <a:buNone/>
            </a:pPr>
            <a:r>
              <a:rPr lang="vi-VN" sz="3200" b="1">
                <a:solidFill>
                  <a:srgbClr val="3398DA"/>
                </a:solidFill>
              </a:rPr>
              <a:t>= </a:t>
            </a:r>
            <a:r>
              <a:rPr lang="vi-VN" sz="3200" b="1">
                <a:solidFill>
                  <a:srgbClr val="203864"/>
                </a:solidFill>
              </a:rPr>
              <a:t>MATCH</a:t>
            </a:r>
            <a:r>
              <a:rPr lang="vi-VN" sz="3200">
                <a:solidFill>
                  <a:srgbClr val="1B2230"/>
                </a:solidFill>
              </a:rPr>
              <a:t>(lookup_value, lookup_array, </a:t>
            </a:r>
            <a:r>
              <a:rPr lang="vi-VN" sz="3200" i="1">
                <a:solidFill>
                  <a:srgbClr val="585858"/>
                </a:solidFill>
              </a:rPr>
              <a:t>[match_type]</a:t>
            </a:r>
            <a:r>
              <a:rPr lang="vi-VN" sz="3200">
                <a:solidFill>
                  <a:srgbClr val="1B2230"/>
                </a:solidFill>
              </a:rPr>
              <a:t>)</a:t>
            </a:r>
            <a:endParaRPr lang="vi-VN"/>
          </a:p>
        </p:txBody>
      </p:sp>
      <p:sp>
        <p:nvSpPr>
          <p:cNvPr id="14" name="Syntax card 1"/>
          <p:cNvSpPr/>
          <p:nvPr/>
        </p:nvSpPr>
        <p:spPr>
          <a:xfrm>
            <a:off x="1524000" y="2560320"/>
            <a:ext cx="2392680" cy="15544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5" name="Callout number 1"/>
          <p:cNvSpPr/>
          <p:nvPr/>
        </p:nvSpPr>
        <p:spPr>
          <a:xfrm>
            <a:off x="1615440" y="2651760"/>
            <a:ext cx="365760" cy="365760"/>
          </a:xfrm>
          <a:prstGeom prst="ellipse">
            <a:avLst/>
          </a:prstGeom>
          <a:solidFill>
            <a:srgbClr val="3398DA"/>
          </a:solidFill>
          <a:ln>
            <a:noFill/>
          </a:ln>
        </p:spPr>
        <p:txBody>
          <a:bodyPr wrap="square" lIns="0" tIns="0" rIns="0" bIns="0" rtlCol="0" anchor="ctr">
            <a:noAutofit/>
          </a:bodyPr>
          <a:lstStyle/>
          <a:p>
            <a:pPr marL="0" indent="0" algn="ctr">
              <a:buNone/>
            </a:pPr>
            <a:r>
              <a:rPr lang="vi-VN" sz="1400" b="1">
                <a:solidFill>
                  <a:srgbClr val="FFFFFF"/>
                </a:solidFill>
              </a:rPr>
              <a:t>1</a:t>
            </a:r>
            <a:endParaRPr lang="vi-VN" sz="1400"/>
          </a:p>
        </p:txBody>
      </p:sp>
      <p:sp>
        <p:nvSpPr>
          <p:cNvPr id="16" name="TextBox"/>
          <p:cNvSpPr txBox="1"/>
          <p:nvPr/>
        </p:nvSpPr>
        <p:spPr>
          <a:xfrm>
            <a:off x="1615440" y="3108960"/>
            <a:ext cx="2209800" cy="731520"/>
          </a:xfrm>
          <a:prstGeom prst="rect">
            <a:avLst/>
          </a:prstGeom>
          <a:noFill/>
          <a:ln>
            <a:noFill/>
          </a:ln>
        </p:spPr>
        <p:txBody>
          <a:bodyPr wrap="square" lIns="0" tIns="0" rIns="0" bIns="0" rtlCol="0" anchor="t">
            <a:noAutofit/>
          </a:bodyPr>
          <a:lstStyle/>
          <a:p>
            <a:pPr marL="0" indent="0">
              <a:lnSpc>
                <a:spcPct val="100000"/>
              </a:lnSpc>
              <a:buNone/>
            </a:pPr>
            <a:r>
              <a:rPr lang="vi-VN" sz="1600">
                <a:solidFill>
                  <a:srgbClr val="1B2230"/>
                </a:solidFill>
              </a:rPr>
              <a:t>Luôn bắt đầu bằng </a:t>
            </a:r>
            <a:r>
              <a:rPr lang="vi-VN" sz="1600" b="1">
                <a:solidFill>
                  <a:srgbClr val="203864"/>
                </a:solidFill>
              </a:rPr>
              <a:t>=</a:t>
            </a:r>
            <a:endParaRPr lang="vi-VN" sz="1600"/>
          </a:p>
        </p:txBody>
      </p:sp>
      <p:sp>
        <p:nvSpPr>
          <p:cNvPr id="17" name="Syntax card 2"/>
          <p:cNvSpPr/>
          <p:nvPr/>
        </p:nvSpPr>
        <p:spPr>
          <a:xfrm>
            <a:off x="4099560" y="2560320"/>
            <a:ext cx="2392680" cy="15544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8" name="Callout number 2"/>
          <p:cNvSpPr/>
          <p:nvPr/>
        </p:nvSpPr>
        <p:spPr>
          <a:xfrm>
            <a:off x="4191000" y="2651760"/>
            <a:ext cx="365760" cy="365760"/>
          </a:xfrm>
          <a:prstGeom prst="ellipse">
            <a:avLst/>
          </a:prstGeom>
          <a:solidFill>
            <a:srgbClr val="3398DA"/>
          </a:solidFill>
          <a:ln>
            <a:noFill/>
          </a:ln>
        </p:spPr>
        <p:txBody>
          <a:bodyPr wrap="square" lIns="0" tIns="0" rIns="0" bIns="0" rtlCol="0" anchor="ctr">
            <a:noAutofit/>
          </a:bodyPr>
          <a:lstStyle/>
          <a:p>
            <a:pPr marL="0" indent="0" algn="ctr">
              <a:buNone/>
            </a:pPr>
            <a:r>
              <a:rPr lang="vi-VN" sz="1400" b="1">
                <a:solidFill>
                  <a:srgbClr val="FFFFFF"/>
                </a:solidFill>
              </a:rPr>
              <a:t>2</a:t>
            </a:r>
            <a:endParaRPr lang="vi-VN" sz="1400"/>
          </a:p>
        </p:txBody>
      </p:sp>
      <p:sp>
        <p:nvSpPr>
          <p:cNvPr id="19" name="TextBox"/>
          <p:cNvSpPr txBox="1"/>
          <p:nvPr/>
        </p:nvSpPr>
        <p:spPr>
          <a:xfrm>
            <a:off x="4191000" y="3108960"/>
            <a:ext cx="2209800" cy="731520"/>
          </a:xfrm>
          <a:prstGeom prst="rect">
            <a:avLst/>
          </a:prstGeom>
          <a:noFill/>
          <a:ln>
            <a:noFill/>
          </a:ln>
        </p:spPr>
        <p:txBody>
          <a:bodyPr wrap="square" lIns="0" tIns="0" rIns="0" bIns="0" rtlCol="0" anchor="t">
            <a:noAutofit/>
          </a:bodyPr>
          <a:lstStyle/>
          <a:p>
            <a:pPr marL="0" indent="0">
              <a:lnSpc>
                <a:spcPct val="100000"/>
              </a:lnSpc>
              <a:buNone/>
            </a:pPr>
            <a:r>
              <a:rPr lang="vi-VN" sz="1600" b="1">
                <a:solidFill>
                  <a:srgbClr val="203864"/>
                </a:solidFill>
              </a:rPr>
              <a:t>Tên hàm</a:t>
            </a:r>
            <a:r>
              <a:rPr lang="vi-VN" sz="1600">
                <a:solidFill>
                  <a:srgbClr val="1B2230"/>
                </a:solidFill>
              </a:rPr>
              <a:t>: khoảng 500 hàm, không phân biệt hoa thường</a:t>
            </a:r>
            <a:endParaRPr lang="vi-VN" sz="1600"/>
          </a:p>
        </p:txBody>
      </p:sp>
      <p:sp>
        <p:nvSpPr>
          <p:cNvPr id="20" name="Syntax card 3"/>
          <p:cNvSpPr/>
          <p:nvPr/>
        </p:nvSpPr>
        <p:spPr>
          <a:xfrm>
            <a:off x="6675120" y="2560320"/>
            <a:ext cx="2392680" cy="15544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1" name="Callout number 3"/>
          <p:cNvSpPr/>
          <p:nvPr/>
        </p:nvSpPr>
        <p:spPr>
          <a:xfrm>
            <a:off x="6766560" y="2651760"/>
            <a:ext cx="365760" cy="365760"/>
          </a:xfrm>
          <a:prstGeom prst="ellipse">
            <a:avLst/>
          </a:prstGeom>
          <a:solidFill>
            <a:srgbClr val="3398DA"/>
          </a:solidFill>
          <a:ln>
            <a:noFill/>
          </a:ln>
        </p:spPr>
        <p:txBody>
          <a:bodyPr wrap="square" lIns="0" tIns="0" rIns="0" bIns="0" rtlCol="0" anchor="ctr">
            <a:noAutofit/>
          </a:bodyPr>
          <a:lstStyle/>
          <a:p>
            <a:pPr marL="0" indent="0" algn="ctr">
              <a:buNone/>
            </a:pPr>
            <a:r>
              <a:rPr lang="vi-VN" sz="1400" b="1">
                <a:solidFill>
                  <a:srgbClr val="FFFFFF"/>
                </a:solidFill>
              </a:rPr>
              <a:t>3</a:t>
            </a:r>
            <a:endParaRPr lang="vi-VN" sz="1400"/>
          </a:p>
        </p:txBody>
      </p:sp>
      <p:sp>
        <p:nvSpPr>
          <p:cNvPr id="22" name="TextBox"/>
          <p:cNvSpPr txBox="1"/>
          <p:nvPr/>
        </p:nvSpPr>
        <p:spPr>
          <a:xfrm>
            <a:off x="6766560" y="3108960"/>
            <a:ext cx="2209800" cy="731520"/>
          </a:xfrm>
          <a:prstGeom prst="rect">
            <a:avLst/>
          </a:prstGeom>
          <a:noFill/>
          <a:ln>
            <a:noFill/>
          </a:ln>
        </p:spPr>
        <p:txBody>
          <a:bodyPr wrap="square" lIns="0" tIns="0" rIns="0" bIns="0" rtlCol="0" anchor="t">
            <a:noAutofit/>
          </a:bodyPr>
          <a:lstStyle/>
          <a:p>
            <a:pPr marL="0" indent="0">
              <a:lnSpc>
                <a:spcPct val="100000"/>
              </a:lnSpc>
              <a:buNone/>
            </a:pPr>
            <a:r>
              <a:rPr lang="vi-VN" sz="1600" b="1">
                <a:solidFill>
                  <a:srgbClr val="203864"/>
                </a:solidFill>
              </a:rPr>
              <a:t>Đối số</a:t>
            </a:r>
            <a:r>
              <a:rPr lang="vi-VN" sz="1600">
                <a:solidFill>
                  <a:srgbClr val="1B2230"/>
                </a:solidFill>
              </a:rPr>
              <a:t> trong ngoặc tròn, ngăn bằng dấu phẩy hoặc chấm phẩy tùy cài đặt vùng</a:t>
            </a:r>
            <a:endParaRPr lang="vi-VN" sz="1600"/>
          </a:p>
        </p:txBody>
      </p:sp>
      <p:sp>
        <p:nvSpPr>
          <p:cNvPr id="23" name="Syntax card 4"/>
          <p:cNvSpPr/>
          <p:nvPr/>
        </p:nvSpPr>
        <p:spPr>
          <a:xfrm>
            <a:off x="9250680" y="2560320"/>
            <a:ext cx="2392680" cy="15544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4" name="Callout number 4"/>
          <p:cNvSpPr/>
          <p:nvPr/>
        </p:nvSpPr>
        <p:spPr>
          <a:xfrm>
            <a:off x="9342120" y="2651760"/>
            <a:ext cx="365760" cy="365760"/>
          </a:xfrm>
          <a:prstGeom prst="ellipse">
            <a:avLst/>
          </a:prstGeom>
          <a:solidFill>
            <a:srgbClr val="3398DA"/>
          </a:solidFill>
          <a:ln>
            <a:noFill/>
          </a:ln>
        </p:spPr>
        <p:txBody>
          <a:bodyPr wrap="square" lIns="0" tIns="0" rIns="0" bIns="0" rtlCol="0" anchor="ctr">
            <a:noAutofit/>
          </a:bodyPr>
          <a:lstStyle/>
          <a:p>
            <a:pPr marL="0" indent="0" algn="ctr">
              <a:buNone/>
            </a:pPr>
            <a:r>
              <a:rPr lang="vi-VN" sz="1400" b="1">
                <a:solidFill>
                  <a:srgbClr val="FFFFFF"/>
                </a:solidFill>
              </a:rPr>
              <a:t>4</a:t>
            </a:r>
            <a:endParaRPr lang="vi-VN" sz="1400"/>
          </a:p>
        </p:txBody>
      </p:sp>
      <p:sp>
        <p:nvSpPr>
          <p:cNvPr id="25" name="TextBox"/>
          <p:cNvSpPr txBox="1"/>
          <p:nvPr/>
        </p:nvSpPr>
        <p:spPr>
          <a:xfrm>
            <a:off x="9342120" y="3108960"/>
            <a:ext cx="2209800" cy="731520"/>
          </a:xfrm>
          <a:prstGeom prst="rect">
            <a:avLst/>
          </a:prstGeom>
          <a:noFill/>
          <a:ln>
            <a:noFill/>
          </a:ln>
        </p:spPr>
        <p:txBody>
          <a:bodyPr wrap="square" lIns="0" tIns="0" rIns="0" bIns="0" rtlCol="0" anchor="t">
            <a:noAutofit/>
          </a:bodyPr>
          <a:lstStyle/>
          <a:p>
            <a:pPr marL="0" indent="0">
              <a:lnSpc>
                <a:spcPct val="100000"/>
              </a:lnSpc>
              <a:buNone/>
            </a:pPr>
            <a:r>
              <a:rPr lang="vi-VN" sz="1600">
                <a:solidFill>
                  <a:srgbClr val="1B2230"/>
                </a:solidFill>
              </a:rPr>
              <a:t>Đối số trong </a:t>
            </a:r>
            <a:r>
              <a:rPr lang="vi-VN" sz="1600" b="1">
                <a:solidFill>
                  <a:srgbClr val="203864"/>
                </a:solidFill>
              </a:rPr>
              <a:t>[ ]</a:t>
            </a:r>
            <a:r>
              <a:rPr lang="vi-VN" sz="1600">
                <a:solidFill>
                  <a:srgbClr val="1B2230"/>
                </a:solidFill>
              </a:rPr>
              <a:t> là tùy chọn</a:t>
            </a:r>
            <a:endParaRPr lang="vi-VN" sz="1600"/>
          </a:p>
        </p:txBody>
      </p:sp>
      <p:sp>
        <p:nvSpPr>
          <p:cNvPr id="27" name="PRO TIP callout"/>
          <p:cNvSpPr/>
          <p:nvPr/>
        </p:nvSpPr>
        <p:spPr>
          <a:xfrm>
            <a:off x="7421880" y="4343400"/>
            <a:ext cx="4221480" cy="1965960"/>
          </a:xfrm>
          <a:prstGeom prst="roundRect">
            <a:avLst>
              <a:gd name="adj" fmla="val 1157"/>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28" name="PRO TIP chip"/>
          <p:cNvSpPr/>
          <p:nvPr/>
        </p:nvSpPr>
        <p:spPr>
          <a:xfrm>
            <a:off x="7531608" y="4453128"/>
            <a:ext cx="1005840" cy="320040"/>
          </a:xfrm>
          <a:prstGeom prst="roundRect">
            <a:avLst>
              <a:gd name="adj" fmla="val 25000"/>
            </a:avLst>
          </a:prstGeom>
          <a:solidFill>
            <a:srgbClr val="FFC000"/>
          </a:solidFill>
          <a:ln>
            <a:noFill/>
          </a:ln>
        </p:spPr>
        <p:txBody>
          <a:bodyPr wrap="square" lIns="0" tIns="0" rIns="0" bIns="0" rtlCol="0" anchor="ctr">
            <a:noAutofit/>
          </a:bodyPr>
          <a:lstStyle/>
          <a:p>
            <a:pPr marL="0" indent="0" algn="ctr">
              <a:buNone/>
            </a:pPr>
            <a:r>
              <a:rPr lang="vi-VN" sz="1200" b="1">
                <a:solidFill>
                  <a:srgbClr val="1B2230"/>
                </a:solidFill>
              </a:rPr>
              <a:t>PRO TIP</a:t>
            </a:r>
            <a:endParaRPr lang="vi-VN" sz="1200"/>
          </a:p>
        </p:txBody>
      </p:sp>
      <p:sp>
        <p:nvSpPr>
          <p:cNvPr id="29" name="PRO TIP text"/>
          <p:cNvSpPr txBox="1"/>
          <p:nvPr/>
        </p:nvSpPr>
        <p:spPr>
          <a:xfrm>
            <a:off x="8628888" y="4430268"/>
            <a:ext cx="2904744" cy="1792224"/>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1B2230"/>
                </a:solidFill>
              </a:rPr>
              <a:t>Đọc ScreenTip khi gõ hàm; nó hướng dẫn từng đối số.</a:t>
            </a:r>
            <a:endParaRPr lang="vi-VN" sz="1800"/>
          </a:p>
        </p:txBody>
      </p:sp>
      <p:pic>
        <p:nvPicPr>
          <p:cNvPr id="3" name="Picture 2">
            <a:extLst>
              <a:ext uri="{FF2B5EF4-FFF2-40B4-BE49-F238E27FC236}">
                <a16:creationId xmlns:a16="http://schemas.microsoft.com/office/drawing/2014/main" id="{AFC4F2DD-C53F-E88B-10F6-C3CEBA05A009}"/>
              </a:ext>
            </a:extLst>
          </p:cNvPr>
          <p:cNvPicPr>
            <a:picLocks noChangeAspect="1"/>
          </p:cNvPicPr>
          <p:nvPr/>
        </p:nvPicPr>
        <p:blipFill>
          <a:blip r:embed="rId3"/>
          <a:stretch>
            <a:fillRect/>
          </a:stretch>
        </p:blipFill>
        <p:spPr>
          <a:xfrm>
            <a:off x="1466248" y="4389120"/>
            <a:ext cx="5608320" cy="1948654"/>
          </a:xfrm>
          <a:prstGeom prst="rect">
            <a:avLst/>
          </a:prstGeom>
        </p:spPr>
      </p:pic>
    </p:spTree>
    <p:extLst>
      <p:ext uri="{BB962C8B-B14F-4D97-AF65-F5344CB8AC3E}">
        <p14:creationId xmlns:p14="http://schemas.microsoft.com/office/powerpoint/2010/main" val="4045343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4 · CÔNG THỨC</a:t>
            </a:r>
            <a:endParaRPr lang="vi-VN" sz="1400"/>
          </a:p>
        </p:txBody>
      </p:sp>
      <p:sp>
        <p:nvSpPr>
          <p:cNvPr id="12" name="title 12"/>
          <p:cNvSpPr>
            <a:spLocks noGrp="1"/>
          </p:cNvSpPr>
          <p:nvPr>
            <p:ph type="title"/>
          </p:nvPr>
        </p:nvSpPr>
        <p:spPr/>
        <p:txBody>
          <a:bodyPr>
            <a:normAutofit/>
          </a:bodyPr>
          <a:lstStyle/>
          <a:p>
            <a:r>
              <a:rPr lang="vi-VN"/>
              <a:t>Reference Types</a:t>
            </a:r>
          </a:p>
        </p:txBody>
      </p:sp>
      <p:sp>
        <p:nvSpPr>
          <p:cNvPr id="13" name="Ref card Relative"/>
          <p:cNvSpPr/>
          <p:nvPr/>
        </p:nvSpPr>
        <p:spPr>
          <a:xfrm>
            <a:off x="1524000" y="1554480"/>
            <a:ext cx="2392680" cy="20116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4" name="TextBox"/>
          <p:cNvSpPr txBox="1"/>
          <p:nvPr/>
        </p:nvSpPr>
        <p:spPr>
          <a:xfrm>
            <a:off x="1615440" y="1645920"/>
            <a:ext cx="2209800" cy="411480"/>
          </a:xfrm>
          <a:prstGeom prst="rect">
            <a:avLst/>
          </a:prstGeom>
          <a:noFill/>
          <a:ln>
            <a:noFill/>
          </a:ln>
        </p:spPr>
        <p:txBody>
          <a:bodyPr wrap="square" lIns="0" tIns="0" rIns="0" bIns="0" rtlCol="0" anchor="t">
            <a:noAutofit/>
          </a:bodyPr>
          <a:lstStyle/>
          <a:p>
            <a:pPr marL="0" indent="0">
              <a:buNone/>
            </a:pPr>
            <a:r>
              <a:rPr lang="vi-VN" sz="2000" b="1">
                <a:solidFill>
                  <a:srgbClr val="C00000"/>
                </a:solidFill>
              </a:rPr>
              <a:t>Relative</a:t>
            </a:r>
            <a:endParaRPr lang="vi-VN" sz="2000"/>
          </a:p>
        </p:txBody>
      </p:sp>
      <p:sp>
        <p:nvSpPr>
          <p:cNvPr id="15" name="TextBox"/>
          <p:cNvSpPr txBox="1"/>
          <p:nvPr/>
        </p:nvSpPr>
        <p:spPr>
          <a:xfrm>
            <a:off x="1615440" y="2057400"/>
            <a:ext cx="2209800" cy="640080"/>
          </a:xfrm>
          <a:prstGeom prst="rect">
            <a:avLst/>
          </a:prstGeom>
          <a:noFill/>
          <a:ln>
            <a:noFill/>
          </a:ln>
        </p:spPr>
        <p:txBody>
          <a:bodyPr wrap="square" lIns="0" tIns="0" rIns="0" bIns="0" rtlCol="0" anchor="ctr">
            <a:noAutofit/>
          </a:bodyPr>
          <a:lstStyle/>
          <a:p>
            <a:pPr marL="0" indent="0">
              <a:buNone/>
            </a:pPr>
            <a:r>
              <a:rPr lang="vi-VN" sz="3600" b="1">
                <a:solidFill>
                  <a:srgbClr val="203864"/>
                </a:solidFill>
              </a:rPr>
              <a:t>A1</a:t>
            </a:r>
            <a:endParaRPr lang="vi-VN" sz="3600"/>
          </a:p>
        </p:txBody>
      </p:sp>
      <p:sp>
        <p:nvSpPr>
          <p:cNvPr id="16" name="TextBox"/>
          <p:cNvSpPr txBox="1"/>
          <p:nvPr/>
        </p:nvSpPr>
        <p:spPr>
          <a:xfrm>
            <a:off x="1615440" y="2743200"/>
            <a:ext cx="2209800" cy="777240"/>
          </a:xfrm>
          <a:prstGeom prst="rect">
            <a:avLst/>
          </a:prstGeom>
          <a:noFill/>
          <a:ln>
            <a:noFill/>
          </a:ln>
        </p:spPr>
        <p:txBody>
          <a:bodyPr wrap="square" lIns="0" tIns="0" rIns="0" bIns="0" rtlCol="0" anchor="t">
            <a:noAutofit/>
          </a:bodyPr>
          <a:lstStyle/>
          <a:p>
            <a:pPr marL="0" indent="0">
              <a:buNone/>
            </a:pPr>
            <a:r>
              <a:rPr lang="vi-VN" sz="1400">
                <a:solidFill>
                  <a:srgbClr val="585858"/>
                </a:solidFill>
              </a:rPr>
              <a:t>Kéo sang phải → B1</a:t>
            </a:r>
            <a:endParaRPr lang="vi-VN" sz="1400"/>
          </a:p>
          <a:p>
            <a:pPr marL="0" indent="0">
              <a:buNone/>
            </a:pPr>
            <a:r>
              <a:rPr lang="vi-VN" sz="1400">
                <a:solidFill>
                  <a:srgbClr val="585858"/>
                </a:solidFill>
              </a:rPr>
              <a:t>Kéo xuống → A2</a:t>
            </a:r>
            <a:endParaRPr lang="vi-VN" sz="1400"/>
          </a:p>
        </p:txBody>
      </p:sp>
      <p:sp>
        <p:nvSpPr>
          <p:cNvPr id="17" name="Ref card Fixed row"/>
          <p:cNvSpPr/>
          <p:nvPr/>
        </p:nvSpPr>
        <p:spPr>
          <a:xfrm>
            <a:off x="4099560" y="1554480"/>
            <a:ext cx="2392680" cy="20116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8" name="TextBox"/>
          <p:cNvSpPr txBox="1"/>
          <p:nvPr/>
        </p:nvSpPr>
        <p:spPr>
          <a:xfrm>
            <a:off x="4191000" y="1645920"/>
            <a:ext cx="2209800" cy="411480"/>
          </a:xfrm>
          <a:prstGeom prst="rect">
            <a:avLst/>
          </a:prstGeom>
          <a:noFill/>
          <a:ln>
            <a:noFill/>
          </a:ln>
        </p:spPr>
        <p:txBody>
          <a:bodyPr wrap="square" lIns="0" tIns="0" rIns="0" bIns="0" rtlCol="0" anchor="t">
            <a:noAutofit/>
          </a:bodyPr>
          <a:lstStyle/>
          <a:p>
            <a:pPr marL="0" indent="0">
              <a:buNone/>
            </a:pPr>
            <a:r>
              <a:rPr lang="vi-VN" sz="2000" b="1">
                <a:solidFill>
                  <a:srgbClr val="C00000"/>
                </a:solidFill>
              </a:rPr>
              <a:t>Fixed row</a:t>
            </a:r>
            <a:endParaRPr lang="vi-VN" sz="2000"/>
          </a:p>
        </p:txBody>
      </p:sp>
      <p:sp>
        <p:nvSpPr>
          <p:cNvPr id="19" name="TextBox"/>
          <p:cNvSpPr txBox="1"/>
          <p:nvPr/>
        </p:nvSpPr>
        <p:spPr>
          <a:xfrm>
            <a:off x="4191000" y="2057400"/>
            <a:ext cx="2209800" cy="640080"/>
          </a:xfrm>
          <a:prstGeom prst="rect">
            <a:avLst/>
          </a:prstGeom>
          <a:noFill/>
          <a:ln>
            <a:noFill/>
          </a:ln>
        </p:spPr>
        <p:txBody>
          <a:bodyPr wrap="square" lIns="0" tIns="0" rIns="0" bIns="0" rtlCol="0" anchor="ctr">
            <a:noAutofit/>
          </a:bodyPr>
          <a:lstStyle/>
          <a:p>
            <a:pPr marL="0" indent="0">
              <a:buNone/>
            </a:pPr>
            <a:r>
              <a:rPr lang="vi-VN" sz="3600" b="1">
                <a:solidFill>
                  <a:srgbClr val="203864"/>
                </a:solidFill>
              </a:rPr>
              <a:t>A$1</a:t>
            </a:r>
            <a:endParaRPr lang="vi-VN" sz="3600"/>
          </a:p>
        </p:txBody>
      </p:sp>
      <p:sp>
        <p:nvSpPr>
          <p:cNvPr id="20" name="TextBox"/>
          <p:cNvSpPr txBox="1"/>
          <p:nvPr/>
        </p:nvSpPr>
        <p:spPr>
          <a:xfrm>
            <a:off x="4191000" y="2743200"/>
            <a:ext cx="2209800" cy="777240"/>
          </a:xfrm>
          <a:prstGeom prst="rect">
            <a:avLst/>
          </a:prstGeom>
          <a:noFill/>
          <a:ln>
            <a:noFill/>
          </a:ln>
        </p:spPr>
        <p:txBody>
          <a:bodyPr wrap="square" lIns="0" tIns="0" rIns="0" bIns="0" rtlCol="0" anchor="t">
            <a:noAutofit/>
          </a:bodyPr>
          <a:lstStyle/>
          <a:p>
            <a:pPr marL="0" indent="0">
              <a:buNone/>
            </a:pPr>
            <a:r>
              <a:rPr lang="vi-VN" sz="1400">
                <a:solidFill>
                  <a:srgbClr val="585858"/>
                </a:solidFill>
              </a:rPr>
              <a:t>Kéo sang phải → B$1</a:t>
            </a:r>
            <a:endParaRPr lang="vi-VN" sz="1400"/>
          </a:p>
          <a:p>
            <a:pPr marL="0" indent="0">
              <a:buNone/>
            </a:pPr>
            <a:r>
              <a:rPr lang="vi-VN" sz="1400">
                <a:solidFill>
                  <a:srgbClr val="585858"/>
                </a:solidFill>
              </a:rPr>
              <a:t>Kéo xuống → A$1</a:t>
            </a:r>
            <a:endParaRPr lang="vi-VN" sz="1400"/>
          </a:p>
        </p:txBody>
      </p:sp>
      <p:sp>
        <p:nvSpPr>
          <p:cNvPr id="21" name="Ref card Fixed column"/>
          <p:cNvSpPr/>
          <p:nvPr/>
        </p:nvSpPr>
        <p:spPr>
          <a:xfrm>
            <a:off x="6675120" y="1554480"/>
            <a:ext cx="2392680" cy="20116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2" name="TextBox"/>
          <p:cNvSpPr txBox="1"/>
          <p:nvPr/>
        </p:nvSpPr>
        <p:spPr>
          <a:xfrm>
            <a:off x="6766560" y="1645920"/>
            <a:ext cx="2209800" cy="411480"/>
          </a:xfrm>
          <a:prstGeom prst="rect">
            <a:avLst/>
          </a:prstGeom>
          <a:noFill/>
          <a:ln>
            <a:noFill/>
          </a:ln>
        </p:spPr>
        <p:txBody>
          <a:bodyPr wrap="square" lIns="0" tIns="0" rIns="0" bIns="0" rtlCol="0" anchor="t">
            <a:noAutofit/>
          </a:bodyPr>
          <a:lstStyle/>
          <a:p>
            <a:pPr marL="0" indent="0">
              <a:buNone/>
            </a:pPr>
            <a:r>
              <a:rPr lang="vi-VN" sz="2000" b="1">
                <a:solidFill>
                  <a:srgbClr val="C00000"/>
                </a:solidFill>
              </a:rPr>
              <a:t>Fixed column</a:t>
            </a:r>
            <a:endParaRPr lang="vi-VN" sz="2000"/>
          </a:p>
        </p:txBody>
      </p:sp>
      <p:sp>
        <p:nvSpPr>
          <p:cNvPr id="23" name="TextBox"/>
          <p:cNvSpPr txBox="1"/>
          <p:nvPr/>
        </p:nvSpPr>
        <p:spPr>
          <a:xfrm>
            <a:off x="6766560" y="2057400"/>
            <a:ext cx="2209800" cy="640080"/>
          </a:xfrm>
          <a:prstGeom prst="rect">
            <a:avLst/>
          </a:prstGeom>
          <a:noFill/>
          <a:ln>
            <a:noFill/>
          </a:ln>
        </p:spPr>
        <p:txBody>
          <a:bodyPr wrap="square" lIns="0" tIns="0" rIns="0" bIns="0" rtlCol="0" anchor="ctr">
            <a:noAutofit/>
          </a:bodyPr>
          <a:lstStyle/>
          <a:p>
            <a:pPr marL="0" indent="0">
              <a:buNone/>
            </a:pPr>
            <a:r>
              <a:rPr lang="vi-VN" sz="3600" b="1">
                <a:solidFill>
                  <a:srgbClr val="203864"/>
                </a:solidFill>
              </a:rPr>
              <a:t>$A1</a:t>
            </a:r>
            <a:endParaRPr lang="vi-VN" sz="3600"/>
          </a:p>
        </p:txBody>
      </p:sp>
      <p:sp>
        <p:nvSpPr>
          <p:cNvPr id="24" name="TextBox"/>
          <p:cNvSpPr txBox="1"/>
          <p:nvPr/>
        </p:nvSpPr>
        <p:spPr>
          <a:xfrm>
            <a:off x="6766560" y="2743200"/>
            <a:ext cx="2209800" cy="777240"/>
          </a:xfrm>
          <a:prstGeom prst="rect">
            <a:avLst/>
          </a:prstGeom>
          <a:noFill/>
          <a:ln>
            <a:noFill/>
          </a:ln>
        </p:spPr>
        <p:txBody>
          <a:bodyPr wrap="square" lIns="0" tIns="0" rIns="0" bIns="0" rtlCol="0" anchor="t">
            <a:noAutofit/>
          </a:bodyPr>
          <a:lstStyle/>
          <a:p>
            <a:pPr marL="0" indent="0">
              <a:buNone/>
            </a:pPr>
            <a:r>
              <a:rPr lang="vi-VN" sz="1400">
                <a:solidFill>
                  <a:srgbClr val="585858"/>
                </a:solidFill>
              </a:rPr>
              <a:t>Kéo sang phải → $A1</a:t>
            </a:r>
            <a:endParaRPr lang="vi-VN" sz="1400"/>
          </a:p>
          <a:p>
            <a:pPr marL="0" indent="0">
              <a:buNone/>
            </a:pPr>
            <a:r>
              <a:rPr lang="vi-VN" sz="1400">
                <a:solidFill>
                  <a:srgbClr val="585858"/>
                </a:solidFill>
              </a:rPr>
              <a:t>Kéo xuống → $A2</a:t>
            </a:r>
            <a:endParaRPr lang="vi-VN" sz="1400"/>
          </a:p>
        </p:txBody>
      </p:sp>
      <p:sp>
        <p:nvSpPr>
          <p:cNvPr id="25" name="Ref card Fixed both"/>
          <p:cNvSpPr/>
          <p:nvPr/>
        </p:nvSpPr>
        <p:spPr>
          <a:xfrm>
            <a:off x="9250680" y="1554480"/>
            <a:ext cx="2392680" cy="2011680"/>
          </a:xfrm>
          <a:prstGeom prst="rect">
            <a:avLst/>
          </a:prstGeom>
          <a:solidFill>
            <a:srgbClr val="F3F5F9"/>
          </a:solidFill>
          <a:ln w="12700">
            <a:solidFill>
              <a:srgbClr val="D9DEE8"/>
            </a:solidFill>
          </a:ln>
        </p:spPr>
        <p:txBody>
          <a:bodyPr wrap="square" lIns="91440" tIns="45720" rIns="91440" bIns="45720" rtlCol="0" anchor="t">
            <a:noAutofit/>
          </a:bodyPr>
          <a:lstStyle/>
          <a:p>
            <a:pPr marL="0" indent="0">
              <a:buNone/>
            </a:pPr>
            <a:endParaRPr lang="vi-VN"/>
          </a:p>
        </p:txBody>
      </p:sp>
      <p:sp>
        <p:nvSpPr>
          <p:cNvPr id="26" name="TextBox"/>
          <p:cNvSpPr txBox="1"/>
          <p:nvPr/>
        </p:nvSpPr>
        <p:spPr>
          <a:xfrm>
            <a:off x="9342120" y="1645920"/>
            <a:ext cx="2209800" cy="411480"/>
          </a:xfrm>
          <a:prstGeom prst="rect">
            <a:avLst/>
          </a:prstGeom>
          <a:noFill/>
          <a:ln>
            <a:noFill/>
          </a:ln>
        </p:spPr>
        <p:txBody>
          <a:bodyPr wrap="square" lIns="0" tIns="0" rIns="0" bIns="0" rtlCol="0" anchor="t">
            <a:noAutofit/>
          </a:bodyPr>
          <a:lstStyle/>
          <a:p>
            <a:pPr marL="0" indent="0">
              <a:buNone/>
            </a:pPr>
            <a:r>
              <a:rPr lang="vi-VN" sz="2000" b="1">
                <a:solidFill>
                  <a:srgbClr val="C00000"/>
                </a:solidFill>
              </a:rPr>
              <a:t>Fixed both</a:t>
            </a:r>
            <a:endParaRPr lang="vi-VN" sz="2000"/>
          </a:p>
        </p:txBody>
      </p:sp>
      <p:sp>
        <p:nvSpPr>
          <p:cNvPr id="27" name="TextBox"/>
          <p:cNvSpPr txBox="1"/>
          <p:nvPr/>
        </p:nvSpPr>
        <p:spPr>
          <a:xfrm>
            <a:off x="9342120" y="2057400"/>
            <a:ext cx="2209800" cy="640080"/>
          </a:xfrm>
          <a:prstGeom prst="rect">
            <a:avLst/>
          </a:prstGeom>
          <a:noFill/>
          <a:ln>
            <a:noFill/>
          </a:ln>
        </p:spPr>
        <p:txBody>
          <a:bodyPr wrap="square" lIns="0" tIns="0" rIns="0" bIns="0" rtlCol="0" anchor="ctr">
            <a:noAutofit/>
          </a:bodyPr>
          <a:lstStyle/>
          <a:p>
            <a:pPr marL="0" indent="0">
              <a:buNone/>
            </a:pPr>
            <a:r>
              <a:rPr lang="vi-VN" sz="3600" b="1">
                <a:solidFill>
                  <a:srgbClr val="203864"/>
                </a:solidFill>
              </a:rPr>
              <a:t>$A$1</a:t>
            </a:r>
            <a:endParaRPr lang="vi-VN" sz="3600"/>
          </a:p>
        </p:txBody>
      </p:sp>
      <p:sp>
        <p:nvSpPr>
          <p:cNvPr id="28" name="TextBox"/>
          <p:cNvSpPr txBox="1"/>
          <p:nvPr/>
        </p:nvSpPr>
        <p:spPr>
          <a:xfrm>
            <a:off x="9342120" y="2743200"/>
            <a:ext cx="2209800" cy="777240"/>
          </a:xfrm>
          <a:prstGeom prst="rect">
            <a:avLst/>
          </a:prstGeom>
          <a:noFill/>
          <a:ln>
            <a:noFill/>
          </a:ln>
        </p:spPr>
        <p:txBody>
          <a:bodyPr wrap="square" lIns="0" tIns="0" rIns="0" bIns="0" rtlCol="0" anchor="t">
            <a:noAutofit/>
          </a:bodyPr>
          <a:lstStyle/>
          <a:p>
            <a:pPr marL="0" indent="0">
              <a:buNone/>
            </a:pPr>
            <a:r>
              <a:rPr lang="vi-VN" sz="1400">
                <a:solidFill>
                  <a:srgbClr val="585858"/>
                </a:solidFill>
              </a:rPr>
              <a:t>Kéo sang phải → $A$1</a:t>
            </a:r>
            <a:endParaRPr lang="vi-VN" sz="1400"/>
          </a:p>
          <a:p>
            <a:pPr marL="0" indent="0">
              <a:buNone/>
            </a:pPr>
            <a:r>
              <a:rPr lang="vi-VN" sz="1400">
                <a:solidFill>
                  <a:srgbClr val="585858"/>
                </a:solidFill>
              </a:rPr>
              <a:t>Kéo xuống → $A$1</a:t>
            </a:r>
            <a:endParaRPr lang="vi-VN" sz="1400"/>
          </a:p>
        </p:txBody>
      </p:sp>
      <p:sp>
        <p:nvSpPr>
          <p:cNvPr id="29" name="TextBox"/>
          <p:cNvSpPr txBox="1"/>
          <p:nvPr/>
        </p:nvSpPr>
        <p:spPr>
          <a:xfrm>
            <a:off x="1524000" y="3657600"/>
            <a:ext cx="10119360" cy="365760"/>
          </a:xfrm>
          <a:prstGeom prst="rect">
            <a:avLst/>
          </a:prstGeom>
          <a:noFill/>
          <a:ln>
            <a:noFill/>
          </a:ln>
        </p:spPr>
        <p:txBody>
          <a:bodyPr wrap="square" lIns="0" tIns="0" rIns="0" bIns="0" rtlCol="0" anchor="t">
            <a:noAutofit/>
          </a:bodyPr>
          <a:lstStyle/>
          <a:p>
            <a:pPr marL="0" indent="0">
              <a:buNone/>
            </a:pPr>
            <a:r>
              <a:rPr lang="vi-VN" sz="1800">
                <a:solidFill>
                  <a:srgbClr val="1B2230"/>
                </a:solidFill>
              </a:rPr>
              <a:t>Dấu </a:t>
            </a:r>
            <a:r>
              <a:rPr lang="vi-VN" sz="1800" b="1">
                <a:solidFill>
                  <a:srgbClr val="203864"/>
                </a:solidFill>
              </a:rPr>
              <a:t>$</a:t>
            </a:r>
            <a:r>
              <a:rPr lang="vi-VN" sz="1800">
                <a:solidFill>
                  <a:srgbClr val="1B2230"/>
                </a:solidFill>
              </a:rPr>
              <a:t> đứng trước phần nào thì phần đó bị khóa.</a:t>
            </a:r>
            <a:endParaRPr lang="vi-VN" sz="1800"/>
          </a:p>
        </p:txBody>
      </p:sp>
      <p:pic>
        <p:nvPicPr>
          <p:cNvPr id="34" name="Screenshot S19" descr="S19.png"/>
          <p:cNvPicPr>
            <a:picLocks noChangeAspect="1"/>
          </p:cNvPicPr>
          <p:nvPr/>
        </p:nvPicPr>
        <p:blipFill>
          <a:blip r:embed="rId3"/>
          <a:stretch>
            <a:fillRect/>
          </a:stretch>
        </p:blipFill>
        <p:spPr>
          <a:xfrm>
            <a:off x="1524000" y="4170145"/>
            <a:ext cx="5669280" cy="2083869"/>
          </a:xfrm>
          <a:prstGeom prst="rect">
            <a:avLst/>
          </a:prstGeom>
          <a:ln w="9525">
            <a:solidFill>
              <a:srgbClr val="BFBFBF"/>
            </a:solidFill>
          </a:ln>
        </p:spPr>
      </p:pic>
      <p:sp>
        <p:nvSpPr>
          <p:cNvPr id="31" name="PRO TIP callout"/>
          <p:cNvSpPr/>
          <p:nvPr/>
        </p:nvSpPr>
        <p:spPr>
          <a:xfrm>
            <a:off x="7421880" y="4114800"/>
            <a:ext cx="4221480" cy="2194560"/>
          </a:xfrm>
          <a:prstGeom prst="roundRect">
            <a:avLst>
              <a:gd name="adj" fmla="val 1157"/>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32" name="PRO TIP chip"/>
          <p:cNvSpPr/>
          <p:nvPr/>
        </p:nvSpPr>
        <p:spPr>
          <a:xfrm>
            <a:off x="7531608" y="4224528"/>
            <a:ext cx="1005840" cy="320040"/>
          </a:xfrm>
          <a:prstGeom prst="roundRect">
            <a:avLst>
              <a:gd name="adj" fmla="val 25000"/>
            </a:avLst>
          </a:prstGeom>
          <a:solidFill>
            <a:srgbClr val="FFC000"/>
          </a:solidFill>
          <a:ln>
            <a:noFill/>
          </a:ln>
        </p:spPr>
        <p:txBody>
          <a:bodyPr wrap="square" lIns="0" tIns="0" rIns="0" bIns="0" rtlCol="0" anchor="ctr">
            <a:noAutofit/>
          </a:bodyPr>
          <a:lstStyle/>
          <a:p>
            <a:pPr marL="0" indent="0" algn="ctr">
              <a:buNone/>
            </a:pPr>
            <a:r>
              <a:rPr lang="vi-VN" sz="1200" b="1">
                <a:solidFill>
                  <a:srgbClr val="1B2230"/>
                </a:solidFill>
              </a:rPr>
              <a:t>PRO TIP</a:t>
            </a:r>
            <a:endParaRPr lang="vi-VN" sz="1200"/>
          </a:p>
        </p:txBody>
      </p:sp>
      <p:sp>
        <p:nvSpPr>
          <p:cNvPr id="33" name="PRO TIP text"/>
          <p:cNvSpPr txBox="1"/>
          <p:nvPr/>
        </p:nvSpPr>
        <p:spPr>
          <a:xfrm>
            <a:off x="8628888" y="4201668"/>
            <a:ext cx="2904744" cy="2020824"/>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1B2230"/>
                </a:solidFill>
              </a:rPr>
              <a:t>Nắm vững 4 kiểu tham chiếu là mẹo số 1 để làm việc hiệu quả với công thức.</a:t>
            </a:r>
            <a:endParaRPr lang="vi-VN" sz="1800"/>
          </a:p>
        </p:txBody>
      </p:sp>
    </p:spTree>
    <p:extLst>
      <p:ext uri="{BB962C8B-B14F-4D97-AF65-F5344CB8AC3E}">
        <p14:creationId xmlns:p14="http://schemas.microsoft.com/office/powerpoint/2010/main" val="3665709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4 · CÔNG THỨC</a:t>
            </a:r>
            <a:endParaRPr lang="vi-VN" sz="1400"/>
          </a:p>
        </p:txBody>
      </p:sp>
      <p:sp>
        <p:nvSpPr>
          <p:cNvPr id="12" name="title 12"/>
          <p:cNvSpPr>
            <a:spLocks noGrp="1"/>
          </p:cNvSpPr>
          <p:nvPr>
            <p:ph type="title"/>
          </p:nvPr>
        </p:nvSpPr>
        <p:spPr/>
        <p:txBody>
          <a:bodyPr>
            <a:normAutofit/>
          </a:bodyPr>
          <a:lstStyle/>
          <a:p>
            <a:r>
              <a:rPr lang="vi-VN"/>
              <a:t>Common Errors</a:t>
            </a:r>
          </a:p>
        </p:txBody>
      </p:sp>
      <p:graphicFrame>
        <p:nvGraphicFramePr>
          <p:cNvPr id="13" name="Table 13"/>
          <p:cNvGraphicFramePr>
            <a:graphicFrameLocks noGrp="1"/>
          </p:cNvGraphicFramePr>
          <p:nvPr/>
        </p:nvGraphicFramePr>
        <p:xfrm>
          <a:off x="1524000" y="1554480"/>
          <a:ext cx="10119360" cy="4160520"/>
        </p:xfrm>
        <a:graphic>
          <a:graphicData uri="http://schemas.openxmlformats.org/drawingml/2006/table">
            <a:tbl>
              <a:tblPr firstRow="1"/>
              <a:tblGrid>
                <a:gridCol w="17373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358640">
                  <a:extLst>
                    <a:ext uri="{9D8B030D-6E8A-4147-A177-3AD203B41FA5}">
                      <a16:colId xmlns:a16="http://schemas.microsoft.com/office/drawing/2014/main" val="20002"/>
                    </a:ext>
                  </a:extLst>
                </a:gridCol>
              </a:tblGrid>
              <a:tr h="502920">
                <a:tc>
                  <a:txBody>
                    <a:bodyPr/>
                    <a:lstStyle/>
                    <a:p>
                      <a:pPr marL="0" indent="0" algn="l">
                        <a:buNone/>
                      </a:pPr>
                      <a:r>
                        <a:rPr lang="vi-VN" sz="1600" b="1">
                          <a:solidFill>
                            <a:srgbClr val="FFFFFF"/>
                          </a:solidFill>
                        </a:rPr>
                        <a:t>Lỗi</a:t>
                      </a:r>
                      <a:endParaRPr lang="vi-VN" sz="1600"/>
                    </a:p>
                  </a:txBody>
                  <a:tcPr anchor="ctr">
                    <a:lnL w="0">
                      <a:noFill/>
                    </a:lnL>
                    <a:lnR w="0">
                      <a:noFill/>
                    </a:lnR>
                    <a:lnT w="0">
                      <a:noFill/>
                    </a:lnT>
                    <a:lnB w="12700">
                      <a:solidFill>
                        <a:srgbClr val="D9DEE8"/>
                      </a:solidFill>
                    </a:lnB>
                    <a:solidFill>
                      <a:srgbClr val="203864"/>
                    </a:solidFill>
                  </a:tcPr>
                </a:tc>
                <a:tc>
                  <a:txBody>
                    <a:bodyPr/>
                    <a:lstStyle/>
                    <a:p>
                      <a:pPr marL="0" indent="0" algn="l">
                        <a:buNone/>
                      </a:pPr>
                      <a:r>
                        <a:rPr lang="vi-VN" sz="1600" b="1">
                          <a:solidFill>
                            <a:srgbClr val="FFFFFF"/>
                          </a:solidFill>
                        </a:rPr>
                        <a:t>Nghĩa</a:t>
                      </a:r>
                      <a:endParaRPr lang="vi-VN" sz="1600"/>
                    </a:p>
                  </a:txBody>
                  <a:tcPr anchor="ctr">
                    <a:lnL w="0">
                      <a:noFill/>
                    </a:lnL>
                    <a:lnR w="0">
                      <a:noFill/>
                    </a:lnR>
                    <a:lnT w="0">
                      <a:noFill/>
                    </a:lnT>
                    <a:lnB w="12700">
                      <a:solidFill>
                        <a:srgbClr val="D9DEE8"/>
                      </a:solidFill>
                    </a:lnB>
                    <a:solidFill>
                      <a:srgbClr val="203864"/>
                    </a:solidFill>
                  </a:tcPr>
                </a:tc>
                <a:tc>
                  <a:txBody>
                    <a:bodyPr/>
                    <a:lstStyle/>
                    <a:p>
                      <a:pPr marL="0" indent="0" algn="l">
                        <a:buNone/>
                      </a:pPr>
                      <a:r>
                        <a:rPr lang="vi-VN" sz="1600" b="1">
                          <a:solidFill>
                            <a:srgbClr val="FFFFFF"/>
                          </a:solidFill>
                        </a:rPr>
                        <a:t>Cách sửa</a:t>
                      </a:r>
                      <a:endParaRPr lang="vi-VN" sz="1600"/>
                    </a:p>
                  </a:txBody>
                  <a:tcPr anchor="ctr">
                    <a:lnL w="0">
                      <a:noFill/>
                    </a:lnL>
                    <a:lnR w="0">
                      <a:noFill/>
                    </a:lnR>
                    <a:lnT w="0">
                      <a:noFill/>
                    </a:lnT>
                    <a:lnB w="12700">
                      <a:solidFill>
                        <a:srgbClr val="D9DEE8"/>
                      </a:solidFill>
                    </a:lnB>
                    <a:solidFill>
                      <a:srgbClr val="203864"/>
                    </a:solidFill>
                  </a:tcPr>
                </a:tc>
                <a:extLst>
                  <a:ext uri="{0D108BD9-81ED-4DB2-BD59-A6C34878D82A}">
                    <a16:rowId xmlns:a16="http://schemas.microsoft.com/office/drawing/2014/main" val="10000"/>
                  </a:ext>
                </a:extLst>
              </a:tr>
              <a:tr h="594360">
                <a:tc>
                  <a:txBody>
                    <a:bodyPr/>
                    <a:lstStyle/>
                    <a:p>
                      <a:pPr marL="0" indent="0" algn="l">
                        <a:buNone/>
                      </a:pPr>
                      <a:r>
                        <a:rPr lang="vi-VN" sz="1800" b="1">
                          <a:solidFill>
                            <a:srgbClr val="1B2230"/>
                          </a:solidFill>
                        </a:rPr>
                        <a:t>######</a:t>
                      </a:r>
                      <a:endParaRPr lang="vi-VN" sz="18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800">
                          <a:solidFill>
                            <a:srgbClr val="1B2230"/>
                          </a:solidFill>
                        </a:rPr>
                        <a:t>Cột quá hẹp</a:t>
                      </a:r>
                      <a:endParaRPr lang="vi-VN" sz="18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800">
                          <a:solidFill>
                            <a:srgbClr val="1B2230"/>
                          </a:solidFill>
                        </a:rPr>
                        <a:t>Kéo hoặc double-click mép cột</a:t>
                      </a:r>
                      <a:endParaRPr lang="vi-VN" sz="18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1"/>
                  </a:ext>
                </a:extLst>
              </a:tr>
              <a:tr h="594360">
                <a:tc>
                  <a:txBody>
                    <a:bodyPr/>
                    <a:lstStyle/>
                    <a:p>
                      <a:pPr marL="0" indent="0" algn="l">
                        <a:buNone/>
                      </a:pPr>
                      <a:r>
                        <a:rPr lang="vi-VN" sz="1800" b="1">
                          <a:solidFill>
                            <a:srgbClr val="1B2230"/>
                          </a:solidFill>
                        </a:rPr>
                        <a:t>#NAME?</a:t>
                      </a:r>
                      <a:endParaRPr lang="vi-VN" sz="18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800">
                          <a:solidFill>
                            <a:srgbClr val="1B2230"/>
                          </a:solidFill>
                        </a:rPr>
                        <a:t>Excel không nhận ra tên trong công thức</a:t>
                      </a:r>
                      <a:endParaRPr lang="vi-VN" sz="18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800">
                          <a:solidFill>
                            <a:srgbClr val="1B2230"/>
                          </a:solidFill>
                        </a:rPr>
                        <a:t>Kiểm tra chính tả tên hàm, dấu ngoặc kép</a:t>
                      </a:r>
                      <a:endParaRPr lang="vi-VN" sz="18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2"/>
                  </a:ext>
                </a:extLst>
              </a:tr>
              <a:tr h="594360">
                <a:tc>
                  <a:txBody>
                    <a:bodyPr/>
                    <a:lstStyle/>
                    <a:p>
                      <a:pPr marL="0" indent="0" algn="l">
                        <a:buNone/>
                      </a:pPr>
                      <a:r>
                        <a:rPr lang="vi-VN" sz="1800" b="1">
                          <a:solidFill>
                            <a:srgbClr val="1B2230"/>
                          </a:solidFill>
                        </a:rPr>
                        <a:t>#VALUE!</a:t>
                      </a:r>
                      <a:endParaRPr lang="vi-VN" sz="18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800">
                          <a:solidFill>
                            <a:srgbClr val="1B2230"/>
                          </a:solidFill>
                        </a:rPr>
                        <a:t>Sai kiểu đối số</a:t>
                      </a:r>
                      <a:endParaRPr lang="vi-VN" sz="18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800">
                          <a:solidFill>
                            <a:srgbClr val="1B2230"/>
                          </a:solidFill>
                        </a:rPr>
                        <a:t>Kiểm tra phép tính trên text / số dạng text</a:t>
                      </a:r>
                      <a:endParaRPr lang="vi-VN" sz="18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3"/>
                  </a:ext>
                </a:extLst>
              </a:tr>
              <a:tr h="594360">
                <a:tc>
                  <a:txBody>
                    <a:bodyPr/>
                    <a:lstStyle/>
                    <a:p>
                      <a:pPr marL="0" indent="0" algn="l">
                        <a:buNone/>
                      </a:pPr>
                      <a:r>
                        <a:rPr lang="vi-VN" sz="1800" b="1">
                          <a:solidFill>
                            <a:srgbClr val="1B2230"/>
                          </a:solidFill>
                        </a:rPr>
                        <a:t>#DIV/0!</a:t>
                      </a:r>
                      <a:endParaRPr lang="vi-VN" sz="18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800">
                          <a:solidFill>
                            <a:srgbClr val="1B2230"/>
                          </a:solidFill>
                        </a:rPr>
                        <a:t>Chia cho 0 hoặc ô trống</a:t>
                      </a:r>
                      <a:endParaRPr lang="vi-VN" sz="18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800">
                          <a:solidFill>
                            <a:srgbClr val="1B2230"/>
                          </a:solidFill>
                        </a:rPr>
                        <a:t>Kiểm tra mẫu số; IF / IFERROR</a:t>
                      </a:r>
                      <a:endParaRPr lang="vi-VN" sz="18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4"/>
                  </a:ext>
                </a:extLst>
              </a:tr>
              <a:tr h="594360">
                <a:tc>
                  <a:txBody>
                    <a:bodyPr/>
                    <a:lstStyle/>
                    <a:p>
                      <a:pPr marL="0" indent="0" algn="l">
                        <a:buNone/>
                      </a:pPr>
                      <a:r>
                        <a:rPr lang="vi-VN" sz="1800" b="1">
                          <a:solidFill>
                            <a:srgbClr val="1B2230"/>
                          </a:solidFill>
                        </a:rPr>
                        <a:t>#REF!</a:t>
                      </a:r>
                      <a:endParaRPr lang="vi-VN" sz="18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800">
                          <a:solidFill>
                            <a:srgbClr val="1B2230"/>
                          </a:solidFill>
                        </a:rPr>
                        <a:t>Tham chiếu tới ô đã bị xóa</a:t>
                      </a:r>
                      <a:endParaRPr lang="vi-VN" sz="18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800">
                          <a:solidFill>
                            <a:srgbClr val="1B2230"/>
                          </a:solidFill>
                        </a:rPr>
                        <a:t>Không xóa ô đang được tham chiếu</a:t>
                      </a:r>
                      <a:endParaRPr lang="vi-VN" sz="18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5"/>
                  </a:ext>
                </a:extLst>
              </a:tr>
              <a:tr h="594360">
                <a:tc>
                  <a:txBody>
                    <a:bodyPr/>
                    <a:lstStyle/>
                    <a:p>
                      <a:pPr marL="0" indent="0" algn="l">
                        <a:buNone/>
                      </a:pPr>
                      <a:r>
                        <a:rPr lang="vi-VN" sz="1800" b="1">
                          <a:solidFill>
                            <a:srgbClr val="1B2230"/>
                          </a:solidFill>
                        </a:rPr>
                        <a:t>#N/A</a:t>
                      </a:r>
                      <a:endParaRPr lang="vi-VN" sz="18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800">
                          <a:solidFill>
                            <a:srgbClr val="1B2230"/>
                          </a:solidFill>
                        </a:rPr>
                        <a:t>Không tìm thấy giá trị</a:t>
                      </a:r>
                      <a:endParaRPr lang="vi-VN" sz="18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800">
                          <a:solidFill>
                            <a:srgbClr val="1B2230"/>
                          </a:solidFill>
                        </a:rPr>
                        <a:t>Kiểm tra giá trị tra cứu có tồn tại</a:t>
                      </a:r>
                      <a:endParaRPr lang="vi-VN" sz="18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74624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4 · CÔNG THỨC</a:t>
            </a:r>
            <a:endParaRPr lang="vi-VN" sz="1400"/>
          </a:p>
        </p:txBody>
      </p:sp>
      <p:sp>
        <p:nvSpPr>
          <p:cNvPr id="12" name="title 12"/>
          <p:cNvSpPr>
            <a:spLocks noGrp="1"/>
          </p:cNvSpPr>
          <p:nvPr>
            <p:ph type="title"/>
          </p:nvPr>
        </p:nvSpPr>
        <p:spPr/>
        <p:txBody>
          <a:bodyPr>
            <a:normAutofit/>
          </a:bodyPr>
          <a:lstStyle/>
          <a:p>
            <a:r>
              <a:rPr lang="vi-VN"/>
              <a:t>Auditing Tools (1)</a:t>
            </a:r>
          </a:p>
        </p:txBody>
      </p:sp>
      <p:sp>
        <p:nvSpPr>
          <p:cNvPr id="13" name="Tool name"/>
          <p:cNvSpPr txBox="1"/>
          <p:nvPr/>
        </p:nvSpPr>
        <p:spPr>
          <a:xfrm>
            <a:off x="15240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Trace Precedents</a:t>
            </a:r>
            <a:endParaRPr lang="vi-VN" sz="2400"/>
          </a:p>
        </p:txBody>
      </p:sp>
      <p:sp>
        <p:nvSpPr>
          <p:cNvPr id="14" name="Tool purpose"/>
          <p:cNvSpPr txBox="1"/>
          <p:nvPr/>
        </p:nvSpPr>
        <p:spPr>
          <a:xfrm>
            <a:off x="1524000" y="2011680"/>
            <a:ext cx="3159760" cy="73152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Mũi tên từ các ô ảnh hưởng tới ô đang chọn</a:t>
            </a:r>
            <a:endParaRPr lang="vi-VN" sz="1800"/>
          </a:p>
        </p:txBody>
      </p:sp>
      <p:pic>
        <p:nvPicPr>
          <p:cNvPr id="27" name="Screenshot S21_prec" descr="S21_prec.png"/>
          <p:cNvPicPr>
            <a:picLocks noChangeAspect="1"/>
          </p:cNvPicPr>
          <p:nvPr/>
        </p:nvPicPr>
        <p:blipFill>
          <a:blip r:embed="rId3"/>
          <a:stretch>
            <a:fillRect/>
          </a:stretch>
        </p:blipFill>
        <p:spPr>
          <a:xfrm>
            <a:off x="1524000" y="3259760"/>
            <a:ext cx="3159760" cy="1161439"/>
          </a:xfrm>
          <a:prstGeom prst="rect">
            <a:avLst/>
          </a:prstGeom>
          <a:ln w="9525">
            <a:solidFill>
              <a:srgbClr val="BFBFBF"/>
            </a:solidFill>
          </a:ln>
        </p:spPr>
      </p:pic>
      <p:cxnSp>
        <p:nvCxnSpPr>
          <p:cNvPr id="16" name="Line 16"/>
          <p:cNvCxnSpPr/>
          <p:nvPr/>
        </p:nvCxnSpPr>
        <p:spPr>
          <a:xfrm>
            <a:off x="4843780" y="1554480"/>
            <a:ext cx="0" cy="4480560"/>
          </a:xfrm>
          <a:prstGeom prst="line">
            <a:avLst/>
          </a:prstGeom>
          <a:ln w="12700">
            <a:solidFill>
              <a:srgbClr val="D9DEE8"/>
            </a:solidFill>
          </a:ln>
        </p:spPr>
      </p:cxnSp>
      <p:sp>
        <p:nvSpPr>
          <p:cNvPr id="17" name="Tool name"/>
          <p:cNvSpPr txBox="1"/>
          <p:nvPr/>
        </p:nvSpPr>
        <p:spPr>
          <a:xfrm>
            <a:off x="50038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Trace Dependents</a:t>
            </a:r>
            <a:endParaRPr lang="vi-VN" sz="2400"/>
          </a:p>
        </p:txBody>
      </p:sp>
      <p:sp>
        <p:nvSpPr>
          <p:cNvPr id="18" name="Tool purpose"/>
          <p:cNvSpPr txBox="1"/>
          <p:nvPr/>
        </p:nvSpPr>
        <p:spPr>
          <a:xfrm>
            <a:off x="5003800" y="2011680"/>
            <a:ext cx="3159760" cy="73152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Mũi tên tới các ô bị ảnh hưởng bởi ô đang chọn</a:t>
            </a:r>
            <a:endParaRPr lang="vi-VN" sz="1800"/>
          </a:p>
        </p:txBody>
      </p:sp>
      <p:pic>
        <p:nvPicPr>
          <p:cNvPr id="28" name="Screenshot S21_dep" descr="S21_dep.png"/>
          <p:cNvPicPr>
            <a:picLocks noChangeAspect="1"/>
          </p:cNvPicPr>
          <p:nvPr/>
        </p:nvPicPr>
        <p:blipFill>
          <a:blip r:embed="rId4"/>
          <a:stretch>
            <a:fillRect/>
          </a:stretch>
        </p:blipFill>
        <p:spPr>
          <a:xfrm>
            <a:off x="5003800" y="3387442"/>
            <a:ext cx="3159760" cy="906076"/>
          </a:xfrm>
          <a:prstGeom prst="rect">
            <a:avLst/>
          </a:prstGeom>
          <a:ln w="9525">
            <a:solidFill>
              <a:srgbClr val="BFBFBF"/>
            </a:solidFill>
          </a:ln>
        </p:spPr>
      </p:pic>
      <p:cxnSp>
        <p:nvCxnSpPr>
          <p:cNvPr id="20" name="Line 20"/>
          <p:cNvCxnSpPr/>
          <p:nvPr/>
        </p:nvCxnSpPr>
        <p:spPr>
          <a:xfrm>
            <a:off x="8323580" y="1554480"/>
            <a:ext cx="0" cy="4480560"/>
          </a:xfrm>
          <a:prstGeom prst="line">
            <a:avLst/>
          </a:prstGeom>
          <a:ln w="12700">
            <a:solidFill>
              <a:srgbClr val="D9DEE8"/>
            </a:solidFill>
          </a:ln>
        </p:spPr>
      </p:cxnSp>
      <p:sp>
        <p:nvSpPr>
          <p:cNvPr id="21" name="Tool name"/>
          <p:cNvSpPr txBox="1"/>
          <p:nvPr/>
        </p:nvSpPr>
        <p:spPr>
          <a:xfrm>
            <a:off x="84836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Show Formulas</a:t>
            </a:r>
            <a:endParaRPr lang="vi-VN" sz="2400"/>
          </a:p>
        </p:txBody>
      </p:sp>
      <p:sp>
        <p:nvSpPr>
          <p:cNvPr id="22" name="Tool purpose"/>
          <p:cNvSpPr txBox="1"/>
          <p:nvPr/>
        </p:nvSpPr>
        <p:spPr>
          <a:xfrm>
            <a:off x="8483600" y="2011680"/>
            <a:ext cx="3159760" cy="73152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Hiện toàn bộ công thức thay cho kết quả (Ctrl + `)</a:t>
            </a:r>
            <a:endParaRPr lang="vi-VN" sz="1800"/>
          </a:p>
        </p:txBody>
      </p:sp>
      <p:pic>
        <p:nvPicPr>
          <p:cNvPr id="29" name="Screenshot S21_showf" descr="S21_showf.png"/>
          <p:cNvPicPr>
            <a:picLocks noChangeAspect="1"/>
          </p:cNvPicPr>
          <p:nvPr/>
        </p:nvPicPr>
        <p:blipFill>
          <a:blip r:embed="rId5"/>
          <a:stretch>
            <a:fillRect/>
          </a:stretch>
        </p:blipFill>
        <p:spPr>
          <a:xfrm>
            <a:off x="8483600" y="3440381"/>
            <a:ext cx="3159759" cy="800198"/>
          </a:xfrm>
          <a:prstGeom prst="rect">
            <a:avLst/>
          </a:prstGeom>
          <a:ln w="9525">
            <a:solidFill>
              <a:srgbClr val="BFBFBF"/>
            </a:solidFill>
          </a:ln>
        </p:spPr>
      </p:pic>
      <p:sp>
        <p:nvSpPr>
          <p:cNvPr id="24" name="TIP callout"/>
          <p:cNvSpPr/>
          <p:nvPr/>
        </p:nvSpPr>
        <p:spPr>
          <a:xfrm>
            <a:off x="8483600" y="4983480"/>
            <a:ext cx="3159760" cy="1097280"/>
          </a:xfrm>
          <a:prstGeom prst="roundRect">
            <a:avLst>
              <a:gd name="adj" fmla="val 2315"/>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25" name="TextBox"/>
          <p:cNvSpPr txBox="1"/>
          <p:nvPr/>
        </p:nvSpPr>
        <p:spPr>
          <a:xfrm>
            <a:off x="8593328" y="5093208"/>
            <a:ext cx="548640" cy="320040"/>
          </a:xfrm>
          <a:prstGeom prst="rect">
            <a:avLst/>
          </a:prstGeom>
          <a:noFill/>
          <a:ln>
            <a:noFill/>
          </a:ln>
        </p:spPr>
        <p:txBody>
          <a:bodyPr wrap="square" lIns="0" tIns="0" rIns="0" bIns="0" rtlCol="0" anchor="ctr">
            <a:noAutofit/>
          </a:bodyPr>
          <a:lstStyle/>
          <a:p>
            <a:pPr marL="0" indent="0">
              <a:buNone/>
            </a:pPr>
            <a:r>
              <a:rPr lang="vi-VN" sz="1400" b="1">
                <a:solidFill>
                  <a:srgbClr val="203864"/>
                </a:solidFill>
              </a:rPr>
              <a:t>TIP</a:t>
            </a:r>
            <a:endParaRPr lang="vi-VN" sz="1400"/>
          </a:p>
        </p:txBody>
      </p:sp>
      <p:sp>
        <p:nvSpPr>
          <p:cNvPr id="26" name="TIP text"/>
          <p:cNvSpPr txBox="1"/>
          <p:nvPr/>
        </p:nvSpPr>
        <p:spPr>
          <a:xfrm>
            <a:off x="9233408" y="5070348"/>
            <a:ext cx="2300224" cy="923544"/>
          </a:xfrm>
          <a:prstGeom prst="rect">
            <a:avLst/>
          </a:prstGeom>
          <a:noFill/>
          <a:ln>
            <a:noFill/>
          </a:ln>
        </p:spPr>
        <p:txBody>
          <a:bodyPr wrap="square" lIns="0" tIns="0" rIns="0" bIns="0" rtlCol="0" anchor="t">
            <a:noAutofit/>
          </a:bodyPr>
          <a:lstStyle/>
          <a:p>
            <a:pPr marL="0" indent="0">
              <a:lnSpc>
                <a:spcPct val="100000"/>
              </a:lnSpc>
              <a:buNone/>
            </a:pPr>
            <a:r>
              <a:rPr lang="vi-VN" sz="1400" b="1">
                <a:solidFill>
                  <a:srgbClr val="1B2230"/>
                </a:solidFill>
              </a:rPr>
              <a:t>Ctrl + G → Special → Formulas</a:t>
            </a:r>
            <a:r>
              <a:rPr lang="vi-VN" sz="1400">
                <a:solidFill>
                  <a:srgbClr val="1B2230"/>
                </a:solidFill>
              </a:rPr>
              <a:t> để chọn mọi ô chứa công thức.</a:t>
            </a:r>
            <a:endParaRPr lang="vi-VN" sz="1400"/>
          </a:p>
        </p:txBody>
      </p:sp>
    </p:spTree>
    <p:extLst>
      <p:ext uri="{BB962C8B-B14F-4D97-AF65-F5344CB8AC3E}">
        <p14:creationId xmlns:p14="http://schemas.microsoft.com/office/powerpoint/2010/main" val="3528881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4 · CÔNG THỨC</a:t>
            </a:r>
            <a:endParaRPr lang="vi-VN" sz="1400"/>
          </a:p>
        </p:txBody>
      </p:sp>
      <p:sp>
        <p:nvSpPr>
          <p:cNvPr id="12" name="title 12"/>
          <p:cNvSpPr>
            <a:spLocks noGrp="1"/>
          </p:cNvSpPr>
          <p:nvPr>
            <p:ph type="title"/>
          </p:nvPr>
        </p:nvSpPr>
        <p:spPr/>
        <p:txBody>
          <a:bodyPr>
            <a:normAutofit/>
          </a:bodyPr>
          <a:lstStyle/>
          <a:p>
            <a:r>
              <a:rPr lang="vi-VN"/>
              <a:t>Auditing Tools (2)</a:t>
            </a:r>
          </a:p>
        </p:txBody>
      </p:sp>
      <p:sp>
        <p:nvSpPr>
          <p:cNvPr id="13" name="Tool name"/>
          <p:cNvSpPr txBox="1"/>
          <p:nvPr/>
        </p:nvSpPr>
        <p:spPr>
          <a:xfrm>
            <a:off x="15240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Evaluate Formula</a:t>
            </a:r>
            <a:endParaRPr lang="vi-VN" sz="2400"/>
          </a:p>
        </p:txBody>
      </p:sp>
      <p:sp>
        <p:nvSpPr>
          <p:cNvPr id="14" name="Tool purpose"/>
          <p:cNvSpPr txBox="1"/>
          <p:nvPr/>
        </p:nvSpPr>
        <p:spPr>
          <a:xfrm>
            <a:off x="1524000" y="2011680"/>
            <a:ext cx="3159760" cy="73152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Chạy công thức từng bước</a:t>
            </a:r>
            <a:endParaRPr lang="vi-VN" sz="1800"/>
          </a:p>
        </p:txBody>
      </p:sp>
      <p:sp>
        <p:nvSpPr>
          <p:cNvPr id="16" name="PRO TIP callout"/>
          <p:cNvSpPr/>
          <p:nvPr/>
        </p:nvSpPr>
        <p:spPr>
          <a:xfrm>
            <a:off x="1524000" y="4983480"/>
            <a:ext cx="3159760" cy="1097280"/>
          </a:xfrm>
          <a:prstGeom prst="roundRect">
            <a:avLst>
              <a:gd name="adj" fmla="val 2315"/>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17" name="PRO TIP chip"/>
          <p:cNvSpPr/>
          <p:nvPr/>
        </p:nvSpPr>
        <p:spPr>
          <a:xfrm>
            <a:off x="1633728" y="5093208"/>
            <a:ext cx="1005840" cy="320040"/>
          </a:xfrm>
          <a:prstGeom prst="roundRect">
            <a:avLst>
              <a:gd name="adj" fmla="val 25000"/>
            </a:avLst>
          </a:prstGeom>
          <a:solidFill>
            <a:srgbClr val="FFC000"/>
          </a:solidFill>
          <a:ln>
            <a:noFill/>
          </a:ln>
        </p:spPr>
        <p:txBody>
          <a:bodyPr wrap="square" lIns="0" tIns="0" rIns="0" bIns="0" rtlCol="0" anchor="ctr">
            <a:noAutofit/>
          </a:bodyPr>
          <a:lstStyle/>
          <a:p>
            <a:pPr marL="0" indent="0" algn="ctr">
              <a:buNone/>
            </a:pPr>
            <a:r>
              <a:rPr lang="vi-VN" sz="1200" b="1">
                <a:solidFill>
                  <a:srgbClr val="1B2230"/>
                </a:solidFill>
              </a:rPr>
              <a:t>PRO TIP</a:t>
            </a:r>
            <a:endParaRPr lang="vi-VN" sz="1200"/>
          </a:p>
        </p:txBody>
      </p:sp>
      <p:sp>
        <p:nvSpPr>
          <p:cNvPr id="18" name="PRO TIP text"/>
          <p:cNvSpPr txBox="1"/>
          <p:nvPr/>
        </p:nvSpPr>
        <p:spPr>
          <a:xfrm>
            <a:off x="2731008" y="5070348"/>
            <a:ext cx="1843024" cy="923544"/>
          </a:xfrm>
          <a:prstGeom prst="rect">
            <a:avLst/>
          </a:prstGeom>
          <a:noFill/>
          <a:ln>
            <a:noFill/>
          </a:ln>
        </p:spPr>
        <p:txBody>
          <a:bodyPr wrap="square" lIns="0" tIns="0" rIns="0" bIns="0" rtlCol="0" anchor="t">
            <a:noAutofit/>
          </a:bodyPr>
          <a:lstStyle/>
          <a:p>
            <a:pPr marL="0" indent="0">
              <a:lnSpc>
                <a:spcPct val="100000"/>
              </a:lnSpc>
              <a:buNone/>
            </a:pPr>
            <a:r>
              <a:rPr lang="vi-VN" sz="1400">
                <a:solidFill>
                  <a:srgbClr val="1B2230"/>
                </a:solidFill>
              </a:rPr>
              <a:t>Công cụ số 1 để hiểu một công thức lạ.</a:t>
            </a:r>
            <a:endParaRPr lang="vi-VN" sz="1400"/>
          </a:p>
        </p:txBody>
      </p:sp>
      <p:cxnSp>
        <p:nvCxnSpPr>
          <p:cNvPr id="19" name="Line 19"/>
          <p:cNvCxnSpPr/>
          <p:nvPr/>
        </p:nvCxnSpPr>
        <p:spPr>
          <a:xfrm>
            <a:off x="4843780" y="1554480"/>
            <a:ext cx="0" cy="4480560"/>
          </a:xfrm>
          <a:prstGeom prst="line">
            <a:avLst/>
          </a:prstGeom>
          <a:ln w="12700">
            <a:solidFill>
              <a:srgbClr val="D9DEE8"/>
            </a:solidFill>
          </a:ln>
        </p:spPr>
      </p:cxnSp>
      <p:sp>
        <p:nvSpPr>
          <p:cNvPr id="20" name="Tool name"/>
          <p:cNvSpPr txBox="1"/>
          <p:nvPr/>
        </p:nvSpPr>
        <p:spPr>
          <a:xfrm>
            <a:off x="50038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Error Checking</a:t>
            </a:r>
            <a:endParaRPr lang="vi-VN" sz="2400"/>
          </a:p>
        </p:txBody>
      </p:sp>
      <p:sp>
        <p:nvSpPr>
          <p:cNvPr id="21" name="Tool purpose"/>
          <p:cNvSpPr txBox="1"/>
          <p:nvPr/>
        </p:nvSpPr>
        <p:spPr>
          <a:xfrm>
            <a:off x="5003800" y="2011680"/>
            <a:ext cx="3159760" cy="73152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Quét sheet tìm lỗi</a:t>
            </a:r>
            <a:endParaRPr lang="vi-VN" sz="1800"/>
          </a:p>
        </p:txBody>
      </p:sp>
      <p:pic>
        <p:nvPicPr>
          <p:cNvPr id="27" name="Screenshot S22_err" descr="S22_err.png"/>
          <p:cNvPicPr>
            <a:picLocks noChangeAspect="1"/>
          </p:cNvPicPr>
          <p:nvPr/>
        </p:nvPicPr>
        <p:blipFill>
          <a:blip r:embed="rId3"/>
          <a:stretch>
            <a:fillRect/>
          </a:stretch>
        </p:blipFill>
        <p:spPr>
          <a:xfrm>
            <a:off x="5003800" y="2968378"/>
            <a:ext cx="3159759" cy="1744204"/>
          </a:xfrm>
          <a:prstGeom prst="rect">
            <a:avLst/>
          </a:prstGeom>
          <a:ln w="9525">
            <a:solidFill>
              <a:srgbClr val="BFBFBF"/>
            </a:solidFill>
          </a:ln>
        </p:spPr>
      </p:pic>
      <p:cxnSp>
        <p:nvCxnSpPr>
          <p:cNvPr id="23" name="Line 23"/>
          <p:cNvCxnSpPr/>
          <p:nvPr/>
        </p:nvCxnSpPr>
        <p:spPr>
          <a:xfrm>
            <a:off x="8323580" y="1554480"/>
            <a:ext cx="0" cy="4480560"/>
          </a:xfrm>
          <a:prstGeom prst="line">
            <a:avLst/>
          </a:prstGeom>
          <a:ln w="12700">
            <a:solidFill>
              <a:srgbClr val="D9DEE8"/>
            </a:solidFill>
          </a:ln>
        </p:spPr>
      </p:cxnSp>
      <p:sp>
        <p:nvSpPr>
          <p:cNvPr id="24" name="Tool name"/>
          <p:cNvSpPr txBox="1"/>
          <p:nvPr/>
        </p:nvSpPr>
        <p:spPr>
          <a:xfrm>
            <a:off x="84836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Watch Window</a:t>
            </a:r>
            <a:endParaRPr lang="vi-VN" sz="2400"/>
          </a:p>
        </p:txBody>
      </p:sp>
      <p:sp>
        <p:nvSpPr>
          <p:cNvPr id="25" name="Tool purpose"/>
          <p:cNvSpPr txBox="1"/>
          <p:nvPr/>
        </p:nvSpPr>
        <p:spPr>
          <a:xfrm>
            <a:off x="8483600" y="2011680"/>
            <a:ext cx="3159760" cy="73152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Theo dõi giá trị ô quan trọng khi đang làm ở chỗ khác</a:t>
            </a:r>
            <a:endParaRPr lang="vi-VN" sz="1800"/>
          </a:p>
        </p:txBody>
      </p:sp>
      <p:pic>
        <p:nvPicPr>
          <p:cNvPr id="28" name="Screenshot S22_watch" descr="S22_watch.png"/>
          <p:cNvPicPr>
            <a:picLocks noChangeAspect="1"/>
          </p:cNvPicPr>
          <p:nvPr/>
        </p:nvPicPr>
        <p:blipFill>
          <a:blip r:embed="rId4"/>
          <a:stretch>
            <a:fillRect/>
          </a:stretch>
        </p:blipFill>
        <p:spPr>
          <a:xfrm>
            <a:off x="8483600" y="3409604"/>
            <a:ext cx="3159760" cy="861752"/>
          </a:xfrm>
          <a:prstGeom prst="rect">
            <a:avLst/>
          </a:prstGeom>
          <a:ln w="9525">
            <a:solidFill>
              <a:srgbClr val="BFBFBF"/>
            </a:solidFill>
          </a:ln>
        </p:spPr>
      </p:pic>
      <p:pic>
        <p:nvPicPr>
          <p:cNvPr id="3" name="Screenshot S22_eval" descr="Hộp thoại Evaluate Formula đang chạy từng bước công thức =IFERROR(B2/$B$5,0) tại ô E2">
            <a:extLst>
              <a:ext uri="{FF2B5EF4-FFF2-40B4-BE49-F238E27FC236}">
                <a16:creationId xmlns:a16="http://schemas.microsoft.com/office/drawing/2014/main" id="{EBEEDFE3-3F9B-C84C-2D4E-2A98C806E7C3}"/>
              </a:ext>
            </a:extLst>
          </p:cNvPr>
          <p:cNvPicPr>
            <a:picLocks noChangeAspect="1"/>
          </p:cNvPicPr>
          <p:nvPr/>
        </p:nvPicPr>
        <p:blipFill>
          <a:blip r:embed="rId5"/>
          <a:stretch>
            <a:fillRect/>
          </a:stretch>
        </p:blipFill>
        <p:spPr>
          <a:xfrm>
            <a:off x="1527048" y="3008376"/>
            <a:ext cx="3163824" cy="1671688"/>
          </a:xfrm>
          <a:prstGeom prst="rect">
            <a:avLst/>
          </a:prstGeom>
          <a:ln>
            <a:solidFill>
              <a:srgbClr val="BFBFBF"/>
            </a:solidFill>
          </a:ln>
        </p:spPr>
      </p:pic>
    </p:spTree>
    <p:extLst>
      <p:ext uri="{BB962C8B-B14F-4D97-AF65-F5344CB8AC3E}">
        <p14:creationId xmlns:p14="http://schemas.microsoft.com/office/powerpoint/2010/main" val="3317628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4 · CÔNG THỨC</a:t>
            </a:r>
            <a:endParaRPr lang="vi-VN" sz="1400"/>
          </a:p>
        </p:txBody>
      </p:sp>
      <p:sp>
        <p:nvSpPr>
          <p:cNvPr id="12" name="title 12"/>
          <p:cNvSpPr>
            <a:spLocks noGrp="1"/>
          </p:cNvSpPr>
          <p:nvPr>
            <p:ph type="title"/>
          </p:nvPr>
        </p:nvSpPr>
        <p:spPr/>
        <p:txBody>
          <a:bodyPr>
            <a:normAutofit/>
          </a:bodyPr>
          <a:lstStyle/>
          <a:p>
            <a:r>
              <a:rPr lang="vi-VN"/>
              <a:t>Chốt Phần 4</a:t>
            </a:r>
          </a:p>
        </p:txBody>
      </p:sp>
      <p:sp>
        <p:nvSpPr>
          <p:cNvPr id="13" name="Point 1"/>
          <p:cNvSpPr/>
          <p:nvPr/>
        </p:nvSpPr>
        <p:spPr>
          <a:xfrm>
            <a:off x="1524000" y="1645920"/>
            <a:ext cx="10119360" cy="1280160"/>
          </a:xfrm>
          <a:prstGeom prst="rect">
            <a:avLst/>
          </a:prstGeom>
          <a:solidFill>
            <a:srgbClr val="F3F5F9"/>
          </a:solidFill>
          <a:ln w="12700">
            <a:solidFill>
              <a:srgbClr val="D9DEE8"/>
            </a:solidFill>
          </a:ln>
        </p:spPr>
        <p:txBody>
          <a:bodyPr wrap="square" lIns="91440" tIns="45720" rIns="91440" bIns="45720" rtlCol="0" anchor="t">
            <a:noAutofit/>
          </a:bodyPr>
          <a:lstStyle/>
          <a:p>
            <a:pPr marL="0" indent="0">
              <a:buNone/>
            </a:pPr>
            <a:endParaRPr lang="vi-VN"/>
          </a:p>
        </p:txBody>
      </p:sp>
      <p:sp>
        <p:nvSpPr>
          <p:cNvPr id="14" name="TextBox"/>
          <p:cNvSpPr txBox="1"/>
          <p:nvPr/>
        </p:nvSpPr>
        <p:spPr>
          <a:xfrm>
            <a:off x="1706880" y="1645920"/>
            <a:ext cx="914400" cy="1280160"/>
          </a:xfrm>
          <a:prstGeom prst="rect">
            <a:avLst/>
          </a:prstGeom>
          <a:noFill/>
          <a:ln>
            <a:noFill/>
          </a:ln>
        </p:spPr>
        <p:txBody>
          <a:bodyPr wrap="square" lIns="0" tIns="0" rIns="0" bIns="0" rtlCol="0" anchor="ctr">
            <a:noAutofit/>
          </a:bodyPr>
          <a:lstStyle/>
          <a:p>
            <a:pPr marL="0" indent="0">
              <a:buNone/>
            </a:pPr>
            <a:r>
              <a:rPr lang="vi-VN" sz="4400" b="1">
                <a:solidFill>
                  <a:srgbClr val="203864"/>
                </a:solidFill>
              </a:rPr>
              <a:t>1</a:t>
            </a:r>
            <a:endParaRPr lang="vi-VN" sz="4400"/>
          </a:p>
        </p:txBody>
      </p:sp>
      <p:sp>
        <p:nvSpPr>
          <p:cNvPr id="15" name="TextBox"/>
          <p:cNvSpPr txBox="1"/>
          <p:nvPr/>
        </p:nvSpPr>
        <p:spPr>
          <a:xfrm>
            <a:off x="2712720" y="1645920"/>
            <a:ext cx="8747760" cy="1280160"/>
          </a:xfrm>
          <a:prstGeom prst="rect">
            <a:avLst/>
          </a:prstGeom>
          <a:noFill/>
          <a:ln>
            <a:noFill/>
          </a:ln>
        </p:spPr>
        <p:txBody>
          <a:bodyPr wrap="square" lIns="0" tIns="0" rIns="0" bIns="0" rtlCol="0" anchor="ctr">
            <a:noAutofit/>
          </a:bodyPr>
          <a:lstStyle/>
          <a:p>
            <a:pPr marL="0" indent="0">
              <a:buNone/>
            </a:pPr>
            <a:r>
              <a:rPr lang="vi-VN" sz="2400">
                <a:solidFill>
                  <a:srgbClr val="1B2230"/>
                </a:solidFill>
              </a:rPr>
              <a:t>Dấu </a:t>
            </a:r>
            <a:r>
              <a:rPr lang="vi-VN" sz="2400" b="1">
                <a:solidFill>
                  <a:srgbClr val="203864"/>
                </a:solidFill>
              </a:rPr>
              <a:t>$</a:t>
            </a:r>
            <a:r>
              <a:rPr lang="vi-VN" sz="2400">
                <a:solidFill>
                  <a:srgbClr val="1B2230"/>
                </a:solidFill>
              </a:rPr>
              <a:t> quyết định công thức có tái sử dụng được không.</a:t>
            </a:r>
            <a:endParaRPr lang="vi-VN" sz="2400"/>
          </a:p>
        </p:txBody>
      </p:sp>
      <p:sp>
        <p:nvSpPr>
          <p:cNvPr id="16" name="Point 2"/>
          <p:cNvSpPr/>
          <p:nvPr/>
        </p:nvSpPr>
        <p:spPr>
          <a:xfrm>
            <a:off x="1524000" y="3063240"/>
            <a:ext cx="10119360" cy="128016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7" name="TextBox"/>
          <p:cNvSpPr txBox="1"/>
          <p:nvPr/>
        </p:nvSpPr>
        <p:spPr>
          <a:xfrm>
            <a:off x="1706880" y="3063240"/>
            <a:ext cx="914400" cy="1280160"/>
          </a:xfrm>
          <a:prstGeom prst="rect">
            <a:avLst/>
          </a:prstGeom>
          <a:noFill/>
          <a:ln>
            <a:noFill/>
          </a:ln>
        </p:spPr>
        <p:txBody>
          <a:bodyPr wrap="square" lIns="0" tIns="0" rIns="0" bIns="0" rtlCol="0" anchor="ctr">
            <a:noAutofit/>
          </a:bodyPr>
          <a:lstStyle/>
          <a:p>
            <a:pPr marL="0" indent="0">
              <a:buNone/>
            </a:pPr>
            <a:r>
              <a:rPr lang="vi-VN" sz="4400" b="1">
                <a:solidFill>
                  <a:srgbClr val="203864"/>
                </a:solidFill>
              </a:rPr>
              <a:t>2</a:t>
            </a:r>
            <a:endParaRPr lang="vi-VN" sz="4400"/>
          </a:p>
        </p:txBody>
      </p:sp>
      <p:sp>
        <p:nvSpPr>
          <p:cNvPr id="18" name="TextBox"/>
          <p:cNvSpPr txBox="1"/>
          <p:nvPr/>
        </p:nvSpPr>
        <p:spPr>
          <a:xfrm>
            <a:off x="2712720" y="3063240"/>
            <a:ext cx="8747760" cy="1280160"/>
          </a:xfrm>
          <a:prstGeom prst="rect">
            <a:avLst/>
          </a:prstGeom>
          <a:noFill/>
          <a:ln>
            <a:noFill/>
          </a:ln>
        </p:spPr>
        <p:txBody>
          <a:bodyPr wrap="square" lIns="0" tIns="0" rIns="0" bIns="0" rtlCol="0" anchor="ctr">
            <a:noAutofit/>
          </a:bodyPr>
          <a:lstStyle/>
          <a:p>
            <a:pPr marL="0" indent="0">
              <a:buNone/>
            </a:pPr>
            <a:r>
              <a:rPr lang="vi-VN" sz="2400" b="1">
                <a:solidFill>
                  <a:srgbClr val="203864"/>
                </a:solidFill>
              </a:rPr>
              <a:t>Lỗi là tín hiệu</a:t>
            </a:r>
            <a:r>
              <a:rPr lang="vi-VN" sz="2400">
                <a:solidFill>
                  <a:srgbClr val="1B2230"/>
                </a:solidFill>
              </a:rPr>
              <a:t>, đừng vội giấu nó đi.</a:t>
            </a:r>
            <a:endParaRPr lang="vi-VN" sz="2400"/>
          </a:p>
        </p:txBody>
      </p:sp>
      <p:sp>
        <p:nvSpPr>
          <p:cNvPr id="19" name="Point 3"/>
          <p:cNvSpPr/>
          <p:nvPr/>
        </p:nvSpPr>
        <p:spPr>
          <a:xfrm>
            <a:off x="1524000" y="4480560"/>
            <a:ext cx="10119360" cy="1280160"/>
          </a:xfrm>
          <a:prstGeom prst="rect">
            <a:avLst/>
          </a:prstGeom>
          <a:solidFill>
            <a:srgbClr val="F3F5F9"/>
          </a:solidFill>
          <a:ln w="12700">
            <a:solidFill>
              <a:srgbClr val="D9DEE8"/>
            </a:solidFill>
          </a:ln>
        </p:spPr>
        <p:txBody>
          <a:bodyPr wrap="square" lIns="91440" tIns="45720" rIns="91440" bIns="45720" rtlCol="0" anchor="t">
            <a:noAutofit/>
          </a:bodyPr>
          <a:lstStyle/>
          <a:p>
            <a:pPr marL="0" indent="0">
              <a:buNone/>
            </a:pPr>
            <a:endParaRPr lang="vi-VN"/>
          </a:p>
        </p:txBody>
      </p:sp>
      <p:sp>
        <p:nvSpPr>
          <p:cNvPr id="20" name="TextBox"/>
          <p:cNvSpPr txBox="1"/>
          <p:nvPr/>
        </p:nvSpPr>
        <p:spPr>
          <a:xfrm>
            <a:off x="1706880" y="4480560"/>
            <a:ext cx="914400" cy="1280160"/>
          </a:xfrm>
          <a:prstGeom prst="rect">
            <a:avLst/>
          </a:prstGeom>
          <a:noFill/>
          <a:ln>
            <a:noFill/>
          </a:ln>
        </p:spPr>
        <p:txBody>
          <a:bodyPr wrap="square" lIns="0" tIns="0" rIns="0" bIns="0" rtlCol="0" anchor="ctr">
            <a:noAutofit/>
          </a:bodyPr>
          <a:lstStyle/>
          <a:p>
            <a:pPr marL="0" indent="0">
              <a:buNone/>
            </a:pPr>
            <a:r>
              <a:rPr lang="vi-VN" sz="4400" b="1">
                <a:solidFill>
                  <a:srgbClr val="203864"/>
                </a:solidFill>
              </a:rPr>
              <a:t>3</a:t>
            </a:r>
            <a:endParaRPr lang="vi-VN" sz="4400"/>
          </a:p>
        </p:txBody>
      </p:sp>
      <p:sp>
        <p:nvSpPr>
          <p:cNvPr id="21" name="TextBox"/>
          <p:cNvSpPr txBox="1"/>
          <p:nvPr/>
        </p:nvSpPr>
        <p:spPr>
          <a:xfrm>
            <a:off x="2712720" y="4480560"/>
            <a:ext cx="8747760" cy="1280160"/>
          </a:xfrm>
          <a:prstGeom prst="rect">
            <a:avLst/>
          </a:prstGeom>
          <a:noFill/>
          <a:ln>
            <a:noFill/>
          </a:ln>
        </p:spPr>
        <p:txBody>
          <a:bodyPr wrap="square" lIns="0" tIns="0" rIns="0" bIns="0" rtlCol="0" anchor="ctr">
            <a:noAutofit/>
          </a:bodyPr>
          <a:lstStyle/>
          <a:p>
            <a:pPr marL="0" indent="0">
              <a:buNone/>
            </a:pPr>
            <a:r>
              <a:rPr lang="vi-VN" sz="2400" b="1">
                <a:solidFill>
                  <a:srgbClr val="203864"/>
                </a:solidFill>
              </a:rPr>
              <a:t>Auditing</a:t>
            </a:r>
            <a:r>
              <a:rPr lang="vi-VN" sz="2400">
                <a:solidFill>
                  <a:srgbClr val="1B2230"/>
                </a:solidFill>
              </a:rPr>
              <a:t> giúp tìm nguyên nhân thay vì đoán.</a:t>
            </a:r>
            <a:endParaRPr lang="vi-VN" sz="2400"/>
          </a:p>
        </p:txBody>
      </p:sp>
    </p:spTree>
    <p:extLst>
      <p:ext uri="{BB962C8B-B14F-4D97-AF65-F5344CB8AC3E}">
        <p14:creationId xmlns:p14="http://schemas.microsoft.com/office/powerpoint/2010/main" val="15910848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1"/>
          <p:cNvSpPr>
            <a:spLocks noGrp="1"/>
          </p:cNvSpPr>
          <p:nvPr>
            <p:ph type="title"/>
          </p:nvPr>
        </p:nvSpPr>
        <p:spPr/>
        <p:txBody>
          <a:bodyPr>
            <a:normAutofit/>
          </a:bodyPr>
          <a:lstStyle/>
          <a:p>
            <a:r>
              <a:rPr lang="vi-VN"/>
              <a:t>5. Dữ liệu "sạch về cấu trúc": nền móng của mọi phân tích</a:t>
            </a:r>
          </a:p>
        </p:txBody>
      </p:sp>
    </p:spTree>
    <p:extLst>
      <p:ext uri="{BB962C8B-B14F-4D97-AF65-F5344CB8AC3E}">
        <p14:creationId xmlns:p14="http://schemas.microsoft.com/office/powerpoint/2010/main" val="4201377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5 · TIDY DATA</a:t>
            </a:r>
            <a:endParaRPr lang="vi-VN" sz="1400"/>
          </a:p>
        </p:txBody>
      </p:sp>
      <p:sp>
        <p:nvSpPr>
          <p:cNvPr id="12" name="title 12"/>
          <p:cNvSpPr>
            <a:spLocks noGrp="1"/>
          </p:cNvSpPr>
          <p:nvPr>
            <p:ph type="title"/>
          </p:nvPr>
        </p:nvSpPr>
        <p:spPr/>
        <p:txBody>
          <a:bodyPr>
            <a:normAutofit/>
          </a:bodyPr>
          <a:lstStyle/>
          <a:p>
            <a:r>
              <a:rPr lang="vi-VN"/>
              <a:t>Good vs Bad Data Structure</a:t>
            </a:r>
          </a:p>
        </p:txBody>
      </p:sp>
      <p:graphicFrame>
        <p:nvGraphicFramePr>
          <p:cNvPr id="13" name="Table 13"/>
          <p:cNvGraphicFramePr>
            <a:graphicFrameLocks noGrp="1"/>
          </p:cNvGraphicFramePr>
          <p:nvPr>
            <p:extLst>
              <p:ext uri="{D42A27DB-BD31-4B8C-83A1-F6EECF244321}">
                <p14:modId xmlns:p14="http://schemas.microsoft.com/office/powerpoint/2010/main" val="1411495278"/>
              </p:ext>
            </p:extLst>
          </p:nvPr>
        </p:nvGraphicFramePr>
        <p:xfrm>
          <a:off x="1524000" y="1554480"/>
          <a:ext cx="6035040" cy="3840480"/>
        </p:xfrm>
        <a:graphic>
          <a:graphicData uri="http://schemas.openxmlformats.org/drawingml/2006/table">
            <a:tbl>
              <a:tblPr firstRow="1"/>
              <a:tblGrid>
                <a:gridCol w="3017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457200">
                <a:tc>
                  <a:txBody>
                    <a:bodyPr/>
                    <a:lstStyle/>
                    <a:p>
                      <a:pPr marL="0" indent="0" algn="l">
                        <a:buNone/>
                      </a:pPr>
                      <a:r>
                        <a:rPr lang="vi-VN" sz="1600" b="1">
                          <a:solidFill>
                            <a:srgbClr val="FFFFFF"/>
                          </a:solidFill>
                        </a:rPr>
                        <a:t>✓  GOOD</a:t>
                      </a:r>
                      <a:endParaRPr lang="vi-VN" sz="1600"/>
                    </a:p>
                  </a:txBody>
                  <a:tcPr anchor="ctr">
                    <a:lnL w="0">
                      <a:noFill/>
                    </a:lnL>
                    <a:lnR w="0">
                      <a:noFill/>
                    </a:lnR>
                    <a:lnT w="0">
                      <a:noFill/>
                    </a:lnT>
                    <a:lnB w="12700">
                      <a:solidFill>
                        <a:srgbClr val="D9DEE8"/>
                      </a:solidFill>
                    </a:lnB>
                    <a:solidFill>
                      <a:srgbClr val="203864"/>
                    </a:solidFill>
                  </a:tcPr>
                </a:tc>
                <a:tc>
                  <a:txBody>
                    <a:bodyPr/>
                    <a:lstStyle/>
                    <a:p>
                      <a:pPr marL="0" indent="0" algn="l">
                        <a:buNone/>
                      </a:pPr>
                      <a:r>
                        <a:rPr lang="vi-VN" sz="1600" b="1">
                          <a:solidFill>
                            <a:srgbClr val="FFFFFF"/>
                          </a:solidFill>
                        </a:rPr>
                        <a:t>✗  BAD</a:t>
                      </a:r>
                      <a:endParaRPr lang="vi-VN" sz="1600"/>
                    </a:p>
                  </a:txBody>
                  <a:tcPr anchor="ctr">
                    <a:lnL w="0">
                      <a:noFill/>
                    </a:lnL>
                    <a:lnR w="0">
                      <a:noFill/>
                    </a:lnR>
                    <a:lnT w="0">
                      <a:noFill/>
                    </a:lnT>
                    <a:lnB w="12700">
                      <a:solidFill>
                        <a:srgbClr val="D9DEE8"/>
                      </a:solidFill>
                    </a:lnB>
                    <a:solidFill>
                      <a:srgbClr val="203864"/>
                    </a:solidFill>
                  </a:tcPr>
                </a:tc>
                <a:extLst>
                  <a:ext uri="{0D108BD9-81ED-4DB2-BD59-A6C34878D82A}">
                    <a16:rowId xmlns:a16="http://schemas.microsoft.com/office/drawing/2014/main" val="10000"/>
                  </a:ext>
                </a:extLst>
              </a:tr>
              <a:tr h="731520">
                <a:tc>
                  <a:txBody>
                    <a:bodyPr/>
                    <a:lstStyle/>
                    <a:p>
                      <a:pPr marL="0" indent="0" algn="l">
                        <a:buNone/>
                      </a:pPr>
                      <a:r>
                        <a:rPr lang="vi-VN" sz="1600">
                          <a:solidFill>
                            <a:srgbClr val="1B2230"/>
                          </a:solidFill>
                        </a:rPr>
                        <a:t>Hình chữ nhật: biến là cột, bản ghi là dòng</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Đảo chiều, biến nằm theo dòng</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1"/>
                  </a:ext>
                </a:extLst>
              </a:tr>
              <a:tr h="640080">
                <a:tc>
                  <a:txBody>
                    <a:bodyPr/>
                    <a:lstStyle/>
                    <a:p>
                      <a:pPr marL="0" indent="0" algn="l">
                        <a:buNone/>
                      </a:pPr>
                      <a:r>
                        <a:rPr lang="vi-VN" sz="1600">
                          <a:solidFill>
                            <a:srgbClr val="1B2230"/>
                          </a:solidFill>
                        </a:rPr>
                        <a:t>Không định dạng thừa</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Ô gộp, tô màu thừa</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2"/>
                  </a:ext>
                </a:extLst>
              </a:tr>
              <a:tr h="640080">
                <a:tc>
                  <a:txBody>
                    <a:bodyPr/>
                    <a:lstStyle/>
                    <a:p>
                      <a:pPr marL="0" indent="0" algn="l">
                        <a:buNone/>
                      </a:pPr>
                      <a:r>
                        <a:rPr lang="vi-VN" sz="1600">
                          <a:solidFill>
                            <a:srgbClr val="1B2230"/>
                          </a:solidFill>
                        </a:rPr>
                        <a:t>Chỉ gồm dimension &amp; measure</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Cột tính toán lẫn vào</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3"/>
                  </a:ext>
                </a:extLst>
              </a:tr>
              <a:tr h="640080">
                <a:tc>
                  <a:txBody>
                    <a:bodyPr/>
                    <a:lstStyle/>
                    <a:p>
                      <a:pPr marL="0" indent="0" algn="l">
                        <a:buNone/>
                      </a:pPr>
                      <a:r>
                        <a:rPr lang="vi-VN" sz="1600">
                          <a:solidFill>
                            <a:srgbClr val="1B2230"/>
                          </a:solidFill>
                        </a:rPr>
                        <a:t>Tiêu đề cột rõ ràng, 1 dòng</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a:solidFill>
                            <a:srgbClr val="1B2230"/>
                          </a:solidFill>
                        </a:rPr>
                        <a:t>Tiêu đề 2 tầng</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4"/>
                  </a:ext>
                </a:extLst>
              </a:tr>
              <a:tr h="731520">
                <a:tc>
                  <a:txBody>
                    <a:bodyPr/>
                    <a:lstStyle/>
                    <a:p>
                      <a:pPr marL="0" indent="0" algn="l">
                        <a:buNone/>
                      </a:pPr>
                      <a:r>
                        <a:rPr lang="vi-VN" sz="1600">
                          <a:solidFill>
                            <a:srgbClr val="1B2230"/>
                          </a:solidFill>
                        </a:rPr>
                        <a:t>Không dòng tổng, không tiêu đề phụ</a:t>
                      </a:r>
                      <a:endParaRPr lang="vi-VN" sz="1600"/>
                    </a:p>
                  </a:txBody>
                  <a:tcPr anchor="ctr">
                    <a:lnL w="0">
                      <a:noFill/>
                    </a:lnL>
                    <a:lnR w="0">
                      <a:noFill/>
                    </a:lnR>
                    <a:lnT w="12700">
                      <a:solidFill>
                        <a:srgbClr val="D9DEE8"/>
                      </a:solidFill>
                    </a:lnT>
                    <a:lnB w="12700">
                      <a:solidFill>
                        <a:srgbClr val="D9DEE8"/>
                      </a:solidFill>
                    </a:lnB>
                    <a:noFill/>
                  </a:tcPr>
                </a:tc>
                <a:tc>
                  <a:txBody>
                    <a:bodyPr/>
                    <a:lstStyle/>
                    <a:p>
                      <a:pPr marL="0" indent="0" algn="l">
                        <a:buNone/>
                      </a:pPr>
                      <a:r>
                        <a:rPr lang="vi-VN" sz="1600" b="1">
                          <a:solidFill>
                            <a:srgbClr val="1B2230"/>
                          </a:solidFill>
                        </a:rPr>
                        <a:t>Có dòng tổng, subtotal giữa dữ liệu</a:t>
                      </a:r>
                      <a:endParaRPr lang="vi-VN" sz="1600"/>
                    </a:p>
                  </a:txBody>
                  <a:tcPr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5"/>
                  </a:ext>
                </a:extLst>
              </a:tr>
            </a:tbl>
          </a:graphicData>
        </a:graphic>
      </p:graphicFrame>
      <p:pic>
        <p:nvPicPr>
          <p:cNvPr id="16" name="Screenshot S25" descr="S25.png"/>
          <p:cNvPicPr>
            <a:picLocks noChangeAspect="1"/>
          </p:cNvPicPr>
          <p:nvPr/>
        </p:nvPicPr>
        <p:blipFill>
          <a:blip r:embed="rId3"/>
          <a:stretch>
            <a:fillRect/>
          </a:stretch>
        </p:blipFill>
        <p:spPr>
          <a:xfrm>
            <a:off x="7833360" y="2056000"/>
            <a:ext cx="3810000" cy="1282959"/>
          </a:xfrm>
          <a:prstGeom prst="rect">
            <a:avLst/>
          </a:prstGeom>
          <a:ln w="9525">
            <a:solidFill>
              <a:srgbClr val="BFBFBF"/>
            </a:solidFill>
          </a:ln>
        </p:spPr>
      </p:pic>
      <p:sp>
        <p:nvSpPr>
          <p:cNvPr id="15" name="Stat card"/>
          <p:cNvSpPr/>
          <p:nvPr/>
        </p:nvSpPr>
        <p:spPr>
          <a:xfrm>
            <a:off x="7833360" y="4023360"/>
            <a:ext cx="3810000" cy="1572768"/>
          </a:xfrm>
          <a:prstGeom prst="roundRect">
            <a:avLst>
              <a:gd name="adj" fmla="val 1615"/>
            </a:avLst>
          </a:prstGeom>
          <a:solidFill>
            <a:srgbClr val="FFFFFF"/>
          </a:solidFill>
          <a:ln w="12700">
            <a:solidFill>
              <a:srgbClr val="D9DEE8"/>
            </a:solidFill>
          </a:ln>
        </p:spPr>
        <p:txBody>
          <a:bodyPr wrap="square" lIns="182880" tIns="182880" rIns="182880" bIns="182880" rtlCol="0" anchor="ctr">
            <a:noAutofit/>
          </a:bodyPr>
          <a:lstStyle/>
          <a:p>
            <a:pPr marL="0" indent="0">
              <a:spcAft>
                <a:spcPts val="300"/>
              </a:spcAft>
              <a:buNone/>
            </a:pPr>
            <a:r>
              <a:rPr lang="vi-VN" sz="1400">
                <a:solidFill>
                  <a:srgbClr val="585858"/>
                </a:solidFill>
              </a:rPr>
              <a:t>SUM cả cột Quantity khi còn 4 dòng tổng</a:t>
            </a:r>
            <a:endParaRPr lang="vi-VN" sz="1400"/>
          </a:p>
          <a:p>
            <a:pPr marL="0" indent="0">
              <a:buNone/>
            </a:pPr>
            <a:r>
              <a:rPr lang="vi-VN" sz="3600" b="1">
                <a:solidFill>
                  <a:srgbClr val="203864"/>
                </a:solidFill>
              </a:rPr>
              <a:t>32.931</a:t>
            </a:r>
            <a:r>
              <a:rPr lang="vi-VN" sz="1800">
                <a:solidFill>
                  <a:srgbClr val="1B2230"/>
                </a:solidFill>
              </a:rPr>
              <a:t>  thay vì 10.990</a:t>
            </a:r>
            <a:endParaRPr lang="vi-VN"/>
          </a:p>
          <a:p>
            <a:pPr marL="0" indent="0">
              <a:spcBef>
                <a:spcPts val="300"/>
              </a:spcBef>
              <a:buNone/>
            </a:pPr>
            <a:r>
              <a:rPr lang="vi-VN" sz="1400">
                <a:solidFill>
                  <a:srgbClr val="585858"/>
                </a:solidFill>
              </a:rPr>
              <a:t>Gần gấp 3 lần, và Excel không báo lỗi.</a:t>
            </a:r>
            <a:endParaRPr lang="vi-VN" sz="1400"/>
          </a:p>
        </p:txBody>
      </p:sp>
    </p:spTree>
    <p:extLst>
      <p:ext uri="{BB962C8B-B14F-4D97-AF65-F5344CB8AC3E}">
        <p14:creationId xmlns:p14="http://schemas.microsoft.com/office/powerpoint/2010/main" val="748052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5 · TIDY DATA</a:t>
            </a:r>
            <a:endParaRPr lang="vi-VN" sz="1400"/>
          </a:p>
        </p:txBody>
      </p:sp>
      <p:sp>
        <p:nvSpPr>
          <p:cNvPr id="12" name="title 12"/>
          <p:cNvSpPr>
            <a:spLocks noGrp="1"/>
          </p:cNvSpPr>
          <p:nvPr>
            <p:ph type="title"/>
          </p:nvPr>
        </p:nvSpPr>
        <p:spPr/>
        <p:txBody>
          <a:bodyPr>
            <a:normAutofit/>
          </a:bodyPr>
          <a:lstStyle/>
          <a:p>
            <a:r>
              <a:rPr lang="vi-VN"/>
              <a:t>Excel Table</a:t>
            </a:r>
          </a:p>
        </p:txBody>
      </p:sp>
      <p:sp>
        <p:nvSpPr>
          <p:cNvPr id="13" name="Tool name"/>
          <p:cNvSpPr txBox="1"/>
          <p:nvPr/>
        </p:nvSpPr>
        <p:spPr>
          <a:xfrm>
            <a:off x="15240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Ctrl + T</a:t>
            </a:r>
            <a:endParaRPr lang="vi-VN" sz="2400"/>
          </a:p>
        </p:txBody>
      </p:sp>
      <p:sp>
        <p:nvSpPr>
          <p:cNvPr id="14" name="Tool purpose"/>
          <p:cNvSpPr txBox="1"/>
          <p:nvPr/>
        </p:nvSpPr>
        <p:spPr>
          <a:xfrm>
            <a:off x="1524000" y="2011680"/>
            <a:ext cx="3159760" cy="82296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Format as Table: biến vùng tidy thành Table</a:t>
            </a:r>
            <a:endParaRPr lang="vi-VN" sz="1800"/>
          </a:p>
        </p:txBody>
      </p:sp>
      <p:pic>
        <p:nvPicPr>
          <p:cNvPr id="27" name="Screenshot S26_create" descr="S26_create.png"/>
          <p:cNvPicPr>
            <a:picLocks noChangeAspect="1"/>
          </p:cNvPicPr>
          <p:nvPr/>
        </p:nvPicPr>
        <p:blipFill>
          <a:blip r:embed="rId3"/>
          <a:stretch>
            <a:fillRect/>
          </a:stretch>
        </p:blipFill>
        <p:spPr>
          <a:xfrm>
            <a:off x="1524000" y="2953632"/>
            <a:ext cx="3159760" cy="1865136"/>
          </a:xfrm>
          <a:prstGeom prst="rect">
            <a:avLst/>
          </a:prstGeom>
          <a:ln w="9525">
            <a:solidFill>
              <a:srgbClr val="BFBFBF"/>
            </a:solidFill>
          </a:ln>
        </p:spPr>
      </p:pic>
      <p:cxnSp>
        <p:nvCxnSpPr>
          <p:cNvPr id="16" name="Line 16"/>
          <p:cNvCxnSpPr/>
          <p:nvPr/>
        </p:nvCxnSpPr>
        <p:spPr>
          <a:xfrm>
            <a:off x="4843780" y="1554480"/>
            <a:ext cx="0" cy="3291840"/>
          </a:xfrm>
          <a:prstGeom prst="line">
            <a:avLst/>
          </a:prstGeom>
          <a:ln w="12700">
            <a:solidFill>
              <a:srgbClr val="D9DEE8"/>
            </a:solidFill>
          </a:ln>
        </p:spPr>
      </p:cxnSp>
      <p:sp>
        <p:nvSpPr>
          <p:cNvPr id="17" name="Tool name"/>
          <p:cNvSpPr txBox="1"/>
          <p:nvPr/>
        </p:nvSpPr>
        <p:spPr>
          <a:xfrm>
            <a:off x="50038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Table Name</a:t>
            </a:r>
            <a:endParaRPr lang="vi-VN" sz="2400"/>
          </a:p>
        </p:txBody>
      </p:sp>
      <p:sp>
        <p:nvSpPr>
          <p:cNvPr id="18" name="Tool purpose"/>
          <p:cNvSpPr txBox="1"/>
          <p:nvPr/>
        </p:nvSpPr>
        <p:spPr>
          <a:xfrm>
            <a:off x="5003800" y="2011680"/>
            <a:ext cx="3159760" cy="82296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Đặt tên bảng có nghĩa: tblSales</a:t>
            </a:r>
            <a:endParaRPr lang="vi-VN" sz="1800"/>
          </a:p>
        </p:txBody>
      </p:sp>
      <p:pic>
        <p:nvPicPr>
          <p:cNvPr id="28" name="Screenshot S26_name" descr="S26_name.png"/>
          <p:cNvPicPr>
            <a:picLocks noChangeAspect="1"/>
          </p:cNvPicPr>
          <p:nvPr/>
        </p:nvPicPr>
        <p:blipFill>
          <a:blip r:embed="rId4"/>
          <a:stretch>
            <a:fillRect/>
          </a:stretch>
        </p:blipFill>
        <p:spPr>
          <a:xfrm>
            <a:off x="5003800" y="2963815"/>
            <a:ext cx="3159760" cy="1844770"/>
          </a:xfrm>
          <a:prstGeom prst="rect">
            <a:avLst/>
          </a:prstGeom>
          <a:ln w="9525">
            <a:solidFill>
              <a:srgbClr val="BFBFBF"/>
            </a:solidFill>
          </a:ln>
        </p:spPr>
      </p:pic>
      <p:cxnSp>
        <p:nvCxnSpPr>
          <p:cNvPr id="20" name="Line 20"/>
          <p:cNvCxnSpPr/>
          <p:nvPr/>
        </p:nvCxnSpPr>
        <p:spPr>
          <a:xfrm>
            <a:off x="8323580" y="1554480"/>
            <a:ext cx="0" cy="3291840"/>
          </a:xfrm>
          <a:prstGeom prst="line">
            <a:avLst/>
          </a:prstGeom>
          <a:ln w="12700">
            <a:solidFill>
              <a:srgbClr val="D9DEE8"/>
            </a:solidFill>
          </a:ln>
        </p:spPr>
      </p:cxnSp>
      <p:sp>
        <p:nvSpPr>
          <p:cNvPr id="21" name="Tool name"/>
          <p:cNvSpPr txBox="1"/>
          <p:nvPr/>
        </p:nvSpPr>
        <p:spPr>
          <a:xfrm>
            <a:off x="8483600" y="1554480"/>
            <a:ext cx="31597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Structured Reference</a:t>
            </a:r>
            <a:endParaRPr lang="vi-VN" sz="2400"/>
          </a:p>
        </p:txBody>
      </p:sp>
      <p:sp>
        <p:nvSpPr>
          <p:cNvPr id="22" name="Tool purpose"/>
          <p:cNvSpPr txBox="1"/>
          <p:nvPr/>
        </p:nvSpPr>
        <p:spPr>
          <a:xfrm>
            <a:off x="8483600" y="2011680"/>
            <a:ext cx="3159760" cy="822960"/>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585858"/>
                </a:solidFill>
              </a:rPr>
              <a:t>Công thức theo tên cột: =[@Quantity]*[@Unit_Price], tự điền cả cột</a:t>
            </a:r>
            <a:endParaRPr lang="vi-VN" sz="1800"/>
          </a:p>
        </p:txBody>
      </p:sp>
      <p:pic>
        <p:nvPicPr>
          <p:cNvPr id="29" name="Screenshot S26_rev" descr="S26_rev.png"/>
          <p:cNvPicPr>
            <a:picLocks noChangeAspect="1"/>
          </p:cNvPicPr>
          <p:nvPr/>
        </p:nvPicPr>
        <p:blipFill>
          <a:blip r:embed="rId5"/>
          <a:stretch>
            <a:fillRect/>
          </a:stretch>
        </p:blipFill>
        <p:spPr>
          <a:xfrm>
            <a:off x="8833853" y="2926080"/>
            <a:ext cx="2459254" cy="1920240"/>
          </a:xfrm>
          <a:prstGeom prst="rect">
            <a:avLst/>
          </a:prstGeom>
          <a:ln w="9525">
            <a:solidFill>
              <a:srgbClr val="BFBFBF"/>
            </a:solidFill>
          </a:ln>
        </p:spPr>
      </p:pic>
      <p:sp>
        <p:nvSpPr>
          <p:cNvPr id="24" name="PRO TIP callout"/>
          <p:cNvSpPr/>
          <p:nvPr/>
        </p:nvSpPr>
        <p:spPr>
          <a:xfrm>
            <a:off x="1524000" y="5029200"/>
            <a:ext cx="10119360" cy="1005840"/>
          </a:xfrm>
          <a:prstGeom prst="roundRect">
            <a:avLst>
              <a:gd name="adj" fmla="val 2525"/>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25" name="PRO TIP chip"/>
          <p:cNvSpPr/>
          <p:nvPr/>
        </p:nvSpPr>
        <p:spPr>
          <a:xfrm>
            <a:off x="1633728" y="5138928"/>
            <a:ext cx="1005840" cy="320040"/>
          </a:xfrm>
          <a:prstGeom prst="roundRect">
            <a:avLst>
              <a:gd name="adj" fmla="val 25000"/>
            </a:avLst>
          </a:prstGeom>
          <a:solidFill>
            <a:srgbClr val="FFC000"/>
          </a:solidFill>
          <a:ln>
            <a:noFill/>
          </a:ln>
        </p:spPr>
        <p:txBody>
          <a:bodyPr wrap="square" lIns="0" tIns="0" rIns="0" bIns="0" rtlCol="0" anchor="ctr">
            <a:noAutofit/>
          </a:bodyPr>
          <a:lstStyle/>
          <a:p>
            <a:pPr marL="0" indent="0" algn="ctr">
              <a:buNone/>
            </a:pPr>
            <a:r>
              <a:rPr lang="vi-VN" sz="1200" b="1">
                <a:solidFill>
                  <a:srgbClr val="1B2230"/>
                </a:solidFill>
              </a:rPr>
              <a:t>PRO TIP</a:t>
            </a:r>
            <a:endParaRPr lang="vi-VN" sz="1200"/>
          </a:p>
        </p:txBody>
      </p:sp>
      <p:sp>
        <p:nvSpPr>
          <p:cNvPr id="26" name="PRO TIP text"/>
          <p:cNvSpPr txBox="1"/>
          <p:nvPr/>
        </p:nvSpPr>
        <p:spPr>
          <a:xfrm>
            <a:off x="2731008" y="5116068"/>
            <a:ext cx="8802624" cy="832104"/>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1B2230"/>
                </a:solidFill>
              </a:rPr>
              <a:t>Table </a:t>
            </a:r>
            <a:r>
              <a:rPr lang="vi-VN" sz="1800" b="1">
                <a:solidFill>
                  <a:srgbClr val="1B2230"/>
                </a:solidFill>
              </a:rPr>
              <a:t>tự mở rộng</a:t>
            </a:r>
            <a:r>
              <a:rPr lang="vi-VN" sz="1800">
                <a:solidFill>
                  <a:srgbClr val="1B2230"/>
                </a:solidFill>
              </a:rPr>
              <a:t> khi thêm dòng, nên công thức, Pivot (B3) và Power Query (B4) tự nhận dữ liệu mới.</a:t>
            </a:r>
            <a:endParaRPr lang="vi-VN" sz="1800"/>
          </a:p>
        </p:txBody>
      </p:sp>
    </p:spTree>
    <p:extLst>
      <p:ext uri="{BB962C8B-B14F-4D97-AF65-F5344CB8AC3E}">
        <p14:creationId xmlns:p14="http://schemas.microsoft.com/office/powerpoint/2010/main" val="20962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6 · DATA VALIDATION</a:t>
            </a:r>
            <a:endParaRPr lang="vi-VN" sz="1400"/>
          </a:p>
        </p:txBody>
      </p:sp>
      <p:sp>
        <p:nvSpPr>
          <p:cNvPr id="12" name="title 12"/>
          <p:cNvSpPr>
            <a:spLocks noGrp="1"/>
          </p:cNvSpPr>
          <p:nvPr>
            <p:ph type="title"/>
          </p:nvPr>
        </p:nvSpPr>
        <p:spPr/>
        <p:txBody>
          <a:bodyPr>
            <a:normAutofit/>
          </a:bodyPr>
          <a:lstStyle/>
          <a:p>
            <a:r>
              <a:rPr lang="vi-VN"/>
              <a:t>Data Validation: chặn dữ liệu sai từ gốc</a:t>
            </a:r>
          </a:p>
        </p:txBody>
      </p:sp>
      <p:sp>
        <p:nvSpPr>
          <p:cNvPr id="13" name="TextBox"/>
          <p:cNvSpPr txBox="1"/>
          <p:nvPr/>
        </p:nvSpPr>
        <p:spPr>
          <a:xfrm>
            <a:off x="1524000" y="1554480"/>
            <a:ext cx="101193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Data Validation</a:t>
            </a:r>
            <a:endParaRPr lang="vi-VN" sz="2400"/>
          </a:p>
        </p:txBody>
      </p:sp>
      <p:sp>
        <p:nvSpPr>
          <p:cNvPr id="14" name="TextBox"/>
          <p:cNvSpPr txBox="1"/>
          <p:nvPr/>
        </p:nvSpPr>
        <p:spPr>
          <a:xfrm>
            <a:off x="1524000" y="2011680"/>
            <a:ext cx="10119360" cy="685800"/>
          </a:xfrm>
          <a:prstGeom prst="rect">
            <a:avLst/>
          </a:prstGeom>
          <a:noFill/>
          <a:ln>
            <a:noFill/>
          </a:ln>
        </p:spPr>
        <p:txBody>
          <a:bodyPr wrap="square" lIns="0" tIns="0" rIns="0" bIns="0" rtlCol="0" anchor="t">
            <a:noAutofit/>
          </a:bodyPr>
          <a:lstStyle/>
          <a:p>
            <a:pPr marL="0" indent="0">
              <a:buNone/>
            </a:pPr>
            <a:r>
              <a:rPr lang="vi-VN" sz="1800">
                <a:solidFill>
                  <a:srgbClr val="585858"/>
                </a:solidFill>
              </a:rPr>
              <a:t>Giới hạn giá trị được phép nhập: Whole / Decimal, khoảng giá trị, </a:t>
            </a:r>
            <a:r>
              <a:rPr lang="vi-VN" sz="1800" b="1">
                <a:solidFill>
                  <a:srgbClr val="1B2230"/>
                </a:solidFill>
              </a:rPr>
              <a:t>List</a:t>
            </a:r>
            <a:r>
              <a:rPr lang="vi-VN" sz="1800">
                <a:solidFill>
                  <a:srgbClr val="585858"/>
                </a:solidFill>
              </a:rPr>
              <a:t>, Date, Text length, Custom.</a:t>
            </a:r>
            <a:endParaRPr lang="vi-VN" sz="1800"/>
          </a:p>
        </p:txBody>
      </p:sp>
      <p:pic>
        <p:nvPicPr>
          <p:cNvPr id="24" name="Screenshot S27_list" descr="S27_list.png"/>
          <p:cNvPicPr>
            <a:picLocks noChangeAspect="1"/>
          </p:cNvPicPr>
          <p:nvPr/>
        </p:nvPicPr>
        <p:blipFill>
          <a:blip r:embed="rId3"/>
          <a:stretch>
            <a:fillRect/>
          </a:stretch>
        </p:blipFill>
        <p:spPr>
          <a:xfrm>
            <a:off x="1730559" y="2788920"/>
            <a:ext cx="2807601" cy="2286000"/>
          </a:xfrm>
          <a:prstGeom prst="rect">
            <a:avLst/>
          </a:prstGeom>
          <a:ln w="9525">
            <a:solidFill>
              <a:srgbClr val="BFBFBF"/>
            </a:solidFill>
          </a:ln>
        </p:spPr>
      </p:pic>
      <p:sp>
        <p:nvSpPr>
          <p:cNvPr id="16" name="TextBox"/>
          <p:cNvSpPr txBox="1"/>
          <p:nvPr/>
        </p:nvSpPr>
        <p:spPr>
          <a:xfrm>
            <a:off x="1524000" y="5120640"/>
            <a:ext cx="3220720" cy="320040"/>
          </a:xfrm>
          <a:prstGeom prst="rect">
            <a:avLst/>
          </a:prstGeom>
          <a:noFill/>
          <a:ln>
            <a:noFill/>
          </a:ln>
        </p:spPr>
        <p:txBody>
          <a:bodyPr wrap="square" lIns="0" tIns="0" rIns="0" bIns="0" rtlCol="0" anchor="t">
            <a:noAutofit/>
          </a:bodyPr>
          <a:lstStyle/>
          <a:p>
            <a:pPr marL="0" indent="0">
              <a:buNone/>
            </a:pPr>
            <a:r>
              <a:rPr lang="vi-VN" sz="1400" b="1">
                <a:solidFill>
                  <a:srgbClr val="1B2230"/>
                </a:solidFill>
              </a:rPr>
              <a:t>Store_Code: List 12 mã</a:t>
            </a:r>
            <a:endParaRPr lang="vi-VN" sz="1400"/>
          </a:p>
        </p:txBody>
      </p:sp>
      <p:pic>
        <p:nvPicPr>
          <p:cNvPr id="25" name="Screenshot S27_qty" descr="S27_qty.png"/>
          <p:cNvPicPr>
            <a:picLocks noChangeAspect="1"/>
          </p:cNvPicPr>
          <p:nvPr/>
        </p:nvPicPr>
        <p:blipFill>
          <a:blip r:embed="rId4"/>
          <a:stretch>
            <a:fillRect/>
          </a:stretch>
        </p:blipFill>
        <p:spPr>
          <a:xfrm>
            <a:off x="5179879" y="2788920"/>
            <a:ext cx="2807601" cy="2286000"/>
          </a:xfrm>
          <a:prstGeom prst="rect">
            <a:avLst/>
          </a:prstGeom>
          <a:ln w="9525">
            <a:solidFill>
              <a:srgbClr val="BFBFBF"/>
            </a:solidFill>
          </a:ln>
        </p:spPr>
      </p:pic>
      <p:sp>
        <p:nvSpPr>
          <p:cNvPr id="18" name="TextBox"/>
          <p:cNvSpPr txBox="1"/>
          <p:nvPr/>
        </p:nvSpPr>
        <p:spPr>
          <a:xfrm>
            <a:off x="4973320" y="5120640"/>
            <a:ext cx="3220720" cy="320040"/>
          </a:xfrm>
          <a:prstGeom prst="rect">
            <a:avLst/>
          </a:prstGeom>
          <a:noFill/>
          <a:ln>
            <a:noFill/>
          </a:ln>
        </p:spPr>
        <p:txBody>
          <a:bodyPr wrap="square" lIns="0" tIns="0" rIns="0" bIns="0" rtlCol="0" anchor="t">
            <a:noAutofit/>
          </a:bodyPr>
          <a:lstStyle/>
          <a:p>
            <a:pPr marL="0" indent="0">
              <a:buNone/>
            </a:pPr>
            <a:r>
              <a:rPr lang="vi-VN" sz="1400" b="1">
                <a:solidFill>
                  <a:srgbClr val="1B2230"/>
                </a:solidFill>
              </a:rPr>
              <a:t>Quantity: số nguyên &gt; 0</a:t>
            </a:r>
            <a:endParaRPr lang="vi-VN" sz="1400"/>
          </a:p>
        </p:txBody>
      </p:sp>
      <p:pic>
        <p:nvPicPr>
          <p:cNvPr id="26" name="Screenshot S27_alert" descr="S27_alert.png"/>
          <p:cNvPicPr>
            <a:picLocks noChangeAspect="1"/>
          </p:cNvPicPr>
          <p:nvPr/>
        </p:nvPicPr>
        <p:blipFill>
          <a:blip r:embed="rId5"/>
          <a:stretch>
            <a:fillRect/>
          </a:stretch>
        </p:blipFill>
        <p:spPr>
          <a:xfrm>
            <a:off x="8629199" y="2788920"/>
            <a:ext cx="2807601" cy="2286000"/>
          </a:xfrm>
          <a:prstGeom prst="rect">
            <a:avLst/>
          </a:prstGeom>
          <a:ln w="9525">
            <a:solidFill>
              <a:srgbClr val="BFBFBF"/>
            </a:solidFill>
          </a:ln>
        </p:spPr>
      </p:pic>
      <p:sp>
        <p:nvSpPr>
          <p:cNvPr id="20" name="TextBox"/>
          <p:cNvSpPr txBox="1"/>
          <p:nvPr/>
        </p:nvSpPr>
        <p:spPr>
          <a:xfrm>
            <a:off x="8422640" y="5120640"/>
            <a:ext cx="3220720" cy="320040"/>
          </a:xfrm>
          <a:prstGeom prst="rect">
            <a:avLst/>
          </a:prstGeom>
          <a:noFill/>
          <a:ln>
            <a:noFill/>
          </a:ln>
        </p:spPr>
        <p:txBody>
          <a:bodyPr wrap="square" lIns="0" tIns="0" rIns="0" bIns="0" rtlCol="0" anchor="t">
            <a:noAutofit/>
          </a:bodyPr>
          <a:lstStyle/>
          <a:p>
            <a:pPr marL="0" indent="0">
              <a:buNone/>
            </a:pPr>
            <a:r>
              <a:rPr lang="vi-VN" sz="1400" b="1">
                <a:solidFill>
                  <a:srgbClr val="1B2230"/>
                </a:solidFill>
              </a:rPr>
              <a:t>Error Alert tiếng Việt</a:t>
            </a:r>
            <a:endParaRPr lang="vi-VN" sz="1400"/>
          </a:p>
        </p:txBody>
      </p:sp>
      <p:sp>
        <p:nvSpPr>
          <p:cNvPr id="21" name="TIP callout"/>
          <p:cNvSpPr/>
          <p:nvPr/>
        </p:nvSpPr>
        <p:spPr>
          <a:xfrm>
            <a:off x="1524000" y="5532120"/>
            <a:ext cx="10119360" cy="777240"/>
          </a:xfrm>
          <a:prstGeom prst="roundRect">
            <a:avLst>
              <a:gd name="adj" fmla="val 3268"/>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22" name="TextBox"/>
          <p:cNvSpPr txBox="1"/>
          <p:nvPr/>
        </p:nvSpPr>
        <p:spPr>
          <a:xfrm>
            <a:off x="1633728" y="5641848"/>
            <a:ext cx="548640" cy="320040"/>
          </a:xfrm>
          <a:prstGeom prst="rect">
            <a:avLst/>
          </a:prstGeom>
          <a:noFill/>
          <a:ln>
            <a:noFill/>
          </a:ln>
        </p:spPr>
        <p:txBody>
          <a:bodyPr wrap="square" lIns="0" tIns="0" rIns="0" bIns="0" rtlCol="0" anchor="ctr">
            <a:noAutofit/>
          </a:bodyPr>
          <a:lstStyle/>
          <a:p>
            <a:pPr marL="0" indent="0">
              <a:buNone/>
            </a:pPr>
            <a:r>
              <a:rPr lang="vi-VN" sz="1400" b="1">
                <a:solidFill>
                  <a:srgbClr val="203864"/>
                </a:solidFill>
              </a:rPr>
              <a:t>TIP</a:t>
            </a:r>
            <a:endParaRPr lang="vi-VN" sz="1400"/>
          </a:p>
        </p:txBody>
      </p:sp>
      <p:sp>
        <p:nvSpPr>
          <p:cNvPr id="23" name="TIP text"/>
          <p:cNvSpPr txBox="1"/>
          <p:nvPr/>
        </p:nvSpPr>
        <p:spPr>
          <a:xfrm>
            <a:off x="2273808" y="5618988"/>
            <a:ext cx="9259824" cy="603504"/>
          </a:xfrm>
          <a:prstGeom prst="rect">
            <a:avLst/>
          </a:prstGeom>
          <a:noFill/>
          <a:ln>
            <a:noFill/>
          </a:ln>
        </p:spPr>
        <p:txBody>
          <a:bodyPr wrap="square" lIns="0" tIns="0" rIns="0" bIns="0" rtlCol="0" anchor="t">
            <a:noAutofit/>
          </a:bodyPr>
          <a:lstStyle/>
          <a:p>
            <a:pPr marL="0" indent="0">
              <a:lnSpc>
                <a:spcPct val="100000"/>
              </a:lnSpc>
              <a:buNone/>
            </a:pPr>
            <a:r>
              <a:rPr lang="vi-VN" sz="1800">
                <a:solidFill>
                  <a:srgbClr val="1B2230"/>
                </a:solidFill>
              </a:rPr>
              <a:t>Tab </a:t>
            </a:r>
            <a:r>
              <a:rPr lang="vi-VN" sz="1800" b="1">
                <a:solidFill>
                  <a:srgbClr val="1B2230"/>
                </a:solidFill>
              </a:rPr>
              <a:t>Error Alert</a:t>
            </a:r>
            <a:r>
              <a:rPr lang="vi-VN" sz="1800">
                <a:solidFill>
                  <a:srgbClr val="1B2230"/>
                </a:solidFill>
              </a:rPr>
              <a:t> cho phép tự viết thông báo lỗi bằng tiếng Việt.</a:t>
            </a:r>
            <a:endParaRPr lang="vi-VN" sz="1800"/>
          </a:p>
        </p:txBody>
      </p:sp>
    </p:spTree>
    <p:extLst>
      <p:ext uri="{BB962C8B-B14F-4D97-AF65-F5344CB8AC3E}">
        <p14:creationId xmlns:p14="http://schemas.microsoft.com/office/powerpoint/2010/main" val="840619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6 · DATA VALIDATION</a:t>
            </a:r>
            <a:endParaRPr lang="vi-VN" sz="1400"/>
          </a:p>
        </p:txBody>
      </p:sp>
      <p:sp>
        <p:nvSpPr>
          <p:cNvPr id="12" name="title 12"/>
          <p:cNvSpPr>
            <a:spLocks noGrp="1"/>
          </p:cNvSpPr>
          <p:nvPr>
            <p:ph type="title"/>
          </p:nvPr>
        </p:nvSpPr>
        <p:spPr/>
        <p:txBody>
          <a:bodyPr>
            <a:normAutofit/>
          </a:bodyPr>
          <a:lstStyle/>
          <a:p>
            <a:r>
              <a:rPr lang="vi-VN"/>
              <a:t>Circle Invalid Data: tìm lỗi đã có sẵn</a:t>
            </a:r>
          </a:p>
        </p:txBody>
      </p:sp>
      <p:sp>
        <p:nvSpPr>
          <p:cNvPr id="13" name="TextBox"/>
          <p:cNvSpPr txBox="1"/>
          <p:nvPr/>
        </p:nvSpPr>
        <p:spPr>
          <a:xfrm>
            <a:off x="1524000" y="1554480"/>
            <a:ext cx="10119360" cy="457200"/>
          </a:xfrm>
          <a:prstGeom prst="rect">
            <a:avLst/>
          </a:prstGeom>
          <a:noFill/>
          <a:ln>
            <a:noFill/>
          </a:ln>
        </p:spPr>
        <p:txBody>
          <a:bodyPr wrap="square" lIns="0" tIns="0" rIns="0" bIns="0" rtlCol="0" anchor="t">
            <a:noAutofit/>
          </a:bodyPr>
          <a:lstStyle/>
          <a:p>
            <a:pPr marL="0" indent="0">
              <a:buNone/>
            </a:pPr>
            <a:r>
              <a:rPr lang="vi-VN" sz="2400" b="1">
                <a:solidFill>
                  <a:srgbClr val="C00000"/>
                </a:solidFill>
              </a:rPr>
              <a:t>Circle Invalid Data</a:t>
            </a:r>
            <a:endParaRPr lang="vi-VN" sz="2400"/>
          </a:p>
        </p:txBody>
      </p:sp>
      <p:sp>
        <p:nvSpPr>
          <p:cNvPr id="14" name="TextBox"/>
          <p:cNvSpPr txBox="1"/>
          <p:nvPr/>
        </p:nvSpPr>
        <p:spPr>
          <a:xfrm>
            <a:off x="1524000" y="2011680"/>
            <a:ext cx="10119360" cy="457200"/>
          </a:xfrm>
          <a:prstGeom prst="rect">
            <a:avLst/>
          </a:prstGeom>
          <a:noFill/>
          <a:ln>
            <a:noFill/>
          </a:ln>
        </p:spPr>
        <p:txBody>
          <a:bodyPr wrap="square" lIns="0" tIns="0" rIns="0" bIns="0" rtlCol="0" anchor="t">
            <a:noAutofit/>
          </a:bodyPr>
          <a:lstStyle/>
          <a:p>
            <a:pPr marL="0" indent="0">
              <a:buNone/>
            </a:pPr>
            <a:r>
              <a:rPr lang="vi-VN" sz="1800">
                <a:solidFill>
                  <a:srgbClr val="585858"/>
                </a:solidFill>
              </a:rPr>
              <a:t>Khoanh đỏ các ô </a:t>
            </a:r>
            <a:r>
              <a:rPr lang="vi-VN" sz="1800" b="1">
                <a:solidFill>
                  <a:srgbClr val="1B2230"/>
                </a:solidFill>
              </a:rPr>
              <a:t>đã có sẵn</a:t>
            </a:r>
            <a:r>
              <a:rPr lang="vi-VN" sz="1800">
                <a:solidFill>
                  <a:srgbClr val="585858"/>
                </a:solidFill>
              </a:rPr>
              <a:t> vi phạm quy tắc validation.</a:t>
            </a:r>
            <a:endParaRPr lang="vi-VN" sz="1800"/>
          </a:p>
        </p:txBody>
      </p:sp>
      <p:pic>
        <p:nvPicPr>
          <p:cNvPr id="20" name="Screenshot S28" descr="S28.png"/>
          <p:cNvPicPr>
            <a:picLocks noChangeAspect="1"/>
          </p:cNvPicPr>
          <p:nvPr/>
        </p:nvPicPr>
        <p:blipFill>
          <a:blip r:embed="rId3"/>
          <a:stretch>
            <a:fillRect/>
          </a:stretch>
        </p:blipFill>
        <p:spPr>
          <a:xfrm>
            <a:off x="1524000" y="2636411"/>
            <a:ext cx="6035040" cy="3642577"/>
          </a:xfrm>
          <a:prstGeom prst="rect">
            <a:avLst/>
          </a:prstGeom>
          <a:ln w="9525">
            <a:solidFill>
              <a:srgbClr val="BFBFBF"/>
            </a:solidFill>
          </a:ln>
        </p:spPr>
      </p:pic>
      <p:sp>
        <p:nvSpPr>
          <p:cNvPr id="16" name="Stat card"/>
          <p:cNvSpPr/>
          <p:nvPr/>
        </p:nvSpPr>
        <p:spPr>
          <a:xfrm>
            <a:off x="7787640" y="2606040"/>
            <a:ext cx="3855720" cy="1737360"/>
          </a:xfrm>
          <a:prstGeom prst="roundRect">
            <a:avLst>
              <a:gd name="adj" fmla="val 1462"/>
            </a:avLst>
          </a:prstGeom>
          <a:solidFill>
            <a:srgbClr val="FFFFFF"/>
          </a:solidFill>
          <a:ln w="12700">
            <a:solidFill>
              <a:srgbClr val="D9DEE8"/>
            </a:solidFill>
          </a:ln>
        </p:spPr>
        <p:txBody>
          <a:bodyPr wrap="square" lIns="182880" tIns="182880" rIns="182880" bIns="182880" rtlCol="0" anchor="ctr">
            <a:noAutofit/>
          </a:bodyPr>
          <a:lstStyle/>
          <a:p>
            <a:pPr marL="0" indent="0">
              <a:buNone/>
            </a:pPr>
            <a:r>
              <a:rPr lang="vi-VN" sz="4400" b="1">
                <a:solidFill>
                  <a:srgbClr val="203864"/>
                </a:solidFill>
              </a:rPr>
              <a:t>5</a:t>
            </a:r>
            <a:r>
              <a:rPr lang="vi-VN" sz="1800">
                <a:solidFill>
                  <a:srgbClr val="1B2230"/>
                </a:solidFill>
              </a:rPr>
              <a:t>  ô bị khoanh</a:t>
            </a:r>
            <a:endParaRPr lang="vi-VN"/>
          </a:p>
          <a:p>
            <a:pPr marL="0" indent="0">
              <a:spcBef>
                <a:spcPts val="400"/>
              </a:spcBef>
              <a:buNone/>
            </a:pPr>
            <a:r>
              <a:rPr lang="vi-VN" sz="1600">
                <a:solidFill>
                  <a:srgbClr val="585858"/>
                </a:solidFill>
              </a:rPr>
              <a:t>3 ô ST3 (đúng là ST03)</a:t>
            </a:r>
            <a:endParaRPr lang="vi-VN" sz="1600"/>
          </a:p>
          <a:p>
            <a:pPr marL="0" indent="0">
              <a:buNone/>
            </a:pPr>
            <a:r>
              <a:rPr lang="vi-VN" sz="1600">
                <a:solidFill>
                  <a:srgbClr val="585858"/>
                </a:solidFill>
              </a:rPr>
              <a:t>2 ô Quantity âm</a:t>
            </a:r>
            <a:endParaRPr lang="vi-VN" sz="1600"/>
          </a:p>
        </p:txBody>
      </p:sp>
      <p:sp>
        <p:nvSpPr>
          <p:cNvPr id="17" name="PRO TIP callout"/>
          <p:cNvSpPr/>
          <p:nvPr/>
        </p:nvSpPr>
        <p:spPr>
          <a:xfrm>
            <a:off x="7787640" y="4526280"/>
            <a:ext cx="3855720" cy="1783080"/>
          </a:xfrm>
          <a:prstGeom prst="roundRect">
            <a:avLst>
              <a:gd name="adj" fmla="val 1425"/>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18" name="PRO TIP chip"/>
          <p:cNvSpPr/>
          <p:nvPr/>
        </p:nvSpPr>
        <p:spPr>
          <a:xfrm>
            <a:off x="7897368" y="4636008"/>
            <a:ext cx="1005840" cy="320040"/>
          </a:xfrm>
          <a:prstGeom prst="roundRect">
            <a:avLst>
              <a:gd name="adj" fmla="val 25000"/>
            </a:avLst>
          </a:prstGeom>
          <a:solidFill>
            <a:srgbClr val="FFC000"/>
          </a:solidFill>
          <a:ln>
            <a:noFill/>
          </a:ln>
        </p:spPr>
        <p:txBody>
          <a:bodyPr wrap="square" lIns="0" tIns="0" rIns="0" bIns="0" rtlCol="0" anchor="ctr">
            <a:noAutofit/>
          </a:bodyPr>
          <a:lstStyle/>
          <a:p>
            <a:pPr marL="0" indent="0" algn="ctr">
              <a:buNone/>
            </a:pPr>
            <a:r>
              <a:rPr lang="vi-VN" sz="1200" b="1">
                <a:solidFill>
                  <a:srgbClr val="1B2230"/>
                </a:solidFill>
              </a:rPr>
              <a:t>PRO TIP</a:t>
            </a:r>
            <a:endParaRPr lang="vi-VN" sz="1200"/>
          </a:p>
        </p:txBody>
      </p:sp>
      <p:sp>
        <p:nvSpPr>
          <p:cNvPr id="19" name="PRO TIP text"/>
          <p:cNvSpPr txBox="1"/>
          <p:nvPr/>
        </p:nvSpPr>
        <p:spPr>
          <a:xfrm>
            <a:off x="8994648" y="4613148"/>
            <a:ext cx="2538984" cy="1609344"/>
          </a:xfrm>
          <a:prstGeom prst="rect">
            <a:avLst/>
          </a:prstGeom>
          <a:noFill/>
          <a:ln>
            <a:noFill/>
          </a:ln>
        </p:spPr>
        <p:txBody>
          <a:bodyPr wrap="square" lIns="0" tIns="0" rIns="0" bIns="0" rtlCol="0" anchor="t">
            <a:noAutofit/>
          </a:bodyPr>
          <a:lstStyle/>
          <a:p>
            <a:pPr marL="0" indent="0">
              <a:lnSpc>
                <a:spcPct val="100000"/>
              </a:lnSpc>
              <a:buNone/>
            </a:pPr>
            <a:r>
              <a:rPr lang="vi-VN" sz="1600">
                <a:solidFill>
                  <a:srgbClr val="1B2230"/>
                </a:solidFill>
              </a:rPr>
              <a:t>Validation chỉ chặn dữ liệu </a:t>
            </a:r>
            <a:r>
              <a:rPr lang="vi-VN" sz="1600" b="1">
                <a:solidFill>
                  <a:srgbClr val="1B2230"/>
                </a:solidFill>
              </a:rPr>
              <a:t>nhập mới</a:t>
            </a:r>
            <a:r>
              <a:rPr lang="vi-VN" sz="1600">
                <a:solidFill>
                  <a:srgbClr val="1B2230"/>
                </a:solidFill>
              </a:rPr>
              <a:t>.</a:t>
            </a:r>
            <a:endParaRPr lang="vi-VN" sz="1600"/>
          </a:p>
          <a:p>
            <a:pPr marL="0" indent="0">
              <a:lnSpc>
                <a:spcPct val="100000"/>
              </a:lnSpc>
              <a:buNone/>
            </a:pPr>
            <a:r>
              <a:rPr lang="vi-VN" sz="1600">
                <a:solidFill>
                  <a:srgbClr val="1B2230"/>
                </a:solidFill>
              </a:rPr>
              <a:t>Với dữ liệu </a:t>
            </a:r>
            <a:r>
              <a:rPr lang="vi-VN" sz="1600" b="1">
                <a:solidFill>
                  <a:srgbClr val="1B2230"/>
                </a:solidFill>
              </a:rPr>
              <a:t>có sẵn</a:t>
            </a:r>
            <a:r>
              <a:rPr lang="vi-VN" sz="1600">
                <a:solidFill>
                  <a:srgbClr val="1B2230"/>
                </a:solidFill>
              </a:rPr>
              <a:t>, dùng Circle Invalid Data.</a:t>
            </a:r>
            <a:endParaRPr lang="vi-VN" sz="1600"/>
          </a:p>
        </p:txBody>
      </p:sp>
    </p:spTree>
    <p:extLst>
      <p:ext uri="{BB962C8B-B14F-4D97-AF65-F5344CB8AC3E}">
        <p14:creationId xmlns:p14="http://schemas.microsoft.com/office/powerpoint/2010/main" val="36221622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7 · THỰC HÀNH</a:t>
            </a:r>
            <a:endParaRPr lang="vi-VN" sz="1400"/>
          </a:p>
        </p:txBody>
      </p:sp>
      <p:sp>
        <p:nvSpPr>
          <p:cNvPr id="12" name="title 12"/>
          <p:cNvSpPr>
            <a:spLocks noGrp="1"/>
          </p:cNvSpPr>
          <p:nvPr>
            <p:ph type="title"/>
          </p:nvPr>
        </p:nvSpPr>
        <p:spPr/>
        <p:txBody>
          <a:bodyPr>
            <a:normAutofit/>
          </a:bodyPr>
          <a:lstStyle/>
          <a:p>
            <a:r>
              <a:rPr lang="vi-VN"/>
              <a:t>Thực hành 1: Làm sạch cấu trúc file case</a:t>
            </a:r>
          </a:p>
        </p:txBody>
      </p:sp>
      <p:sp>
        <p:nvSpPr>
          <p:cNvPr id="13" name="Time chip"/>
          <p:cNvSpPr/>
          <p:nvPr/>
        </p:nvSpPr>
        <p:spPr>
          <a:xfrm>
            <a:off x="1524000" y="1554480"/>
            <a:ext cx="1397000" cy="365760"/>
          </a:xfrm>
          <a:prstGeom prst="roundRect">
            <a:avLst>
              <a:gd name="adj" fmla="val 20000"/>
            </a:avLst>
          </a:prstGeom>
          <a:noFill/>
          <a:ln w="12700">
            <a:solidFill>
              <a:srgbClr val="203864"/>
            </a:solidFill>
          </a:ln>
        </p:spPr>
        <p:txBody>
          <a:bodyPr wrap="square" lIns="0" tIns="0" rIns="0" bIns="0" rtlCol="0" anchor="ctr">
            <a:noAutofit/>
          </a:bodyPr>
          <a:lstStyle/>
          <a:p>
            <a:pPr marL="0" indent="0" algn="ctr">
              <a:buNone/>
            </a:pPr>
            <a:r>
              <a:rPr lang="vi-VN" sz="1400" b="1">
                <a:solidFill>
                  <a:srgbClr val="203864"/>
                </a:solidFill>
              </a:rPr>
              <a:t>20 phút</a:t>
            </a:r>
            <a:endParaRPr lang="vi-VN" sz="1400"/>
          </a:p>
        </p:txBody>
      </p:sp>
      <p:sp>
        <p:nvSpPr>
          <p:cNvPr id="14" name="TextBox"/>
          <p:cNvSpPr txBox="1"/>
          <p:nvPr/>
        </p:nvSpPr>
        <p:spPr>
          <a:xfrm>
            <a:off x="1524000" y="2138680"/>
            <a:ext cx="6126480" cy="3987800"/>
          </a:xfrm>
          <a:prstGeom prst="rect">
            <a:avLst/>
          </a:prstGeom>
          <a:noFill/>
          <a:ln>
            <a:noFill/>
          </a:ln>
        </p:spPr>
        <p:txBody>
          <a:bodyPr wrap="square" lIns="0" tIns="0" rIns="0" bIns="0" rtlCol="0" anchor="t">
            <a:noAutofit/>
          </a:bodyPr>
          <a:lstStyle/>
          <a:p>
            <a:pPr marL="457200" indent="-457200">
              <a:lnSpc>
                <a:spcPct val="100000"/>
              </a:lnSpc>
              <a:spcAft>
                <a:spcPts val="900"/>
              </a:spcAft>
              <a:buFont typeface="+mj-lt"/>
              <a:buAutoNum type="arabicPeriod"/>
            </a:pPr>
            <a:r>
              <a:rPr lang="vi-VN" sz="1800">
                <a:solidFill>
                  <a:srgbClr val="1B2230"/>
                </a:solidFill>
              </a:rPr>
              <a:t>Xóa dòng tiêu đề báo cáo và dòng nhóm; tiêu đề chỉ còn 1 dòng; cột A đặt tên </a:t>
            </a:r>
            <a:r>
              <a:rPr lang="vi-VN" sz="1800" b="1">
                <a:solidFill>
                  <a:srgbClr val="203864"/>
                </a:solidFill>
              </a:rPr>
              <a:t>Region</a:t>
            </a:r>
            <a:r>
              <a:rPr lang="vi-VN" sz="1800">
                <a:solidFill>
                  <a:srgbClr val="1B2230"/>
                </a:solidFill>
              </a:rPr>
              <a:t>.</a:t>
            </a:r>
            <a:endParaRPr lang="vi-VN" sz="1800"/>
          </a:p>
          <a:p>
            <a:pPr marL="457200" indent="-457200">
              <a:lnSpc>
                <a:spcPct val="100000"/>
              </a:lnSpc>
              <a:spcAft>
                <a:spcPts val="900"/>
              </a:spcAft>
              <a:buFont typeface="+mj-lt"/>
              <a:buAutoNum type="arabicPeriod"/>
            </a:pPr>
            <a:r>
              <a:rPr lang="vi-VN" sz="1800">
                <a:solidFill>
                  <a:srgbClr val="1B2230"/>
                </a:solidFill>
              </a:rPr>
              <a:t>Bỏ gộp ô cột Region và điền đầy giá trị (Bắc / Trung / Nam).</a:t>
            </a:r>
            <a:endParaRPr lang="vi-VN" sz="1800"/>
          </a:p>
          <a:p>
            <a:pPr marL="457200" indent="-457200">
              <a:lnSpc>
                <a:spcPct val="100000"/>
              </a:lnSpc>
              <a:spcAft>
                <a:spcPts val="900"/>
              </a:spcAft>
              <a:buFont typeface="+mj-lt"/>
              <a:buAutoNum type="arabicPeriod"/>
            </a:pPr>
            <a:r>
              <a:rPr lang="vi-VN" sz="1800">
                <a:solidFill>
                  <a:srgbClr val="1B2230"/>
                </a:solidFill>
              </a:rPr>
              <a:t>Xóa 4 dòng "Tổng…" và dòng trống.</a:t>
            </a:r>
            <a:endParaRPr lang="vi-VN" sz="1800"/>
          </a:p>
          <a:p>
            <a:pPr marL="457200" indent="-457200">
              <a:lnSpc>
                <a:spcPct val="100000"/>
              </a:lnSpc>
              <a:spcAft>
                <a:spcPts val="900"/>
              </a:spcAft>
              <a:buFont typeface="+mj-lt"/>
              <a:buAutoNum type="arabicPeriod"/>
            </a:pPr>
            <a:r>
              <a:rPr lang="vi-VN" sz="1800">
                <a:solidFill>
                  <a:srgbClr val="1B2230"/>
                </a:solidFill>
              </a:rPr>
              <a:t>Chuyển Quantity và Order_Date đang ở dạng text thành số và ngày.</a:t>
            </a:r>
            <a:endParaRPr lang="vi-VN" sz="1800"/>
          </a:p>
          <a:p>
            <a:pPr marL="457200" indent="-457200">
              <a:lnSpc>
                <a:spcPct val="100000"/>
              </a:lnSpc>
              <a:spcAft>
                <a:spcPts val="900"/>
              </a:spcAft>
              <a:buFont typeface="+mj-lt"/>
              <a:buAutoNum type="arabicPeriod"/>
            </a:pPr>
            <a:r>
              <a:rPr lang="vi-VN" sz="1800">
                <a:solidFill>
                  <a:srgbClr val="1B2230"/>
                </a:solidFill>
              </a:rPr>
              <a:t>Nhấn </a:t>
            </a:r>
            <a:r>
              <a:rPr lang="vi-VN" sz="1800" b="1">
                <a:solidFill>
                  <a:srgbClr val="203864"/>
                </a:solidFill>
              </a:rPr>
              <a:t>Ctrl + T</a:t>
            </a:r>
            <a:r>
              <a:rPr lang="vi-VN" sz="1800">
                <a:solidFill>
                  <a:srgbClr val="1B2230"/>
                </a:solidFill>
              </a:rPr>
              <a:t>, đặt tên </a:t>
            </a:r>
            <a:r>
              <a:rPr lang="vi-VN" sz="1800" b="1">
                <a:solidFill>
                  <a:srgbClr val="203864"/>
                </a:solidFill>
              </a:rPr>
              <a:t>tblSales</a:t>
            </a:r>
            <a:r>
              <a:rPr lang="vi-VN" sz="1800">
                <a:solidFill>
                  <a:srgbClr val="1B2230"/>
                </a:solidFill>
              </a:rPr>
              <a:t>.</a:t>
            </a:r>
            <a:endParaRPr lang="vi-VN" sz="1800"/>
          </a:p>
        </p:txBody>
      </p:sp>
      <p:sp>
        <p:nvSpPr>
          <p:cNvPr id="15" name="Check box"/>
          <p:cNvSpPr/>
          <p:nvPr/>
        </p:nvSpPr>
        <p:spPr>
          <a:xfrm>
            <a:off x="7924800" y="1554480"/>
            <a:ext cx="3718560" cy="4572000"/>
          </a:xfrm>
          <a:prstGeom prst="roundRect">
            <a:avLst>
              <a:gd name="adj" fmla="val 556"/>
            </a:avLst>
          </a:prstGeom>
          <a:solidFill>
            <a:srgbClr val="F3F5F9"/>
          </a:solidFill>
          <a:ln>
            <a:noFill/>
          </a:ln>
        </p:spPr>
        <p:txBody>
          <a:bodyPr wrap="square" lIns="182880" tIns="182880" rIns="182880" bIns="182880" rtlCol="0" anchor="t">
            <a:noAutofit/>
          </a:bodyPr>
          <a:lstStyle/>
          <a:p>
            <a:pPr marL="0" indent="0">
              <a:spcAft>
                <a:spcPts val="800"/>
              </a:spcAft>
              <a:buNone/>
            </a:pPr>
            <a:r>
              <a:rPr lang="vi-VN" sz="1600" b="1">
                <a:solidFill>
                  <a:srgbClr val="203864"/>
                </a:solidFill>
              </a:rPr>
              <a:t>Kiểm tra</a:t>
            </a:r>
            <a:endParaRPr lang="vi-VN" sz="1600"/>
          </a:p>
          <a:p>
            <a:pPr marL="0" indent="0">
              <a:lnSpc>
                <a:spcPct val="100000"/>
              </a:lnSpc>
              <a:spcAft>
                <a:spcPts val="700"/>
              </a:spcAft>
              <a:buNone/>
            </a:pPr>
            <a:r>
              <a:rPr lang="vi-VN" sz="1600" b="1">
                <a:solidFill>
                  <a:srgbClr val="203864"/>
                </a:solidFill>
              </a:rPr>
              <a:t>Ctrl + ↓</a:t>
            </a:r>
            <a:r>
              <a:rPr lang="vi-VN" sz="1600">
                <a:solidFill>
                  <a:srgbClr val="1B2230"/>
                </a:solidFill>
              </a:rPr>
              <a:t> chạy thẳng tới dòng cuối.</a:t>
            </a:r>
            <a:endParaRPr lang="vi-VN" sz="1600"/>
          </a:p>
          <a:p>
            <a:pPr marL="0" indent="0">
              <a:lnSpc>
                <a:spcPct val="100000"/>
              </a:lnSpc>
              <a:spcAft>
                <a:spcPts val="700"/>
              </a:spcAft>
              <a:buNone/>
            </a:pPr>
            <a:r>
              <a:rPr lang="vi-VN" sz="1600">
                <a:solidFill>
                  <a:srgbClr val="1B2230"/>
                </a:solidFill>
              </a:rPr>
              <a:t>Chọn ô Order_ID đầu tiên → Ctrl + Shift + ↓ (không gồm tiêu đề). Status Bar: Count =</a:t>
            </a:r>
            <a:endParaRPr lang="vi-VN" sz="1600"/>
          </a:p>
        </p:txBody>
      </p:sp>
      <p:sp>
        <p:nvSpPr>
          <p:cNvPr id="16" name="TextBox"/>
          <p:cNvSpPr txBox="1"/>
          <p:nvPr/>
        </p:nvSpPr>
        <p:spPr>
          <a:xfrm>
            <a:off x="8089018" y="3014204"/>
            <a:ext cx="3352800" cy="822960"/>
          </a:xfrm>
          <a:prstGeom prst="rect">
            <a:avLst/>
          </a:prstGeom>
          <a:noFill/>
          <a:ln>
            <a:noFill/>
          </a:ln>
        </p:spPr>
        <p:txBody>
          <a:bodyPr wrap="square" lIns="0" tIns="0" rIns="0" bIns="0" rtlCol="0" anchor="t">
            <a:noAutofit/>
          </a:bodyPr>
          <a:lstStyle/>
          <a:p>
            <a:pPr marL="0" indent="0">
              <a:buNone/>
            </a:pPr>
            <a:r>
              <a:rPr lang="vi-VN" sz="4400" b="1">
                <a:solidFill>
                  <a:srgbClr val="203864"/>
                </a:solidFill>
              </a:rPr>
              <a:t>6.187</a:t>
            </a:r>
            <a:endParaRPr lang="vi-VN" sz="4400"/>
          </a:p>
        </p:txBody>
      </p:sp>
    </p:spTree>
    <p:extLst>
      <p:ext uri="{BB962C8B-B14F-4D97-AF65-F5344CB8AC3E}">
        <p14:creationId xmlns:p14="http://schemas.microsoft.com/office/powerpoint/2010/main" val="1573090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7 · THỰC HÀNH</a:t>
            </a:r>
            <a:endParaRPr lang="vi-VN" sz="1400"/>
          </a:p>
        </p:txBody>
      </p:sp>
      <p:sp>
        <p:nvSpPr>
          <p:cNvPr id="12" name="title 12"/>
          <p:cNvSpPr>
            <a:spLocks noGrp="1"/>
          </p:cNvSpPr>
          <p:nvPr>
            <p:ph type="title"/>
          </p:nvPr>
        </p:nvSpPr>
        <p:spPr/>
        <p:txBody>
          <a:bodyPr>
            <a:normAutofit/>
          </a:bodyPr>
          <a:lstStyle/>
          <a:p>
            <a:r>
              <a:rPr lang="vi-VN"/>
              <a:t>Thực hành 2: Công thức &amp; kiểm soát</a:t>
            </a:r>
          </a:p>
        </p:txBody>
      </p:sp>
      <p:sp>
        <p:nvSpPr>
          <p:cNvPr id="13" name="Time chip"/>
          <p:cNvSpPr/>
          <p:nvPr/>
        </p:nvSpPr>
        <p:spPr>
          <a:xfrm>
            <a:off x="1524000" y="1554480"/>
            <a:ext cx="1397000" cy="365760"/>
          </a:xfrm>
          <a:prstGeom prst="roundRect">
            <a:avLst>
              <a:gd name="adj" fmla="val 20000"/>
            </a:avLst>
          </a:prstGeom>
          <a:noFill/>
          <a:ln w="12700">
            <a:solidFill>
              <a:srgbClr val="203864"/>
            </a:solidFill>
          </a:ln>
        </p:spPr>
        <p:txBody>
          <a:bodyPr wrap="square" lIns="0" tIns="0" rIns="0" bIns="0" rtlCol="0" anchor="ctr">
            <a:noAutofit/>
          </a:bodyPr>
          <a:lstStyle/>
          <a:p>
            <a:pPr marL="0" indent="0" algn="ctr">
              <a:buNone/>
            </a:pPr>
            <a:r>
              <a:rPr lang="vi-VN" sz="1400" b="1">
                <a:solidFill>
                  <a:srgbClr val="203864"/>
                </a:solidFill>
              </a:rPr>
              <a:t>10 phút</a:t>
            </a:r>
            <a:endParaRPr lang="vi-VN" sz="1400"/>
          </a:p>
        </p:txBody>
      </p:sp>
      <p:sp>
        <p:nvSpPr>
          <p:cNvPr id="14" name="TextBox"/>
          <p:cNvSpPr txBox="1"/>
          <p:nvPr/>
        </p:nvSpPr>
        <p:spPr>
          <a:xfrm>
            <a:off x="1524000" y="2138680"/>
            <a:ext cx="6126480" cy="3987800"/>
          </a:xfrm>
          <a:prstGeom prst="rect">
            <a:avLst/>
          </a:prstGeom>
          <a:noFill/>
          <a:ln>
            <a:noFill/>
          </a:ln>
        </p:spPr>
        <p:txBody>
          <a:bodyPr wrap="square" lIns="0" tIns="0" rIns="0" bIns="0" rtlCol="0" anchor="t">
            <a:noAutofit/>
          </a:bodyPr>
          <a:lstStyle/>
          <a:p>
            <a:pPr marL="457200" indent="-457200">
              <a:lnSpc>
                <a:spcPct val="100000"/>
              </a:lnSpc>
              <a:spcAft>
                <a:spcPts val="900"/>
              </a:spcAft>
              <a:buFont typeface="+mj-lt"/>
              <a:buAutoNum type="arabicPeriod"/>
            </a:pPr>
            <a:r>
              <a:rPr lang="vi-VN" sz="1800">
                <a:solidFill>
                  <a:srgbClr val="1B2230"/>
                </a:solidFill>
              </a:rPr>
              <a:t>Thêm cột </a:t>
            </a:r>
            <a:r>
              <a:rPr lang="vi-VN" sz="1800" b="1">
                <a:solidFill>
                  <a:srgbClr val="203864"/>
                </a:solidFill>
              </a:rPr>
              <a:t>Revenue</a:t>
            </a:r>
            <a:r>
              <a:rPr lang="vi-VN" sz="1800">
                <a:solidFill>
                  <a:srgbClr val="1B2230"/>
                </a:solidFill>
              </a:rPr>
              <a:t> = [@Quantity]*[@Unit_Price].</a:t>
            </a:r>
            <a:endParaRPr lang="vi-VN" sz="1800"/>
          </a:p>
          <a:p>
            <a:pPr marL="457200" indent="-457200">
              <a:lnSpc>
                <a:spcPct val="100000"/>
              </a:lnSpc>
              <a:spcAft>
                <a:spcPts val="900"/>
              </a:spcAft>
              <a:buFont typeface="+mj-lt"/>
              <a:buAutoNum type="arabicPeriod"/>
            </a:pPr>
            <a:r>
              <a:rPr lang="vi-VN" sz="1800">
                <a:solidFill>
                  <a:srgbClr val="1B2230"/>
                </a:solidFill>
              </a:rPr>
              <a:t>Tạo ô tổng doanh thu, rồi thêm cột </a:t>
            </a:r>
            <a:r>
              <a:rPr lang="vi-VN" sz="1800" b="1">
                <a:solidFill>
                  <a:srgbClr val="203864"/>
                </a:solidFill>
              </a:rPr>
              <a:t>Pct_Share</a:t>
            </a:r>
            <a:r>
              <a:rPr lang="vi-VN" sz="1800">
                <a:solidFill>
                  <a:srgbClr val="1B2230"/>
                </a:solidFill>
              </a:rPr>
              <a:t> (% đóng góp) = Revenue ÷ ô tổng (dùng </a:t>
            </a:r>
            <a:r>
              <a:rPr lang="vi-VN" sz="1800" b="1">
                <a:solidFill>
                  <a:srgbClr val="203864"/>
                </a:solidFill>
              </a:rPr>
              <a:t>$</a:t>
            </a:r>
            <a:r>
              <a:rPr lang="vi-VN" sz="1800">
                <a:solidFill>
                  <a:srgbClr val="1B2230"/>
                </a:solidFill>
              </a:rPr>
              <a:t>).</a:t>
            </a:r>
            <a:endParaRPr lang="vi-VN" sz="1800"/>
          </a:p>
          <a:p>
            <a:pPr marL="457200" indent="-457200">
              <a:lnSpc>
                <a:spcPct val="100000"/>
              </a:lnSpc>
              <a:spcAft>
                <a:spcPts val="900"/>
              </a:spcAft>
              <a:buFont typeface="+mj-lt"/>
              <a:buAutoNum type="arabicPeriod"/>
            </a:pPr>
            <a:r>
              <a:rPr lang="vi-VN" sz="1800">
                <a:solidFill>
                  <a:srgbClr val="1B2230"/>
                </a:solidFill>
              </a:rPr>
              <a:t>Đặt </a:t>
            </a:r>
            <a:r>
              <a:rPr lang="vi-VN" sz="1800" b="1">
                <a:solidFill>
                  <a:srgbClr val="203864"/>
                </a:solidFill>
              </a:rPr>
              <a:t>Data Validation</a:t>
            </a:r>
            <a:r>
              <a:rPr lang="vi-VN" sz="1800">
                <a:solidFill>
                  <a:srgbClr val="1B2230"/>
                </a:solidFill>
              </a:rPr>
              <a:t> cho Store_Code (List từ sheet Store) và Quantity (&gt; 0).</a:t>
            </a:r>
            <a:endParaRPr lang="vi-VN" sz="1800"/>
          </a:p>
          <a:p>
            <a:pPr marL="457200" indent="-457200">
              <a:lnSpc>
                <a:spcPct val="100000"/>
              </a:lnSpc>
              <a:spcAft>
                <a:spcPts val="900"/>
              </a:spcAft>
              <a:buFont typeface="+mj-lt"/>
              <a:buAutoNum type="arabicPeriod"/>
            </a:pPr>
            <a:r>
              <a:rPr lang="vi-VN" sz="1800">
                <a:solidFill>
                  <a:srgbClr val="1B2230"/>
                </a:solidFill>
              </a:rPr>
              <a:t>Chạy </a:t>
            </a:r>
            <a:r>
              <a:rPr lang="vi-VN" sz="1800" b="1">
                <a:solidFill>
                  <a:srgbClr val="203864"/>
                </a:solidFill>
              </a:rPr>
              <a:t>Circle Invalid Data</a:t>
            </a:r>
            <a:r>
              <a:rPr lang="vi-VN" sz="1800">
                <a:solidFill>
                  <a:srgbClr val="1B2230"/>
                </a:solidFill>
              </a:rPr>
              <a:t>, sửa 5 ô bị khoanh.</a:t>
            </a:r>
            <a:endParaRPr lang="vi-VN" sz="1800"/>
          </a:p>
          <a:p>
            <a:pPr marL="457200" indent="-457200">
              <a:lnSpc>
                <a:spcPct val="100000"/>
              </a:lnSpc>
              <a:spcAft>
                <a:spcPts val="900"/>
              </a:spcAft>
              <a:buFont typeface="+mj-lt"/>
              <a:buAutoNum type="arabicPeriod"/>
            </a:pPr>
            <a:r>
              <a:rPr lang="vi-VN" sz="1800">
                <a:solidFill>
                  <a:srgbClr val="1B2230"/>
                </a:solidFill>
              </a:rPr>
              <a:t>Đặt ô Tổng doanh thu vào </a:t>
            </a:r>
            <a:r>
              <a:rPr lang="vi-VN" sz="1800" b="1">
                <a:solidFill>
                  <a:srgbClr val="203864"/>
                </a:solidFill>
              </a:rPr>
              <a:t>Watch Window</a:t>
            </a:r>
            <a:r>
              <a:rPr lang="vi-VN" sz="1800">
                <a:solidFill>
                  <a:srgbClr val="1B2230"/>
                </a:solidFill>
              </a:rPr>
              <a:t>.</a:t>
            </a:r>
            <a:endParaRPr lang="vi-VN" sz="1800"/>
          </a:p>
        </p:txBody>
      </p:sp>
      <p:sp>
        <p:nvSpPr>
          <p:cNvPr id="15" name="Check box"/>
          <p:cNvSpPr/>
          <p:nvPr/>
        </p:nvSpPr>
        <p:spPr>
          <a:xfrm>
            <a:off x="7924800" y="1554480"/>
            <a:ext cx="3718560" cy="4572000"/>
          </a:xfrm>
          <a:prstGeom prst="roundRect">
            <a:avLst>
              <a:gd name="adj" fmla="val 556"/>
            </a:avLst>
          </a:prstGeom>
          <a:solidFill>
            <a:srgbClr val="F3F5F9"/>
          </a:solidFill>
          <a:ln>
            <a:noFill/>
          </a:ln>
        </p:spPr>
        <p:txBody>
          <a:bodyPr wrap="square" lIns="182880" tIns="182880" rIns="182880" bIns="182880" rtlCol="0" anchor="t">
            <a:noAutofit/>
          </a:bodyPr>
          <a:lstStyle/>
          <a:p>
            <a:pPr marL="0" indent="0">
              <a:spcAft>
                <a:spcPts val="800"/>
              </a:spcAft>
              <a:buNone/>
            </a:pPr>
            <a:r>
              <a:rPr lang="vi-VN" sz="1600" b="1">
                <a:solidFill>
                  <a:srgbClr val="203864"/>
                </a:solidFill>
              </a:rPr>
              <a:t>Kiểm tra</a:t>
            </a:r>
            <a:endParaRPr lang="vi-VN" sz="1600"/>
          </a:p>
          <a:p>
            <a:pPr marL="0" indent="0">
              <a:lnSpc>
                <a:spcPct val="100000"/>
              </a:lnSpc>
              <a:spcAft>
                <a:spcPts val="700"/>
              </a:spcAft>
              <a:buNone/>
            </a:pPr>
            <a:r>
              <a:rPr lang="vi-VN" sz="1600">
                <a:solidFill>
                  <a:srgbClr val="1B2230"/>
                </a:solidFill>
              </a:rPr>
              <a:t>Tổng doanh thu = </a:t>
            </a:r>
            <a:r>
              <a:rPr lang="vi-VN" sz="1600" b="1">
                <a:solidFill>
                  <a:srgbClr val="203864"/>
                </a:solidFill>
              </a:rPr>
              <a:t>941.454.000</a:t>
            </a:r>
            <a:endParaRPr lang="vi-VN" sz="1600"/>
          </a:p>
          <a:p>
            <a:pPr marL="0" indent="0">
              <a:lnSpc>
                <a:spcPct val="100000"/>
              </a:lnSpc>
              <a:spcAft>
                <a:spcPts val="700"/>
              </a:spcAft>
              <a:buNone/>
            </a:pPr>
            <a:r>
              <a:rPr lang="vi-VN" sz="1600">
                <a:solidFill>
                  <a:srgbClr val="1B2230"/>
                </a:solidFill>
              </a:rPr>
              <a:t>Tổng Quantity = </a:t>
            </a:r>
            <a:r>
              <a:rPr lang="vi-VN" sz="1600" b="1">
                <a:solidFill>
                  <a:srgbClr val="203864"/>
                </a:solidFill>
              </a:rPr>
              <a:t>10.990</a:t>
            </a:r>
            <a:endParaRPr lang="vi-VN" sz="1600"/>
          </a:p>
          <a:p>
            <a:pPr marL="0" indent="0">
              <a:lnSpc>
                <a:spcPct val="100000"/>
              </a:lnSpc>
              <a:spcAft>
                <a:spcPts val="700"/>
              </a:spcAft>
              <a:buNone/>
            </a:pPr>
            <a:r>
              <a:rPr lang="vi-VN" sz="1600">
                <a:solidFill>
                  <a:srgbClr val="1B2230"/>
                </a:solidFill>
              </a:rPr>
              <a:t>Tổng cột Pct_Share = </a:t>
            </a:r>
            <a:r>
              <a:rPr lang="vi-VN" sz="1600" b="1">
                <a:solidFill>
                  <a:srgbClr val="203864"/>
                </a:solidFill>
              </a:rPr>
              <a:t>100%</a:t>
            </a:r>
            <a:endParaRPr lang="vi-VN" sz="1600"/>
          </a:p>
          <a:p>
            <a:pPr marL="0" indent="0">
              <a:lnSpc>
                <a:spcPct val="100000"/>
              </a:lnSpc>
              <a:spcAft>
                <a:spcPts val="700"/>
              </a:spcAft>
              <a:buNone/>
            </a:pPr>
            <a:r>
              <a:rPr lang="vi-VN" sz="1600">
                <a:solidFill>
                  <a:srgbClr val="1B2230"/>
                </a:solidFill>
              </a:rPr>
              <a:t>Circle Invalid Data: </a:t>
            </a:r>
            <a:r>
              <a:rPr lang="vi-VN" sz="1600" b="1">
                <a:solidFill>
                  <a:srgbClr val="203864"/>
                </a:solidFill>
              </a:rPr>
              <a:t>không còn ô nào</a:t>
            </a:r>
            <a:endParaRPr lang="vi-VN" sz="1600"/>
          </a:p>
        </p:txBody>
      </p:sp>
    </p:spTree>
    <p:extLst>
      <p:ext uri="{BB962C8B-B14F-4D97-AF65-F5344CB8AC3E}">
        <p14:creationId xmlns:p14="http://schemas.microsoft.com/office/powerpoint/2010/main" val="318524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7 · THỰC HÀNH</a:t>
            </a:r>
            <a:endParaRPr lang="vi-VN" sz="1400"/>
          </a:p>
        </p:txBody>
      </p:sp>
      <p:sp>
        <p:nvSpPr>
          <p:cNvPr id="12" name="title 12"/>
          <p:cNvSpPr>
            <a:spLocks noGrp="1"/>
          </p:cNvSpPr>
          <p:nvPr>
            <p:ph type="title"/>
          </p:nvPr>
        </p:nvSpPr>
        <p:spPr/>
        <p:txBody>
          <a:bodyPr>
            <a:normAutofit fontScale="90000"/>
          </a:bodyPr>
          <a:lstStyle/>
          <a:p>
            <a:r>
              <a:rPr lang="vi-VN"/>
              <a:t>Chữa bài nhanh: checklist brick output B1</a:t>
            </a:r>
          </a:p>
        </p:txBody>
      </p:sp>
      <p:sp>
        <p:nvSpPr>
          <p:cNvPr id="13" name="Checkbox 1"/>
          <p:cNvSpPr/>
          <p:nvPr/>
        </p:nvSpPr>
        <p:spPr>
          <a:xfrm>
            <a:off x="1524000" y="1783080"/>
            <a:ext cx="320040" cy="320040"/>
          </a:xfrm>
          <a:prstGeom prst="rect">
            <a:avLst/>
          </a:prstGeom>
          <a:solidFill>
            <a:srgbClr val="FFFFFF"/>
          </a:solidFill>
          <a:ln w="19050">
            <a:solidFill>
              <a:srgbClr val="203864"/>
            </a:solidFill>
          </a:ln>
        </p:spPr>
        <p:txBody>
          <a:bodyPr wrap="square" lIns="91440" tIns="45720" rIns="91440" bIns="45720" rtlCol="0" anchor="t">
            <a:noAutofit/>
          </a:bodyPr>
          <a:lstStyle/>
          <a:p>
            <a:pPr marL="0" indent="0">
              <a:buNone/>
            </a:pPr>
            <a:endParaRPr lang="vi-VN"/>
          </a:p>
        </p:txBody>
      </p:sp>
      <p:sp>
        <p:nvSpPr>
          <p:cNvPr id="14" name="TextBox"/>
          <p:cNvSpPr txBox="1"/>
          <p:nvPr/>
        </p:nvSpPr>
        <p:spPr>
          <a:xfrm>
            <a:off x="2072640" y="1554480"/>
            <a:ext cx="9570720" cy="777240"/>
          </a:xfrm>
          <a:prstGeom prst="rect">
            <a:avLst/>
          </a:prstGeom>
          <a:noFill/>
          <a:ln>
            <a:noFill/>
          </a:ln>
        </p:spPr>
        <p:txBody>
          <a:bodyPr wrap="square" lIns="0" tIns="0" rIns="0" bIns="0" rtlCol="0" anchor="ctr">
            <a:noAutofit/>
          </a:bodyPr>
          <a:lstStyle/>
          <a:p>
            <a:pPr marL="0" indent="0">
              <a:buNone/>
            </a:pPr>
            <a:r>
              <a:rPr lang="vi-VN" sz="2000">
                <a:solidFill>
                  <a:srgbClr val="1B2230"/>
                </a:solidFill>
              </a:rPr>
              <a:t>Table </a:t>
            </a:r>
            <a:r>
              <a:rPr lang="vi-VN" sz="2000" b="1">
                <a:solidFill>
                  <a:srgbClr val="203864"/>
                </a:solidFill>
              </a:rPr>
              <a:t>tblSales</a:t>
            </a:r>
            <a:r>
              <a:rPr lang="vi-VN" sz="2000">
                <a:solidFill>
                  <a:srgbClr val="1B2230"/>
                </a:solidFill>
              </a:rPr>
              <a:t>, 6.187 dòng</a:t>
            </a:r>
            <a:endParaRPr lang="vi-VN" sz="2000"/>
          </a:p>
        </p:txBody>
      </p:sp>
      <p:cxnSp>
        <p:nvCxnSpPr>
          <p:cNvPr id="15" name="Line 15"/>
          <p:cNvCxnSpPr/>
          <p:nvPr/>
        </p:nvCxnSpPr>
        <p:spPr>
          <a:xfrm>
            <a:off x="1524000" y="2331720"/>
            <a:ext cx="10119360" cy="0"/>
          </a:xfrm>
          <a:prstGeom prst="line">
            <a:avLst/>
          </a:prstGeom>
          <a:ln w="12700">
            <a:solidFill>
              <a:srgbClr val="D9DEE8"/>
            </a:solidFill>
          </a:ln>
        </p:spPr>
      </p:cxnSp>
      <p:sp>
        <p:nvSpPr>
          <p:cNvPr id="16" name="Checkbox 2"/>
          <p:cNvSpPr/>
          <p:nvPr/>
        </p:nvSpPr>
        <p:spPr>
          <a:xfrm>
            <a:off x="1524000" y="2560320"/>
            <a:ext cx="320040" cy="320040"/>
          </a:xfrm>
          <a:prstGeom prst="rect">
            <a:avLst/>
          </a:prstGeom>
          <a:solidFill>
            <a:srgbClr val="FFFFFF"/>
          </a:solidFill>
          <a:ln w="19050">
            <a:solidFill>
              <a:srgbClr val="203864"/>
            </a:solidFill>
          </a:ln>
        </p:spPr>
        <p:txBody>
          <a:bodyPr wrap="square" lIns="91440" tIns="45720" rIns="91440" bIns="45720" rtlCol="0" anchor="t">
            <a:noAutofit/>
          </a:bodyPr>
          <a:lstStyle/>
          <a:p>
            <a:pPr marL="0" indent="0">
              <a:buNone/>
            </a:pPr>
            <a:endParaRPr lang="vi-VN"/>
          </a:p>
        </p:txBody>
      </p:sp>
      <p:sp>
        <p:nvSpPr>
          <p:cNvPr id="17" name="TextBox"/>
          <p:cNvSpPr txBox="1"/>
          <p:nvPr/>
        </p:nvSpPr>
        <p:spPr>
          <a:xfrm>
            <a:off x="2072640" y="2331720"/>
            <a:ext cx="9570720" cy="777240"/>
          </a:xfrm>
          <a:prstGeom prst="rect">
            <a:avLst/>
          </a:prstGeom>
          <a:noFill/>
          <a:ln>
            <a:noFill/>
          </a:ln>
        </p:spPr>
        <p:txBody>
          <a:bodyPr wrap="square" lIns="0" tIns="0" rIns="0" bIns="0" rtlCol="0" anchor="ctr">
            <a:noAutofit/>
          </a:bodyPr>
          <a:lstStyle/>
          <a:p>
            <a:pPr marL="0" indent="0">
              <a:buNone/>
            </a:pPr>
            <a:r>
              <a:rPr lang="vi-VN" sz="2000">
                <a:solidFill>
                  <a:srgbClr val="1B2230"/>
                </a:solidFill>
              </a:rPr>
              <a:t>Không ô gộp, không dòng tổng, không dòng trống</a:t>
            </a:r>
            <a:endParaRPr lang="vi-VN" sz="2000"/>
          </a:p>
        </p:txBody>
      </p:sp>
      <p:cxnSp>
        <p:nvCxnSpPr>
          <p:cNvPr id="18" name="Line 18"/>
          <p:cNvCxnSpPr/>
          <p:nvPr/>
        </p:nvCxnSpPr>
        <p:spPr>
          <a:xfrm>
            <a:off x="1524000" y="3108960"/>
            <a:ext cx="10119360" cy="0"/>
          </a:xfrm>
          <a:prstGeom prst="line">
            <a:avLst/>
          </a:prstGeom>
          <a:ln w="12700">
            <a:solidFill>
              <a:srgbClr val="D9DEE8"/>
            </a:solidFill>
          </a:ln>
        </p:spPr>
      </p:cxnSp>
      <p:sp>
        <p:nvSpPr>
          <p:cNvPr id="19" name="Checkbox 3"/>
          <p:cNvSpPr/>
          <p:nvPr/>
        </p:nvSpPr>
        <p:spPr>
          <a:xfrm>
            <a:off x="1524000" y="3337560"/>
            <a:ext cx="320040" cy="320040"/>
          </a:xfrm>
          <a:prstGeom prst="rect">
            <a:avLst/>
          </a:prstGeom>
          <a:solidFill>
            <a:srgbClr val="FFFFFF"/>
          </a:solidFill>
          <a:ln w="19050">
            <a:solidFill>
              <a:srgbClr val="203864"/>
            </a:solidFill>
          </a:ln>
        </p:spPr>
        <p:txBody>
          <a:bodyPr wrap="square" lIns="91440" tIns="45720" rIns="91440" bIns="45720" rtlCol="0" anchor="t">
            <a:noAutofit/>
          </a:bodyPr>
          <a:lstStyle/>
          <a:p>
            <a:pPr marL="0" indent="0">
              <a:buNone/>
            </a:pPr>
            <a:endParaRPr lang="vi-VN"/>
          </a:p>
        </p:txBody>
      </p:sp>
      <p:sp>
        <p:nvSpPr>
          <p:cNvPr id="20" name="TextBox"/>
          <p:cNvSpPr txBox="1"/>
          <p:nvPr/>
        </p:nvSpPr>
        <p:spPr>
          <a:xfrm>
            <a:off x="2072640" y="3108960"/>
            <a:ext cx="9570720" cy="777240"/>
          </a:xfrm>
          <a:prstGeom prst="rect">
            <a:avLst/>
          </a:prstGeom>
          <a:noFill/>
          <a:ln>
            <a:noFill/>
          </a:ln>
        </p:spPr>
        <p:txBody>
          <a:bodyPr wrap="square" lIns="0" tIns="0" rIns="0" bIns="0" rtlCol="0" anchor="ctr">
            <a:noAutofit/>
          </a:bodyPr>
          <a:lstStyle/>
          <a:p>
            <a:pPr marL="0" indent="0">
              <a:buNone/>
            </a:pPr>
            <a:r>
              <a:rPr lang="vi-VN" sz="2000">
                <a:solidFill>
                  <a:srgbClr val="1B2230"/>
                </a:solidFill>
              </a:rPr>
              <a:t>Có Validation, không còn ô bị khoanh</a:t>
            </a:r>
            <a:endParaRPr lang="vi-VN" sz="2000"/>
          </a:p>
        </p:txBody>
      </p:sp>
      <p:cxnSp>
        <p:nvCxnSpPr>
          <p:cNvPr id="21" name="Line 21"/>
          <p:cNvCxnSpPr/>
          <p:nvPr/>
        </p:nvCxnSpPr>
        <p:spPr>
          <a:xfrm>
            <a:off x="1524000" y="3886200"/>
            <a:ext cx="10119360" cy="0"/>
          </a:xfrm>
          <a:prstGeom prst="line">
            <a:avLst/>
          </a:prstGeom>
          <a:ln w="12700">
            <a:solidFill>
              <a:srgbClr val="D9DEE8"/>
            </a:solidFill>
          </a:ln>
        </p:spPr>
      </p:cxnSp>
      <p:sp>
        <p:nvSpPr>
          <p:cNvPr id="22" name="Checkbox 4"/>
          <p:cNvSpPr/>
          <p:nvPr/>
        </p:nvSpPr>
        <p:spPr>
          <a:xfrm>
            <a:off x="1524000" y="4114800"/>
            <a:ext cx="320040" cy="320040"/>
          </a:xfrm>
          <a:prstGeom prst="rect">
            <a:avLst/>
          </a:prstGeom>
          <a:solidFill>
            <a:srgbClr val="FFFFFF"/>
          </a:solidFill>
          <a:ln w="19050">
            <a:solidFill>
              <a:srgbClr val="203864"/>
            </a:solidFill>
          </a:ln>
        </p:spPr>
        <p:txBody>
          <a:bodyPr wrap="square" lIns="91440" tIns="45720" rIns="91440" bIns="45720" rtlCol="0" anchor="t">
            <a:noAutofit/>
          </a:bodyPr>
          <a:lstStyle/>
          <a:p>
            <a:pPr marL="0" indent="0">
              <a:buNone/>
            </a:pPr>
            <a:endParaRPr lang="vi-VN"/>
          </a:p>
        </p:txBody>
      </p:sp>
      <p:sp>
        <p:nvSpPr>
          <p:cNvPr id="23" name="TextBox"/>
          <p:cNvSpPr txBox="1"/>
          <p:nvPr/>
        </p:nvSpPr>
        <p:spPr>
          <a:xfrm>
            <a:off x="2072640" y="3886200"/>
            <a:ext cx="9570720" cy="777240"/>
          </a:xfrm>
          <a:prstGeom prst="rect">
            <a:avLst/>
          </a:prstGeom>
          <a:noFill/>
          <a:ln>
            <a:noFill/>
          </a:ln>
        </p:spPr>
        <p:txBody>
          <a:bodyPr wrap="square" lIns="0" tIns="0" rIns="0" bIns="0" rtlCol="0" anchor="ctr">
            <a:noAutofit/>
          </a:bodyPr>
          <a:lstStyle/>
          <a:p>
            <a:pPr marL="0" indent="0">
              <a:buNone/>
            </a:pPr>
            <a:r>
              <a:rPr lang="vi-VN" sz="2000">
                <a:solidFill>
                  <a:srgbClr val="1B2230"/>
                </a:solidFill>
              </a:rPr>
              <a:t>Không còn lỗi công thức</a:t>
            </a:r>
            <a:endParaRPr lang="vi-VN" sz="2000"/>
          </a:p>
        </p:txBody>
      </p:sp>
      <p:cxnSp>
        <p:nvCxnSpPr>
          <p:cNvPr id="24" name="Line 24"/>
          <p:cNvCxnSpPr/>
          <p:nvPr/>
        </p:nvCxnSpPr>
        <p:spPr>
          <a:xfrm>
            <a:off x="1524000" y="4663440"/>
            <a:ext cx="10119360" cy="0"/>
          </a:xfrm>
          <a:prstGeom prst="line">
            <a:avLst/>
          </a:prstGeom>
          <a:ln w="12700">
            <a:solidFill>
              <a:srgbClr val="D9DEE8"/>
            </a:solidFill>
          </a:ln>
        </p:spPr>
      </p:cxnSp>
      <p:sp>
        <p:nvSpPr>
          <p:cNvPr id="25" name="Checkbox 5"/>
          <p:cNvSpPr/>
          <p:nvPr/>
        </p:nvSpPr>
        <p:spPr>
          <a:xfrm>
            <a:off x="1524000" y="4892040"/>
            <a:ext cx="320040" cy="320040"/>
          </a:xfrm>
          <a:prstGeom prst="rect">
            <a:avLst/>
          </a:prstGeom>
          <a:solidFill>
            <a:srgbClr val="FFFFFF"/>
          </a:solidFill>
          <a:ln w="19050">
            <a:solidFill>
              <a:srgbClr val="203864"/>
            </a:solidFill>
          </a:ln>
        </p:spPr>
        <p:txBody>
          <a:bodyPr wrap="square" lIns="91440" tIns="45720" rIns="91440" bIns="45720" rtlCol="0" anchor="t">
            <a:noAutofit/>
          </a:bodyPr>
          <a:lstStyle/>
          <a:p>
            <a:pPr marL="0" indent="0">
              <a:buNone/>
            </a:pPr>
            <a:endParaRPr lang="vi-VN"/>
          </a:p>
        </p:txBody>
      </p:sp>
      <p:sp>
        <p:nvSpPr>
          <p:cNvPr id="26" name="TextBox"/>
          <p:cNvSpPr txBox="1"/>
          <p:nvPr/>
        </p:nvSpPr>
        <p:spPr>
          <a:xfrm>
            <a:off x="2072640" y="4663440"/>
            <a:ext cx="9570720" cy="777240"/>
          </a:xfrm>
          <a:prstGeom prst="rect">
            <a:avLst/>
          </a:prstGeom>
          <a:noFill/>
          <a:ln>
            <a:noFill/>
          </a:ln>
        </p:spPr>
        <p:txBody>
          <a:bodyPr wrap="square" lIns="0" tIns="0" rIns="0" bIns="0" rtlCol="0" anchor="ctr">
            <a:noAutofit/>
          </a:bodyPr>
          <a:lstStyle/>
          <a:p>
            <a:pPr marL="0" indent="0">
              <a:buNone/>
            </a:pPr>
            <a:r>
              <a:rPr lang="vi-VN" sz="2000">
                <a:solidFill>
                  <a:srgbClr val="1B2230"/>
                </a:solidFill>
              </a:rPr>
              <a:t>Tổng doanh thu = </a:t>
            </a:r>
            <a:r>
              <a:rPr lang="vi-VN" sz="2000" b="1">
                <a:solidFill>
                  <a:srgbClr val="203864"/>
                </a:solidFill>
              </a:rPr>
              <a:t>941.454.000</a:t>
            </a:r>
            <a:r>
              <a:rPr lang="vi-VN" sz="2000">
                <a:solidFill>
                  <a:srgbClr val="1B2230"/>
                </a:solidFill>
              </a:rPr>
              <a:t>; tổng Pct_Share = </a:t>
            </a:r>
            <a:r>
              <a:rPr lang="vi-VN" sz="2000" b="1">
                <a:solidFill>
                  <a:srgbClr val="203864"/>
                </a:solidFill>
              </a:rPr>
              <a:t>100%</a:t>
            </a:r>
            <a:endParaRPr lang="vi-VN" sz="2000"/>
          </a:p>
        </p:txBody>
      </p:sp>
      <p:sp>
        <p:nvSpPr>
          <p:cNvPr id="27" name="Footnote"/>
          <p:cNvSpPr txBox="1"/>
          <p:nvPr/>
        </p:nvSpPr>
        <p:spPr>
          <a:xfrm>
            <a:off x="1524000" y="6217920"/>
            <a:ext cx="10119360" cy="320040"/>
          </a:xfrm>
          <a:prstGeom prst="rect">
            <a:avLst/>
          </a:prstGeom>
          <a:noFill/>
          <a:ln>
            <a:noFill/>
          </a:ln>
        </p:spPr>
        <p:txBody>
          <a:bodyPr wrap="square" lIns="0" tIns="0" rIns="0" bIns="0" rtlCol="0" anchor="b">
            <a:noAutofit/>
          </a:bodyPr>
          <a:lstStyle/>
          <a:p>
            <a:pPr marL="0" indent="0">
              <a:buNone/>
            </a:pPr>
            <a:r>
              <a:rPr lang="vi-VN" sz="1200">
                <a:solidFill>
                  <a:srgbClr val="6B6F76"/>
                </a:solidFill>
              </a:rPr>
              <a:t>File đáp án B1_MCI_Mart_Q1_2025_Answer.xlsx (sheet Kiem_tra: 8 dòng đối soát) là file khởi đầu Buổi 2.</a:t>
            </a:r>
            <a:endParaRPr lang="vi-VN" sz="1200"/>
          </a:p>
        </p:txBody>
      </p:sp>
    </p:spTree>
    <p:extLst>
      <p:ext uri="{BB962C8B-B14F-4D97-AF65-F5344CB8AC3E}">
        <p14:creationId xmlns:p14="http://schemas.microsoft.com/office/powerpoint/2010/main" val="12045437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1"/>
          <p:cNvSpPr>
            <a:spLocks noGrp="1"/>
          </p:cNvSpPr>
          <p:nvPr>
            <p:ph type="title"/>
          </p:nvPr>
        </p:nvSpPr>
        <p:spPr/>
        <p:txBody>
          <a:bodyPr>
            <a:normAutofit/>
          </a:bodyPr>
          <a:lstStyle/>
          <a:p>
            <a:r>
              <a:rPr lang="vi-VN"/>
              <a:t>Excel Quiz Challenge</a:t>
            </a:r>
          </a:p>
        </p:txBody>
      </p:sp>
      <p:sp>
        <p:nvSpPr>
          <p:cNvPr id="12" name="body 12"/>
          <p:cNvSpPr>
            <a:spLocks noGrp="1"/>
          </p:cNvSpPr>
          <p:nvPr>
            <p:ph type="body" idx="1"/>
          </p:nvPr>
        </p:nvSpPr>
        <p:spPr/>
        <p:txBody>
          <a:bodyPr>
            <a:normAutofit/>
          </a:bodyPr>
          <a:lstStyle/>
          <a:p>
            <a:r>
              <a:rPr lang="vi-VN"/>
              <a:t>7 câu hỏi nhanh · câu 6–7 là tình huống</a:t>
            </a:r>
          </a:p>
        </p:txBody>
      </p:sp>
    </p:spTree>
    <p:extLst>
      <p:ext uri="{BB962C8B-B14F-4D97-AF65-F5344CB8AC3E}">
        <p14:creationId xmlns:p14="http://schemas.microsoft.com/office/powerpoint/2010/main" val="7472372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8 · QUIZ &amp; TỔNG KẾT</a:t>
            </a:r>
            <a:endParaRPr lang="vi-VN" sz="1400"/>
          </a:p>
        </p:txBody>
      </p:sp>
      <p:sp>
        <p:nvSpPr>
          <p:cNvPr id="12" name="title 12"/>
          <p:cNvSpPr>
            <a:spLocks noGrp="1"/>
          </p:cNvSpPr>
          <p:nvPr>
            <p:ph type="title"/>
          </p:nvPr>
        </p:nvSpPr>
        <p:spPr/>
        <p:txBody>
          <a:bodyPr>
            <a:normAutofit/>
          </a:bodyPr>
          <a:lstStyle/>
          <a:p>
            <a:r>
              <a:rPr lang="vi-VN"/>
              <a:t>Question 1: Cell References</a:t>
            </a:r>
          </a:p>
        </p:txBody>
      </p:sp>
      <p:sp>
        <p:nvSpPr>
          <p:cNvPr id="13" name="TextBox"/>
          <p:cNvSpPr txBox="1"/>
          <p:nvPr/>
        </p:nvSpPr>
        <p:spPr>
          <a:xfrm>
            <a:off x="1524000" y="1554480"/>
            <a:ext cx="10119360" cy="731520"/>
          </a:xfrm>
          <a:prstGeom prst="rect">
            <a:avLst/>
          </a:prstGeom>
          <a:noFill/>
          <a:ln>
            <a:noFill/>
          </a:ln>
        </p:spPr>
        <p:txBody>
          <a:bodyPr wrap="square" lIns="0" tIns="0" rIns="0" bIns="0" rtlCol="0" anchor="t">
            <a:noAutofit/>
          </a:bodyPr>
          <a:lstStyle/>
          <a:p>
            <a:pPr marL="0" indent="0">
              <a:lnSpc>
                <a:spcPct val="105000"/>
              </a:lnSpc>
              <a:buNone/>
            </a:pPr>
            <a:r>
              <a:rPr lang="vi-VN" sz="2400">
                <a:solidFill>
                  <a:srgbClr val="1B2230"/>
                </a:solidFill>
              </a:rPr>
              <a:t>Ký hiệu nào dùng để tạo tham chiếu tuyệt đối?</a:t>
            </a:r>
            <a:endParaRPr lang="vi-VN" sz="2400"/>
          </a:p>
        </p:txBody>
      </p:sp>
      <p:sp>
        <p:nvSpPr>
          <p:cNvPr id="14" name="Option A"/>
          <p:cNvSpPr/>
          <p:nvPr/>
        </p:nvSpPr>
        <p:spPr>
          <a:xfrm>
            <a:off x="1524000" y="251460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5" name="Letter A"/>
          <p:cNvSpPr/>
          <p:nvPr/>
        </p:nvSpPr>
        <p:spPr>
          <a:xfrm>
            <a:off x="1706880" y="27889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A</a:t>
            </a:r>
            <a:endParaRPr lang="vi-VN" sz="2000"/>
          </a:p>
        </p:txBody>
      </p:sp>
      <p:sp>
        <p:nvSpPr>
          <p:cNvPr id="16" name="TextBox"/>
          <p:cNvSpPr txBox="1"/>
          <p:nvPr/>
        </p:nvSpPr>
        <p:spPr>
          <a:xfrm>
            <a:off x="2438400" y="251460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a:t>
            </a:r>
            <a:endParaRPr lang="vi-VN" sz="2000"/>
          </a:p>
        </p:txBody>
      </p:sp>
      <p:sp>
        <p:nvSpPr>
          <p:cNvPr id="17" name="Option B"/>
          <p:cNvSpPr/>
          <p:nvPr/>
        </p:nvSpPr>
        <p:spPr>
          <a:xfrm>
            <a:off x="6697980" y="251460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6" name="Answer highlight B"/>
          <p:cNvSpPr/>
          <p:nvPr/>
        </p:nvSpPr>
        <p:spPr>
          <a:xfrm>
            <a:off x="6697980" y="2514600"/>
            <a:ext cx="4945380" cy="1097280"/>
          </a:xfrm>
          <a:prstGeom prst="rect">
            <a:avLst/>
          </a:prstGeom>
          <a:solidFill>
            <a:srgbClr val="E8F5E9"/>
          </a:solidFill>
          <a:ln w="38100">
            <a:solidFill>
              <a:srgbClr val="2E7D32"/>
            </a:solidFill>
          </a:ln>
        </p:spPr>
        <p:txBody>
          <a:bodyPr wrap="square" lIns="91440" tIns="45720" rIns="91440" bIns="45720" rtlCol="0" anchor="t">
            <a:noAutofit/>
          </a:bodyPr>
          <a:lstStyle/>
          <a:p>
            <a:pPr marL="0" indent="0">
              <a:buNone/>
            </a:pPr>
            <a:endParaRPr lang="vi-VN"/>
          </a:p>
        </p:txBody>
      </p:sp>
      <p:sp>
        <p:nvSpPr>
          <p:cNvPr id="18" name="Letter B"/>
          <p:cNvSpPr/>
          <p:nvPr/>
        </p:nvSpPr>
        <p:spPr>
          <a:xfrm>
            <a:off x="6880860" y="27889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B</a:t>
            </a:r>
            <a:endParaRPr lang="vi-VN" sz="2000"/>
          </a:p>
        </p:txBody>
      </p:sp>
      <p:sp>
        <p:nvSpPr>
          <p:cNvPr id="27" name="Answer letter B"/>
          <p:cNvSpPr/>
          <p:nvPr/>
        </p:nvSpPr>
        <p:spPr>
          <a:xfrm>
            <a:off x="6880860" y="2788920"/>
            <a:ext cx="548640" cy="548640"/>
          </a:xfrm>
          <a:prstGeom prst="ellipse">
            <a:avLst/>
          </a:prstGeom>
          <a:solidFill>
            <a:srgbClr val="2E7D32"/>
          </a:solidFill>
          <a:ln>
            <a:noFill/>
          </a:ln>
        </p:spPr>
        <p:txBody>
          <a:bodyPr wrap="square" lIns="0" tIns="0" rIns="0" bIns="0" rtlCol="0" anchor="ctr">
            <a:noAutofit/>
          </a:bodyPr>
          <a:lstStyle/>
          <a:p>
            <a:pPr marL="0" indent="0" algn="ctr">
              <a:buNone/>
            </a:pPr>
            <a:r>
              <a:rPr lang="vi-VN" sz="2000" b="1">
                <a:solidFill>
                  <a:srgbClr val="FFFFFF"/>
                </a:solidFill>
              </a:rPr>
              <a:t>B</a:t>
            </a:r>
            <a:endParaRPr lang="vi-VN" sz="2000"/>
          </a:p>
        </p:txBody>
      </p:sp>
      <p:sp>
        <p:nvSpPr>
          <p:cNvPr id="19" name="TextBox"/>
          <p:cNvSpPr txBox="1"/>
          <p:nvPr/>
        </p:nvSpPr>
        <p:spPr>
          <a:xfrm>
            <a:off x="7612380" y="251460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a:t>
            </a:r>
            <a:endParaRPr lang="vi-VN" sz="2000"/>
          </a:p>
        </p:txBody>
      </p:sp>
      <p:sp>
        <p:nvSpPr>
          <p:cNvPr id="20" name="Option C"/>
          <p:cNvSpPr/>
          <p:nvPr/>
        </p:nvSpPr>
        <p:spPr>
          <a:xfrm>
            <a:off x="1524000" y="384048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1" name="Letter C"/>
          <p:cNvSpPr/>
          <p:nvPr/>
        </p:nvSpPr>
        <p:spPr>
          <a:xfrm>
            <a:off x="1706880" y="41148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C</a:t>
            </a:r>
            <a:endParaRPr lang="vi-VN" sz="2000"/>
          </a:p>
        </p:txBody>
      </p:sp>
      <p:sp>
        <p:nvSpPr>
          <p:cNvPr id="22" name="TextBox"/>
          <p:cNvSpPr txBox="1"/>
          <p:nvPr/>
        </p:nvSpPr>
        <p:spPr>
          <a:xfrm>
            <a:off x="2438400" y="384048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a:t>
            </a:r>
            <a:endParaRPr lang="vi-VN" sz="2000"/>
          </a:p>
        </p:txBody>
      </p:sp>
      <p:sp>
        <p:nvSpPr>
          <p:cNvPr id="23" name="Option D"/>
          <p:cNvSpPr/>
          <p:nvPr/>
        </p:nvSpPr>
        <p:spPr>
          <a:xfrm>
            <a:off x="6697980" y="384048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4" name="Letter D"/>
          <p:cNvSpPr/>
          <p:nvPr/>
        </p:nvSpPr>
        <p:spPr>
          <a:xfrm>
            <a:off x="6880860" y="41148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D</a:t>
            </a:r>
            <a:endParaRPr lang="vi-VN" sz="2000"/>
          </a:p>
        </p:txBody>
      </p:sp>
      <p:sp>
        <p:nvSpPr>
          <p:cNvPr id="25" name="TextBox"/>
          <p:cNvSpPr txBox="1"/>
          <p:nvPr/>
        </p:nvSpPr>
        <p:spPr>
          <a:xfrm>
            <a:off x="7612380" y="384048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a:t>
            </a:r>
            <a:endParaRPr lang="vi-VN" sz="2000"/>
          </a:p>
        </p:txBody>
      </p:sp>
      <p:sp>
        <p:nvSpPr>
          <p:cNvPr id="28" name="Dim A"/>
          <p:cNvSpPr/>
          <p:nvPr/>
        </p:nvSpPr>
        <p:spPr>
          <a:xfrm>
            <a:off x="1524000" y="251460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29" name="Dim C"/>
          <p:cNvSpPr/>
          <p:nvPr/>
        </p:nvSpPr>
        <p:spPr>
          <a:xfrm>
            <a:off x="1524000" y="384048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0" name="Dim D"/>
          <p:cNvSpPr/>
          <p:nvPr/>
        </p:nvSpPr>
        <p:spPr>
          <a:xfrm>
            <a:off x="6697980" y="384048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1" name="Answer chip"/>
          <p:cNvSpPr/>
          <p:nvPr/>
        </p:nvSpPr>
        <p:spPr>
          <a:xfrm>
            <a:off x="10180320" y="2331720"/>
            <a:ext cx="1325880" cy="292608"/>
          </a:xfrm>
          <a:prstGeom prst="roundRect">
            <a:avLst>
              <a:gd name="adj" fmla="val 50000"/>
            </a:avLst>
          </a:prstGeom>
          <a:solidFill>
            <a:srgbClr val="2E7D32"/>
          </a:solidFill>
          <a:ln>
            <a:noFill/>
          </a:ln>
        </p:spPr>
        <p:txBody>
          <a:bodyPr wrap="none" lIns="0" tIns="0" rIns="0" bIns="0" rtlCol="0" anchor="ctr">
            <a:noAutofit/>
          </a:bodyPr>
          <a:lstStyle/>
          <a:p>
            <a:pPr marL="0" indent="0" algn="ctr">
              <a:buNone/>
            </a:pPr>
            <a:r>
              <a:rPr lang="vi-VN" sz="1400" b="1">
                <a:solidFill>
                  <a:srgbClr val="FFFFFF"/>
                </a:solidFill>
              </a:rPr>
              <a:t>✓ Đáp án</a:t>
            </a:r>
            <a:endParaRPr lang="vi-VN" sz="1400"/>
          </a:p>
        </p:txBody>
      </p:sp>
    </p:spTree>
    <p:extLst>
      <p:ext uri="{BB962C8B-B14F-4D97-AF65-F5344CB8AC3E}">
        <p14:creationId xmlns:p14="http://schemas.microsoft.com/office/powerpoint/2010/main" val="3958003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4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par>
                                <p:cTn id="20" presetID="53" presetClass="entr" presetSubtype="16" fill="hold" grpId="0" nodeType="withEffect">
                                  <p:stCondLst>
                                    <p:cond delay="150"/>
                                  </p:stCondLst>
                                  <p:childTnLst>
                                    <p:set>
                                      <p:cBhvr>
                                        <p:cTn id="21" dur="1" fill="hold">
                                          <p:stCondLst>
                                            <p:cond delay="0"/>
                                          </p:stCondLst>
                                        </p:cTn>
                                        <p:tgtEl>
                                          <p:spTgt spid="31"/>
                                        </p:tgtEl>
                                        <p:attrNameLst>
                                          <p:attrName>style.visibility</p:attrName>
                                        </p:attrNameLst>
                                      </p:cBhvr>
                                      <p:to>
                                        <p:strVal val="visible"/>
                                      </p:to>
                                    </p:set>
                                    <p:anim calcmode="lin" valueType="num">
                                      <p:cBhvr>
                                        <p:cTn id="22" dur="400" fill="hold"/>
                                        <p:tgtEl>
                                          <p:spTgt spid="31"/>
                                        </p:tgtEl>
                                        <p:attrNameLst>
                                          <p:attrName>ppt_w</p:attrName>
                                        </p:attrNameLst>
                                      </p:cBhvr>
                                      <p:tavLst>
                                        <p:tav tm="0">
                                          <p:val>
                                            <p:fltVal val="0"/>
                                          </p:val>
                                        </p:tav>
                                        <p:tav tm="100000">
                                          <p:val>
                                            <p:strVal val="#ppt_w"/>
                                          </p:val>
                                        </p:tav>
                                      </p:tavLst>
                                    </p:anim>
                                    <p:anim calcmode="lin" valueType="num">
                                      <p:cBhvr>
                                        <p:cTn id="23" dur="400" fill="hold"/>
                                        <p:tgtEl>
                                          <p:spTgt spid="31"/>
                                        </p:tgtEl>
                                        <p:attrNameLst>
                                          <p:attrName>ppt_h</p:attrName>
                                        </p:attrNameLst>
                                      </p:cBhvr>
                                      <p:tavLst>
                                        <p:tav tm="0">
                                          <p:val>
                                            <p:fltVal val="0"/>
                                          </p:val>
                                        </p:tav>
                                        <p:tav tm="100000">
                                          <p:val>
                                            <p:strVal val="#ppt_h"/>
                                          </p:val>
                                        </p:tav>
                                      </p:tavLst>
                                    </p:anim>
                                    <p:animEffect transition="in" filter="fade">
                                      <p:cBhvr>
                                        <p:cTn id="2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8 · QUIZ &amp; TỔNG KẾT</a:t>
            </a:r>
            <a:endParaRPr lang="vi-VN" sz="1400"/>
          </a:p>
        </p:txBody>
      </p:sp>
      <p:sp>
        <p:nvSpPr>
          <p:cNvPr id="12" name="title 12"/>
          <p:cNvSpPr>
            <a:spLocks noGrp="1"/>
          </p:cNvSpPr>
          <p:nvPr>
            <p:ph type="title"/>
          </p:nvPr>
        </p:nvSpPr>
        <p:spPr/>
        <p:txBody>
          <a:bodyPr>
            <a:normAutofit/>
          </a:bodyPr>
          <a:lstStyle/>
          <a:p>
            <a:r>
              <a:rPr lang="vi-VN"/>
              <a:t>Question 2: Cell References</a:t>
            </a:r>
          </a:p>
        </p:txBody>
      </p:sp>
      <p:sp>
        <p:nvSpPr>
          <p:cNvPr id="13" name="TextBox"/>
          <p:cNvSpPr txBox="1"/>
          <p:nvPr/>
        </p:nvSpPr>
        <p:spPr>
          <a:xfrm>
            <a:off x="1524000" y="1554480"/>
            <a:ext cx="10119360" cy="731520"/>
          </a:xfrm>
          <a:prstGeom prst="rect">
            <a:avLst/>
          </a:prstGeom>
          <a:noFill/>
          <a:ln>
            <a:noFill/>
          </a:ln>
        </p:spPr>
        <p:txBody>
          <a:bodyPr wrap="square" lIns="0" tIns="0" rIns="0" bIns="0" rtlCol="0" anchor="t">
            <a:noAutofit/>
          </a:bodyPr>
          <a:lstStyle/>
          <a:p>
            <a:pPr marL="0" indent="0">
              <a:lnSpc>
                <a:spcPct val="105000"/>
              </a:lnSpc>
              <a:buNone/>
            </a:pPr>
            <a:r>
              <a:rPr lang="vi-VN" sz="2400">
                <a:solidFill>
                  <a:srgbClr val="1B2230"/>
                </a:solidFill>
              </a:rPr>
              <a:t>Tham chiếu nào cố định dòng nhưng để cột tương đối?</a:t>
            </a:r>
            <a:endParaRPr lang="vi-VN" sz="2400"/>
          </a:p>
        </p:txBody>
      </p:sp>
      <p:sp>
        <p:nvSpPr>
          <p:cNvPr id="14" name="Option A"/>
          <p:cNvSpPr/>
          <p:nvPr/>
        </p:nvSpPr>
        <p:spPr>
          <a:xfrm>
            <a:off x="1524000" y="251460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5" name="Letter A"/>
          <p:cNvSpPr/>
          <p:nvPr/>
        </p:nvSpPr>
        <p:spPr>
          <a:xfrm>
            <a:off x="1706880" y="27889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A</a:t>
            </a:r>
            <a:endParaRPr lang="vi-VN" sz="2000"/>
          </a:p>
        </p:txBody>
      </p:sp>
      <p:sp>
        <p:nvSpPr>
          <p:cNvPr id="16" name="TextBox"/>
          <p:cNvSpPr txBox="1"/>
          <p:nvPr/>
        </p:nvSpPr>
        <p:spPr>
          <a:xfrm>
            <a:off x="2438400" y="251460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$A$1</a:t>
            </a:r>
            <a:endParaRPr lang="vi-VN" sz="2000"/>
          </a:p>
        </p:txBody>
      </p:sp>
      <p:sp>
        <p:nvSpPr>
          <p:cNvPr id="17" name="Option B"/>
          <p:cNvSpPr/>
          <p:nvPr/>
        </p:nvSpPr>
        <p:spPr>
          <a:xfrm>
            <a:off x="6697980" y="251460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8" name="Letter B"/>
          <p:cNvSpPr/>
          <p:nvPr/>
        </p:nvSpPr>
        <p:spPr>
          <a:xfrm>
            <a:off x="6880860" y="27889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B</a:t>
            </a:r>
            <a:endParaRPr lang="vi-VN" sz="2000"/>
          </a:p>
        </p:txBody>
      </p:sp>
      <p:sp>
        <p:nvSpPr>
          <p:cNvPr id="19" name="TextBox"/>
          <p:cNvSpPr txBox="1"/>
          <p:nvPr/>
        </p:nvSpPr>
        <p:spPr>
          <a:xfrm>
            <a:off x="7612380" y="251460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A1</a:t>
            </a:r>
            <a:endParaRPr lang="vi-VN" sz="2000"/>
          </a:p>
        </p:txBody>
      </p:sp>
      <p:sp>
        <p:nvSpPr>
          <p:cNvPr id="20" name="Option C"/>
          <p:cNvSpPr/>
          <p:nvPr/>
        </p:nvSpPr>
        <p:spPr>
          <a:xfrm>
            <a:off x="1524000" y="384048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6" name="Answer highlight C"/>
          <p:cNvSpPr/>
          <p:nvPr/>
        </p:nvSpPr>
        <p:spPr>
          <a:xfrm>
            <a:off x="1524000" y="3840480"/>
            <a:ext cx="4945380" cy="1097280"/>
          </a:xfrm>
          <a:prstGeom prst="rect">
            <a:avLst/>
          </a:prstGeom>
          <a:solidFill>
            <a:srgbClr val="E8F5E9"/>
          </a:solidFill>
          <a:ln w="38100">
            <a:solidFill>
              <a:srgbClr val="2E7D32"/>
            </a:solidFill>
          </a:ln>
        </p:spPr>
        <p:txBody>
          <a:bodyPr wrap="square" lIns="91440" tIns="45720" rIns="91440" bIns="45720" rtlCol="0" anchor="t">
            <a:noAutofit/>
          </a:bodyPr>
          <a:lstStyle/>
          <a:p>
            <a:pPr marL="0" indent="0">
              <a:buNone/>
            </a:pPr>
            <a:endParaRPr lang="vi-VN"/>
          </a:p>
        </p:txBody>
      </p:sp>
      <p:sp>
        <p:nvSpPr>
          <p:cNvPr id="21" name="Letter C"/>
          <p:cNvSpPr/>
          <p:nvPr/>
        </p:nvSpPr>
        <p:spPr>
          <a:xfrm>
            <a:off x="1706880" y="41148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C</a:t>
            </a:r>
            <a:endParaRPr lang="vi-VN" sz="2000"/>
          </a:p>
        </p:txBody>
      </p:sp>
      <p:sp>
        <p:nvSpPr>
          <p:cNvPr id="27" name="Answer letter C"/>
          <p:cNvSpPr/>
          <p:nvPr/>
        </p:nvSpPr>
        <p:spPr>
          <a:xfrm>
            <a:off x="1706880" y="4114800"/>
            <a:ext cx="548640" cy="548640"/>
          </a:xfrm>
          <a:prstGeom prst="ellipse">
            <a:avLst/>
          </a:prstGeom>
          <a:solidFill>
            <a:srgbClr val="2E7D32"/>
          </a:solidFill>
          <a:ln>
            <a:noFill/>
          </a:ln>
        </p:spPr>
        <p:txBody>
          <a:bodyPr wrap="square" lIns="0" tIns="0" rIns="0" bIns="0" rtlCol="0" anchor="ctr">
            <a:noAutofit/>
          </a:bodyPr>
          <a:lstStyle/>
          <a:p>
            <a:pPr marL="0" indent="0" algn="ctr">
              <a:buNone/>
            </a:pPr>
            <a:r>
              <a:rPr lang="vi-VN" sz="2000" b="1">
                <a:solidFill>
                  <a:srgbClr val="FFFFFF"/>
                </a:solidFill>
              </a:rPr>
              <a:t>C</a:t>
            </a:r>
            <a:endParaRPr lang="vi-VN" sz="2000"/>
          </a:p>
        </p:txBody>
      </p:sp>
      <p:sp>
        <p:nvSpPr>
          <p:cNvPr id="22" name="TextBox"/>
          <p:cNvSpPr txBox="1"/>
          <p:nvPr/>
        </p:nvSpPr>
        <p:spPr>
          <a:xfrm>
            <a:off x="2438400" y="384048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A$1</a:t>
            </a:r>
            <a:endParaRPr lang="vi-VN" sz="2000"/>
          </a:p>
        </p:txBody>
      </p:sp>
      <p:sp>
        <p:nvSpPr>
          <p:cNvPr id="23" name="Option D"/>
          <p:cNvSpPr/>
          <p:nvPr/>
        </p:nvSpPr>
        <p:spPr>
          <a:xfrm>
            <a:off x="6697980" y="384048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4" name="Letter D"/>
          <p:cNvSpPr/>
          <p:nvPr/>
        </p:nvSpPr>
        <p:spPr>
          <a:xfrm>
            <a:off x="6880860" y="41148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D</a:t>
            </a:r>
            <a:endParaRPr lang="vi-VN" sz="2000"/>
          </a:p>
        </p:txBody>
      </p:sp>
      <p:sp>
        <p:nvSpPr>
          <p:cNvPr id="25" name="TextBox"/>
          <p:cNvSpPr txBox="1"/>
          <p:nvPr/>
        </p:nvSpPr>
        <p:spPr>
          <a:xfrm>
            <a:off x="7612380" y="384048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$A1</a:t>
            </a:r>
            <a:endParaRPr lang="vi-VN" sz="2000"/>
          </a:p>
        </p:txBody>
      </p:sp>
      <p:sp>
        <p:nvSpPr>
          <p:cNvPr id="28" name="Dim A"/>
          <p:cNvSpPr/>
          <p:nvPr/>
        </p:nvSpPr>
        <p:spPr>
          <a:xfrm>
            <a:off x="1524000" y="251460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29" name="Dim B"/>
          <p:cNvSpPr/>
          <p:nvPr/>
        </p:nvSpPr>
        <p:spPr>
          <a:xfrm>
            <a:off x="6697980" y="251460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0" name="Dim D"/>
          <p:cNvSpPr/>
          <p:nvPr/>
        </p:nvSpPr>
        <p:spPr>
          <a:xfrm>
            <a:off x="6697980" y="384048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1" name="Answer chip"/>
          <p:cNvSpPr/>
          <p:nvPr/>
        </p:nvSpPr>
        <p:spPr>
          <a:xfrm>
            <a:off x="5006340" y="3657600"/>
            <a:ext cx="1325880" cy="292608"/>
          </a:xfrm>
          <a:prstGeom prst="roundRect">
            <a:avLst>
              <a:gd name="adj" fmla="val 50000"/>
            </a:avLst>
          </a:prstGeom>
          <a:solidFill>
            <a:srgbClr val="2E7D32"/>
          </a:solidFill>
          <a:ln>
            <a:noFill/>
          </a:ln>
        </p:spPr>
        <p:txBody>
          <a:bodyPr wrap="none" lIns="0" tIns="0" rIns="0" bIns="0" rtlCol="0" anchor="ctr">
            <a:noAutofit/>
          </a:bodyPr>
          <a:lstStyle/>
          <a:p>
            <a:pPr marL="0" indent="0" algn="ctr">
              <a:buNone/>
            </a:pPr>
            <a:r>
              <a:rPr lang="vi-VN" sz="1400" b="1">
                <a:solidFill>
                  <a:srgbClr val="FFFFFF"/>
                </a:solidFill>
              </a:rPr>
              <a:t>✓ Đáp án</a:t>
            </a:r>
            <a:endParaRPr lang="vi-VN" sz="1400"/>
          </a:p>
        </p:txBody>
      </p:sp>
    </p:spTree>
    <p:extLst>
      <p:ext uri="{BB962C8B-B14F-4D97-AF65-F5344CB8AC3E}">
        <p14:creationId xmlns:p14="http://schemas.microsoft.com/office/powerpoint/2010/main" val="345877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4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par>
                                <p:cTn id="20" presetID="53" presetClass="entr" presetSubtype="16" fill="hold" grpId="0" nodeType="withEffect">
                                  <p:stCondLst>
                                    <p:cond delay="150"/>
                                  </p:stCondLst>
                                  <p:childTnLst>
                                    <p:set>
                                      <p:cBhvr>
                                        <p:cTn id="21" dur="1" fill="hold">
                                          <p:stCondLst>
                                            <p:cond delay="0"/>
                                          </p:stCondLst>
                                        </p:cTn>
                                        <p:tgtEl>
                                          <p:spTgt spid="31"/>
                                        </p:tgtEl>
                                        <p:attrNameLst>
                                          <p:attrName>style.visibility</p:attrName>
                                        </p:attrNameLst>
                                      </p:cBhvr>
                                      <p:to>
                                        <p:strVal val="visible"/>
                                      </p:to>
                                    </p:set>
                                    <p:anim calcmode="lin" valueType="num">
                                      <p:cBhvr>
                                        <p:cTn id="22" dur="400" fill="hold"/>
                                        <p:tgtEl>
                                          <p:spTgt spid="31"/>
                                        </p:tgtEl>
                                        <p:attrNameLst>
                                          <p:attrName>ppt_w</p:attrName>
                                        </p:attrNameLst>
                                      </p:cBhvr>
                                      <p:tavLst>
                                        <p:tav tm="0">
                                          <p:val>
                                            <p:fltVal val="0"/>
                                          </p:val>
                                        </p:tav>
                                        <p:tav tm="100000">
                                          <p:val>
                                            <p:strVal val="#ppt_w"/>
                                          </p:val>
                                        </p:tav>
                                      </p:tavLst>
                                    </p:anim>
                                    <p:anim calcmode="lin" valueType="num">
                                      <p:cBhvr>
                                        <p:cTn id="23" dur="400" fill="hold"/>
                                        <p:tgtEl>
                                          <p:spTgt spid="31"/>
                                        </p:tgtEl>
                                        <p:attrNameLst>
                                          <p:attrName>ppt_h</p:attrName>
                                        </p:attrNameLst>
                                      </p:cBhvr>
                                      <p:tavLst>
                                        <p:tav tm="0">
                                          <p:val>
                                            <p:fltVal val="0"/>
                                          </p:val>
                                        </p:tav>
                                        <p:tav tm="100000">
                                          <p:val>
                                            <p:strVal val="#ppt_h"/>
                                          </p:val>
                                        </p:tav>
                                      </p:tavLst>
                                    </p:anim>
                                    <p:animEffect transition="in" filter="fade">
                                      <p:cBhvr>
                                        <p:cTn id="2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8 · QUIZ &amp; TỔNG KẾT</a:t>
            </a:r>
            <a:endParaRPr lang="vi-VN" sz="1400"/>
          </a:p>
        </p:txBody>
      </p:sp>
      <p:sp>
        <p:nvSpPr>
          <p:cNvPr id="12" name="title 12"/>
          <p:cNvSpPr>
            <a:spLocks noGrp="1"/>
          </p:cNvSpPr>
          <p:nvPr>
            <p:ph type="title"/>
          </p:nvPr>
        </p:nvSpPr>
        <p:spPr/>
        <p:txBody>
          <a:bodyPr>
            <a:normAutofit/>
          </a:bodyPr>
          <a:lstStyle/>
          <a:p>
            <a:r>
              <a:rPr lang="vi-VN"/>
              <a:t>Question 3: Shortcuts</a:t>
            </a:r>
          </a:p>
        </p:txBody>
      </p:sp>
      <p:sp>
        <p:nvSpPr>
          <p:cNvPr id="13" name="TextBox"/>
          <p:cNvSpPr txBox="1"/>
          <p:nvPr/>
        </p:nvSpPr>
        <p:spPr>
          <a:xfrm>
            <a:off x="1524000" y="1554480"/>
            <a:ext cx="10119360" cy="731520"/>
          </a:xfrm>
          <a:prstGeom prst="rect">
            <a:avLst/>
          </a:prstGeom>
          <a:noFill/>
          <a:ln>
            <a:noFill/>
          </a:ln>
        </p:spPr>
        <p:txBody>
          <a:bodyPr wrap="square" lIns="0" tIns="0" rIns="0" bIns="0" rtlCol="0" anchor="t">
            <a:noAutofit/>
          </a:bodyPr>
          <a:lstStyle/>
          <a:p>
            <a:pPr marL="0" indent="0">
              <a:lnSpc>
                <a:spcPct val="105000"/>
              </a:lnSpc>
              <a:buNone/>
            </a:pPr>
            <a:r>
              <a:rPr lang="vi-VN" sz="2400">
                <a:solidFill>
                  <a:srgbClr val="1B2230"/>
                </a:solidFill>
              </a:rPr>
              <a:t>Tổ hợp nào dán giá trị?</a:t>
            </a:r>
            <a:endParaRPr lang="vi-VN" sz="2400"/>
          </a:p>
        </p:txBody>
      </p:sp>
      <p:sp>
        <p:nvSpPr>
          <p:cNvPr id="14" name="Option A"/>
          <p:cNvSpPr/>
          <p:nvPr/>
        </p:nvSpPr>
        <p:spPr>
          <a:xfrm>
            <a:off x="1524000" y="251460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6" name="Answer highlight A"/>
          <p:cNvSpPr/>
          <p:nvPr/>
        </p:nvSpPr>
        <p:spPr>
          <a:xfrm>
            <a:off x="1524000" y="2514600"/>
            <a:ext cx="4945380" cy="1097280"/>
          </a:xfrm>
          <a:prstGeom prst="rect">
            <a:avLst/>
          </a:prstGeom>
          <a:solidFill>
            <a:srgbClr val="E8F5E9"/>
          </a:solidFill>
          <a:ln w="38100">
            <a:solidFill>
              <a:srgbClr val="2E7D32"/>
            </a:solidFill>
          </a:ln>
        </p:spPr>
        <p:txBody>
          <a:bodyPr wrap="square" lIns="91440" tIns="45720" rIns="91440" bIns="45720" rtlCol="0" anchor="t">
            <a:noAutofit/>
          </a:bodyPr>
          <a:lstStyle/>
          <a:p>
            <a:pPr marL="0" indent="0">
              <a:buNone/>
            </a:pPr>
            <a:endParaRPr lang="vi-VN"/>
          </a:p>
        </p:txBody>
      </p:sp>
      <p:sp>
        <p:nvSpPr>
          <p:cNvPr id="15" name="Letter A"/>
          <p:cNvSpPr/>
          <p:nvPr/>
        </p:nvSpPr>
        <p:spPr>
          <a:xfrm>
            <a:off x="1706880" y="27889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A</a:t>
            </a:r>
            <a:endParaRPr lang="vi-VN" sz="2000"/>
          </a:p>
        </p:txBody>
      </p:sp>
      <p:sp>
        <p:nvSpPr>
          <p:cNvPr id="27" name="Answer letter A"/>
          <p:cNvSpPr/>
          <p:nvPr/>
        </p:nvSpPr>
        <p:spPr>
          <a:xfrm>
            <a:off x="1706880" y="2788920"/>
            <a:ext cx="548640" cy="548640"/>
          </a:xfrm>
          <a:prstGeom prst="ellipse">
            <a:avLst/>
          </a:prstGeom>
          <a:solidFill>
            <a:srgbClr val="2E7D32"/>
          </a:solidFill>
          <a:ln>
            <a:noFill/>
          </a:ln>
        </p:spPr>
        <p:txBody>
          <a:bodyPr wrap="square" lIns="0" tIns="0" rIns="0" bIns="0" rtlCol="0" anchor="ctr">
            <a:noAutofit/>
          </a:bodyPr>
          <a:lstStyle/>
          <a:p>
            <a:pPr marL="0" indent="0" algn="ctr">
              <a:buNone/>
            </a:pPr>
            <a:r>
              <a:rPr lang="vi-VN" sz="2000" b="1">
                <a:solidFill>
                  <a:srgbClr val="FFFFFF"/>
                </a:solidFill>
              </a:rPr>
              <a:t>A</a:t>
            </a:r>
            <a:endParaRPr lang="vi-VN" sz="2000"/>
          </a:p>
        </p:txBody>
      </p:sp>
      <p:sp>
        <p:nvSpPr>
          <p:cNvPr id="16" name="TextBox"/>
          <p:cNvSpPr txBox="1"/>
          <p:nvPr/>
        </p:nvSpPr>
        <p:spPr>
          <a:xfrm>
            <a:off x="2438400" y="251460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Alt H V V</a:t>
            </a:r>
            <a:endParaRPr lang="vi-VN" sz="2000"/>
          </a:p>
        </p:txBody>
      </p:sp>
      <p:sp>
        <p:nvSpPr>
          <p:cNvPr id="17" name="Option B"/>
          <p:cNvSpPr/>
          <p:nvPr/>
        </p:nvSpPr>
        <p:spPr>
          <a:xfrm>
            <a:off x="6697980" y="251460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8" name="Letter B"/>
          <p:cNvSpPr/>
          <p:nvPr/>
        </p:nvSpPr>
        <p:spPr>
          <a:xfrm>
            <a:off x="6880860" y="27889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B</a:t>
            </a:r>
            <a:endParaRPr lang="vi-VN" sz="2000"/>
          </a:p>
        </p:txBody>
      </p:sp>
      <p:sp>
        <p:nvSpPr>
          <p:cNvPr id="19" name="TextBox"/>
          <p:cNvSpPr txBox="1"/>
          <p:nvPr/>
        </p:nvSpPr>
        <p:spPr>
          <a:xfrm>
            <a:off x="7612380" y="251460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Ctrl V</a:t>
            </a:r>
            <a:endParaRPr lang="vi-VN" sz="2000"/>
          </a:p>
        </p:txBody>
      </p:sp>
      <p:sp>
        <p:nvSpPr>
          <p:cNvPr id="20" name="Option C"/>
          <p:cNvSpPr/>
          <p:nvPr/>
        </p:nvSpPr>
        <p:spPr>
          <a:xfrm>
            <a:off x="1524000" y="384048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1" name="Letter C"/>
          <p:cNvSpPr/>
          <p:nvPr/>
        </p:nvSpPr>
        <p:spPr>
          <a:xfrm>
            <a:off x="1706880" y="41148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C</a:t>
            </a:r>
            <a:endParaRPr lang="vi-VN" sz="2000"/>
          </a:p>
        </p:txBody>
      </p:sp>
      <p:sp>
        <p:nvSpPr>
          <p:cNvPr id="22" name="TextBox"/>
          <p:cNvSpPr txBox="1"/>
          <p:nvPr/>
        </p:nvSpPr>
        <p:spPr>
          <a:xfrm>
            <a:off x="2438400" y="384048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Ctrl Alt V</a:t>
            </a:r>
            <a:endParaRPr lang="vi-VN" sz="2000"/>
          </a:p>
        </p:txBody>
      </p:sp>
      <p:sp>
        <p:nvSpPr>
          <p:cNvPr id="23" name="Option D"/>
          <p:cNvSpPr/>
          <p:nvPr/>
        </p:nvSpPr>
        <p:spPr>
          <a:xfrm>
            <a:off x="6697980" y="384048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4" name="Letter D"/>
          <p:cNvSpPr/>
          <p:nvPr/>
        </p:nvSpPr>
        <p:spPr>
          <a:xfrm>
            <a:off x="6880860" y="41148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D</a:t>
            </a:r>
            <a:endParaRPr lang="vi-VN" sz="2000"/>
          </a:p>
        </p:txBody>
      </p:sp>
      <p:sp>
        <p:nvSpPr>
          <p:cNvPr id="25" name="TextBox"/>
          <p:cNvSpPr txBox="1"/>
          <p:nvPr/>
        </p:nvSpPr>
        <p:spPr>
          <a:xfrm>
            <a:off x="7612380" y="384048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Alt V V</a:t>
            </a:r>
            <a:endParaRPr lang="vi-VN" sz="2000"/>
          </a:p>
        </p:txBody>
      </p:sp>
      <p:sp>
        <p:nvSpPr>
          <p:cNvPr id="28" name="Dim B"/>
          <p:cNvSpPr/>
          <p:nvPr/>
        </p:nvSpPr>
        <p:spPr>
          <a:xfrm>
            <a:off x="6697980" y="251460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29" name="Dim C"/>
          <p:cNvSpPr/>
          <p:nvPr/>
        </p:nvSpPr>
        <p:spPr>
          <a:xfrm>
            <a:off x="1524000" y="384048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0" name="Dim D"/>
          <p:cNvSpPr/>
          <p:nvPr/>
        </p:nvSpPr>
        <p:spPr>
          <a:xfrm>
            <a:off x="6697980" y="384048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1" name="Answer chip"/>
          <p:cNvSpPr/>
          <p:nvPr/>
        </p:nvSpPr>
        <p:spPr>
          <a:xfrm>
            <a:off x="5006340" y="2331720"/>
            <a:ext cx="1325880" cy="292608"/>
          </a:xfrm>
          <a:prstGeom prst="roundRect">
            <a:avLst>
              <a:gd name="adj" fmla="val 50000"/>
            </a:avLst>
          </a:prstGeom>
          <a:solidFill>
            <a:srgbClr val="2E7D32"/>
          </a:solidFill>
          <a:ln>
            <a:noFill/>
          </a:ln>
        </p:spPr>
        <p:txBody>
          <a:bodyPr wrap="none" lIns="0" tIns="0" rIns="0" bIns="0" rtlCol="0" anchor="ctr">
            <a:noAutofit/>
          </a:bodyPr>
          <a:lstStyle/>
          <a:p>
            <a:pPr marL="0" indent="0" algn="ctr">
              <a:buNone/>
            </a:pPr>
            <a:r>
              <a:rPr lang="vi-VN" sz="1400" b="1">
                <a:solidFill>
                  <a:srgbClr val="FFFFFF"/>
                </a:solidFill>
              </a:rPr>
              <a:t>✓ Đáp án</a:t>
            </a:r>
            <a:endParaRPr lang="vi-VN" sz="1400"/>
          </a:p>
        </p:txBody>
      </p:sp>
    </p:spTree>
    <p:extLst>
      <p:ext uri="{BB962C8B-B14F-4D97-AF65-F5344CB8AC3E}">
        <p14:creationId xmlns:p14="http://schemas.microsoft.com/office/powerpoint/2010/main" val="1707092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4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par>
                                <p:cTn id="20" presetID="53" presetClass="entr" presetSubtype="16" fill="hold" grpId="0" nodeType="withEffect">
                                  <p:stCondLst>
                                    <p:cond delay="150"/>
                                  </p:stCondLst>
                                  <p:childTnLst>
                                    <p:set>
                                      <p:cBhvr>
                                        <p:cTn id="21" dur="1" fill="hold">
                                          <p:stCondLst>
                                            <p:cond delay="0"/>
                                          </p:stCondLst>
                                        </p:cTn>
                                        <p:tgtEl>
                                          <p:spTgt spid="31"/>
                                        </p:tgtEl>
                                        <p:attrNameLst>
                                          <p:attrName>style.visibility</p:attrName>
                                        </p:attrNameLst>
                                      </p:cBhvr>
                                      <p:to>
                                        <p:strVal val="visible"/>
                                      </p:to>
                                    </p:set>
                                    <p:anim calcmode="lin" valueType="num">
                                      <p:cBhvr>
                                        <p:cTn id="22" dur="400" fill="hold"/>
                                        <p:tgtEl>
                                          <p:spTgt spid="31"/>
                                        </p:tgtEl>
                                        <p:attrNameLst>
                                          <p:attrName>ppt_w</p:attrName>
                                        </p:attrNameLst>
                                      </p:cBhvr>
                                      <p:tavLst>
                                        <p:tav tm="0">
                                          <p:val>
                                            <p:fltVal val="0"/>
                                          </p:val>
                                        </p:tav>
                                        <p:tav tm="100000">
                                          <p:val>
                                            <p:strVal val="#ppt_w"/>
                                          </p:val>
                                        </p:tav>
                                      </p:tavLst>
                                    </p:anim>
                                    <p:anim calcmode="lin" valueType="num">
                                      <p:cBhvr>
                                        <p:cTn id="23" dur="400" fill="hold"/>
                                        <p:tgtEl>
                                          <p:spTgt spid="31"/>
                                        </p:tgtEl>
                                        <p:attrNameLst>
                                          <p:attrName>ppt_h</p:attrName>
                                        </p:attrNameLst>
                                      </p:cBhvr>
                                      <p:tavLst>
                                        <p:tav tm="0">
                                          <p:val>
                                            <p:fltVal val="0"/>
                                          </p:val>
                                        </p:tav>
                                        <p:tav tm="100000">
                                          <p:val>
                                            <p:strVal val="#ppt_h"/>
                                          </p:val>
                                        </p:tav>
                                      </p:tavLst>
                                    </p:anim>
                                    <p:animEffect transition="in" filter="fade">
                                      <p:cBhvr>
                                        <p:cTn id="2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8 · QUIZ &amp; TỔNG KẾT</a:t>
            </a:r>
            <a:endParaRPr lang="vi-VN" sz="1400"/>
          </a:p>
        </p:txBody>
      </p:sp>
      <p:sp>
        <p:nvSpPr>
          <p:cNvPr id="12" name="title 12"/>
          <p:cNvSpPr>
            <a:spLocks noGrp="1"/>
          </p:cNvSpPr>
          <p:nvPr>
            <p:ph type="title"/>
          </p:nvPr>
        </p:nvSpPr>
        <p:spPr/>
        <p:txBody>
          <a:bodyPr>
            <a:normAutofit/>
          </a:bodyPr>
          <a:lstStyle/>
          <a:p>
            <a:r>
              <a:rPr lang="vi-VN"/>
              <a:t>Question 4: Auditing</a:t>
            </a:r>
          </a:p>
        </p:txBody>
      </p:sp>
      <p:sp>
        <p:nvSpPr>
          <p:cNvPr id="13" name="TextBox"/>
          <p:cNvSpPr txBox="1"/>
          <p:nvPr/>
        </p:nvSpPr>
        <p:spPr>
          <a:xfrm>
            <a:off x="1524000" y="1554480"/>
            <a:ext cx="10119360" cy="731520"/>
          </a:xfrm>
          <a:prstGeom prst="rect">
            <a:avLst/>
          </a:prstGeom>
          <a:noFill/>
          <a:ln>
            <a:noFill/>
          </a:ln>
        </p:spPr>
        <p:txBody>
          <a:bodyPr wrap="square" lIns="0" tIns="0" rIns="0" bIns="0" rtlCol="0" anchor="t">
            <a:noAutofit/>
          </a:bodyPr>
          <a:lstStyle/>
          <a:p>
            <a:pPr marL="0" indent="0">
              <a:lnSpc>
                <a:spcPct val="105000"/>
              </a:lnSpc>
              <a:buNone/>
            </a:pPr>
            <a:r>
              <a:rPr lang="vi-VN" sz="2400">
                <a:solidFill>
                  <a:srgbClr val="1B2230"/>
                </a:solidFill>
              </a:rPr>
              <a:t>Công cụ nào vẽ mũi tên tới các ô bị ảnh hưởng bởi ô đang chọn?</a:t>
            </a:r>
            <a:endParaRPr lang="vi-VN" sz="2400"/>
          </a:p>
        </p:txBody>
      </p:sp>
      <p:sp>
        <p:nvSpPr>
          <p:cNvPr id="14" name="Option A"/>
          <p:cNvSpPr/>
          <p:nvPr/>
        </p:nvSpPr>
        <p:spPr>
          <a:xfrm>
            <a:off x="1524000" y="251460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5" name="Letter A"/>
          <p:cNvSpPr/>
          <p:nvPr/>
        </p:nvSpPr>
        <p:spPr>
          <a:xfrm>
            <a:off x="1706880" y="27889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A</a:t>
            </a:r>
            <a:endParaRPr lang="vi-VN" sz="2000"/>
          </a:p>
        </p:txBody>
      </p:sp>
      <p:sp>
        <p:nvSpPr>
          <p:cNvPr id="16" name="TextBox"/>
          <p:cNvSpPr txBox="1"/>
          <p:nvPr/>
        </p:nvSpPr>
        <p:spPr>
          <a:xfrm>
            <a:off x="2438400" y="251460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Error Checking</a:t>
            </a:r>
            <a:endParaRPr lang="vi-VN" sz="2000"/>
          </a:p>
        </p:txBody>
      </p:sp>
      <p:sp>
        <p:nvSpPr>
          <p:cNvPr id="17" name="Option B"/>
          <p:cNvSpPr/>
          <p:nvPr/>
        </p:nvSpPr>
        <p:spPr>
          <a:xfrm>
            <a:off x="6697980" y="251460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8" name="Letter B"/>
          <p:cNvSpPr/>
          <p:nvPr/>
        </p:nvSpPr>
        <p:spPr>
          <a:xfrm>
            <a:off x="6880860" y="27889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B</a:t>
            </a:r>
            <a:endParaRPr lang="vi-VN" sz="2000"/>
          </a:p>
        </p:txBody>
      </p:sp>
      <p:sp>
        <p:nvSpPr>
          <p:cNvPr id="19" name="TextBox"/>
          <p:cNvSpPr txBox="1"/>
          <p:nvPr/>
        </p:nvSpPr>
        <p:spPr>
          <a:xfrm>
            <a:off x="7612380" y="251460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Trace Precedents</a:t>
            </a:r>
            <a:endParaRPr lang="vi-VN" sz="2000"/>
          </a:p>
        </p:txBody>
      </p:sp>
      <p:sp>
        <p:nvSpPr>
          <p:cNvPr id="20" name="Option C"/>
          <p:cNvSpPr/>
          <p:nvPr/>
        </p:nvSpPr>
        <p:spPr>
          <a:xfrm>
            <a:off x="1524000" y="384048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6" name="Answer highlight C"/>
          <p:cNvSpPr/>
          <p:nvPr/>
        </p:nvSpPr>
        <p:spPr>
          <a:xfrm>
            <a:off x="1524000" y="3840480"/>
            <a:ext cx="4945380" cy="1097280"/>
          </a:xfrm>
          <a:prstGeom prst="rect">
            <a:avLst/>
          </a:prstGeom>
          <a:solidFill>
            <a:srgbClr val="E8F5E9"/>
          </a:solidFill>
          <a:ln w="38100">
            <a:solidFill>
              <a:srgbClr val="2E7D32"/>
            </a:solidFill>
          </a:ln>
        </p:spPr>
        <p:txBody>
          <a:bodyPr wrap="square" lIns="91440" tIns="45720" rIns="91440" bIns="45720" rtlCol="0" anchor="t">
            <a:noAutofit/>
          </a:bodyPr>
          <a:lstStyle/>
          <a:p>
            <a:pPr marL="0" indent="0">
              <a:buNone/>
            </a:pPr>
            <a:endParaRPr lang="vi-VN"/>
          </a:p>
        </p:txBody>
      </p:sp>
      <p:sp>
        <p:nvSpPr>
          <p:cNvPr id="21" name="Letter C"/>
          <p:cNvSpPr/>
          <p:nvPr/>
        </p:nvSpPr>
        <p:spPr>
          <a:xfrm>
            <a:off x="1706880" y="41148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C</a:t>
            </a:r>
            <a:endParaRPr lang="vi-VN" sz="2000"/>
          </a:p>
        </p:txBody>
      </p:sp>
      <p:sp>
        <p:nvSpPr>
          <p:cNvPr id="27" name="Answer letter C"/>
          <p:cNvSpPr/>
          <p:nvPr/>
        </p:nvSpPr>
        <p:spPr>
          <a:xfrm>
            <a:off x="1706880" y="4114800"/>
            <a:ext cx="548640" cy="548640"/>
          </a:xfrm>
          <a:prstGeom prst="ellipse">
            <a:avLst/>
          </a:prstGeom>
          <a:solidFill>
            <a:srgbClr val="2E7D32"/>
          </a:solidFill>
          <a:ln>
            <a:noFill/>
          </a:ln>
        </p:spPr>
        <p:txBody>
          <a:bodyPr wrap="square" lIns="0" tIns="0" rIns="0" bIns="0" rtlCol="0" anchor="ctr">
            <a:noAutofit/>
          </a:bodyPr>
          <a:lstStyle/>
          <a:p>
            <a:pPr marL="0" indent="0" algn="ctr">
              <a:buNone/>
            </a:pPr>
            <a:r>
              <a:rPr lang="vi-VN" sz="2000" b="1">
                <a:solidFill>
                  <a:srgbClr val="FFFFFF"/>
                </a:solidFill>
              </a:rPr>
              <a:t>C</a:t>
            </a:r>
            <a:endParaRPr lang="vi-VN" sz="2000"/>
          </a:p>
        </p:txBody>
      </p:sp>
      <p:sp>
        <p:nvSpPr>
          <p:cNvPr id="22" name="TextBox"/>
          <p:cNvSpPr txBox="1"/>
          <p:nvPr/>
        </p:nvSpPr>
        <p:spPr>
          <a:xfrm>
            <a:off x="2438400" y="384048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Trace Dependents</a:t>
            </a:r>
            <a:endParaRPr lang="vi-VN" sz="2000"/>
          </a:p>
        </p:txBody>
      </p:sp>
      <p:sp>
        <p:nvSpPr>
          <p:cNvPr id="23" name="Option D"/>
          <p:cNvSpPr/>
          <p:nvPr/>
        </p:nvSpPr>
        <p:spPr>
          <a:xfrm>
            <a:off x="6697980" y="384048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4" name="Letter D"/>
          <p:cNvSpPr/>
          <p:nvPr/>
        </p:nvSpPr>
        <p:spPr>
          <a:xfrm>
            <a:off x="6880860" y="41148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D</a:t>
            </a:r>
            <a:endParaRPr lang="vi-VN" sz="2000"/>
          </a:p>
        </p:txBody>
      </p:sp>
      <p:sp>
        <p:nvSpPr>
          <p:cNvPr id="25" name="TextBox"/>
          <p:cNvSpPr txBox="1"/>
          <p:nvPr/>
        </p:nvSpPr>
        <p:spPr>
          <a:xfrm>
            <a:off x="7612380" y="384048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Evaluate Formula</a:t>
            </a:r>
            <a:endParaRPr lang="vi-VN" sz="2000"/>
          </a:p>
        </p:txBody>
      </p:sp>
      <p:sp>
        <p:nvSpPr>
          <p:cNvPr id="28" name="Dim A"/>
          <p:cNvSpPr/>
          <p:nvPr/>
        </p:nvSpPr>
        <p:spPr>
          <a:xfrm>
            <a:off x="1524000" y="251460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29" name="Dim B"/>
          <p:cNvSpPr/>
          <p:nvPr/>
        </p:nvSpPr>
        <p:spPr>
          <a:xfrm>
            <a:off x="6697980" y="251460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0" name="Dim D"/>
          <p:cNvSpPr/>
          <p:nvPr/>
        </p:nvSpPr>
        <p:spPr>
          <a:xfrm>
            <a:off x="6697980" y="384048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1" name="Answer chip"/>
          <p:cNvSpPr/>
          <p:nvPr/>
        </p:nvSpPr>
        <p:spPr>
          <a:xfrm>
            <a:off x="5006340" y="3657600"/>
            <a:ext cx="1325880" cy="292608"/>
          </a:xfrm>
          <a:prstGeom prst="roundRect">
            <a:avLst>
              <a:gd name="adj" fmla="val 50000"/>
            </a:avLst>
          </a:prstGeom>
          <a:solidFill>
            <a:srgbClr val="2E7D32"/>
          </a:solidFill>
          <a:ln>
            <a:noFill/>
          </a:ln>
        </p:spPr>
        <p:txBody>
          <a:bodyPr wrap="none" lIns="0" tIns="0" rIns="0" bIns="0" rtlCol="0" anchor="ctr">
            <a:noAutofit/>
          </a:bodyPr>
          <a:lstStyle/>
          <a:p>
            <a:pPr marL="0" indent="0" algn="ctr">
              <a:buNone/>
            </a:pPr>
            <a:r>
              <a:rPr lang="vi-VN" sz="1400" b="1">
                <a:solidFill>
                  <a:srgbClr val="FFFFFF"/>
                </a:solidFill>
              </a:rPr>
              <a:t>✓ Đáp án</a:t>
            </a:r>
            <a:endParaRPr lang="vi-VN" sz="1400"/>
          </a:p>
        </p:txBody>
      </p:sp>
    </p:spTree>
    <p:extLst>
      <p:ext uri="{BB962C8B-B14F-4D97-AF65-F5344CB8AC3E}">
        <p14:creationId xmlns:p14="http://schemas.microsoft.com/office/powerpoint/2010/main" val="2795430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4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par>
                                <p:cTn id="20" presetID="53" presetClass="entr" presetSubtype="16" fill="hold" grpId="0" nodeType="withEffect">
                                  <p:stCondLst>
                                    <p:cond delay="150"/>
                                  </p:stCondLst>
                                  <p:childTnLst>
                                    <p:set>
                                      <p:cBhvr>
                                        <p:cTn id="21" dur="1" fill="hold">
                                          <p:stCondLst>
                                            <p:cond delay="0"/>
                                          </p:stCondLst>
                                        </p:cTn>
                                        <p:tgtEl>
                                          <p:spTgt spid="31"/>
                                        </p:tgtEl>
                                        <p:attrNameLst>
                                          <p:attrName>style.visibility</p:attrName>
                                        </p:attrNameLst>
                                      </p:cBhvr>
                                      <p:to>
                                        <p:strVal val="visible"/>
                                      </p:to>
                                    </p:set>
                                    <p:anim calcmode="lin" valueType="num">
                                      <p:cBhvr>
                                        <p:cTn id="22" dur="400" fill="hold"/>
                                        <p:tgtEl>
                                          <p:spTgt spid="31"/>
                                        </p:tgtEl>
                                        <p:attrNameLst>
                                          <p:attrName>ppt_w</p:attrName>
                                        </p:attrNameLst>
                                      </p:cBhvr>
                                      <p:tavLst>
                                        <p:tav tm="0">
                                          <p:val>
                                            <p:fltVal val="0"/>
                                          </p:val>
                                        </p:tav>
                                        <p:tav tm="100000">
                                          <p:val>
                                            <p:strVal val="#ppt_w"/>
                                          </p:val>
                                        </p:tav>
                                      </p:tavLst>
                                    </p:anim>
                                    <p:anim calcmode="lin" valueType="num">
                                      <p:cBhvr>
                                        <p:cTn id="23" dur="400" fill="hold"/>
                                        <p:tgtEl>
                                          <p:spTgt spid="31"/>
                                        </p:tgtEl>
                                        <p:attrNameLst>
                                          <p:attrName>ppt_h</p:attrName>
                                        </p:attrNameLst>
                                      </p:cBhvr>
                                      <p:tavLst>
                                        <p:tav tm="0">
                                          <p:val>
                                            <p:fltVal val="0"/>
                                          </p:val>
                                        </p:tav>
                                        <p:tav tm="100000">
                                          <p:val>
                                            <p:strVal val="#ppt_h"/>
                                          </p:val>
                                        </p:tav>
                                      </p:tavLst>
                                    </p:anim>
                                    <p:animEffect transition="in" filter="fade">
                                      <p:cBhvr>
                                        <p:cTn id="2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8 · QUIZ &amp; TỔNG KẾT</a:t>
            </a:r>
            <a:endParaRPr lang="vi-VN" sz="1400"/>
          </a:p>
        </p:txBody>
      </p:sp>
      <p:sp>
        <p:nvSpPr>
          <p:cNvPr id="12" name="title 12"/>
          <p:cNvSpPr>
            <a:spLocks noGrp="1"/>
          </p:cNvSpPr>
          <p:nvPr>
            <p:ph type="title"/>
          </p:nvPr>
        </p:nvSpPr>
        <p:spPr/>
        <p:txBody>
          <a:bodyPr>
            <a:normAutofit/>
          </a:bodyPr>
          <a:lstStyle/>
          <a:p>
            <a:r>
              <a:rPr lang="vi-VN"/>
              <a:t>Question 5: Common Errors</a:t>
            </a:r>
          </a:p>
        </p:txBody>
      </p:sp>
      <p:sp>
        <p:nvSpPr>
          <p:cNvPr id="13" name="TextBox"/>
          <p:cNvSpPr txBox="1"/>
          <p:nvPr/>
        </p:nvSpPr>
        <p:spPr>
          <a:xfrm>
            <a:off x="1524000" y="1554480"/>
            <a:ext cx="10119360" cy="731520"/>
          </a:xfrm>
          <a:prstGeom prst="rect">
            <a:avLst/>
          </a:prstGeom>
          <a:noFill/>
          <a:ln>
            <a:noFill/>
          </a:ln>
        </p:spPr>
        <p:txBody>
          <a:bodyPr wrap="square" lIns="0" tIns="0" rIns="0" bIns="0" rtlCol="0" anchor="t">
            <a:noAutofit/>
          </a:bodyPr>
          <a:lstStyle/>
          <a:p>
            <a:pPr marL="0" indent="0">
              <a:lnSpc>
                <a:spcPct val="105000"/>
              </a:lnSpc>
              <a:buNone/>
            </a:pPr>
            <a:r>
              <a:rPr lang="vi-VN" sz="2400">
                <a:solidFill>
                  <a:srgbClr val="1B2230"/>
                </a:solidFill>
              </a:rPr>
              <a:t>Lỡ xóa một ô đang được công thức tham chiếu, lỗi nào xuất hiện?</a:t>
            </a:r>
            <a:endParaRPr lang="vi-VN" sz="2400"/>
          </a:p>
        </p:txBody>
      </p:sp>
      <p:sp>
        <p:nvSpPr>
          <p:cNvPr id="14" name="Option A"/>
          <p:cNvSpPr/>
          <p:nvPr/>
        </p:nvSpPr>
        <p:spPr>
          <a:xfrm>
            <a:off x="1524000" y="251460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5" name="Letter A"/>
          <p:cNvSpPr/>
          <p:nvPr/>
        </p:nvSpPr>
        <p:spPr>
          <a:xfrm>
            <a:off x="1706880" y="27889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A</a:t>
            </a:r>
            <a:endParaRPr lang="vi-VN" sz="2000"/>
          </a:p>
        </p:txBody>
      </p:sp>
      <p:sp>
        <p:nvSpPr>
          <p:cNvPr id="16" name="TextBox"/>
          <p:cNvSpPr txBox="1"/>
          <p:nvPr/>
        </p:nvSpPr>
        <p:spPr>
          <a:xfrm>
            <a:off x="2438400" y="251460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#NAME?</a:t>
            </a:r>
            <a:endParaRPr lang="vi-VN" sz="2000"/>
          </a:p>
        </p:txBody>
      </p:sp>
      <p:sp>
        <p:nvSpPr>
          <p:cNvPr id="17" name="Option B"/>
          <p:cNvSpPr/>
          <p:nvPr/>
        </p:nvSpPr>
        <p:spPr>
          <a:xfrm>
            <a:off x="6697980" y="251460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8" name="Letter B"/>
          <p:cNvSpPr/>
          <p:nvPr/>
        </p:nvSpPr>
        <p:spPr>
          <a:xfrm>
            <a:off x="6880860" y="27889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B</a:t>
            </a:r>
            <a:endParaRPr lang="vi-VN" sz="2000"/>
          </a:p>
        </p:txBody>
      </p:sp>
      <p:sp>
        <p:nvSpPr>
          <p:cNvPr id="19" name="TextBox"/>
          <p:cNvSpPr txBox="1"/>
          <p:nvPr/>
        </p:nvSpPr>
        <p:spPr>
          <a:xfrm>
            <a:off x="7612380" y="251460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#N/A</a:t>
            </a:r>
            <a:endParaRPr lang="vi-VN" sz="2000"/>
          </a:p>
        </p:txBody>
      </p:sp>
      <p:sp>
        <p:nvSpPr>
          <p:cNvPr id="20" name="Option C"/>
          <p:cNvSpPr/>
          <p:nvPr/>
        </p:nvSpPr>
        <p:spPr>
          <a:xfrm>
            <a:off x="1524000" y="384048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1" name="Letter C"/>
          <p:cNvSpPr/>
          <p:nvPr/>
        </p:nvSpPr>
        <p:spPr>
          <a:xfrm>
            <a:off x="1706880" y="41148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C</a:t>
            </a:r>
            <a:endParaRPr lang="vi-VN" sz="2000"/>
          </a:p>
        </p:txBody>
      </p:sp>
      <p:sp>
        <p:nvSpPr>
          <p:cNvPr id="22" name="TextBox"/>
          <p:cNvSpPr txBox="1"/>
          <p:nvPr/>
        </p:nvSpPr>
        <p:spPr>
          <a:xfrm>
            <a:off x="2438400" y="384048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#VALUE!</a:t>
            </a:r>
            <a:endParaRPr lang="vi-VN" sz="2000"/>
          </a:p>
        </p:txBody>
      </p:sp>
      <p:sp>
        <p:nvSpPr>
          <p:cNvPr id="23" name="Option D"/>
          <p:cNvSpPr/>
          <p:nvPr/>
        </p:nvSpPr>
        <p:spPr>
          <a:xfrm>
            <a:off x="6697980" y="3840480"/>
            <a:ext cx="4945380" cy="109728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6" name="Answer highlight D"/>
          <p:cNvSpPr/>
          <p:nvPr/>
        </p:nvSpPr>
        <p:spPr>
          <a:xfrm>
            <a:off x="6697980" y="3840480"/>
            <a:ext cx="4945380" cy="1097280"/>
          </a:xfrm>
          <a:prstGeom prst="rect">
            <a:avLst/>
          </a:prstGeom>
          <a:solidFill>
            <a:srgbClr val="E8F5E9"/>
          </a:solidFill>
          <a:ln w="38100">
            <a:solidFill>
              <a:srgbClr val="2E7D32"/>
            </a:solidFill>
          </a:ln>
        </p:spPr>
        <p:txBody>
          <a:bodyPr wrap="square" lIns="91440" tIns="45720" rIns="91440" bIns="45720" rtlCol="0" anchor="t">
            <a:noAutofit/>
          </a:bodyPr>
          <a:lstStyle/>
          <a:p>
            <a:pPr marL="0" indent="0">
              <a:buNone/>
            </a:pPr>
            <a:endParaRPr lang="vi-VN"/>
          </a:p>
        </p:txBody>
      </p:sp>
      <p:sp>
        <p:nvSpPr>
          <p:cNvPr id="24" name="Letter D"/>
          <p:cNvSpPr/>
          <p:nvPr/>
        </p:nvSpPr>
        <p:spPr>
          <a:xfrm>
            <a:off x="6880860" y="41148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D</a:t>
            </a:r>
            <a:endParaRPr lang="vi-VN" sz="2000"/>
          </a:p>
        </p:txBody>
      </p:sp>
      <p:sp>
        <p:nvSpPr>
          <p:cNvPr id="27" name="Answer letter D"/>
          <p:cNvSpPr/>
          <p:nvPr/>
        </p:nvSpPr>
        <p:spPr>
          <a:xfrm>
            <a:off x="6880860" y="4114800"/>
            <a:ext cx="548640" cy="548640"/>
          </a:xfrm>
          <a:prstGeom prst="ellipse">
            <a:avLst/>
          </a:prstGeom>
          <a:solidFill>
            <a:srgbClr val="2E7D32"/>
          </a:solidFill>
          <a:ln>
            <a:noFill/>
          </a:ln>
        </p:spPr>
        <p:txBody>
          <a:bodyPr wrap="square" lIns="0" tIns="0" rIns="0" bIns="0" rtlCol="0" anchor="ctr">
            <a:noAutofit/>
          </a:bodyPr>
          <a:lstStyle/>
          <a:p>
            <a:pPr marL="0" indent="0" algn="ctr">
              <a:buNone/>
            </a:pPr>
            <a:r>
              <a:rPr lang="vi-VN" sz="2000" b="1">
                <a:solidFill>
                  <a:srgbClr val="FFFFFF"/>
                </a:solidFill>
              </a:rPr>
              <a:t>D</a:t>
            </a:r>
            <a:endParaRPr lang="vi-VN" sz="2000"/>
          </a:p>
        </p:txBody>
      </p:sp>
      <p:sp>
        <p:nvSpPr>
          <p:cNvPr id="25" name="TextBox"/>
          <p:cNvSpPr txBox="1"/>
          <p:nvPr/>
        </p:nvSpPr>
        <p:spPr>
          <a:xfrm>
            <a:off x="7612380" y="3840480"/>
            <a:ext cx="3939540" cy="109728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#REF!</a:t>
            </a:r>
            <a:endParaRPr lang="vi-VN" sz="2000"/>
          </a:p>
        </p:txBody>
      </p:sp>
      <p:sp>
        <p:nvSpPr>
          <p:cNvPr id="28" name="Dim A"/>
          <p:cNvSpPr/>
          <p:nvPr/>
        </p:nvSpPr>
        <p:spPr>
          <a:xfrm>
            <a:off x="1524000" y="251460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29" name="Dim B"/>
          <p:cNvSpPr/>
          <p:nvPr/>
        </p:nvSpPr>
        <p:spPr>
          <a:xfrm>
            <a:off x="6697980" y="251460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0" name="Dim C"/>
          <p:cNvSpPr/>
          <p:nvPr/>
        </p:nvSpPr>
        <p:spPr>
          <a:xfrm>
            <a:off x="1524000" y="3840480"/>
            <a:ext cx="4945380" cy="109728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1" name="Answer chip"/>
          <p:cNvSpPr/>
          <p:nvPr/>
        </p:nvSpPr>
        <p:spPr>
          <a:xfrm>
            <a:off x="10180320" y="3657600"/>
            <a:ext cx="1325880" cy="292608"/>
          </a:xfrm>
          <a:prstGeom prst="roundRect">
            <a:avLst>
              <a:gd name="adj" fmla="val 50000"/>
            </a:avLst>
          </a:prstGeom>
          <a:solidFill>
            <a:srgbClr val="2E7D32"/>
          </a:solidFill>
          <a:ln>
            <a:noFill/>
          </a:ln>
        </p:spPr>
        <p:txBody>
          <a:bodyPr wrap="none" lIns="0" tIns="0" rIns="0" bIns="0" rtlCol="0" anchor="ctr">
            <a:noAutofit/>
          </a:bodyPr>
          <a:lstStyle/>
          <a:p>
            <a:pPr marL="0" indent="0" algn="ctr">
              <a:buNone/>
            </a:pPr>
            <a:r>
              <a:rPr lang="vi-VN" sz="1400" b="1">
                <a:solidFill>
                  <a:srgbClr val="FFFFFF"/>
                </a:solidFill>
              </a:rPr>
              <a:t>✓ Đáp án</a:t>
            </a:r>
            <a:endParaRPr lang="vi-VN" sz="1400"/>
          </a:p>
        </p:txBody>
      </p:sp>
    </p:spTree>
    <p:extLst>
      <p:ext uri="{BB962C8B-B14F-4D97-AF65-F5344CB8AC3E}">
        <p14:creationId xmlns:p14="http://schemas.microsoft.com/office/powerpoint/2010/main" val="20121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4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par>
                                <p:cTn id="20" presetID="53" presetClass="entr" presetSubtype="16" fill="hold" grpId="0" nodeType="withEffect">
                                  <p:stCondLst>
                                    <p:cond delay="150"/>
                                  </p:stCondLst>
                                  <p:childTnLst>
                                    <p:set>
                                      <p:cBhvr>
                                        <p:cTn id="21" dur="1" fill="hold">
                                          <p:stCondLst>
                                            <p:cond delay="0"/>
                                          </p:stCondLst>
                                        </p:cTn>
                                        <p:tgtEl>
                                          <p:spTgt spid="31"/>
                                        </p:tgtEl>
                                        <p:attrNameLst>
                                          <p:attrName>style.visibility</p:attrName>
                                        </p:attrNameLst>
                                      </p:cBhvr>
                                      <p:to>
                                        <p:strVal val="visible"/>
                                      </p:to>
                                    </p:set>
                                    <p:anim calcmode="lin" valueType="num">
                                      <p:cBhvr>
                                        <p:cTn id="22" dur="400" fill="hold"/>
                                        <p:tgtEl>
                                          <p:spTgt spid="31"/>
                                        </p:tgtEl>
                                        <p:attrNameLst>
                                          <p:attrName>ppt_w</p:attrName>
                                        </p:attrNameLst>
                                      </p:cBhvr>
                                      <p:tavLst>
                                        <p:tav tm="0">
                                          <p:val>
                                            <p:fltVal val="0"/>
                                          </p:val>
                                        </p:tav>
                                        <p:tav tm="100000">
                                          <p:val>
                                            <p:strVal val="#ppt_w"/>
                                          </p:val>
                                        </p:tav>
                                      </p:tavLst>
                                    </p:anim>
                                    <p:anim calcmode="lin" valueType="num">
                                      <p:cBhvr>
                                        <p:cTn id="23" dur="400" fill="hold"/>
                                        <p:tgtEl>
                                          <p:spTgt spid="31"/>
                                        </p:tgtEl>
                                        <p:attrNameLst>
                                          <p:attrName>ppt_h</p:attrName>
                                        </p:attrNameLst>
                                      </p:cBhvr>
                                      <p:tavLst>
                                        <p:tav tm="0">
                                          <p:val>
                                            <p:fltVal val="0"/>
                                          </p:val>
                                        </p:tav>
                                        <p:tav tm="100000">
                                          <p:val>
                                            <p:strVal val="#ppt_h"/>
                                          </p:val>
                                        </p:tav>
                                      </p:tavLst>
                                    </p:anim>
                                    <p:animEffect transition="in" filter="fade">
                                      <p:cBhvr>
                                        <p:cTn id="2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8 · QUIZ &amp; TỔNG KẾT</a:t>
            </a:r>
            <a:endParaRPr lang="vi-VN" sz="1400"/>
          </a:p>
        </p:txBody>
      </p:sp>
      <p:sp>
        <p:nvSpPr>
          <p:cNvPr id="12" name="title 12"/>
          <p:cNvSpPr>
            <a:spLocks noGrp="1"/>
          </p:cNvSpPr>
          <p:nvPr>
            <p:ph type="title"/>
          </p:nvPr>
        </p:nvSpPr>
        <p:spPr/>
        <p:txBody>
          <a:bodyPr>
            <a:normAutofit/>
          </a:bodyPr>
          <a:lstStyle/>
          <a:p>
            <a:r>
              <a:rPr lang="vi-VN"/>
              <a:t>Question 6: Tình huống — Data Structure</a:t>
            </a:r>
          </a:p>
        </p:txBody>
      </p:sp>
      <p:sp>
        <p:nvSpPr>
          <p:cNvPr id="13" name="TextBox"/>
          <p:cNvSpPr txBox="1"/>
          <p:nvPr/>
        </p:nvSpPr>
        <p:spPr>
          <a:xfrm>
            <a:off x="1524000" y="1554480"/>
            <a:ext cx="10119360" cy="1143000"/>
          </a:xfrm>
          <a:prstGeom prst="rect">
            <a:avLst/>
          </a:prstGeom>
          <a:noFill/>
          <a:ln>
            <a:noFill/>
          </a:ln>
        </p:spPr>
        <p:txBody>
          <a:bodyPr wrap="square" lIns="0" tIns="0" rIns="0" bIns="0" rtlCol="0" anchor="t">
            <a:noAutofit/>
          </a:bodyPr>
          <a:lstStyle/>
          <a:p>
            <a:pPr marL="0" indent="0">
              <a:lnSpc>
                <a:spcPct val="105000"/>
              </a:lnSpc>
              <a:buNone/>
            </a:pPr>
            <a:r>
              <a:rPr lang="vi-VN" sz="2400">
                <a:solidFill>
                  <a:srgbClr val="1B2230"/>
                </a:solidFill>
              </a:rPr>
              <a:t>Sếp gửi file bán hàng có ô gộp theo vùng và dòng "Tổng" sau mỗi vùng, nhờ tính doanh thu từng vùng. Việc đầu tiên nên làm là gì?</a:t>
            </a:r>
            <a:endParaRPr lang="vi-VN" sz="2400"/>
          </a:p>
        </p:txBody>
      </p:sp>
      <p:sp>
        <p:nvSpPr>
          <p:cNvPr id="14" name="Option A"/>
          <p:cNvSpPr/>
          <p:nvPr/>
        </p:nvSpPr>
        <p:spPr>
          <a:xfrm>
            <a:off x="1524000" y="2880360"/>
            <a:ext cx="4945380" cy="96012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5" name="Letter A"/>
          <p:cNvSpPr/>
          <p:nvPr/>
        </p:nvSpPr>
        <p:spPr>
          <a:xfrm>
            <a:off x="1706880" y="30861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A</a:t>
            </a:r>
            <a:endParaRPr lang="vi-VN" sz="2000"/>
          </a:p>
        </p:txBody>
      </p:sp>
      <p:sp>
        <p:nvSpPr>
          <p:cNvPr id="16" name="TextBox"/>
          <p:cNvSpPr txBox="1"/>
          <p:nvPr/>
        </p:nvSpPr>
        <p:spPr>
          <a:xfrm>
            <a:off x="2438400" y="2880360"/>
            <a:ext cx="3939540" cy="96012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Viết SUM cho từng vùng ngay</a:t>
            </a:r>
            <a:endParaRPr lang="vi-VN" sz="2000"/>
          </a:p>
        </p:txBody>
      </p:sp>
      <p:sp>
        <p:nvSpPr>
          <p:cNvPr id="17" name="Option B"/>
          <p:cNvSpPr/>
          <p:nvPr/>
        </p:nvSpPr>
        <p:spPr>
          <a:xfrm>
            <a:off x="6697980" y="2880360"/>
            <a:ext cx="4945380" cy="96012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6" name="Answer highlight B"/>
          <p:cNvSpPr/>
          <p:nvPr/>
        </p:nvSpPr>
        <p:spPr>
          <a:xfrm>
            <a:off x="6697980" y="2880360"/>
            <a:ext cx="4945380" cy="960120"/>
          </a:xfrm>
          <a:prstGeom prst="rect">
            <a:avLst/>
          </a:prstGeom>
          <a:solidFill>
            <a:srgbClr val="E8F5E9"/>
          </a:solidFill>
          <a:ln w="38100">
            <a:solidFill>
              <a:srgbClr val="2E7D32"/>
            </a:solidFill>
          </a:ln>
        </p:spPr>
        <p:txBody>
          <a:bodyPr wrap="square" lIns="91440" tIns="45720" rIns="91440" bIns="45720" rtlCol="0" anchor="t">
            <a:noAutofit/>
          </a:bodyPr>
          <a:lstStyle/>
          <a:p>
            <a:pPr marL="0" indent="0">
              <a:buNone/>
            </a:pPr>
            <a:endParaRPr lang="vi-VN"/>
          </a:p>
        </p:txBody>
      </p:sp>
      <p:sp>
        <p:nvSpPr>
          <p:cNvPr id="18" name="Letter B"/>
          <p:cNvSpPr/>
          <p:nvPr/>
        </p:nvSpPr>
        <p:spPr>
          <a:xfrm>
            <a:off x="6880860" y="30861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B</a:t>
            </a:r>
            <a:endParaRPr lang="vi-VN" sz="2000"/>
          </a:p>
        </p:txBody>
      </p:sp>
      <p:sp>
        <p:nvSpPr>
          <p:cNvPr id="27" name="Answer letter B"/>
          <p:cNvSpPr/>
          <p:nvPr/>
        </p:nvSpPr>
        <p:spPr>
          <a:xfrm>
            <a:off x="6880860" y="3086100"/>
            <a:ext cx="548640" cy="548640"/>
          </a:xfrm>
          <a:prstGeom prst="ellipse">
            <a:avLst/>
          </a:prstGeom>
          <a:solidFill>
            <a:srgbClr val="2E7D32"/>
          </a:solidFill>
          <a:ln>
            <a:noFill/>
          </a:ln>
        </p:spPr>
        <p:txBody>
          <a:bodyPr wrap="square" lIns="0" tIns="0" rIns="0" bIns="0" rtlCol="0" anchor="ctr">
            <a:noAutofit/>
          </a:bodyPr>
          <a:lstStyle/>
          <a:p>
            <a:pPr marL="0" indent="0" algn="ctr">
              <a:buNone/>
            </a:pPr>
            <a:r>
              <a:rPr lang="vi-VN" sz="2000" b="1">
                <a:solidFill>
                  <a:srgbClr val="FFFFFF"/>
                </a:solidFill>
              </a:rPr>
              <a:t>B</a:t>
            </a:r>
            <a:endParaRPr lang="vi-VN" sz="2000"/>
          </a:p>
        </p:txBody>
      </p:sp>
      <p:sp>
        <p:nvSpPr>
          <p:cNvPr id="19" name="TextBox"/>
          <p:cNvSpPr txBox="1"/>
          <p:nvPr/>
        </p:nvSpPr>
        <p:spPr>
          <a:xfrm>
            <a:off x="7612380" y="2880360"/>
            <a:ext cx="3939540" cy="96012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Đưa về dạng tidy rồi chuyển thành Table</a:t>
            </a:r>
            <a:endParaRPr lang="vi-VN" sz="2000"/>
          </a:p>
        </p:txBody>
      </p:sp>
      <p:sp>
        <p:nvSpPr>
          <p:cNvPr id="20" name="Option C"/>
          <p:cNvSpPr/>
          <p:nvPr/>
        </p:nvSpPr>
        <p:spPr>
          <a:xfrm>
            <a:off x="1524000" y="4069080"/>
            <a:ext cx="4945380" cy="96012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1" name="Letter C"/>
          <p:cNvSpPr/>
          <p:nvPr/>
        </p:nvSpPr>
        <p:spPr>
          <a:xfrm>
            <a:off x="1706880" y="42748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C</a:t>
            </a:r>
            <a:endParaRPr lang="vi-VN" sz="2000"/>
          </a:p>
        </p:txBody>
      </p:sp>
      <p:sp>
        <p:nvSpPr>
          <p:cNvPr id="22" name="TextBox"/>
          <p:cNvSpPr txBox="1"/>
          <p:nvPr/>
        </p:nvSpPr>
        <p:spPr>
          <a:xfrm>
            <a:off x="2438400" y="4069080"/>
            <a:ext cx="3939540" cy="96012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Tô màu từng vùng</a:t>
            </a:r>
            <a:endParaRPr lang="vi-VN" sz="2000"/>
          </a:p>
        </p:txBody>
      </p:sp>
      <p:sp>
        <p:nvSpPr>
          <p:cNvPr id="23" name="Option D"/>
          <p:cNvSpPr/>
          <p:nvPr/>
        </p:nvSpPr>
        <p:spPr>
          <a:xfrm>
            <a:off x="6697980" y="4069080"/>
            <a:ext cx="4945380" cy="96012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4" name="Letter D"/>
          <p:cNvSpPr/>
          <p:nvPr/>
        </p:nvSpPr>
        <p:spPr>
          <a:xfrm>
            <a:off x="6880860" y="42748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D</a:t>
            </a:r>
            <a:endParaRPr lang="vi-VN" sz="2000"/>
          </a:p>
        </p:txBody>
      </p:sp>
      <p:sp>
        <p:nvSpPr>
          <p:cNvPr id="25" name="TextBox"/>
          <p:cNvSpPr txBox="1"/>
          <p:nvPr/>
        </p:nvSpPr>
        <p:spPr>
          <a:xfrm>
            <a:off x="7612380" y="4069080"/>
            <a:ext cx="3939540" cy="96012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Chụp màn hình gửi lại sếp</a:t>
            </a:r>
            <a:endParaRPr lang="vi-VN" sz="2000"/>
          </a:p>
        </p:txBody>
      </p:sp>
      <p:sp>
        <p:nvSpPr>
          <p:cNvPr id="28" name="Dim A"/>
          <p:cNvSpPr/>
          <p:nvPr/>
        </p:nvSpPr>
        <p:spPr>
          <a:xfrm>
            <a:off x="1524000" y="2880360"/>
            <a:ext cx="4945380" cy="96012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29" name="Dim C"/>
          <p:cNvSpPr/>
          <p:nvPr/>
        </p:nvSpPr>
        <p:spPr>
          <a:xfrm>
            <a:off x="1524000" y="4069080"/>
            <a:ext cx="4945380" cy="96012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0" name="Dim D"/>
          <p:cNvSpPr/>
          <p:nvPr/>
        </p:nvSpPr>
        <p:spPr>
          <a:xfrm>
            <a:off x="6697980" y="4069080"/>
            <a:ext cx="4945380" cy="96012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1" name="Answer chip"/>
          <p:cNvSpPr/>
          <p:nvPr/>
        </p:nvSpPr>
        <p:spPr>
          <a:xfrm>
            <a:off x="10180320" y="2697480"/>
            <a:ext cx="1325880" cy="292608"/>
          </a:xfrm>
          <a:prstGeom prst="roundRect">
            <a:avLst>
              <a:gd name="adj" fmla="val 50000"/>
            </a:avLst>
          </a:prstGeom>
          <a:solidFill>
            <a:srgbClr val="2E7D32"/>
          </a:solidFill>
          <a:ln>
            <a:noFill/>
          </a:ln>
        </p:spPr>
        <p:txBody>
          <a:bodyPr wrap="none" lIns="0" tIns="0" rIns="0" bIns="0" rtlCol="0" anchor="ctr">
            <a:noAutofit/>
          </a:bodyPr>
          <a:lstStyle/>
          <a:p>
            <a:pPr marL="0" indent="0" algn="ctr">
              <a:buNone/>
            </a:pPr>
            <a:r>
              <a:rPr lang="vi-VN" sz="1400" b="1">
                <a:solidFill>
                  <a:srgbClr val="FFFFFF"/>
                </a:solidFill>
              </a:rPr>
              <a:t>✓ Đáp án</a:t>
            </a:r>
            <a:endParaRPr lang="vi-VN" sz="1400"/>
          </a:p>
        </p:txBody>
      </p:sp>
    </p:spTree>
    <p:extLst>
      <p:ext uri="{BB962C8B-B14F-4D97-AF65-F5344CB8AC3E}">
        <p14:creationId xmlns:p14="http://schemas.microsoft.com/office/powerpoint/2010/main" val="343997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4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par>
                                <p:cTn id="20" presetID="53" presetClass="entr" presetSubtype="16" fill="hold" grpId="0" nodeType="withEffect">
                                  <p:stCondLst>
                                    <p:cond delay="150"/>
                                  </p:stCondLst>
                                  <p:childTnLst>
                                    <p:set>
                                      <p:cBhvr>
                                        <p:cTn id="21" dur="1" fill="hold">
                                          <p:stCondLst>
                                            <p:cond delay="0"/>
                                          </p:stCondLst>
                                        </p:cTn>
                                        <p:tgtEl>
                                          <p:spTgt spid="31"/>
                                        </p:tgtEl>
                                        <p:attrNameLst>
                                          <p:attrName>style.visibility</p:attrName>
                                        </p:attrNameLst>
                                      </p:cBhvr>
                                      <p:to>
                                        <p:strVal val="visible"/>
                                      </p:to>
                                    </p:set>
                                    <p:anim calcmode="lin" valueType="num">
                                      <p:cBhvr>
                                        <p:cTn id="22" dur="400" fill="hold"/>
                                        <p:tgtEl>
                                          <p:spTgt spid="31"/>
                                        </p:tgtEl>
                                        <p:attrNameLst>
                                          <p:attrName>ppt_w</p:attrName>
                                        </p:attrNameLst>
                                      </p:cBhvr>
                                      <p:tavLst>
                                        <p:tav tm="0">
                                          <p:val>
                                            <p:fltVal val="0"/>
                                          </p:val>
                                        </p:tav>
                                        <p:tav tm="100000">
                                          <p:val>
                                            <p:strVal val="#ppt_w"/>
                                          </p:val>
                                        </p:tav>
                                      </p:tavLst>
                                    </p:anim>
                                    <p:anim calcmode="lin" valueType="num">
                                      <p:cBhvr>
                                        <p:cTn id="23" dur="400" fill="hold"/>
                                        <p:tgtEl>
                                          <p:spTgt spid="31"/>
                                        </p:tgtEl>
                                        <p:attrNameLst>
                                          <p:attrName>ppt_h</p:attrName>
                                        </p:attrNameLst>
                                      </p:cBhvr>
                                      <p:tavLst>
                                        <p:tav tm="0">
                                          <p:val>
                                            <p:fltVal val="0"/>
                                          </p:val>
                                        </p:tav>
                                        <p:tav tm="100000">
                                          <p:val>
                                            <p:strVal val="#ppt_h"/>
                                          </p:val>
                                        </p:tav>
                                      </p:tavLst>
                                    </p:anim>
                                    <p:animEffect transition="in" filter="fade">
                                      <p:cBhvr>
                                        <p:cTn id="2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8 · QUIZ &amp; TỔNG KẾT</a:t>
            </a:r>
            <a:endParaRPr lang="vi-VN" sz="1400"/>
          </a:p>
        </p:txBody>
      </p:sp>
      <p:sp>
        <p:nvSpPr>
          <p:cNvPr id="12" name="title 12"/>
          <p:cNvSpPr>
            <a:spLocks noGrp="1"/>
          </p:cNvSpPr>
          <p:nvPr>
            <p:ph type="title"/>
          </p:nvPr>
        </p:nvSpPr>
        <p:spPr/>
        <p:txBody>
          <a:bodyPr>
            <a:normAutofit/>
          </a:bodyPr>
          <a:lstStyle/>
          <a:p>
            <a:r>
              <a:rPr lang="vi-VN"/>
              <a:t>Question 7: Tình huống — Automation</a:t>
            </a:r>
          </a:p>
        </p:txBody>
      </p:sp>
      <p:sp>
        <p:nvSpPr>
          <p:cNvPr id="13" name="TextBox"/>
          <p:cNvSpPr txBox="1"/>
          <p:nvPr/>
        </p:nvSpPr>
        <p:spPr>
          <a:xfrm>
            <a:off x="1524000" y="1554480"/>
            <a:ext cx="10119360" cy="1143000"/>
          </a:xfrm>
          <a:prstGeom prst="rect">
            <a:avLst/>
          </a:prstGeom>
          <a:noFill/>
          <a:ln>
            <a:noFill/>
          </a:ln>
        </p:spPr>
        <p:txBody>
          <a:bodyPr wrap="square" lIns="0" tIns="0" rIns="0" bIns="0" rtlCol="0" anchor="t">
            <a:noAutofit/>
          </a:bodyPr>
          <a:lstStyle/>
          <a:p>
            <a:pPr marL="0" indent="0">
              <a:lnSpc>
                <a:spcPct val="105000"/>
              </a:lnSpc>
              <a:buNone/>
            </a:pPr>
            <a:r>
              <a:rPr lang="vi-VN" sz="2400">
                <a:solidFill>
                  <a:srgbClr val="1B2230"/>
                </a:solidFill>
              </a:rPr>
              <a:t>Mỗi tháng bạn dán thêm dữ liệu mới vào cuối bảng và muốn cột Revenue tự tính. Nên dùng gì?</a:t>
            </a:r>
            <a:endParaRPr lang="vi-VN" sz="2400"/>
          </a:p>
        </p:txBody>
      </p:sp>
      <p:sp>
        <p:nvSpPr>
          <p:cNvPr id="14" name="Option A"/>
          <p:cNvSpPr/>
          <p:nvPr/>
        </p:nvSpPr>
        <p:spPr>
          <a:xfrm>
            <a:off x="1524000" y="2880360"/>
            <a:ext cx="4945380" cy="96012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15" name="Letter A"/>
          <p:cNvSpPr/>
          <p:nvPr/>
        </p:nvSpPr>
        <p:spPr>
          <a:xfrm>
            <a:off x="1706880" y="30861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A</a:t>
            </a:r>
            <a:endParaRPr lang="vi-VN" sz="2000"/>
          </a:p>
        </p:txBody>
      </p:sp>
      <p:sp>
        <p:nvSpPr>
          <p:cNvPr id="16" name="TextBox"/>
          <p:cNvSpPr txBox="1"/>
          <p:nvPr/>
        </p:nvSpPr>
        <p:spPr>
          <a:xfrm>
            <a:off x="2438400" y="2880360"/>
            <a:ext cx="3939540" cy="96012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Data Validation</a:t>
            </a:r>
            <a:endParaRPr lang="vi-VN" sz="2000"/>
          </a:p>
        </p:txBody>
      </p:sp>
      <p:sp>
        <p:nvSpPr>
          <p:cNvPr id="17" name="Option B"/>
          <p:cNvSpPr/>
          <p:nvPr/>
        </p:nvSpPr>
        <p:spPr>
          <a:xfrm>
            <a:off x="6697980" y="2880360"/>
            <a:ext cx="4945380" cy="96012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6" name="Answer highlight B"/>
          <p:cNvSpPr/>
          <p:nvPr/>
        </p:nvSpPr>
        <p:spPr>
          <a:xfrm>
            <a:off x="6697980" y="2880360"/>
            <a:ext cx="4945380" cy="960120"/>
          </a:xfrm>
          <a:prstGeom prst="rect">
            <a:avLst/>
          </a:prstGeom>
          <a:solidFill>
            <a:srgbClr val="E8F5E9"/>
          </a:solidFill>
          <a:ln w="38100">
            <a:solidFill>
              <a:srgbClr val="2E7D32"/>
            </a:solidFill>
          </a:ln>
        </p:spPr>
        <p:txBody>
          <a:bodyPr wrap="square" lIns="91440" tIns="45720" rIns="91440" bIns="45720" rtlCol="0" anchor="t">
            <a:noAutofit/>
          </a:bodyPr>
          <a:lstStyle/>
          <a:p>
            <a:pPr marL="0" indent="0">
              <a:buNone/>
            </a:pPr>
            <a:endParaRPr lang="vi-VN"/>
          </a:p>
        </p:txBody>
      </p:sp>
      <p:sp>
        <p:nvSpPr>
          <p:cNvPr id="18" name="Letter B"/>
          <p:cNvSpPr/>
          <p:nvPr/>
        </p:nvSpPr>
        <p:spPr>
          <a:xfrm>
            <a:off x="6880860" y="308610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B</a:t>
            </a:r>
            <a:endParaRPr lang="vi-VN" sz="2000"/>
          </a:p>
        </p:txBody>
      </p:sp>
      <p:sp>
        <p:nvSpPr>
          <p:cNvPr id="27" name="Answer letter B"/>
          <p:cNvSpPr/>
          <p:nvPr/>
        </p:nvSpPr>
        <p:spPr>
          <a:xfrm>
            <a:off x="6880860" y="3086100"/>
            <a:ext cx="548640" cy="548640"/>
          </a:xfrm>
          <a:prstGeom prst="ellipse">
            <a:avLst/>
          </a:prstGeom>
          <a:solidFill>
            <a:srgbClr val="2E7D32"/>
          </a:solidFill>
          <a:ln>
            <a:noFill/>
          </a:ln>
        </p:spPr>
        <p:txBody>
          <a:bodyPr wrap="square" lIns="0" tIns="0" rIns="0" bIns="0" rtlCol="0" anchor="ctr">
            <a:noAutofit/>
          </a:bodyPr>
          <a:lstStyle/>
          <a:p>
            <a:pPr marL="0" indent="0" algn="ctr">
              <a:buNone/>
            </a:pPr>
            <a:r>
              <a:rPr lang="vi-VN" sz="2000" b="1">
                <a:solidFill>
                  <a:srgbClr val="FFFFFF"/>
                </a:solidFill>
              </a:rPr>
              <a:t>B</a:t>
            </a:r>
            <a:endParaRPr lang="vi-VN" sz="2000"/>
          </a:p>
        </p:txBody>
      </p:sp>
      <p:sp>
        <p:nvSpPr>
          <p:cNvPr id="19" name="TextBox"/>
          <p:cNvSpPr txBox="1"/>
          <p:nvPr/>
        </p:nvSpPr>
        <p:spPr>
          <a:xfrm>
            <a:off x="7612380" y="2880360"/>
            <a:ext cx="3939540" cy="96012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Excel Table</a:t>
            </a:r>
            <a:endParaRPr lang="vi-VN" sz="2000"/>
          </a:p>
        </p:txBody>
      </p:sp>
      <p:sp>
        <p:nvSpPr>
          <p:cNvPr id="20" name="Option C"/>
          <p:cNvSpPr/>
          <p:nvPr/>
        </p:nvSpPr>
        <p:spPr>
          <a:xfrm>
            <a:off x="1524000" y="4069080"/>
            <a:ext cx="4945380" cy="96012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1" name="Letter C"/>
          <p:cNvSpPr/>
          <p:nvPr/>
        </p:nvSpPr>
        <p:spPr>
          <a:xfrm>
            <a:off x="1706880" y="42748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C</a:t>
            </a:r>
            <a:endParaRPr lang="vi-VN" sz="2000"/>
          </a:p>
        </p:txBody>
      </p:sp>
      <p:sp>
        <p:nvSpPr>
          <p:cNvPr id="22" name="TextBox"/>
          <p:cNvSpPr txBox="1"/>
          <p:nvPr/>
        </p:nvSpPr>
        <p:spPr>
          <a:xfrm>
            <a:off x="2438400" y="4069080"/>
            <a:ext cx="3939540" cy="96012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Freeze Panes</a:t>
            </a:r>
            <a:endParaRPr lang="vi-VN" sz="2000"/>
          </a:p>
        </p:txBody>
      </p:sp>
      <p:sp>
        <p:nvSpPr>
          <p:cNvPr id="23" name="Option D"/>
          <p:cNvSpPr/>
          <p:nvPr/>
        </p:nvSpPr>
        <p:spPr>
          <a:xfrm>
            <a:off x="6697980" y="4069080"/>
            <a:ext cx="4945380" cy="960120"/>
          </a:xfrm>
          <a:prstGeom prst="rect">
            <a:avLst/>
          </a:prstGeom>
          <a:solidFill>
            <a:srgbClr val="FFFFFF"/>
          </a:solidFill>
          <a:ln w="12700">
            <a:solidFill>
              <a:srgbClr val="D9DEE8"/>
            </a:solidFill>
          </a:ln>
        </p:spPr>
        <p:txBody>
          <a:bodyPr wrap="square" lIns="91440" tIns="45720" rIns="91440" bIns="45720" rtlCol="0" anchor="t">
            <a:noAutofit/>
          </a:bodyPr>
          <a:lstStyle/>
          <a:p>
            <a:pPr marL="0" indent="0">
              <a:buNone/>
            </a:pPr>
            <a:endParaRPr lang="vi-VN"/>
          </a:p>
        </p:txBody>
      </p:sp>
      <p:sp>
        <p:nvSpPr>
          <p:cNvPr id="24" name="Letter D"/>
          <p:cNvSpPr/>
          <p:nvPr/>
        </p:nvSpPr>
        <p:spPr>
          <a:xfrm>
            <a:off x="6880860" y="4274820"/>
            <a:ext cx="548640" cy="548640"/>
          </a:xfrm>
          <a:prstGeom prst="ellipse">
            <a:avLst/>
          </a:prstGeom>
          <a:solidFill>
            <a:srgbClr val="203864"/>
          </a:solidFill>
          <a:ln>
            <a:noFill/>
          </a:ln>
        </p:spPr>
        <p:txBody>
          <a:bodyPr wrap="square" lIns="0" tIns="0" rIns="0" bIns="0" rtlCol="0" anchor="ctr">
            <a:noAutofit/>
          </a:bodyPr>
          <a:lstStyle/>
          <a:p>
            <a:pPr marL="0" indent="0" algn="ctr">
              <a:buNone/>
            </a:pPr>
            <a:r>
              <a:rPr lang="vi-VN" sz="2000" b="1">
                <a:solidFill>
                  <a:srgbClr val="FFFFFF"/>
                </a:solidFill>
              </a:rPr>
              <a:t>D</a:t>
            </a:r>
            <a:endParaRPr lang="vi-VN" sz="2000"/>
          </a:p>
        </p:txBody>
      </p:sp>
      <p:sp>
        <p:nvSpPr>
          <p:cNvPr id="25" name="TextBox"/>
          <p:cNvSpPr txBox="1"/>
          <p:nvPr/>
        </p:nvSpPr>
        <p:spPr>
          <a:xfrm>
            <a:off x="7612380" y="4069080"/>
            <a:ext cx="3939540" cy="960120"/>
          </a:xfrm>
          <a:prstGeom prst="rect">
            <a:avLst/>
          </a:prstGeom>
          <a:noFill/>
          <a:ln>
            <a:noFill/>
          </a:ln>
        </p:spPr>
        <p:txBody>
          <a:bodyPr wrap="square" lIns="0" tIns="0" rIns="0" bIns="0" rtlCol="0" anchor="ctr">
            <a:noAutofit/>
          </a:bodyPr>
          <a:lstStyle/>
          <a:p>
            <a:pPr marL="0" indent="0">
              <a:lnSpc>
                <a:spcPct val="100000"/>
              </a:lnSpc>
              <a:buNone/>
            </a:pPr>
            <a:r>
              <a:rPr lang="vi-VN" sz="2000">
                <a:solidFill>
                  <a:srgbClr val="1B2230"/>
                </a:solidFill>
              </a:rPr>
              <a:t>Show Formulas</a:t>
            </a:r>
            <a:endParaRPr lang="vi-VN" sz="2000"/>
          </a:p>
        </p:txBody>
      </p:sp>
      <p:sp>
        <p:nvSpPr>
          <p:cNvPr id="28" name="Dim A"/>
          <p:cNvSpPr/>
          <p:nvPr/>
        </p:nvSpPr>
        <p:spPr>
          <a:xfrm>
            <a:off x="1524000" y="2880360"/>
            <a:ext cx="4945380" cy="96012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29" name="Dim C"/>
          <p:cNvSpPr/>
          <p:nvPr/>
        </p:nvSpPr>
        <p:spPr>
          <a:xfrm>
            <a:off x="1524000" y="4069080"/>
            <a:ext cx="4945380" cy="96012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0" name="Dim D"/>
          <p:cNvSpPr/>
          <p:nvPr/>
        </p:nvSpPr>
        <p:spPr>
          <a:xfrm>
            <a:off x="6697980" y="4069080"/>
            <a:ext cx="4945380" cy="960120"/>
          </a:xfrm>
          <a:prstGeom prst="rect">
            <a:avLst/>
          </a:prstGeom>
          <a:solidFill>
            <a:srgbClr val="FFFFFF">
              <a:alpha val="60000"/>
            </a:srgbClr>
          </a:solidFill>
          <a:ln>
            <a:noFill/>
          </a:ln>
        </p:spPr>
        <p:txBody>
          <a:bodyPr wrap="square" lIns="91440" tIns="45720" rIns="91440" bIns="45720" rtlCol="0" anchor="t">
            <a:noAutofit/>
          </a:bodyPr>
          <a:lstStyle/>
          <a:p>
            <a:pPr marL="0" indent="0">
              <a:buNone/>
            </a:pPr>
            <a:endParaRPr lang="vi-VN"/>
          </a:p>
        </p:txBody>
      </p:sp>
      <p:sp>
        <p:nvSpPr>
          <p:cNvPr id="31" name="Answer chip"/>
          <p:cNvSpPr/>
          <p:nvPr/>
        </p:nvSpPr>
        <p:spPr>
          <a:xfrm>
            <a:off x="10180320" y="2697480"/>
            <a:ext cx="1325880" cy="292608"/>
          </a:xfrm>
          <a:prstGeom prst="roundRect">
            <a:avLst>
              <a:gd name="adj" fmla="val 50000"/>
            </a:avLst>
          </a:prstGeom>
          <a:solidFill>
            <a:srgbClr val="2E7D32"/>
          </a:solidFill>
          <a:ln>
            <a:noFill/>
          </a:ln>
        </p:spPr>
        <p:txBody>
          <a:bodyPr wrap="none" lIns="0" tIns="0" rIns="0" bIns="0" rtlCol="0" anchor="ctr">
            <a:noAutofit/>
          </a:bodyPr>
          <a:lstStyle/>
          <a:p>
            <a:pPr marL="0" indent="0" algn="ctr">
              <a:buNone/>
            </a:pPr>
            <a:r>
              <a:rPr lang="vi-VN" sz="1400" b="1">
                <a:solidFill>
                  <a:srgbClr val="FFFFFF"/>
                </a:solidFill>
              </a:rPr>
              <a:t>✓ Đáp án</a:t>
            </a:r>
            <a:endParaRPr lang="vi-VN" sz="1400"/>
          </a:p>
        </p:txBody>
      </p:sp>
    </p:spTree>
    <p:extLst>
      <p:ext uri="{BB962C8B-B14F-4D97-AF65-F5344CB8AC3E}">
        <p14:creationId xmlns:p14="http://schemas.microsoft.com/office/powerpoint/2010/main" val="1054305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4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par>
                                <p:cTn id="20" presetID="53" presetClass="entr" presetSubtype="16" fill="hold" grpId="0" nodeType="withEffect">
                                  <p:stCondLst>
                                    <p:cond delay="150"/>
                                  </p:stCondLst>
                                  <p:childTnLst>
                                    <p:set>
                                      <p:cBhvr>
                                        <p:cTn id="21" dur="1" fill="hold">
                                          <p:stCondLst>
                                            <p:cond delay="0"/>
                                          </p:stCondLst>
                                        </p:cTn>
                                        <p:tgtEl>
                                          <p:spTgt spid="31"/>
                                        </p:tgtEl>
                                        <p:attrNameLst>
                                          <p:attrName>style.visibility</p:attrName>
                                        </p:attrNameLst>
                                      </p:cBhvr>
                                      <p:to>
                                        <p:strVal val="visible"/>
                                      </p:to>
                                    </p:set>
                                    <p:anim calcmode="lin" valueType="num">
                                      <p:cBhvr>
                                        <p:cTn id="22" dur="400" fill="hold"/>
                                        <p:tgtEl>
                                          <p:spTgt spid="31"/>
                                        </p:tgtEl>
                                        <p:attrNameLst>
                                          <p:attrName>ppt_w</p:attrName>
                                        </p:attrNameLst>
                                      </p:cBhvr>
                                      <p:tavLst>
                                        <p:tav tm="0">
                                          <p:val>
                                            <p:fltVal val="0"/>
                                          </p:val>
                                        </p:tav>
                                        <p:tav tm="100000">
                                          <p:val>
                                            <p:strVal val="#ppt_w"/>
                                          </p:val>
                                        </p:tav>
                                      </p:tavLst>
                                    </p:anim>
                                    <p:anim calcmode="lin" valueType="num">
                                      <p:cBhvr>
                                        <p:cTn id="23" dur="400" fill="hold"/>
                                        <p:tgtEl>
                                          <p:spTgt spid="31"/>
                                        </p:tgtEl>
                                        <p:attrNameLst>
                                          <p:attrName>ppt_h</p:attrName>
                                        </p:attrNameLst>
                                      </p:cBhvr>
                                      <p:tavLst>
                                        <p:tav tm="0">
                                          <p:val>
                                            <p:fltVal val="0"/>
                                          </p:val>
                                        </p:tav>
                                        <p:tav tm="100000">
                                          <p:val>
                                            <p:strVal val="#ppt_h"/>
                                          </p:val>
                                        </p:tav>
                                      </p:tavLst>
                                    </p:anim>
                                    <p:animEffect transition="in" filter="fade">
                                      <p:cBhvr>
                                        <p:cTn id="2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8 · QUIZ &amp; TỔNG KẾT</a:t>
            </a:r>
            <a:endParaRPr lang="vi-VN" sz="1400"/>
          </a:p>
        </p:txBody>
      </p:sp>
      <p:sp>
        <p:nvSpPr>
          <p:cNvPr id="12" name="title 12"/>
          <p:cNvSpPr>
            <a:spLocks noGrp="1"/>
          </p:cNvSpPr>
          <p:nvPr>
            <p:ph type="title"/>
          </p:nvPr>
        </p:nvSpPr>
        <p:spPr/>
        <p:txBody>
          <a:bodyPr>
            <a:normAutofit/>
          </a:bodyPr>
          <a:lstStyle/>
          <a:p>
            <a:r>
              <a:rPr lang="vi-VN"/>
              <a:t>Tổng kết &amp; insight của bạn</a:t>
            </a:r>
          </a:p>
        </p:txBody>
      </p:sp>
      <p:sp>
        <p:nvSpPr>
          <p:cNvPr id="13" name="TextBox"/>
          <p:cNvSpPr txBox="1"/>
          <p:nvPr/>
        </p:nvSpPr>
        <p:spPr>
          <a:xfrm>
            <a:off x="1524000" y="1554480"/>
            <a:ext cx="4572000" cy="411480"/>
          </a:xfrm>
          <a:prstGeom prst="rect">
            <a:avLst/>
          </a:prstGeom>
          <a:noFill/>
          <a:ln>
            <a:noFill/>
          </a:ln>
        </p:spPr>
        <p:txBody>
          <a:bodyPr wrap="square" lIns="0" tIns="0" rIns="0" bIns="0" rtlCol="0" anchor="t">
            <a:noAutofit/>
          </a:bodyPr>
          <a:lstStyle/>
          <a:p>
            <a:pPr marL="0" indent="0">
              <a:buNone/>
            </a:pPr>
            <a:r>
              <a:rPr lang="vi-VN" sz="1800" b="1">
                <a:solidFill>
                  <a:srgbClr val="203864"/>
                </a:solidFill>
              </a:rPr>
              <a:t>Điểm chính cần nhớ</a:t>
            </a:r>
            <a:endParaRPr lang="vi-VN" sz="1800"/>
          </a:p>
        </p:txBody>
      </p:sp>
      <p:sp>
        <p:nvSpPr>
          <p:cNvPr id="14" name="TextBox"/>
          <p:cNvSpPr txBox="1"/>
          <p:nvPr/>
        </p:nvSpPr>
        <p:spPr>
          <a:xfrm>
            <a:off x="1524000" y="2057400"/>
            <a:ext cx="4572000" cy="3749040"/>
          </a:xfrm>
          <a:prstGeom prst="rect">
            <a:avLst/>
          </a:prstGeom>
          <a:noFill/>
          <a:ln>
            <a:noFill/>
          </a:ln>
        </p:spPr>
        <p:txBody>
          <a:bodyPr wrap="square" lIns="0" tIns="0" rIns="0" bIns="0" rtlCol="0" anchor="t">
            <a:noAutofit/>
          </a:bodyPr>
          <a:lstStyle/>
          <a:p>
            <a:pPr marL="457200" indent="-457200">
              <a:spcAft>
                <a:spcPts val="1000"/>
              </a:spcAft>
              <a:buFont typeface="+mj-lt"/>
              <a:buAutoNum type="arabicPeriod"/>
            </a:pPr>
            <a:r>
              <a:rPr lang="vi-VN" sz="2000">
                <a:solidFill>
                  <a:srgbClr val="1B2230"/>
                </a:solidFill>
              </a:rPr>
              <a:t>Kiểm tra máy trước.</a:t>
            </a:r>
            <a:endParaRPr lang="vi-VN" sz="2000"/>
          </a:p>
          <a:p>
            <a:pPr marL="457200" indent="-457200">
              <a:spcAft>
                <a:spcPts val="1000"/>
              </a:spcAft>
              <a:buFont typeface="+mj-lt"/>
              <a:buAutoNum type="arabicPeriod"/>
            </a:pPr>
            <a:r>
              <a:rPr lang="vi-VN" sz="2000">
                <a:solidFill>
                  <a:srgbClr val="1B2230"/>
                </a:solidFill>
              </a:rPr>
              <a:t>Dấu </a:t>
            </a:r>
            <a:r>
              <a:rPr lang="vi-VN" sz="2000" b="1">
                <a:solidFill>
                  <a:srgbClr val="203864"/>
                </a:solidFill>
              </a:rPr>
              <a:t>$</a:t>
            </a:r>
            <a:r>
              <a:rPr lang="vi-VN" sz="2000">
                <a:solidFill>
                  <a:srgbClr val="1B2230"/>
                </a:solidFill>
              </a:rPr>
              <a:t> cho phép tái sử dụng công thức.</a:t>
            </a:r>
            <a:endParaRPr lang="vi-VN" sz="2000"/>
          </a:p>
          <a:p>
            <a:pPr marL="457200" indent="-457200">
              <a:spcAft>
                <a:spcPts val="1000"/>
              </a:spcAft>
              <a:buFont typeface="+mj-lt"/>
              <a:buAutoNum type="arabicPeriod"/>
            </a:pPr>
            <a:r>
              <a:rPr lang="vi-VN" sz="2000">
                <a:solidFill>
                  <a:srgbClr val="1B2230"/>
                </a:solidFill>
              </a:rPr>
              <a:t>Lỗi là tín hiệu.</a:t>
            </a:r>
            <a:endParaRPr lang="vi-VN" sz="2000"/>
          </a:p>
          <a:p>
            <a:pPr marL="457200" indent="-457200">
              <a:spcAft>
                <a:spcPts val="1000"/>
              </a:spcAft>
              <a:buFont typeface="+mj-lt"/>
              <a:buAutoNum type="arabicPeriod"/>
            </a:pPr>
            <a:r>
              <a:rPr lang="vi-VN" sz="2000">
                <a:solidFill>
                  <a:srgbClr val="1B2230"/>
                </a:solidFill>
              </a:rPr>
              <a:t>Nền móng là </a:t>
            </a:r>
            <a:r>
              <a:rPr lang="vi-VN" sz="2000" b="1">
                <a:solidFill>
                  <a:srgbClr val="203864"/>
                </a:solidFill>
              </a:rPr>
              <a:t>tidy data + Table</a:t>
            </a:r>
            <a:r>
              <a:rPr lang="vi-VN" sz="2000">
                <a:solidFill>
                  <a:srgbClr val="1B2230"/>
                </a:solidFill>
              </a:rPr>
              <a:t>.</a:t>
            </a:r>
            <a:endParaRPr lang="vi-VN" sz="2000"/>
          </a:p>
          <a:p>
            <a:pPr marL="457200" indent="-457200">
              <a:spcAft>
                <a:spcPts val="1000"/>
              </a:spcAft>
              <a:buFont typeface="+mj-lt"/>
              <a:buAutoNum type="arabicPeriod"/>
            </a:pPr>
            <a:r>
              <a:rPr lang="vi-VN" sz="2000">
                <a:solidFill>
                  <a:srgbClr val="1B2230"/>
                </a:solidFill>
              </a:rPr>
              <a:t>Chặn lỗi từ gốc bằng </a:t>
            </a:r>
            <a:r>
              <a:rPr lang="vi-VN" sz="2000" b="1">
                <a:solidFill>
                  <a:srgbClr val="203864"/>
                </a:solidFill>
              </a:rPr>
              <a:t>Validation</a:t>
            </a:r>
            <a:r>
              <a:rPr lang="vi-VN" sz="2000">
                <a:solidFill>
                  <a:srgbClr val="1B2230"/>
                </a:solidFill>
              </a:rPr>
              <a:t>.</a:t>
            </a:r>
            <a:endParaRPr lang="vi-VN" sz="2000"/>
          </a:p>
        </p:txBody>
      </p:sp>
      <p:sp>
        <p:nvSpPr>
          <p:cNvPr id="15" name="Insight box"/>
          <p:cNvSpPr/>
          <p:nvPr/>
        </p:nvSpPr>
        <p:spPr>
          <a:xfrm>
            <a:off x="6370320" y="1554480"/>
            <a:ext cx="5273040" cy="3423920"/>
          </a:xfrm>
          <a:prstGeom prst="roundRect">
            <a:avLst>
              <a:gd name="adj" fmla="val 534"/>
            </a:avLst>
          </a:prstGeom>
          <a:solidFill>
            <a:srgbClr val="F3F5F9"/>
          </a:solidFill>
          <a:ln>
            <a:noFill/>
          </a:ln>
        </p:spPr>
        <p:txBody>
          <a:bodyPr wrap="square" lIns="91440" tIns="45720" rIns="91440" bIns="45720" rtlCol="0" anchor="t">
            <a:noAutofit/>
          </a:bodyPr>
          <a:lstStyle/>
          <a:p>
            <a:pPr marL="0" indent="0">
              <a:buNone/>
            </a:pPr>
            <a:endParaRPr lang="vi-VN"/>
          </a:p>
        </p:txBody>
      </p:sp>
      <p:sp>
        <p:nvSpPr>
          <p:cNvPr id="16" name="TextBox"/>
          <p:cNvSpPr txBox="1"/>
          <p:nvPr/>
        </p:nvSpPr>
        <p:spPr>
          <a:xfrm>
            <a:off x="6553200" y="1691640"/>
            <a:ext cx="4907280" cy="411480"/>
          </a:xfrm>
          <a:prstGeom prst="rect">
            <a:avLst/>
          </a:prstGeom>
          <a:noFill/>
          <a:ln>
            <a:noFill/>
          </a:ln>
        </p:spPr>
        <p:txBody>
          <a:bodyPr wrap="square" lIns="0" tIns="0" rIns="0" bIns="0" rtlCol="0" anchor="t">
            <a:noAutofit/>
          </a:bodyPr>
          <a:lstStyle/>
          <a:p>
            <a:pPr marL="0" indent="0">
              <a:buNone/>
            </a:pPr>
            <a:r>
              <a:rPr lang="vi-VN" sz="1800" b="1">
                <a:solidFill>
                  <a:srgbClr val="203864"/>
                </a:solidFill>
              </a:rPr>
              <a:t>Insight của bạn (1 câu)</a:t>
            </a:r>
            <a:endParaRPr lang="vi-VN" sz="1800"/>
          </a:p>
        </p:txBody>
      </p:sp>
      <p:sp>
        <p:nvSpPr>
          <p:cNvPr id="17" name="TextBox"/>
          <p:cNvSpPr txBox="1"/>
          <p:nvPr/>
        </p:nvSpPr>
        <p:spPr>
          <a:xfrm>
            <a:off x="6553200" y="2194560"/>
            <a:ext cx="4907280" cy="1905000"/>
          </a:xfrm>
          <a:prstGeom prst="rect">
            <a:avLst/>
          </a:prstGeom>
          <a:noFill/>
          <a:ln>
            <a:noFill/>
          </a:ln>
        </p:spPr>
        <p:txBody>
          <a:bodyPr wrap="square" lIns="0" tIns="0" rIns="0" bIns="0" rtlCol="0" anchor="t">
            <a:noAutofit/>
          </a:bodyPr>
          <a:lstStyle/>
          <a:p>
            <a:pPr marL="0" indent="0">
              <a:lnSpc>
                <a:spcPct val="130000"/>
              </a:lnSpc>
              <a:buNone/>
            </a:pPr>
            <a:r>
              <a:rPr lang="vi-VN" sz="2400">
                <a:solidFill>
                  <a:srgbClr val="1B2230"/>
                </a:solidFill>
              </a:rPr>
              <a:t>"File case có ______ dòng, tôi tìm thấy ______ loại lỗi dữ liệu. Lỗi nguy hiểm nhất là ______, nên nếu không sửa thì ______."</a:t>
            </a:r>
            <a:endParaRPr lang="vi-VN" sz="2400"/>
          </a:p>
        </p:txBody>
      </p:sp>
      <p:sp>
        <p:nvSpPr>
          <p:cNvPr id="18" name="Tag Con số"/>
          <p:cNvSpPr/>
          <p:nvPr/>
        </p:nvSpPr>
        <p:spPr>
          <a:xfrm>
            <a:off x="6553200" y="4394200"/>
            <a:ext cx="1544320" cy="411480"/>
          </a:xfrm>
          <a:prstGeom prst="roundRect">
            <a:avLst>
              <a:gd name="adj" fmla="val 25000"/>
            </a:avLst>
          </a:prstGeom>
          <a:solidFill>
            <a:srgbClr val="FFFFFF"/>
          </a:solidFill>
          <a:ln w="12700">
            <a:solidFill>
              <a:srgbClr val="D9DEE8"/>
            </a:solidFill>
          </a:ln>
        </p:spPr>
        <p:txBody>
          <a:bodyPr wrap="square" lIns="0" tIns="0" rIns="0" bIns="0" rtlCol="0" anchor="ctr">
            <a:noAutofit/>
          </a:bodyPr>
          <a:lstStyle/>
          <a:p>
            <a:pPr marL="0" indent="0" algn="ctr">
              <a:buNone/>
            </a:pPr>
            <a:r>
              <a:rPr lang="vi-VN" sz="1400" b="1">
                <a:solidFill>
                  <a:srgbClr val="203864"/>
                </a:solidFill>
              </a:rPr>
              <a:t>Con số</a:t>
            </a:r>
            <a:endParaRPr lang="vi-VN" sz="1400"/>
          </a:p>
        </p:txBody>
      </p:sp>
      <p:sp>
        <p:nvSpPr>
          <p:cNvPr id="19" name="Tag Nguyên nhân"/>
          <p:cNvSpPr/>
          <p:nvPr/>
        </p:nvSpPr>
        <p:spPr>
          <a:xfrm>
            <a:off x="8234680" y="4394200"/>
            <a:ext cx="1544320" cy="411480"/>
          </a:xfrm>
          <a:prstGeom prst="roundRect">
            <a:avLst>
              <a:gd name="adj" fmla="val 25000"/>
            </a:avLst>
          </a:prstGeom>
          <a:solidFill>
            <a:srgbClr val="FFFFFF"/>
          </a:solidFill>
          <a:ln w="12700">
            <a:solidFill>
              <a:srgbClr val="D9DEE8"/>
            </a:solidFill>
          </a:ln>
        </p:spPr>
        <p:txBody>
          <a:bodyPr wrap="square" lIns="0" tIns="0" rIns="0" bIns="0" rtlCol="0" anchor="ctr">
            <a:noAutofit/>
          </a:bodyPr>
          <a:lstStyle/>
          <a:p>
            <a:pPr marL="0" indent="0" algn="ctr">
              <a:buNone/>
            </a:pPr>
            <a:r>
              <a:rPr lang="vi-VN" sz="1400" b="1">
                <a:solidFill>
                  <a:srgbClr val="203864"/>
                </a:solidFill>
              </a:rPr>
              <a:t>Nguyên nhân</a:t>
            </a:r>
            <a:endParaRPr lang="vi-VN" sz="1400"/>
          </a:p>
        </p:txBody>
      </p:sp>
      <p:sp>
        <p:nvSpPr>
          <p:cNvPr id="20" name="Tag Hàm ý"/>
          <p:cNvSpPr/>
          <p:nvPr/>
        </p:nvSpPr>
        <p:spPr>
          <a:xfrm>
            <a:off x="9916160" y="4394200"/>
            <a:ext cx="1544320" cy="411480"/>
          </a:xfrm>
          <a:prstGeom prst="roundRect">
            <a:avLst>
              <a:gd name="adj" fmla="val 25000"/>
            </a:avLst>
          </a:prstGeom>
          <a:solidFill>
            <a:srgbClr val="FFFFFF"/>
          </a:solidFill>
          <a:ln w="12700">
            <a:solidFill>
              <a:srgbClr val="D9DEE8"/>
            </a:solidFill>
          </a:ln>
        </p:spPr>
        <p:txBody>
          <a:bodyPr wrap="square" lIns="0" tIns="0" rIns="0" bIns="0" rtlCol="0" anchor="ctr">
            <a:noAutofit/>
          </a:bodyPr>
          <a:lstStyle/>
          <a:p>
            <a:pPr marL="0" indent="0" algn="ctr">
              <a:buNone/>
            </a:pPr>
            <a:r>
              <a:rPr lang="vi-VN" sz="1400" b="1">
                <a:solidFill>
                  <a:srgbClr val="203864"/>
                </a:solidFill>
              </a:rPr>
              <a:t>Hàm ý</a:t>
            </a:r>
            <a:endParaRPr lang="vi-VN" sz="1400"/>
          </a:p>
        </p:txBody>
      </p:sp>
    </p:spTree>
    <p:extLst>
      <p:ext uri="{BB962C8B-B14F-4D97-AF65-F5344CB8AC3E}">
        <p14:creationId xmlns:p14="http://schemas.microsoft.com/office/powerpoint/2010/main" val="18282218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ail label"/>
          <p:cNvSpPr txBox="1"/>
          <p:nvPr/>
        </p:nvSpPr>
        <p:spPr>
          <a:xfrm>
            <a:off x="0" y="1371600"/>
            <a:ext cx="975360" cy="4800600"/>
          </a:xfrm>
          <a:prstGeom prst="rect">
            <a:avLst/>
          </a:prstGeom>
          <a:noFill/>
          <a:ln>
            <a:noFill/>
          </a:ln>
        </p:spPr>
        <p:txBody>
          <a:bodyPr vert="vert270" wrap="square" lIns="0" tIns="0" rIns="0" bIns="0" rtlCol="0" anchor="ctr">
            <a:noAutofit/>
          </a:bodyPr>
          <a:lstStyle/>
          <a:p>
            <a:pPr marL="0" indent="0" algn="ctr">
              <a:buNone/>
            </a:pPr>
            <a:r>
              <a:rPr lang="vi-VN" sz="1400" b="1" spc="100">
                <a:solidFill>
                  <a:srgbClr val="FFFFFF"/>
                </a:solidFill>
              </a:rPr>
              <a:t>PHẦN 8 · QUIZ &amp; TỔNG KẾT</a:t>
            </a:r>
            <a:endParaRPr lang="vi-VN" sz="1400"/>
          </a:p>
        </p:txBody>
      </p:sp>
      <p:sp>
        <p:nvSpPr>
          <p:cNvPr id="12" name="title 12"/>
          <p:cNvSpPr>
            <a:spLocks noGrp="1"/>
          </p:cNvSpPr>
          <p:nvPr>
            <p:ph type="title"/>
          </p:nvPr>
        </p:nvSpPr>
        <p:spPr/>
        <p:txBody>
          <a:bodyPr>
            <a:normAutofit fontScale="90000"/>
          </a:bodyPr>
          <a:lstStyle/>
          <a:p>
            <a:r>
              <a:rPr lang="vi-VN"/>
              <a:t>Buổi sau: định nghĩa KPI và tính bằng SUMIFS</a:t>
            </a:r>
          </a:p>
        </p:txBody>
      </p:sp>
      <p:sp>
        <p:nvSpPr>
          <p:cNvPr id="13" name="TextBox"/>
          <p:cNvSpPr txBox="1"/>
          <p:nvPr/>
        </p:nvSpPr>
        <p:spPr>
          <a:xfrm>
            <a:off x="1524000" y="1554480"/>
            <a:ext cx="6400800" cy="777240"/>
          </a:xfrm>
          <a:prstGeom prst="rect">
            <a:avLst/>
          </a:prstGeom>
          <a:noFill/>
          <a:ln>
            <a:noFill/>
          </a:ln>
        </p:spPr>
        <p:txBody>
          <a:bodyPr wrap="square" lIns="0" tIns="0" rIns="0" bIns="0" rtlCol="0" anchor="t">
            <a:noAutofit/>
          </a:bodyPr>
          <a:lstStyle/>
          <a:p>
            <a:pPr marL="0" indent="0">
              <a:lnSpc>
                <a:spcPct val="105000"/>
              </a:lnSpc>
              <a:buNone/>
            </a:pPr>
            <a:r>
              <a:rPr lang="vi-VN" sz="2000" b="1">
                <a:solidFill>
                  <a:srgbClr val="203864"/>
                </a:solidFill>
              </a:rPr>
              <a:t>"Doanh thu, số đơn, biên lợi nhuận của từng vùng tháng này là bao nhiêu?"</a:t>
            </a:r>
            <a:endParaRPr lang="vi-VN" sz="2000"/>
          </a:p>
        </p:txBody>
      </p:sp>
      <p:sp>
        <p:nvSpPr>
          <p:cNvPr id="14" name="TextBox"/>
          <p:cNvSpPr txBox="1"/>
          <p:nvPr/>
        </p:nvSpPr>
        <p:spPr>
          <a:xfrm>
            <a:off x="1524000" y="2468880"/>
            <a:ext cx="6400800" cy="1463040"/>
          </a:xfrm>
          <a:prstGeom prst="rect">
            <a:avLst/>
          </a:prstGeom>
          <a:noFill/>
          <a:ln>
            <a:noFill/>
          </a:ln>
        </p:spPr>
        <p:txBody>
          <a:bodyPr wrap="square" lIns="0" tIns="0" rIns="0" bIns="0" rtlCol="0" anchor="t">
            <a:noAutofit/>
          </a:bodyPr>
          <a:lstStyle/>
          <a:p>
            <a:pPr marL="0" indent="0">
              <a:spcAft>
                <a:spcPts val="600"/>
              </a:spcAft>
              <a:buNone/>
            </a:pPr>
            <a:r>
              <a:rPr lang="vi-VN" sz="1600" b="1">
                <a:solidFill>
                  <a:srgbClr val="1B2230"/>
                </a:solidFill>
              </a:rPr>
              <a:t>Nguyên liệu:</a:t>
            </a:r>
            <a:r>
              <a:rPr lang="vi-VN" sz="1600">
                <a:solidFill>
                  <a:srgbClr val="1B2230"/>
                </a:solidFill>
              </a:rPr>
              <a:t> tblSales hôm nay + bảng Product</a:t>
            </a:r>
            <a:endParaRPr lang="vi-VN" sz="1600"/>
          </a:p>
          <a:p>
            <a:pPr marL="0" indent="0">
              <a:spcAft>
                <a:spcPts val="600"/>
              </a:spcAft>
              <a:buNone/>
            </a:pPr>
            <a:r>
              <a:rPr lang="vi-VN" sz="1600" b="1">
                <a:solidFill>
                  <a:srgbClr val="1B2230"/>
                </a:solidFill>
              </a:rPr>
              <a:t>Công cụ:</a:t>
            </a:r>
            <a:r>
              <a:rPr lang="vi-VN" sz="1600">
                <a:solidFill>
                  <a:srgbClr val="1B2230"/>
                </a:solidFill>
              </a:rPr>
              <a:t> KPI Definition Card, Dimension / Measure / Grain, SUMIFS, XLOOKUP</a:t>
            </a:r>
            <a:endParaRPr lang="vi-VN" sz="1600"/>
          </a:p>
        </p:txBody>
      </p:sp>
      <p:sp>
        <p:nvSpPr>
          <p:cNvPr id="15" name="TextBox"/>
          <p:cNvSpPr txBox="1"/>
          <p:nvPr/>
        </p:nvSpPr>
        <p:spPr>
          <a:xfrm>
            <a:off x="1524000" y="3840480"/>
            <a:ext cx="6400800" cy="1737360"/>
          </a:xfrm>
          <a:prstGeom prst="rect">
            <a:avLst/>
          </a:prstGeom>
          <a:noFill/>
          <a:ln>
            <a:noFill/>
          </a:ln>
        </p:spPr>
        <p:txBody>
          <a:bodyPr wrap="square" lIns="0" tIns="0" rIns="0" bIns="0" rtlCol="0" anchor="t">
            <a:noAutofit/>
          </a:bodyPr>
          <a:lstStyle/>
          <a:p>
            <a:pPr marL="0" indent="0">
              <a:spcAft>
                <a:spcPts val="300"/>
              </a:spcAft>
              <a:buNone/>
            </a:pPr>
            <a:r>
              <a:rPr lang="vi-VN" sz="1600" b="1">
                <a:solidFill>
                  <a:srgbClr val="203864"/>
                </a:solidFill>
              </a:rPr>
              <a:t>Về nhà</a:t>
            </a:r>
            <a:endParaRPr lang="vi-VN" sz="1600"/>
          </a:p>
          <a:p>
            <a:pPr marL="342900" indent="-285750">
              <a:spcAft>
                <a:spcPts val="200"/>
              </a:spcAft>
              <a:buFont typeface="Arial"/>
              <a:buChar char="•"/>
            </a:pPr>
            <a:r>
              <a:rPr lang="vi-VN" sz="1600">
                <a:solidFill>
                  <a:srgbClr val="1B2230"/>
                </a:solidFill>
              </a:rPr>
              <a:t>Đọc handout B1 · ôn dấu $</a:t>
            </a:r>
            <a:endParaRPr lang="vi-VN" sz="1600"/>
          </a:p>
          <a:p>
            <a:pPr marL="342900" indent="-285750">
              <a:spcAft>
                <a:spcPts val="200"/>
              </a:spcAft>
              <a:buFont typeface="Arial"/>
              <a:buChar char="•"/>
            </a:pPr>
            <a:r>
              <a:rPr lang="vi-VN" sz="1600">
                <a:solidFill>
                  <a:srgbClr val="1B2230"/>
                </a:solidFill>
              </a:rPr>
              <a:t>Làm Bài tập về nhà (bắt buộc): B1_BTVN_MCI_Mart_T4_2025.xlsx</a:t>
            </a:r>
            <a:endParaRPr lang="vi-VN" sz="1600"/>
          </a:p>
          <a:p>
            <a:pPr marL="342900" indent="-285750">
              <a:spcAft>
                <a:spcPts val="200"/>
              </a:spcAft>
              <a:buFont typeface="Arial"/>
              <a:buChar char="•"/>
            </a:pPr>
            <a:r>
              <a:rPr lang="vi-VN" sz="1600">
                <a:solidFill>
                  <a:srgbClr val="1B2230"/>
                </a:solidFill>
              </a:rPr>
              <a:t>Nộp trước Buổi 2 tại hocvien.mcivietnam.com, tên file B1_BTVN_&lt;HoTen&gt;.xlsx</a:t>
            </a:r>
            <a:endParaRPr lang="vi-VN" sz="1600"/>
          </a:p>
          <a:p>
            <a:pPr marL="342900" indent="-285750">
              <a:spcAft>
                <a:spcPts val="200"/>
              </a:spcAft>
              <a:buFont typeface="Arial"/>
              <a:buChar char="•"/>
            </a:pPr>
            <a:r>
              <a:rPr lang="vi-VN" sz="1600">
                <a:solidFill>
                  <a:srgbClr val="1B2230"/>
                </a:solidFill>
              </a:rPr>
              <a:t>Tick "Checklist trước Buổi 2" (mục 11 handout)</a:t>
            </a:r>
            <a:endParaRPr lang="vi-VN" sz="1600"/>
          </a:p>
        </p:txBody>
      </p:sp>
      <p:sp>
        <p:nvSpPr>
          <p:cNvPr id="16" name="Brick B1"/>
          <p:cNvSpPr/>
          <p:nvPr/>
        </p:nvSpPr>
        <p:spPr>
          <a:xfrm>
            <a:off x="8290560" y="4206240"/>
            <a:ext cx="3352800" cy="914400"/>
          </a:xfrm>
          <a:prstGeom prst="rect">
            <a:avLst/>
          </a:prstGeom>
          <a:solidFill>
            <a:srgbClr val="203864"/>
          </a:solidFill>
          <a:ln>
            <a:noFill/>
          </a:ln>
        </p:spPr>
        <p:txBody>
          <a:bodyPr wrap="square" lIns="91440" tIns="91440" rIns="91440" bIns="91440" rtlCol="0" anchor="ctr">
            <a:noAutofit/>
          </a:bodyPr>
          <a:lstStyle/>
          <a:p>
            <a:pPr marL="0" indent="0" algn="ctr">
              <a:buNone/>
            </a:pPr>
            <a:r>
              <a:rPr lang="vi-VN" sz="1800" b="1">
                <a:solidFill>
                  <a:srgbClr val="FFFFFF"/>
                </a:solidFill>
              </a:rPr>
              <a:t>✓  B1 · Dữ liệu tidy</a:t>
            </a:r>
            <a:endParaRPr lang="vi-VN" sz="1800"/>
          </a:p>
        </p:txBody>
      </p:sp>
      <p:sp>
        <p:nvSpPr>
          <p:cNvPr id="17" name="Brick B2"/>
          <p:cNvSpPr/>
          <p:nvPr/>
        </p:nvSpPr>
        <p:spPr>
          <a:xfrm>
            <a:off x="8290560" y="3017520"/>
            <a:ext cx="3352800" cy="914400"/>
          </a:xfrm>
          <a:prstGeom prst="rect">
            <a:avLst/>
          </a:prstGeom>
          <a:solidFill>
            <a:srgbClr val="FFFFFF"/>
          </a:solidFill>
          <a:ln w="28575">
            <a:solidFill>
              <a:srgbClr val="2A78D6"/>
            </a:solidFill>
          </a:ln>
        </p:spPr>
        <p:txBody>
          <a:bodyPr wrap="square" lIns="91440" tIns="91440" rIns="91440" bIns="91440" rtlCol="0" anchor="ctr">
            <a:noAutofit/>
          </a:bodyPr>
          <a:lstStyle/>
          <a:p>
            <a:pPr marL="0" indent="0" algn="ctr">
              <a:buNone/>
            </a:pPr>
            <a:r>
              <a:rPr lang="vi-VN" sz="1800" b="1">
                <a:solidFill>
                  <a:srgbClr val="203864"/>
                </a:solidFill>
              </a:rPr>
              <a:t>B2 · Bảng KPI (SUMIFS)</a:t>
            </a:r>
            <a:endParaRPr lang="vi-VN" sz="1800"/>
          </a:p>
        </p:txBody>
      </p:sp>
      <p:cxnSp>
        <p:nvCxnSpPr>
          <p:cNvPr id="18" name="Line 18"/>
          <p:cNvCxnSpPr/>
          <p:nvPr/>
        </p:nvCxnSpPr>
        <p:spPr>
          <a:xfrm flipV="1">
            <a:off x="9966960" y="3977640"/>
            <a:ext cx="0" cy="182880"/>
          </a:xfrm>
          <a:prstGeom prst="line">
            <a:avLst/>
          </a:prstGeom>
          <a:ln w="25400">
            <a:solidFill>
              <a:srgbClr val="3398DA"/>
            </a:solidFill>
            <a:tailEnd type="triangle" w="med" len="med"/>
          </a:ln>
        </p:spPr>
      </p:cxnSp>
      <p:sp>
        <p:nvSpPr>
          <p:cNvPr id="19" name="TextBox"/>
          <p:cNvSpPr txBox="1"/>
          <p:nvPr/>
        </p:nvSpPr>
        <p:spPr>
          <a:xfrm>
            <a:off x="8290560" y="5212080"/>
            <a:ext cx="3352800" cy="365760"/>
          </a:xfrm>
          <a:prstGeom prst="rect">
            <a:avLst/>
          </a:prstGeom>
          <a:noFill/>
          <a:ln>
            <a:noFill/>
          </a:ln>
        </p:spPr>
        <p:txBody>
          <a:bodyPr wrap="square" lIns="0" tIns="0" rIns="0" bIns="0" rtlCol="0" anchor="t">
            <a:noAutofit/>
          </a:bodyPr>
          <a:lstStyle/>
          <a:p>
            <a:pPr marL="0" indent="0" algn="ctr">
              <a:buNone/>
            </a:pPr>
            <a:r>
              <a:rPr lang="vi-VN" sz="1400">
                <a:solidFill>
                  <a:srgbClr val="585858"/>
                </a:solidFill>
              </a:rPr>
              <a:t>Viên gạch hôm nay là nền cho viên gạch sau.</a:t>
            </a:r>
            <a:endParaRPr lang="vi-VN" sz="1400"/>
          </a:p>
        </p:txBody>
      </p:sp>
    </p:spTree>
    <p:extLst>
      <p:ext uri="{BB962C8B-B14F-4D97-AF65-F5344CB8AC3E}">
        <p14:creationId xmlns:p14="http://schemas.microsoft.com/office/powerpoint/2010/main" val="866443025"/>
      </p:ext>
    </p:extLst>
  </p:cSld>
  <p:clrMapOvr>
    <a:masterClrMapping/>
  </p:clrMapOvr>
</p:sld>
</file>

<file path=ppt/theme/theme1.xml><?xml version="1.0" encoding="utf-8"?>
<a:theme xmlns:a="http://schemas.openxmlformats.org/drawingml/2006/main" name="Office Theme [1790271072606]">
  <a:themeElements>
    <a:clrScheme name="MCI Excel BI">
      <a:dk1>
        <a:srgbClr val="1B2230"/>
      </a:dk1>
      <a:lt1>
        <a:srgbClr val="FFFFFF"/>
      </a:lt1>
      <a:dk2>
        <a:srgbClr val="203864"/>
      </a:dk2>
      <a:lt2>
        <a:srgbClr val="F3F5F9"/>
      </a:lt2>
      <a:accent1>
        <a:srgbClr val="2A78D6"/>
      </a:accent1>
      <a:accent2>
        <a:srgbClr val="EB6834"/>
      </a:accent2>
      <a:accent3>
        <a:srgbClr val="1BAF7A"/>
      </a:accent3>
      <a:accent4>
        <a:srgbClr val="EDA100"/>
      </a:accent4>
      <a:accent5>
        <a:srgbClr val="E87BA4"/>
      </a:accent5>
      <a:accent6>
        <a:srgbClr val="4A3AA7"/>
      </a:accent6>
      <a:hlink>
        <a:srgbClr val="1F6FB2"/>
      </a:hlink>
      <a:folHlink>
        <a:srgbClr val="4A3AA7"/>
      </a:folHlink>
    </a:clrScheme>
    <a:fontScheme name="MCI Excel BI">
      <a:majorFont>
        <a:latin typeface="Arial" panose="020B06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B06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CE0948F-3C23-C840-978A-6EB6AAFD5E15}">
  <we:reference id="WA200010725" version="1.0.0.1" store="Omex" storeType="OMEX"/>
  <we:alternateReferences>
    <we:reference id="WA200010725" version="1.0.0.1" store="WA200010725" storeType="OMEX"/>
  </we:alternateReferences>
  <we:properties>
    <we:property name="claude.fileId" value="&quot;3f0c363d-f4d0-4e96-80cc-6a7c60642f0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10047</Words>
  <Application>Microsoft Office PowerPoint</Application>
  <PresentationFormat>Widescreen</PresentationFormat>
  <Paragraphs>707</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Aptos</vt:lpstr>
      <vt:lpstr>Arial</vt:lpstr>
      <vt:lpstr>Office Theme [1790271072606]</vt:lpstr>
      <vt:lpstr>Excel for Business Intelligence Analyst</vt:lpstr>
      <vt:lpstr>Câu hỏi mở buổi</vt:lpstr>
      <vt:lpstr>Quy trình BI 5 bước</vt:lpstr>
      <vt:lpstr>Bản đồ 7 viên gạch &amp; thang 5 tầng câu hỏi</vt:lpstr>
      <vt:lpstr>Case khóa học: chuỗi bán lẻ MCI Mart</vt:lpstr>
      <vt:lpstr>1. Excel dùng cho BI: phiên bản &amp; chuẩn bị máy</vt:lpstr>
      <vt:lpstr>So sánh phiên bản Excel cho BI</vt:lpstr>
      <vt:lpstr>Xác nhận kiểm tra máy</vt:lpstr>
      <vt:lpstr>2. Giao diện Excel: những gì người làm BI dùng hằng ngày</vt:lpstr>
      <vt:lpstr>Giao diện chính</vt:lpstr>
      <vt:lpstr>8 tab Ribbon: tab nào dùng ở buổi nào</vt:lpstr>
      <vt:lpstr>3. Phím tắt: làm việc với dữ liệu lớn không cần chuột</vt:lpstr>
      <vt:lpstr>Ctrl Shortcuts</vt:lpstr>
      <vt:lpstr>Fn Shortcuts</vt:lpstr>
      <vt:lpstr>Alt Key Tips &amp; Quick Access Toolbar</vt:lpstr>
      <vt:lpstr>Nghỉ 10 phút</vt:lpstr>
      <vt:lpstr>4. Công thức: viết đúng, sao chép đúng, tìm lỗi nhanh</vt:lpstr>
      <vt:lpstr>Formula Syntax</vt:lpstr>
      <vt:lpstr>Reference Types</vt:lpstr>
      <vt:lpstr>Common Errors</vt:lpstr>
      <vt:lpstr>Auditing Tools (1)</vt:lpstr>
      <vt:lpstr>Auditing Tools (2)</vt:lpstr>
      <vt:lpstr>Chốt Phần 4</vt:lpstr>
      <vt:lpstr>5. Dữ liệu "sạch về cấu trúc": nền móng của mọi phân tích</vt:lpstr>
      <vt:lpstr>Good vs Bad Data Structure</vt:lpstr>
      <vt:lpstr>Excel Table</vt:lpstr>
      <vt:lpstr>Data Validation: chặn dữ liệu sai từ gốc</vt:lpstr>
      <vt:lpstr>Circle Invalid Data: tìm lỗi đã có sẵn</vt:lpstr>
      <vt:lpstr>Thực hành 1: Làm sạch cấu trúc file case</vt:lpstr>
      <vt:lpstr>Thực hành 2: Công thức &amp; kiểm soát</vt:lpstr>
      <vt:lpstr>Chữa bài nhanh: checklist brick output B1</vt:lpstr>
      <vt:lpstr>Excel Quiz Challenge</vt:lpstr>
      <vt:lpstr>Question 1: Cell References</vt:lpstr>
      <vt:lpstr>Question 2: Cell References</vt:lpstr>
      <vt:lpstr>Question 3: Shortcuts</vt:lpstr>
      <vt:lpstr>Question 4: Auditing</vt:lpstr>
      <vt:lpstr>Question 5: Common Errors</vt:lpstr>
      <vt:lpstr>Question 6: Tình huống — Data Structure</vt:lpstr>
      <vt:lpstr>Question 7: Tình huống — Automation</vt:lpstr>
      <vt:lpstr>Tổng kết &amp; insight của bạn</vt:lpstr>
      <vt:lpstr>Buổi sau: định nghĩa KPI và tính bằng SUMIFS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Nhan Le</dc:creator>
  <cp:lastModifiedBy>Leo Pham</cp:lastModifiedBy>
  <cp:revision>1</cp:revision>
  <dcterms:created xsi:type="dcterms:W3CDTF">2026-09-24T17:25:29Z</dcterms:created>
  <dcterms:modified xsi:type="dcterms:W3CDTF">2026-09-27T12:46:07Z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2026-09-24T17:26:47Z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4d9052f2-e654-41cc-b328-7191ea09daba</vt:lpwstr>
  </property>
  <property fmtid="{D5CDD505-2E9C-101B-9397-08002B2CF9AE}" pid="7" name="MSIP_Label_defa4170-0d19-0005-0004-bc88714345d2_ActionId">
    <vt:lpwstr>c1eb70c7-4859-476b-af0b-43240bcea39d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