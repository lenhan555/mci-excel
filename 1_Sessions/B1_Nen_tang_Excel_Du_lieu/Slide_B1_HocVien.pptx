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3"/>
    <p:sldId id="310" r:id="rId4"/>
    <p:sldId id="305" r:id="rId5"/>
    <p:sldId id="306" r:id="rId6"/>
    <p:sldId id="307" r:id="rId7"/>
    <p:sldId id="308" r:id="rId8"/>
    <p:sldId id="309" r:id="rId9"/>
    <p:sldId id="301" r:id="rId10"/>
    <p:sldId id="311" r:id="rId11"/>
    <p:sldId id="312" r:id="rId12"/>
    <p:sldId id="304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32" r:id="rId26"/>
    <p:sldId id="326" r:id="rId27"/>
    <p:sldId id="327" r:id="rId28"/>
    <p:sldId id="328" r:id="rId29"/>
    <p:sldId id="344" r:id="rId30"/>
    <p:sldId id="345" r:id="rId31"/>
    <p:sldId id="331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3" r:id="rId41"/>
    <p:sldId id="34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1: Giới thiệu Excel, nền tảng công thức &amp; dữ liệu có cấu trúc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Yêu cầu máy: Excel 365 (hoặc 2016+) trên </a:t>
            </a:r>
            <a:r>
              <a:rPr lang="vi-VN" sz="1400" b="1">
                <a:solidFill>
                  <a:srgbClr val="1B2230"/>
                </a:solidFill>
              </a:rPr>
              <a:t>Windows</a:t>
            </a:r>
            <a:r>
              <a:rPr lang="vi-VN" sz="1400">
                <a:solidFill>
                  <a:srgbClr val="585858"/>
                </a:solidFill>
              </a:rPr>
              <a:t>.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0 · MỞ ĐẦU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Câu hỏi mở buổi</a:t>
            </a:r>
          </a:p>
        </p:txBody>
      </p:sp>
      <p:sp>
        <p:nvSpPr>
          <p:cNvPr id="13" name="Tier chip"/>
          <p:cNvSpPr/>
          <p:nvPr/>
        </p:nvSpPr>
        <p:spPr>
          <a:xfrm>
            <a:off x="9357360" y="548640"/>
            <a:ext cx="228600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203864"/>
                </a:solidFill>
              </a:rPr>
              <a:t>Tầng 1 — Descriptive</a:t>
            </a:r>
            <a:endParaRPr lang="vi-VN" sz="1400"/>
          </a:p>
        </p:txBody>
      </p:sp>
      <p:sp>
        <p:nvSpPr>
          <p:cNvPr id="14" name="TextBox"/>
          <p:cNvSpPr txBox="1"/>
          <p:nvPr/>
        </p:nvSpPr>
        <p:spPr>
          <a:xfrm>
            <a:off x="1524000" y="1828800"/>
            <a:ext cx="44805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vi-VN" sz="2800" b="1">
                <a:solidFill>
                  <a:srgbClr val="203864"/>
                </a:solidFill>
              </a:rPr>
              <a:t>“Công ty có một file bán hàng. Trước khi phân tích, làm sao biết file này dùng được?”</a:t>
            </a:r>
            <a:endParaRPr lang="vi-VN" sz="2800"/>
          </a:p>
        </p:txBody>
      </p:sp>
      <p:pic>
        <p:nvPicPr>
          <p:cNvPr id="16" name="Screenshot S2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1878874"/>
            <a:ext cx="5364480" cy="383177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  <p:extLst>
      <p:ext uri="{BB962C8B-B14F-4D97-AF65-F5344CB8AC3E}">
        <p14:creationId xmlns:p14="http://schemas.microsoft.com/office/powerpoint/2010/main" val="227655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0 · MỞ ĐẦU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Quy trình BI 5 bước</a:t>
            </a:r>
          </a:p>
        </p:txBody>
      </p:sp>
      <p:sp>
        <p:nvSpPr>
          <p:cNvPr id="13" name="Step 1"/>
          <p:cNvSpPr/>
          <p:nvPr/>
        </p:nvSpPr>
        <p:spPr>
          <a:xfrm>
            <a:off x="1524000" y="2194560"/>
            <a:ext cx="1950720" cy="1280160"/>
          </a:xfrm>
          <a:prstGeom prst="homePlate">
            <a:avLst>
              <a:gd name="adj" fmla="val 28000"/>
            </a:avLst>
          </a:prstGeom>
          <a:solidFill>
            <a:srgbClr val="203864"/>
          </a:solidFill>
          <a:ln>
            <a:noFill/>
          </a:ln>
        </p:spPr>
        <p:txBody>
          <a:bodyPr wrap="square" lIns="228600" tIns="0" rIns="9144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FFFFFF"/>
                </a:solidFill>
              </a:rPr>
              <a:t>1</a:t>
            </a:r>
            <a:endParaRPr lang="vi-VN" sz="1600"/>
          </a:p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Hỏi</a:t>
            </a:r>
            <a:endParaRPr lang="vi-VN" sz="2400"/>
          </a:p>
        </p:txBody>
      </p:sp>
      <p:sp>
        <p:nvSpPr>
          <p:cNvPr id="14" name="TextBox"/>
          <p:cNvSpPr txBox="1"/>
          <p:nvPr/>
        </p:nvSpPr>
        <p:spPr>
          <a:xfrm>
            <a:off x="1524000" y="3657600"/>
            <a:ext cx="1950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800">
                <a:solidFill>
                  <a:srgbClr val="585858"/>
                </a:solidFill>
              </a:rPr>
              <a:t>Câu hỏi kinh doanh</a:t>
            </a:r>
            <a:endParaRPr lang="vi-VN" sz="1800"/>
          </a:p>
        </p:txBody>
      </p:sp>
      <p:sp>
        <p:nvSpPr>
          <p:cNvPr id="15" name="Step 2"/>
          <p:cNvSpPr/>
          <p:nvPr/>
        </p:nvSpPr>
        <p:spPr>
          <a:xfrm>
            <a:off x="3566160" y="2194560"/>
            <a:ext cx="1950720" cy="1280160"/>
          </a:xfrm>
          <a:prstGeom prst="chevron">
            <a:avLst>
              <a:gd name="adj" fmla="val 28000"/>
            </a:avLst>
          </a:prstGeom>
          <a:solidFill>
            <a:srgbClr val="F3F5F9"/>
          </a:solidFill>
          <a:ln>
            <a:noFill/>
          </a:ln>
        </p:spPr>
        <p:txBody>
          <a:bodyPr wrap="square" lIns="228600" tIns="0" rIns="9144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585858"/>
                </a:solidFill>
              </a:rPr>
              <a:t>2</a:t>
            </a:r>
            <a:endParaRPr lang="vi-VN" sz="1600"/>
          </a:p>
          <a:p>
            <a:pPr marL="0" indent="0" algn="ctr">
              <a:buNone/>
            </a:pPr>
            <a:r>
              <a:rPr lang="vi-VN" sz="2000" b="1">
                <a:solidFill>
                  <a:srgbClr val="203864"/>
                </a:solidFill>
              </a:rPr>
              <a:t>Thu thập</a:t>
            </a:r>
            <a:endParaRPr lang="vi-VN" sz="2400"/>
          </a:p>
        </p:txBody>
      </p:sp>
      <p:sp>
        <p:nvSpPr>
          <p:cNvPr id="16" name="TextBox"/>
          <p:cNvSpPr txBox="1"/>
          <p:nvPr/>
        </p:nvSpPr>
        <p:spPr>
          <a:xfrm>
            <a:off x="3566160" y="3657600"/>
            <a:ext cx="1950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800">
                <a:solidFill>
                  <a:srgbClr val="585858"/>
                </a:solidFill>
              </a:rPr>
              <a:t>Get Data</a:t>
            </a:r>
            <a:endParaRPr lang="vi-VN" sz="1800"/>
          </a:p>
        </p:txBody>
      </p:sp>
      <p:sp>
        <p:nvSpPr>
          <p:cNvPr id="17" name="Step 3"/>
          <p:cNvSpPr/>
          <p:nvPr/>
        </p:nvSpPr>
        <p:spPr>
          <a:xfrm>
            <a:off x="5608320" y="2194560"/>
            <a:ext cx="1950720" cy="1280160"/>
          </a:xfrm>
          <a:prstGeom prst="chevron">
            <a:avLst>
              <a:gd name="adj" fmla="val 28000"/>
            </a:avLst>
          </a:prstGeom>
          <a:solidFill>
            <a:srgbClr val="F3F5F9"/>
          </a:solidFill>
          <a:ln>
            <a:noFill/>
          </a:ln>
        </p:spPr>
        <p:txBody>
          <a:bodyPr wrap="square" lIns="228600" tIns="0" rIns="9144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585858"/>
                </a:solidFill>
              </a:rPr>
              <a:t>3</a:t>
            </a:r>
            <a:endParaRPr lang="vi-VN" sz="1600"/>
          </a:p>
          <a:p>
            <a:pPr marL="0" indent="0" algn="ctr">
              <a:buNone/>
            </a:pPr>
            <a:r>
              <a:rPr lang="vi-VN" sz="2000" b="1">
                <a:solidFill>
                  <a:srgbClr val="203864"/>
                </a:solidFill>
              </a:rPr>
              <a:t>Làm sạch</a:t>
            </a:r>
            <a:endParaRPr lang="vi-VN" sz="2400"/>
          </a:p>
        </p:txBody>
      </p:sp>
      <p:sp>
        <p:nvSpPr>
          <p:cNvPr id="18" name="TextBox"/>
          <p:cNvSpPr txBox="1"/>
          <p:nvPr/>
        </p:nvSpPr>
        <p:spPr>
          <a:xfrm>
            <a:off x="5608320" y="3657600"/>
            <a:ext cx="1950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800">
                <a:solidFill>
                  <a:srgbClr val="585858"/>
                </a:solidFill>
              </a:rPr>
              <a:t>Power Query</a:t>
            </a:r>
            <a:endParaRPr lang="vi-VN" sz="1800"/>
          </a:p>
        </p:txBody>
      </p:sp>
      <p:sp>
        <p:nvSpPr>
          <p:cNvPr id="19" name="Step 4"/>
          <p:cNvSpPr/>
          <p:nvPr/>
        </p:nvSpPr>
        <p:spPr>
          <a:xfrm>
            <a:off x="7650480" y="2194560"/>
            <a:ext cx="1950720" cy="1280160"/>
          </a:xfrm>
          <a:prstGeom prst="chevron">
            <a:avLst>
              <a:gd name="adj" fmla="val 28000"/>
            </a:avLst>
          </a:prstGeom>
          <a:solidFill>
            <a:srgbClr val="F3F5F9"/>
          </a:solidFill>
          <a:ln>
            <a:noFill/>
          </a:ln>
        </p:spPr>
        <p:txBody>
          <a:bodyPr wrap="square" lIns="228600" tIns="0" rIns="9144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585858"/>
                </a:solidFill>
              </a:rPr>
              <a:t>4</a:t>
            </a:r>
            <a:endParaRPr lang="vi-VN" sz="1600"/>
          </a:p>
          <a:p>
            <a:pPr marL="0" indent="0" algn="ctr">
              <a:buNone/>
            </a:pPr>
            <a:r>
              <a:rPr lang="vi-VN" sz="2000" b="1">
                <a:solidFill>
                  <a:srgbClr val="203864"/>
                </a:solidFill>
              </a:rPr>
              <a:t>Phân tích</a:t>
            </a:r>
            <a:endParaRPr lang="vi-VN" sz="2400"/>
          </a:p>
        </p:txBody>
      </p:sp>
      <p:sp>
        <p:nvSpPr>
          <p:cNvPr id="20" name="TextBox"/>
          <p:cNvSpPr txBox="1"/>
          <p:nvPr/>
        </p:nvSpPr>
        <p:spPr>
          <a:xfrm>
            <a:off x="7650480" y="3657600"/>
            <a:ext cx="1950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800">
                <a:solidFill>
                  <a:srgbClr val="585858"/>
                </a:solidFill>
              </a:rPr>
              <a:t>Pivot – DAX</a:t>
            </a:r>
            <a:endParaRPr lang="vi-VN" sz="1800"/>
          </a:p>
        </p:txBody>
      </p:sp>
      <p:sp>
        <p:nvSpPr>
          <p:cNvPr id="21" name="Step 5"/>
          <p:cNvSpPr/>
          <p:nvPr/>
        </p:nvSpPr>
        <p:spPr>
          <a:xfrm>
            <a:off x="9692640" y="2194560"/>
            <a:ext cx="1950720" cy="1280160"/>
          </a:xfrm>
          <a:prstGeom prst="chevron">
            <a:avLst>
              <a:gd name="adj" fmla="val 28000"/>
            </a:avLst>
          </a:prstGeom>
          <a:solidFill>
            <a:srgbClr val="F3F5F9"/>
          </a:solidFill>
          <a:ln>
            <a:noFill/>
          </a:ln>
        </p:spPr>
        <p:txBody>
          <a:bodyPr wrap="square" lIns="228600" tIns="0" rIns="9144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585858"/>
                </a:solidFill>
              </a:rPr>
              <a:t>5</a:t>
            </a:r>
            <a:endParaRPr lang="vi-VN" sz="1600"/>
          </a:p>
          <a:p>
            <a:pPr marL="0" indent="0" algn="ctr">
              <a:buNone/>
            </a:pPr>
            <a:r>
              <a:rPr lang="vi-VN" sz="2000" b="1">
                <a:solidFill>
                  <a:srgbClr val="203864"/>
                </a:solidFill>
              </a:rPr>
              <a:t>Trình bày</a:t>
            </a:r>
            <a:endParaRPr lang="vi-VN" sz="2400"/>
          </a:p>
        </p:txBody>
      </p:sp>
      <p:sp>
        <p:nvSpPr>
          <p:cNvPr id="22" name="TextBox"/>
          <p:cNvSpPr txBox="1"/>
          <p:nvPr/>
        </p:nvSpPr>
        <p:spPr>
          <a:xfrm>
            <a:off x="9692640" y="3657600"/>
            <a:ext cx="1950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800">
                <a:solidFill>
                  <a:srgbClr val="585858"/>
                </a:solidFill>
              </a:rPr>
              <a:t>Dashboard</a:t>
            </a:r>
            <a:endParaRPr lang="vi-VN" sz="1800"/>
          </a:p>
        </p:txBody>
      </p:sp>
      <p:sp>
        <p:nvSpPr>
          <p:cNvPr id="23" name="TextBox"/>
          <p:cNvSpPr txBox="1"/>
          <p:nvPr/>
        </p:nvSpPr>
        <p:spPr>
          <a:xfrm>
            <a:off x="1524000" y="4663440"/>
            <a:ext cx="10119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1B2230"/>
                </a:solidFill>
              </a:rPr>
              <a:t>Quy tắc của khóa: mỗi buổi </a:t>
            </a:r>
            <a:r>
              <a:rPr lang="vi-VN" sz="2000" b="1">
                <a:solidFill>
                  <a:srgbClr val="203864"/>
                </a:solidFill>
              </a:rPr>
              <a:t>mở bằng một câu hỏi kinh doanh</a:t>
            </a:r>
            <a:r>
              <a:rPr lang="vi-VN" sz="2000">
                <a:solidFill>
                  <a:srgbClr val="1B2230"/>
                </a:solidFill>
              </a:rPr>
              <a:t> và </a:t>
            </a:r>
            <a:r>
              <a:rPr lang="vi-VN" sz="2000" b="1">
                <a:solidFill>
                  <a:srgbClr val="203864"/>
                </a:solidFill>
              </a:rPr>
              <a:t>kết thúc bằng một câu insight</a:t>
            </a:r>
            <a:r>
              <a:rPr lang="vi-VN" sz="2000">
                <a:solidFill>
                  <a:srgbClr val="1B2230"/>
                </a:solidFill>
              </a:rPr>
              <a:t> các bạn tự viết.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324693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0 · MỞ ĐẦU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Bản đồ 7 viên gạch &amp; thang 5 tầng câu hỏi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24000" y="1554480"/>
          <a:ext cx="6903720" cy="4251960"/>
        </p:xfrm>
        <a:graphic>
          <a:graphicData uri="http://schemas.openxmlformats.org/drawingml/2006/table">
            <a:tbl>
              <a:tblPr firstRow="1"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</a:rPr>
                        <a:t>Buổi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</a:rPr>
                        <a:t>Viên gạch (brick output)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</a:rPr>
                        <a:t>Tầng câu hỏi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 b="1">
                          <a:solidFill>
                            <a:srgbClr val="1B2230"/>
                          </a:solidFill>
                        </a:rPr>
                        <a:t>B1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 b="1">
                          <a:solidFill>
                            <a:srgbClr val="1B2230"/>
                          </a:solidFill>
                        </a:rPr>
                        <a:t>Dữ liệu gốc tidy (Excel Table)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 b="1">
                          <a:solidFill>
                            <a:srgbClr val="1B2230"/>
                          </a:solidFill>
                        </a:rPr>
                        <a:t>1 — Chuyện gì đã xảy ra?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B2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Bảng làm giàu + bảng KPI bằng SUMIFS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1 — Chuyện gì đã xảy ra?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B3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Báo cáo Pivot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2 — Ở đâu, khi nào, nhóm nào?</a:t>
                      </a:r>
                      <a:endParaRPr lang="vi-VN" sz="1400"/>
                    </a:p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3 — Vì sao? (drill-down)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B4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Pipeline Power Query tự refresh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Nền móng: giúp các tầng sau đáng tin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B5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Star schema + KPI dictionary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3 — Vì sao?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B6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Dashboard có target / RAG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4 — Nên làm gì? · 5 — Sắp tới thế nào? (nhập môn)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B7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Dự án BI end-to-end + thuyết trình (bộ dữ liệu mới)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400">
                          <a:solidFill>
                            <a:srgbClr val="1B2230"/>
                          </a:solidFill>
                        </a:rPr>
                        <a:t>Đủ 5 tầng</a:t>
                      </a:r>
                      <a:endParaRPr lang="vi-VN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"/>
          <p:cNvSpPr txBox="1"/>
          <p:nvPr/>
        </p:nvSpPr>
        <p:spPr>
          <a:xfrm>
            <a:off x="8747760" y="1554480"/>
            <a:ext cx="289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600" b="1">
                <a:solidFill>
                  <a:srgbClr val="203864"/>
                </a:solidFill>
              </a:rPr>
              <a:t>Thang 5 tầng câu hỏi</a:t>
            </a:r>
            <a:endParaRPr lang="vi-VN" sz="1600"/>
          </a:p>
        </p:txBody>
      </p:sp>
      <p:sp>
        <p:nvSpPr>
          <p:cNvPr id="15" name="Tier 1"/>
          <p:cNvSpPr/>
          <p:nvPr/>
        </p:nvSpPr>
        <p:spPr>
          <a:xfrm>
            <a:off x="8747760" y="4572000"/>
            <a:ext cx="2346960" cy="59436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91440" tIns="0" rIns="4572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FFFFFF"/>
                </a:solidFill>
              </a:rPr>
              <a:t>1 · Chuyện gì đã xảy ra?</a:t>
            </a:r>
            <a:endParaRPr lang="vi-VN" sz="1400"/>
          </a:p>
        </p:txBody>
      </p:sp>
      <p:sp>
        <p:nvSpPr>
          <p:cNvPr id="16" name="Tier 2"/>
          <p:cNvSpPr/>
          <p:nvPr/>
        </p:nvSpPr>
        <p:spPr>
          <a:xfrm>
            <a:off x="8884920" y="3931920"/>
            <a:ext cx="2346960" cy="59436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wrap="square" lIns="91440" tIns="0" rIns="45720" bIns="0" rtlCol="0" anchor="ctr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1B2230"/>
                </a:solidFill>
              </a:rPr>
              <a:t>2 · Ở đâu, khi nào, nhóm nào?</a:t>
            </a:r>
            <a:endParaRPr lang="vi-VN" sz="1400"/>
          </a:p>
        </p:txBody>
      </p:sp>
      <p:sp>
        <p:nvSpPr>
          <p:cNvPr id="17" name="Tier 3"/>
          <p:cNvSpPr/>
          <p:nvPr/>
        </p:nvSpPr>
        <p:spPr>
          <a:xfrm>
            <a:off x="9022080" y="3291840"/>
            <a:ext cx="2346960" cy="59436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wrap="square" lIns="91440" tIns="0" rIns="45720" bIns="0" rtlCol="0" anchor="ctr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1B2230"/>
                </a:solidFill>
              </a:rPr>
              <a:t>3 · Vì sao?</a:t>
            </a:r>
            <a:endParaRPr lang="vi-VN" sz="1400"/>
          </a:p>
        </p:txBody>
      </p:sp>
      <p:sp>
        <p:nvSpPr>
          <p:cNvPr id="18" name="Tier 4"/>
          <p:cNvSpPr/>
          <p:nvPr/>
        </p:nvSpPr>
        <p:spPr>
          <a:xfrm>
            <a:off x="9159240" y="2651760"/>
            <a:ext cx="2346960" cy="59436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wrap="square" lIns="91440" tIns="0" rIns="45720" bIns="0" rtlCol="0" anchor="ctr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1B2230"/>
                </a:solidFill>
              </a:rPr>
              <a:t>4 · Nên làm gì?</a:t>
            </a:r>
            <a:endParaRPr lang="vi-VN" sz="1400"/>
          </a:p>
        </p:txBody>
      </p:sp>
      <p:sp>
        <p:nvSpPr>
          <p:cNvPr id="19" name="Tier 5"/>
          <p:cNvSpPr/>
          <p:nvPr/>
        </p:nvSpPr>
        <p:spPr>
          <a:xfrm>
            <a:off x="9296400" y="2011680"/>
            <a:ext cx="2346960" cy="59436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wrap="square" lIns="91440" tIns="0" rIns="45720" bIns="0" rtlCol="0" anchor="ctr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1B2230"/>
                </a:solidFill>
              </a:rPr>
              <a:t>5 · Sắp tới thế nào?</a:t>
            </a:r>
            <a:endParaRPr lang="vi-VN" sz="1400"/>
          </a:p>
        </p:txBody>
      </p:sp>
      <p:sp>
        <p:nvSpPr>
          <p:cNvPr id="20" name="TextBox"/>
          <p:cNvSpPr txBox="1"/>
          <p:nvPr/>
        </p:nvSpPr>
        <p:spPr>
          <a:xfrm>
            <a:off x="8747760" y="5257800"/>
            <a:ext cx="289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Mỗi buổi leo thêm một bậc. Hôm nay: </a:t>
            </a:r>
            <a:r>
              <a:rPr lang="vi-VN" sz="1400" b="1">
                <a:solidFill>
                  <a:srgbClr val="203864"/>
                </a:solidFill>
              </a:rPr>
              <a:t>Tầng 1</a:t>
            </a:r>
            <a:r>
              <a:rPr lang="vi-VN" sz="1400">
                <a:solidFill>
                  <a:srgbClr val="585858"/>
                </a:solidFill>
              </a:rPr>
              <a:t>.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89039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0 · MỞ ĐẦU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Case khóa học: chuỗi bán lẻ MCI Mart</a:t>
            </a:r>
          </a:p>
        </p:txBody>
      </p:sp>
      <p:sp>
        <p:nvSpPr>
          <p:cNvPr id="13" name="KPI cửa hàng"/>
          <p:cNvSpPr/>
          <p:nvPr/>
        </p:nvSpPr>
        <p:spPr>
          <a:xfrm>
            <a:off x="1524000" y="1554480"/>
            <a:ext cx="2358390" cy="141732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8288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12</a:t>
            </a:r>
            <a:endParaRPr lang="vi-VN" sz="3600"/>
          </a:p>
          <a:p>
            <a:pPr marL="0" indent="0">
              <a:buNone/>
            </a:pPr>
            <a:r>
              <a:rPr lang="vi-VN" sz="1800" b="1">
                <a:solidFill>
                  <a:srgbClr val="1B2230"/>
                </a:solidFill>
              </a:rPr>
              <a:t>cửa hàng</a:t>
            </a:r>
            <a:endParaRPr lang="vi-VN" sz="18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Bắc 4 · Trung 3 · Nam 5</a:t>
            </a:r>
            <a:endParaRPr lang="vi-VN" sz="1400"/>
          </a:p>
        </p:txBody>
      </p:sp>
      <p:sp>
        <p:nvSpPr>
          <p:cNvPr id="14" name="KPI miền"/>
          <p:cNvSpPr/>
          <p:nvPr/>
        </p:nvSpPr>
        <p:spPr>
          <a:xfrm>
            <a:off x="4110990" y="1554480"/>
            <a:ext cx="2358390" cy="141732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8288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3</a:t>
            </a:r>
            <a:endParaRPr lang="vi-VN" sz="3600"/>
          </a:p>
          <a:p>
            <a:pPr marL="0" indent="0">
              <a:buNone/>
            </a:pPr>
            <a:r>
              <a:rPr lang="vi-VN" sz="1800" b="1">
                <a:solidFill>
                  <a:srgbClr val="1B2230"/>
                </a:solidFill>
              </a:rPr>
              <a:t>miền</a:t>
            </a:r>
            <a:endParaRPr lang="vi-VN" sz="18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Bắc · Trung · Nam</a:t>
            </a:r>
            <a:endParaRPr lang="vi-VN" sz="1400"/>
          </a:p>
        </p:txBody>
      </p:sp>
      <p:sp>
        <p:nvSpPr>
          <p:cNvPr id="15" name="KPI sản phẩm"/>
          <p:cNvSpPr/>
          <p:nvPr/>
        </p:nvSpPr>
        <p:spPr>
          <a:xfrm>
            <a:off x="6697980" y="1554480"/>
            <a:ext cx="2358390" cy="141732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8288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40</a:t>
            </a:r>
            <a:endParaRPr lang="vi-VN" sz="3600"/>
          </a:p>
          <a:p>
            <a:pPr marL="0" indent="0">
              <a:buNone/>
            </a:pPr>
            <a:r>
              <a:rPr lang="vi-VN" sz="1800" b="1">
                <a:solidFill>
                  <a:srgbClr val="1B2230"/>
                </a:solidFill>
              </a:rPr>
              <a:t>sản phẩm</a:t>
            </a:r>
            <a:endParaRPr lang="vi-VN" sz="18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6 ngành hàng</a:t>
            </a:r>
            <a:endParaRPr lang="vi-VN" sz="1400"/>
          </a:p>
        </p:txBody>
      </p:sp>
      <p:sp>
        <p:nvSpPr>
          <p:cNvPr id="16" name="KPI khách hàng"/>
          <p:cNvSpPr/>
          <p:nvPr/>
        </p:nvSpPr>
        <p:spPr>
          <a:xfrm>
            <a:off x="9284970" y="1554480"/>
            <a:ext cx="2358390" cy="141732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8288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1.500</a:t>
            </a:r>
            <a:endParaRPr lang="vi-VN" sz="3600"/>
          </a:p>
          <a:p>
            <a:pPr marL="0" indent="0">
              <a:buNone/>
            </a:pPr>
            <a:r>
              <a:rPr lang="vi-VN" sz="1800" b="1">
                <a:solidFill>
                  <a:srgbClr val="1B2230"/>
                </a:solidFill>
              </a:rPr>
              <a:t>khách hàng</a:t>
            </a:r>
            <a:endParaRPr lang="vi-VN" sz="18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thành viên</a:t>
            </a:r>
            <a:endParaRPr lang="vi-VN" sz="1400"/>
          </a:p>
        </p:txBody>
      </p:sp>
      <p:sp>
        <p:nvSpPr>
          <p:cNvPr id="17" name="TextBox"/>
          <p:cNvSpPr txBox="1"/>
          <p:nvPr/>
        </p:nvSpPr>
        <p:spPr>
          <a:xfrm>
            <a:off x="1524000" y="320040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585858"/>
                </a:solidFill>
              </a:rPr>
              <a:t>Người dùng báo cáo: </a:t>
            </a:r>
            <a:r>
              <a:rPr lang="vi-VN" sz="2000" b="1">
                <a:solidFill>
                  <a:srgbClr val="1B2230"/>
                </a:solidFill>
              </a:rPr>
              <a:t>Giám đốc bán hàng</a:t>
            </a:r>
            <a:r>
              <a:rPr lang="vi-VN" sz="2000">
                <a:solidFill>
                  <a:srgbClr val="585858"/>
                </a:solidFill>
              </a:rPr>
              <a:t>   ·   Dữ liệu: </a:t>
            </a:r>
            <a:r>
              <a:rPr lang="vi-VN" sz="2000" b="1">
                <a:solidFill>
                  <a:srgbClr val="1B2230"/>
                </a:solidFill>
              </a:rPr>
              <a:t>01/2024 – 04/2025</a:t>
            </a:r>
            <a:endParaRPr lang="vi-VN" sz="2000"/>
          </a:p>
        </p:txBody>
      </p:sp>
      <p:sp>
        <p:nvSpPr>
          <p:cNvPr id="18" name="Table box Sales"/>
          <p:cNvSpPr/>
          <p:nvPr/>
        </p:nvSpPr>
        <p:spPr>
          <a:xfrm>
            <a:off x="1524000" y="3886200"/>
            <a:ext cx="1804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9" name="Table head Sales"/>
          <p:cNvSpPr/>
          <p:nvPr/>
        </p:nvSpPr>
        <p:spPr>
          <a:xfrm>
            <a:off x="1524000" y="3886200"/>
            <a:ext cx="1804416" cy="41148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FFFFFF"/>
                </a:solidFill>
              </a:rPr>
              <a:t>Sales</a:t>
            </a:r>
            <a:endParaRPr lang="vi-VN" sz="1600"/>
          </a:p>
        </p:txBody>
      </p:sp>
      <p:sp>
        <p:nvSpPr>
          <p:cNvPr id="20" name="row"/>
          <p:cNvSpPr/>
          <p:nvPr/>
        </p:nvSpPr>
        <p:spPr>
          <a:xfrm>
            <a:off x="1661160" y="443484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row"/>
          <p:cNvSpPr/>
          <p:nvPr/>
        </p:nvSpPr>
        <p:spPr>
          <a:xfrm>
            <a:off x="1661160" y="461772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2" name="row"/>
          <p:cNvSpPr/>
          <p:nvPr/>
        </p:nvSpPr>
        <p:spPr>
          <a:xfrm>
            <a:off x="1661160" y="4800600"/>
            <a:ext cx="10728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3" name="Table box Product"/>
          <p:cNvSpPr/>
          <p:nvPr/>
        </p:nvSpPr>
        <p:spPr>
          <a:xfrm>
            <a:off x="3602736" y="3886200"/>
            <a:ext cx="1804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Table head Product"/>
          <p:cNvSpPr/>
          <p:nvPr/>
        </p:nvSpPr>
        <p:spPr>
          <a:xfrm>
            <a:off x="3602736" y="3886200"/>
            <a:ext cx="1804416" cy="41148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FFFFFF"/>
                </a:solidFill>
              </a:rPr>
              <a:t>Product</a:t>
            </a:r>
            <a:endParaRPr lang="vi-VN" sz="1600"/>
          </a:p>
        </p:txBody>
      </p:sp>
      <p:sp>
        <p:nvSpPr>
          <p:cNvPr id="25" name="row"/>
          <p:cNvSpPr/>
          <p:nvPr/>
        </p:nvSpPr>
        <p:spPr>
          <a:xfrm>
            <a:off x="3739896" y="443484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6" name="row"/>
          <p:cNvSpPr/>
          <p:nvPr/>
        </p:nvSpPr>
        <p:spPr>
          <a:xfrm>
            <a:off x="3739896" y="461772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7" name="row"/>
          <p:cNvSpPr/>
          <p:nvPr/>
        </p:nvSpPr>
        <p:spPr>
          <a:xfrm>
            <a:off x="3739896" y="4800600"/>
            <a:ext cx="10728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8" name="Table box Store"/>
          <p:cNvSpPr/>
          <p:nvPr/>
        </p:nvSpPr>
        <p:spPr>
          <a:xfrm>
            <a:off x="5681472" y="3886200"/>
            <a:ext cx="1804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9" name="Table head Store"/>
          <p:cNvSpPr/>
          <p:nvPr/>
        </p:nvSpPr>
        <p:spPr>
          <a:xfrm>
            <a:off x="5681472" y="3886200"/>
            <a:ext cx="1804416" cy="41148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FFFFFF"/>
                </a:solidFill>
              </a:rPr>
              <a:t>Store</a:t>
            </a:r>
            <a:endParaRPr lang="vi-VN" sz="1600"/>
          </a:p>
        </p:txBody>
      </p:sp>
      <p:sp>
        <p:nvSpPr>
          <p:cNvPr id="30" name="row"/>
          <p:cNvSpPr/>
          <p:nvPr/>
        </p:nvSpPr>
        <p:spPr>
          <a:xfrm>
            <a:off x="5818632" y="443484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1" name="row"/>
          <p:cNvSpPr/>
          <p:nvPr/>
        </p:nvSpPr>
        <p:spPr>
          <a:xfrm>
            <a:off x="5818632" y="461772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2" name="row"/>
          <p:cNvSpPr/>
          <p:nvPr/>
        </p:nvSpPr>
        <p:spPr>
          <a:xfrm>
            <a:off x="5818632" y="4800600"/>
            <a:ext cx="10728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3" name="Table box Customer"/>
          <p:cNvSpPr/>
          <p:nvPr/>
        </p:nvSpPr>
        <p:spPr>
          <a:xfrm>
            <a:off x="7760208" y="3886200"/>
            <a:ext cx="1804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4" name="Table head Customer"/>
          <p:cNvSpPr/>
          <p:nvPr/>
        </p:nvSpPr>
        <p:spPr>
          <a:xfrm>
            <a:off x="7760208" y="3886200"/>
            <a:ext cx="1804416" cy="41148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FFFFFF"/>
                </a:solidFill>
              </a:rPr>
              <a:t>Customer</a:t>
            </a:r>
            <a:endParaRPr lang="vi-VN" sz="1600"/>
          </a:p>
        </p:txBody>
      </p:sp>
      <p:sp>
        <p:nvSpPr>
          <p:cNvPr id="35" name="row"/>
          <p:cNvSpPr/>
          <p:nvPr/>
        </p:nvSpPr>
        <p:spPr>
          <a:xfrm>
            <a:off x="7897368" y="443484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6" name="row"/>
          <p:cNvSpPr/>
          <p:nvPr/>
        </p:nvSpPr>
        <p:spPr>
          <a:xfrm>
            <a:off x="7897368" y="461772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7" name="row"/>
          <p:cNvSpPr/>
          <p:nvPr/>
        </p:nvSpPr>
        <p:spPr>
          <a:xfrm>
            <a:off x="7897368" y="4800600"/>
            <a:ext cx="10728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8" name="Table box Target"/>
          <p:cNvSpPr/>
          <p:nvPr/>
        </p:nvSpPr>
        <p:spPr>
          <a:xfrm>
            <a:off x="9838944" y="3886200"/>
            <a:ext cx="1804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9" name="Table head Target"/>
          <p:cNvSpPr/>
          <p:nvPr/>
        </p:nvSpPr>
        <p:spPr>
          <a:xfrm>
            <a:off x="9838944" y="3886200"/>
            <a:ext cx="1804416" cy="41148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600" b="1">
                <a:solidFill>
                  <a:srgbClr val="FFFFFF"/>
                </a:solidFill>
              </a:rPr>
              <a:t>Target</a:t>
            </a:r>
            <a:endParaRPr lang="vi-VN" sz="1600"/>
          </a:p>
        </p:txBody>
      </p:sp>
      <p:sp>
        <p:nvSpPr>
          <p:cNvPr id="40" name="row"/>
          <p:cNvSpPr/>
          <p:nvPr/>
        </p:nvSpPr>
        <p:spPr>
          <a:xfrm>
            <a:off x="9976104" y="443484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41" name="row"/>
          <p:cNvSpPr/>
          <p:nvPr/>
        </p:nvSpPr>
        <p:spPr>
          <a:xfrm>
            <a:off x="9976104" y="4617720"/>
            <a:ext cx="15300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42" name="row"/>
          <p:cNvSpPr/>
          <p:nvPr/>
        </p:nvSpPr>
        <p:spPr>
          <a:xfrm>
            <a:off x="9976104" y="4800600"/>
            <a:ext cx="1072896" cy="73152"/>
          </a:xfrm>
          <a:prstGeom prst="rect">
            <a:avLst/>
          </a:prstGeom>
          <a:solidFill>
            <a:srgbClr val="D9DEE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43" name="TextBox"/>
          <p:cNvSpPr txBox="1"/>
          <p:nvPr/>
        </p:nvSpPr>
        <p:spPr>
          <a:xfrm>
            <a:off x="1524000" y="516636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6B6F76"/>
                </a:solidFill>
              </a:rPr>
              <a:t>5 bảng đứng riêng lẻ, chưa nối quan hệ. B4 thêm bảng Calendar; B5 nối thành mô hình.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319845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1. Excel dùng cho BI: phiên bản &amp; chuẩn bị máy</a:t>
            </a:r>
          </a:p>
        </p:txBody>
      </p:sp>
    </p:spTree>
    <p:extLst>
      <p:ext uri="{BB962C8B-B14F-4D97-AF65-F5344CB8AC3E}">
        <p14:creationId xmlns:p14="http://schemas.microsoft.com/office/powerpoint/2010/main" val="221517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1 · PHIÊN BẢN &amp; MÁY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So sánh phiên bản Excel cho BI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24000" y="1554480"/>
          <a:ext cx="10119360" cy="3048000"/>
        </p:xfrm>
        <a:graphic>
          <a:graphicData uri="http://schemas.openxmlformats.org/drawingml/2006/table">
            <a:tbl>
              <a:tblPr firstRow="1"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Excel 2016+ (Windows)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Microsoft 365 (Windows)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Excel Online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Excel cho Mac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Power Query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Hạn chế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Có, thiếu một số connector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Power Pivot / Data Model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Chỉ một số bản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Không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Không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Dynamic Arrays</a:t>
                      </a: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 (FILTER, XLOOKUP…)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Không (2016/2019)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Có (365)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Học được khóa này?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Được nếu có Power Pivot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Khuyến nghị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Không (từ B4)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Không (từ B4)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IP callout"/>
          <p:cNvSpPr/>
          <p:nvPr/>
        </p:nvSpPr>
        <p:spPr>
          <a:xfrm>
            <a:off x="1524000" y="4983480"/>
            <a:ext cx="10119360" cy="1005840"/>
          </a:xfrm>
          <a:prstGeom prst="roundRect">
            <a:avLst>
              <a:gd name="adj" fmla="val 25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TextBox"/>
          <p:cNvSpPr txBox="1"/>
          <p:nvPr/>
        </p:nvSpPr>
        <p:spPr>
          <a:xfrm>
            <a:off x="1633728" y="509320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16" name="TIP text"/>
          <p:cNvSpPr txBox="1"/>
          <p:nvPr/>
        </p:nvSpPr>
        <p:spPr>
          <a:xfrm>
            <a:off x="2273808" y="5070348"/>
            <a:ext cx="92598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1B2230"/>
                </a:solidFill>
              </a:rPr>
              <a:t>Bạn dùng Mac? Nên cài máy ảo Windows (Parallels Desktop hoặc VMware Fusion)</a:t>
            </a:r>
            <a:r>
              <a:rPr lang="en-US" sz="1800">
                <a:solidFill>
                  <a:srgbClr val="1B2230"/>
                </a:solidFill>
              </a:rPr>
              <a:t>.</a:t>
            </a:r>
            <a:endParaRPr lang="vi-VN" sz="1800"/>
          </a:p>
        </p:txBody>
      </p:sp>
    </p:spTree>
    <p:extLst>
      <p:ext uri="{BB962C8B-B14F-4D97-AF65-F5344CB8AC3E}">
        <p14:creationId xmlns:p14="http://schemas.microsoft.com/office/powerpoint/2010/main" val="1101845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1 · PHIÊN BẢN &amp; MÁY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Xác nhận kiểm tra máy</a:t>
            </a:r>
          </a:p>
        </p:txBody>
      </p:sp>
      <p:sp>
        <p:nvSpPr>
          <p:cNvPr id="13" name="Tool name"/>
          <p:cNvSpPr txBox="1"/>
          <p:nvPr/>
        </p:nvSpPr>
        <p:spPr>
          <a:xfrm>
            <a:off x="15240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Get Data</a:t>
            </a:r>
            <a:endParaRPr lang="vi-VN" sz="2400"/>
          </a:p>
        </p:txBody>
      </p:sp>
      <p:sp>
        <p:nvSpPr>
          <p:cNvPr id="14" name="Tool purpose"/>
          <p:cNvSpPr txBox="1"/>
          <p:nvPr/>
        </p:nvSpPr>
        <p:spPr>
          <a:xfrm>
            <a:off x="1524000" y="2011680"/>
            <a:ext cx="3159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Có Power Query không?</a:t>
            </a:r>
            <a:endParaRPr lang="vi-VN" sz="1800"/>
          </a:p>
        </p:txBody>
      </p:sp>
      <p:cxnSp>
        <p:nvCxnSpPr>
          <p:cNvPr id="16" name="Line 16"/>
          <p:cNvCxnSpPr/>
          <p:nvPr/>
        </p:nvCxnSpPr>
        <p:spPr>
          <a:xfrm>
            <a:off x="4843780" y="1554480"/>
            <a:ext cx="0" cy="434340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7" name="Tool name"/>
          <p:cNvSpPr txBox="1"/>
          <p:nvPr/>
        </p:nvSpPr>
        <p:spPr>
          <a:xfrm>
            <a:off x="50038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COM Add-ins</a:t>
            </a:r>
            <a:endParaRPr lang="vi-VN" sz="2400"/>
          </a:p>
        </p:txBody>
      </p:sp>
      <p:sp>
        <p:nvSpPr>
          <p:cNvPr id="18" name="Tool purpose"/>
          <p:cNvSpPr txBox="1"/>
          <p:nvPr/>
        </p:nvSpPr>
        <p:spPr>
          <a:xfrm>
            <a:off x="5003800" y="2011680"/>
            <a:ext cx="3159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Có Power Pivot không?</a:t>
            </a:r>
            <a:endParaRPr lang="vi-VN" sz="1800"/>
          </a:p>
        </p:txBody>
      </p:sp>
      <p:sp>
        <p:nvSpPr>
          <p:cNvPr id="20" name="TIP callout"/>
          <p:cNvSpPr/>
          <p:nvPr/>
        </p:nvSpPr>
        <p:spPr>
          <a:xfrm>
            <a:off x="5003800" y="4892040"/>
            <a:ext cx="3159760" cy="1005840"/>
          </a:xfrm>
          <a:prstGeom prst="roundRect">
            <a:avLst>
              <a:gd name="adj" fmla="val 25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TextBox"/>
          <p:cNvSpPr txBox="1"/>
          <p:nvPr/>
        </p:nvSpPr>
        <p:spPr>
          <a:xfrm>
            <a:off x="5113528" y="500176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22" name="TIP text"/>
          <p:cNvSpPr txBox="1"/>
          <p:nvPr/>
        </p:nvSpPr>
        <p:spPr>
          <a:xfrm>
            <a:off x="5753608" y="4978908"/>
            <a:ext cx="23002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>
                <a:solidFill>
                  <a:srgbClr val="1B2230"/>
                </a:solidFill>
              </a:rPr>
              <a:t>Tick xong, Ribbon có tab </a:t>
            </a:r>
            <a:r>
              <a:rPr lang="vi-VN" sz="1400" b="1">
                <a:solidFill>
                  <a:srgbClr val="1B2230"/>
                </a:solidFill>
              </a:rPr>
              <a:t>Power Pivot</a:t>
            </a:r>
            <a:r>
              <a:rPr lang="vi-VN" sz="1400">
                <a:solidFill>
                  <a:srgbClr val="1B2230"/>
                </a:solidFill>
              </a:rPr>
              <a:t>.</a:t>
            </a:r>
            <a:endParaRPr lang="vi-VN" sz="1400"/>
          </a:p>
        </p:txBody>
      </p:sp>
      <p:cxnSp>
        <p:nvCxnSpPr>
          <p:cNvPr id="23" name="Line 23"/>
          <p:cNvCxnSpPr/>
          <p:nvPr/>
        </p:nvCxnSpPr>
        <p:spPr>
          <a:xfrm>
            <a:off x="8323580" y="1554480"/>
            <a:ext cx="0" cy="434340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4" name="Tool name"/>
          <p:cNvSpPr txBox="1"/>
          <p:nvPr/>
        </p:nvSpPr>
        <p:spPr>
          <a:xfrm>
            <a:off x="84836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About Excel</a:t>
            </a:r>
            <a:endParaRPr lang="vi-VN" sz="2400"/>
          </a:p>
        </p:txBody>
      </p:sp>
      <p:sp>
        <p:nvSpPr>
          <p:cNvPr id="25" name="Tool purpose"/>
          <p:cNvSpPr txBox="1"/>
          <p:nvPr/>
        </p:nvSpPr>
        <p:spPr>
          <a:xfrm>
            <a:off x="8483600" y="2011680"/>
            <a:ext cx="3159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32-bit hay 64-bit?</a:t>
            </a:r>
            <a:endParaRPr lang="vi-VN" sz="1800"/>
          </a:p>
        </p:txBody>
      </p:sp>
      <p:sp>
        <p:nvSpPr>
          <p:cNvPr id="27" name="PRO TIP callout"/>
          <p:cNvSpPr/>
          <p:nvPr/>
        </p:nvSpPr>
        <p:spPr>
          <a:xfrm>
            <a:off x="8483600" y="4892040"/>
            <a:ext cx="3159760" cy="1005840"/>
          </a:xfrm>
          <a:prstGeom prst="roundRect">
            <a:avLst>
              <a:gd name="adj" fmla="val 25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8" name="PRO TIP chip"/>
          <p:cNvSpPr/>
          <p:nvPr/>
        </p:nvSpPr>
        <p:spPr>
          <a:xfrm>
            <a:off x="8593328" y="500176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29" name="PRO TIP text"/>
          <p:cNvSpPr txBox="1"/>
          <p:nvPr/>
        </p:nvSpPr>
        <p:spPr>
          <a:xfrm>
            <a:off x="9690608" y="4978908"/>
            <a:ext cx="18430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>
                <a:solidFill>
                  <a:srgbClr val="1B2230"/>
                </a:solidFill>
              </a:rPr>
              <a:t>64-bit xử lý mô hình lớn tốt hơn.</a:t>
            </a:r>
            <a:endParaRPr lang="vi-VN" sz="1400"/>
          </a:p>
        </p:txBody>
      </p:sp>
      <p:sp>
        <p:nvSpPr>
          <p:cNvPr id="30" name="Footnote"/>
          <p:cNvSpPr txBox="1"/>
          <p:nvPr/>
        </p:nvSpPr>
        <p:spPr>
          <a:xfrm>
            <a:off x="1524000" y="621792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200">
                <a:solidFill>
                  <a:srgbClr val="6B6F76"/>
                </a:solidFill>
              </a:rPr>
              <a:t>Checklist đã gửi trong nhóm chat trước buổi học. Chưa đạt hoặc chưa làm được: báo trợ giảng ngay.</a:t>
            </a:r>
            <a:endParaRPr lang="vi-VN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17E78-B8BD-D553-69B2-2A5B3120D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258" y="2788920"/>
            <a:ext cx="3161211" cy="2011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883AE4-6470-0C84-0E26-C702578F2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509" y="2957921"/>
            <a:ext cx="3405071" cy="1444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45C3E1-B429-9813-BF6A-49EEE0488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308" y="2738628"/>
            <a:ext cx="3165922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79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2. Giao diện Excel: những gì người làm BI dùng hằng ngày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2 · GIAO DIỆN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Giao diện chính</a:t>
            </a:r>
          </a:p>
        </p:txBody>
      </p:sp>
      <p:sp>
        <p:nvSpPr>
          <p:cNvPr id="14" name="Callout number 1"/>
          <p:cNvSpPr/>
          <p:nvPr/>
        </p:nvSpPr>
        <p:spPr>
          <a:xfrm>
            <a:off x="7879080" y="1600200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1</a:t>
            </a:r>
            <a:endParaRPr lang="vi-VN" sz="1400"/>
          </a:p>
        </p:txBody>
      </p:sp>
      <p:sp>
        <p:nvSpPr>
          <p:cNvPr id="15" name="TextBox"/>
          <p:cNvSpPr txBox="1"/>
          <p:nvPr/>
        </p:nvSpPr>
        <p:spPr>
          <a:xfrm>
            <a:off x="8382000" y="1554480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Ribbon</a:t>
            </a:r>
            <a:endParaRPr lang="vi-VN" sz="1800"/>
          </a:p>
        </p:txBody>
      </p:sp>
      <p:sp>
        <p:nvSpPr>
          <p:cNvPr id="16" name="Callout number 2"/>
          <p:cNvSpPr/>
          <p:nvPr/>
        </p:nvSpPr>
        <p:spPr>
          <a:xfrm>
            <a:off x="7879080" y="2130552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2</a:t>
            </a:r>
            <a:endParaRPr lang="vi-VN" sz="1400"/>
          </a:p>
        </p:txBody>
      </p:sp>
      <p:sp>
        <p:nvSpPr>
          <p:cNvPr id="17" name="TextBox"/>
          <p:cNvSpPr txBox="1"/>
          <p:nvPr/>
        </p:nvSpPr>
        <p:spPr>
          <a:xfrm>
            <a:off x="8382000" y="2084832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Name Box</a:t>
            </a:r>
            <a:endParaRPr lang="vi-VN" sz="1800"/>
          </a:p>
        </p:txBody>
      </p:sp>
      <p:sp>
        <p:nvSpPr>
          <p:cNvPr id="18" name="Callout number 3"/>
          <p:cNvSpPr/>
          <p:nvPr/>
        </p:nvSpPr>
        <p:spPr>
          <a:xfrm>
            <a:off x="7879080" y="2660904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3</a:t>
            </a:r>
            <a:endParaRPr lang="vi-VN" sz="1400"/>
          </a:p>
        </p:txBody>
      </p:sp>
      <p:sp>
        <p:nvSpPr>
          <p:cNvPr id="19" name="TextBox"/>
          <p:cNvSpPr txBox="1"/>
          <p:nvPr/>
        </p:nvSpPr>
        <p:spPr>
          <a:xfrm>
            <a:off x="8382000" y="2615184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Formula Bar</a:t>
            </a:r>
            <a:endParaRPr lang="vi-VN" sz="1800"/>
          </a:p>
        </p:txBody>
      </p:sp>
      <p:sp>
        <p:nvSpPr>
          <p:cNvPr id="20" name="Callout number 4"/>
          <p:cNvSpPr/>
          <p:nvPr/>
        </p:nvSpPr>
        <p:spPr>
          <a:xfrm>
            <a:off x="7879080" y="3191256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4</a:t>
            </a:r>
            <a:endParaRPr lang="vi-VN" sz="1400"/>
          </a:p>
        </p:txBody>
      </p:sp>
      <p:sp>
        <p:nvSpPr>
          <p:cNvPr id="21" name="TextBox"/>
          <p:cNvSpPr txBox="1"/>
          <p:nvPr/>
        </p:nvSpPr>
        <p:spPr>
          <a:xfrm>
            <a:off x="8382000" y="3145536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Ô / Dòng / Cột</a:t>
            </a:r>
            <a:endParaRPr lang="vi-VN" sz="1800"/>
          </a:p>
        </p:txBody>
      </p:sp>
      <p:sp>
        <p:nvSpPr>
          <p:cNvPr id="22" name="Callout number 5"/>
          <p:cNvSpPr/>
          <p:nvPr/>
        </p:nvSpPr>
        <p:spPr>
          <a:xfrm>
            <a:off x="7879080" y="3721608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5</a:t>
            </a:r>
            <a:endParaRPr lang="vi-VN" sz="1400"/>
          </a:p>
        </p:txBody>
      </p:sp>
      <p:sp>
        <p:nvSpPr>
          <p:cNvPr id="23" name="TextBox"/>
          <p:cNvSpPr txBox="1"/>
          <p:nvPr/>
        </p:nvSpPr>
        <p:spPr>
          <a:xfrm>
            <a:off x="8382000" y="3675888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Sheet tabs</a:t>
            </a:r>
            <a:endParaRPr lang="vi-VN" sz="1800"/>
          </a:p>
        </p:txBody>
      </p:sp>
      <p:sp>
        <p:nvSpPr>
          <p:cNvPr id="24" name="Callout number 6"/>
          <p:cNvSpPr/>
          <p:nvPr/>
        </p:nvSpPr>
        <p:spPr>
          <a:xfrm>
            <a:off x="7879080" y="4251960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6</a:t>
            </a:r>
            <a:endParaRPr lang="vi-VN" sz="1400"/>
          </a:p>
        </p:txBody>
      </p:sp>
      <p:sp>
        <p:nvSpPr>
          <p:cNvPr id="25" name="TextBox"/>
          <p:cNvSpPr txBox="1"/>
          <p:nvPr/>
        </p:nvSpPr>
        <p:spPr>
          <a:xfrm>
            <a:off x="8382000" y="4206240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 b="1">
                <a:solidFill>
                  <a:srgbClr val="203864"/>
                </a:solidFill>
              </a:rPr>
              <a:t>Status Bar</a:t>
            </a:r>
            <a:endParaRPr lang="vi-VN" sz="1800"/>
          </a:p>
        </p:txBody>
      </p:sp>
      <p:sp>
        <p:nvSpPr>
          <p:cNvPr id="26" name="Callout number 7"/>
          <p:cNvSpPr/>
          <p:nvPr/>
        </p:nvSpPr>
        <p:spPr>
          <a:xfrm>
            <a:off x="7879080" y="4782312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7</a:t>
            </a:r>
            <a:endParaRPr lang="vi-VN" sz="1400"/>
          </a:p>
        </p:txBody>
      </p:sp>
      <p:sp>
        <p:nvSpPr>
          <p:cNvPr id="27" name="TextBox"/>
          <p:cNvSpPr txBox="1"/>
          <p:nvPr/>
        </p:nvSpPr>
        <p:spPr>
          <a:xfrm>
            <a:off x="8382000" y="4736592"/>
            <a:ext cx="3261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Workbook = file, Sheet = trang tính</a:t>
            </a:r>
            <a:endParaRPr lang="vi-VN" sz="1800"/>
          </a:p>
        </p:txBody>
      </p:sp>
      <p:sp>
        <p:nvSpPr>
          <p:cNvPr id="28" name="TIP callout"/>
          <p:cNvSpPr/>
          <p:nvPr/>
        </p:nvSpPr>
        <p:spPr>
          <a:xfrm>
            <a:off x="1524000" y="5532120"/>
            <a:ext cx="10119360" cy="777240"/>
          </a:xfrm>
          <a:prstGeom prst="roundRect">
            <a:avLst>
              <a:gd name="adj" fmla="val 3268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9" name="TextBox"/>
          <p:cNvSpPr txBox="1"/>
          <p:nvPr/>
        </p:nvSpPr>
        <p:spPr>
          <a:xfrm>
            <a:off x="1633728" y="564184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30" name="TIP text"/>
          <p:cNvSpPr txBox="1"/>
          <p:nvPr/>
        </p:nvSpPr>
        <p:spPr>
          <a:xfrm>
            <a:off x="2273808" y="5618988"/>
            <a:ext cx="925982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1B2230"/>
                </a:solidFill>
              </a:rPr>
              <a:t>Chọn một cột số, </a:t>
            </a:r>
            <a:r>
              <a:rPr lang="vi-VN" sz="1800" b="1">
                <a:solidFill>
                  <a:srgbClr val="1B2230"/>
                </a:solidFill>
              </a:rPr>
              <a:t>Status Bar hiện ngay Sum / Average / Count</a:t>
            </a:r>
            <a:r>
              <a:rPr lang="vi-VN" sz="1800">
                <a:solidFill>
                  <a:srgbClr val="1B2230"/>
                </a:solidFill>
              </a:rPr>
              <a:t>. Đây là cách đối soát nhanh nhất trong Excel.</a:t>
            </a:r>
            <a:endParaRPr lang="vi-VN" sz="18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605493-0F18-F786-A36C-68C4B37DD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63" y="365760"/>
            <a:ext cx="7569337" cy="486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2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2 · GIAO DIỆN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8 tab Ribbon: tab nào dùng ở buổi nào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24000" y="1554480"/>
          <a:ext cx="5943600" cy="4383024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Tab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Dùng ở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Home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Mọi buổi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Insert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B1 (Table), B3 (Pivot), B6 (Chart)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Page Layout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B6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Formulas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B1 (Auditing), B2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Data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B1 (Validation), B3 (Refresh All), B4 (Get Data)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Review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B6 (Protect Sheet)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View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B1 (Freeze Panes), B6 (ẩn gridline)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Power Pivot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B5–B6 (bật ở B1, dùng từ B5)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Rule box"/>
          <p:cNvSpPr/>
          <p:nvPr/>
        </p:nvSpPr>
        <p:spPr>
          <a:xfrm>
            <a:off x="7741920" y="3657600"/>
            <a:ext cx="3901440" cy="1965960"/>
          </a:xfrm>
          <a:prstGeom prst="roundRect">
            <a:avLst>
              <a:gd name="adj" fmla="val 1292"/>
            </a:avLst>
          </a:prstGeom>
          <a:solidFill>
            <a:srgbClr val="F3F5F9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vi-VN" sz="1600" b="1">
                <a:solidFill>
                  <a:srgbClr val="203864"/>
                </a:solidFill>
              </a:rPr>
              <a:t>Quy tắc cần nhớ</a:t>
            </a:r>
            <a:endParaRPr lang="vi-VN" sz="1600"/>
          </a:p>
          <a:p>
            <a:pPr marL="0" indent="0">
              <a:spcAft>
                <a:spcPts val="600"/>
              </a:spcAft>
              <a:buNone/>
            </a:pPr>
            <a:r>
              <a:rPr lang="vi-VN" sz="2000">
                <a:solidFill>
                  <a:srgbClr val="1B2230"/>
                </a:solidFill>
              </a:rPr>
              <a:t>Cần làm việc </a:t>
            </a:r>
            <a:r>
              <a:rPr lang="vi-VN" sz="2000" b="1">
                <a:solidFill>
                  <a:srgbClr val="1B2230"/>
                </a:solidFill>
              </a:rPr>
              <a:t>X</a:t>
            </a:r>
            <a:r>
              <a:rPr lang="vi-VN" sz="2000">
                <a:solidFill>
                  <a:srgbClr val="1B2230"/>
                </a:solidFill>
              </a:rPr>
              <a:t> → vào tab </a:t>
            </a:r>
            <a:r>
              <a:rPr lang="vi-VN" sz="2000" b="1">
                <a:solidFill>
                  <a:srgbClr val="1B2230"/>
                </a:solidFill>
              </a:rPr>
              <a:t>Y</a:t>
            </a:r>
            <a:r>
              <a:rPr lang="vi-VN" sz="2000">
                <a:solidFill>
                  <a:srgbClr val="1B2230"/>
                </a:solidFill>
              </a:rPr>
              <a:t>.</a:t>
            </a:r>
            <a:endParaRPr lang="vi-VN" sz="20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Tour chi tiết từng tab có trong handout.</a:t>
            </a:r>
            <a:endParaRPr lang="vi-VN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05C74-85F6-F0AB-5F35-FCEC6197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531088"/>
            <a:ext cx="4360244" cy="21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4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3. Phím tắt: làm việc với dữ liệu lớn không cần chuột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3 · PHÍM TẮT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Ctrl Shortcuts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Ctrl + Arrow</a:t>
            </a:r>
            <a:endParaRPr lang="vi-VN" sz="2400"/>
          </a:p>
        </p:txBody>
      </p:sp>
      <p:sp>
        <p:nvSpPr>
          <p:cNvPr id="14" name="TextBox"/>
          <p:cNvSpPr txBox="1"/>
          <p:nvPr/>
        </p:nvSpPr>
        <p:spPr>
          <a:xfrm>
            <a:off x="1524000" y="2011680"/>
            <a:ext cx="3159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Nhảy tới ô cuối vùng dữ liệu theo hướng mũi tên</a:t>
            </a:r>
            <a:endParaRPr lang="vi-VN" sz="1800"/>
          </a:p>
        </p:txBody>
      </p:sp>
      <p:cxnSp>
        <p:nvCxnSpPr>
          <p:cNvPr id="15" name="Line 15"/>
          <p:cNvCxnSpPr/>
          <p:nvPr/>
        </p:nvCxnSpPr>
        <p:spPr>
          <a:xfrm>
            <a:off x="4843780" y="1554480"/>
            <a:ext cx="0" cy="114300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6" name="TextBox"/>
          <p:cNvSpPr txBox="1"/>
          <p:nvPr/>
        </p:nvSpPr>
        <p:spPr>
          <a:xfrm>
            <a:off x="50038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Ctrl + Shift + Arrow</a:t>
            </a:r>
            <a:endParaRPr lang="vi-VN" sz="2400"/>
          </a:p>
        </p:txBody>
      </p:sp>
      <p:sp>
        <p:nvSpPr>
          <p:cNvPr id="17" name="TextBox"/>
          <p:cNvSpPr txBox="1"/>
          <p:nvPr/>
        </p:nvSpPr>
        <p:spPr>
          <a:xfrm>
            <a:off x="5003800" y="2011680"/>
            <a:ext cx="3159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Chọn tới ô cuối vùng dữ liệu</a:t>
            </a:r>
            <a:endParaRPr lang="vi-VN" sz="1800"/>
          </a:p>
        </p:txBody>
      </p:sp>
      <p:cxnSp>
        <p:nvCxnSpPr>
          <p:cNvPr id="18" name="Line 18"/>
          <p:cNvCxnSpPr/>
          <p:nvPr/>
        </p:nvCxnSpPr>
        <p:spPr>
          <a:xfrm>
            <a:off x="8323580" y="1554480"/>
            <a:ext cx="0" cy="114300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9" name="TextBox"/>
          <p:cNvSpPr txBox="1"/>
          <p:nvPr/>
        </p:nvSpPr>
        <p:spPr>
          <a:xfrm>
            <a:off x="84836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Ctrl + Home / End</a:t>
            </a:r>
            <a:endParaRPr lang="vi-VN" sz="2400"/>
          </a:p>
        </p:txBody>
      </p:sp>
      <p:sp>
        <p:nvSpPr>
          <p:cNvPr id="20" name="TextBox"/>
          <p:cNvSpPr txBox="1"/>
          <p:nvPr/>
        </p:nvSpPr>
        <p:spPr>
          <a:xfrm>
            <a:off x="8483600" y="2011680"/>
            <a:ext cx="3159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Về ô đầu / ô cuối có dữ liệu</a:t>
            </a:r>
            <a:endParaRPr lang="vi-VN" sz="1800"/>
          </a:p>
        </p:txBody>
      </p:sp>
      <p:sp>
        <p:nvSpPr>
          <p:cNvPr id="22" name="TIP callout"/>
          <p:cNvSpPr/>
          <p:nvPr/>
        </p:nvSpPr>
        <p:spPr>
          <a:xfrm>
            <a:off x="8153400" y="2880360"/>
            <a:ext cx="3489960" cy="1005840"/>
          </a:xfrm>
          <a:prstGeom prst="roundRect">
            <a:avLst>
              <a:gd name="adj" fmla="val 25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3" name="TextBox"/>
          <p:cNvSpPr txBox="1"/>
          <p:nvPr/>
        </p:nvSpPr>
        <p:spPr>
          <a:xfrm>
            <a:off x="8263128" y="299008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24" name="TIP text"/>
          <p:cNvSpPr txBox="1"/>
          <p:nvPr/>
        </p:nvSpPr>
        <p:spPr>
          <a:xfrm>
            <a:off x="8903208" y="2967228"/>
            <a:ext cx="26304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 b="1">
                <a:solidFill>
                  <a:srgbClr val="1B2230"/>
                </a:solidFill>
              </a:rPr>
              <a:t>Ctrl + PgUp / PgDn</a:t>
            </a:r>
            <a:r>
              <a:rPr lang="vi-VN" sz="1600">
                <a:solidFill>
                  <a:srgbClr val="1B2230"/>
                </a:solidFill>
              </a:rPr>
              <a:t> để chuyển sheet.</a:t>
            </a:r>
            <a:endParaRPr lang="vi-VN" sz="1600"/>
          </a:p>
        </p:txBody>
      </p:sp>
      <p:sp>
        <p:nvSpPr>
          <p:cNvPr id="25" name="TextBox"/>
          <p:cNvSpPr txBox="1"/>
          <p:nvPr/>
        </p:nvSpPr>
        <p:spPr>
          <a:xfrm>
            <a:off x="8153400" y="4069080"/>
            <a:ext cx="3489960" cy="2240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vi-VN" sz="1600" b="1">
                <a:solidFill>
                  <a:srgbClr val="203864"/>
                </a:solidFill>
              </a:rPr>
              <a:t>Ctrl + ↓ dừng giữa chừng?</a:t>
            </a:r>
            <a:endParaRPr lang="vi-VN" sz="1600"/>
          </a:p>
          <a:p>
            <a:pPr marL="0" indent="0">
              <a:buNone/>
            </a:pPr>
            <a:r>
              <a:rPr lang="vi-VN" sz="1600">
                <a:solidFill>
                  <a:srgbClr val="1B2230"/>
                </a:solidFill>
              </a:rPr>
              <a:t>Dữ liệu có </a:t>
            </a:r>
            <a:r>
              <a:rPr lang="vi-VN" sz="1600" b="1">
                <a:solidFill>
                  <a:srgbClr val="1B2230"/>
                </a:solidFill>
              </a:rPr>
              <a:t>dòng trống</a:t>
            </a:r>
            <a:r>
              <a:rPr lang="vi-VN" sz="1600">
                <a:solidFill>
                  <a:srgbClr val="1B2230"/>
                </a:solidFill>
              </a:rPr>
              <a:t>. Phím tắt này cũng là công cụ phát hiện lỗi.</a:t>
            </a:r>
            <a:endParaRPr lang="vi-VN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B78CDC-E109-F1A3-2B4E-ECC07A059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656" y="2697480"/>
            <a:ext cx="4318531" cy="41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2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3 · PHÍM TẮT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Fn Shortcuts</a:t>
            </a:r>
          </a:p>
        </p:txBody>
      </p:sp>
      <p:sp>
        <p:nvSpPr>
          <p:cNvPr id="13" name="Tool name"/>
          <p:cNvSpPr txBox="1"/>
          <p:nvPr/>
        </p:nvSpPr>
        <p:spPr>
          <a:xfrm>
            <a:off x="15240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F2</a:t>
            </a:r>
            <a:endParaRPr lang="vi-VN" sz="2400"/>
          </a:p>
        </p:txBody>
      </p:sp>
      <p:sp>
        <p:nvSpPr>
          <p:cNvPr id="14" name="Tool purpose"/>
          <p:cNvSpPr txBox="1"/>
          <p:nvPr/>
        </p:nvSpPr>
        <p:spPr>
          <a:xfrm>
            <a:off x="1524000" y="2011680"/>
            <a:ext cx="3159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Sửa ô đang chọn; tô màu các ô công thức tham chiếu</a:t>
            </a:r>
            <a:endParaRPr lang="vi-VN" sz="1800"/>
          </a:p>
        </p:txBody>
      </p:sp>
      <p:cxnSp>
        <p:nvCxnSpPr>
          <p:cNvPr id="16" name="Line 16"/>
          <p:cNvCxnSpPr/>
          <p:nvPr/>
        </p:nvCxnSpPr>
        <p:spPr>
          <a:xfrm>
            <a:off x="4843780" y="1554480"/>
            <a:ext cx="0" cy="448056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7" name="Tool name"/>
          <p:cNvSpPr txBox="1"/>
          <p:nvPr/>
        </p:nvSpPr>
        <p:spPr>
          <a:xfrm>
            <a:off x="50038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F4</a:t>
            </a:r>
            <a:endParaRPr lang="vi-VN" sz="2400"/>
          </a:p>
        </p:txBody>
      </p:sp>
      <p:sp>
        <p:nvSpPr>
          <p:cNvPr id="18" name="Tool purpose"/>
          <p:cNvSpPr txBox="1"/>
          <p:nvPr/>
        </p:nvSpPr>
        <p:spPr>
          <a:xfrm>
            <a:off x="5003800" y="2011680"/>
            <a:ext cx="3159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Đang sửa công thức: đổi A1 → $A$1 → A$1 → $A1. Không sửa: lặp lại thao tác cuối</a:t>
            </a:r>
            <a:endParaRPr lang="vi-VN" sz="1800"/>
          </a:p>
        </p:txBody>
      </p:sp>
      <p:sp>
        <p:nvSpPr>
          <p:cNvPr id="19" name="Image placeholder"/>
          <p:cNvSpPr/>
          <p:nvPr/>
        </p:nvSpPr>
        <p:spPr>
          <a:xfrm>
            <a:off x="5003800" y="3017520"/>
            <a:ext cx="3159760" cy="2011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buNone/>
            </a:pPr>
            <a:r>
              <a:rPr lang="vi-VN" sz="1200">
                <a:solidFill>
                  <a:srgbClr val="6B6F76"/>
                </a:solidFill>
              </a:rPr>
              <a:t> </a:t>
            </a:r>
            <a:endParaRPr lang="vi-VN" sz="1200"/>
          </a:p>
        </p:txBody>
      </p:sp>
      <p:cxnSp>
        <p:nvCxnSpPr>
          <p:cNvPr id="20" name="Line 20"/>
          <p:cNvCxnSpPr/>
          <p:nvPr/>
        </p:nvCxnSpPr>
        <p:spPr>
          <a:xfrm>
            <a:off x="8323580" y="1554480"/>
            <a:ext cx="0" cy="448056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1" name="Tool name"/>
          <p:cNvSpPr txBox="1"/>
          <p:nvPr/>
        </p:nvSpPr>
        <p:spPr>
          <a:xfrm>
            <a:off x="84836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F9</a:t>
            </a:r>
            <a:endParaRPr lang="vi-VN" sz="2400"/>
          </a:p>
        </p:txBody>
      </p:sp>
      <p:sp>
        <p:nvSpPr>
          <p:cNvPr id="22" name="Tool purpose"/>
          <p:cNvSpPr txBox="1"/>
          <p:nvPr/>
        </p:nvSpPr>
        <p:spPr>
          <a:xfrm>
            <a:off x="8483600" y="2011680"/>
            <a:ext cx="3159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Tính giá trị phần công thức đang bôi đen</a:t>
            </a:r>
            <a:endParaRPr lang="vi-VN" sz="1800"/>
          </a:p>
        </p:txBody>
      </p:sp>
      <p:sp>
        <p:nvSpPr>
          <p:cNvPr id="24" name="TIP callout"/>
          <p:cNvSpPr/>
          <p:nvPr/>
        </p:nvSpPr>
        <p:spPr>
          <a:xfrm>
            <a:off x="8483600" y="5166360"/>
            <a:ext cx="3159760" cy="1005840"/>
          </a:xfrm>
          <a:prstGeom prst="roundRect">
            <a:avLst>
              <a:gd name="adj" fmla="val 25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5" name="TextBox"/>
          <p:cNvSpPr txBox="1"/>
          <p:nvPr/>
        </p:nvSpPr>
        <p:spPr>
          <a:xfrm>
            <a:off x="8593328" y="527608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26" name="TIP text"/>
          <p:cNvSpPr txBox="1"/>
          <p:nvPr/>
        </p:nvSpPr>
        <p:spPr>
          <a:xfrm>
            <a:off x="9233408" y="5253228"/>
            <a:ext cx="23002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>
                <a:solidFill>
                  <a:srgbClr val="1B2230"/>
                </a:solidFill>
              </a:rPr>
              <a:t>Xong nhấn </a:t>
            </a:r>
            <a:r>
              <a:rPr lang="vi-VN" sz="1400" b="1">
                <a:solidFill>
                  <a:srgbClr val="1B2230"/>
                </a:solidFill>
              </a:rPr>
              <a:t>Esc</a:t>
            </a:r>
            <a:r>
              <a:rPr lang="vi-VN" sz="1400">
                <a:solidFill>
                  <a:srgbClr val="1B2230"/>
                </a:solidFill>
              </a:rPr>
              <a:t> để không ghi đè công thức.</a:t>
            </a:r>
            <a:endParaRPr lang="vi-VN" sz="1400"/>
          </a:p>
        </p:txBody>
      </p:sp>
      <p:sp>
        <p:nvSpPr>
          <p:cNvPr id="27" name="Ref A1"/>
          <p:cNvSpPr/>
          <p:nvPr/>
        </p:nvSpPr>
        <p:spPr>
          <a:xfrm>
            <a:off x="5232400" y="347472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800" b="1">
                <a:solidFill>
                  <a:srgbClr val="203864"/>
                </a:solidFill>
              </a:rPr>
              <a:t>A1</a:t>
            </a:r>
            <a:endParaRPr lang="vi-VN" sz="1800"/>
          </a:p>
        </p:txBody>
      </p:sp>
      <p:sp>
        <p:nvSpPr>
          <p:cNvPr id="28" name="Ref $A$1"/>
          <p:cNvSpPr/>
          <p:nvPr/>
        </p:nvSpPr>
        <p:spPr>
          <a:xfrm>
            <a:off x="6791960" y="347472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800" b="1">
                <a:solidFill>
                  <a:srgbClr val="203864"/>
                </a:solidFill>
              </a:rPr>
              <a:t>$A$1</a:t>
            </a:r>
            <a:endParaRPr lang="vi-VN" sz="1800"/>
          </a:p>
        </p:txBody>
      </p:sp>
      <p:sp>
        <p:nvSpPr>
          <p:cNvPr id="29" name="Ref A$1"/>
          <p:cNvSpPr/>
          <p:nvPr/>
        </p:nvSpPr>
        <p:spPr>
          <a:xfrm>
            <a:off x="6791960" y="43434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800" b="1">
                <a:solidFill>
                  <a:srgbClr val="203864"/>
                </a:solidFill>
              </a:rPr>
              <a:t>A$1</a:t>
            </a:r>
            <a:endParaRPr lang="vi-VN" sz="1800"/>
          </a:p>
        </p:txBody>
      </p:sp>
      <p:sp>
        <p:nvSpPr>
          <p:cNvPr id="30" name="Ref $A1"/>
          <p:cNvSpPr/>
          <p:nvPr/>
        </p:nvSpPr>
        <p:spPr>
          <a:xfrm>
            <a:off x="5232400" y="43434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800" b="1">
                <a:solidFill>
                  <a:srgbClr val="203864"/>
                </a:solidFill>
              </a:rPr>
              <a:t>$A1</a:t>
            </a:r>
            <a:endParaRPr lang="vi-VN" sz="1800"/>
          </a:p>
        </p:txBody>
      </p:sp>
      <p:cxnSp>
        <p:nvCxnSpPr>
          <p:cNvPr id="31" name="Line 31"/>
          <p:cNvCxnSpPr/>
          <p:nvPr/>
        </p:nvCxnSpPr>
        <p:spPr>
          <a:xfrm>
            <a:off x="6421120" y="3680460"/>
            <a:ext cx="325120" cy="0"/>
          </a:xfrm>
          <a:prstGeom prst="line">
            <a:avLst/>
          </a:prstGeom>
          <a:ln w="19050">
            <a:solidFill>
              <a:srgbClr val="3398DA"/>
            </a:solidFill>
            <a:tailEnd type="triangle" w="med" len="med"/>
          </a:ln>
        </p:spPr>
      </p:cxnSp>
      <p:cxnSp>
        <p:nvCxnSpPr>
          <p:cNvPr id="32" name="Line 32"/>
          <p:cNvCxnSpPr/>
          <p:nvPr/>
        </p:nvCxnSpPr>
        <p:spPr>
          <a:xfrm>
            <a:off x="7363460" y="3931920"/>
            <a:ext cx="0" cy="365760"/>
          </a:xfrm>
          <a:prstGeom prst="line">
            <a:avLst/>
          </a:prstGeom>
          <a:ln w="19050">
            <a:solidFill>
              <a:srgbClr val="3398DA"/>
            </a:solidFill>
            <a:tailEnd type="triangle" w="med" len="med"/>
          </a:ln>
        </p:spPr>
      </p:cxnSp>
      <p:cxnSp>
        <p:nvCxnSpPr>
          <p:cNvPr id="33" name="Line 33"/>
          <p:cNvCxnSpPr/>
          <p:nvPr/>
        </p:nvCxnSpPr>
        <p:spPr>
          <a:xfrm flipH="1">
            <a:off x="6421120" y="4549140"/>
            <a:ext cx="325120" cy="0"/>
          </a:xfrm>
          <a:prstGeom prst="line">
            <a:avLst/>
          </a:prstGeom>
          <a:ln w="19050">
            <a:solidFill>
              <a:srgbClr val="3398DA"/>
            </a:solidFill>
            <a:tailEnd type="triangle" w="med" len="med"/>
          </a:ln>
        </p:spPr>
      </p:cxnSp>
      <p:cxnSp>
        <p:nvCxnSpPr>
          <p:cNvPr id="34" name="Line 34"/>
          <p:cNvCxnSpPr/>
          <p:nvPr/>
        </p:nvCxnSpPr>
        <p:spPr>
          <a:xfrm flipV="1">
            <a:off x="5803900" y="3931920"/>
            <a:ext cx="0" cy="365760"/>
          </a:xfrm>
          <a:prstGeom prst="line">
            <a:avLst/>
          </a:prstGeom>
          <a:ln w="19050">
            <a:solidFill>
              <a:srgbClr val="3398DA"/>
            </a:solidFill>
            <a:tailEnd type="triangle" w="med" len="med"/>
          </a:ln>
        </p:spPr>
      </p:cxnSp>
      <p:sp>
        <p:nvSpPr>
          <p:cNvPr id="35" name="TextBox"/>
          <p:cNvSpPr txBox="1"/>
          <p:nvPr/>
        </p:nvSpPr>
        <p:spPr>
          <a:xfrm>
            <a:off x="5003800" y="3108960"/>
            <a:ext cx="3159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400">
                <a:solidFill>
                  <a:srgbClr val="585858"/>
                </a:solidFill>
              </a:rPr>
              <a:t>Mỗi lần nhấn F4</a:t>
            </a:r>
            <a:endParaRPr lang="vi-VN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B43E15-821C-27C4-802B-45F8A890A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22600"/>
            <a:ext cx="3162300" cy="200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77642-D658-1AD2-2A99-A06066F85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3022600"/>
            <a:ext cx="31623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29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3 · PHÍM TẮT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Alt Key Tips &amp; Quick Access Toolbar</a:t>
            </a:r>
          </a:p>
        </p:txBody>
      </p:sp>
      <p:sp>
        <p:nvSpPr>
          <p:cNvPr id="13" name="Tool name"/>
          <p:cNvSpPr txBox="1"/>
          <p:nvPr/>
        </p:nvSpPr>
        <p:spPr>
          <a:xfrm>
            <a:off x="1524000" y="1554480"/>
            <a:ext cx="4899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Alt Key Tips</a:t>
            </a:r>
            <a:endParaRPr lang="vi-VN" sz="2400"/>
          </a:p>
        </p:txBody>
      </p:sp>
      <p:sp>
        <p:nvSpPr>
          <p:cNvPr id="14" name="Tool purpose"/>
          <p:cNvSpPr txBox="1"/>
          <p:nvPr/>
        </p:nvSpPr>
        <p:spPr>
          <a:xfrm>
            <a:off x="1524000" y="2011680"/>
            <a:ext cx="48996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Nhấn rồi thả Alt, Ribbon hiện chữ cái; gõ lần lượt để đi sâu vào menu</a:t>
            </a:r>
            <a:endParaRPr lang="vi-VN" sz="1800"/>
          </a:p>
        </p:txBody>
      </p:sp>
      <p:cxnSp>
        <p:nvCxnSpPr>
          <p:cNvPr id="16" name="Line 16"/>
          <p:cNvCxnSpPr/>
          <p:nvPr/>
        </p:nvCxnSpPr>
        <p:spPr>
          <a:xfrm>
            <a:off x="6583680" y="1554480"/>
            <a:ext cx="0" cy="329184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7" name="Tool name"/>
          <p:cNvSpPr txBox="1"/>
          <p:nvPr/>
        </p:nvSpPr>
        <p:spPr>
          <a:xfrm>
            <a:off x="6743700" y="1554480"/>
            <a:ext cx="4899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Quick Access Toolbar</a:t>
            </a:r>
            <a:endParaRPr lang="vi-VN" sz="2400"/>
          </a:p>
        </p:txBody>
      </p:sp>
      <p:sp>
        <p:nvSpPr>
          <p:cNvPr id="18" name="Tool purpose"/>
          <p:cNvSpPr txBox="1"/>
          <p:nvPr/>
        </p:nvSpPr>
        <p:spPr>
          <a:xfrm>
            <a:off x="6743700" y="2011680"/>
            <a:ext cx="48996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Ghim lệnh hay dùng lên thanh trên cùng</a:t>
            </a:r>
            <a:endParaRPr lang="vi-VN" sz="1800"/>
          </a:p>
        </p:txBody>
      </p:sp>
      <p:sp>
        <p:nvSpPr>
          <p:cNvPr id="20" name="PRO TIP callout"/>
          <p:cNvSpPr/>
          <p:nvPr/>
        </p:nvSpPr>
        <p:spPr>
          <a:xfrm>
            <a:off x="1524000" y="5029200"/>
            <a:ext cx="10119360" cy="1188720"/>
          </a:xfrm>
          <a:prstGeom prst="roundRect">
            <a:avLst>
              <a:gd name="adj" fmla="val 2137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PRO TIP chip"/>
          <p:cNvSpPr/>
          <p:nvPr/>
        </p:nvSpPr>
        <p:spPr>
          <a:xfrm>
            <a:off x="1633728" y="513892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22" name="PRO TIP text"/>
          <p:cNvSpPr txBox="1"/>
          <p:nvPr/>
        </p:nvSpPr>
        <p:spPr>
          <a:xfrm>
            <a:off x="2731008" y="5116068"/>
            <a:ext cx="8802624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>
                <a:solidFill>
                  <a:srgbClr val="1B2230"/>
                </a:solidFill>
              </a:rPr>
              <a:t>3 tổ hợp đáng nhớ nhất:</a:t>
            </a:r>
            <a:endParaRPr lang="vi-VN" sz="1600"/>
          </a:p>
          <a:p>
            <a:pPr marL="0" indent="0">
              <a:lnSpc>
                <a:spcPct val="100000"/>
              </a:lnSpc>
              <a:buNone/>
            </a:pPr>
            <a:r>
              <a:rPr lang="vi-VN" sz="1600" b="1">
                <a:solidFill>
                  <a:srgbClr val="1B2230"/>
                </a:solidFill>
              </a:rPr>
              <a:t>Alt H V V</a:t>
            </a:r>
            <a:r>
              <a:rPr lang="vi-VN" sz="1600">
                <a:solidFill>
                  <a:srgbClr val="1B2230"/>
                </a:solidFill>
              </a:rPr>
              <a:t>  dán giá trị (Paste Values)    ·    </a:t>
            </a:r>
            <a:r>
              <a:rPr lang="vi-VN" sz="1600" b="1">
                <a:solidFill>
                  <a:srgbClr val="1B2230"/>
                </a:solidFill>
              </a:rPr>
              <a:t>Alt A T</a:t>
            </a:r>
            <a:r>
              <a:rPr lang="vi-VN" sz="1600">
                <a:solidFill>
                  <a:srgbClr val="1B2230"/>
                </a:solidFill>
              </a:rPr>
              <a:t>  bật/tắt Filter    ·    </a:t>
            </a:r>
            <a:r>
              <a:rPr lang="vi-VN" sz="1600" b="1">
                <a:solidFill>
                  <a:srgbClr val="1B2230"/>
                </a:solidFill>
              </a:rPr>
              <a:t>Alt M V</a:t>
            </a:r>
            <a:r>
              <a:rPr lang="vi-VN" sz="1600">
                <a:solidFill>
                  <a:srgbClr val="1B2230"/>
                </a:solidFill>
              </a:rPr>
              <a:t>  Evaluate Formula</a:t>
            </a:r>
            <a:endParaRPr lang="vi-VN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DBD73-1E69-54EA-EE3A-DDB5DAA27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696" y="2788920"/>
            <a:ext cx="2909887" cy="2148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71772C-46F6-5A6B-E0CD-7A39AFBB2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863882"/>
            <a:ext cx="4901184" cy="19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33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Nghỉ 10 phút</a:t>
            </a:r>
          </a:p>
        </p:txBody>
      </p:sp>
      <p:sp>
        <p:nvSpPr>
          <p:cNvPr id="12" name="body 1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/>
              <a:t>Trước khi quay lại: mở sẵn file B1_MCI_Mart_Q1_2025_Dirty.xlsx</a:t>
            </a:r>
          </a:p>
        </p:txBody>
      </p:sp>
    </p:spTree>
    <p:extLst>
      <p:ext uri="{BB962C8B-B14F-4D97-AF65-F5344CB8AC3E}">
        <p14:creationId xmlns:p14="http://schemas.microsoft.com/office/powerpoint/2010/main" val="1751930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4. Công thức: viết đúng, sao chép đúng, tìm lỗi nhanh</a:t>
            </a:r>
          </a:p>
        </p:txBody>
      </p:sp>
    </p:spTree>
    <p:extLst>
      <p:ext uri="{BB962C8B-B14F-4D97-AF65-F5344CB8AC3E}">
        <p14:creationId xmlns:p14="http://schemas.microsoft.com/office/powerpoint/2010/main" val="853887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4 · CÔNG THỨC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Formula Syntax</a:t>
            </a:r>
          </a:p>
        </p:txBody>
      </p:sp>
      <p:sp>
        <p:nvSpPr>
          <p:cNvPr id="13" name="Formula"/>
          <p:cNvSpPr/>
          <p:nvPr/>
        </p:nvSpPr>
        <p:spPr>
          <a:xfrm>
            <a:off x="1524000" y="1554480"/>
            <a:ext cx="10119360" cy="82296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buNone/>
            </a:pPr>
            <a:r>
              <a:rPr lang="vi-VN" sz="3200" b="1">
                <a:solidFill>
                  <a:srgbClr val="3398DA"/>
                </a:solidFill>
              </a:rPr>
              <a:t>= </a:t>
            </a:r>
            <a:r>
              <a:rPr lang="vi-VN" sz="3200" b="1">
                <a:solidFill>
                  <a:srgbClr val="203864"/>
                </a:solidFill>
              </a:rPr>
              <a:t>MATCH</a:t>
            </a:r>
            <a:r>
              <a:rPr lang="vi-VN" sz="3200">
                <a:solidFill>
                  <a:srgbClr val="1B2230"/>
                </a:solidFill>
              </a:rPr>
              <a:t>(lookup_value, lookup_array, </a:t>
            </a:r>
            <a:r>
              <a:rPr lang="vi-VN" sz="3200" i="1">
                <a:solidFill>
                  <a:srgbClr val="585858"/>
                </a:solidFill>
              </a:rPr>
              <a:t>[match_type]</a:t>
            </a:r>
            <a:r>
              <a:rPr lang="vi-VN" sz="3200">
                <a:solidFill>
                  <a:srgbClr val="1B2230"/>
                </a:solidFill>
              </a:rPr>
              <a:t>)</a:t>
            </a:r>
            <a:endParaRPr lang="vi-VN"/>
          </a:p>
        </p:txBody>
      </p:sp>
      <p:sp>
        <p:nvSpPr>
          <p:cNvPr id="14" name="Syntax card 1"/>
          <p:cNvSpPr/>
          <p:nvPr/>
        </p:nvSpPr>
        <p:spPr>
          <a:xfrm>
            <a:off x="1524000" y="2560320"/>
            <a:ext cx="2392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Callout number 1"/>
          <p:cNvSpPr/>
          <p:nvPr/>
        </p:nvSpPr>
        <p:spPr>
          <a:xfrm>
            <a:off x="1615440" y="2651760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1</a:t>
            </a:r>
            <a:endParaRPr lang="vi-VN" sz="1400"/>
          </a:p>
        </p:txBody>
      </p:sp>
      <p:sp>
        <p:nvSpPr>
          <p:cNvPr id="16" name="TextBox"/>
          <p:cNvSpPr txBox="1"/>
          <p:nvPr/>
        </p:nvSpPr>
        <p:spPr>
          <a:xfrm>
            <a:off x="1615440" y="3108960"/>
            <a:ext cx="2209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>
                <a:solidFill>
                  <a:srgbClr val="1B2230"/>
                </a:solidFill>
              </a:rPr>
              <a:t>Luôn bắt đầu bằng </a:t>
            </a:r>
            <a:r>
              <a:rPr lang="vi-VN" sz="1600" b="1">
                <a:solidFill>
                  <a:srgbClr val="203864"/>
                </a:solidFill>
              </a:rPr>
              <a:t>=</a:t>
            </a:r>
            <a:endParaRPr lang="vi-VN" sz="1600"/>
          </a:p>
        </p:txBody>
      </p:sp>
      <p:sp>
        <p:nvSpPr>
          <p:cNvPr id="17" name="Syntax card 2"/>
          <p:cNvSpPr/>
          <p:nvPr/>
        </p:nvSpPr>
        <p:spPr>
          <a:xfrm>
            <a:off x="4099560" y="2560320"/>
            <a:ext cx="2392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Callout number 2"/>
          <p:cNvSpPr/>
          <p:nvPr/>
        </p:nvSpPr>
        <p:spPr>
          <a:xfrm>
            <a:off x="4191000" y="2651760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2</a:t>
            </a:r>
            <a:endParaRPr lang="vi-VN" sz="1400"/>
          </a:p>
        </p:txBody>
      </p:sp>
      <p:sp>
        <p:nvSpPr>
          <p:cNvPr id="19" name="TextBox"/>
          <p:cNvSpPr txBox="1"/>
          <p:nvPr/>
        </p:nvSpPr>
        <p:spPr>
          <a:xfrm>
            <a:off x="4191000" y="3108960"/>
            <a:ext cx="2209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 b="1">
                <a:solidFill>
                  <a:srgbClr val="203864"/>
                </a:solidFill>
              </a:rPr>
              <a:t>Tên hàm</a:t>
            </a:r>
            <a:r>
              <a:rPr lang="vi-VN" sz="1600">
                <a:solidFill>
                  <a:srgbClr val="1B2230"/>
                </a:solidFill>
              </a:rPr>
              <a:t>: khoảng 500 hàm, không phân biệt hoa thường</a:t>
            </a:r>
            <a:endParaRPr lang="vi-VN" sz="1600"/>
          </a:p>
        </p:txBody>
      </p:sp>
      <p:sp>
        <p:nvSpPr>
          <p:cNvPr id="20" name="Syntax card 3"/>
          <p:cNvSpPr/>
          <p:nvPr/>
        </p:nvSpPr>
        <p:spPr>
          <a:xfrm>
            <a:off x="6675120" y="2560320"/>
            <a:ext cx="2392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Callout number 3"/>
          <p:cNvSpPr/>
          <p:nvPr/>
        </p:nvSpPr>
        <p:spPr>
          <a:xfrm>
            <a:off x="6766560" y="2651760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3</a:t>
            </a:r>
            <a:endParaRPr lang="vi-VN" sz="1400"/>
          </a:p>
        </p:txBody>
      </p:sp>
      <p:sp>
        <p:nvSpPr>
          <p:cNvPr id="22" name="TextBox"/>
          <p:cNvSpPr txBox="1"/>
          <p:nvPr/>
        </p:nvSpPr>
        <p:spPr>
          <a:xfrm>
            <a:off x="6766560" y="3108960"/>
            <a:ext cx="2209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 b="1">
                <a:solidFill>
                  <a:srgbClr val="203864"/>
                </a:solidFill>
              </a:rPr>
              <a:t>Đối số</a:t>
            </a:r>
            <a:r>
              <a:rPr lang="vi-VN" sz="1600">
                <a:solidFill>
                  <a:srgbClr val="1B2230"/>
                </a:solidFill>
              </a:rPr>
              <a:t> trong ngoặc tròn, ngăn bằng dấu phẩy hoặc chấm phẩy tùy cài đặt vùng</a:t>
            </a:r>
            <a:endParaRPr lang="vi-VN" sz="1600"/>
          </a:p>
        </p:txBody>
      </p:sp>
      <p:sp>
        <p:nvSpPr>
          <p:cNvPr id="23" name="Syntax card 4"/>
          <p:cNvSpPr/>
          <p:nvPr/>
        </p:nvSpPr>
        <p:spPr>
          <a:xfrm>
            <a:off x="9250680" y="2560320"/>
            <a:ext cx="2392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Callout number 4"/>
          <p:cNvSpPr/>
          <p:nvPr/>
        </p:nvSpPr>
        <p:spPr>
          <a:xfrm>
            <a:off x="9342120" y="2651760"/>
            <a:ext cx="365760" cy="365760"/>
          </a:xfrm>
          <a:prstGeom prst="ellipse">
            <a:avLst/>
          </a:prstGeom>
          <a:solidFill>
            <a:srgbClr val="3398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FFFFFF"/>
                </a:solidFill>
              </a:rPr>
              <a:t>4</a:t>
            </a:r>
            <a:endParaRPr lang="vi-VN" sz="1400"/>
          </a:p>
        </p:txBody>
      </p:sp>
      <p:sp>
        <p:nvSpPr>
          <p:cNvPr id="25" name="TextBox"/>
          <p:cNvSpPr txBox="1"/>
          <p:nvPr/>
        </p:nvSpPr>
        <p:spPr>
          <a:xfrm>
            <a:off x="9342120" y="3108960"/>
            <a:ext cx="2209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>
                <a:solidFill>
                  <a:srgbClr val="1B2230"/>
                </a:solidFill>
              </a:rPr>
              <a:t>Đối số trong </a:t>
            </a:r>
            <a:r>
              <a:rPr lang="vi-VN" sz="1600" b="1">
                <a:solidFill>
                  <a:srgbClr val="203864"/>
                </a:solidFill>
              </a:rPr>
              <a:t>[ ]</a:t>
            </a:r>
            <a:r>
              <a:rPr lang="vi-VN" sz="1600">
                <a:solidFill>
                  <a:srgbClr val="1B2230"/>
                </a:solidFill>
              </a:rPr>
              <a:t> là tùy chọn</a:t>
            </a:r>
            <a:endParaRPr lang="vi-VN" sz="1600"/>
          </a:p>
        </p:txBody>
      </p:sp>
      <p:sp>
        <p:nvSpPr>
          <p:cNvPr id="27" name="PRO TIP callout"/>
          <p:cNvSpPr/>
          <p:nvPr/>
        </p:nvSpPr>
        <p:spPr>
          <a:xfrm>
            <a:off x="7421880" y="4343400"/>
            <a:ext cx="4221480" cy="1965960"/>
          </a:xfrm>
          <a:prstGeom prst="roundRect">
            <a:avLst>
              <a:gd name="adj" fmla="val 1157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8" name="PRO TIP chip"/>
          <p:cNvSpPr/>
          <p:nvPr/>
        </p:nvSpPr>
        <p:spPr>
          <a:xfrm>
            <a:off x="7531608" y="445312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29" name="PRO TIP text"/>
          <p:cNvSpPr txBox="1"/>
          <p:nvPr/>
        </p:nvSpPr>
        <p:spPr>
          <a:xfrm>
            <a:off x="8628888" y="4430268"/>
            <a:ext cx="2904744" cy="1792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1B2230"/>
                </a:solidFill>
              </a:rPr>
              <a:t>Đọc ScreenTip khi gõ hàm; nó hướng dẫn từng đối số.</a:t>
            </a:r>
            <a:endParaRPr lang="vi-VN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F2DD-C53F-E88B-10F6-C3CEBA05A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48" y="4389120"/>
            <a:ext cx="5608320" cy="194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43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4 · CÔNG THỨC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Reference Types</a:t>
            </a:r>
          </a:p>
        </p:txBody>
      </p:sp>
      <p:sp>
        <p:nvSpPr>
          <p:cNvPr id="13" name="Ref card Relative"/>
          <p:cNvSpPr/>
          <p:nvPr/>
        </p:nvSpPr>
        <p:spPr>
          <a:xfrm>
            <a:off x="1524000" y="1554480"/>
            <a:ext cx="2392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4" name="TextBox"/>
          <p:cNvSpPr txBox="1"/>
          <p:nvPr/>
        </p:nvSpPr>
        <p:spPr>
          <a:xfrm>
            <a:off x="1615440" y="1645920"/>
            <a:ext cx="2209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000" b="1">
                <a:solidFill>
                  <a:srgbClr val="C00000"/>
                </a:solidFill>
              </a:rPr>
              <a:t>Relative</a:t>
            </a:r>
            <a:endParaRPr lang="vi-VN" sz="2000"/>
          </a:p>
        </p:txBody>
      </p:sp>
      <p:sp>
        <p:nvSpPr>
          <p:cNvPr id="15" name="TextBox"/>
          <p:cNvSpPr txBox="1"/>
          <p:nvPr/>
        </p:nvSpPr>
        <p:spPr>
          <a:xfrm>
            <a:off x="1615440" y="2057400"/>
            <a:ext cx="2209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A1</a:t>
            </a:r>
            <a:endParaRPr lang="vi-VN" sz="3600"/>
          </a:p>
        </p:txBody>
      </p:sp>
      <p:sp>
        <p:nvSpPr>
          <p:cNvPr id="16" name="TextBox"/>
          <p:cNvSpPr txBox="1"/>
          <p:nvPr/>
        </p:nvSpPr>
        <p:spPr>
          <a:xfrm>
            <a:off x="1615440" y="2743200"/>
            <a:ext cx="22098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sang phải → B1</a:t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xuống → A2</a:t>
            </a:r>
            <a:endParaRPr lang="vi-VN" sz="1400"/>
          </a:p>
        </p:txBody>
      </p:sp>
      <p:sp>
        <p:nvSpPr>
          <p:cNvPr id="17" name="Ref card Fixed row"/>
          <p:cNvSpPr/>
          <p:nvPr/>
        </p:nvSpPr>
        <p:spPr>
          <a:xfrm>
            <a:off x="4099560" y="1554480"/>
            <a:ext cx="2392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TextBox"/>
          <p:cNvSpPr txBox="1"/>
          <p:nvPr/>
        </p:nvSpPr>
        <p:spPr>
          <a:xfrm>
            <a:off x="4191000" y="1645920"/>
            <a:ext cx="2209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000" b="1">
                <a:solidFill>
                  <a:srgbClr val="C00000"/>
                </a:solidFill>
              </a:rPr>
              <a:t>Fixed row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4191000" y="2057400"/>
            <a:ext cx="2209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A$1</a:t>
            </a:r>
            <a:endParaRPr lang="vi-VN" sz="3600"/>
          </a:p>
        </p:txBody>
      </p:sp>
      <p:sp>
        <p:nvSpPr>
          <p:cNvPr id="20" name="TextBox"/>
          <p:cNvSpPr txBox="1"/>
          <p:nvPr/>
        </p:nvSpPr>
        <p:spPr>
          <a:xfrm>
            <a:off x="4191000" y="2743200"/>
            <a:ext cx="22098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sang phải → B$1</a:t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xuống → A$1</a:t>
            </a:r>
            <a:endParaRPr lang="vi-VN" sz="1400"/>
          </a:p>
        </p:txBody>
      </p:sp>
      <p:sp>
        <p:nvSpPr>
          <p:cNvPr id="21" name="Ref card Fixed column"/>
          <p:cNvSpPr/>
          <p:nvPr/>
        </p:nvSpPr>
        <p:spPr>
          <a:xfrm>
            <a:off x="6675120" y="1554480"/>
            <a:ext cx="2392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2" name="TextBox"/>
          <p:cNvSpPr txBox="1"/>
          <p:nvPr/>
        </p:nvSpPr>
        <p:spPr>
          <a:xfrm>
            <a:off x="6766560" y="1645920"/>
            <a:ext cx="2209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000" b="1">
                <a:solidFill>
                  <a:srgbClr val="C00000"/>
                </a:solidFill>
              </a:rPr>
              <a:t>Fixed column</a:t>
            </a:r>
            <a:endParaRPr lang="vi-VN" sz="2000"/>
          </a:p>
        </p:txBody>
      </p:sp>
      <p:sp>
        <p:nvSpPr>
          <p:cNvPr id="23" name="TextBox"/>
          <p:cNvSpPr txBox="1"/>
          <p:nvPr/>
        </p:nvSpPr>
        <p:spPr>
          <a:xfrm>
            <a:off x="6766560" y="2057400"/>
            <a:ext cx="2209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$A1</a:t>
            </a:r>
            <a:endParaRPr lang="vi-VN" sz="3600"/>
          </a:p>
        </p:txBody>
      </p:sp>
      <p:sp>
        <p:nvSpPr>
          <p:cNvPr id="24" name="TextBox"/>
          <p:cNvSpPr txBox="1"/>
          <p:nvPr/>
        </p:nvSpPr>
        <p:spPr>
          <a:xfrm>
            <a:off x="6766560" y="2743200"/>
            <a:ext cx="22098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sang phải → $A1</a:t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xuống → $A2</a:t>
            </a:r>
            <a:endParaRPr lang="vi-VN" sz="1400"/>
          </a:p>
        </p:txBody>
      </p:sp>
      <p:sp>
        <p:nvSpPr>
          <p:cNvPr id="25" name="Ref card Fixed both"/>
          <p:cNvSpPr/>
          <p:nvPr/>
        </p:nvSpPr>
        <p:spPr>
          <a:xfrm>
            <a:off x="9250680" y="1554480"/>
            <a:ext cx="2392680" cy="201168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6" name="TextBox"/>
          <p:cNvSpPr txBox="1"/>
          <p:nvPr/>
        </p:nvSpPr>
        <p:spPr>
          <a:xfrm>
            <a:off x="9342120" y="1645920"/>
            <a:ext cx="2209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000" b="1">
                <a:solidFill>
                  <a:srgbClr val="C00000"/>
                </a:solidFill>
              </a:rPr>
              <a:t>Fixed both</a:t>
            </a:r>
            <a:endParaRPr lang="vi-VN" sz="2000"/>
          </a:p>
        </p:txBody>
      </p:sp>
      <p:sp>
        <p:nvSpPr>
          <p:cNvPr id="27" name="TextBox"/>
          <p:cNvSpPr txBox="1"/>
          <p:nvPr/>
        </p:nvSpPr>
        <p:spPr>
          <a:xfrm>
            <a:off x="9342120" y="2057400"/>
            <a:ext cx="2209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$A$1</a:t>
            </a:r>
            <a:endParaRPr lang="vi-VN" sz="3600"/>
          </a:p>
        </p:txBody>
      </p:sp>
      <p:sp>
        <p:nvSpPr>
          <p:cNvPr id="28" name="TextBox"/>
          <p:cNvSpPr txBox="1"/>
          <p:nvPr/>
        </p:nvSpPr>
        <p:spPr>
          <a:xfrm>
            <a:off x="9342120" y="2743200"/>
            <a:ext cx="22098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sang phải → $A$1</a:t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Kéo xuống → $A$1</a:t>
            </a:r>
            <a:endParaRPr lang="vi-VN" sz="1400"/>
          </a:p>
        </p:txBody>
      </p:sp>
      <p:sp>
        <p:nvSpPr>
          <p:cNvPr id="29" name="TextBox"/>
          <p:cNvSpPr txBox="1"/>
          <p:nvPr/>
        </p:nvSpPr>
        <p:spPr>
          <a:xfrm>
            <a:off x="1524000" y="3657600"/>
            <a:ext cx="1011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1B2230"/>
                </a:solidFill>
              </a:rPr>
              <a:t>Dấu </a:t>
            </a:r>
            <a:r>
              <a:rPr lang="vi-VN" sz="1800" b="1">
                <a:solidFill>
                  <a:srgbClr val="203864"/>
                </a:solidFill>
              </a:rPr>
              <a:t>$</a:t>
            </a:r>
            <a:r>
              <a:rPr lang="vi-VN" sz="1800">
                <a:solidFill>
                  <a:srgbClr val="1B2230"/>
                </a:solidFill>
              </a:rPr>
              <a:t> đứng trước phần nào thì phần đó bị khóa.</a:t>
            </a:r>
            <a:endParaRPr lang="vi-VN" sz="1800"/>
          </a:p>
        </p:txBody>
      </p:sp>
      <p:pic>
        <p:nvPicPr>
          <p:cNvPr id="34" name="Screenshot S19" descr="S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170145"/>
            <a:ext cx="5669280" cy="208386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31" name="PRO TIP callout"/>
          <p:cNvSpPr/>
          <p:nvPr/>
        </p:nvSpPr>
        <p:spPr>
          <a:xfrm>
            <a:off x="7421880" y="4114800"/>
            <a:ext cx="4221480" cy="2194560"/>
          </a:xfrm>
          <a:prstGeom prst="roundRect">
            <a:avLst>
              <a:gd name="adj" fmla="val 1157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32" name="PRO TIP chip"/>
          <p:cNvSpPr/>
          <p:nvPr/>
        </p:nvSpPr>
        <p:spPr>
          <a:xfrm>
            <a:off x="7531608" y="422452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33" name="PRO TIP text"/>
          <p:cNvSpPr txBox="1"/>
          <p:nvPr/>
        </p:nvSpPr>
        <p:spPr>
          <a:xfrm>
            <a:off x="8628888" y="4201668"/>
            <a:ext cx="2904744" cy="2020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1B2230"/>
                </a:solidFill>
              </a:rPr>
              <a:t>Nắm vững 4 kiểu tham chiếu là mẹo số 1 để làm việc hiệu quả với công thức.</a:t>
            </a:r>
            <a:endParaRPr lang="vi-VN" sz="1800"/>
          </a:p>
        </p:txBody>
      </p:sp>
    </p:spTree>
    <p:extLst>
      <p:ext uri="{BB962C8B-B14F-4D97-AF65-F5344CB8AC3E}">
        <p14:creationId xmlns:p14="http://schemas.microsoft.com/office/powerpoint/2010/main" val="3665709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4 · CÔNG THỨC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Common Errors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24000" y="1554480"/>
          <a:ext cx="10119360" cy="416052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Lỗi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Cách sửa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 b="1">
                          <a:solidFill>
                            <a:srgbClr val="1B2230"/>
                          </a:solidFill>
                        </a:rPr>
                        <a:t>######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Cột quá hẹp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Kéo hoặc double-click mép cột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 b="1">
                          <a:solidFill>
                            <a:srgbClr val="1B2230"/>
                          </a:solidFill>
                        </a:rPr>
                        <a:t>#NAME?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Excel không nhận ra tên trong công thức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Kiểm tra chính tả tên hàm, dấu ngoặc kép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 b="1">
                          <a:solidFill>
                            <a:srgbClr val="1B2230"/>
                          </a:solidFill>
                        </a:rPr>
                        <a:t>#VALUE!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Sai kiểu đối số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Kiểm tra phép tính trên text / số dạng text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 b="1">
                          <a:solidFill>
                            <a:srgbClr val="1B2230"/>
                          </a:solidFill>
                        </a:rPr>
                        <a:t>#DIV/0!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Chia cho 0 hoặc ô trống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Kiểm tra mẫu số; IF / IFERROR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 b="1">
                          <a:solidFill>
                            <a:srgbClr val="1B2230"/>
                          </a:solidFill>
                        </a:rPr>
                        <a:t>#REF!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Tham chiếu tới ô đã bị xóa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Không xóa ô đang được tham chiếu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 b="1">
                          <a:solidFill>
                            <a:srgbClr val="1B2230"/>
                          </a:solidFill>
                        </a:rPr>
                        <a:t>#N/A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Không tìm thấy giá trị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800">
                          <a:solidFill>
                            <a:srgbClr val="1B2230"/>
                          </a:solidFill>
                        </a:rPr>
                        <a:t>Kiểm tra giá trị tra cứu có tồn tại</a:t>
                      </a:r>
                      <a:endParaRPr lang="vi-VN" sz="18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624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4 · CÔNG THỨC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Auditing Tools (1)</a:t>
            </a:r>
          </a:p>
        </p:txBody>
      </p:sp>
      <p:sp>
        <p:nvSpPr>
          <p:cNvPr id="13" name="Tool name"/>
          <p:cNvSpPr txBox="1"/>
          <p:nvPr/>
        </p:nvSpPr>
        <p:spPr>
          <a:xfrm>
            <a:off x="15240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Trace Precedents</a:t>
            </a:r>
            <a:endParaRPr lang="vi-VN" sz="2400"/>
          </a:p>
        </p:txBody>
      </p:sp>
      <p:sp>
        <p:nvSpPr>
          <p:cNvPr id="14" name="Tool purpose"/>
          <p:cNvSpPr txBox="1"/>
          <p:nvPr/>
        </p:nvSpPr>
        <p:spPr>
          <a:xfrm>
            <a:off x="1524000" y="2011680"/>
            <a:ext cx="3159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Mũi tên từ các ô ảnh hưởng tới ô đang chọn</a:t>
            </a:r>
            <a:endParaRPr lang="vi-VN" sz="1800"/>
          </a:p>
        </p:txBody>
      </p:sp>
      <p:pic>
        <p:nvPicPr>
          <p:cNvPr id="27" name="Screenshot S21_prec" descr="S21_p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259760"/>
            <a:ext cx="3159760" cy="116143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cxnSp>
        <p:nvCxnSpPr>
          <p:cNvPr id="16" name="Line 16"/>
          <p:cNvCxnSpPr/>
          <p:nvPr/>
        </p:nvCxnSpPr>
        <p:spPr>
          <a:xfrm>
            <a:off x="4843780" y="1554480"/>
            <a:ext cx="0" cy="448056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7" name="Tool name"/>
          <p:cNvSpPr txBox="1"/>
          <p:nvPr/>
        </p:nvSpPr>
        <p:spPr>
          <a:xfrm>
            <a:off x="50038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Trace Dependents</a:t>
            </a:r>
            <a:endParaRPr lang="vi-VN" sz="2400"/>
          </a:p>
        </p:txBody>
      </p:sp>
      <p:sp>
        <p:nvSpPr>
          <p:cNvPr id="18" name="Tool purpose"/>
          <p:cNvSpPr txBox="1"/>
          <p:nvPr/>
        </p:nvSpPr>
        <p:spPr>
          <a:xfrm>
            <a:off x="5003800" y="2011680"/>
            <a:ext cx="3159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Mũi tên tới các ô bị ảnh hưởng bởi ô đang chọn</a:t>
            </a:r>
            <a:endParaRPr lang="vi-VN" sz="1800"/>
          </a:p>
        </p:txBody>
      </p:sp>
      <p:pic>
        <p:nvPicPr>
          <p:cNvPr id="28" name="Screenshot S21_dep" descr="S21_d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3387442"/>
            <a:ext cx="3159760" cy="90607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cxnSp>
        <p:nvCxnSpPr>
          <p:cNvPr id="20" name="Line 20"/>
          <p:cNvCxnSpPr/>
          <p:nvPr/>
        </p:nvCxnSpPr>
        <p:spPr>
          <a:xfrm>
            <a:off x="8323580" y="1554480"/>
            <a:ext cx="0" cy="448056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1" name="Tool name"/>
          <p:cNvSpPr txBox="1"/>
          <p:nvPr/>
        </p:nvSpPr>
        <p:spPr>
          <a:xfrm>
            <a:off x="84836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Show Formulas</a:t>
            </a:r>
            <a:endParaRPr lang="vi-VN" sz="2400"/>
          </a:p>
        </p:txBody>
      </p:sp>
      <p:sp>
        <p:nvSpPr>
          <p:cNvPr id="22" name="Tool purpose"/>
          <p:cNvSpPr txBox="1"/>
          <p:nvPr/>
        </p:nvSpPr>
        <p:spPr>
          <a:xfrm>
            <a:off x="8483600" y="2011680"/>
            <a:ext cx="3159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Hiện toàn bộ công thức thay cho kết quả (Ctrl + `)</a:t>
            </a:r>
            <a:endParaRPr lang="vi-VN" sz="1800"/>
          </a:p>
        </p:txBody>
      </p:sp>
      <p:pic>
        <p:nvPicPr>
          <p:cNvPr id="29" name="Screenshot S21_showf" descr="S21_show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3440381"/>
            <a:ext cx="3159759" cy="80019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24" name="TIP callout"/>
          <p:cNvSpPr/>
          <p:nvPr/>
        </p:nvSpPr>
        <p:spPr>
          <a:xfrm>
            <a:off x="8483600" y="4983480"/>
            <a:ext cx="3159760" cy="1097280"/>
          </a:xfrm>
          <a:prstGeom prst="roundRect">
            <a:avLst>
              <a:gd name="adj" fmla="val 231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5" name="TextBox"/>
          <p:cNvSpPr txBox="1"/>
          <p:nvPr/>
        </p:nvSpPr>
        <p:spPr>
          <a:xfrm>
            <a:off x="8593328" y="509320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26" name="TIP text"/>
          <p:cNvSpPr txBox="1"/>
          <p:nvPr/>
        </p:nvSpPr>
        <p:spPr>
          <a:xfrm>
            <a:off x="9233408" y="5070348"/>
            <a:ext cx="2300224" cy="923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 b="1">
                <a:solidFill>
                  <a:srgbClr val="1B2230"/>
                </a:solidFill>
              </a:rPr>
              <a:t>Ctrl + G → Special → Formulas</a:t>
            </a:r>
            <a:r>
              <a:rPr lang="vi-VN" sz="1400">
                <a:solidFill>
                  <a:srgbClr val="1B2230"/>
                </a:solidFill>
              </a:rPr>
              <a:t> để chọn mọi ô chứa công thức.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3528881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4 · CÔNG THỨC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Auditing Tools (2)</a:t>
            </a:r>
          </a:p>
        </p:txBody>
      </p:sp>
      <p:sp>
        <p:nvSpPr>
          <p:cNvPr id="13" name="Tool name"/>
          <p:cNvSpPr txBox="1"/>
          <p:nvPr/>
        </p:nvSpPr>
        <p:spPr>
          <a:xfrm>
            <a:off x="15240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Evaluate Formula</a:t>
            </a:r>
            <a:endParaRPr lang="vi-VN" sz="2400"/>
          </a:p>
        </p:txBody>
      </p:sp>
      <p:sp>
        <p:nvSpPr>
          <p:cNvPr id="14" name="Tool purpose"/>
          <p:cNvSpPr txBox="1"/>
          <p:nvPr/>
        </p:nvSpPr>
        <p:spPr>
          <a:xfrm>
            <a:off x="1524000" y="2011680"/>
            <a:ext cx="3159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Chạy công thức từng bước</a:t>
            </a:r>
            <a:endParaRPr lang="vi-VN" sz="1800"/>
          </a:p>
        </p:txBody>
      </p:sp>
      <p:sp>
        <p:nvSpPr>
          <p:cNvPr id="16" name="PRO TIP callout"/>
          <p:cNvSpPr/>
          <p:nvPr/>
        </p:nvSpPr>
        <p:spPr>
          <a:xfrm>
            <a:off x="1524000" y="4983480"/>
            <a:ext cx="3159760" cy="1097280"/>
          </a:xfrm>
          <a:prstGeom prst="roundRect">
            <a:avLst>
              <a:gd name="adj" fmla="val 231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7" name="PRO TIP chip"/>
          <p:cNvSpPr/>
          <p:nvPr/>
        </p:nvSpPr>
        <p:spPr>
          <a:xfrm>
            <a:off x="1633728" y="509320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18" name="PRO TIP text"/>
          <p:cNvSpPr txBox="1"/>
          <p:nvPr/>
        </p:nvSpPr>
        <p:spPr>
          <a:xfrm>
            <a:off x="2731008" y="5070348"/>
            <a:ext cx="1843024" cy="923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400">
                <a:solidFill>
                  <a:srgbClr val="1B2230"/>
                </a:solidFill>
              </a:rPr>
              <a:t>Công cụ số 1 để hiểu một công thức lạ.</a:t>
            </a:r>
            <a:endParaRPr lang="vi-VN" sz="1400"/>
          </a:p>
        </p:txBody>
      </p:sp>
      <p:cxnSp>
        <p:nvCxnSpPr>
          <p:cNvPr id="19" name="Line 19"/>
          <p:cNvCxnSpPr/>
          <p:nvPr/>
        </p:nvCxnSpPr>
        <p:spPr>
          <a:xfrm>
            <a:off x="4843780" y="1554480"/>
            <a:ext cx="0" cy="448056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0" name="Tool name"/>
          <p:cNvSpPr txBox="1"/>
          <p:nvPr/>
        </p:nvSpPr>
        <p:spPr>
          <a:xfrm>
            <a:off x="50038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Error Checking</a:t>
            </a:r>
            <a:endParaRPr lang="vi-VN" sz="2400"/>
          </a:p>
        </p:txBody>
      </p:sp>
      <p:sp>
        <p:nvSpPr>
          <p:cNvPr id="21" name="Tool purpose"/>
          <p:cNvSpPr txBox="1"/>
          <p:nvPr/>
        </p:nvSpPr>
        <p:spPr>
          <a:xfrm>
            <a:off x="5003800" y="2011680"/>
            <a:ext cx="3159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Quét sheet tìm lỗi</a:t>
            </a:r>
            <a:endParaRPr lang="vi-VN" sz="1800"/>
          </a:p>
        </p:txBody>
      </p:sp>
      <p:pic>
        <p:nvPicPr>
          <p:cNvPr id="27" name="Screenshot S22_err" descr="S22_e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2968378"/>
            <a:ext cx="3159759" cy="174420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cxnSp>
        <p:nvCxnSpPr>
          <p:cNvPr id="23" name="Line 23"/>
          <p:cNvCxnSpPr/>
          <p:nvPr/>
        </p:nvCxnSpPr>
        <p:spPr>
          <a:xfrm>
            <a:off x="8323580" y="1554480"/>
            <a:ext cx="0" cy="448056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4" name="Tool name"/>
          <p:cNvSpPr txBox="1"/>
          <p:nvPr/>
        </p:nvSpPr>
        <p:spPr>
          <a:xfrm>
            <a:off x="84836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Watch Window</a:t>
            </a:r>
            <a:endParaRPr lang="vi-VN" sz="2400"/>
          </a:p>
        </p:txBody>
      </p:sp>
      <p:sp>
        <p:nvSpPr>
          <p:cNvPr id="25" name="Tool purpose"/>
          <p:cNvSpPr txBox="1"/>
          <p:nvPr/>
        </p:nvSpPr>
        <p:spPr>
          <a:xfrm>
            <a:off x="8483600" y="2011680"/>
            <a:ext cx="3159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Theo dõi giá trị ô quan trọng khi đang làm ở chỗ khác</a:t>
            </a:r>
            <a:endParaRPr lang="vi-VN" sz="1800"/>
          </a:p>
        </p:txBody>
      </p:sp>
      <p:pic>
        <p:nvPicPr>
          <p:cNvPr id="28" name="Screenshot S22_watch" descr="S22_w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3409604"/>
            <a:ext cx="3159760" cy="86175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3" name="Screenshot S22_eval" descr="Hộp thoại Evaluate Formula đang chạy từng bước công thức =IFERROR(B2/$B$5,0) tại ô E2">
            <a:extLst>
              <a:ext uri="{FF2B5EF4-FFF2-40B4-BE49-F238E27FC236}">
                <a16:creationId xmlns:a16="http://schemas.microsoft.com/office/drawing/2014/main" id="{EBEEDFE3-3F9B-C84C-2D4E-2A98C806E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48" y="3008376"/>
            <a:ext cx="3163824" cy="1671688"/>
          </a:xfrm>
          <a:prstGeom prst="rect">
            <a:avLst/>
          </a:prstGeom>
          <a:ln>
            <a:solidFill>
              <a:srgbClr val="BFBFBF"/>
            </a:solidFill>
          </a:ln>
        </p:spPr>
      </p:pic>
    </p:spTree>
    <p:extLst>
      <p:ext uri="{BB962C8B-B14F-4D97-AF65-F5344CB8AC3E}">
        <p14:creationId xmlns:p14="http://schemas.microsoft.com/office/powerpoint/2010/main" val="3317628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4 · CÔNG THỨC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Chốt Phần 4</a:t>
            </a:r>
          </a:p>
        </p:txBody>
      </p:sp>
      <p:sp>
        <p:nvSpPr>
          <p:cNvPr id="13" name="Point 1"/>
          <p:cNvSpPr/>
          <p:nvPr/>
        </p:nvSpPr>
        <p:spPr>
          <a:xfrm>
            <a:off x="1524000" y="1645920"/>
            <a:ext cx="10119360" cy="128016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4" name="TextBox"/>
          <p:cNvSpPr txBox="1"/>
          <p:nvPr/>
        </p:nvSpPr>
        <p:spPr>
          <a:xfrm>
            <a:off x="1706880" y="164592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4400" b="1">
                <a:solidFill>
                  <a:srgbClr val="203864"/>
                </a:solidFill>
              </a:rPr>
              <a:t>1</a:t>
            </a:r>
            <a:endParaRPr lang="vi-VN" sz="4400"/>
          </a:p>
        </p:txBody>
      </p:sp>
      <p:sp>
        <p:nvSpPr>
          <p:cNvPr id="15" name="TextBox"/>
          <p:cNvSpPr txBox="1"/>
          <p:nvPr/>
        </p:nvSpPr>
        <p:spPr>
          <a:xfrm>
            <a:off x="2712720" y="1645920"/>
            <a:ext cx="874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400">
                <a:solidFill>
                  <a:srgbClr val="1B2230"/>
                </a:solidFill>
              </a:rPr>
              <a:t>Dấu </a:t>
            </a:r>
            <a:r>
              <a:rPr lang="vi-VN" sz="2400" b="1">
                <a:solidFill>
                  <a:srgbClr val="203864"/>
                </a:solidFill>
              </a:rPr>
              <a:t>$</a:t>
            </a:r>
            <a:r>
              <a:rPr lang="vi-VN" sz="2400">
                <a:solidFill>
                  <a:srgbClr val="1B2230"/>
                </a:solidFill>
              </a:rPr>
              <a:t> quyết định công thức có tái sử dụng được không.</a:t>
            </a:r>
            <a:endParaRPr lang="vi-VN" sz="2400"/>
          </a:p>
        </p:txBody>
      </p:sp>
      <p:sp>
        <p:nvSpPr>
          <p:cNvPr id="16" name="Point 2"/>
          <p:cNvSpPr/>
          <p:nvPr/>
        </p:nvSpPr>
        <p:spPr>
          <a:xfrm>
            <a:off x="1524000" y="3063240"/>
            <a:ext cx="10119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7" name="TextBox"/>
          <p:cNvSpPr txBox="1"/>
          <p:nvPr/>
        </p:nvSpPr>
        <p:spPr>
          <a:xfrm>
            <a:off x="1706880" y="306324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4400" b="1">
                <a:solidFill>
                  <a:srgbClr val="203864"/>
                </a:solidFill>
              </a:rPr>
              <a:t>2</a:t>
            </a:r>
            <a:endParaRPr lang="vi-VN" sz="4400"/>
          </a:p>
        </p:txBody>
      </p:sp>
      <p:sp>
        <p:nvSpPr>
          <p:cNvPr id="18" name="TextBox"/>
          <p:cNvSpPr txBox="1"/>
          <p:nvPr/>
        </p:nvSpPr>
        <p:spPr>
          <a:xfrm>
            <a:off x="2712720" y="3063240"/>
            <a:ext cx="874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203864"/>
                </a:solidFill>
              </a:rPr>
              <a:t>Lỗi là tín hiệu</a:t>
            </a:r>
            <a:r>
              <a:rPr lang="vi-VN" sz="2400">
                <a:solidFill>
                  <a:srgbClr val="1B2230"/>
                </a:solidFill>
              </a:rPr>
              <a:t>, đừng vội giấu nó đi.</a:t>
            </a:r>
            <a:endParaRPr lang="vi-VN" sz="2400"/>
          </a:p>
        </p:txBody>
      </p:sp>
      <p:sp>
        <p:nvSpPr>
          <p:cNvPr id="19" name="Point 3"/>
          <p:cNvSpPr/>
          <p:nvPr/>
        </p:nvSpPr>
        <p:spPr>
          <a:xfrm>
            <a:off x="1524000" y="4480560"/>
            <a:ext cx="10119360" cy="128016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0" name="TextBox"/>
          <p:cNvSpPr txBox="1"/>
          <p:nvPr/>
        </p:nvSpPr>
        <p:spPr>
          <a:xfrm>
            <a:off x="1706880" y="448056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4400" b="1">
                <a:solidFill>
                  <a:srgbClr val="203864"/>
                </a:solidFill>
              </a:rPr>
              <a:t>3</a:t>
            </a:r>
            <a:endParaRPr lang="vi-VN" sz="4400"/>
          </a:p>
        </p:txBody>
      </p:sp>
      <p:sp>
        <p:nvSpPr>
          <p:cNvPr id="21" name="TextBox"/>
          <p:cNvSpPr txBox="1"/>
          <p:nvPr/>
        </p:nvSpPr>
        <p:spPr>
          <a:xfrm>
            <a:off x="2712720" y="4480560"/>
            <a:ext cx="87477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203864"/>
                </a:solidFill>
              </a:rPr>
              <a:t>Auditing</a:t>
            </a:r>
            <a:r>
              <a:rPr lang="vi-VN" sz="2400">
                <a:solidFill>
                  <a:srgbClr val="1B2230"/>
                </a:solidFill>
              </a:rPr>
              <a:t> giúp tìm nguyên nhân thay vì đoán.</a:t>
            </a:r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1591084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5. Dữ liệu "sạch về cấu trúc": nền móng của mọi phân tích</a:t>
            </a:r>
          </a:p>
        </p:txBody>
      </p:sp>
    </p:spTree>
    <p:extLst>
      <p:ext uri="{BB962C8B-B14F-4D97-AF65-F5344CB8AC3E}">
        <p14:creationId xmlns:p14="http://schemas.microsoft.com/office/powerpoint/2010/main" val="4201377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5 · TIDY DATA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Good vs Bad Data Structure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495278"/>
              </p:ext>
            </p:extLst>
          </p:nvPr>
        </p:nvGraphicFramePr>
        <p:xfrm>
          <a:off x="1524000" y="1554480"/>
          <a:ext cx="6035040" cy="3840480"/>
        </p:xfrm>
        <a:graphic>
          <a:graphicData uri="http://schemas.openxmlformats.org/drawingml/2006/table">
            <a:tbl>
              <a:tblPr firstRow="1"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✓  GOOD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✗  BAD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Hình chữ nhật: biến là cột, bản ghi là dòng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Đảo chiều, biến nằm theo dòng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Không định dạng thừa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Ô gộp, tô màu thừa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Chỉ gồm dimension &amp; measure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Cột tính toán lẫn vào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Tiêu đề cột rõ ràng, 1 dòng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Tiêu đề 2 tầng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>
                          <a:solidFill>
                            <a:srgbClr val="1B2230"/>
                          </a:solidFill>
                        </a:rPr>
                        <a:t>Không dòng tổng, không tiêu đề phụ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vi-VN" sz="1600" b="1">
                          <a:solidFill>
                            <a:srgbClr val="1B2230"/>
                          </a:solidFill>
                        </a:rPr>
                        <a:t>Có dòng tổng, subtotal giữa dữ liệu</a:t>
                      </a:r>
                      <a:endParaRPr lang="vi-VN" sz="16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6" name="Screenshot S25" descr="S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360" y="2056000"/>
            <a:ext cx="3810000" cy="128295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" name="Stat card"/>
          <p:cNvSpPr/>
          <p:nvPr/>
        </p:nvSpPr>
        <p:spPr>
          <a:xfrm>
            <a:off x="7833360" y="4023360"/>
            <a:ext cx="3810000" cy="1572768"/>
          </a:xfrm>
          <a:prstGeom prst="roundRect">
            <a:avLst>
              <a:gd name="adj" fmla="val 1615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vi-VN" sz="1400">
                <a:solidFill>
                  <a:srgbClr val="585858"/>
                </a:solidFill>
              </a:rPr>
              <a:t>SUM cả cột Quantity khi còn 4 dòng tổng</a:t>
            </a:r>
            <a:endParaRPr lang="vi-VN" sz="1400"/>
          </a:p>
          <a:p>
            <a:pPr marL="0" indent="0">
              <a:buNone/>
            </a:pPr>
            <a:r>
              <a:rPr lang="vi-VN" sz="3600" b="1">
                <a:solidFill>
                  <a:srgbClr val="203864"/>
                </a:solidFill>
              </a:rPr>
              <a:t>32.931</a:t>
            </a:r>
            <a:r>
              <a:rPr lang="vi-VN" sz="1800">
                <a:solidFill>
                  <a:srgbClr val="1B2230"/>
                </a:solidFill>
              </a:rPr>
              <a:t>  thay vì 10.990</a:t>
            </a:r>
            <a:endParaRPr lang="vi-VN"/>
          </a:p>
          <a:p>
            <a:pPr marL="0" indent="0">
              <a:spcBef>
                <a:spcPts val="300"/>
              </a:spcBef>
              <a:buNone/>
            </a:pPr>
            <a:r>
              <a:rPr lang="vi-VN" sz="1400">
                <a:solidFill>
                  <a:srgbClr val="585858"/>
                </a:solidFill>
              </a:rPr>
              <a:t>Gần gấp 3 lần, và Excel không báo lỗi.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748052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5 · TIDY DATA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Excel Table</a:t>
            </a:r>
          </a:p>
        </p:txBody>
      </p:sp>
      <p:sp>
        <p:nvSpPr>
          <p:cNvPr id="13" name="Tool name"/>
          <p:cNvSpPr txBox="1"/>
          <p:nvPr/>
        </p:nvSpPr>
        <p:spPr>
          <a:xfrm>
            <a:off x="15240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Ctrl + T</a:t>
            </a:r>
            <a:endParaRPr lang="vi-VN" sz="2400"/>
          </a:p>
        </p:txBody>
      </p:sp>
      <p:sp>
        <p:nvSpPr>
          <p:cNvPr id="14" name="Tool purpose"/>
          <p:cNvSpPr txBox="1"/>
          <p:nvPr/>
        </p:nvSpPr>
        <p:spPr>
          <a:xfrm>
            <a:off x="1524000" y="2011680"/>
            <a:ext cx="3159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Format as Table: biến vùng tidy thành Table</a:t>
            </a:r>
            <a:endParaRPr lang="vi-VN" sz="1800"/>
          </a:p>
        </p:txBody>
      </p:sp>
      <p:pic>
        <p:nvPicPr>
          <p:cNvPr id="27" name="Screenshot S26_create" descr="S26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953632"/>
            <a:ext cx="3159760" cy="186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cxnSp>
        <p:nvCxnSpPr>
          <p:cNvPr id="16" name="Line 16"/>
          <p:cNvCxnSpPr/>
          <p:nvPr/>
        </p:nvCxnSpPr>
        <p:spPr>
          <a:xfrm>
            <a:off x="4843780" y="1554480"/>
            <a:ext cx="0" cy="329184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7" name="Tool name"/>
          <p:cNvSpPr txBox="1"/>
          <p:nvPr/>
        </p:nvSpPr>
        <p:spPr>
          <a:xfrm>
            <a:off x="50038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Table Name</a:t>
            </a:r>
            <a:endParaRPr lang="vi-VN" sz="2400"/>
          </a:p>
        </p:txBody>
      </p:sp>
      <p:sp>
        <p:nvSpPr>
          <p:cNvPr id="18" name="Tool purpose"/>
          <p:cNvSpPr txBox="1"/>
          <p:nvPr/>
        </p:nvSpPr>
        <p:spPr>
          <a:xfrm>
            <a:off x="5003800" y="2011680"/>
            <a:ext cx="3159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Đặt tên bảng có nghĩa: tblSales</a:t>
            </a:r>
            <a:endParaRPr lang="vi-VN" sz="1800"/>
          </a:p>
        </p:txBody>
      </p:sp>
      <p:pic>
        <p:nvPicPr>
          <p:cNvPr id="28" name="Screenshot S26_name" descr="S26_n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2963815"/>
            <a:ext cx="3159760" cy="184477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cxnSp>
        <p:nvCxnSpPr>
          <p:cNvPr id="20" name="Line 20"/>
          <p:cNvCxnSpPr/>
          <p:nvPr/>
        </p:nvCxnSpPr>
        <p:spPr>
          <a:xfrm>
            <a:off x="8323580" y="1554480"/>
            <a:ext cx="0" cy="329184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1" name="Tool name"/>
          <p:cNvSpPr txBox="1"/>
          <p:nvPr/>
        </p:nvSpPr>
        <p:spPr>
          <a:xfrm>
            <a:off x="8483600" y="1554480"/>
            <a:ext cx="3159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Structured Reference</a:t>
            </a:r>
            <a:endParaRPr lang="vi-VN" sz="2400"/>
          </a:p>
        </p:txBody>
      </p:sp>
      <p:sp>
        <p:nvSpPr>
          <p:cNvPr id="22" name="Tool purpose"/>
          <p:cNvSpPr txBox="1"/>
          <p:nvPr/>
        </p:nvSpPr>
        <p:spPr>
          <a:xfrm>
            <a:off x="8483600" y="2011680"/>
            <a:ext cx="3159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585858"/>
                </a:solidFill>
              </a:rPr>
              <a:t>Công thức theo tên cột: =[@Quantity]*[@Unit_Price], tự điền cả cột</a:t>
            </a:r>
            <a:endParaRPr lang="vi-VN" sz="1800"/>
          </a:p>
        </p:txBody>
      </p:sp>
      <p:pic>
        <p:nvPicPr>
          <p:cNvPr id="29" name="Screenshot S26_rev" descr="S26_r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853" y="2926080"/>
            <a:ext cx="2459254" cy="19202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24" name="PRO TIP callout"/>
          <p:cNvSpPr/>
          <p:nvPr/>
        </p:nvSpPr>
        <p:spPr>
          <a:xfrm>
            <a:off x="1524000" y="5029200"/>
            <a:ext cx="10119360" cy="1005840"/>
          </a:xfrm>
          <a:prstGeom prst="roundRect">
            <a:avLst>
              <a:gd name="adj" fmla="val 25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5" name="PRO TIP chip"/>
          <p:cNvSpPr/>
          <p:nvPr/>
        </p:nvSpPr>
        <p:spPr>
          <a:xfrm>
            <a:off x="1633728" y="513892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26" name="PRO TIP text"/>
          <p:cNvSpPr txBox="1"/>
          <p:nvPr/>
        </p:nvSpPr>
        <p:spPr>
          <a:xfrm>
            <a:off x="2731008" y="5116068"/>
            <a:ext cx="8802624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1B2230"/>
                </a:solidFill>
              </a:rPr>
              <a:t>Table </a:t>
            </a:r>
            <a:r>
              <a:rPr lang="vi-VN" sz="1800" b="1">
                <a:solidFill>
                  <a:srgbClr val="1B2230"/>
                </a:solidFill>
              </a:rPr>
              <a:t>tự mở rộng</a:t>
            </a:r>
            <a:r>
              <a:rPr lang="vi-VN" sz="1800">
                <a:solidFill>
                  <a:srgbClr val="1B2230"/>
                </a:solidFill>
              </a:rPr>
              <a:t> khi thêm dòng, nên công thức, Pivot (B3) và Power Query (B4) tự nhận dữ liệu mới.</a:t>
            </a:r>
            <a:endParaRPr lang="vi-VN" sz="1800"/>
          </a:p>
        </p:txBody>
      </p:sp>
    </p:spTree>
    <p:extLst>
      <p:ext uri="{BB962C8B-B14F-4D97-AF65-F5344CB8AC3E}">
        <p14:creationId xmlns:p14="http://schemas.microsoft.com/office/powerpoint/2010/main" val="20962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6 · DATA VALIDATION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Data Validation: chặn dữ liệu sai từ gốc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Data Validation</a:t>
            </a:r>
            <a:endParaRPr lang="vi-VN" sz="2400"/>
          </a:p>
        </p:txBody>
      </p:sp>
      <p:sp>
        <p:nvSpPr>
          <p:cNvPr id="14" name="TextBox"/>
          <p:cNvSpPr txBox="1"/>
          <p:nvPr/>
        </p:nvSpPr>
        <p:spPr>
          <a:xfrm>
            <a:off x="1524000" y="2011680"/>
            <a:ext cx="10119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585858"/>
                </a:solidFill>
              </a:rPr>
              <a:t>Giới hạn giá trị được phép nhập: Whole / Decimal, khoảng giá trị, </a:t>
            </a:r>
            <a:r>
              <a:rPr lang="vi-VN" sz="1800" b="1">
                <a:solidFill>
                  <a:srgbClr val="1B2230"/>
                </a:solidFill>
              </a:rPr>
              <a:t>List</a:t>
            </a:r>
            <a:r>
              <a:rPr lang="vi-VN" sz="1800">
                <a:solidFill>
                  <a:srgbClr val="585858"/>
                </a:solidFill>
              </a:rPr>
              <a:t>, Date, Text length, Custom.</a:t>
            </a:r>
            <a:endParaRPr lang="vi-VN" sz="1800"/>
          </a:p>
        </p:txBody>
      </p:sp>
      <p:pic>
        <p:nvPicPr>
          <p:cNvPr id="24" name="Screenshot S27_list" descr="S27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59" y="2788920"/>
            <a:ext cx="2807601" cy="2286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TextBox"/>
          <p:cNvSpPr txBox="1"/>
          <p:nvPr/>
        </p:nvSpPr>
        <p:spPr>
          <a:xfrm>
            <a:off x="1524000" y="5120640"/>
            <a:ext cx="3220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1B2230"/>
                </a:solidFill>
              </a:rPr>
              <a:t>Store_Code: List 12 mã</a:t>
            </a:r>
            <a:endParaRPr lang="vi-VN" sz="1400"/>
          </a:p>
        </p:txBody>
      </p:sp>
      <p:pic>
        <p:nvPicPr>
          <p:cNvPr id="25" name="Screenshot S27_qty" descr="S27_q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879" y="2788920"/>
            <a:ext cx="2807601" cy="2286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8" name="TextBox"/>
          <p:cNvSpPr txBox="1"/>
          <p:nvPr/>
        </p:nvSpPr>
        <p:spPr>
          <a:xfrm>
            <a:off x="4973320" y="5120640"/>
            <a:ext cx="3220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1B2230"/>
                </a:solidFill>
              </a:rPr>
              <a:t>Quantity: số nguyên &gt; 0</a:t>
            </a:r>
            <a:endParaRPr lang="vi-VN" sz="1400"/>
          </a:p>
        </p:txBody>
      </p:sp>
      <p:pic>
        <p:nvPicPr>
          <p:cNvPr id="26" name="Screenshot S27_alert" descr="S27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199" y="2788920"/>
            <a:ext cx="2807601" cy="2286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20" name="TextBox"/>
          <p:cNvSpPr txBox="1"/>
          <p:nvPr/>
        </p:nvSpPr>
        <p:spPr>
          <a:xfrm>
            <a:off x="8422640" y="5120640"/>
            <a:ext cx="3220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1B2230"/>
                </a:solidFill>
              </a:rPr>
              <a:t>Error Alert tiếng Việt</a:t>
            </a:r>
            <a:endParaRPr lang="vi-VN" sz="1400"/>
          </a:p>
        </p:txBody>
      </p:sp>
      <p:sp>
        <p:nvSpPr>
          <p:cNvPr id="21" name="TIP callout"/>
          <p:cNvSpPr/>
          <p:nvPr/>
        </p:nvSpPr>
        <p:spPr>
          <a:xfrm>
            <a:off x="1524000" y="5532120"/>
            <a:ext cx="10119360" cy="777240"/>
          </a:xfrm>
          <a:prstGeom prst="roundRect">
            <a:avLst>
              <a:gd name="adj" fmla="val 3268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2" name="TextBox"/>
          <p:cNvSpPr txBox="1"/>
          <p:nvPr/>
        </p:nvSpPr>
        <p:spPr>
          <a:xfrm>
            <a:off x="1633728" y="564184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1400" b="1">
                <a:solidFill>
                  <a:srgbClr val="203864"/>
                </a:solidFill>
              </a:rPr>
              <a:t>TIP</a:t>
            </a:r>
            <a:endParaRPr lang="vi-VN" sz="1400"/>
          </a:p>
        </p:txBody>
      </p:sp>
      <p:sp>
        <p:nvSpPr>
          <p:cNvPr id="23" name="TIP text"/>
          <p:cNvSpPr txBox="1"/>
          <p:nvPr/>
        </p:nvSpPr>
        <p:spPr>
          <a:xfrm>
            <a:off x="2273808" y="5618988"/>
            <a:ext cx="925982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>
                <a:solidFill>
                  <a:srgbClr val="1B2230"/>
                </a:solidFill>
              </a:rPr>
              <a:t>Tab </a:t>
            </a:r>
            <a:r>
              <a:rPr lang="vi-VN" sz="1800" b="1">
                <a:solidFill>
                  <a:srgbClr val="1B2230"/>
                </a:solidFill>
              </a:rPr>
              <a:t>Error Alert</a:t>
            </a:r>
            <a:r>
              <a:rPr lang="vi-VN" sz="1800">
                <a:solidFill>
                  <a:srgbClr val="1B2230"/>
                </a:solidFill>
              </a:rPr>
              <a:t> cho phép tự viết thông báo lỗi bằng tiếng Việt.</a:t>
            </a:r>
            <a:endParaRPr lang="vi-VN" sz="1800"/>
          </a:p>
        </p:txBody>
      </p:sp>
    </p:spTree>
    <p:extLst>
      <p:ext uri="{BB962C8B-B14F-4D97-AF65-F5344CB8AC3E}">
        <p14:creationId xmlns:p14="http://schemas.microsoft.com/office/powerpoint/2010/main" val="840619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6 · DATA VALIDATION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Circle Invalid Data: tìm lỗi đã có sẵn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2400" b="1">
                <a:solidFill>
                  <a:srgbClr val="C00000"/>
                </a:solidFill>
              </a:rPr>
              <a:t>Circle Invalid Data</a:t>
            </a:r>
            <a:endParaRPr lang="vi-VN" sz="2400"/>
          </a:p>
        </p:txBody>
      </p:sp>
      <p:sp>
        <p:nvSpPr>
          <p:cNvPr id="14" name="TextBox"/>
          <p:cNvSpPr txBox="1"/>
          <p:nvPr/>
        </p:nvSpPr>
        <p:spPr>
          <a:xfrm>
            <a:off x="1524000" y="201168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800">
                <a:solidFill>
                  <a:srgbClr val="585858"/>
                </a:solidFill>
              </a:rPr>
              <a:t>Khoanh đỏ các ô </a:t>
            </a:r>
            <a:r>
              <a:rPr lang="vi-VN" sz="1800" b="1">
                <a:solidFill>
                  <a:srgbClr val="1B2230"/>
                </a:solidFill>
              </a:rPr>
              <a:t>đã có sẵn</a:t>
            </a:r>
            <a:r>
              <a:rPr lang="vi-VN" sz="1800">
                <a:solidFill>
                  <a:srgbClr val="585858"/>
                </a:solidFill>
              </a:rPr>
              <a:t> vi phạm quy tắc validation.</a:t>
            </a:r>
            <a:endParaRPr lang="vi-VN" sz="1800"/>
          </a:p>
        </p:txBody>
      </p:sp>
      <p:pic>
        <p:nvPicPr>
          <p:cNvPr id="20" name="Screenshot S28" descr="S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636411"/>
            <a:ext cx="6035040" cy="364257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Stat card"/>
          <p:cNvSpPr/>
          <p:nvPr/>
        </p:nvSpPr>
        <p:spPr>
          <a:xfrm>
            <a:off x="7787640" y="2606040"/>
            <a:ext cx="3855720" cy="1737360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>
              <a:buNone/>
            </a:pPr>
            <a:r>
              <a:rPr lang="vi-VN" sz="4400" b="1">
                <a:solidFill>
                  <a:srgbClr val="203864"/>
                </a:solidFill>
              </a:rPr>
              <a:t>5</a:t>
            </a:r>
            <a:r>
              <a:rPr lang="vi-VN" sz="1800">
                <a:solidFill>
                  <a:srgbClr val="1B2230"/>
                </a:solidFill>
              </a:rPr>
              <a:t>  ô bị khoanh</a:t>
            </a:r>
            <a:endParaRPr lang="vi-VN"/>
          </a:p>
          <a:p>
            <a:pPr marL="0" indent="0">
              <a:spcBef>
                <a:spcPts val="400"/>
              </a:spcBef>
              <a:buNone/>
            </a:pPr>
            <a:r>
              <a:rPr lang="vi-VN" sz="1600">
                <a:solidFill>
                  <a:srgbClr val="585858"/>
                </a:solidFill>
              </a:rPr>
              <a:t>3 ô ST3 (đúng là ST03)</a:t>
            </a:r>
            <a:endParaRPr lang="vi-VN" sz="1600"/>
          </a:p>
          <a:p>
            <a:pPr marL="0" indent="0">
              <a:buNone/>
            </a:pPr>
            <a:r>
              <a:rPr lang="vi-VN" sz="1600">
                <a:solidFill>
                  <a:srgbClr val="585858"/>
                </a:solidFill>
              </a:rPr>
              <a:t>2 ô Quantity âm</a:t>
            </a:r>
            <a:endParaRPr lang="vi-VN" sz="1600"/>
          </a:p>
        </p:txBody>
      </p:sp>
      <p:sp>
        <p:nvSpPr>
          <p:cNvPr id="17" name="PRO TIP callout"/>
          <p:cNvSpPr/>
          <p:nvPr/>
        </p:nvSpPr>
        <p:spPr>
          <a:xfrm>
            <a:off x="7787640" y="4526280"/>
            <a:ext cx="3855720" cy="1783080"/>
          </a:xfrm>
          <a:prstGeom prst="roundRect">
            <a:avLst>
              <a:gd name="adj" fmla="val 1425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PRO TIP chip"/>
          <p:cNvSpPr/>
          <p:nvPr/>
        </p:nvSpPr>
        <p:spPr>
          <a:xfrm>
            <a:off x="7897368" y="4636008"/>
            <a:ext cx="1005840" cy="32004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200" b="1">
                <a:solidFill>
                  <a:srgbClr val="1B2230"/>
                </a:solidFill>
              </a:rPr>
              <a:t>PRO TIP</a:t>
            </a:r>
            <a:endParaRPr lang="vi-VN" sz="1200"/>
          </a:p>
        </p:txBody>
      </p:sp>
      <p:sp>
        <p:nvSpPr>
          <p:cNvPr id="19" name="PRO TIP text"/>
          <p:cNvSpPr txBox="1"/>
          <p:nvPr/>
        </p:nvSpPr>
        <p:spPr>
          <a:xfrm>
            <a:off x="8994648" y="4613148"/>
            <a:ext cx="2538984" cy="1609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600">
                <a:solidFill>
                  <a:srgbClr val="1B2230"/>
                </a:solidFill>
              </a:rPr>
              <a:t>Validation chỉ chặn dữ liệu </a:t>
            </a:r>
            <a:r>
              <a:rPr lang="vi-VN" sz="1600" b="1">
                <a:solidFill>
                  <a:srgbClr val="1B2230"/>
                </a:solidFill>
              </a:rPr>
              <a:t>nhập mới</a:t>
            </a:r>
            <a:r>
              <a:rPr lang="vi-VN" sz="1600">
                <a:solidFill>
                  <a:srgbClr val="1B2230"/>
                </a:solidFill>
              </a:rPr>
              <a:t>.</a:t>
            </a:r>
            <a:endParaRPr lang="vi-VN" sz="1600"/>
          </a:p>
          <a:p>
            <a:pPr marL="0" indent="0">
              <a:lnSpc>
                <a:spcPct val="100000"/>
              </a:lnSpc>
              <a:buNone/>
            </a:pPr>
            <a:r>
              <a:rPr lang="vi-VN" sz="1600">
                <a:solidFill>
                  <a:srgbClr val="1B2230"/>
                </a:solidFill>
              </a:rPr>
              <a:t>Với dữ liệu </a:t>
            </a:r>
            <a:r>
              <a:rPr lang="vi-VN" sz="1600" b="1">
                <a:solidFill>
                  <a:srgbClr val="1B2230"/>
                </a:solidFill>
              </a:rPr>
              <a:t>có sẵn</a:t>
            </a:r>
            <a:r>
              <a:rPr lang="vi-VN" sz="1600">
                <a:solidFill>
                  <a:srgbClr val="1B2230"/>
                </a:solidFill>
              </a:rPr>
              <a:t>, dùng Circle Invalid Data.</a:t>
            </a:r>
            <a:endParaRPr lang="vi-VN" sz="1600"/>
          </a:p>
        </p:txBody>
      </p:sp>
    </p:spTree>
    <p:extLst>
      <p:ext uri="{BB962C8B-B14F-4D97-AF65-F5344CB8AC3E}">
        <p14:creationId xmlns:p14="http://schemas.microsoft.com/office/powerpoint/2010/main" val="3622162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7 · THỰC HÀNH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Thực hành 1: Làm sạch cấu trúc file case</a:t>
            </a:r>
          </a:p>
        </p:txBody>
      </p:sp>
      <p:sp>
        <p:nvSpPr>
          <p:cNvPr id="13" name="Time chip"/>
          <p:cNvSpPr/>
          <p:nvPr/>
        </p:nvSpPr>
        <p:spPr>
          <a:xfrm>
            <a:off x="1524000" y="1554480"/>
            <a:ext cx="139700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203864"/>
                </a:solidFill>
              </a:rPr>
              <a:t>20 phút</a:t>
            </a:r>
            <a:endParaRPr lang="vi-VN" sz="1400"/>
          </a:p>
        </p:txBody>
      </p:sp>
      <p:sp>
        <p:nvSpPr>
          <p:cNvPr id="14" name="TextBox"/>
          <p:cNvSpPr txBox="1"/>
          <p:nvPr/>
        </p:nvSpPr>
        <p:spPr>
          <a:xfrm>
            <a:off x="1524000" y="2138680"/>
            <a:ext cx="6126480" cy="398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Xóa dòng tiêu đề báo cáo và dòng nhóm; tiêu đề chỉ còn 1 dòng; cột A đặt tên </a:t>
            </a:r>
            <a:r>
              <a:rPr lang="vi-VN" sz="1800" b="1">
                <a:solidFill>
                  <a:srgbClr val="203864"/>
                </a:solidFill>
              </a:rPr>
              <a:t>Region</a:t>
            </a:r>
            <a:r>
              <a:rPr lang="vi-VN" sz="1800">
                <a:solidFill>
                  <a:srgbClr val="1B2230"/>
                </a:solidFill>
              </a:rPr>
              <a:t>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Bỏ gộp ô cột Region và điền đầy giá trị (Bắc / Trung / Nam).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Xóa 4 dòng "Tổng…" và dòng trống.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Chuyển Quantity và Order_Date đang ở dạng text thành số và ngày.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Nhấn </a:t>
            </a:r>
            <a:r>
              <a:rPr lang="vi-VN" sz="1800" b="1">
                <a:solidFill>
                  <a:srgbClr val="203864"/>
                </a:solidFill>
              </a:rPr>
              <a:t>Ctrl + T</a:t>
            </a:r>
            <a:r>
              <a:rPr lang="vi-VN" sz="1800">
                <a:solidFill>
                  <a:srgbClr val="1B2230"/>
                </a:solidFill>
              </a:rPr>
              <a:t>, đặt tên </a:t>
            </a:r>
            <a:r>
              <a:rPr lang="vi-VN" sz="1800" b="1">
                <a:solidFill>
                  <a:srgbClr val="203864"/>
                </a:solidFill>
              </a:rPr>
              <a:t>tblSales</a:t>
            </a:r>
            <a:r>
              <a:rPr lang="vi-VN" sz="1800">
                <a:solidFill>
                  <a:srgbClr val="1B2230"/>
                </a:solidFill>
              </a:rPr>
              <a:t>.</a:t>
            </a:r>
            <a:endParaRPr lang="vi-VN" sz="1800"/>
          </a:p>
        </p:txBody>
      </p:sp>
      <p:sp>
        <p:nvSpPr>
          <p:cNvPr id="15" name="Check box"/>
          <p:cNvSpPr/>
          <p:nvPr/>
        </p:nvSpPr>
        <p:spPr>
          <a:xfrm>
            <a:off x="7924800" y="1554480"/>
            <a:ext cx="3718560" cy="4572000"/>
          </a:xfrm>
          <a:prstGeom prst="roundRect">
            <a:avLst>
              <a:gd name="adj" fmla="val 556"/>
            </a:avLst>
          </a:prstGeom>
          <a:solidFill>
            <a:srgbClr val="F3F5F9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vi-VN" sz="1600" b="1">
                <a:solidFill>
                  <a:srgbClr val="203864"/>
                </a:solidFill>
              </a:rPr>
              <a:t>Kiểm tra</a:t>
            </a:r>
            <a:endParaRPr lang="vi-VN" sz="160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vi-VN" sz="1600" b="1">
                <a:solidFill>
                  <a:srgbClr val="203864"/>
                </a:solidFill>
              </a:rPr>
              <a:t>Ctrl + ↓</a:t>
            </a:r>
            <a:r>
              <a:rPr lang="vi-VN" sz="1600">
                <a:solidFill>
                  <a:srgbClr val="1B2230"/>
                </a:solidFill>
              </a:rPr>
              <a:t> chạy thẳng tới dòng cuối.</a:t>
            </a:r>
            <a:endParaRPr lang="vi-VN" sz="160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vi-VN" sz="1600">
                <a:solidFill>
                  <a:srgbClr val="1B2230"/>
                </a:solidFill>
              </a:rPr>
              <a:t>Chọn ô Order_ID đầu tiên → Ctrl + Shift + ↓ (không gồm tiêu đề). Status Bar: Count =</a:t>
            </a:r>
            <a:endParaRPr lang="vi-VN" sz="1600"/>
          </a:p>
        </p:txBody>
      </p:sp>
      <p:sp>
        <p:nvSpPr>
          <p:cNvPr id="16" name="TextBox"/>
          <p:cNvSpPr txBox="1"/>
          <p:nvPr/>
        </p:nvSpPr>
        <p:spPr>
          <a:xfrm>
            <a:off x="8089018" y="3014204"/>
            <a:ext cx="33528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4400" b="1">
                <a:solidFill>
                  <a:srgbClr val="203864"/>
                </a:solidFill>
              </a:rPr>
              <a:t>6.187</a:t>
            </a:r>
            <a:endParaRPr lang="vi-VN" sz="4400"/>
          </a:p>
        </p:txBody>
      </p:sp>
    </p:spTree>
    <p:extLst>
      <p:ext uri="{BB962C8B-B14F-4D97-AF65-F5344CB8AC3E}">
        <p14:creationId xmlns:p14="http://schemas.microsoft.com/office/powerpoint/2010/main" val="1573090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7 · THỰC HÀNH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Thực hành 2: Công thức &amp; kiểm soát</a:t>
            </a:r>
          </a:p>
        </p:txBody>
      </p:sp>
      <p:sp>
        <p:nvSpPr>
          <p:cNvPr id="13" name="Time chip"/>
          <p:cNvSpPr/>
          <p:nvPr/>
        </p:nvSpPr>
        <p:spPr>
          <a:xfrm>
            <a:off x="1524000" y="1554480"/>
            <a:ext cx="139700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203864"/>
                </a:solidFill>
              </a:rPr>
              <a:t>10 phút</a:t>
            </a:r>
            <a:endParaRPr lang="vi-VN" sz="1400"/>
          </a:p>
        </p:txBody>
      </p:sp>
      <p:sp>
        <p:nvSpPr>
          <p:cNvPr id="14" name="TextBox"/>
          <p:cNvSpPr txBox="1"/>
          <p:nvPr/>
        </p:nvSpPr>
        <p:spPr>
          <a:xfrm>
            <a:off x="1524000" y="2138680"/>
            <a:ext cx="6126480" cy="398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Thêm cột </a:t>
            </a:r>
            <a:r>
              <a:rPr lang="vi-VN" sz="1800" b="1">
                <a:solidFill>
                  <a:srgbClr val="203864"/>
                </a:solidFill>
              </a:rPr>
              <a:t>Revenue</a:t>
            </a:r>
            <a:r>
              <a:rPr lang="vi-VN" sz="1800">
                <a:solidFill>
                  <a:srgbClr val="1B2230"/>
                </a:solidFill>
              </a:rPr>
              <a:t> = [@Quantity]*[@Unit_Price].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Tạo ô tổng doanh thu, rồi thêm cột </a:t>
            </a:r>
            <a:r>
              <a:rPr lang="vi-VN" sz="1800" b="1">
                <a:solidFill>
                  <a:srgbClr val="203864"/>
                </a:solidFill>
              </a:rPr>
              <a:t>Pct_Share</a:t>
            </a:r>
            <a:r>
              <a:rPr lang="vi-VN" sz="1800">
                <a:solidFill>
                  <a:srgbClr val="1B2230"/>
                </a:solidFill>
              </a:rPr>
              <a:t> (% đóng góp) = Revenue ÷ ô tổng (dùng </a:t>
            </a:r>
            <a:r>
              <a:rPr lang="vi-VN" sz="1800" b="1">
                <a:solidFill>
                  <a:srgbClr val="203864"/>
                </a:solidFill>
              </a:rPr>
              <a:t>$</a:t>
            </a:r>
            <a:r>
              <a:rPr lang="vi-VN" sz="1800">
                <a:solidFill>
                  <a:srgbClr val="1B2230"/>
                </a:solidFill>
              </a:rPr>
              <a:t>).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Đặt </a:t>
            </a:r>
            <a:r>
              <a:rPr lang="vi-VN" sz="1800" b="1">
                <a:solidFill>
                  <a:srgbClr val="203864"/>
                </a:solidFill>
              </a:rPr>
              <a:t>Data Validation</a:t>
            </a:r>
            <a:r>
              <a:rPr lang="vi-VN" sz="1800">
                <a:solidFill>
                  <a:srgbClr val="1B2230"/>
                </a:solidFill>
              </a:rPr>
              <a:t> cho Store_Code (List từ sheet Store) và Quantity (&gt; 0).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Chạy </a:t>
            </a:r>
            <a:r>
              <a:rPr lang="vi-VN" sz="1800" b="1">
                <a:solidFill>
                  <a:srgbClr val="203864"/>
                </a:solidFill>
              </a:rPr>
              <a:t>Circle Invalid Data</a:t>
            </a:r>
            <a:r>
              <a:rPr lang="vi-VN" sz="1800">
                <a:solidFill>
                  <a:srgbClr val="1B2230"/>
                </a:solidFill>
              </a:rPr>
              <a:t>, sửa 5 ô bị khoanh.</a:t>
            </a:r>
            <a:endParaRPr lang="vi-VN" sz="1800"/>
          </a:p>
          <a:p>
            <a:pPr marL="457200" indent="-457200">
              <a:lnSpc>
                <a:spcPct val="10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vi-VN" sz="1800">
                <a:solidFill>
                  <a:srgbClr val="1B2230"/>
                </a:solidFill>
              </a:rPr>
              <a:t>Đặt ô Tổng doanh thu vào </a:t>
            </a:r>
            <a:r>
              <a:rPr lang="vi-VN" sz="1800" b="1">
                <a:solidFill>
                  <a:srgbClr val="203864"/>
                </a:solidFill>
              </a:rPr>
              <a:t>Watch Window</a:t>
            </a:r>
            <a:r>
              <a:rPr lang="vi-VN" sz="1800">
                <a:solidFill>
                  <a:srgbClr val="1B2230"/>
                </a:solidFill>
              </a:rPr>
              <a:t>.</a:t>
            </a:r>
            <a:endParaRPr lang="vi-VN" sz="1800"/>
          </a:p>
        </p:txBody>
      </p:sp>
      <p:sp>
        <p:nvSpPr>
          <p:cNvPr id="15" name="Check box"/>
          <p:cNvSpPr/>
          <p:nvPr/>
        </p:nvSpPr>
        <p:spPr>
          <a:xfrm>
            <a:off x="7924800" y="1554480"/>
            <a:ext cx="3718560" cy="4572000"/>
          </a:xfrm>
          <a:prstGeom prst="roundRect">
            <a:avLst>
              <a:gd name="adj" fmla="val 556"/>
            </a:avLst>
          </a:prstGeom>
          <a:solidFill>
            <a:srgbClr val="F3F5F9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vi-VN" sz="1600" b="1">
                <a:solidFill>
                  <a:srgbClr val="203864"/>
                </a:solidFill>
              </a:rPr>
              <a:t>Kiểm tra</a:t>
            </a:r>
            <a:endParaRPr lang="vi-VN" sz="160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vi-VN" sz="1600">
                <a:solidFill>
                  <a:srgbClr val="1B2230"/>
                </a:solidFill>
              </a:rPr>
              <a:t>Tổng doanh thu = </a:t>
            </a:r>
            <a:r>
              <a:rPr lang="vi-VN" sz="1600" b="1">
                <a:solidFill>
                  <a:srgbClr val="203864"/>
                </a:solidFill>
              </a:rPr>
              <a:t>941.454.000</a:t>
            </a:r>
            <a:endParaRPr lang="vi-VN" sz="160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vi-VN" sz="1600">
                <a:solidFill>
                  <a:srgbClr val="1B2230"/>
                </a:solidFill>
              </a:rPr>
              <a:t>Tổng Quantity = </a:t>
            </a:r>
            <a:r>
              <a:rPr lang="vi-VN" sz="1600" b="1">
                <a:solidFill>
                  <a:srgbClr val="203864"/>
                </a:solidFill>
              </a:rPr>
              <a:t>10.990</a:t>
            </a:r>
            <a:endParaRPr lang="vi-VN" sz="160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vi-VN" sz="1600">
                <a:solidFill>
                  <a:srgbClr val="1B2230"/>
                </a:solidFill>
              </a:rPr>
              <a:t>Tổng cột Pct_Share = </a:t>
            </a:r>
            <a:r>
              <a:rPr lang="vi-VN" sz="1600" b="1">
                <a:solidFill>
                  <a:srgbClr val="203864"/>
                </a:solidFill>
              </a:rPr>
              <a:t>100%</a:t>
            </a:r>
            <a:endParaRPr lang="vi-VN" sz="1600"/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vi-VN" sz="1600">
                <a:solidFill>
                  <a:srgbClr val="1B2230"/>
                </a:solidFill>
              </a:rPr>
              <a:t>Circle Invalid Data: </a:t>
            </a:r>
            <a:r>
              <a:rPr lang="vi-VN" sz="1600" b="1">
                <a:solidFill>
                  <a:srgbClr val="203864"/>
                </a:solidFill>
              </a:rPr>
              <a:t>không còn ô nào</a:t>
            </a:r>
            <a:endParaRPr lang="vi-VN" sz="1600"/>
          </a:p>
        </p:txBody>
      </p:sp>
    </p:spTree>
    <p:extLst>
      <p:ext uri="{BB962C8B-B14F-4D97-AF65-F5344CB8AC3E}">
        <p14:creationId xmlns:p14="http://schemas.microsoft.com/office/powerpoint/2010/main" val="318524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7 · THỰC HÀNH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Chữa bài nhanh: checklist brick output B1</a:t>
            </a:r>
          </a:p>
        </p:txBody>
      </p:sp>
      <p:sp>
        <p:nvSpPr>
          <p:cNvPr id="13" name="Checkbox 1"/>
          <p:cNvSpPr/>
          <p:nvPr/>
        </p:nvSpPr>
        <p:spPr>
          <a:xfrm>
            <a:off x="1524000" y="17830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4" name="TextBox"/>
          <p:cNvSpPr txBox="1"/>
          <p:nvPr/>
        </p:nvSpPr>
        <p:spPr>
          <a:xfrm>
            <a:off x="2072640" y="1554480"/>
            <a:ext cx="9570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1B2230"/>
                </a:solidFill>
              </a:rPr>
              <a:t>Table </a:t>
            </a:r>
            <a:r>
              <a:rPr lang="vi-VN" sz="2000" b="1">
                <a:solidFill>
                  <a:srgbClr val="203864"/>
                </a:solidFill>
              </a:rPr>
              <a:t>tblSales</a:t>
            </a:r>
            <a:r>
              <a:rPr lang="vi-VN" sz="2000">
                <a:solidFill>
                  <a:srgbClr val="1B2230"/>
                </a:solidFill>
              </a:rPr>
              <a:t>, 6.187 dòng</a:t>
            </a:r>
            <a:endParaRPr lang="vi-VN" sz="2000"/>
          </a:p>
        </p:txBody>
      </p:sp>
      <p:cxnSp>
        <p:nvCxnSpPr>
          <p:cNvPr id="15" name="Line 15"/>
          <p:cNvCxnSpPr/>
          <p:nvPr/>
        </p:nvCxnSpPr>
        <p:spPr>
          <a:xfrm>
            <a:off x="1524000" y="233172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6" name="Checkbox 2"/>
          <p:cNvSpPr/>
          <p:nvPr/>
        </p:nvSpPr>
        <p:spPr>
          <a:xfrm>
            <a:off x="1524000" y="25603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7" name="TextBox"/>
          <p:cNvSpPr txBox="1"/>
          <p:nvPr/>
        </p:nvSpPr>
        <p:spPr>
          <a:xfrm>
            <a:off x="2072640" y="2331720"/>
            <a:ext cx="9570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1B2230"/>
                </a:solidFill>
              </a:rPr>
              <a:t>Không ô gộp, không dòng tổng, không dòng trống</a:t>
            </a:r>
            <a:endParaRPr lang="vi-VN" sz="2000"/>
          </a:p>
        </p:txBody>
      </p:sp>
      <p:cxnSp>
        <p:nvCxnSpPr>
          <p:cNvPr id="18" name="Line 18"/>
          <p:cNvCxnSpPr/>
          <p:nvPr/>
        </p:nvCxnSpPr>
        <p:spPr>
          <a:xfrm>
            <a:off x="1524000" y="310896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9" name="Checkbox 3"/>
          <p:cNvSpPr/>
          <p:nvPr/>
        </p:nvSpPr>
        <p:spPr>
          <a:xfrm>
            <a:off x="1524000" y="33375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0" name="TextBox"/>
          <p:cNvSpPr txBox="1"/>
          <p:nvPr/>
        </p:nvSpPr>
        <p:spPr>
          <a:xfrm>
            <a:off x="2072640" y="3108960"/>
            <a:ext cx="9570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1B2230"/>
                </a:solidFill>
              </a:rPr>
              <a:t>Có Validation, không còn ô bị khoanh</a:t>
            </a:r>
            <a:endParaRPr lang="vi-VN" sz="2000"/>
          </a:p>
        </p:txBody>
      </p:sp>
      <p:cxnSp>
        <p:nvCxnSpPr>
          <p:cNvPr id="21" name="Line 21"/>
          <p:cNvCxnSpPr/>
          <p:nvPr/>
        </p:nvCxnSpPr>
        <p:spPr>
          <a:xfrm>
            <a:off x="1524000" y="388620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2" name="Checkbox 4"/>
          <p:cNvSpPr/>
          <p:nvPr/>
        </p:nvSpPr>
        <p:spPr>
          <a:xfrm>
            <a:off x="1524000" y="411480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3" name="TextBox"/>
          <p:cNvSpPr txBox="1"/>
          <p:nvPr/>
        </p:nvSpPr>
        <p:spPr>
          <a:xfrm>
            <a:off x="2072640" y="3886200"/>
            <a:ext cx="9570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1B2230"/>
                </a:solidFill>
              </a:rPr>
              <a:t>Không còn lỗi công thức</a:t>
            </a:r>
            <a:endParaRPr lang="vi-VN" sz="2000"/>
          </a:p>
        </p:txBody>
      </p:sp>
      <p:cxnSp>
        <p:nvCxnSpPr>
          <p:cNvPr id="24" name="Line 24"/>
          <p:cNvCxnSpPr/>
          <p:nvPr/>
        </p:nvCxnSpPr>
        <p:spPr>
          <a:xfrm>
            <a:off x="1524000" y="466344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25" name="Checkbox 5"/>
          <p:cNvSpPr/>
          <p:nvPr/>
        </p:nvSpPr>
        <p:spPr>
          <a:xfrm>
            <a:off x="1524000" y="48920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6" name="TextBox"/>
          <p:cNvSpPr txBox="1"/>
          <p:nvPr/>
        </p:nvSpPr>
        <p:spPr>
          <a:xfrm>
            <a:off x="2072640" y="4663440"/>
            <a:ext cx="9570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vi-VN" sz="2000">
                <a:solidFill>
                  <a:srgbClr val="1B2230"/>
                </a:solidFill>
              </a:rPr>
              <a:t>Tổng doanh thu = </a:t>
            </a:r>
            <a:r>
              <a:rPr lang="vi-VN" sz="2000" b="1">
                <a:solidFill>
                  <a:srgbClr val="203864"/>
                </a:solidFill>
              </a:rPr>
              <a:t>941.454.000</a:t>
            </a:r>
            <a:r>
              <a:rPr lang="vi-VN" sz="2000">
                <a:solidFill>
                  <a:srgbClr val="1B2230"/>
                </a:solidFill>
              </a:rPr>
              <a:t>; tổng Pct_Share = </a:t>
            </a:r>
            <a:r>
              <a:rPr lang="vi-VN" sz="2000" b="1">
                <a:solidFill>
                  <a:srgbClr val="203864"/>
                </a:solidFill>
              </a:rPr>
              <a:t>100%</a:t>
            </a:r>
            <a:endParaRPr lang="vi-VN" sz="2000"/>
          </a:p>
        </p:txBody>
      </p:sp>
      <p:sp>
        <p:nvSpPr>
          <p:cNvPr id="27" name="Footnote"/>
          <p:cNvSpPr txBox="1"/>
          <p:nvPr/>
        </p:nvSpPr>
        <p:spPr>
          <a:xfrm>
            <a:off x="1524000" y="621792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200">
                <a:solidFill>
                  <a:srgbClr val="6B6F76"/>
                </a:solidFill>
              </a:rPr>
              <a:t>File đáp án B1_MCI_Mart_Q1_2025_Answer.xlsx (sheet Kiem_tra: 8 dòng đối soát) là file khởi đầu Buổi 2.</a:t>
            </a:r>
            <a:endParaRPr lang="vi-VN" sz="1200"/>
          </a:p>
        </p:txBody>
      </p:sp>
    </p:spTree>
    <p:extLst>
      <p:ext uri="{BB962C8B-B14F-4D97-AF65-F5344CB8AC3E}">
        <p14:creationId xmlns:p14="http://schemas.microsoft.com/office/powerpoint/2010/main" val="1204543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Excel Quiz Challenge</a:t>
            </a:r>
          </a:p>
        </p:txBody>
      </p:sp>
      <p:sp>
        <p:nvSpPr>
          <p:cNvPr id="12" name="body 1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/>
              <a:t>7 câu hỏi nhanh · câu 6–7 là tình huống</a:t>
            </a:r>
          </a:p>
        </p:txBody>
      </p:sp>
    </p:spTree>
    <p:extLst>
      <p:ext uri="{BB962C8B-B14F-4D97-AF65-F5344CB8AC3E}">
        <p14:creationId xmlns:p14="http://schemas.microsoft.com/office/powerpoint/2010/main" val="747237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1: Cell References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Ký hiệu nào dùng để tạo tham chiếu tuyệt đối?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#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$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@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!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3958003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2: Cell References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Tham chiếu nào cố định dòng nhưng để cột tương đối?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$A$1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A1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A$1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$A1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3458770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3: Shortcuts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Tổ hợp nào dán giá trị?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Alt H V V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Ctrl V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Ctrl Alt V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Alt V V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1707092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4: Auditing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Công cụ nào vẽ mũi tên tới các ô bị ảnh hưởng bởi ô đang chọn?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Error Checking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Trace Precedents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Trace Dependents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Evaluate Formula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2795430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5: Common Errors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Lỡ xóa một ô đang được công thức tham chiếu, lỗi nào xuất hiện?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#NAME?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51460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27889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51460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#N/A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#VALUE!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3840480"/>
            <a:ext cx="49453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1148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3840480"/>
            <a:ext cx="39395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#REF!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201213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6: Tình huống — Data Structure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Sếp gửi file bán hàng có ô gộp theo vùng và dòng "Tổng" sau mỗi vùng, nhờ tính doanh thu từng vùng. Việc đầu tiên nên làm là gì?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88036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30861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88036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Viết SUM cho từng vùng ngay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88036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30861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88036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Đưa về dạng tidy rồi chuyển thành Table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406908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2748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406908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Tô màu từng vùng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406908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2748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406908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Chụp màn hình gửi lại sếp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3439972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Question 7: Tình huống — Automation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101193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Mỗi tháng bạn dán thêm dữ liệu mới vào cuối bảng và muốn cột Revenue tự tính. Nên dùng gì?</a:t>
            </a:r>
            <a:endParaRPr lang="vi-VN" sz="2400"/>
          </a:p>
        </p:txBody>
      </p:sp>
      <p:sp>
        <p:nvSpPr>
          <p:cNvPr id="14" name="Option A"/>
          <p:cNvSpPr/>
          <p:nvPr/>
        </p:nvSpPr>
        <p:spPr>
          <a:xfrm>
            <a:off x="1524000" y="288036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5" name="Letter A"/>
          <p:cNvSpPr/>
          <p:nvPr/>
        </p:nvSpPr>
        <p:spPr>
          <a:xfrm>
            <a:off x="1706880" y="30861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A</a:t>
            </a:r>
            <a:endParaRPr lang="vi-VN" sz="2000"/>
          </a:p>
        </p:txBody>
      </p:sp>
      <p:sp>
        <p:nvSpPr>
          <p:cNvPr id="16" name="TextBox"/>
          <p:cNvSpPr txBox="1"/>
          <p:nvPr/>
        </p:nvSpPr>
        <p:spPr>
          <a:xfrm>
            <a:off x="2438400" y="288036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Data Validation</a:t>
            </a:r>
            <a:endParaRPr lang="vi-VN" sz="2000"/>
          </a:p>
        </p:txBody>
      </p:sp>
      <p:sp>
        <p:nvSpPr>
          <p:cNvPr id="17" name="Option B"/>
          <p:cNvSpPr/>
          <p:nvPr/>
        </p:nvSpPr>
        <p:spPr>
          <a:xfrm>
            <a:off x="6697980" y="288036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8" name="Letter B"/>
          <p:cNvSpPr/>
          <p:nvPr/>
        </p:nvSpPr>
        <p:spPr>
          <a:xfrm>
            <a:off x="6880860" y="308610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B</a:t>
            </a:r>
            <a:endParaRPr lang="vi-VN" sz="2000"/>
          </a:p>
        </p:txBody>
      </p:sp>
      <p:sp>
        <p:nvSpPr>
          <p:cNvPr id="19" name="TextBox"/>
          <p:cNvSpPr txBox="1"/>
          <p:nvPr/>
        </p:nvSpPr>
        <p:spPr>
          <a:xfrm>
            <a:off x="7612380" y="288036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Excel Table</a:t>
            </a:r>
            <a:endParaRPr lang="vi-VN" sz="2000"/>
          </a:p>
        </p:txBody>
      </p:sp>
      <p:sp>
        <p:nvSpPr>
          <p:cNvPr id="20" name="Option C"/>
          <p:cNvSpPr/>
          <p:nvPr/>
        </p:nvSpPr>
        <p:spPr>
          <a:xfrm>
            <a:off x="1524000" y="406908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1" name="Letter C"/>
          <p:cNvSpPr/>
          <p:nvPr/>
        </p:nvSpPr>
        <p:spPr>
          <a:xfrm>
            <a:off x="1706880" y="42748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C</a:t>
            </a:r>
            <a:endParaRPr lang="vi-VN" sz="2000"/>
          </a:p>
        </p:txBody>
      </p:sp>
      <p:sp>
        <p:nvSpPr>
          <p:cNvPr id="22" name="TextBox"/>
          <p:cNvSpPr txBox="1"/>
          <p:nvPr/>
        </p:nvSpPr>
        <p:spPr>
          <a:xfrm>
            <a:off x="2438400" y="406908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Freeze Panes</a:t>
            </a:r>
            <a:endParaRPr lang="vi-VN" sz="2000"/>
          </a:p>
        </p:txBody>
      </p:sp>
      <p:sp>
        <p:nvSpPr>
          <p:cNvPr id="23" name="Option D"/>
          <p:cNvSpPr/>
          <p:nvPr/>
        </p:nvSpPr>
        <p:spPr>
          <a:xfrm>
            <a:off x="6697980" y="4069080"/>
            <a:ext cx="49453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24" name="Letter D"/>
          <p:cNvSpPr/>
          <p:nvPr/>
        </p:nvSpPr>
        <p:spPr>
          <a:xfrm>
            <a:off x="6880860" y="427482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2000" b="1">
                <a:solidFill>
                  <a:srgbClr val="FFFFFF"/>
                </a:solidFill>
              </a:rPr>
              <a:t>D</a:t>
            </a:r>
            <a:endParaRPr lang="vi-VN" sz="2000"/>
          </a:p>
        </p:txBody>
      </p:sp>
      <p:sp>
        <p:nvSpPr>
          <p:cNvPr id="25" name="TextBox"/>
          <p:cNvSpPr txBox="1"/>
          <p:nvPr/>
        </p:nvSpPr>
        <p:spPr>
          <a:xfrm>
            <a:off x="7612380" y="4069080"/>
            <a:ext cx="39395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2000">
                <a:solidFill>
                  <a:srgbClr val="1B2230"/>
                </a:solidFill>
              </a:rPr>
              <a:t>Show Formulas</a:t>
            </a:r>
            <a:endParaRPr lang="vi-VN" sz="2000"/>
          </a:p>
        </p:txBody>
      </p:sp>
    </p:spTree>
    <p:extLst>
      <p:ext uri="{BB962C8B-B14F-4D97-AF65-F5344CB8AC3E}">
        <p14:creationId xmlns:p14="http://schemas.microsoft.com/office/powerpoint/2010/main" val="1054305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Tổng kết &amp; insight của bạn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800" b="1">
                <a:solidFill>
                  <a:srgbClr val="203864"/>
                </a:solidFill>
              </a:rPr>
              <a:t>Điểm chính cần nhớ</a:t>
            </a:r>
            <a:endParaRPr lang="vi-VN" sz="1800"/>
          </a:p>
        </p:txBody>
      </p:sp>
      <p:sp>
        <p:nvSpPr>
          <p:cNvPr id="14" name="TextBox"/>
          <p:cNvSpPr txBox="1"/>
          <p:nvPr/>
        </p:nvSpPr>
        <p:spPr>
          <a:xfrm>
            <a:off x="1524000" y="2057400"/>
            <a:ext cx="457200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vi-VN" sz="2000">
                <a:solidFill>
                  <a:srgbClr val="1B2230"/>
                </a:solidFill>
              </a:rPr>
              <a:t>Kiểm tra máy trước.</a:t>
            </a:r>
            <a:endParaRPr lang="vi-VN" sz="2000"/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vi-VN" sz="2000">
                <a:solidFill>
                  <a:srgbClr val="1B2230"/>
                </a:solidFill>
              </a:rPr>
              <a:t>Dấu </a:t>
            </a:r>
            <a:r>
              <a:rPr lang="vi-VN" sz="2000" b="1">
                <a:solidFill>
                  <a:srgbClr val="203864"/>
                </a:solidFill>
              </a:rPr>
              <a:t>$</a:t>
            </a:r>
            <a:r>
              <a:rPr lang="vi-VN" sz="2000">
                <a:solidFill>
                  <a:srgbClr val="1B2230"/>
                </a:solidFill>
              </a:rPr>
              <a:t> cho phép tái sử dụng công thức.</a:t>
            </a:r>
            <a:endParaRPr lang="vi-VN" sz="2000"/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vi-VN" sz="2000">
                <a:solidFill>
                  <a:srgbClr val="1B2230"/>
                </a:solidFill>
              </a:rPr>
              <a:t>Lỗi là tín hiệu.</a:t>
            </a:r>
            <a:endParaRPr lang="vi-VN" sz="2000"/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vi-VN" sz="2000">
                <a:solidFill>
                  <a:srgbClr val="1B2230"/>
                </a:solidFill>
              </a:rPr>
              <a:t>Nền móng là </a:t>
            </a:r>
            <a:r>
              <a:rPr lang="vi-VN" sz="2000" b="1">
                <a:solidFill>
                  <a:srgbClr val="203864"/>
                </a:solidFill>
              </a:rPr>
              <a:t>tidy data + Table</a:t>
            </a:r>
            <a:r>
              <a:rPr lang="vi-VN" sz="2000">
                <a:solidFill>
                  <a:srgbClr val="1B2230"/>
                </a:solidFill>
              </a:rPr>
              <a:t>.</a:t>
            </a:r>
            <a:endParaRPr lang="vi-VN" sz="2000"/>
          </a:p>
          <a:p>
            <a:pPr marL="457200" indent="-457200">
              <a:spcAft>
                <a:spcPts val="1000"/>
              </a:spcAft>
              <a:buFont typeface="+mj-lt"/>
              <a:buAutoNum type="arabicPeriod"/>
            </a:pPr>
            <a:r>
              <a:rPr lang="vi-VN" sz="2000">
                <a:solidFill>
                  <a:srgbClr val="1B2230"/>
                </a:solidFill>
              </a:rPr>
              <a:t>Chặn lỗi từ gốc bằng </a:t>
            </a:r>
            <a:r>
              <a:rPr lang="vi-VN" sz="2000" b="1">
                <a:solidFill>
                  <a:srgbClr val="203864"/>
                </a:solidFill>
              </a:rPr>
              <a:t>Validation</a:t>
            </a:r>
            <a:r>
              <a:rPr lang="vi-VN" sz="2000">
                <a:solidFill>
                  <a:srgbClr val="1B2230"/>
                </a:solidFill>
              </a:rPr>
              <a:t>.</a:t>
            </a:r>
            <a:endParaRPr lang="vi-VN" sz="2000"/>
          </a:p>
        </p:txBody>
      </p:sp>
      <p:sp>
        <p:nvSpPr>
          <p:cNvPr id="15" name="Insight box"/>
          <p:cNvSpPr/>
          <p:nvPr/>
        </p:nvSpPr>
        <p:spPr>
          <a:xfrm>
            <a:off x="6370320" y="1554480"/>
            <a:ext cx="5273040" cy="3423920"/>
          </a:xfrm>
          <a:prstGeom prst="roundRect">
            <a:avLst>
              <a:gd name="adj" fmla="val 534"/>
            </a:avLst>
          </a:prstGeom>
          <a:solidFill>
            <a:srgbClr val="F3F5F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vi-VN"/>
          </a:p>
        </p:txBody>
      </p:sp>
      <p:sp>
        <p:nvSpPr>
          <p:cNvPr id="16" name="TextBox"/>
          <p:cNvSpPr txBox="1"/>
          <p:nvPr/>
        </p:nvSpPr>
        <p:spPr>
          <a:xfrm>
            <a:off x="6553200" y="1691640"/>
            <a:ext cx="490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800" b="1">
                <a:solidFill>
                  <a:srgbClr val="203864"/>
                </a:solidFill>
              </a:rPr>
              <a:t>Insight của bạn (1 câu)</a:t>
            </a:r>
            <a:endParaRPr lang="vi-VN" sz="1800"/>
          </a:p>
        </p:txBody>
      </p:sp>
      <p:sp>
        <p:nvSpPr>
          <p:cNvPr id="17" name="TextBox"/>
          <p:cNvSpPr txBox="1"/>
          <p:nvPr/>
        </p:nvSpPr>
        <p:spPr>
          <a:xfrm>
            <a:off x="6553200" y="2194560"/>
            <a:ext cx="490728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vi-VN" sz="2400">
                <a:solidFill>
                  <a:srgbClr val="1B2230"/>
                </a:solidFill>
              </a:rPr>
              <a:t>"File case có ______ dòng, tôi tìm thấy ______ loại lỗi dữ liệu. Lỗi nguy hiểm nhất là ______, nên nếu không sửa thì ______."</a:t>
            </a:r>
            <a:endParaRPr lang="vi-VN" sz="2400"/>
          </a:p>
        </p:txBody>
      </p:sp>
      <p:sp>
        <p:nvSpPr>
          <p:cNvPr id="18" name="Tag Con số"/>
          <p:cNvSpPr/>
          <p:nvPr/>
        </p:nvSpPr>
        <p:spPr>
          <a:xfrm>
            <a:off x="6553200" y="4394200"/>
            <a:ext cx="1544320" cy="4114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203864"/>
                </a:solidFill>
              </a:rPr>
              <a:t>Con số</a:t>
            </a:r>
            <a:endParaRPr lang="vi-VN" sz="1400"/>
          </a:p>
        </p:txBody>
      </p:sp>
      <p:sp>
        <p:nvSpPr>
          <p:cNvPr id="19" name="Tag Nguyên nhân"/>
          <p:cNvSpPr/>
          <p:nvPr/>
        </p:nvSpPr>
        <p:spPr>
          <a:xfrm>
            <a:off x="8234680" y="4394200"/>
            <a:ext cx="1544320" cy="4114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203864"/>
                </a:solidFill>
              </a:rPr>
              <a:t>Nguyên nhân</a:t>
            </a:r>
            <a:endParaRPr lang="vi-VN" sz="1400"/>
          </a:p>
        </p:txBody>
      </p:sp>
      <p:sp>
        <p:nvSpPr>
          <p:cNvPr id="20" name="Tag Hàm ý"/>
          <p:cNvSpPr/>
          <p:nvPr/>
        </p:nvSpPr>
        <p:spPr>
          <a:xfrm>
            <a:off x="9916160" y="4394200"/>
            <a:ext cx="1544320" cy="4114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>
                <a:solidFill>
                  <a:srgbClr val="203864"/>
                </a:solidFill>
              </a:rPr>
              <a:t>Hàm ý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18282218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il label"/>
          <p:cNvSpPr txBox="1"/>
          <p:nvPr/>
        </p:nvSpPr>
        <p:spPr>
          <a:xfrm>
            <a:off x="0" y="1371600"/>
            <a:ext cx="975360" cy="4800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vi-VN" sz="1400" b="1" spc="100">
                <a:solidFill>
                  <a:srgbClr val="FFFFFF"/>
                </a:solidFill>
              </a:rPr>
              <a:t>PHẦN 8 · QUIZ &amp; TỔNG KẾT</a:t>
            </a:r>
            <a:endParaRPr lang="vi-VN" sz="1400"/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Buổi sau: định nghĩa KPI và tính bằng SUMIFS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155448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vi-VN" sz="2000" b="1">
                <a:solidFill>
                  <a:srgbClr val="203864"/>
                </a:solidFill>
              </a:rPr>
              <a:t>"Doanh thu, số đơn, biên lợi nhuận của từng vùng tháng này là bao nhiêu?"</a:t>
            </a:r>
            <a:endParaRPr lang="vi-VN" sz="2000"/>
          </a:p>
        </p:txBody>
      </p:sp>
      <p:sp>
        <p:nvSpPr>
          <p:cNvPr id="14" name="TextBox"/>
          <p:cNvSpPr txBox="1"/>
          <p:nvPr/>
        </p:nvSpPr>
        <p:spPr>
          <a:xfrm>
            <a:off x="1524000" y="246888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vi-VN" sz="1600" b="1">
                <a:solidFill>
                  <a:srgbClr val="1B2230"/>
                </a:solidFill>
              </a:rPr>
              <a:t>Nguyên liệu:</a:t>
            </a:r>
            <a:r>
              <a:rPr lang="vi-VN" sz="1600">
                <a:solidFill>
                  <a:srgbClr val="1B2230"/>
                </a:solidFill>
              </a:rPr>
              <a:t> tblSales hôm nay + bảng Product</a:t>
            </a:r>
            <a:endParaRPr lang="vi-VN" sz="1600"/>
          </a:p>
          <a:p>
            <a:pPr marL="0" indent="0">
              <a:spcAft>
                <a:spcPts val="600"/>
              </a:spcAft>
              <a:buNone/>
            </a:pPr>
            <a:r>
              <a:rPr lang="vi-VN" sz="1600" b="1">
                <a:solidFill>
                  <a:srgbClr val="1B2230"/>
                </a:solidFill>
              </a:rPr>
              <a:t>Công cụ:</a:t>
            </a:r>
            <a:r>
              <a:rPr lang="vi-VN" sz="1600">
                <a:solidFill>
                  <a:srgbClr val="1B2230"/>
                </a:solidFill>
              </a:rPr>
              <a:t> KPI Definition Card, Dimension / Measure / Grain, SUMIFS, XLOOKUP</a:t>
            </a:r>
            <a:endParaRPr lang="vi-VN" sz="1600"/>
          </a:p>
        </p:txBody>
      </p:sp>
      <p:sp>
        <p:nvSpPr>
          <p:cNvPr id="15" name="TextBox"/>
          <p:cNvSpPr txBox="1"/>
          <p:nvPr/>
        </p:nvSpPr>
        <p:spPr>
          <a:xfrm>
            <a:off x="1524000" y="3840480"/>
            <a:ext cx="64008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vi-VN" sz="1600" b="1">
                <a:solidFill>
                  <a:srgbClr val="203864"/>
                </a:solidFill>
              </a:rPr>
              <a:t>Về nhà</a:t>
            </a:r>
            <a:endParaRPr lang="vi-VN" sz="1600"/>
          </a:p>
          <a:p>
            <a:pPr marL="342900" indent="-285750">
              <a:spcAft>
                <a:spcPts val="200"/>
              </a:spcAft>
              <a:buFont typeface="Arial"/>
              <a:buChar char="•"/>
            </a:pPr>
            <a:r>
              <a:rPr lang="vi-VN" sz="1600">
                <a:solidFill>
                  <a:srgbClr val="1B2230"/>
                </a:solidFill>
              </a:rPr>
              <a:t>Đọc handout B1 · ôn dấu $</a:t>
            </a:r>
            <a:endParaRPr lang="vi-VN" sz="1600"/>
          </a:p>
          <a:p>
            <a:pPr marL="342900" indent="-285750">
              <a:spcAft>
                <a:spcPts val="200"/>
              </a:spcAft>
              <a:buFont typeface="Arial"/>
              <a:buChar char="•"/>
            </a:pPr>
            <a:r>
              <a:rPr lang="vi-VN" sz="1600">
                <a:solidFill>
                  <a:srgbClr val="1B2230"/>
                </a:solidFill>
              </a:rPr>
              <a:t>Làm Bài tập về nhà (bắt buộc): B1_BTVN_MCI_Mart_T4_2025.xlsx</a:t>
            </a:r>
            <a:endParaRPr lang="vi-VN" sz="1600"/>
          </a:p>
          <a:p>
            <a:pPr marL="342900" indent="-285750">
              <a:spcAft>
                <a:spcPts val="200"/>
              </a:spcAft>
              <a:buFont typeface="Arial"/>
              <a:buChar char="•"/>
            </a:pPr>
            <a:r>
              <a:rPr lang="vi-VN" sz="1600">
                <a:solidFill>
                  <a:srgbClr val="1B2230"/>
                </a:solidFill>
              </a:rPr>
              <a:t>Nộp trước Buổi 2 tại hocvien.mcivietnam.com, tên file B1_BTVN_&lt;HoTen&gt;.xlsx</a:t>
            </a:r>
            <a:endParaRPr lang="vi-VN" sz="1600"/>
          </a:p>
          <a:p>
            <a:pPr marL="342900" indent="-285750">
              <a:spcAft>
                <a:spcPts val="200"/>
              </a:spcAft>
              <a:buFont typeface="Arial"/>
              <a:buChar char="•"/>
            </a:pPr>
            <a:r>
              <a:rPr lang="vi-VN" sz="1600">
                <a:solidFill>
                  <a:srgbClr val="1B2230"/>
                </a:solidFill>
              </a:rPr>
              <a:t>Tick "Checklist trước Buổi 2" (mục 11 handout)</a:t>
            </a:r>
            <a:endParaRPr lang="vi-VN" sz="1600"/>
          </a:p>
        </p:txBody>
      </p:sp>
      <p:sp>
        <p:nvSpPr>
          <p:cNvPr id="16" name="Brick B1"/>
          <p:cNvSpPr/>
          <p:nvPr/>
        </p:nvSpPr>
        <p:spPr>
          <a:xfrm>
            <a:off x="8290560" y="4206240"/>
            <a:ext cx="3352800" cy="9144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buNone/>
            </a:pPr>
            <a:r>
              <a:rPr lang="vi-VN" sz="1800" b="1">
                <a:solidFill>
                  <a:srgbClr val="FFFFFF"/>
                </a:solidFill>
              </a:rPr>
              <a:t>✓  B1 · Dữ liệu tidy</a:t>
            </a:r>
            <a:endParaRPr lang="vi-VN" sz="1800"/>
          </a:p>
        </p:txBody>
      </p:sp>
      <p:sp>
        <p:nvSpPr>
          <p:cNvPr id="17" name="Brick B2"/>
          <p:cNvSpPr/>
          <p:nvPr/>
        </p:nvSpPr>
        <p:spPr>
          <a:xfrm>
            <a:off x="8290560" y="3017520"/>
            <a:ext cx="3352800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buNone/>
            </a:pPr>
            <a:r>
              <a:rPr lang="vi-VN" sz="1800" b="1">
                <a:solidFill>
                  <a:srgbClr val="203864"/>
                </a:solidFill>
              </a:rPr>
              <a:t>B2 · Bảng KPI (SUMIFS)</a:t>
            </a:r>
            <a:endParaRPr lang="vi-VN" sz="1800"/>
          </a:p>
        </p:txBody>
      </p:sp>
      <p:cxnSp>
        <p:nvCxnSpPr>
          <p:cNvPr id="18" name="Line 18"/>
          <p:cNvCxnSpPr/>
          <p:nvPr/>
        </p:nvCxnSpPr>
        <p:spPr>
          <a:xfrm flipV="1">
            <a:off x="9966960" y="3977640"/>
            <a:ext cx="0" cy="182880"/>
          </a:xfrm>
          <a:prstGeom prst="line">
            <a:avLst/>
          </a:prstGeom>
          <a:ln w="25400">
            <a:solidFill>
              <a:srgbClr val="3398DA"/>
            </a:solidFill>
            <a:tailEnd type="triangle" w="med" len="med"/>
          </a:ln>
        </p:spPr>
      </p:cxnSp>
      <p:sp>
        <p:nvSpPr>
          <p:cNvPr id="19" name="TextBox"/>
          <p:cNvSpPr txBox="1"/>
          <p:nvPr/>
        </p:nvSpPr>
        <p:spPr>
          <a:xfrm>
            <a:off x="8290560" y="5212080"/>
            <a:ext cx="335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vi-VN" sz="1400">
                <a:solidFill>
                  <a:srgbClr val="585858"/>
                </a:solidFill>
              </a:rPr>
              <a:t>Viên gạch hôm nay là nền cho viên gạch sau.</a:t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86644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