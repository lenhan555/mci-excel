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  <p:sldId id="341" r:id="rId4"/>
    <p:sldId id="34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6: Thiết kế &amp; Xây dựng Dashboard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Bắt buộc máy Windows có Power Pivot (CUBEVALUE cần Data Model)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Mở sẵn: file khởi đầu B5_MCI_Mart_Answer.xlsx (đáp án Buổi 5)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101224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rial"/>
              </a:rPr>
              <a:t>“Giám đốc bán hàng có 5 giây. Họ cần thấy gì đầu tiên?”</a:t>
            </a:r>
          </a:p>
        </p:txBody>
      </p:sp>
      <p:sp>
        <p:nvSpPr>
          <p:cNvPr id="5" name="Tier chip"/>
          <p:cNvSpPr/>
          <p:nvPr/>
        </p:nvSpPr>
        <p:spPr>
          <a:xfrm>
            <a:off x="1527048" y="278892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Tầng 4 — Prescriptive · nhập môn Tầng 5</a:t>
            </a:r>
          </a:p>
        </p:txBody>
      </p:sp>
      <p:sp>
        <p:nvSpPr>
          <p:cNvPr id="6" name="Dashboard A"/>
          <p:cNvSpPr/>
          <p:nvPr/>
        </p:nvSpPr>
        <p:spPr>
          <a:xfrm>
            <a:off x="1527048" y="3429000"/>
            <a:ext cx="47548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C0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352044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9C0006"/>
                </a:solidFill>
                <a:latin typeface="Arial"/>
              </a:rPr>
              <a:t>Dashboard A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12 biểu đồ · pie 3D · trục cắt khúc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Không có target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Người xem không biết nhìn đâu</a:t>
            </a:r>
          </a:p>
        </p:txBody>
      </p:sp>
      <p:sp>
        <p:nvSpPr>
          <p:cNvPr id="8" name="Not equal"/>
          <p:cNvSpPr txBox="1"/>
          <p:nvPr/>
        </p:nvSpPr>
        <p:spPr>
          <a:xfrm>
            <a:off x="6373368" y="3429000"/>
            <a:ext cx="73152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9C0006"/>
                </a:solidFill>
                <a:latin typeface="Arial"/>
              </a:rPr>
              <a:t>≠</a:t>
            </a:r>
          </a:p>
        </p:txBody>
      </p:sp>
      <p:sp>
        <p:nvSpPr>
          <p:cNvPr id="9" name="Dashboard B"/>
          <p:cNvSpPr/>
          <p:nvPr/>
        </p:nvSpPr>
        <p:spPr>
          <a:xfrm>
            <a:off x="6894576" y="3429000"/>
            <a:ext cx="47548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7077456" y="352044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Dashboard B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6 thẻ KPI · mốc target · ✔ ▲ ✘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Thứ bậc: KPI → Trend → Detail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Nhìn 5 giây là biết đạt hay chưa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527048" y="562356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Tháng 4/2025: 296.965.000 · 103,1% target 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5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92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B5: </a:t>
            </a:r>
            <a:r>
              <a:rPr sz="1800" b="0">
                <a:solidFill>
                  <a:srgbClr val="1B2230"/>
                </a:solidFill>
                <a:latin typeface="Arial"/>
              </a:rPr>
              <a:t>mô hình ngôi sao 6 bảng, 6 relationship; 14 measure dùng chung; KPI dictionary; đối soát 64 ô với KPI_SUMIFS khớp 0.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B5: </a:t>
            </a:r>
            <a:r>
              <a:rPr sz="1800" b="0">
                <a:solidFill>
                  <a:srgbClr val="1B2230"/>
                </a:solidFill>
                <a:latin typeface="Arial"/>
              </a:rPr>
              <a:t>báo cáo của phòng Kinh doanh có 4 lỗi — Target chưa nối Calendar, tháng lấy từ Sales[Thang], GM% trung bình của biên từng dòng, số đơn đếm dòng. Đối soát trước, kết luận sau.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B5 (B5_MCI_Mart_Answer.xlsx). Lưu thành B6_&lt;HoTen&gt;.xlsx. KHÔNG bấm Refresh All. Mọi con số trên dashboard đến từ các measure này.</a:t>
            </a:r>
          </a:p>
        </p:txBody>
      </p:sp>
      <p:sp>
        <p:nvSpPr>
          <p:cNvPr id="5" name="Brick B5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B5 · Star schema + DAX</a:t>
            </a:r>
          </a:p>
        </p:txBody>
      </p:sp>
      <p:sp>
        <p:nvSpPr>
          <p:cNvPr id="7" name="Brick B6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B6 · Dashboard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../B5_Data_Model_DAX/Practice/B5_MCI_Mart_Answer.xlsx (sheet KPI_Dictionary) · ../B5_Data_Model_DAX/Homework/B5_BTVN_MCI_Mart_KPI_T1_T4_2025_Answer.xlsx (sheet Dap_an_loi)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Dashboard brief: brief trước, chart sau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brief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BRIEF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37160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Thứ tự: </a:t>
            </a:r>
            <a:r>
              <a:rPr sz="1600" b="0">
                <a:solidFill>
                  <a:srgbClr val="1B2230"/>
                </a:solidFill>
                <a:latin typeface="Arial"/>
              </a:rPr>
              <a:t>Audience → Câu hỏi / quyết định → KPI → Layout → Chart → Build → Story → Phát hành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527048" y="1920240"/>
          <a:ext cx="10122408" cy="283464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3017520"/>
                <a:gridCol w="527608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Mục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Câu hỏi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Dashboard MCI Mart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Người xem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Executive, operational hay self-service?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Sales Director — executive, xem trong họp ban điều hành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Câu hỏi (3–5)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Chỉ số · chiều · thời gian · mốc so sánh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Q1 Tháng này đạt bao nhiêu % target, so với tháng trước và cùng kỳ? · Q2 Cửa hàng nào dưới 90% target? · Q3 Ngày nào bất thường? · Q4 5 sản phẩm đầu chiếm bao nhiêu % doanh thu? · Q5 Thành phố nào đóng góp nhiều nhất?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Tần suất refresh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Bao lâu một lần?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Hằng tháng, khi có file tháng mới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Quyết định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Dashboard giúp quyết định gì?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Hỗ trợ cửa hàng nào trước; điều chỉnh 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IP callout"/>
          <p:cNvSpPr/>
          <p:nvPr/>
        </p:nvSpPr>
        <p:spPr>
          <a:xfrm>
            <a:off x="1527048" y="534924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2212848" y="5440679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Câu hỏi yếu: “Xem doanh thu”, “Phân tích khách hàng” — chỉ là chủ đề, thiếu chỉ số, chiều, mốc so sánh.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Mẫu brief: sheet Brief trong B6_&lt;HoTen&gt;.xlsx (tạo ở Slide 6) · Tiêu chí C1: ../B7_Capstone/Rubric_B7_Capstone.md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hành: viết brief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BRIEF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63040"/>
            <a:ext cx="63093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1. </a:t>
            </a:r>
            <a:r>
              <a:rPr sz="1600" b="0">
                <a:solidFill>
                  <a:srgbClr val="1B2230"/>
                </a:solidFill>
                <a:latin typeface="Arial"/>
              </a:rPr>
              <a:t>Tạo sheet Brief trong B6_&lt;HoTen&gt;.xlsx.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2. </a:t>
            </a:r>
            <a:r>
              <a:rPr sz="1600" b="0">
                <a:solidFill>
                  <a:srgbClr val="1B2230"/>
                </a:solidFill>
                <a:latin typeface="Arial"/>
              </a:rPr>
              <a:t>Chép bảng 4 mục của Slide 5, rồi viết lại 2 câu hỏi theo cách của bạn: đủ chỉ số · chiều · thời gian · mốc so sánh.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3. </a:t>
            </a:r>
            <a:r>
              <a:rPr sz="1600" b="0">
                <a:solidFill>
                  <a:srgbClr val="1B2230"/>
                </a:solidFill>
                <a:latin typeface="Arial"/>
              </a:rPr>
              <a:t>Đổi cặp với bạn bên cạnh: câu nào còn là chủ đề thì gạch và viết lại.</a:t>
            </a:r>
          </a:p>
        </p:txBody>
      </p:sp>
      <p:sp>
        <p:nvSpPr>
          <p:cNvPr id="5" name="Check box"/>
          <p:cNvSpPr/>
          <p:nvPr/>
        </p:nvSpPr>
        <p:spPr>
          <a:xfrm>
            <a:off x="8110728" y="146304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293608" y="160020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Kiểm tra (5 phút)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Mỗi câu hỏi có đủ 4 thành phần.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Không câu nào bắt đầu bằng “Xem…” hoặc “Phân tích…”.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Brief này là bài tập của tiêu chí C1 trong capstone.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Rõ ràng và đơn giản: dashboard tốt, xấu, “ugly”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kiểm tra 5 giây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RÕ RÀNG &amp; ĐƠN GIẢN</a:t>
            </a:r>
          </a:p>
        </p:txBody>
      </p:sp>
      <p:pic>
        <p:nvPicPr>
          <p:cNvPr id="4" name="Screenshot S08_dashboard_xau" descr="S08_dashboard_x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678769"/>
            <a:ext cx="6583680" cy="363762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5" name="Prompt box"/>
          <p:cNvSpPr/>
          <p:nvPr/>
        </p:nvSpPr>
        <p:spPr>
          <a:xfrm>
            <a:off x="8293608" y="1417320"/>
            <a:ext cx="3355848" cy="416052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458200" y="1554480"/>
            <a:ext cx="30175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Bạn có 5 giây. Ghi lại: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1. KPI chính là gì?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2. Đạt hay chưa đạt target?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3. Nên nhìn vào đâu tiếp?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B2230"/>
                </a:solidFill>
                <a:latin typeface="Arial"/>
              </a:rPr>
              <a:t>Sau đó: đếm có bao nhiêu vấn đề.</a:t>
            </a:r>
          </a:p>
        </p:txBody>
      </p:sp>
      <p:sp>
        <p:nvSpPr>
          <p:cNvPr id="7" name="TIP callout"/>
          <p:cNvSpPr/>
          <p:nvPr/>
        </p:nvSpPr>
        <p:spPr>
          <a:xfrm>
            <a:off x="1527048" y="5623560"/>
            <a:ext cx="10122408" cy="548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636776" y="57332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2212848" y="5715000"/>
            <a:ext cx="93268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Mỗi vấn đề tìm được sẽ thành một dòng của checklist chấm chéo (Slide 34).</a:t>
            </a:r>
          </a:p>
        </p:txBody>
      </p:sp>
      <p:sp>
        <p:nvSpPr>
          <p:cNvPr id="10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Demo/B6_Demo_DashboardXau.xlsx, sheet Dashboard_Xau (toàn trang)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Tốt · xấu · “ugly”: 5 nguyên tắc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RÕ RÀNG &amp; ĐƠN GIẢN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371600"/>
          <a:ext cx="5897880" cy="4059936"/>
        </p:xfrm>
        <a:graphic>
          <a:graphicData uri="http://schemas.openxmlformats.org/drawingml/2006/table">
            <a:tbl>
              <a:tblPr firstRow="1" bandRow="0"/>
              <a:tblGrid>
                <a:gridCol w="411480"/>
                <a:gridCol w="2468880"/>
                <a:gridCol w="301752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Nguyên tắc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Ví dụ trong dữ liệu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Trục bar/column bắt đầu từ 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T3 vs T4/2024: chênh 0,96%; trục từ 236 triệu → cột cao gấp 2,9 lần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Không 3D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Chiều sâu làm méo phần trăm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Pie ≤ 5 phần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6 ngành: 34,5 · 22,5 · 18,0 · 11,6 · 11,6 · 1,8% → dùng bar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Mỗi KPI có mốc so sánh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296 triệu một mình không nói gì; so target 288 triệu → “đạt”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Màu theo thực thể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Bắc luôn xanh dương; target luôn xám nét đứt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09_truc_y" descr="S09_truc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623579"/>
            <a:ext cx="4059936" cy="156512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TIP callout"/>
          <p:cNvSpPr/>
          <p:nvPr/>
        </p:nvSpPr>
        <p:spPr>
          <a:xfrm>
            <a:off x="1527048" y="5577840"/>
            <a:ext cx="10122408" cy="594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36776" y="56875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2212848" y="5669279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Line chart được phép cắt trục (ta nhìn hình dáng); bar và column thì không (ta so độ cao).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Demo/B6_Demo_DashboardXau.xlsx, sheet Demo_TrucY (hai biểu đồ cột cạnh nhau)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Chọn chart: 3 câu hỏi, 8 loại lõi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câu hỏi then chốt · bảng chọn chart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CHỌN CHART</a:t>
            </a:r>
          </a:p>
        </p:txBody>
      </p:sp>
      <p:sp>
        <p:nvSpPr>
          <p:cNvPr id="4" name="Question 1"/>
          <p:cNvSpPr/>
          <p:nvPr/>
        </p:nvSpPr>
        <p:spPr>
          <a:xfrm>
            <a:off x="1527048" y="1371600"/>
            <a:ext cx="3300984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36776" y="1417320"/>
            <a:ext cx="308152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203864"/>
                </a:solidFill>
                <a:latin typeface="Arial"/>
              </a:rPr>
              <a:t>1. Dữ liệu loại gì? (số, danh mục, thời gian, địa lý)</a:t>
            </a:r>
          </a:p>
        </p:txBody>
      </p:sp>
      <p:sp>
        <p:nvSpPr>
          <p:cNvPr id="6" name="Question 2"/>
          <p:cNvSpPr/>
          <p:nvPr/>
        </p:nvSpPr>
        <p:spPr>
          <a:xfrm>
            <a:off x="4937760" y="1371600"/>
            <a:ext cx="3300984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47488" y="1417320"/>
            <a:ext cx="308152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203864"/>
                </a:solidFill>
                <a:latin typeface="Arial"/>
              </a:rPr>
              <a:t>2. Muốn truyền đạt gì? (so sánh, cơ cấu, xu hướng, phân phối, quan hệ)</a:t>
            </a:r>
          </a:p>
        </p:txBody>
      </p:sp>
      <p:sp>
        <p:nvSpPr>
          <p:cNvPr id="8" name="Question 3"/>
          <p:cNvSpPr/>
          <p:nvPr/>
        </p:nvSpPr>
        <p:spPr>
          <a:xfrm>
            <a:off x="8348471" y="1371600"/>
            <a:ext cx="3300984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458199" y="1417320"/>
            <a:ext cx="308152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203864"/>
                </a:solidFill>
                <a:latin typeface="Arial"/>
              </a:rPr>
              <a:t>3. Ai xem? (CEO, analyst, khách hàng)</a:t>
            </a:r>
          </a:p>
        </p:txBody>
      </p:sp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1527048" y="2423160"/>
          <a:ext cx="10122408" cy="3621024"/>
        </p:xfrm>
        <a:graphic>
          <a:graphicData uri="http://schemas.openxmlformats.org/drawingml/2006/table">
            <a:tbl>
              <a:tblPr firstRow="1" bandRow="0"/>
              <a:tblGrid>
                <a:gridCol w="4023360"/>
                <a:gridCol w="3200400"/>
                <a:gridCol w="2898648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Câu hỏi dữ liệu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Chart lõi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Thay thế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Xu hướng theo thời gian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So sánh giữa các nhóm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Bar /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Bullet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Cơ cấu / tỷ trọng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Stacked bar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Donut (≤ 5 phần), Treemap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Hai thước đo khác đơn vị; Actual vs 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Combo 2 trục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Column + đường 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Phân phối, outlier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Histogram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Box &amp; Whisker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Quan hệ giữa hai biến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Scatter (+ trendline)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Bubble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Địa lý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Map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Bar theo vùng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Chênh lệch cộng dồn (target → actual)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Waterfall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Chart ít dùng (Area, Pie, Bubble, Radar, Funnel, Sunburst…): xem handout B6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· Column · Combo 2 trục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CHỌN CHART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3258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Insert → Combo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8308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Hai thước đo khác đơn vị (VNĐ và %) trên cùng một chart; hoặc Actual (cột) với Target (đường).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51460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Line: </a:t>
            </a:r>
            <a:r>
              <a:rPr sz="1400" b="0">
                <a:solidFill>
                  <a:srgbClr val="1B2230"/>
                </a:solidFill>
                <a:latin typeface="Arial"/>
              </a:rPr>
              <a:t>xu hướng · </a:t>
            </a:r>
            <a:r>
              <a:rPr sz="1400" b="1">
                <a:solidFill>
                  <a:srgbClr val="203864"/>
                </a:solidFill>
                <a:latin typeface="Arial"/>
              </a:rPr>
              <a:t>Column/Bar: </a:t>
            </a:r>
            <a:r>
              <a:rPr sz="1400" b="0">
                <a:solidFill>
                  <a:srgbClr val="1B2230"/>
                </a:solidFill>
                <a:latin typeface="Arial"/>
              </a:rPr>
              <a:t>so sánh nhóm (trục từ 0)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Combo ngành, T1–T4/2025: </a:t>
            </a:r>
            <a:r>
              <a:rPr sz="1400" b="0">
                <a:solidFill>
                  <a:srgbClr val="1B2230"/>
                </a:solidFill>
                <a:latin typeface="Arial"/>
              </a:rPr>
              <a:t>cột = Doanh thu (Bánh kẹo 426.916.000 … Sữa 22.790.000); đường = Gross Margin % ở trục phụ (Bánh kẹo 39,4% … Thực phẩm khô 21,6%).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Insight: </a:t>
            </a:r>
            <a:r>
              <a:rPr sz="1400" b="0">
                <a:solidFill>
                  <a:srgbClr val="1B2230"/>
                </a:solidFill>
                <a:latin typeface="Arial"/>
              </a:rPr>
              <a:t>Thực phẩm khô lớn thứ ba (222.348.000) nhưng biên thấp nhất (21,6%).</a:t>
            </a:r>
          </a:p>
        </p:txBody>
      </p:sp>
      <p:pic>
        <p:nvPicPr>
          <p:cNvPr id="7" name="Screenshot S12_combo_nganh" descr="S12_combo_ng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21801"/>
            <a:ext cx="4882896" cy="1865758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IP callout"/>
          <p:cNvSpPr/>
          <p:nvPr/>
        </p:nvSpPr>
        <p:spPr>
          <a:xfrm>
            <a:off x="1527048" y="516636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2760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25780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Cột trục chính (VNĐ), đường trục phụ (%). Cho trục phụ bắt đầu từ 0%: hai trục lệch nhau rất dễ gây hiểu lầm.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Demo/B6_Demo_Chart.xlsx, sheet Demo_Combo (A3:C9)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Cơ cấu · Waterfall · Map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CHỌN CHART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3258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Insert → Waterfall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8308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Từ Target đến Actual: ai kéo lên, ai kéo xuống.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3774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Cơ cấu: </a:t>
            </a:r>
            <a:r>
              <a:rPr sz="1400" b="0">
                <a:solidFill>
                  <a:srgbClr val="1B2230"/>
                </a:solidFill>
                <a:latin typeface="Arial"/>
              </a:rPr>
              <a:t>Stacked bar thay pie khi hơn 5 phần; Treemap khi cần thấy kích thước.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Waterfall T3/2025: </a:t>
            </a:r>
            <a:r>
              <a:rPr sz="1400" b="0">
                <a:solidFill>
                  <a:srgbClr val="1B2230"/>
                </a:solidFill>
                <a:latin typeface="Arial"/>
              </a:rPr>
              <a:t>Target 285.000.000 → từng cửa hàng (ST12 −11.749.000, ST07 −10.461.000, ST08 +10.733.000 …) → Actual 269.608.000 (tổng −15.392.000). Cột đầu và cuối: Set as Total.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Map: </a:t>
            </a:r>
            <a:r>
              <a:rPr sz="1400" b="0">
                <a:solidFill>
                  <a:srgbClr val="1B2230"/>
                </a:solidFill>
                <a:latin typeface="Arial"/>
              </a:rPr>
              <a:t>theo thành phố (TP.HCM 108.885.000, T4). Cần Internet; không có thì dùng bar.</a:t>
            </a:r>
          </a:p>
        </p:txBody>
      </p:sp>
      <p:pic>
        <p:nvPicPr>
          <p:cNvPr id="7" name="Screenshot S13_waterfall" descr="S13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79343"/>
            <a:ext cx="5065776" cy="1750673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Limit callout"/>
          <p:cNvSpPr/>
          <p:nvPr/>
        </p:nvSpPr>
        <p:spPr>
          <a:xfrm>
            <a:off x="1527048" y="516636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FC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5212080"/>
            <a:ext cx="97566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9C0006"/>
                </a:solidFill>
                <a:latin typeface="Arial"/>
              </a:rPr>
              <a:t>Giới hạn: </a:t>
            </a:r>
            <a:r>
              <a:rPr sz="1500" b="0">
                <a:solidFill>
                  <a:srgbClr val="1B2230"/>
                </a:solidFill>
                <a:latin typeface="Arial"/>
              </a:rPr>
              <a:t>PivotChart không làm được Waterfall, Map, Histogram, Treemap — chúng lấy dữ liệu từ một vùng ô. Muốn chạy theo Slicer, lấp vùng ô bằng CUBEVALUE (Slide 18, 29).</a:t>
            </a:r>
          </a:p>
        </p:txBody>
      </p:sp>
      <p:sp>
        <p:nvSpPr>
          <p:cNvPr id="10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Demo/B6_Demo_Chart.xlsx, sheet Demo_Waterfall (A3:B17)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· Scatter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CHỌN CHART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Insert → Histogram · Scatter · CORREL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37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Phân phối và quan hệ giữa hai biến.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331720"/>
            <a:ext cx="40233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203864"/>
                </a:solidFill>
                <a:latin typeface="Arial"/>
              </a:rPr>
              <a:t>Histogram, giá trị đơn Q1: </a:t>
            </a:r>
            <a:r>
              <a:rPr sz="1300" b="0">
                <a:solidFill>
                  <a:srgbClr val="1B2230"/>
                </a:solidFill>
                <a:latin typeface="Arial"/>
              </a:rPr>
              <a:t>3.144 đơn · trung vị 198.000 · trung bình 299.445 · ngưỡng 896.500 · 138 đơn vượt. Bin width 100.000.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203864"/>
                </a:solidFill>
                <a:latin typeface="Arial"/>
              </a:rPr>
              <a:t>Scatter, tuổi cửa hàng ↔ doanh thu T1–T4: </a:t>
            </a:r>
            <a:r>
              <a:rPr sz="1300" b="0">
                <a:solidFill>
                  <a:srgbClr val="1B2230"/>
                </a:solidFill>
                <a:latin typeface="Arial"/>
              </a:rPr>
              <a:t>12 cửa hàng, r = 0,78. Hà Nội + TP.HCM: 4,3 năm · 137,5 triệu; còn lại 2,7 năm · 78,7 triệu.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9C0006"/>
                </a:solidFill>
                <a:latin typeface="Arial"/>
              </a:rPr>
              <a:t>Tương quan ≠ nhân quả.</a:t>
            </a:r>
          </a:p>
        </p:txBody>
      </p:sp>
      <p:pic>
        <p:nvPicPr>
          <p:cNvPr id="7" name="Screenshot S14a_histogram" descr="S14a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205010"/>
            <a:ext cx="2926080" cy="90517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8" name="Screenshot S14b_scatter" descr="S14b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538" y="2286000"/>
            <a:ext cx="2484619" cy="27432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9" name="TIP callout"/>
          <p:cNvSpPr/>
          <p:nvPr/>
        </p:nvSpPr>
        <p:spPr>
          <a:xfrm>
            <a:off x="1527048" y="525780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34924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Histogram: Format Axis → Bin width. Scatter: Add Trendline → Display R-squared; ô riêng gõ =CORREL(x, y).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Demo/B6_Demo_Chart.xlsx, sheet Demo_Phan_phoi (cột B) và Demo_Scatter (A3:C15)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giữa giờ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 phút · Sau giờ nghỉ: bố cục, KPI card bằng CUBEVALUE, RAG, Slicer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Bố cục &amp; công cụ: CUBEVALUE · RAG · Slicer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Thứ bậc: KPI → Trend → Detail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BỐ CỤC &amp; CÔNG CỤ</a:t>
            </a:r>
          </a:p>
        </p:txBody>
      </p:sp>
      <p:sp>
        <p:nvSpPr>
          <p:cNvPr id="4" name="Dashboard frame"/>
          <p:cNvSpPr/>
          <p:nvPr/>
        </p:nvSpPr>
        <p:spPr>
          <a:xfrm>
            <a:off x="1527048" y="1417320"/>
            <a:ext cx="731520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64207" y="1463040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Slicer: Tháng · Miền</a:t>
            </a:r>
          </a:p>
        </p:txBody>
      </p:sp>
      <p:sp>
        <p:nvSpPr>
          <p:cNvPr id="6" name="KPI card 1"/>
          <p:cNvSpPr/>
          <p:nvPr/>
        </p:nvSpPr>
        <p:spPr>
          <a:xfrm>
            <a:off x="1664207" y="1828800"/>
            <a:ext cx="1097280" cy="868680"/>
          </a:xfrm>
          <a:prstGeom prst="rect">
            <a:avLst/>
          </a:prstGeom>
          <a:solidFill>
            <a:srgbClr val="203864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64207" y="18288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KPI chính</a:t>
            </a:r>
          </a:p>
        </p:txBody>
      </p:sp>
      <p:sp>
        <p:nvSpPr>
          <p:cNvPr id="8" name="KPI card 2"/>
          <p:cNvSpPr/>
          <p:nvPr/>
        </p:nvSpPr>
        <p:spPr>
          <a:xfrm>
            <a:off x="2852928" y="1828800"/>
            <a:ext cx="1097280" cy="8686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2852928" y="18288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KPI 2</a:t>
            </a:r>
          </a:p>
        </p:txBody>
      </p:sp>
      <p:sp>
        <p:nvSpPr>
          <p:cNvPr id="10" name="KPI card 3"/>
          <p:cNvSpPr/>
          <p:nvPr/>
        </p:nvSpPr>
        <p:spPr>
          <a:xfrm>
            <a:off x="4041648" y="1828800"/>
            <a:ext cx="1097280" cy="8686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4041648" y="18288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KPI 3</a:t>
            </a:r>
          </a:p>
        </p:txBody>
      </p:sp>
      <p:sp>
        <p:nvSpPr>
          <p:cNvPr id="12" name="KPI card 4"/>
          <p:cNvSpPr/>
          <p:nvPr/>
        </p:nvSpPr>
        <p:spPr>
          <a:xfrm>
            <a:off x="5230368" y="1828800"/>
            <a:ext cx="1097280" cy="8686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230368" y="18288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KPI 4</a:t>
            </a:r>
          </a:p>
        </p:txBody>
      </p:sp>
      <p:sp>
        <p:nvSpPr>
          <p:cNvPr id="14" name="KPI card 5"/>
          <p:cNvSpPr/>
          <p:nvPr/>
        </p:nvSpPr>
        <p:spPr>
          <a:xfrm>
            <a:off x="6419088" y="1828800"/>
            <a:ext cx="1097280" cy="8686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6419088" y="18288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KPI 5</a:t>
            </a:r>
          </a:p>
        </p:txBody>
      </p:sp>
      <p:sp>
        <p:nvSpPr>
          <p:cNvPr id="16" name="KPI card 6"/>
          <p:cNvSpPr/>
          <p:nvPr/>
        </p:nvSpPr>
        <p:spPr>
          <a:xfrm>
            <a:off x="7607808" y="1828800"/>
            <a:ext cx="1097280" cy="8686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7607808" y="18288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KPI 6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664207" y="2743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6B6F76"/>
                </a:solidFill>
                <a:latin typeface="Arial"/>
              </a:rPr>
              <a:t>Hàng 1 — KPI (góc trên trái = quan trọng nhất)</a:t>
            </a:r>
          </a:p>
        </p:txBody>
      </p:sp>
      <p:sp>
        <p:nvSpPr>
          <p:cNvPr id="19" name="Line"/>
          <p:cNvSpPr/>
          <p:nvPr/>
        </p:nvSpPr>
        <p:spPr>
          <a:xfrm>
            <a:off x="1664207" y="3063240"/>
            <a:ext cx="3474720" cy="114300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1664207" y="3063240"/>
            <a:ext cx="34747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Line theo ngày</a:t>
            </a:r>
          </a:p>
        </p:txBody>
      </p:sp>
      <p:sp>
        <p:nvSpPr>
          <p:cNvPr id="21" name="Combo"/>
          <p:cNvSpPr/>
          <p:nvPr/>
        </p:nvSpPr>
        <p:spPr>
          <a:xfrm>
            <a:off x="5276088" y="3063240"/>
            <a:ext cx="3429000" cy="114300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"/>
          <p:cNvSpPr txBox="1"/>
          <p:nvPr/>
        </p:nvSpPr>
        <p:spPr>
          <a:xfrm>
            <a:off x="5276088" y="3063240"/>
            <a:ext cx="3429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Combo Actual vs Target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664207" y="4251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6B6F76"/>
                </a:solidFill>
                <a:latin typeface="Arial"/>
              </a:rPr>
              <a:t>Hàng 2 — Trend</a:t>
            </a:r>
          </a:p>
        </p:txBody>
      </p:sp>
      <p:sp>
        <p:nvSpPr>
          <p:cNvPr id="24" name="Detail 1"/>
          <p:cNvSpPr/>
          <p:nvPr/>
        </p:nvSpPr>
        <p:spPr>
          <a:xfrm>
            <a:off x="1664207" y="4572000"/>
            <a:ext cx="2286000" cy="13258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1664207" y="457200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Waterfall theo cửa hàng</a:t>
            </a:r>
          </a:p>
        </p:txBody>
      </p:sp>
      <p:sp>
        <p:nvSpPr>
          <p:cNvPr id="26" name="Detail 2"/>
          <p:cNvSpPr/>
          <p:nvPr/>
        </p:nvSpPr>
        <p:spPr>
          <a:xfrm>
            <a:off x="4087368" y="4572000"/>
            <a:ext cx="2286000" cy="13258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"/>
          <p:cNvSpPr txBox="1"/>
          <p:nvPr/>
        </p:nvSpPr>
        <p:spPr>
          <a:xfrm>
            <a:off x="4087368" y="457200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Top 5 sản phẩm</a:t>
            </a:r>
          </a:p>
        </p:txBody>
      </p:sp>
      <p:sp>
        <p:nvSpPr>
          <p:cNvPr id="28" name="Detail 3"/>
          <p:cNvSpPr/>
          <p:nvPr/>
        </p:nvSpPr>
        <p:spPr>
          <a:xfrm>
            <a:off x="6510527" y="4572000"/>
            <a:ext cx="2286000" cy="13258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"/>
          <p:cNvSpPr txBox="1"/>
          <p:nvPr/>
        </p:nvSpPr>
        <p:spPr>
          <a:xfrm>
            <a:off x="6510527" y="457200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Map theo thành phố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9052560" y="1463040"/>
            <a:ext cx="2596896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Tối đa 5–8 visual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Hôm nay: 7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Mỗi visual trả lời một câu hỏi brief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Thẻ KPI + combo → Q1 · Waterfall → Q2 · Line → Q3 · Top 5 → Q4 · Map → Q5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Đòi thêm chart?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Hỏi: “Nó trả lời câu nào trong brief?”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CUBEVALUE · CUBEMEMBER · KPI card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BỐ CỤC &amp; CÔNG CỤ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280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CUBEVALUE · CUBEMEMBER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373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Đọc một con số từ measure trong Data Model vào một ô — nền của thẻ KPI.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3317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3317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3317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1B2230"/>
                </a:solidFill>
                <a:latin typeface="Arial"/>
              </a:rPr>
              <a:t>=CUBEVALUE("ThisWorkbookDataModel","[Measures].[Total Revenue]","[Calendar].[Nam].&amp;[2025]",Slicer_Thang,Slicer_Region)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27048" y="2926080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Đối số: </a:t>
            </a:r>
            <a:r>
              <a:rPr sz="1400" b="0">
                <a:solidFill>
                  <a:srgbClr val="1B2230"/>
                </a:solidFill>
                <a:latin typeface="Arial"/>
              </a:rPr>
              <a:t>kết nối · measure · các bộ lọc (member hoặc Slicer) = filter context của B5.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Bắc × Tháng 3: </a:t>
            </a:r>
            <a:r>
              <a:rPr sz="1400" b="0">
                <a:solidFill>
                  <a:srgbClr val="1B2230"/>
                </a:solidFill>
                <a:latin typeface="Arial"/>
              </a:rPr>
              <a:t>90.210.000 (= DoiSoat_B2, B5).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Tháng 4/2025: </a:t>
            </a:r>
            <a:r>
              <a:rPr sz="1400" b="0">
                <a:solidFill>
                  <a:srgbClr val="1B2230"/>
                </a:solidFill>
                <a:latin typeface="Arial"/>
              </a:rPr>
              <a:t>Doanh thu 296.965.000 · Target 288.000.000 · Revenue vs Target % 103,1%.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PivotTable Analyze → OLAP Tools → Convert to Formulas: </a:t>
            </a:r>
            <a:r>
              <a:rPr sz="1400" b="0">
                <a:solidFill>
                  <a:srgbClr val="1B2230"/>
                </a:solidFill>
                <a:latin typeface="Arial"/>
              </a:rPr>
              <a:t>Excel tự viết CUBEVALUE từ Pivot.</a:t>
            </a:r>
          </a:p>
        </p:txBody>
      </p:sp>
      <p:pic>
        <p:nvPicPr>
          <p:cNvPr id="10" name="Screenshot S18a_cubevalue" descr="S18a_cube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660379"/>
            <a:ext cx="2468880" cy="54308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11" name="Screenshot S18b_data_dash" descr="S18b_data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3687105"/>
            <a:ext cx="2715768" cy="48962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2" name="TIP callout"/>
          <p:cNvSpPr/>
          <p:nvPr/>
        </p:nvSpPr>
        <p:spPr>
          <a:xfrm>
            <a:off x="1527048" y="516636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2760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25780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Gõ sai tên measure → #N/A. Dùng gợi ý khi gõ, hoặc Convert to Formulas. Mức đạt = giá trị ÷ target là phép so sánh với hằng số, không phải định nghĩa KPI.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B6_&lt;HoTen&gt;.xlsx, sheet Data_Dash (A3:E9). Mẫu: Practice/B5_MCI_Mart_Answer.xlsx, sheet DoiSoat_B2 (ô B6)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RAG: màu + biểu tượng + chữ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BỐ CỤC &amp; CÔNG CỤ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280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Conditional Formatting → Icon Sets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373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Trạng thái đạt / cảnh báo / không đạt — không bao giờ chỉ dùng màu.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527048" y="2286000"/>
          <a:ext cx="6400800" cy="1828800"/>
        </p:xfrm>
        <a:graphic>
          <a:graphicData uri="http://schemas.openxmlformats.org/drawingml/2006/table">
            <a:tbl>
              <a:tblPr firstRow="1" bandRow="0"/>
              <a:tblGrid>
                <a:gridCol w="1463040"/>
                <a:gridCol w="2103120"/>
                <a:gridCol w="1371600"/>
                <a:gridCol w="14630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Mức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Mức đạt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Biểu tượng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Chữ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≥ 100%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Arial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Cảnh báo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90% – &lt; 100%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B7791F"/>
                          </a:solidFill>
                          <a:latin typeface="Arial"/>
                        </a:rPr>
                        <a:t>▲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Cảnh báo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Không đạt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&lt; 90%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9C0006"/>
                          </a:solidFill>
                          <a:latin typeface="Arial"/>
                        </a:rPr>
                        <a:t>✘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Không đạt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"/>
          <p:cNvSpPr txBox="1"/>
          <p:nvPr/>
        </p:nvSpPr>
        <p:spPr>
          <a:xfrm>
            <a:off x="1527048" y="425196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Tháng 4: </a:t>
            </a:r>
            <a:r>
              <a:rPr sz="1400" b="0">
                <a:solidFill>
                  <a:srgbClr val="1B2230"/>
                </a:solidFill>
                <a:latin typeface="Arial"/>
              </a:rPr>
              <a:t>Doanh thu 103,1% ✔ · Đơn 96,6% ▲ · AOV 102,5% ✔ · GM ✔ · YoY ✔ · Khách 95,7% ▲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Tháng 2: </a:t>
            </a:r>
            <a:r>
              <a:rPr sz="1400" b="0">
                <a:solidFill>
                  <a:srgbClr val="1B2230"/>
                </a:solidFill>
                <a:latin typeface="Arial"/>
              </a:rPr>
              <a:t>Doanh thu 82,5% ▲ · YoY −0,9% ✘</a:t>
            </a:r>
          </a:p>
        </p:txBody>
      </p:sp>
      <p:pic>
        <p:nvPicPr>
          <p:cNvPr id="8" name="Screenshot S19_rag" descr="S19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3282838"/>
            <a:ext cx="3447288" cy="74952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9" name="TIP callout"/>
          <p:cNvSpPr/>
          <p:nvPr/>
        </p:nvSpPr>
        <p:spPr>
          <a:xfrm>
            <a:off x="1527048" y="525780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349240"/>
            <a:ext cx="5513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Bộ 3 Symbols (Circled): ba hình khác nhau, người mù màu vẫn đọc được. Ngưỡng ở sheet Cai_dat.</a:t>
            </a:r>
          </a:p>
        </p:txBody>
      </p:sp>
      <p:sp>
        <p:nvSpPr>
          <p:cNvPr id="12" name="PRO TIP callout"/>
          <p:cNvSpPr/>
          <p:nvPr/>
        </p:nvSpPr>
        <p:spPr>
          <a:xfrm>
            <a:off x="8019288" y="5257800"/>
            <a:ext cx="363016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 TIP chip"/>
          <p:cNvSpPr/>
          <p:nvPr/>
        </p:nvSpPr>
        <p:spPr>
          <a:xfrm>
            <a:off x="8129015" y="536752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4" name="PRO TIP text"/>
          <p:cNvSpPr txBox="1"/>
          <p:nvPr/>
        </p:nvSpPr>
        <p:spPr>
          <a:xfrm>
            <a:off x="9226296" y="5349240"/>
            <a:ext cx="23134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Edit Rule → Type = Formula, trỏ ô Cai_dat.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B6_&lt;HoTen&gt;.xlsx, sheet Dashboard (hàng KPI, tháng 4/2025). Ngưỡng: sheet Cai_dat (C13:C14)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Slicer nối nhiều 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BỐ CỤC &amp; CÔNG CỤ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280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Report Connections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373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Một Slicer điều khiển mọi PivotTable / PivotChart của dashboard.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331720"/>
            <a:ext cx="49377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Slicer Tháng (Calendar[Thang]) và Miền (Store[Region]) sinh ra từ một Pivot; mặc định chỉ lọc Pivot đó.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Chuột phải Slicer → Report Connections → tick từng Pivot.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Combo 4 tháng: </a:t>
            </a:r>
            <a:r>
              <a:rPr sz="1400" b="0">
                <a:solidFill>
                  <a:srgbClr val="1B2230"/>
                </a:solidFill>
                <a:latin typeface="Arial"/>
              </a:rPr>
              <a:t>chỉ nối Miền; ghi trên tiêu đề “Cả 4 tháng · không đổi theo Slicer Tháng”.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Thẻ KPI, waterfall, map: </a:t>
            </a:r>
            <a:r>
              <a:rPr sz="1400" b="0">
                <a:solidFill>
                  <a:srgbClr val="1B2230"/>
                </a:solidFill>
                <a:latin typeface="Arial"/>
              </a:rPr>
              <a:t>nghe Slicer qua đối số của CUBEVALUE.</a:t>
            </a:r>
          </a:p>
        </p:txBody>
      </p:sp>
      <p:pic>
        <p:nvPicPr>
          <p:cNvPr id="7" name="Screenshot S20_report_connections" descr="S20_report_conn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00100"/>
            <a:ext cx="5065776" cy="28521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IP callout"/>
          <p:cNvSpPr/>
          <p:nvPr/>
        </p:nvSpPr>
        <p:spPr>
          <a:xfrm>
            <a:off x="1527048" y="534924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440679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Pivot đổi cỡ cột khi Refresh làm vỡ bố cục → PivotTable Options → bỏ Autofit column widths on update.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B6_&lt;HoTen&gt;.xlsx, chuột phải Slicer Tháng → Report Connections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Sparklines · Alt text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BỐ CỤC &amp; CÔNG CỤ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280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Insert → Sparklines · Edit Alt Text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373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Xu hướng thu nhỏ trong một ô; mô tả chart cho người đọc màn hình.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33172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Sparkline </a:t>
            </a:r>
            <a:r>
              <a:rPr sz="1400" b="0">
                <a:solidFill>
                  <a:srgbClr val="1B2230"/>
                </a:solidFill>
                <a:latin typeface="Arial"/>
              </a:rPr>
              <a:t>dưới mỗi thẻ KPI: T1–T4 (Doanh thu 425,9 → 246,0 → 269,6 → 297,0 triệu). Dữ liệu từ hàng T1–T4 trong Data_Dash (CUBEVALUE theo từng tháng).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Alt text: </a:t>
            </a:r>
            <a:r>
              <a:rPr sz="1400" b="0">
                <a:solidFill>
                  <a:srgbClr val="1B2230"/>
                </a:solidFill>
                <a:latin typeface="Arial"/>
              </a:rPr>
              <a:t>một câu cho mỗi chart, ví dụ “Biểu đồ cột và đường: doanh thu thực tế so với target, T1–T4/2025”.</a:t>
            </a:r>
          </a:p>
        </p:txBody>
      </p:sp>
      <p:pic>
        <p:nvPicPr>
          <p:cNvPr id="7" name="Screenshot S21_sparkline" descr="S21_spark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166" y="2286000"/>
            <a:ext cx="3296804" cy="292608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B6_&lt;HoTen&gt;.xlsx, sheet Dashboard (thẻ Doanh thu, sparkline) · Data_Dash (hàng T1–T4)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Dự báo nhập môn: sắp tới sẽ thế nào?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Trendline tuyến tính + Forward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DỰ BÁO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280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Trendline → Linear · Forecast Forward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373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Kéo dài xu hướng bằng đường thẳng.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28600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Bảng Ngày–Doanh thu: </a:t>
            </a:r>
            <a:r>
              <a:rPr sz="1400" b="0">
                <a:solidFill>
                  <a:srgbClr val="1B2230"/>
                </a:solidFill>
                <a:latin typeface="Arial"/>
              </a:rPr>
              <a:t>486 dòng, 01/01/2024–30/04/2025, không thiếu ngày.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Linear: </a:t>
            </a:r>
            <a:r>
              <a:rPr sz="1400" b="0">
                <a:solidFill>
                  <a:srgbClr val="1B2230"/>
                </a:solidFill>
                <a:latin typeface="Arial"/>
              </a:rPr>
              <a:t>độ dốc +4.742 VNĐ/ngày, R² = 0,045 — giải thích 4,5% biến động.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Forward 30 ngày: </a:t>
            </a:r>
            <a:r>
              <a:rPr sz="1400" b="0">
                <a:solidFill>
                  <a:srgbClr val="1B2230"/>
                </a:solidFill>
                <a:latin typeface="Arial"/>
              </a:rPr>
              <a:t>≈ 10,3 triệu/ngày, như nhau cả cuối tuần.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Thực tế: </a:t>
            </a:r>
            <a:r>
              <a:rPr sz="1400" b="0">
                <a:solidFill>
                  <a:srgbClr val="1B2230"/>
                </a:solidFill>
                <a:latin typeface="Arial"/>
              </a:rPr>
              <a:t>Thứ Hai 8,4 triệu → Chủ nhật 10,5 triệu (+25,1%).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9C0006"/>
                </a:solidFill>
                <a:latin typeface="Arial"/>
              </a:rPr>
              <a:t>Đường này có tin được không?</a:t>
            </a:r>
          </a:p>
        </p:txBody>
      </p:sp>
      <p:pic>
        <p:nvPicPr>
          <p:cNvPr id="7" name="Screenshot S23_trendline" descr="S23_tren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61542"/>
            <a:ext cx="5248656" cy="217499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Tin được cho mức cả tháng (kiểm chứng ngược: +4,1%), không tin cho từng ngày (sai trung bình gần 20%).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Demo/B6_Demo_DuBao.xlsx, sheet Demo_Trendline (tblNgay, biểu đồ line)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Sheet (ETS) · giới hạn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DỰ BÁO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Data → Forecast Sheet · FORECAST.ETS · FORECAST.ETS.CONFINT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37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Dự báo có nhịp lặp, kèm dải tin cậy.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240280"/>
            <a:ext cx="47548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203864"/>
                </a:solidFill>
                <a:latin typeface="Arial"/>
              </a:rPr>
              <a:t>Hộp thoại: </a:t>
            </a:r>
            <a:r>
              <a:rPr sz="1300" b="0">
                <a:solidFill>
                  <a:srgbClr val="1B2230"/>
                </a:solidFill>
                <a:latin typeface="Arial"/>
              </a:rPr>
              <a:t>Forecast End 30/05/2025 · Confidence 95% · Seasonality = Set Manually 7 (tự phát hiện ra 121, không phải 7) · Forecast Start có thể lùi để so với thực tế.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03864"/>
                </a:solidFill>
                <a:latin typeface="Arial"/>
              </a:rPr>
              <a:t>Kết quả T5/2025: </a:t>
            </a:r>
            <a:r>
              <a:rPr sz="1300" b="0">
                <a:solidFill>
                  <a:srgbClr val="1B2230"/>
                </a:solidFill>
                <a:latin typeface="Arial"/>
              </a:rPr>
              <a:t>237,7 triệu (thấp hơn T4 thực tế cỡ 20%); cuối tuần +24%; dải 95% ±6,6 triệu ngày đầu, ±18,0 triệu trung bình — rộng hơn cả giá trị dự báo. Kiểm chứng ngược T4: 280,0 vs 297,0 triệu (−5,7%).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9C0006"/>
                </a:solidFill>
                <a:latin typeface="Arial"/>
              </a:rPr>
              <a:t>Giới hạn: </a:t>
            </a:r>
            <a:r>
              <a:rPr sz="1300" b="0">
                <a:solidFill>
                  <a:srgbClr val="1B2230"/>
                </a:solidFill>
                <a:latin typeface="Arial"/>
              </a:rPr>
              <a:t>16 tháng chưa đủ 2 chu kỳ năm · Tết đổi ngày theo âm lịch (10/02/2024 · 29/01/2025 · 17/02/2026) · luôn kèm dải + giả định.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203864"/>
                </a:solidFill>
                <a:latin typeface="Arial"/>
              </a:rPr>
              <a:t>Dự báo = mẫu hình quá khứ + giả định.</a:t>
            </a:r>
          </a:p>
        </p:txBody>
      </p:sp>
      <p:pic>
        <p:nvPicPr>
          <p:cNvPr id="7" name="Screenshot S24a_forecast_dialog" descr="S24a_forecast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71538"/>
            <a:ext cx="2468880" cy="255500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8" name="Screenshot S24b_forecast_chart" descr="S24b_forecas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992011"/>
            <a:ext cx="2779776" cy="1514057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9" name="TIP callout"/>
          <p:cNvSpPr/>
          <p:nvPr/>
        </p:nvSpPr>
        <p:spPr>
          <a:xfrm>
            <a:off x="1527048" y="5486400"/>
            <a:ext cx="10122408" cy="685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5961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57784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Hai hàm: FORECAST.ETS cho điểm dự báo; FORECAST.ETS.CONFINT cho nửa chiều rộng dải.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Demo/B6_Demo_DuBao.xlsx (Data → Forecast Sheet trên tblNgay; hàm ETS ở sheet Demo_ETS)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Build: dựng dashboard từng bước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1: khung, Slicer, tham số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BUILD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63040"/>
            <a:ext cx="63093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1. </a:t>
            </a:r>
            <a:r>
              <a:rPr sz="1600" b="0">
                <a:solidFill>
                  <a:srgbClr val="1B2230"/>
                </a:solidFill>
                <a:latin typeface="Arial"/>
              </a:rPr>
              <a:t>Sheet Cai_dat: target KPI (Orders 1.000 · AOV 300.000 · GM 33% · YoY +10% · Khách 700) và ngưỡng RAG (100% · 90%).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2. </a:t>
            </a:r>
            <a:r>
              <a:rPr sz="1600" b="0">
                <a:solidFill>
                  <a:srgbClr val="1B2230"/>
                </a:solidFill>
                <a:latin typeface="Arial"/>
              </a:rPr>
              <a:t>Sheet Dashboard: View → bỏ Gridlines; độ rộng cột đều; tiêu đề lớn ở A1.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3. </a:t>
            </a:r>
            <a:r>
              <a:rPr sz="1600" b="0">
                <a:solidFill>
                  <a:srgbClr val="1B2230"/>
                </a:solidFill>
                <a:latin typeface="Arial"/>
              </a:rPr>
              <a:t>Sheet Data_Dash: vùng lấy dữ liệu cho thẻ KPI, waterfall, map (sẽ ẩn ở Slide 33).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4. </a:t>
            </a:r>
            <a:r>
              <a:rPr sz="1600" b="0">
                <a:solidFill>
                  <a:srgbClr val="1B2230"/>
                </a:solidFill>
                <a:latin typeface="Arial"/>
              </a:rPr>
              <a:t>Pivot trống từ Data Model → chèn Slicer Tháng (Calendar[Thang]) và Miền (Store[Region]); đặt lên Dashboard; chọn tháng 4.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5. </a:t>
            </a:r>
            <a:r>
              <a:rPr sz="1600" b="0">
                <a:solidFill>
                  <a:srgbClr val="1B2230"/>
                </a:solidFill>
                <a:latin typeface="Arial"/>
              </a:rPr>
              <a:t>Đặt tên Slicer Settings: Slicer_Thang, Slicer_Region.</a:t>
            </a:r>
          </a:p>
        </p:txBody>
      </p:sp>
      <p:sp>
        <p:nvSpPr>
          <p:cNvPr id="5" name="Check box"/>
          <p:cNvSpPr/>
          <p:nvPr/>
        </p:nvSpPr>
        <p:spPr>
          <a:xfrm>
            <a:off x="8110728" y="146304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293608" y="160020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Kiểm tra (8 phút)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Slicer Tháng đang chọn 4.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Cai_dat có 5 target + 2 ngưỡng.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Điểm hay vấp: Slicer cần một Pivot làm gốc.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2: hàng KPI card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BUILD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63040"/>
            <a:ext cx="63093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Data_Dash: 6 KPI × (giá trị · target · mức đạt · nhãn) bằng CUBEVALUE (Slicer_Thang, Slicer_Region) + hàng T1–T4 cho sparkline.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Dashboard: 6 thẻ (ô gộp, viền hairline, chữ lớn); thẻ Doanh thu ở góc trên trái.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Mỗi thẻ: tên KPI · giá trị · “Target …” · mức đạt + biểu tượng + nhãn · sparkline.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4. </a:t>
            </a:r>
            <a:r>
              <a:rPr sz="1400" b="0">
                <a:solidFill>
                  <a:srgbClr val="1B2230"/>
                </a:solidFill>
                <a:latin typeface="Arial"/>
              </a:rPr>
              <a:t>Bấm Slicer sang tháng 3, tháng 2 và quay lại tháng 4.</a:t>
            </a:r>
          </a:p>
        </p:txBody>
      </p:sp>
      <p:sp>
        <p:nvSpPr>
          <p:cNvPr id="5" name="Check box"/>
          <p:cNvSpPr/>
          <p:nvPr/>
        </p:nvSpPr>
        <p:spPr>
          <a:xfrm>
            <a:off x="8110728" y="146304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293608" y="160020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Kiểm tra — tháng 4/2025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Doanh thu 296.965.000 (103,1%) ✔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Đơn 966 (96,6%) ▲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AOV 307.417 (102,5%) ✔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GM 33,8% ✔ · YoY +24,0% ✔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Khách 670 (95,7%) ▲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2230"/>
                </a:solidFill>
                <a:latin typeface="Arial"/>
              </a:rPr>
              <a:t>Tháng 2: Doanh thu 82,5% ▲ · YoY −0,9% 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3: line ngày · combo vs Target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BUILD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63040"/>
            <a:ext cx="63093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1. </a:t>
            </a:r>
            <a:r>
              <a:rPr sz="1600" b="0">
                <a:solidFill>
                  <a:srgbClr val="1B2230"/>
                </a:solidFill>
                <a:latin typeface="Arial"/>
              </a:rPr>
              <a:t>PivotChart Line: Filters Calendar[Nam] = 2025 · Rows Calendar[Date] · Values Total Revenue → Line. Nối Slicer Tháng và Miền.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2. </a:t>
            </a:r>
            <a:r>
              <a:rPr sz="1600" b="0">
                <a:solidFill>
                  <a:srgbClr val="1B2230"/>
                </a:solidFill>
                <a:latin typeface="Arial"/>
              </a:rPr>
              <a:t>PivotChart Combo: Rows Calendar[Thang] · Values Total Revenue + Total Target → Revenue = Column, Target = Line xám nét đứt. Rows: Value Filters → Total Revenue &gt; 0. Nối chỉ Slicer Miền.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3. </a:t>
            </a:r>
            <a:r>
              <a:rPr sz="1600" b="0">
                <a:solidFill>
                  <a:srgbClr val="1B2230"/>
                </a:solidFill>
                <a:latin typeface="Arial"/>
              </a:rPr>
              <a:t>Tiêu đề chart là kết luận; thêm chú thích chỉ vào điểm bất thường.</a:t>
            </a:r>
          </a:p>
        </p:txBody>
      </p:sp>
      <p:sp>
        <p:nvSpPr>
          <p:cNvPr id="5" name="Check box"/>
          <p:cNvSpPr/>
          <p:nvPr/>
        </p:nvSpPr>
        <p:spPr>
          <a:xfrm>
            <a:off x="8110728" y="146304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293608" y="160020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Kiểm tra (8 phút)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Combo: T1 120,6% · T2 82,5% · T3 94,6% · T4 103,1%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Target T1–T4: 353 · 298 · 285 · 288 triệu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Line tháng 4: 30 ngày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Combo = câu chuyện số 4: Tết 29/01 dồn mua sắm sang T1.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4: Top 5 · Waterfall · Map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BUILD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63040"/>
            <a:ext cx="63093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Top 5: Rows Product[Product_Name] · Values Total Revenue → Value Filters → Top 10 → 5 → PivotChart Bar; nối cả hai Slicer.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Waterfall: Data_Dash A20:B33 — Target (Total Target), 12 Variance từng cửa hàng (CUBEMEMBER + CUBEVALUE), Actual (Total Revenue) → Insert → Waterfall; Set as Total đầu và cuối.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Map hoặc Bar: doanh thu từng thành phố (CUBEVALUE, Slicer_Thang) → Filled Map; không có Internet → Bar.</a:t>
            </a:r>
          </a:p>
        </p:txBody>
      </p:sp>
      <p:sp>
        <p:nvSpPr>
          <p:cNvPr id="5" name="Check box"/>
          <p:cNvSpPr/>
          <p:nvPr/>
        </p:nvSpPr>
        <p:spPr>
          <a:xfrm>
            <a:off x="8110728" y="146304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293608" y="160020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Kiểm tra — tháng 4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Top 5: Hộp quà Tết 35.100.000 · Chảo 29.155.000 · Dầu gội 26.565.000 · Mì tôm 19.712.000 · Bột giặt 19.276.000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Waterfall: Target 288.000.000 → Actual 296.965.000 (+8.965.000)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Tháng 3: ST07 −10.461.000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5: ráp trang · kiểm tra 5 giây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BUILD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1732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Sắp 7 visual theo bố cục Slide 17; căn lề bằng Align; màu theo thực thể; target xám nét đứt.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Report Connections: Tháng nối mọi Pivot trừ combo; Miền nối tất cả.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Alt text cho từng chart; tiêu đề chart là kết luận.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4. </a:t>
            </a:r>
            <a:r>
              <a:rPr sz="1400" b="0">
                <a:solidFill>
                  <a:srgbClr val="1B2230"/>
                </a:solidFill>
                <a:latin typeface="Arial"/>
              </a:rPr>
              <a:t>Kiểm tra 5 giây: đổi cặp — KPI chính · đạt hay chưa · nhìn đâu tiếp.</a:t>
            </a:r>
          </a:p>
        </p:txBody>
      </p:sp>
      <p:pic>
        <p:nvPicPr>
          <p:cNvPr id="5" name="Screenshot S30_dashboard_t4" descr="S30_dashboard_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9742"/>
            <a:ext cx="4882896" cy="295559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TIP callout"/>
          <p:cNvSpPr/>
          <p:nvPr/>
        </p:nvSpPr>
        <p:spPr>
          <a:xfrm>
            <a:off x="1527048" y="516636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36776" y="52760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2212848" y="525780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Kiểm tra: bấm Slicer Tháng 4 → 3 → 2: thẻ, line, waterfall, Top 5, map đều đổi; combo không đổi. Tối đa 8 visual.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Practice/B6_MCI_Mart_Dashboard_Answer.xlsx, sheet Dashboard (tháng 4/2025)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Kể chuyện (SCR) &amp; phát hành dashboard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Storytelling SCR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KỂ CHUYỆN &amp; PHÁT HÀNH</a:t>
            </a:r>
          </a:p>
        </p:txBody>
      </p:sp>
      <p:sp>
        <p:nvSpPr>
          <p:cNvPr id="4" name="SCR 1"/>
          <p:cNvSpPr/>
          <p:nvPr/>
        </p:nvSpPr>
        <p:spPr>
          <a:xfrm>
            <a:off x="1527048" y="1417320"/>
            <a:ext cx="3300984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27048"/>
            <a:ext cx="2971800" cy="3346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S — Situation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Con số có mốc so sánh. Tháng 3: 269.608.000, đạt 94,6% target (hụt 15.392.000), nhưng +13,7% so với cùng kỳ.</a:t>
            </a:r>
          </a:p>
        </p:txBody>
      </p:sp>
      <p:sp>
        <p:nvSpPr>
          <p:cNvPr id="6" name="SCR 2"/>
          <p:cNvSpPr/>
          <p:nvPr/>
        </p:nvSpPr>
        <p:spPr>
          <a:xfrm>
            <a:off x="4937760" y="1417320"/>
            <a:ext cx="3300984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102352" y="1527048"/>
            <a:ext cx="2971800" cy="3346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C — Complication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Nguyên nhân đã kiểm chứng bằng drill-down. ST07 hụt 10.461.000 (44,9%), chiếm 68% khoản hụt, do cải tạo 10–31/03. ST12 dưới 90% ba tháng liền (76,9% · 53,0% · 65,2%).</a:t>
            </a:r>
          </a:p>
        </p:txBody>
      </p:sp>
      <p:sp>
        <p:nvSpPr>
          <p:cNvPr id="8" name="SCR 3"/>
          <p:cNvSpPr/>
          <p:nvPr/>
        </p:nvSpPr>
        <p:spPr>
          <a:xfrm>
            <a:off x="8348471" y="1417320"/>
            <a:ext cx="3300984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513063" y="1527048"/>
            <a:ext cx="2971800" cy="3346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R — Resolution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Đề xuất cho đúng người xem: (1) đánh giá ST07 theo số ngày mở cửa; (2) rà soát cách lập target ST12; (3) target 2026 theo lịch Tết âm (17/02/2026), đánh giá T1+T2 gộp.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16636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2760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25780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Chú thích trực tiếp trên chart, chỉ vào điểm bất thường (ST07, T2). Giả thuyết chưa kiểm chứng phải ghi là giả thuyết.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Phát hành dashboard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KỂ CHUYỆN &amp; PHÁT HÀNH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Refresh on open · Hide · Protect Sheet · Export PDF · Share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737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Đóng gói để gửi cho người xem.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527048" y="2286000"/>
          <a:ext cx="7040880" cy="3968496"/>
        </p:xfrm>
        <a:graphic>
          <a:graphicData uri="http://schemas.openxmlformats.org/drawingml/2006/table">
            <a:tbl>
              <a:tblPr firstRow="1" bandRow="0"/>
              <a:tblGrid>
                <a:gridCol w="1737360"/>
                <a:gridCol w="5303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Việc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Cách làm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Refresh on open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Data → Queries &amp; Connections → chuột phải query → Properties → Refresh data when opening the file (không thử trên lớp)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Ẩn sheet kỹ thuật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Hide Data_Dash, Cai_dat, các sheet Pivot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Protect Sheet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Review → Protect Sheet; bỏ Locked của Slicer, tick Use PivotTable &amp; PivotChart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Xuất PDF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Landscape · Fit to 1 page → File → Export → Create PDF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Chia sẻ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OneDrive / SharePoint → Share; chú ý dữ liệu khách hàng, Sensitivity label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C0006"/>
                          </a:solidFill>
                          <a:latin typeface="Arial"/>
                        </a:rPr>
                        <a:t>Giới hạn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Excel không tự refresh theo lịch → cần Power BI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Screenshot S33_protect_sheet" descr="S33_prote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035" y="2286000"/>
            <a:ext cx="2217906" cy="32918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B6_&lt;HoTen&gt;.xlsx, Review → Protect Sheet (trên sheet Dashboard)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Chấm chéo bằng checklist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KỂ CHUYỆN &amp; PHÁT HÀNH</a:t>
            </a:r>
          </a:p>
        </p:txBody>
      </p:sp>
      <p:sp>
        <p:nvSpPr>
          <p:cNvPr id="4" name="Checkbox 1"/>
          <p:cNvSpPr/>
          <p:nvPr/>
        </p:nvSpPr>
        <p:spPr>
          <a:xfrm>
            <a:off x="1527048" y="153619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938528" y="1417320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Mỗi visual trả lời một câu trong brief</a:t>
            </a:r>
          </a:p>
        </p:txBody>
      </p:sp>
      <p:sp>
        <p:nvSpPr>
          <p:cNvPr id="6" name="Checkbox 2"/>
          <p:cNvSpPr/>
          <p:nvPr/>
        </p:nvSpPr>
        <p:spPr>
          <a:xfrm>
            <a:off x="1527048" y="21945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938528" y="2075688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KPI chính ở góc trên trái; KPI → Trend → Detail</a:t>
            </a:r>
          </a:p>
        </p:txBody>
      </p:sp>
      <p:sp>
        <p:nvSpPr>
          <p:cNvPr id="8" name="Checkbox 3"/>
          <p:cNvSpPr/>
          <p:nvPr/>
        </p:nvSpPr>
        <p:spPr>
          <a:xfrm>
            <a:off x="1527048" y="285292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938528" y="2734056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5–8 visual</a:t>
            </a:r>
          </a:p>
        </p:txBody>
      </p:sp>
      <p:sp>
        <p:nvSpPr>
          <p:cNvPr id="10" name="Checkbox 4"/>
          <p:cNvSpPr/>
          <p:nvPr/>
        </p:nvSpPr>
        <p:spPr>
          <a:xfrm>
            <a:off x="1527048" y="35112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938528" y="339242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Mọi KPI có mốc so sánh và RAG kèm biểu tượng/nhãn</a:t>
            </a:r>
          </a:p>
        </p:txBody>
      </p:sp>
      <p:sp>
        <p:nvSpPr>
          <p:cNvPr id="12" name="Checkbox 5"/>
          <p:cNvSpPr/>
          <p:nvPr/>
        </p:nvSpPr>
        <p:spPr>
          <a:xfrm>
            <a:off x="1527048" y="4169663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938528" y="4050791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Mọi số từ measure (CUBEVALUE/Pivot); không công thức KPI ở tầng hiển thị</a:t>
            </a:r>
          </a:p>
        </p:txBody>
      </p:sp>
      <p:sp>
        <p:nvSpPr>
          <p:cNvPr id="14" name="Checkbox 6"/>
          <p:cNvSpPr/>
          <p:nvPr/>
        </p:nvSpPr>
        <p:spPr>
          <a:xfrm>
            <a:off x="1527048" y="4828031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938528" y="4709159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Trục bar/column từ 0; không 3D; không pie quá 5 phần</a:t>
            </a:r>
          </a:p>
        </p:txBody>
      </p:sp>
      <p:sp>
        <p:nvSpPr>
          <p:cNvPr id="16" name="Checkbox 7"/>
          <p:cNvSpPr/>
          <p:nvPr/>
        </p:nvSpPr>
        <p:spPr>
          <a:xfrm>
            <a:off x="6647688" y="153619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7059168" y="1417320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Slicer điều khiển mọi visual (trừ visual ngữ cảnh đã ghi chú)</a:t>
            </a:r>
          </a:p>
        </p:txBody>
      </p:sp>
      <p:sp>
        <p:nvSpPr>
          <p:cNvPr id="18" name="Checkbox 8"/>
          <p:cNvSpPr/>
          <p:nvPr/>
        </p:nvSpPr>
        <p:spPr>
          <a:xfrm>
            <a:off x="6647688" y="21945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"/>
          <p:cNvSpPr txBox="1"/>
          <p:nvPr/>
        </p:nvSpPr>
        <p:spPr>
          <a:xfrm>
            <a:off x="7059168" y="2075688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Có chú thích chỉ vào điểm bất thường</a:t>
            </a:r>
          </a:p>
        </p:txBody>
      </p:sp>
      <p:sp>
        <p:nvSpPr>
          <p:cNvPr id="20" name="Checkbox 9"/>
          <p:cNvSpPr/>
          <p:nvPr/>
        </p:nvSpPr>
        <p:spPr>
          <a:xfrm>
            <a:off x="6647688" y="285292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"/>
          <p:cNvSpPr txBox="1"/>
          <p:nvPr/>
        </p:nvSpPr>
        <p:spPr>
          <a:xfrm>
            <a:off x="7059168" y="2734056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Bài kiểm tra 5 giây</a:t>
            </a:r>
          </a:p>
        </p:txBody>
      </p:sp>
      <p:sp>
        <p:nvSpPr>
          <p:cNvPr id="22" name="Checkbox 10"/>
          <p:cNvSpPr/>
          <p:nvPr/>
        </p:nvSpPr>
        <p:spPr>
          <a:xfrm>
            <a:off x="6647688" y="35112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7059168" y="339242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Phát hành: Refresh on open, ẩn sheet, Protect Sheet, alt text, PDF</a:t>
            </a:r>
          </a:p>
        </p:txBody>
      </p:sp>
      <p:sp>
        <p:nvSpPr>
          <p:cNvPr id="24" name="Checkbox 11"/>
          <p:cNvSpPr/>
          <p:nvPr/>
        </p:nvSpPr>
        <p:spPr>
          <a:xfrm>
            <a:off x="6647688" y="4169663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7059168" y="4050791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Nếu có dự báo: dải tin cậy và giả định</a:t>
            </a:r>
          </a:p>
        </p:txBody>
      </p:sp>
      <p:sp>
        <p:nvSpPr>
          <p:cNvPr id="26" name="TIP callout"/>
          <p:cNvSpPr/>
          <p:nvPr/>
        </p:nvSpPr>
        <p:spPr>
          <a:xfrm>
            <a:off x="1527048" y="5486400"/>
            <a:ext cx="10122408" cy="6400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"/>
          <p:cNvSpPr txBox="1"/>
          <p:nvPr/>
        </p:nvSpPr>
        <p:spPr>
          <a:xfrm>
            <a:off x="1636776" y="55961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8" name="TIP text"/>
          <p:cNvSpPr txBox="1"/>
          <p:nvPr/>
        </p:nvSpPr>
        <p:spPr>
          <a:xfrm>
            <a:off x="2212848" y="5577840"/>
            <a:ext cx="932688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Chỉ chấm, không sửa. Ghi 1 điểm làm tốt và 1 điểm cần sửa.</a:t>
            </a:r>
          </a:p>
        </p:txBody>
      </p:sp>
      <p:sp>
        <p:nvSpPr>
          <p:cNvPr id="2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Checklist: Course_Plan.md, Phụ lục D · Tiêu chí C5: ../B7_Capstone/Rubric_B7_Capstone.md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câu hỏi nhanh · câu 3–4 là tình huống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Chọn chart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Muốn đặt doanh thu (VNĐ) và biên lợi nhuận gộp (%) của sáu ngành lên cùng một biểu đồ, nên dùng gì?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Pie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Combo: cột doanh thu, đường biên % ở trục phụ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Scatter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Waterfall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Slicer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Dashboard có ba PivotChart. Bạn bấm Slicer Miền, chỉ một chart đổi. Nguyên nhân và cách xử lý?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Phải Refresh All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Slicer chưa nối các Pivot còn lại: chuột phải Slicer → Report Connections, tick đủ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Phải tạo Slicer riêng cho từng chart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Đổi Slicer thành Timeline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Tình huống — Dự báo Tết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Giám đốc xem Forecast Sheet và hỏi: “Doanh thu Tết 2026 là bao nhiêu?” Câu trả lời đúng?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B2230"/>
                </a:solidFill>
                <a:latin typeface="Arial"/>
              </a:rPr>
              <a:t>Đọc số trên đường Forecast, chắc chắn đúng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B2230"/>
                </a:solidFill>
                <a:latin typeface="Arial"/>
              </a:rPr>
              <a:t>Chạy lại với dải tin cậy 99%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B2230"/>
                </a:solidFill>
                <a:latin typeface="Arial"/>
              </a:rPr>
              <a:t>Không nên dùng: mới 16 tháng dữ liệu, Tết đổi ngày theo âm lịch (17/02/2026); chỉ dự báo ngắn hạn, kèm dải tin cậy và giả định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B2230"/>
                </a:solidFill>
                <a:latin typeface="Arial"/>
              </a:rPr>
              <a:t>Dùng Linear Trendline cho chắc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Tình huống — Trục 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Bar chart so doanh thu tháng 3 (237.192.000) và tháng 4 (239.466.000) năm 2024: cột tháng 4 cao gần gấp ba. Vì sao và sửa thế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Doanh thu thật sự tăng gấp ba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Trục Y bắt đầu từ 236.000.000: đặt trục từ 0 (chênh thật chỉ 0,96%)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Đổi sang pie 3D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Thêm đường lưới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(1) Brief trước, chart sau: người xem, 3–5 câu hỏi đo lường được, tần suất, quyết định.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(2) Thứ bậc KPI → Trend → Detail; 5–8 visual; mỗi visual trả lời một câu.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(3) Một nguồn sự thật: mọi số từ measure (CUBEVALUE hoặc Pivot); KPI nào cũng có mốc so sánh và RAG có biểu tượng.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(4) Insight theo SCR, có drill-down kiểm chứng và đề xuất cho đúng người.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(5) Dự báo = mẫu hình quá khứ + giả định: luôn kèm dải tin cậy.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(3 câu SCR)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S: ___ (con số có mốc so sánh)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C: ___ (nguyên nhân đã kiểm chứng)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R: ___ (đề xuất cho Sales Director)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Nguyên nhân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Nguyên nhân</a:t>
            </a:r>
          </a:p>
        </p:txBody>
      </p:sp>
      <p:sp>
        <p:nvSpPr>
          <p:cNvPr id="11" name="Tag Hành động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Hành động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Chọn tháng bạn thích. Câu “vậy thì sao?” là câu hỏi chấm điểm C6.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capstone &amp; bài về nhà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Buổi 7: ôn tập, hoàn thiện dự án, thuyết trình 5–7 phút, nhận xét theo rubric.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42316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Capstone (cá nhân, làm ở nhà): </a:t>
            </a:r>
            <a:r>
              <a:rPr sz="1400" b="0">
                <a:solidFill>
                  <a:srgbClr val="1B2230"/>
                </a:solidFill>
                <a:latin typeface="Arial"/>
              </a:rPr>
              <a:t>brief dự án + dataset mới + rubric bản học viên (../B7_Capstone/Rubric_B7_Capstone.md). Chuỗi Brief → Power Query → Data Model → KPI measure → Dashboard → Insight.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Bài tập về nhà B6 (bắt buộc): </a:t>
            </a:r>
            <a:r>
              <a:rPr sz="1400" b="0">
                <a:solidFill>
                  <a:srgbClr val="1B2230"/>
                </a:solidFill>
                <a:latin typeface="Arial"/>
              </a:rPr>
              <a:t>dashboard một trang cho Marketing Director (Active Customers, phân khúc) trên file khởi đầu; tập dượt C1 · C5 · C6. Nộp trước Buổi 7 tại hocvien.mcivietnam.com.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Đọc handout B6 · tick “Checklist trước Buổi 7”</a:t>
            </a:r>
          </a:p>
        </p:txBody>
      </p:sp>
      <p:sp>
        <p:nvSpPr>
          <p:cNvPr id="6" name="Brick B6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B6 · Dashboard</a:t>
            </a:r>
          </a:p>
        </p:txBody>
      </p:sp>
      <p:sp>
        <p:nvSpPr>
          <p:cNvPr id="8" name="Brick B7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B7 · Capstone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8293608" y="5212080"/>
            <a:ext cx="33558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C5 Dashboard và C2 Dữ liệu là điều kiện bắt buộc để đạt Level 3 — Builder.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